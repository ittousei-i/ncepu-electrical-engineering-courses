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Lst>
  <p:notesMasterIdLst>
    <p:notesMasterId r:id="rId4"/>
  </p:notesMasterIdLst>
  <p:sldIdLst>
    <p:sldId id="256" r:id="rId3"/>
    <p:sldId id="364" r:id="rId5"/>
    <p:sldId id="362" r:id="rId6"/>
    <p:sldId id="363" r:id="rId7"/>
    <p:sldId id="357" r:id="rId8"/>
    <p:sldId id="359" r:id="rId9"/>
    <p:sldId id="344" r:id="rId10"/>
    <p:sldId id="360" r:id="rId11"/>
    <p:sldId id="365" r:id="rId12"/>
    <p:sldId id="366" r:id="rId13"/>
    <p:sldId id="333" r:id="rId14"/>
    <p:sldId id="367" r:id="rId15"/>
    <p:sldId id="368" r:id="rId16"/>
    <p:sldId id="361" r:id="rId17"/>
    <p:sldId id="371" r:id="rId18"/>
    <p:sldId id="372" r:id="rId19"/>
    <p:sldId id="373" r:id="rId20"/>
    <p:sldId id="374" r:id="rId21"/>
    <p:sldId id="375" r:id="rId22"/>
    <p:sldId id="376" r:id="rId23"/>
    <p:sldId id="377" r:id="rId24"/>
    <p:sldId id="378" r:id="rId25"/>
    <p:sldId id="379" r:id="rId26"/>
    <p:sldId id="380" r:id="rId27"/>
    <p:sldId id="381" r:id="rId28"/>
    <p:sldId id="370" r:id="rId29"/>
    <p:sldId id="382" r:id="rId30"/>
    <p:sldId id="383" r:id="rId31"/>
    <p:sldId id="384" r:id="rId32"/>
    <p:sldId id="385" r:id="rId33"/>
    <p:sldId id="386" r:id="rId34"/>
    <p:sldId id="387" r:id="rId35"/>
    <p:sldId id="388" r:id="rId36"/>
    <p:sldId id="390" r:id="rId37"/>
    <p:sldId id="391" r:id="rId38"/>
    <p:sldId id="392" r:id="rId39"/>
    <p:sldId id="393" r:id="rId40"/>
    <p:sldId id="394" r:id="rId41"/>
    <p:sldId id="395" r:id="rId42"/>
    <p:sldId id="396" r:id="rId43"/>
    <p:sldId id="397" r:id="rId44"/>
    <p:sldId id="398" r:id="rId45"/>
    <p:sldId id="399" r:id="rId46"/>
    <p:sldId id="400" r:id="rId47"/>
    <p:sldId id="401" r:id="rId48"/>
    <p:sldId id="402" r:id="rId49"/>
    <p:sldId id="411" r:id="rId50"/>
    <p:sldId id="404" r:id="rId51"/>
    <p:sldId id="405" r:id="rId52"/>
    <p:sldId id="406" r:id="rId53"/>
    <p:sldId id="407" r:id="rId54"/>
    <p:sldId id="408" r:id="rId55"/>
    <p:sldId id="409" r:id="rId56"/>
    <p:sldId id="369" r:id="rId57"/>
    <p:sldId id="410" r:id="rId58"/>
    <p:sldId id="412" r:id="rId59"/>
    <p:sldId id="413" r:id="rId60"/>
    <p:sldId id="414" r:id="rId61"/>
    <p:sldId id="415" r:id="rId62"/>
    <p:sldId id="416" r:id="rId63"/>
    <p:sldId id="417" r:id="rId64"/>
    <p:sldId id="418" r:id="rId65"/>
    <p:sldId id="419" r:id="rId66"/>
    <p:sldId id="420" r:id="rId67"/>
    <p:sldId id="421" r:id="rId68"/>
    <p:sldId id="422" r:id="rId69"/>
    <p:sldId id="423" r:id="rId70"/>
    <p:sldId id="435" r:id="rId71"/>
    <p:sldId id="436" r:id="rId72"/>
    <p:sldId id="437" r:id="rId73"/>
    <p:sldId id="438" r:id="rId74"/>
    <p:sldId id="439" r:id="rId75"/>
    <p:sldId id="440" r:id="rId76"/>
    <p:sldId id="441" r:id="rId77"/>
    <p:sldId id="442" r:id="rId78"/>
    <p:sldId id="456" r:id="rId79"/>
    <p:sldId id="457" r:id="rId80"/>
    <p:sldId id="458" r:id="rId81"/>
    <p:sldId id="443" r:id="rId82"/>
    <p:sldId id="450" r:id="rId83"/>
    <p:sldId id="451" r:id="rId84"/>
    <p:sldId id="452" r:id="rId85"/>
    <p:sldId id="453" r:id="rId86"/>
    <p:sldId id="459" r:id="rId87"/>
    <p:sldId id="462" r:id="rId88"/>
    <p:sldId id="464" r:id="rId89"/>
    <p:sldId id="465" r:id="rId90"/>
    <p:sldId id="463" r:id="rId91"/>
    <p:sldId id="466" r:id="rId92"/>
    <p:sldId id="461" r:id="rId93"/>
    <p:sldId id="467" r:id="rId94"/>
    <p:sldId id="468" r:id="rId95"/>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6" userDrawn="1">
          <p15:clr>
            <a:srgbClr val="A4A3A4"/>
          </p15:clr>
        </p15:guide>
        <p15:guide id="2" pos="5375" userDrawn="1">
          <p15:clr>
            <a:srgbClr val="A4A3A4"/>
          </p15:clr>
        </p15:guide>
        <p15:guide id="3" pos="385" userDrawn="1">
          <p15:clr>
            <a:srgbClr val="A4A3A4"/>
          </p15:clr>
        </p15:guide>
        <p15:guide id="4" orient="horz" pos="3997" userDrawn="1">
          <p15:clr>
            <a:srgbClr val="A4A3A4"/>
          </p15:clr>
        </p15:guide>
        <p15:guide id="5" orient="horz" pos="288" userDrawn="1">
          <p15:clr>
            <a:srgbClr val="A4A3A4"/>
          </p15:clr>
        </p15:guide>
        <p15:guide id="6" orient="horz" pos="33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6600FF"/>
    <a:srgbClr val="CC00CC"/>
    <a:srgbClr val="0000FF"/>
    <a:srgbClr val="FF66FF"/>
    <a:srgbClr val="66FFCC"/>
    <a:srgbClr val="66FF66"/>
    <a:srgbClr val="0070C0"/>
    <a:srgbClr val="00CC00"/>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67" autoAdjust="0"/>
    <p:restoredTop sz="94645" autoAdjust="0"/>
  </p:normalViewPr>
  <p:slideViewPr>
    <p:cSldViewPr snapToGrid="0" showGuides="1">
      <p:cViewPr varScale="1">
        <p:scale>
          <a:sx n="143" d="100"/>
          <a:sy n="143" d="100"/>
        </p:scale>
        <p:origin x="912" y="114"/>
      </p:cViewPr>
      <p:guideLst>
        <p:guide orient="horz" pos="346"/>
        <p:guide pos="5375"/>
        <p:guide pos="385"/>
        <p:guide orient="horz" pos="3997"/>
        <p:guide orient="horz" pos="288"/>
        <p:guide orient="horz" pos="3331"/>
      </p:guideLst>
    </p:cSldViewPr>
  </p:slideViewPr>
  <p:notesTextViewPr>
    <p:cViewPr>
      <p:scale>
        <a:sx n="1" d="1"/>
        <a:sy n="1" d="1"/>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98" Type="http://schemas.openxmlformats.org/officeDocument/2006/relationships/tableStyles" Target="tableStyles.xml"/><Relationship Id="rId97" Type="http://schemas.openxmlformats.org/officeDocument/2006/relationships/viewProps" Target="viewProps.xml"/><Relationship Id="rId96" Type="http://schemas.openxmlformats.org/officeDocument/2006/relationships/presProps" Target="presProps.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23.emf"/><Relationship Id="rId8" Type="http://schemas.openxmlformats.org/officeDocument/2006/relationships/image" Target="../media/image31.wmf"/><Relationship Id="rId7" Type="http://schemas.openxmlformats.org/officeDocument/2006/relationships/image" Target="../media/image30.wmf"/><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 Id="rId3" Type="http://schemas.openxmlformats.org/officeDocument/2006/relationships/image" Target="../media/image26.wmf"/><Relationship Id="rId2" Type="http://schemas.openxmlformats.org/officeDocument/2006/relationships/image" Target="../media/image25.wmf"/><Relationship Id="rId10" Type="http://schemas.openxmlformats.org/officeDocument/2006/relationships/image" Target="../media/image32.wmf"/><Relationship Id="rId1"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23.emf"/><Relationship Id="rId4" Type="http://schemas.openxmlformats.org/officeDocument/2006/relationships/image" Target="../media/image32.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e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23.emf"/><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image" Target="../media/image36.emf"/></Relationships>
</file>

<file path=ppt/drawings/_rels/vmlDrawing7.vml.rels><?xml version="1.0" encoding="UTF-8" standalone="yes"?>
<Relationships xmlns="http://schemas.openxmlformats.org/package/2006/relationships"><Relationship Id="rId7" Type="http://schemas.openxmlformats.org/officeDocument/2006/relationships/image" Target="../media/image46.wmf"/><Relationship Id="rId6" Type="http://schemas.openxmlformats.org/officeDocument/2006/relationships/image" Target="../media/image45.wmf"/><Relationship Id="rId5" Type="http://schemas.openxmlformats.org/officeDocument/2006/relationships/image" Target="../media/image44.wmf"/><Relationship Id="rId4" Type="http://schemas.openxmlformats.org/officeDocument/2006/relationships/image" Target="../media/image43.wmf"/><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8.vml.rels><?xml version="1.0" encoding="UTF-8" standalone="yes"?>
<Relationships xmlns="http://schemas.openxmlformats.org/package/2006/relationships"><Relationship Id="rId7" Type="http://schemas.openxmlformats.org/officeDocument/2006/relationships/image" Target="../media/image57.wmf"/><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4.wmf"/><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60.wmf"/><Relationship Id="rId3" Type="http://schemas.openxmlformats.org/officeDocument/2006/relationships/image" Target="../media/image59.wmf"/><Relationship Id="rId2" Type="http://schemas.openxmlformats.org/officeDocument/2006/relationships/image" Target="../media/image51.wmf"/><Relationship Id="rId1" Type="http://schemas.openxmlformats.org/officeDocument/2006/relationships/image" Target="../media/image58.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image" Target="../media/image61.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70.emf"/><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13.vml.rels><?xml version="1.0" encoding="UTF-8" standalone="yes"?>
<Relationships xmlns="http://schemas.openxmlformats.org/package/2006/relationships"><Relationship Id="rId5" Type="http://schemas.openxmlformats.org/officeDocument/2006/relationships/image" Target="../media/image69.wmf"/><Relationship Id="rId4" Type="http://schemas.openxmlformats.org/officeDocument/2006/relationships/image" Target="../media/image68.wmf"/><Relationship Id="rId3" Type="http://schemas.openxmlformats.org/officeDocument/2006/relationships/image" Target="../media/image67.wmf"/><Relationship Id="rId2" Type="http://schemas.openxmlformats.org/officeDocument/2006/relationships/image" Target="../media/image71.wmf"/><Relationship Id="rId1" Type="http://schemas.openxmlformats.org/officeDocument/2006/relationships/image" Target="../media/image70.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3.emf"/></Relationships>
</file>

<file path=ppt/drawings/_rels/vmlDrawing15.vml.rels><?xml version="1.0" encoding="UTF-8" standalone="yes"?>
<Relationships xmlns="http://schemas.openxmlformats.org/package/2006/relationships"><Relationship Id="rId6" Type="http://schemas.openxmlformats.org/officeDocument/2006/relationships/image" Target="../media/image79.wmf"/><Relationship Id="rId5" Type="http://schemas.openxmlformats.org/officeDocument/2006/relationships/image" Target="../media/image78.wmf"/><Relationship Id="rId4" Type="http://schemas.openxmlformats.org/officeDocument/2006/relationships/image" Target="../media/image77.wmf"/><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16.vml.rels><?xml version="1.0" encoding="UTF-8" standalone="yes"?>
<Relationships xmlns="http://schemas.openxmlformats.org/package/2006/relationships"><Relationship Id="rId9" Type="http://schemas.openxmlformats.org/officeDocument/2006/relationships/image" Target="../media/image87.wmf"/><Relationship Id="rId8" Type="http://schemas.openxmlformats.org/officeDocument/2006/relationships/image" Target="../media/image73.emf"/><Relationship Id="rId7" Type="http://schemas.openxmlformats.org/officeDocument/2006/relationships/image" Target="../media/image86.wmf"/><Relationship Id="rId6" Type="http://schemas.openxmlformats.org/officeDocument/2006/relationships/image" Target="../media/image85.wmf"/><Relationship Id="rId5" Type="http://schemas.openxmlformats.org/officeDocument/2006/relationships/image" Target="../media/image84.wmf"/><Relationship Id="rId4" Type="http://schemas.openxmlformats.org/officeDocument/2006/relationships/image" Target="../media/image83.wmf"/><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88.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91.wmf"/><Relationship Id="rId1" Type="http://schemas.openxmlformats.org/officeDocument/2006/relationships/image" Target="../media/image90.wmf"/></Relationships>
</file>

<file path=ppt/drawings/_rels/vmlDrawing19.vml.rels><?xml version="1.0" encoding="UTF-8" standalone="yes"?>
<Relationships xmlns="http://schemas.openxmlformats.org/package/2006/relationships"><Relationship Id="rId4" Type="http://schemas.openxmlformats.org/officeDocument/2006/relationships/image" Target="../media/image96.wmf"/><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3.w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99.wmf"/><Relationship Id="rId3" Type="http://schemas.openxmlformats.org/officeDocument/2006/relationships/image" Target="../media/image98.wmf"/><Relationship Id="rId2" Type="http://schemas.openxmlformats.org/officeDocument/2006/relationships/image" Target="../media/image90.wmf"/><Relationship Id="rId1" Type="http://schemas.openxmlformats.org/officeDocument/2006/relationships/image" Target="../media/image97.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03.wmf"/></Relationships>
</file>

<file path=ppt/drawings/_rels/vmlDrawing22.vml.rels><?xml version="1.0" encoding="UTF-8" standalone="yes"?>
<Relationships xmlns="http://schemas.openxmlformats.org/package/2006/relationships"><Relationship Id="rId4" Type="http://schemas.openxmlformats.org/officeDocument/2006/relationships/image" Target="../media/image108.wmf"/><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09.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10.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11.e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13.wmf"/><Relationship Id="rId1" Type="http://schemas.openxmlformats.org/officeDocument/2006/relationships/image" Target="../media/image112.emf"/></Relationships>
</file>

<file path=ppt/drawings/_rels/vmlDrawing27.vml.rels><?xml version="1.0" encoding="UTF-8" standalone="yes"?>
<Relationships xmlns="http://schemas.openxmlformats.org/package/2006/relationships"><Relationship Id="rId9" Type="http://schemas.openxmlformats.org/officeDocument/2006/relationships/image" Target="../media/image121.wmf"/><Relationship Id="rId8" Type="http://schemas.openxmlformats.org/officeDocument/2006/relationships/image" Target="../media/image120.wmf"/><Relationship Id="rId7" Type="http://schemas.openxmlformats.org/officeDocument/2006/relationships/image" Target="../media/image119.wmf"/><Relationship Id="rId6" Type="http://schemas.openxmlformats.org/officeDocument/2006/relationships/image" Target="../media/image118.wmf"/><Relationship Id="rId5" Type="http://schemas.openxmlformats.org/officeDocument/2006/relationships/image" Target="../media/image117.wmf"/><Relationship Id="rId4" Type="http://schemas.openxmlformats.org/officeDocument/2006/relationships/image" Target="../media/image116.wmf"/><Relationship Id="rId3" Type="http://schemas.openxmlformats.org/officeDocument/2006/relationships/image" Target="../media/image115.wmf"/><Relationship Id="rId2" Type="http://schemas.openxmlformats.org/officeDocument/2006/relationships/image" Target="../media/image114.wmf"/><Relationship Id="rId10" Type="http://schemas.openxmlformats.org/officeDocument/2006/relationships/image" Target="../media/image122.wmf"/><Relationship Id="rId1" Type="http://schemas.openxmlformats.org/officeDocument/2006/relationships/image" Target="../media/image112.emf"/></Relationships>
</file>

<file path=ppt/drawings/_rels/vmlDrawing28.vml.rels><?xml version="1.0" encoding="UTF-8" standalone="yes"?>
<Relationships xmlns="http://schemas.openxmlformats.org/package/2006/relationships"><Relationship Id="rId6" Type="http://schemas.openxmlformats.org/officeDocument/2006/relationships/image" Target="../media/image127.wmf"/><Relationship Id="rId5" Type="http://schemas.openxmlformats.org/officeDocument/2006/relationships/image" Target="../media/image126.wmf"/><Relationship Id="rId4" Type="http://schemas.openxmlformats.org/officeDocument/2006/relationships/image" Target="../media/image125.wmf"/><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12.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28.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29.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30.emf"/></Relationships>
</file>

<file path=ppt/drawings/_rels/vmlDrawing32.vml.rels><?xml version="1.0" encoding="UTF-8" standalone="yes"?>
<Relationships xmlns="http://schemas.openxmlformats.org/package/2006/relationships"><Relationship Id="rId7" Type="http://schemas.openxmlformats.org/officeDocument/2006/relationships/image" Target="../media/image137.wmf"/><Relationship Id="rId6" Type="http://schemas.openxmlformats.org/officeDocument/2006/relationships/image" Target="../media/image136.wmf"/><Relationship Id="rId5" Type="http://schemas.openxmlformats.org/officeDocument/2006/relationships/image" Target="../media/image135.wmf"/><Relationship Id="rId4" Type="http://schemas.openxmlformats.org/officeDocument/2006/relationships/image" Target="../media/image134.wmf"/><Relationship Id="rId3" Type="http://schemas.openxmlformats.org/officeDocument/2006/relationships/image" Target="../media/image133.wmf"/><Relationship Id="rId2" Type="http://schemas.openxmlformats.org/officeDocument/2006/relationships/image" Target="../media/image132.emf"/><Relationship Id="rId1" Type="http://schemas.openxmlformats.org/officeDocument/2006/relationships/image" Target="../media/image131.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38.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140.emf"/><Relationship Id="rId1" Type="http://schemas.openxmlformats.org/officeDocument/2006/relationships/image" Target="../media/image139.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44.wmf"/></Relationships>
</file>

<file path=ppt/drawings/_rels/vmlDrawing36.vml.rels><?xml version="1.0" encoding="UTF-8" standalone="yes"?>
<Relationships xmlns="http://schemas.openxmlformats.org/package/2006/relationships"><Relationship Id="rId9" Type="http://schemas.openxmlformats.org/officeDocument/2006/relationships/image" Target="../media/image154.wmf"/><Relationship Id="rId8" Type="http://schemas.openxmlformats.org/officeDocument/2006/relationships/image" Target="../media/image153.wmf"/><Relationship Id="rId7" Type="http://schemas.openxmlformats.org/officeDocument/2006/relationships/image" Target="../media/image152.wmf"/><Relationship Id="rId6" Type="http://schemas.openxmlformats.org/officeDocument/2006/relationships/image" Target="../media/image151.wmf"/><Relationship Id="rId5" Type="http://schemas.openxmlformats.org/officeDocument/2006/relationships/image" Target="../media/image150.wmf"/><Relationship Id="rId4" Type="http://schemas.openxmlformats.org/officeDocument/2006/relationships/image" Target="../media/image149.wmf"/><Relationship Id="rId3" Type="http://schemas.openxmlformats.org/officeDocument/2006/relationships/image" Target="../media/image148.wmf"/><Relationship Id="rId2" Type="http://schemas.openxmlformats.org/officeDocument/2006/relationships/image" Target="../media/image147.wmf"/><Relationship Id="rId14" Type="http://schemas.openxmlformats.org/officeDocument/2006/relationships/image" Target="../media/image159.wmf"/><Relationship Id="rId13" Type="http://schemas.openxmlformats.org/officeDocument/2006/relationships/image" Target="../media/image158.wmf"/><Relationship Id="rId12" Type="http://schemas.openxmlformats.org/officeDocument/2006/relationships/image" Target="../media/image157.wmf"/><Relationship Id="rId11" Type="http://schemas.openxmlformats.org/officeDocument/2006/relationships/image" Target="../media/image156.wmf"/><Relationship Id="rId10" Type="http://schemas.openxmlformats.org/officeDocument/2006/relationships/image" Target="../media/image155.wmf"/><Relationship Id="rId1" Type="http://schemas.openxmlformats.org/officeDocument/2006/relationships/image" Target="../media/image146.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61.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62.e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164.emf"/><Relationship Id="rId1" Type="http://schemas.openxmlformats.org/officeDocument/2006/relationships/image" Target="../media/image163.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65.e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66.emf"/><Relationship Id="rId1" Type="http://schemas.openxmlformats.org/officeDocument/2006/relationships/image" Target="../media/image165.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69.emf"/><Relationship Id="rId2" Type="http://schemas.openxmlformats.org/officeDocument/2006/relationships/image" Target="../media/image168.emf"/><Relationship Id="rId1" Type="http://schemas.openxmlformats.org/officeDocument/2006/relationships/image" Target="../media/image167.e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171.emf"/><Relationship Id="rId1" Type="http://schemas.openxmlformats.org/officeDocument/2006/relationships/image" Target="../media/image170.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72.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73.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74.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75.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176.e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179.emf"/><Relationship Id="rId2" Type="http://schemas.openxmlformats.org/officeDocument/2006/relationships/image" Target="../media/image178.wmf"/><Relationship Id="rId1" Type="http://schemas.openxmlformats.org/officeDocument/2006/relationships/image" Target="../media/image177.e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181.emf"/><Relationship Id="rId1" Type="http://schemas.openxmlformats.org/officeDocument/2006/relationships/image" Target="../media/image180.w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184.emf"/><Relationship Id="rId1" Type="http://schemas.openxmlformats.org/officeDocument/2006/relationships/image" Target="../media/image183.e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187.wmf"/><Relationship Id="rId2" Type="http://schemas.openxmlformats.org/officeDocument/2006/relationships/image" Target="../media/image186.emf"/><Relationship Id="rId1" Type="http://schemas.openxmlformats.org/officeDocument/2006/relationships/image" Target="../media/image185.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88.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8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AD77B4-E4B4-4D3C-A9C5-EB900FF3B15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AD5EBB-275F-4C24-B082-C5EEF143550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sz="1800" b="0" i="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矩形 18"/>
          <p:cNvSpPr/>
          <p:nvPr userDrawn="1"/>
        </p:nvSpPr>
        <p:spPr>
          <a:xfrm>
            <a:off x="0" y="0"/>
            <a:ext cx="5737860" cy="601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 y="556042"/>
            <a:ext cx="9143999" cy="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0" name="Picture 2"/>
          <p:cNvPicPr>
            <a:picLocks noChangeAspect="1" noChangeArrowheads="1"/>
          </p:cNvPicPr>
          <p:nvPr userDrawn="1"/>
        </p:nvPicPr>
        <p:blipFill>
          <a:blip r:embed="rId3" cstate="print"/>
          <a:srcRect/>
          <a:stretch>
            <a:fillRect/>
          </a:stretch>
        </p:blipFill>
        <p:spPr bwMode="auto">
          <a:xfrm>
            <a:off x="91442" y="25401"/>
            <a:ext cx="2307724" cy="478836"/>
          </a:xfrm>
          <a:prstGeom prst="rect">
            <a:avLst/>
          </a:prstGeom>
          <a:noFill/>
          <a:ln w="9525">
            <a:noFill/>
            <a:miter lim="800000"/>
            <a:headEnd/>
            <a:tailEnd/>
          </a:ln>
        </p:spPr>
      </p:pic>
      <p:sp>
        <p:nvSpPr>
          <p:cNvPr id="14" name="矩形 13"/>
          <p:cNvSpPr/>
          <p:nvPr userDrawn="1"/>
        </p:nvSpPr>
        <p:spPr>
          <a:xfrm>
            <a:off x="6789420" y="0"/>
            <a:ext cx="2354580" cy="558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流程图: 数据 12"/>
          <p:cNvSpPr/>
          <p:nvPr userDrawn="1"/>
        </p:nvSpPr>
        <p:spPr>
          <a:xfrm>
            <a:off x="4846320" y="0"/>
            <a:ext cx="3855720" cy="558800"/>
          </a:xfrm>
          <a:prstGeom prst="flowChartInputOutp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5638803" y="1"/>
            <a:ext cx="3228975" cy="553998"/>
          </a:xfrm>
          <a:prstGeom prst="rect">
            <a:avLst/>
          </a:prstGeom>
        </p:spPr>
        <p:txBody>
          <a:bodyPr wrap="square">
            <a:spAutoFit/>
          </a:bodyPr>
          <a:lstStyle/>
          <a:p>
            <a:pPr algn="r">
              <a:lnSpc>
                <a:spcPct val="125000"/>
              </a:lnSpc>
            </a:pPr>
            <a:r>
              <a:rPr lang="zh-CN" altLang="en-US" sz="2400" b="1" cap="none" spc="0" dirty="0">
                <a:ln w="12700">
                  <a:solidFill>
                    <a:schemeClr val="bg2">
                      <a:lumMod val="75000"/>
                    </a:schemeClr>
                  </a:solidFill>
                  <a:prstDash val="solid"/>
                </a:ln>
                <a:solidFill>
                  <a:schemeClr val="bg1"/>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数字电子技术基础</a:t>
            </a:r>
            <a:endParaRPr lang="zh-CN" altLang="en-US" sz="2400" b="1" cap="none" spc="0" dirty="0">
              <a:ln w="12700">
                <a:solidFill>
                  <a:schemeClr val="bg2">
                    <a:lumMod val="75000"/>
                  </a:schemeClr>
                </a:solidFill>
                <a:prstDash val="solid"/>
              </a:ln>
              <a:solidFill>
                <a:schemeClr val="bg1"/>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random/>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image" Target="../media/image10.emf"/></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3.bin"/><Relationship Id="rId8" Type="http://schemas.openxmlformats.org/officeDocument/2006/relationships/image" Target="../media/image13.wmf"/><Relationship Id="rId7" Type="http://schemas.openxmlformats.org/officeDocument/2006/relationships/oleObject" Target="../embeddings/oleObject2.bin"/><Relationship Id="rId6" Type="http://schemas.openxmlformats.org/officeDocument/2006/relationships/image" Target="../media/image12.wmf"/><Relationship Id="rId5" Type="http://schemas.openxmlformats.org/officeDocument/2006/relationships/oleObject" Target="../embeddings/oleObject1.bin"/><Relationship Id="rId4" Type="http://schemas.openxmlformats.org/officeDocument/2006/relationships/image" Target="../media/image11.png"/><Relationship Id="rId3" Type="http://schemas.openxmlformats.org/officeDocument/2006/relationships/image" Target="../media/image10.emf"/><Relationship Id="rId21" Type="http://schemas.openxmlformats.org/officeDocument/2006/relationships/notesSlide" Target="../notesSlides/notesSlide8.xml"/><Relationship Id="rId20" Type="http://schemas.openxmlformats.org/officeDocument/2006/relationships/vmlDrawing" Target="../drawings/vmlDrawing1.vml"/><Relationship Id="rId2" Type="http://schemas.openxmlformats.org/officeDocument/2006/relationships/image" Target="../media/image5.png"/><Relationship Id="rId19" Type="http://schemas.openxmlformats.org/officeDocument/2006/relationships/slideLayout" Target="../slideLayouts/slideLayout2.xml"/><Relationship Id="rId18" Type="http://schemas.openxmlformats.org/officeDocument/2006/relationships/image" Target="../media/image19.png"/><Relationship Id="rId17" Type="http://schemas.openxmlformats.org/officeDocument/2006/relationships/image" Target="../media/image18.png"/><Relationship Id="rId16" Type="http://schemas.openxmlformats.org/officeDocument/2006/relationships/image" Target="../media/image17.wmf"/><Relationship Id="rId15" Type="http://schemas.openxmlformats.org/officeDocument/2006/relationships/oleObject" Target="../embeddings/oleObject6.bin"/><Relationship Id="rId14" Type="http://schemas.openxmlformats.org/officeDocument/2006/relationships/image" Target="../media/image16.wmf"/><Relationship Id="rId13" Type="http://schemas.openxmlformats.org/officeDocument/2006/relationships/oleObject" Target="../embeddings/oleObject5.bin"/><Relationship Id="rId12" Type="http://schemas.openxmlformats.org/officeDocument/2006/relationships/image" Target="../media/image15.wmf"/><Relationship Id="rId11" Type="http://schemas.openxmlformats.org/officeDocument/2006/relationships/oleObject" Target="../embeddings/oleObject4.bin"/><Relationship Id="rId10" Type="http://schemas.openxmlformats.org/officeDocument/2006/relationships/image" Target="../media/image14.wmf"/><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2.xml"/><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20.png"/><Relationship Id="rId4" Type="http://schemas.openxmlformats.org/officeDocument/2006/relationships/image" Target="../media/image5.png"/><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2.wmf"/><Relationship Id="rId7" Type="http://schemas.openxmlformats.org/officeDocument/2006/relationships/oleObject" Target="../embeddings/oleObject7.bin"/><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5.png"/><Relationship Id="rId3" Type="http://schemas.openxmlformats.org/officeDocument/2006/relationships/image" Target="../media/image11.png"/><Relationship Id="rId2" Type="http://schemas.openxmlformats.org/officeDocument/2006/relationships/image" Target="../media/image10.emf"/><Relationship Id="rId11" Type="http://schemas.openxmlformats.org/officeDocument/2006/relationships/notesSlide" Target="../notesSlides/notesSlide10.xml"/><Relationship Id="rId10" Type="http://schemas.openxmlformats.org/officeDocument/2006/relationships/vmlDrawing" Target="../drawings/vmlDrawing2.v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4.png"/><Relationship Id="rId2" Type="http://schemas.openxmlformats.org/officeDocument/2006/relationships/image" Target="../media/image23.emf"/><Relationship Id="rId1" Type="http://schemas.openxmlformats.org/officeDocument/2006/relationships/oleObject" Target="../embeddings/oleObject8.bin"/></Relationships>
</file>

<file path=ppt/slides/_rels/slide19.xml.rels><?xml version="1.0" encoding="UTF-8" standalone="yes"?>
<Relationships xmlns="http://schemas.openxmlformats.org/package/2006/relationships"><Relationship Id="rId9" Type="http://schemas.openxmlformats.org/officeDocument/2006/relationships/image" Target="../media/image27.wmf"/><Relationship Id="rId8" Type="http://schemas.openxmlformats.org/officeDocument/2006/relationships/oleObject" Target="../embeddings/oleObject12.bin"/><Relationship Id="rId7" Type="http://schemas.openxmlformats.org/officeDocument/2006/relationships/image" Target="../media/image26.wmf"/><Relationship Id="rId6" Type="http://schemas.openxmlformats.org/officeDocument/2006/relationships/oleObject" Target="../embeddings/oleObject11.bin"/><Relationship Id="rId5" Type="http://schemas.openxmlformats.org/officeDocument/2006/relationships/image" Target="../media/image25.wmf"/><Relationship Id="rId4" Type="http://schemas.openxmlformats.org/officeDocument/2006/relationships/oleObject" Target="../embeddings/oleObject10.bin"/><Relationship Id="rId3" Type="http://schemas.openxmlformats.org/officeDocument/2006/relationships/image" Target="../media/image24.wmf"/><Relationship Id="rId25" Type="http://schemas.openxmlformats.org/officeDocument/2006/relationships/vmlDrawing" Target="../drawings/vmlDrawing4.vml"/><Relationship Id="rId24" Type="http://schemas.openxmlformats.org/officeDocument/2006/relationships/slideLayout" Target="../slideLayouts/slideLayout2.xml"/><Relationship Id="rId23" Type="http://schemas.openxmlformats.org/officeDocument/2006/relationships/image" Target="../media/image32.wmf"/><Relationship Id="rId22" Type="http://schemas.openxmlformats.org/officeDocument/2006/relationships/oleObject" Target="../embeddings/oleObject18.bin"/><Relationship Id="rId21" Type="http://schemas.openxmlformats.org/officeDocument/2006/relationships/image" Target="../media/image11.png"/><Relationship Id="rId20" Type="http://schemas.openxmlformats.org/officeDocument/2006/relationships/image" Target="../media/image4.png"/><Relationship Id="rId2" Type="http://schemas.openxmlformats.org/officeDocument/2006/relationships/oleObject" Target="../embeddings/oleObject9.bin"/><Relationship Id="rId19" Type="http://schemas.openxmlformats.org/officeDocument/2006/relationships/image" Target="../media/image23.emf"/><Relationship Id="rId18" Type="http://schemas.openxmlformats.org/officeDocument/2006/relationships/oleObject" Target="../embeddings/oleObject17.bin"/><Relationship Id="rId17" Type="http://schemas.openxmlformats.org/officeDocument/2006/relationships/image" Target="../media/image31.wmf"/><Relationship Id="rId16" Type="http://schemas.openxmlformats.org/officeDocument/2006/relationships/oleObject" Target="../embeddings/oleObject16.bin"/><Relationship Id="rId15" Type="http://schemas.openxmlformats.org/officeDocument/2006/relationships/image" Target="../media/image30.wmf"/><Relationship Id="rId14" Type="http://schemas.openxmlformats.org/officeDocument/2006/relationships/oleObject" Target="../embeddings/oleObject15.bin"/><Relationship Id="rId13" Type="http://schemas.openxmlformats.org/officeDocument/2006/relationships/image" Target="../media/image29.wmf"/><Relationship Id="rId12" Type="http://schemas.openxmlformats.org/officeDocument/2006/relationships/oleObject" Target="../embeddings/oleObject14.bin"/><Relationship Id="rId11" Type="http://schemas.openxmlformats.org/officeDocument/2006/relationships/image" Target="../media/image28.wmf"/><Relationship Id="rId10" Type="http://schemas.openxmlformats.org/officeDocument/2006/relationships/oleObject" Target="../embeddings/oleObject13.bin"/><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9" Type="http://schemas.openxmlformats.org/officeDocument/2006/relationships/image" Target="../media/image35.wmf"/><Relationship Id="rId8" Type="http://schemas.openxmlformats.org/officeDocument/2006/relationships/oleObject" Target="../embeddings/oleObject21.bin"/><Relationship Id="rId7" Type="http://schemas.openxmlformats.org/officeDocument/2006/relationships/image" Target="../media/image34.wmf"/><Relationship Id="rId6" Type="http://schemas.openxmlformats.org/officeDocument/2006/relationships/oleObject" Target="../embeddings/oleObject20.bin"/><Relationship Id="rId5" Type="http://schemas.openxmlformats.org/officeDocument/2006/relationships/image" Target="../media/image11.png"/><Relationship Id="rId4" Type="http://schemas.openxmlformats.org/officeDocument/2006/relationships/image" Target="../media/image4.png"/><Relationship Id="rId3" Type="http://schemas.openxmlformats.org/officeDocument/2006/relationships/image" Target="../media/image33.emf"/><Relationship Id="rId2" Type="http://schemas.openxmlformats.org/officeDocument/2006/relationships/oleObject" Target="../embeddings/oleObject19.bin"/><Relationship Id="rId15" Type="http://schemas.openxmlformats.org/officeDocument/2006/relationships/vmlDrawing" Target="../drawings/vmlDrawing5.vml"/><Relationship Id="rId14" Type="http://schemas.openxmlformats.org/officeDocument/2006/relationships/slideLayout" Target="../slideLayouts/slideLayout2.xml"/><Relationship Id="rId13" Type="http://schemas.openxmlformats.org/officeDocument/2006/relationships/image" Target="../media/image23.emf"/><Relationship Id="rId12" Type="http://schemas.openxmlformats.org/officeDocument/2006/relationships/oleObject" Target="../embeddings/oleObject23.bin"/><Relationship Id="rId11" Type="http://schemas.openxmlformats.org/officeDocument/2006/relationships/image" Target="../media/image32.wmf"/><Relationship Id="rId10" Type="http://schemas.openxmlformats.org/officeDocument/2006/relationships/oleObject" Target="../embeddings/oleObject22.bin"/><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9" Type="http://schemas.openxmlformats.org/officeDocument/2006/relationships/image" Target="../media/image23.emf"/><Relationship Id="rId8" Type="http://schemas.openxmlformats.org/officeDocument/2006/relationships/oleObject" Target="../embeddings/oleObject27.bin"/><Relationship Id="rId7" Type="http://schemas.openxmlformats.org/officeDocument/2006/relationships/image" Target="../media/image38.emf"/><Relationship Id="rId6" Type="http://schemas.openxmlformats.org/officeDocument/2006/relationships/oleObject" Target="../embeddings/oleObject26.bin"/><Relationship Id="rId5" Type="http://schemas.openxmlformats.org/officeDocument/2006/relationships/image" Target="../media/image37.emf"/><Relationship Id="rId4" Type="http://schemas.openxmlformats.org/officeDocument/2006/relationships/oleObject" Target="../embeddings/oleObject25.bin"/><Relationship Id="rId3" Type="http://schemas.openxmlformats.org/officeDocument/2006/relationships/image" Target="../media/image36.emf"/><Relationship Id="rId2" Type="http://schemas.openxmlformats.org/officeDocument/2006/relationships/oleObject" Target="../embeddings/oleObject24.bin"/><Relationship Id="rId13" Type="http://schemas.openxmlformats.org/officeDocument/2006/relationships/vmlDrawing" Target="../drawings/vmlDrawing6.vml"/><Relationship Id="rId12" Type="http://schemas.openxmlformats.org/officeDocument/2006/relationships/slideLayout" Target="../slideLayouts/slideLayout2.xml"/><Relationship Id="rId11" Type="http://schemas.openxmlformats.org/officeDocument/2006/relationships/image" Target="../media/image11.png"/><Relationship Id="rId10" Type="http://schemas.openxmlformats.org/officeDocument/2006/relationships/image" Target="../media/image4.png"/><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30.bin"/><Relationship Id="rId8" Type="http://schemas.openxmlformats.org/officeDocument/2006/relationships/image" Target="../media/image41.wmf"/><Relationship Id="rId7" Type="http://schemas.openxmlformats.org/officeDocument/2006/relationships/oleObject" Target="../embeddings/oleObject29.bin"/><Relationship Id="rId6" Type="http://schemas.openxmlformats.org/officeDocument/2006/relationships/image" Target="../media/image40.wmf"/><Relationship Id="rId5" Type="http://schemas.openxmlformats.org/officeDocument/2006/relationships/oleObject" Target="../embeddings/oleObject28.bin"/><Relationship Id="rId4" Type="http://schemas.openxmlformats.org/officeDocument/2006/relationships/image" Target="../media/image39.emf"/><Relationship Id="rId3" Type="http://schemas.openxmlformats.org/officeDocument/2006/relationships/image" Target="../media/image5.png"/><Relationship Id="rId22" Type="http://schemas.openxmlformats.org/officeDocument/2006/relationships/vmlDrawing" Target="../drawings/vmlDrawing7.vml"/><Relationship Id="rId21" Type="http://schemas.openxmlformats.org/officeDocument/2006/relationships/slideLayout" Target="../slideLayouts/slideLayout2.xml"/><Relationship Id="rId20" Type="http://schemas.openxmlformats.org/officeDocument/2006/relationships/image" Target="../media/image48.emf"/><Relationship Id="rId2" Type="http://schemas.openxmlformats.org/officeDocument/2006/relationships/image" Target="../media/image11.png"/><Relationship Id="rId19" Type="http://schemas.openxmlformats.org/officeDocument/2006/relationships/image" Target="../media/image47.png"/><Relationship Id="rId18" Type="http://schemas.openxmlformats.org/officeDocument/2006/relationships/image" Target="../media/image46.wmf"/><Relationship Id="rId17" Type="http://schemas.openxmlformats.org/officeDocument/2006/relationships/oleObject" Target="../embeddings/oleObject34.bin"/><Relationship Id="rId16" Type="http://schemas.openxmlformats.org/officeDocument/2006/relationships/image" Target="../media/image45.wmf"/><Relationship Id="rId15" Type="http://schemas.openxmlformats.org/officeDocument/2006/relationships/oleObject" Target="../embeddings/oleObject33.bin"/><Relationship Id="rId14" Type="http://schemas.openxmlformats.org/officeDocument/2006/relationships/image" Target="../media/image44.wmf"/><Relationship Id="rId13" Type="http://schemas.openxmlformats.org/officeDocument/2006/relationships/oleObject" Target="../embeddings/oleObject32.bin"/><Relationship Id="rId12" Type="http://schemas.openxmlformats.org/officeDocument/2006/relationships/image" Target="../media/image43.wmf"/><Relationship Id="rId11" Type="http://schemas.openxmlformats.org/officeDocument/2006/relationships/oleObject" Target="../embeddings/oleObject31.bin"/><Relationship Id="rId10" Type="http://schemas.openxmlformats.org/officeDocument/2006/relationships/image" Target="../media/image42.wmf"/><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9.emf"/><Relationship Id="rId5" Type="http://schemas.openxmlformats.org/officeDocument/2006/relationships/image" Target="../media/image48.emf"/><Relationship Id="rId4" Type="http://schemas.openxmlformats.org/officeDocument/2006/relationships/image" Target="../media/image49.png"/><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37.bin"/><Relationship Id="rId8" Type="http://schemas.openxmlformats.org/officeDocument/2006/relationships/image" Target="../media/image52.wmf"/><Relationship Id="rId7" Type="http://schemas.openxmlformats.org/officeDocument/2006/relationships/oleObject" Target="../embeddings/oleObject36.bin"/><Relationship Id="rId6" Type="http://schemas.openxmlformats.org/officeDocument/2006/relationships/image" Target="../media/image51.wmf"/><Relationship Id="rId5" Type="http://schemas.openxmlformats.org/officeDocument/2006/relationships/oleObject" Target="../embeddings/oleObject35.bin"/><Relationship Id="rId4" Type="http://schemas.openxmlformats.org/officeDocument/2006/relationships/image" Target="../media/image50.png"/><Relationship Id="rId3" Type="http://schemas.openxmlformats.org/officeDocument/2006/relationships/image" Target="../media/image5.png"/><Relationship Id="rId20" Type="http://schemas.openxmlformats.org/officeDocument/2006/relationships/vmlDrawing" Target="../drawings/vmlDrawing8.vml"/><Relationship Id="rId2" Type="http://schemas.openxmlformats.org/officeDocument/2006/relationships/image" Target="../media/image4.png"/><Relationship Id="rId19" Type="http://schemas.openxmlformats.org/officeDocument/2006/relationships/slideLayout" Target="../slideLayouts/slideLayout2.xml"/><Relationship Id="rId18" Type="http://schemas.openxmlformats.org/officeDocument/2006/relationships/image" Target="../media/image57.wmf"/><Relationship Id="rId17" Type="http://schemas.openxmlformats.org/officeDocument/2006/relationships/oleObject" Target="../embeddings/oleObject41.bin"/><Relationship Id="rId16" Type="http://schemas.openxmlformats.org/officeDocument/2006/relationships/image" Target="../media/image56.wmf"/><Relationship Id="rId15" Type="http://schemas.openxmlformats.org/officeDocument/2006/relationships/oleObject" Target="../embeddings/oleObject40.bin"/><Relationship Id="rId14" Type="http://schemas.openxmlformats.org/officeDocument/2006/relationships/image" Target="../media/image55.wmf"/><Relationship Id="rId13" Type="http://schemas.openxmlformats.org/officeDocument/2006/relationships/oleObject" Target="../embeddings/oleObject39.bin"/><Relationship Id="rId12" Type="http://schemas.openxmlformats.org/officeDocument/2006/relationships/image" Target="../media/image54.wmf"/><Relationship Id="rId11" Type="http://schemas.openxmlformats.org/officeDocument/2006/relationships/oleObject" Target="../embeddings/oleObject38.bin"/><Relationship Id="rId10" Type="http://schemas.openxmlformats.org/officeDocument/2006/relationships/image" Target="../media/image53.wmf"/><Relationship Id="rId1" Type="http://schemas.openxmlformats.org/officeDocument/2006/relationships/image" Target="../media/image11.png"/></Relationships>
</file>

<file path=ppt/slides/_rels/slide27.xml.rels><?xml version="1.0" encoding="UTF-8" standalone="yes"?>
<Relationships xmlns="http://schemas.openxmlformats.org/package/2006/relationships"><Relationship Id="rId9" Type="http://schemas.openxmlformats.org/officeDocument/2006/relationships/image" Target="../media/image59.wmf"/><Relationship Id="rId8" Type="http://schemas.openxmlformats.org/officeDocument/2006/relationships/oleObject" Target="../embeddings/oleObject44.bin"/><Relationship Id="rId7" Type="http://schemas.openxmlformats.org/officeDocument/2006/relationships/image" Target="../media/image51.wmf"/><Relationship Id="rId6" Type="http://schemas.openxmlformats.org/officeDocument/2006/relationships/oleObject" Target="../embeddings/oleObject43.bin"/><Relationship Id="rId5" Type="http://schemas.openxmlformats.org/officeDocument/2006/relationships/image" Target="../media/image58.emf"/><Relationship Id="rId4" Type="http://schemas.openxmlformats.org/officeDocument/2006/relationships/oleObject" Target="../embeddings/oleObject42.bin"/><Relationship Id="rId3" Type="http://schemas.openxmlformats.org/officeDocument/2006/relationships/image" Target="../media/image5.png"/><Relationship Id="rId2" Type="http://schemas.openxmlformats.org/officeDocument/2006/relationships/image" Target="../media/image4.png"/><Relationship Id="rId15" Type="http://schemas.openxmlformats.org/officeDocument/2006/relationships/notesSlide" Target="../notesSlides/notesSlide13.xml"/><Relationship Id="rId14" Type="http://schemas.openxmlformats.org/officeDocument/2006/relationships/vmlDrawing" Target="../drawings/vmlDrawing9.vml"/><Relationship Id="rId13" Type="http://schemas.openxmlformats.org/officeDocument/2006/relationships/slideLayout" Target="../slideLayouts/slideLayout2.xml"/><Relationship Id="rId12" Type="http://schemas.openxmlformats.org/officeDocument/2006/relationships/image" Target="../media/image50.png"/><Relationship Id="rId11" Type="http://schemas.openxmlformats.org/officeDocument/2006/relationships/image" Target="../media/image60.wmf"/><Relationship Id="rId10" Type="http://schemas.openxmlformats.org/officeDocument/2006/relationships/oleObject" Target="../embeddings/oleObject45.bin"/><Relationship Id="rId1" Type="http://schemas.openxmlformats.org/officeDocument/2006/relationships/image" Target="../media/image11.png"/></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8.emf"/><Relationship Id="rId7" Type="http://schemas.openxmlformats.org/officeDocument/2006/relationships/oleObject" Target="../embeddings/oleObject47.bin"/><Relationship Id="rId6" Type="http://schemas.openxmlformats.org/officeDocument/2006/relationships/image" Target="../media/image50.png"/><Relationship Id="rId5" Type="http://schemas.openxmlformats.org/officeDocument/2006/relationships/image" Target="../media/image61.emf"/><Relationship Id="rId4" Type="http://schemas.openxmlformats.org/officeDocument/2006/relationships/oleObject" Target="../embeddings/oleObject46.bin"/><Relationship Id="rId3" Type="http://schemas.openxmlformats.org/officeDocument/2006/relationships/image" Target="../media/image5.png"/><Relationship Id="rId2" Type="http://schemas.openxmlformats.org/officeDocument/2006/relationships/image" Target="../media/image4.png"/><Relationship Id="rId11" Type="http://schemas.openxmlformats.org/officeDocument/2006/relationships/notesSlide" Target="../notesSlides/notesSlide14.xml"/><Relationship Id="rId10" Type="http://schemas.openxmlformats.org/officeDocument/2006/relationships/vmlDrawing" Target="../drawings/vmlDrawing10.vml"/><Relationship Id="rId1" Type="http://schemas.openxmlformats.org/officeDocument/2006/relationships/image" Target="../media/image1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4.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2.png"/><Relationship Id="rId2" Type="http://schemas.openxmlformats.org/officeDocument/2006/relationships/image" Target="../media/image11.png"/><Relationship Id="rId1" Type="http://schemas.openxmlformats.org/officeDocument/2006/relationships/image" Target="../media/image4.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4.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4.png"/></Relationships>
</file>

<file path=ppt/slides/_rels/slide40.xml.rels><?xml version="1.0" encoding="UTF-8" standalone="yes"?>
<Relationships xmlns="http://schemas.openxmlformats.org/package/2006/relationships"><Relationship Id="rId9" Type="http://schemas.openxmlformats.org/officeDocument/2006/relationships/image" Target="../media/image66.wmf"/><Relationship Id="rId8" Type="http://schemas.openxmlformats.org/officeDocument/2006/relationships/oleObject" Target="../embeddings/oleObject50.bin"/><Relationship Id="rId7" Type="http://schemas.openxmlformats.org/officeDocument/2006/relationships/image" Target="../media/image65.wmf"/><Relationship Id="rId6" Type="http://schemas.openxmlformats.org/officeDocument/2006/relationships/oleObject" Target="../embeddings/oleObject49.bin"/><Relationship Id="rId5" Type="http://schemas.openxmlformats.org/officeDocument/2006/relationships/image" Target="../media/image64.wmf"/><Relationship Id="rId4" Type="http://schemas.openxmlformats.org/officeDocument/2006/relationships/oleObject" Target="../embeddings/oleObject48.bin"/><Relationship Id="rId3" Type="http://schemas.openxmlformats.org/officeDocument/2006/relationships/image" Target="../media/image63.emf"/><Relationship Id="rId2" Type="http://schemas.openxmlformats.org/officeDocument/2006/relationships/image" Target="../media/image11.png"/><Relationship Id="rId12" Type="http://schemas.openxmlformats.org/officeDocument/2006/relationships/notesSlide" Target="../notesSlides/notesSlide24.xml"/><Relationship Id="rId11" Type="http://schemas.openxmlformats.org/officeDocument/2006/relationships/vmlDrawing" Target="../drawings/vmlDrawing11.vml"/><Relationship Id="rId10" Type="http://schemas.openxmlformats.org/officeDocument/2006/relationships/slideLayout" Target="../slideLayouts/slideLayout2.xml"/><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54.bin"/><Relationship Id="rId8" Type="http://schemas.openxmlformats.org/officeDocument/2006/relationships/image" Target="../media/image69.wmf"/><Relationship Id="rId7" Type="http://schemas.openxmlformats.org/officeDocument/2006/relationships/oleObject" Target="../embeddings/oleObject53.bin"/><Relationship Id="rId6" Type="http://schemas.openxmlformats.org/officeDocument/2006/relationships/image" Target="../media/image68.wmf"/><Relationship Id="rId5" Type="http://schemas.openxmlformats.org/officeDocument/2006/relationships/oleObject" Target="../embeddings/oleObject52.bin"/><Relationship Id="rId4" Type="http://schemas.openxmlformats.org/officeDocument/2006/relationships/image" Target="../media/image67.wmf"/><Relationship Id="rId3" Type="http://schemas.openxmlformats.org/officeDocument/2006/relationships/oleObject" Target="../embeddings/oleObject51.bin"/><Relationship Id="rId2" Type="http://schemas.openxmlformats.org/officeDocument/2006/relationships/image" Target="../media/image11.png"/><Relationship Id="rId12" Type="http://schemas.openxmlformats.org/officeDocument/2006/relationships/vmlDrawing" Target="../drawings/vmlDrawing12.vml"/><Relationship Id="rId11" Type="http://schemas.openxmlformats.org/officeDocument/2006/relationships/slideLayout" Target="../slideLayouts/slideLayout2.xml"/><Relationship Id="rId10" Type="http://schemas.openxmlformats.org/officeDocument/2006/relationships/image" Target="../media/image70.emf"/><Relationship Id="rId1" Type="http://schemas.openxmlformats.org/officeDocument/2006/relationships/image" Target="../media/image4.png"/></Relationships>
</file>

<file path=ppt/slides/_rels/slide42.xml.rels><?xml version="1.0" encoding="UTF-8" standalone="yes"?>
<Relationships xmlns="http://schemas.openxmlformats.org/package/2006/relationships"><Relationship Id="rId9" Type="http://schemas.openxmlformats.org/officeDocument/2006/relationships/image" Target="../media/image67.wmf"/><Relationship Id="rId8" Type="http://schemas.openxmlformats.org/officeDocument/2006/relationships/oleObject" Target="../embeddings/oleObject57.bin"/><Relationship Id="rId7" Type="http://schemas.openxmlformats.org/officeDocument/2006/relationships/image" Target="../media/image71.wmf"/><Relationship Id="rId6" Type="http://schemas.openxmlformats.org/officeDocument/2006/relationships/oleObject" Target="../embeddings/oleObject56.bin"/><Relationship Id="rId5" Type="http://schemas.openxmlformats.org/officeDocument/2006/relationships/image" Target="../media/image63.emf"/><Relationship Id="rId4" Type="http://schemas.openxmlformats.org/officeDocument/2006/relationships/image" Target="../media/image11.png"/><Relationship Id="rId3" Type="http://schemas.openxmlformats.org/officeDocument/2006/relationships/image" Target="../media/image4.png"/><Relationship Id="rId2" Type="http://schemas.openxmlformats.org/officeDocument/2006/relationships/image" Target="../media/image70.emf"/><Relationship Id="rId15" Type="http://schemas.openxmlformats.org/officeDocument/2006/relationships/vmlDrawing" Target="../drawings/vmlDrawing13.vml"/><Relationship Id="rId14" Type="http://schemas.openxmlformats.org/officeDocument/2006/relationships/slideLayout" Target="../slideLayouts/slideLayout2.xml"/><Relationship Id="rId13" Type="http://schemas.openxmlformats.org/officeDocument/2006/relationships/image" Target="../media/image69.wmf"/><Relationship Id="rId12" Type="http://schemas.openxmlformats.org/officeDocument/2006/relationships/oleObject" Target="../embeddings/oleObject59.bin"/><Relationship Id="rId11" Type="http://schemas.openxmlformats.org/officeDocument/2006/relationships/image" Target="../media/image68.wmf"/><Relationship Id="rId10" Type="http://schemas.openxmlformats.org/officeDocument/2006/relationships/oleObject" Target="../embeddings/oleObject58.bin"/><Relationship Id="rId1" Type="http://schemas.openxmlformats.org/officeDocument/2006/relationships/oleObject" Target="../embeddings/oleObject55.bin"/></Relationships>
</file>

<file path=ppt/slides/_rels/slide43.xml.rels><?xml version="1.0" encoding="UTF-8" standalone="yes"?>
<Relationships xmlns="http://schemas.openxmlformats.org/package/2006/relationships"><Relationship Id="rId7" Type="http://schemas.openxmlformats.org/officeDocument/2006/relationships/vmlDrawing" Target="../drawings/vmlDrawing14.vml"/><Relationship Id="rId6" Type="http://schemas.openxmlformats.org/officeDocument/2006/relationships/slideLayout" Target="../slideLayouts/slideLayout2.xml"/><Relationship Id="rId5" Type="http://schemas.openxmlformats.org/officeDocument/2006/relationships/image" Target="../media/image73.emf"/><Relationship Id="rId4" Type="http://schemas.openxmlformats.org/officeDocument/2006/relationships/oleObject" Target="../embeddings/oleObject60.bin"/><Relationship Id="rId3" Type="http://schemas.openxmlformats.org/officeDocument/2006/relationships/image" Target="../media/image72.png"/><Relationship Id="rId2" Type="http://schemas.openxmlformats.org/officeDocument/2006/relationships/image" Target="../media/image11.png"/><Relationship Id="rId1" Type="http://schemas.openxmlformats.org/officeDocument/2006/relationships/image" Target="../media/image4.png"/></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64.bin"/><Relationship Id="rId8" Type="http://schemas.openxmlformats.org/officeDocument/2006/relationships/image" Target="../media/image76.wmf"/><Relationship Id="rId7" Type="http://schemas.openxmlformats.org/officeDocument/2006/relationships/oleObject" Target="../embeddings/oleObject63.bin"/><Relationship Id="rId6" Type="http://schemas.openxmlformats.org/officeDocument/2006/relationships/image" Target="../media/image75.wmf"/><Relationship Id="rId5" Type="http://schemas.openxmlformats.org/officeDocument/2006/relationships/oleObject" Target="../embeddings/oleObject62.bin"/><Relationship Id="rId4" Type="http://schemas.openxmlformats.org/officeDocument/2006/relationships/image" Target="../media/image74.wmf"/><Relationship Id="rId3" Type="http://schemas.openxmlformats.org/officeDocument/2006/relationships/oleObject" Target="../embeddings/oleObject61.bin"/><Relationship Id="rId2" Type="http://schemas.openxmlformats.org/officeDocument/2006/relationships/image" Target="../media/image11.png"/><Relationship Id="rId16" Type="http://schemas.openxmlformats.org/officeDocument/2006/relationships/vmlDrawing" Target="../drawings/vmlDrawing15.vml"/><Relationship Id="rId15" Type="http://schemas.openxmlformats.org/officeDocument/2006/relationships/slideLayout" Target="../slideLayouts/slideLayout2.xml"/><Relationship Id="rId14" Type="http://schemas.openxmlformats.org/officeDocument/2006/relationships/image" Target="../media/image79.wmf"/><Relationship Id="rId13" Type="http://schemas.openxmlformats.org/officeDocument/2006/relationships/oleObject" Target="../embeddings/oleObject66.bin"/><Relationship Id="rId12" Type="http://schemas.openxmlformats.org/officeDocument/2006/relationships/image" Target="../media/image78.wmf"/><Relationship Id="rId11" Type="http://schemas.openxmlformats.org/officeDocument/2006/relationships/oleObject" Target="../embeddings/oleObject65.bin"/><Relationship Id="rId10" Type="http://schemas.openxmlformats.org/officeDocument/2006/relationships/image" Target="../media/image77.wmf"/><Relationship Id="rId1" Type="http://schemas.openxmlformats.org/officeDocument/2006/relationships/image" Target="../media/image4.png"/></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70.bin"/><Relationship Id="rId8" Type="http://schemas.openxmlformats.org/officeDocument/2006/relationships/image" Target="../media/image82.wmf"/><Relationship Id="rId7" Type="http://schemas.openxmlformats.org/officeDocument/2006/relationships/oleObject" Target="../embeddings/oleObject69.bin"/><Relationship Id="rId6" Type="http://schemas.openxmlformats.org/officeDocument/2006/relationships/image" Target="../media/image81.wmf"/><Relationship Id="rId5" Type="http://schemas.openxmlformats.org/officeDocument/2006/relationships/oleObject" Target="../embeddings/oleObject68.bin"/><Relationship Id="rId4" Type="http://schemas.openxmlformats.org/officeDocument/2006/relationships/image" Target="../media/image80.emf"/><Relationship Id="rId3" Type="http://schemas.openxmlformats.org/officeDocument/2006/relationships/oleObject" Target="../embeddings/oleObject67.bin"/><Relationship Id="rId22" Type="http://schemas.openxmlformats.org/officeDocument/2006/relationships/vmlDrawing" Target="../drawings/vmlDrawing16.vml"/><Relationship Id="rId21" Type="http://schemas.openxmlformats.org/officeDocument/2006/relationships/slideLayout" Target="../slideLayouts/slideLayout2.xml"/><Relationship Id="rId20" Type="http://schemas.openxmlformats.org/officeDocument/2006/relationships/image" Target="../media/image87.wmf"/><Relationship Id="rId2" Type="http://schemas.openxmlformats.org/officeDocument/2006/relationships/image" Target="../media/image11.png"/><Relationship Id="rId19" Type="http://schemas.openxmlformats.org/officeDocument/2006/relationships/oleObject" Target="../embeddings/oleObject75.bin"/><Relationship Id="rId18" Type="http://schemas.openxmlformats.org/officeDocument/2006/relationships/image" Target="../media/image73.emf"/><Relationship Id="rId17" Type="http://schemas.openxmlformats.org/officeDocument/2006/relationships/oleObject" Target="../embeddings/oleObject74.bin"/><Relationship Id="rId16" Type="http://schemas.openxmlformats.org/officeDocument/2006/relationships/image" Target="../media/image86.wmf"/><Relationship Id="rId15" Type="http://schemas.openxmlformats.org/officeDocument/2006/relationships/oleObject" Target="../embeddings/oleObject73.bin"/><Relationship Id="rId14" Type="http://schemas.openxmlformats.org/officeDocument/2006/relationships/image" Target="../media/image85.wmf"/><Relationship Id="rId13" Type="http://schemas.openxmlformats.org/officeDocument/2006/relationships/oleObject" Target="../embeddings/oleObject72.bin"/><Relationship Id="rId12" Type="http://schemas.openxmlformats.org/officeDocument/2006/relationships/image" Target="../media/image84.wmf"/><Relationship Id="rId11" Type="http://schemas.openxmlformats.org/officeDocument/2006/relationships/oleObject" Target="../embeddings/oleObject71.bin"/><Relationship Id="rId10" Type="http://schemas.openxmlformats.org/officeDocument/2006/relationships/image" Target="../media/image83.wmf"/><Relationship Id="rId1" Type="http://schemas.openxmlformats.org/officeDocument/2006/relationships/image" Target="../media/image4.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2.xml"/><Relationship Id="rId4" Type="http://schemas.openxmlformats.org/officeDocument/2006/relationships/image" Target="../media/image89.png"/><Relationship Id="rId3" Type="http://schemas.openxmlformats.org/officeDocument/2006/relationships/image" Target="../media/image88.emf"/><Relationship Id="rId2" Type="http://schemas.openxmlformats.org/officeDocument/2006/relationships/oleObject" Target="../embeddings/oleObject76.bin"/><Relationship Id="rId1" Type="http://schemas.openxmlformats.org/officeDocument/2006/relationships/image" Target="../media/image4.png"/></Relationships>
</file>

<file path=ppt/slides/_rels/slide48.xml.rels><?xml version="1.0" encoding="UTF-8" standalone="yes"?>
<Relationships xmlns="http://schemas.openxmlformats.org/package/2006/relationships"><Relationship Id="rId8" Type="http://schemas.openxmlformats.org/officeDocument/2006/relationships/notesSlide" Target="../notesSlides/notesSlide26.xml"/><Relationship Id="rId7" Type="http://schemas.openxmlformats.org/officeDocument/2006/relationships/vmlDrawing" Target="../drawings/vmlDrawing18.vml"/><Relationship Id="rId6" Type="http://schemas.openxmlformats.org/officeDocument/2006/relationships/slideLayout" Target="../slideLayouts/slideLayout2.xml"/><Relationship Id="rId5" Type="http://schemas.openxmlformats.org/officeDocument/2006/relationships/image" Target="../media/image91.wmf"/><Relationship Id="rId4" Type="http://schemas.openxmlformats.org/officeDocument/2006/relationships/oleObject" Target="../embeddings/oleObject78.bin"/><Relationship Id="rId3" Type="http://schemas.openxmlformats.org/officeDocument/2006/relationships/image" Target="../media/image90.wmf"/><Relationship Id="rId2" Type="http://schemas.openxmlformats.org/officeDocument/2006/relationships/oleObject" Target="../embeddings/oleObject77.bin"/><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9" Type="http://schemas.openxmlformats.org/officeDocument/2006/relationships/oleObject" Target="../embeddings/oleObject82.bin"/><Relationship Id="rId8" Type="http://schemas.openxmlformats.org/officeDocument/2006/relationships/image" Target="../media/image95.wmf"/><Relationship Id="rId7" Type="http://schemas.openxmlformats.org/officeDocument/2006/relationships/oleObject" Target="../embeddings/oleObject81.bin"/><Relationship Id="rId6" Type="http://schemas.openxmlformats.org/officeDocument/2006/relationships/image" Target="../media/image94.wmf"/><Relationship Id="rId5" Type="http://schemas.openxmlformats.org/officeDocument/2006/relationships/oleObject" Target="../embeddings/oleObject80.bin"/><Relationship Id="rId4" Type="http://schemas.openxmlformats.org/officeDocument/2006/relationships/image" Target="../media/image93.wmf"/><Relationship Id="rId3" Type="http://schemas.openxmlformats.org/officeDocument/2006/relationships/oleObject" Target="../embeddings/oleObject79.bin"/><Relationship Id="rId2" Type="http://schemas.openxmlformats.org/officeDocument/2006/relationships/image" Target="../media/image92.png"/><Relationship Id="rId12" Type="http://schemas.openxmlformats.org/officeDocument/2006/relationships/vmlDrawing" Target="../drawings/vmlDrawing19.vml"/><Relationship Id="rId11" Type="http://schemas.openxmlformats.org/officeDocument/2006/relationships/slideLayout" Target="../slideLayouts/slideLayout1.xml"/><Relationship Id="rId10" Type="http://schemas.openxmlformats.org/officeDocument/2006/relationships/image" Target="../media/image96.wmf"/><Relationship Id="rId1" Type="http://schemas.openxmlformats.org/officeDocument/2006/relationships/image" Target="../media/image4.png"/></Relationships>
</file>

<file path=ppt/slides/_rels/slide50.xml.rels><?xml version="1.0" encoding="UTF-8" standalone="yes"?>
<Relationships xmlns="http://schemas.openxmlformats.org/package/2006/relationships"><Relationship Id="rId9" Type="http://schemas.openxmlformats.org/officeDocument/2006/relationships/image" Target="../media/image99.wmf"/><Relationship Id="rId8" Type="http://schemas.openxmlformats.org/officeDocument/2006/relationships/oleObject" Target="../embeddings/oleObject86.bin"/><Relationship Id="rId7" Type="http://schemas.openxmlformats.org/officeDocument/2006/relationships/image" Target="../media/image98.wmf"/><Relationship Id="rId6" Type="http://schemas.openxmlformats.org/officeDocument/2006/relationships/oleObject" Target="../embeddings/oleObject85.bin"/><Relationship Id="rId5" Type="http://schemas.openxmlformats.org/officeDocument/2006/relationships/image" Target="../media/image90.wmf"/><Relationship Id="rId4" Type="http://schemas.openxmlformats.org/officeDocument/2006/relationships/oleObject" Target="../embeddings/oleObject84.bin"/><Relationship Id="rId3" Type="http://schemas.openxmlformats.org/officeDocument/2006/relationships/image" Target="../media/image97.wmf"/><Relationship Id="rId2" Type="http://schemas.openxmlformats.org/officeDocument/2006/relationships/oleObject" Target="../embeddings/oleObject83.bin"/><Relationship Id="rId13" Type="http://schemas.openxmlformats.org/officeDocument/2006/relationships/notesSlide" Target="../notesSlides/notesSlide27.xml"/><Relationship Id="rId12" Type="http://schemas.openxmlformats.org/officeDocument/2006/relationships/vmlDrawing" Target="../drawings/vmlDrawing20.vml"/><Relationship Id="rId11" Type="http://schemas.openxmlformats.org/officeDocument/2006/relationships/slideLayout" Target="../slideLayouts/slideLayout1.xml"/><Relationship Id="rId10" Type="http://schemas.openxmlformats.org/officeDocument/2006/relationships/image" Target="../media/image100.png"/><Relationship Id="rId1" Type="http://schemas.openxmlformats.org/officeDocument/2006/relationships/image" Target="../media/image4.png"/></Relationships>
</file>

<file path=ppt/slides/_rels/slide51.xml.rels><?xml version="1.0" encoding="UTF-8" standalone="yes"?>
<Relationships xmlns="http://schemas.openxmlformats.org/package/2006/relationships"><Relationship Id="rId8" Type="http://schemas.openxmlformats.org/officeDocument/2006/relationships/vmlDrawing" Target="../drawings/vmlDrawing21.vml"/><Relationship Id="rId7" Type="http://schemas.openxmlformats.org/officeDocument/2006/relationships/slideLayout" Target="../slideLayouts/slideLayout2.xml"/><Relationship Id="rId6" Type="http://schemas.openxmlformats.org/officeDocument/2006/relationships/oleObject" Target="../embeddings/oleObject88.bin"/><Relationship Id="rId5" Type="http://schemas.openxmlformats.org/officeDocument/2006/relationships/image" Target="../media/image103.wmf"/><Relationship Id="rId4" Type="http://schemas.openxmlformats.org/officeDocument/2006/relationships/oleObject" Target="../embeddings/oleObject87.bin"/><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image" Target="../media/image4.png"/></Relationships>
</file>

<file path=ppt/slides/_rels/slide52.xml.rels><?xml version="1.0" encoding="UTF-8" standalone="yes"?>
<Relationships xmlns="http://schemas.openxmlformats.org/package/2006/relationships"><Relationship Id="rId9" Type="http://schemas.openxmlformats.org/officeDocument/2006/relationships/oleObject" Target="../embeddings/oleObject92.bin"/><Relationship Id="rId8" Type="http://schemas.openxmlformats.org/officeDocument/2006/relationships/image" Target="../media/image107.wmf"/><Relationship Id="rId7" Type="http://schemas.openxmlformats.org/officeDocument/2006/relationships/oleObject" Target="../embeddings/oleObject91.bin"/><Relationship Id="rId6" Type="http://schemas.openxmlformats.org/officeDocument/2006/relationships/image" Target="../media/image106.wmf"/><Relationship Id="rId5" Type="http://schemas.openxmlformats.org/officeDocument/2006/relationships/oleObject" Target="../embeddings/oleObject90.bin"/><Relationship Id="rId4" Type="http://schemas.openxmlformats.org/officeDocument/2006/relationships/image" Target="../media/image105.wmf"/><Relationship Id="rId3" Type="http://schemas.openxmlformats.org/officeDocument/2006/relationships/oleObject" Target="../embeddings/oleObject89.bin"/><Relationship Id="rId2" Type="http://schemas.openxmlformats.org/officeDocument/2006/relationships/image" Target="../media/image104.png"/><Relationship Id="rId12" Type="http://schemas.openxmlformats.org/officeDocument/2006/relationships/vmlDrawing" Target="../drawings/vmlDrawing22.vml"/><Relationship Id="rId11" Type="http://schemas.openxmlformats.org/officeDocument/2006/relationships/slideLayout" Target="../slideLayouts/slideLayout2.xml"/><Relationship Id="rId10" Type="http://schemas.openxmlformats.org/officeDocument/2006/relationships/image" Target="../media/image108.wmf"/><Relationship Id="rId1" Type="http://schemas.openxmlformats.org/officeDocument/2006/relationships/image" Target="../media/image4.png"/></Relationships>
</file>

<file path=ppt/slides/_rels/slide53.xml.rels><?xml version="1.0" encoding="UTF-8" standalone="yes"?>
<Relationships xmlns="http://schemas.openxmlformats.org/package/2006/relationships"><Relationship Id="rId5" Type="http://schemas.openxmlformats.org/officeDocument/2006/relationships/vmlDrawing" Target="../drawings/vmlDrawing23.vml"/><Relationship Id="rId4" Type="http://schemas.openxmlformats.org/officeDocument/2006/relationships/slideLayout" Target="../slideLayouts/slideLayout2.xml"/><Relationship Id="rId3" Type="http://schemas.openxmlformats.org/officeDocument/2006/relationships/image" Target="../media/image109.emf"/><Relationship Id="rId2" Type="http://schemas.openxmlformats.org/officeDocument/2006/relationships/oleObject" Target="../embeddings/oleObject93.bin"/><Relationship Id="rId1" Type="http://schemas.openxmlformats.org/officeDocument/2006/relationships/image" Target="../media/image4.png"/></Relationships>
</file>

<file path=ppt/slides/_rels/slide54.xml.rels><?xml version="1.0" encoding="UTF-8" standalone="yes"?>
<Relationships xmlns="http://schemas.openxmlformats.org/package/2006/relationships"><Relationship Id="rId5" Type="http://schemas.openxmlformats.org/officeDocument/2006/relationships/vmlDrawing" Target="../drawings/vmlDrawing24.vml"/><Relationship Id="rId4" Type="http://schemas.openxmlformats.org/officeDocument/2006/relationships/slideLayout" Target="../slideLayouts/slideLayout2.xml"/><Relationship Id="rId3" Type="http://schemas.openxmlformats.org/officeDocument/2006/relationships/image" Target="../media/image110.emf"/><Relationship Id="rId2" Type="http://schemas.openxmlformats.org/officeDocument/2006/relationships/oleObject" Target="../embeddings/oleObject94.bin"/><Relationship Id="rId1" Type="http://schemas.openxmlformats.org/officeDocument/2006/relationships/image" Target="../media/image4.png"/></Relationships>
</file>

<file path=ppt/slides/_rels/slide55.xml.rels><?xml version="1.0" encoding="UTF-8" standalone="yes"?>
<Relationships xmlns="http://schemas.openxmlformats.org/package/2006/relationships"><Relationship Id="rId6" Type="http://schemas.openxmlformats.org/officeDocument/2006/relationships/vmlDrawing" Target="../drawings/vmlDrawing25.vml"/><Relationship Id="rId5" Type="http://schemas.openxmlformats.org/officeDocument/2006/relationships/slideLayout" Target="../slideLayouts/slideLayout2.xml"/><Relationship Id="rId4" Type="http://schemas.openxmlformats.org/officeDocument/2006/relationships/image" Target="../media/image111.emf"/><Relationship Id="rId3" Type="http://schemas.openxmlformats.org/officeDocument/2006/relationships/oleObject" Target="../embeddings/oleObject95.bin"/><Relationship Id="rId2" Type="http://schemas.openxmlformats.org/officeDocument/2006/relationships/image" Target="../media/image4.png"/><Relationship Id="rId1" Type="http://schemas.openxmlformats.org/officeDocument/2006/relationships/image" Target="../media/image11.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8.xml.rels><?xml version="1.0" encoding="UTF-8" standalone="yes"?>
<Relationships xmlns="http://schemas.openxmlformats.org/package/2006/relationships"><Relationship Id="rId7" Type="http://schemas.openxmlformats.org/officeDocument/2006/relationships/vmlDrawing" Target="../drawings/vmlDrawing26.vml"/><Relationship Id="rId6" Type="http://schemas.openxmlformats.org/officeDocument/2006/relationships/slideLayout" Target="../slideLayouts/slideLayout1.xml"/><Relationship Id="rId5" Type="http://schemas.openxmlformats.org/officeDocument/2006/relationships/image" Target="../media/image113.wmf"/><Relationship Id="rId4" Type="http://schemas.openxmlformats.org/officeDocument/2006/relationships/oleObject" Target="../embeddings/oleObject97.bin"/><Relationship Id="rId3" Type="http://schemas.openxmlformats.org/officeDocument/2006/relationships/image" Target="../media/image112.emf"/><Relationship Id="rId2" Type="http://schemas.openxmlformats.org/officeDocument/2006/relationships/oleObject" Target="../embeddings/oleObject96.bin"/><Relationship Id="rId1" Type="http://schemas.openxmlformats.org/officeDocument/2006/relationships/image" Target="../media/image4.png"/></Relationships>
</file>

<file path=ppt/slides/_rels/slide59.xml.rels><?xml version="1.0" encoding="UTF-8" standalone="yes"?>
<Relationships xmlns="http://schemas.openxmlformats.org/package/2006/relationships"><Relationship Id="rId9" Type="http://schemas.openxmlformats.org/officeDocument/2006/relationships/image" Target="../media/image116.wmf"/><Relationship Id="rId8" Type="http://schemas.openxmlformats.org/officeDocument/2006/relationships/oleObject" Target="../embeddings/oleObject101.bin"/><Relationship Id="rId7" Type="http://schemas.openxmlformats.org/officeDocument/2006/relationships/image" Target="../media/image115.wmf"/><Relationship Id="rId6" Type="http://schemas.openxmlformats.org/officeDocument/2006/relationships/oleObject" Target="../embeddings/oleObject100.bin"/><Relationship Id="rId5" Type="http://schemas.openxmlformats.org/officeDocument/2006/relationships/image" Target="../media/image114.wmf"/><Relationship Id="rId4" Type="http://schemas.openxmlformats.org/officeDocument/2006/relationships/oleObject" Target="../embeddings/oleObject99.bin"/><Relationship Id="rId3" Type="http://schemas.openxmlformats.org/officeDocument/2006/relationships/image" Target="../media/image4.png"/><Relationship Id="rId23" Type="http://schemas.openxmlformats.org/officeDocument/2006/relationships/vmlDrawing" Target="../drawings/vmlDrawing27.vml"/><Relationship Id="rId22" Type="http://schemas.openxmlformats.org/officeDocument/2006/relationships/slideLayout" Target="../slideLayouts/slideLayout1.xml"/><Relationship Id="rId21" Type="http://schemas.openxmlformats.org/officeDocument/2006/relationships/image" Target="../media/image122.wmf"/><Relationship Id="rId20" Type="http://schemas.openxmlformats.org/officeDocument/2006/relationships/oleObject" Target="../embeddings/oleObject107.bin"/><Relationship Id="rId2" Type="http://schemas.openxmlformats.org/officeDocument/2006/relationships/image" Target="../media/image112.emf"/><Relationship Id="rId19" Type="http://schemas.openxmlformats.org/officeDocument/2006/relationships/image" Target="../media/image121.wmf"/><Relationship Id="rId18" Type="http://schemas.openxmlformats.org/officeDocument/2006/relationships/oleObject" Target="../embeddings/oleObject106.bin"/><Relationship Id="rId17" Type="http://schemas.openxmlformats.org/officeDocument/2006/relationships/image" Target="../media/image120.wmf"/><Relationship Id="rId16" Type="http://schemas.openxmlformats.org/officeDocument/2006/relationships/oleObject" Target="../embeddings/oleObject105.bin"/><Relationship Id="rId15" Type="http://schemas.openxmlformats.org/officeDocument/2006/relationships/image" Target="../media/image119.wmf"/><Relationship Id="rId14" Type="http://schemas.openxmlformats.org/officeDocument/2006/relationships/oleObject" Target="../embeddings/oleObject104.bin"/><Relationship Id="rId13" Type="http://schemas.openxmlformats.org/officeDocument/2006/relationships/image" Target="../media/image118.wmf"/><Relationship Id="rId12" Type="http://schemas.openxmlformats.org/officeDocument/2006/relationships/oleObject" Target="../embeddings/oleObject103.bin"/><Relationship Id="rId11" Type="http://schemas.openxmlformats.org/officeDocument/2006/relationships/image" Target="../media/image117.wmf"/><Relationship Id="rId10" Type="http://schemas.openxmlformats.org/officeDocument/2006/relationships/oleObject" Target="../embeddings/oleObject102.bin"/><Relationship Id="rId1" Type="http://schemas.openxmlformats.org/officeDocument/2006/relationships/oleObject" Target="../embeddings/oleObject98.bin"/></Relationships>
</file>

<file path=ppt/slides/_rels/slide60.xml.rels><?xml version="1.0" encoding="UTF-8" standalone="yes"?>
<Relationships xmlns="http://schemas.openxmlformats.org/package/2006/relationships"><Relationship Id="rId9" Type="http://schemas.openxmlformats.org/officeDocument/2006/relationships/image" Target="../media/image125.wmf"/><Relationship Id="rId8" Type="http://schemas.openxmlformats.org/officeDocument/2006/relationships/oleObject" Target="../embeddings/oleObject111.bin"/><Relationship Id="rId7" Type="http://schemas.openxmlformats.org/officeDocument/2006/relationships/image" Target="../media/image124.wmf"/><Relationship Id="rId6" Type="http://schemas.openxmlformats.org/officeDocument/2006/relationships/oleObject" Target="../embeddings/oleObject110.bin"/><Relationship Id="rId5" Type="http://schemas.openxmlformats.org/officeDocument/2006/relationships/image" Target="../media/image123.wmf"/><Relationship Id="rId4" Type="http://schemas.openxmlformats.org/officeDocument/2006/relationships/oleObject" Target="../embeddings/oleObject109.bin"/><Relationship Id="rId3" Type="http://schemas.openxmlformats.org/officeDocument/2006/relationships/image" Target="../media/image112.emf"/><Relationship Id="rId2" Type="http://schemas.openxmlformats.org/officeDocument/2006/relationships/oleObject" Target="../embeddings/oleObject108.bin"/><Relationship Id="rId15" Type="http://schemas.openxmlformats.org/officeDocument/2006/relationships/vmlDrawing" Target="../drawings/vmlDrawing28.vml"/><Relationship Id="rId14" Type="http://schemas.openxmlformats.org/officeDocument/2006/relationships/slideLayout" Target="../slideLayouts/slideLayout1.xml"/><Relationship Id="rId13" Type="http://schemas.openxmlformats.org/officeDocument/2006/relationships/image" Target="../media/image127.wmf"/><Relationship Id="rId12" Type="http://schemas.openxmlformats.org/officeDocument/2006/relationships/oleObject" Target="../embeddings/oleObject113.bin"/><Relationship Id="rId11" Type="http://schemas.openxmlformats.org/officeDocument/2006/relationships/image" Target="../media/image126.wmf"/><Relationship Id="rId10" Type="http://schemas.openxmlformats.org/officeDocument/2006/relationships/oleObject" Target="../embeddings/oleObject112.bin"/><Relationship Id="rId1" Type="http://schemas.openxmlformats.org/officeDocument/2006/relationships/image" Target="../media/image4.png"/></Relationships>
</file>

<file path=ppt/slides/_rels/slide61.xml.rels><?xml version="1.0" encoding="UTF-8" standalone="yes"?>
<Relationships xmlns="http://schemas.openxmlformats.org/package/2006/relationships"><Relationship Id="rId5" Type="http://schemas.openxmlformats.org/officeDocument/2006/relationships/vmlDrawing" Target="../drawings/vmlDrawing29.vml"/><Relationship Id="rId4" Type="http://schemas.openxmlformats.org/officeDocument/2006/relationships/slideLayout" Target="../slideLayouts/slideLayout2.xml"/><Relationship Id="rId3" Type="http://schemas.openxmlformats.org/officeDocument/2006/relationships/image" Target="../media/image128.emf"/><Relationship Id="rId2" Type="http://schemas.openxmlformats.org/officeDocument/2006/relationships/oleObject" Target="../embeddings/oleObject114.bin"/><Relationship Id="rId1" Type="http://schemas.openxmlformats.org/officeDocument/2006/relationships/image" Target="../media/image4.png"/></Relationships>
</file>

<file path=ppt/slides/_rels/slide62.xml.rels><?xml version="1.0" encoding="UTF-8" standalone="yes"?>
<Relationships xmlns="http://schemas.openxmlformats.org/package/2006/relationships"><Relationship Id="rId5" Type="http://schemas.openxmlformats.org/officeDocument/2006/relationships/vmlDrawing" Target="../drawings/vmlDrawing30.vml"/><Relationship Id="rId4" Type="http://schemas.openxmlformats.org/officeDocument/2006/relationships/slideLayout" Target="../slideLayouts/slideLayout1.xml"/><Relationship Id="rId3" Type="http://schemas.openxmlformats.org/officeDocument/2006/relationships/image" Target="../media/image129.emf"/><Relationship Id="rId2" Type="http://schemas.openxmlformats.org/officeDocument/2006/relationships/oleObject" Target="../embeddings/oleObject115.bin"/><Relationship Id="rId1" Type="http://schemas.openxmlformats.org/officeDocument/2006/relationships/image" Target="../media/image4.png"/></Relationships>
</file>

<file path=ppt/slides/_rels/slide63.xml.rels><?xml version="1.0" encoding="UTF-8" standalone="yes"?>
<Relationships xmlns="http://schemas.openxmlformats.org/package/2006/relationships"><Relationship Id="rId5" Type="http://schemas.openxmlformats.org/officeDocument/2006/relationships/vmlDrawing" Target="../drawings/vmlDrawing31.vml"/><Relationship Id="rId4" Type="http://schemas.openxmlformats.org/officeDocument/2006/relationships/slideLayout" Target="../slideLayouts/slideLayout1.xml"/><Relationship Id="rId3" Type="http://schemas.openxmlformats.org/officeDocument/2006/relationships/image" Target="../media/image130.emf"/><Relationship Id="rId2" Type="http://schemas.openxmlformats.org/officeDocument/2006/relationships/oleObject" Target="../embeddings/oleObject116.bin"/><Relationship Id="rId1" Type="http://schemas.openxmlformats.org/officeDocument/2006/relationships/image" Target="../media/image4.png"/></Relationships>
</file>

<file path=ppt/slides/_rels/slide64.xml.rels><?xml version="1.0" encoding="UTF-8" standalone="yes"?>
<Relationships xmlns="http://schemas.openxmlformats.org/package/2006/relationships"><Relationship Id="rId9" Type="http://schemas.openxmlformats.org/officeDocument/2006/relationships/image" Target="../media/image134.wmf"/><Relationship Id="rId8" Type="http://schemas.openxmlformats.org/officeDocument/2006/relationships/oleObject" Target="../embeddings/oleObject120.bin"/><Relationship Id="rId7" Type="http://schemas.openxmlformats.org/officeDocument/2006/relationships/image" Target="../media/image133.wmf"/><Relationship Id="rId6" Type="http://schemas.openxmlformats.org/officeDocument/2006/relationships/oleObject" Target="../embeddings/oleObject119.bin"/><Relationship Id="rId5" Type="http://schemas.openxmlformats.org/officeDocument/2006/relationships/image" Target="../media/image132.emf"/><Relationship Id="rId4" Type="http://schemas.openxmlformats.org/officeDocument/2006/relationships/oleObject" Target="../embeddings/oleObject118.bin"/><Relationship Id="rId3" Type="http://schemas.openxmlformats.org/officeDocument/2006/relationships/image" Target="../media/image4.png"/><Relationship Id="rId2" Type="http://schemas.openxmlformats.org/officeDocument/2006/relationships/image" Target="../media/image131.emf"/><Relationship Id="rId18" Type="http://schemas.openxmlformats.org/officeDocument/2006/relationships/notesSlide" Target="../notesSlides/notesSlide29.xml"/><Relationship Id="rId17" Type="http://schemas.openxmlformats.org/officeDocument/2006/relationships/vmlDrawing" Target="../drawings/vmlDrawing32.vml"/><Relationship Id="rId16" Type="http://schemas.openxmlformats.org/officeDocument/2006/relationships/slideLayout" Target="../slideLayouts/slideLayout2.xml"/><Relationship Id="rId15" Type="http://schemas.openxmlformats.org/officeDocument/2006/relationships/image" Target="../media/image137.wmf"/><Relationship Id="rId14" Type="http://schemas.openxmlformats.org/officeDocument/2006/relationships/oleObject" Target="../embeddings/oleObject123.bin"/><Relationship Id="rId13" Type="http://schemas.openxmlformats.org/officeDocument/2006/relationships/image" Target="../media/image136.wmf"/><Relationship Id="rId12" Type="http://schemas.openxmlformats.org/officeDocument/2006/relationships/oleObject" Target="../embeddings/oleObject122.bin"/><Relationship Id="rId11" Type="http://schemas.openxmlformats.org/officeDocument/2006/relationships/image" Target="../media/image135.wmf"/><Relationship Id="rId10" Type="http://schemas.openxmlformats.org/officeDocument/2006/relationships/oleObject" Target="../embeddings/oleObject121.bin"/><Relationship Id="rId1" Type="http://schemas.openxmlformats.org/officeDocument/2006/relationships/oleObject" Target="../embeddings/oleObject117.bin"/></Relationships>
</file>

<file path=ppt/slides/_rels/slide65.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vmlDrawing" Target="../drawings/vmlDrawing33.vml"/><Relationship Id="rId4" Type="http://schemas.openxmlformats.org/officeDocument/2006/relationships/slideLayout" Target="../slideLayouts/slideLayout2.xml"/><Relationship Id="rId3" Type="http://schemas.openxmlformats.org/officeDocument/2006/relationships/image" Target="../media/image138.wmf"/><Relationship Id="rId2" Type="http://schemas.openxmlformats.org/officeDocument/2006/relationships/oleObject" Target="../embeddings/oleObject124.bin"/><Relationship Id="rId1" Type="http://schemas.openxmlformats.org/officeDocument/2006/relationships/image" Target="../media/image4.png"/></Relationships>
</file>

<file path=ppt/slides/_rels/slide66.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vmlDrawing" Target="../drawings/vmlDrawing34.vml"/><Relationship Id="rId6" Type="http://schemas.openxmlformats.org/officeDocument/2006/relationships/slideLayout" Target="../slideLayouts/slideLayout2.xml"/><Relationship Id="rId5" Type="http://schemas.openxmlformats.org/officeDocument/2006/relationships/image" Target="../media/image140.emf"/><Relationship Id="rId4" Type="http://schemas.openxmlformats.org/officeDocument/2006/relationships/oleObject" Target="../embeddings/oleObject126.bin"/><Relationship Id="rId3" Type="http://schemas.openxmlformats.org/officeDocument/2006/relationships/image" Target="../media/image139.emf"/><Relationship Id="rId2" Type="http://schemas.openxmlformats.org/officeDocument/2006/relationships/oleObject" Target="../embeddings/oleObject125.bin"/><Relationship Id="rId1" Type="http://schemas.openxmlformats.org/officeDocument/2006/relationships/image" Target="../media/image4.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142.png"/><Relationship Id="rId1" Type="http://schemas.openxmlformats.org/officeDocument/2006/relationships/image" Target="../media/image141.png"/></Relationships>
</file>

<file path=ppt/slides/_rels/slide69.xml.rels><?xml version="1.0" encoding="UTF-8" standalone="yes"?>
<Relationships xmlns="http://schemas.openxmlformats.org/package/2006/relationships"><Relationship Id="rId7" Type="http://schemas.openxmlformats.org/officeDocument/2006/relationships/vmlDrawing" Target="../drawings/vmlDrawing35.vml"/><Relationship Id="rId6" Type="http://schemas.openxmlformats.org/officeDocument/2006/relationships/slideLayout" Target="../slideLayouts/slideLayout2.xml"/><Relationship Id="rId5" Type="http://schemas.openxmlformats.org/officeDocument/2006/relationships/image" Target="../media/image144.wmf"/><Relationship Id="rId4" Type="http://schemas.openxmlformats.org/officeDocument/2006/relationships/oleObject" Target="../embeddings/oleObject127.bin"/><Relationship Id="rId3" Type="http://schemas.openxmlformats.org/officeDocument/2006/relationships/image" Target="../media/image142.png"/><Relationship Id="rId2" Type="http://schemas.openxmlformats.org/officeDocument/2006/relationships/image" Target="../media/image143.png"/><Relationship Id="rId1" Type="http://schemas.openxmlformats.org/officeDocument/2006/relationships/image" Target="../media/image4.png"/></Relationships>
</file>

<file path=ppt/slides/_rels/slide70.xml.rels><?xml version="1.0" encoding="UTF-8" standalone="yes"?>
<Relationships xmlns="http://schemas.openxmlformats.org/package/2006/relationships"><Relationship Id="rId9" Type="http://schemas.openxmlformats.org/officeDocument/2006/relationships/image" Target="../media/image149.wmf"/><Relationship Id="rId8" Type="http://schemas.openxmlformats.org/officeDocument/2006/relationships/oleObject" Target="../embeddings/oleObject131.bin"/><Relationship Id="rId7" Type="http://schemas.openxmlformats.org/officeDocument/2006/relationships/image" Target="../media/image148.wmf"/><Relationship Id="rId6" Type="http://schemas.openxmlformats.org/officeDocument/2006/relationships/oleObject" Target="../embeddings/oleObject130.bin"/><Relationship Id="rId5" Type="http://schemas.openxmlformats.org/officeDocument/2006/relationships/image" Target="../media/image147.wmf"/><Relationship Id="rId4" Type="http://schemas.openxmlformats.org/officeDocument/2006/relationships/oleObject" Target="../embeddings/oleObject129.bin"/><Relationship Id="rId34" Type="http://schemas.openxmlformats.org/officeDocument/2006/relationships/notesSlide" Target="../notesSlides/notesSlide33.xml"/><Relationship Id="rId33" Type="http://schemas.openxmlformats.org/officeDocument/2006/relationships/vmlDrawing" Target="../drawings/vmlDrawing36.vml"/><Relationship Id="rId32" Type="http://schemas.openxmlformats.org/officeDocument/2006/relationships/slideLayout" Target="../slideLayouts/slideLayout2.xml"/><Relationship Id="rId31" Type="http://schemas.openxmlformats.org/officeDocument/2006/relationships/image" Target="../media/image4.png"/><Relationship Id="rId30" Type="http://schemas.openxmlformats.org/officeDocument/2006/relationships/image" Target="../media/image142.png"/><Relationship Id="rId3" Type="http://schemas.openxmlformats.org/officeDocument/2006/relationships/image" Target="../media/image146.wmf"/><Relationship Id="rId29" Type="http://schemas.openxmlformats.org/officeDocument/2006/relationships/image" Target="../media/image159.wmf"/><Relationship Id="rId28" Type="http://schemas.openxmlformats.org/officeDocument/2006/relationships/oleObject" Target="../embeddings/oleObject141.bin"/><Relationship Id="rId27" Type="http://schemas.openxmlformats.org/officeDocument/2006/relationships/image" Target="../media/image158.wmf"/><Relationship Id="rId26" Type="http://schemas.openxmlformats.org/officeDocument/2006/relationships/oleObject" Target="../embeddings/oleObject140.bin"/><Relationship Id="rId25" Type="http://schemas.openxmlformats.org/officeDocument/2006/relationships/image" Target="../media/image157.wmf"/><Relationship Id="rId24" Type="http://schemas.openxmlformats.org/officeDocument/2006/relationships/oleObject" Target="../embeddings/oleObject139.bin"/><Relationship Id="rId23" Type="http://schemas.openxmlformats.org/officeDocument/2006/relationships/image" Target="../media/image156.wmf"/><Relationship Id="rId22" Type="http://schemas.openxmlformats.org/officeDocument/2006/relationships/oleObject" Target="../embeddings/oleObject138.bin"/><Relationship Id="rId21" Type="http://schemas.openxmlformats.org/officeDocument/2006/relationships/image" Target="../media/image155.wmf"/><Relationship Id="rId20" Type="http://schemas.openxmlformats.org/officeDocument/2006/relationships/oleObject" Target="../embeddings/oleObject137.bin"/><Relationship Id="rId2" Type="http://schemas.openxmlformats.org/officeDocument/2006/relationships/oleObject" Target="../embeddings/oleObject128.bin"/><Relationship Id="rId19" Type="http://schemas.openxmlformats.org/officeDocument/2006/relationships/image" Target="../media/image154.wmf"/><Relationship Id="rId18" Type="http://schemas.openxmlformats.org/officeDocument/2006/relationships/oleObject" Target="../embeddings/oleObject136.bin"/><Relationship Id="rId17" Type="http://schemas.openxmlformats.org/officeDocument/2006/relationships/image" Target="../media/image153.wmf"/><Relationship Id="rId16" Type="http://schemas.openxmlformats.org/officeDocument/2006/relationships/oleObject" Target="../embeddings/oleObject135.bin"/><Relationship Id="rId15" Type="http://schemas.openxmlformats.org/officeDocument/2006/relationships/image" Target="../media/image152.wmf"/><Relationship Id="rId14" Type="http://schemas.openxmlformats.org/officeDocument/2006/relationships/oleObject" Target="../embeddings/oleObject134.bin"/><Relationship Id="rId13" Type="http://schemas.openxmlformats.org/officeDocument/2006/relationships/image" Target="../media/image151.wmf"/><Relationship Id="rId12" Type="http://schemas.openxmlformats.org/officeDocument/2006/relationships/oleObject" Target="../embeddings/oleObject133.bin"/><Relationship Id="rId11" Type="http://schemas.openxmlformats.org/officeDocument/2006/relationships/image" Target="../media/image150.wmf"/><Relationship Id="rId10" Type="http://schemas.openxmlformats.org/officeDocument/2006/relationships/oleObject" Target="../embeddings/oleObject132.bin"/><Relationship Id="rId1" Type="http://schemas.openxmlformats.org/officeDocument/2006/relationships/image" Target="../media/image145.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2.xml.rels><?xml version="1.0" encoding="UTF-8" standalone="yes"?>
<Relationships xmlns="http://schemas.openxmlformats.org/package/2006/relationships"><Relationship Id="rId7" Type="http://schemas.openxmlformats.org/officeDocument/2006/relationships/vmlDrawing" Target="../drawings/vmlDrawing37.vml"/><Relationship Id="rId6" Type="http://schemas.openxmlformats.org/officeDocument/2006/relationships/slideLayout" Target="../slideLayouts/slideLayout2.xml"/><Relationship Id="rId5" Type="http://schemas.openxmlformats.org/officeDocument/2006/relationships/image" Target="../media/image161.emf"/><Relationship Id="rId4" Type="http://schemas.openxmlformats.org/officeDocument/2006/relationships/oleObject" Target="../embeddings/oleObject142.bin"/><Relationship Id="rId3" Type="http://schemas.openxmlformats.org/officeDocument/2006/relationships/image" Target="../media/image4.png"/><Relationship Id="rId2" Type="http://schemas.openxmlformats.org/officeDocument/2006/relationships/image" Target="../media/image160.png"/><Relationship Id="rId1" Type="http://schemas.openxmlformats.org/officeDocument/2006/relationships/image" Target="../media/image11.png"/></Relationships>
</file>

<file path=ppt/slides/_rels/slide73.xml.rels><?xml version="1.0" encoding="UTF-8" standalone="yes"?>
<Relationships xmlns="http://schemas.openxmlformats.org/package/2006/relationships"><Relationship Id="rId7" Type="http://schemas.openxmlformats.org/officeDocument/2006/relationships/vmlDrawing" Target="../drawings/vmlDrawing38.vml"/><Relationship Id="rId6"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60.png"/><Relationship Id="rId3" Type="http://schemas.openxmlformats.org/officeDocument/2006/relationships/image" Target="../media/image11.png"/><Relationship Id="rId2" Type="http://schemas.openxmlformats.org/officeDocument/2006/relationships/image" Target="../media/image162.emf"/><Relationship Id="rId1" Type="http://schemas.openxmlformats.org/officeDocument/2006/relationships/oleObject" Target="../embeddings/oleObject143.bin"/></Relationships>
</file>

<file path=ppt/slides/_rels/slide74.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160.png"/><Relationship Id="rId1" Type="http://schemas.openxmlformats.org/officeDocument/2006/relationships/image" Target="../media/image11.png"/></Relationships>
</file>

<file path=ppt/slides/_rels/slide75.xml.rels><?xml version="1.0" encoding="UTF-8" standalone="yes"?>
<Relationships xmlns="http://schemas.openxmlformats.org/package/2006/relationships"><Relationship Id="rId9" Type="http://schemas.openxmlformats.org/officeDocument/2006/relationships/vmlDrawing" Target="../drawings/vmlDrawing39.vml"/><Relationship Id="rId8" Type="http://schemas.openxmlformats.org/officeDocument/2006/relationships/slideLayout" Target="../slideLayouts/slideLayout2.xml"/><Relationship Id="rId7" Type="http://schemas.openxmlformats.org/officeDocument/2006/relationships/image" Target="../media/image4.png"/><Relationship Id="rId6" Type="http://schemas.openxmlformats.org/officeDocument/2006/relationships/image" Target="../media/image160.png"/><Relationship Id="rId5" Type="http://schemas.openxmlformats.org/officeDocument/2006/relationships/image" Target="../media/image11.png"/><Relationship Id="rId4" Type="http://schemas.openxmlformats.org/officeDocument/2006/relationships/image" Target="../media/image164.emf"/><Relationship Id="rId3" Type="http://schemas.openxmlformats.org/officeDocument/2006/relationships/oleObject" Target="../embeddings/oleObject145.bin"/><Relationship Id="rId2" Type="http://schemas.openxmlformats.org/officeDocument/2006/relationships/image" Target="../media/image163.emf"/><Relationship Id="rId10" Type="http://schemas.openxmlformats.org/officeDocument/2006/relationships/notesSlide" Target="../notesSlides/notesSlide35.xml"/><Relationship Id="rId1" Type="http://schemas.openxmlformats.org/officeDocument/2006/relationships/oleObject" Target="../embeddings/oleObject144.bin"/></Relationships>
</file>

<file path=ppt/slides/_rels/slide76.xml.rels><?xml version="1.0" encoding="UTF-8" standalone="yes"?>
<Relationships xmlns="http://schemas.openxmlformats.org/package/2006/relationships"><Relationship Id="rId5" Type="http://schemas.openxmlformats.org/officeDocument/2006/relationships/vmlDrawing" Target="../drawings/vmlDrawing40.v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165.emf"/><Relationship Id="rId1" Type="http://schemas.openxmlformats.org/officeDocument/2006/relationships/oleObject" Target="../embeddings/oleObject146.bin"/></Relationships>
</file>

<file path=ppt/slides/_rels/slide77.xml.rels><?xml version="1.0" encoding="UTF-8" standalone="yes"?>
<Relationships xmlns="http://schemas.openxmlformats.org/package/2006/relationships"><Relationship Id="rId8" Type="http://schemas.openxmlformats.org/officeDocument/2006/relationships/vmlDrawing" Target="../drawings/vmlDrawing41.vml"/><Relationship Id="rId7"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66.emf"/><Relationship Id="rId4" Type="http://schemas.openxmlformats.org/officeDocument/2006/relationships/oleObject" Target="../embeddings/oleObject148.bin"/><Relationship Id="rId3" Type="http://schemas.openxmlformats.org/officeDocument/2006/relationships/image" Target="../media/image165.emf"/><Relationship Id="rId2" Type="http://schemas.openxmlformats.org/officeDocument/2006/relationships/oleObject" Target="../embeddings/oleObject147.bin"/><Relationship Id="rId1" Type="http://schemas.openxmlformats.org/officeDocument/2006/relationships/image" Target="../media/image11.png"/></Relationships>
</file>

<file path=ppt/slides/_rels/slide78.xml.rels><?xml version="1.0" encoding="UTF-8" standalone="yes"?>
<Relationships xmlns="http://schemas.openxmlformats.org/package/2006/relationships"><Relationship Id="rId9" Type="http://schemas.openxmlformats.org/officeDocument/2006/relationships/vmlDrawing" Target="../drawings/vmlDrawing42.vml"/><Relationship Id="rId8" Type="http://schemas.openxmlformats.org/officeDocument/2006/relationships/slideLayout" Target="../slideLayouts/slideLayout2.xml"/><Relationship Id="rId7" Type="http://schemas.openxmlformats.org/officeDocument/2006/relationships/image" Target="../media/image4.png"/><Relationship Id="rId6" Type="http://schemas.openxmlformats.org/officeDocument/2006/relationships/image" Target="../media/image169.emf"/><Relationship Id="rId5" Type="http://schemas.openxmlformats.org/officeDocument/2006/relationships/oleObject" Target="../embeddings/oleObject151.bin"/><Relationship Id="rId4" Type="http://schemas.openxmlformats.org/officeDocument/2006/relationships/image" Target="../media/image168.emf"/><Relationship Id="rId3" Type="http://schemas.openxmlformats.org/officeDocument/2006/relationships/oleObject" Target="../embeddings/oleObject150.bin"/><Relationship Id="rId2" Type="http://schemas.openxmlformats.org/officeDocument/2006/relationships/image" Target="../media/image167.emf"/><Relationship Id="rId1" Type="http://schemas.openxmlformats.org/officeDocument/2006/relationships/oleObject" Target="../embeddings/oleObject149.bin"/></Relationships>
</file>

<file path=ppt/slides/_rels/slide79.xml.rels><?xml version="1.0" encoding="UTF-8" standalone="yes"?>
<Relationships xmlns="http://schemas.openxmlformats.org/package/2006/relationships"><Relationship Id="rId8" Type="http://schemas.openxmlformats.org/officeDocument/2006/relationships/notesSlide" Target="../notesSlides/notesSlide36.xml"/><Relationship Id="rId7" Type="http://schemas.openxmlformats.org/officeDocument/2006/relationships/vmlDrawing" Target="../drawings/vmlDrawing43.vml"/><Relationship Id="rId6" Type="http://schemas.openxmlformats.org/officeDocument/2006/relationships/slideLayout" Target="../slideLayouts/slideLayout2.xml"/><Relationship Id="rId5" Type="http://schemas.openxmlformats.org/officeDocument/2006/relationships/image" Target="../media/image171.emf"/><Relationship Id="rId4" Type="http://schemas.openxmlformats.org/officeDocument/2006/relationships/oleObject" Target="../embeddings/oleObject153.bin"/><Relationship Id="rId3" Type="http://schemas.openxmlformats.org/officeDocument/2006/relationships/image" Target="../media/image170.emf"/><Relationship Id="rId2" Type="http://schemas.openxmlformats.org/officeDocument/2006/relationships/oleObject" Target="../embeddings/oleObject152.bin"/><Relationship Id="rId1" Type="http://schemas.openxmlformats.org/officeDocument/2006/relationships/image" Target="../media/image4.png"/></Relationships>
</file>

<file path=ppt/slides/_rels/slide80.xml.rels><?xml version="1.0" encoding="UTF-8" standalone="yes"?>
<Relationships xmlns="http://schemas.openxmlformats.org/package/2006/relationships"><Relationship Id="rId6" Type="http://schemas.openxmlformats.org/officeDocument/2006/relationships/vmlDrawing" Target="../drawings/vmlDrawing44.v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11.png"/><Relationship Id="rId2" Type="http://schemas.openxmlformats.org/officeDocument/2006/relationships/image" Target="../media/image172.emf"/><Relationship Id="rId1" Type="http://schemas.openxmlformats.org/officeDocument/2006/relationships/oleObject" Target="../embeddings/oleObject154.bin"/></Relationships>
</file>

<file path=ppt/slides/_rels/slide81.xml.rels><?xml version="1.0" encoding="UTF-8" standalone="yes"?>
<Relationships xmlns="http://schemas.openxmlformats.org/package/2006/relationships"><Relationship Id="rId6" Type="http://schemas.openxmlformats.org/officeDocument/2006/relationships/vmlDrawing" Target="../drawings/vmlDrawing45.v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173.emf"/><Relationship Id="rId2" Type="http://schemas.openxmlformats.org/officeDocument/2006/relationships/oleObject" Target="../embeddings/oleObject155.bin"/><Relationship Id="rId1" Type="http://schemas.openxmlformats.org/officeDocument/2006/relationships/image" Target="../media/image11.png"/></Relationships>
</file>

<file path=ppt/slides/_rels/slide82.xml.rels><?xml version="1.0" encoding="UTF-8" standalone="yes"?>
<Relationships xmlns="http://schemas.openxmlformats.org/package/2006/relationships"><Relationship Id="rId6" Type="http://schemas.openxmlformats.org/officeDocument/2006/relationships/vmlDrawing" Target="../drawings/vmlDrawing46.v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11.png"/><Relationship Id="rId2" Type="http://schemas.openxmlformats.org/officeDocument/2006/relationships/image" Target="../media/image174.emf"/><Relationship Id="rId1" Type="http://schemas.openxmlformats.org/officeDocument/2006/relationships/oleObject" Target="../embeddings/oleObject156.bin"/></Relationships>
</file>

<file path=ppt/slides/_rels/slide83.xml.rels><?xml version="1.0" encoding="UTF-8" standalone="yes"?>
<Relationships xmlns="http://schemas.openxmlformats.org/package/2006/relationships"><Relationship Id="rId6" Type="http://schemas.openxmlformats.org/officeDocument/2006/relationships/vmlDrawing" Target="../drawings/vmlDrawing47.v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11.png"/><Relationship Id="rId2" Type="http://schemas.openxmlformats.org/officeDocument/2006/relationships/image" Target="../media/image175.emf"/><Relationship Id="rId1" Type="http://schemas.openxmlformats.org/officeDocument/2006/relationships/oleObject" Target="../embeddings/oleObject157.bin"/></Relationships>
</file>

<file path=ppt/slides/_rels/slide84.xml.rels><?xml version="1.0" encoding="UTF-8" standalone="yes"?>
<Relationships xmlns="http://schemas.openxmlformats.org/package/2006/relationships"><Relationship Id="rId6" Type="http://schemas.openxmlformats.org/officeDocument/2006/relationships/vmlDrawing" Target="../drawings/vmlDrawing48.v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176.emf"/><Relationship Id="rId2" Type="http://schemas.openxmlformats.org/officeDocument/2006/relationships/oleObject" Target="../embeddings/oleObject158.bin"/><Relationship Id="rId1" Type="http://schemas.openxmlformats.org/officeDocument/2006/relationships/image" Target="../media/image11.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6.xml.rels><?xml version="1.0" encoding="UTF-8" standalone="yes"?>
<Relationships xmlns="http://schemas.openxmlformats.org/package/2006/relationships"><Relationship Id="rId9" Type="http://schemas.openxmlformats.org/officeDocument/2006/relationships/vmlDrawing" Target="../drawings/vmlDrawing49.vml"/><Relationship Id="rId8" Type="http://schemas.openxmlformats.org/officeDocument/2006/relationships/slideLayout" Target="../slideLayouts/slideLayout2.xml"/><Relationship Id="rId7" Type="http://schemas.openxmlformats.org/officeDocument/2006/relationships/image" Target="../media/image179.emf"/><Relationship Id="rId6" Type="http://schemas.openxmlformats.org/officeDocument/2006/relationships/oleObject" Target="../embeddings/oleObject161.bin"/><Relationship Id="rId5" Type="http://schemas.openxmlformats.org/officeDocument/2006/relationships/image" Target="../media/image178.wmf"/><Relationship Id="rId4" Type="http://schemas.openxmlformats.org/officeDocument/2006/relationships/oleObject" Target="../embeddings/oleObject160.bin"/><Relationship Id="rId3" Type="http://schemas.openxmlformats.org/officeDocument/2006/relationships/image" Target="../media/image177.emf"/><Relationship Id="rId2" Type="http://schemas.openxmlformats.org/officeDocument/2006/relationships/oleObject" Target="../embeddings/oleObject159.bin"/><Relationship Id="rId10" Type="http://schemas.openxmlformats.org/officeDocument/2006/relationships/notesSlide" Target="../notesSlides/notesSlide38.xml"/><Relationship Id="rId1" Type="http://schemas.openxmlformats.org/officeDocument/2006/relationships/image" Target="../media/image4.png"/></Relationships>
</file>

<file path=ppt/slides/_rels/slide87.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vmlDrawing" Target="../drawings/vmlDrawing50.vml"/><Relationship Id="rId6" Type="http://schemas.openxmlformats.org/officeDocument/2006/relationships/slideLayout" Target="../slideLayouts/slideLayout2.xml"/><Relationship Id="rId5" Type="http://schemas.openxmlformats.org/officeDocument/2006/relationships/image" Target="../media/image181.emf"/><Relationship Id="rId4" Type="http://schemas.openxmlformats.org/officeDocument/2006/relationships/oleObject" Target="../embeddings/oleObject163.bin"/><Relationship Id="rId3" Type="http://schemas.openxmlformats.org/officeDocument/2006/relationships/image" Target="../media/image180.wmf"/><Relationship Id="rId2" Type="http://schemas.openxmlformats.org/officeDocument/2006/relationships/oleObject" Target="../embeddings/oleObject162.bin"/><Relationship Id="rId1" Type="http://schemas.openxmlformats.org/officeDocument/2006/relationships/image" Target="../media/image4.png"/></Relationships>
</file>

<file path=ppt/slides/_rels/slide88.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2.xml"/><Relationship Id="rId2" Type="http://schemas.openxmlformats.org/officeDocument/2006/relationships/image" Target="../media/image182.png"/><Relationship Id="rId1" Type="http://schemas.openxmlformats.org/officeDocument/2006/relationships/image" Target="../media/image4.png"/></Relationships>
</file>

<file path=ppt/slides/_rels/slide89.xml.rels><?xml version="1.0" encoding="UTF-8" standalone="yes"?>
<Relationships xmlns="http://schemas.openxmlformats.org/package/2006/relationships"><Relationship Id="rId8" Type="http://schemas.openxmlformats.org/officeDocument/2006/relationships/notesSlide" Target="../notesSlides/notesSlide41.xml"/><Relationship Id="rId7" Type="http://schemas.openxmlformats.org/officeDocument/2006/relationships/vmlDrawing" Target="../drawings/vmlDrawing51.vml"/><Relationship Id="rId6" Type="http://schemas.openxmlformats.org/officeDocument/2006/relationships/slideLayout" Target="../slideLayouts/slideLayout2.xml"/><Relationship Id="rId5" Type="http://schemas.openxmlformats.org/officeDocument/2006/relationships/image" Target="../media/image184.emf"/><Relationship Id="rId4" Type="http://schemas.openxmlformats.org/officeDocument/2006/relationships/oleObject" Target="../embeddings/oleObject165.bin"/><Relationship Id="rId3" Type="http://schemas.openxmlformats.org/officeDocument/2006/relationships/image" Target="../media/image183.emf"/><Relationship Id="rId2" Type="http://schemas.openxmlformats.org/officeDocument/2006/relationships/oleObject" Target="../embeddings/oleObject164.bin"/><Relationship Id="rId1" Type="http://schemas.openxmlformats.org/officeDocument/2006/relationships/image" Target="../media/image4.png"/></Relationships>
</file>

<file path=ppt/slides/_rels/slide90.xml.rels><?xml version="1.0" encoding="UTF-8" standalone="yes"?>
<Relationships xmlns="http://schemas.openxmlformats.org/package/2006/relationships"><Relationship Id="rId9" Type="http://schemas.openxmlformats.org/officeDocument/2006/relationships/vmlDrawing" Target="../drawings/vmlDrawing52.vml"/><Relationship Id="rId8" Type="http://schemas.openxmlformats.org/officeDocument/2006/relationships/slideLayout" Target="../slideLayouts/slideLayout2.xml"/><Relationship Id="rId7" Type="http://schemas.openxmlformats.org/officeDocument/2006/relationships/image" Target="../media/image187.wmf"/><Relationship Id="rId6" Type="http://schemas.openxmlformats.org/officeDocument/2006/relationships/oleObject" Target="../embeddings/oleObject168.bin"/><Relationship Id="rId5" Type="http://schemas.openxmlformats.org/officeDocument/2006/relationships/image" Target="../media/image186.emf"/><Relationship Id="rId4" Type="http://schemas.openxmlformats.org/officeDocument/2006/relationships/oleObject" Target="../embeddings/oleObject167.bin"/><Relationship Id="rId3" Type="http://schemas.openxmlformats.org/officeDocument/2006/relationships/image" Target="../media/image185.emf"/><Relationship Id="rId2" Type="http://schemas.openxmlformats.org/officeDocument/2006/relationships/oleObject" Target="../embeddings/oleObject166.bin"/><Relationship Id="rId1" Type="http://schemas.openxmlformats.org/officeDocument/2006/relationships/image" Target="../media/image4.png"/></Relationships>
</file>

<file path=ppt/slides/_rels/slide91.xml.rels><?xml version="1.0" encoding="UTF-8" standalone="yes"?>
<Relationships xmlns="http://schemas.openxmlformats.org/package/2006/relationships"><Relationship Id="rId5" Type="http://schemas.openxmlformats.org/officeDocument/2006/relationships/vmlDrawing" Target="../drawings/vmlDrawing53.vml"/><Relationship Id="rId4" Type="http://schemas.openxmlformats.org/officeDocument/2006/relationships/slideLayout" Target="../slideLayouts/slideLayout2.xml"/><Relationship Id="rId3" Type="http://schemas.openxmlformats.org/officeDocument/2006/relationships/image" Target="../media/image188.emf"/><Relationship Id="rId2" Type="http://schemas.openxmlformats.org/officeDocument/2006/relationships/oleObject" Target="../embeddings/oleObject169.bin"/><Relationship Id="rId1" Type="http://schemas.openxmlformats.org/officeDocument/2006/relationships/image" Target="../media/image4.png"/></Relationships>
</file>

<file path=ppt/slides/_rels/slide92.xml.rels><?xml version="1.0" encoding="UTF-8" standalone="yes"?>
<Relationships xmlns="http://schemas.openxmlformats.org/package/2006/relationships"><Relationship Id="rId6" Type="http://schemas.openxmlformats.org/officeDocument/2006/relationships/notesSlide" Target="../notesSlides/notesSlide42.xml"/><Relationship Id="rId5" Type="http://schemas.openxmlformats.org/officeDocument/2006/relationships/vmlDrawing" Target="../drawings/vmlDrawing54.v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189.emf"/><Relationship Id="rId1" Type="http://schemas.openxmlformats.org/officeDocument/2006/relationships/oleObject" Target="../embeddings/oleObject17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2"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https://timgsa.baidu.com/timg?image&amp;quality=80&amp;size=b9999_10000&amp;sec=1580725348395&amp;di=7d0f97d144a87161ca1f8c https://timgsa.baidu.com/timg?image&amp;quality=80&amp;size=b9999_10000&amp;sec=1580725348395&amp;di=7d0f97d144a87161ca1f8c49f6249c5f&amp;imgtype=0&amp;src=http%3A%2F%2Fpic1.16pic.com%2F00%2F54%2F86%2F16pic_5486472_b.jpg 49f6249c5f&amp;imgtype=0&amp;src=http%3A%2F%2Fpic1.16pic.com%2F00%2F54%2F86%2F16pic_5486472_b.jpg</a:t>
            </a:r>
            <a:endParaRPr lang="zh-CN" altLang="en-US" dirty="0"/>
          </a:p>
        </p:txBody>
      </p:sp>
      <p:sp>
        <p:nvSpPr>
          <p:cNvPr id="23" name="矩形 22"/>
          <p:cNvSpPr/>
          <p:nvPr/>
        </p:nvSpPr>
        <p:spPr>
          <a:xfrm>
            <a:off x="1" y="1008475"/>
            <a:ext cx="9143999" cy="227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2" y="1"/>
            <a:ext cx="9144000" cy="10953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Picture 2"/>
          <p:cNvPicPr>
            <a:picLocks noChangeArrowheads="1"/>
          </p:cNvPicPr>
          <p:nvPr/>
        </p:nvPicPr>
        <p:blipFill>
          <a:blip r:embed="rId1" cstate="print"/>
          <a:srcRect/>
          <a:stretch>
            <a:fillRect/>
          </a:stretch>
        </p:blipFill>
        <p:spPr bwMode="auto">
          <a:xfrm>
            <a:off x="150494" y="220418"/>
            <a:ext cx="3261360" cy="671226"/>
          </a:xfrm>
          <a:prstGeom prst="rect">
            <a:avLst/>
          </a:prstGeom>
          <a:noFill/>
          <a:ln w="9525">
            <a:noFill/>
            <a:miter lim="800000"/>
            <a:headEnd/>
            <a:tailEnd/>
          </a:ln>
        </p:spPr>
      </p:pic>
      <p:sp>
        <p:nvSpPr>
          <p:cNvPr id="9" name="文本框 8"/>
          <p:cNvSpPr txBox="1"/>
          <p:nvPr/>
        </p:nvSpPr>
        <p:spPr>
          <a:xfrm>
            <a:off x="5829298" y="107103"/>
            <a:ext cx="3070860" cy="707886"/>
          </a:xfrm>
          <a:prstGeom prst="rect">
            <a:avLst/>
          </a:prstGeom>
          <a:noFill/>
        </p:spPr>
        <p:txBody>
          <a:bodyPr wrap="square" rtlCol="0">
            <a:spAutoFit/>
          </a:bodyPr>
          <a:lstStyle>
            <a:defPPr>
              <a:defRPr lang="zh-CN"/>
            </a:defPPr>
            <a:lvl1pPr>
              <a:defRPr b="1">
                <a:solidFill>
                  <a:schemeClr val="accent1"/>
                </a:solidFill>
                <a:latin typeface="微软雅黑" panose="020B0503020204020204" pitchFamily="34" charset="-122"/>
                <a:ea typeface="微软雅黑" panose="020B0503020204020204" pitchFamily="34" charset="-122"/>
              </a:defRPr>
            </a:lvl1pPr>
          </a:lstStyle>
          <a:p>
            <a:pPr algn="ctr">
              <a:lnSpc>
                <a:spcPct val="200000"/>
              </a:lnSpc>
            </a:pPr>
            <a:r>
              <a:rPr lang="zh-CN" altLang="en-US" sz="2000" dirty="0">
                <a:solidFill>
                  <a:srgbClr val="002060"/>
                </a:solidFill>
              </a:rPr>
              <a:t>电子与通信工程系</a:t>
            </a:r>
            <a:endParaRPr lang="zh-CN" altLang="en-US" sz="2000" dirty="0">
              <a:solidFill>
                <a:srgbClr val="002060"/>
              </a:solidFill>
            </a:endParaRPr>
          </a:p>
        </p:txBody>
      </p:sp>
      <p:pic>
        <p:nvPicPr>
          <p:cNvPr id="14" name="Picture 4" descr="http://img.mp.itc.cn/upload/20170309/9f3693de49bf44d791994c44caa6c12c_th.jpeg"/>
          <p:cNvPicPr>
            <a:picLocks noChangeAspect="1" noChangeArrowheads="1"/>
          </p:cNvPicPr>
          <p:nvPr/>
        </p:nvPicPr>
        <p:blipFill>
          <a:blip r:embed="rId2"/>
          <a:srcRect/>
          <a:stretch>
            <a:fillRect/>
          </a:stretch>
        </p:blipFill>
        <p:spPr bwMode="auto">
          <a:xfrm>
            <a:off x="1958495" y="2053085"/>
            <a:ext cx="5356703" cy="2743606"/>
          </a:xfrm>
          <a:prstGeom prst="ellipse">
            <a:avLst/>
          </a:prstGeom>
          <a:ln>
            <a:noFill/>
          </a:ln>
          <a:effectLst>
            <a:softEdge rad="112500"/>
          </a:effectLst>
        </p:spPr>
      </p:pic>
      <p:sp>
        <p:nvSpPr>
          <p:cNvPr id="15" name="文本框 6"/>
          <p:cNvSpPr txBox="1"/>
          <p:nvPr/>
        </p:nvSpPr>
        <p:spPr>
          <a:xfrm>
            <a:off x="1387450" y="1357494"/>
            <a:ext cx="6498792" cy="746358"/>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数字电子技术基础</a:t>
            </a:r>
            <a:endPar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endParaRPr>
          </a:p>
        </p:txBody>
      </p:sp>
      <p:sp>
        <p:nvSpPr>
          <p:cNvPr id="16" name="文本框 8"/>
          <p:cNvSpPr txBox="1"/>
          <p:nvPr/>
        </p:nvSpPr>
        <p:spPr>
          <a:xfrm>
            <a:off x="3080917" y="4547959"/>
            <a:ext cx="3390900" cy="706755"/>
          </a:xfrm>
          <a:prstGeom prst="rect">
            <a:avLst/>
          </a:prstGeom>
          <a:noFill/>
        </p:spPr>
        <p:txBody>
          <a:bodyPr wrap="square" rtlCol="0">
            <a:spAutoFit/>
          </a:bodyPr>
          <a:lstStyle>
            <a:defPPr>
              <a:defRPr lang="zh-CN"/>
            </a:defPPr>
            <a:lvl1pPr>
              <a:defRPr b="1">
                <a:solidFill>
                  <a:schemeClr val="accent1"/>
                </a:solidFill>
                <a:latin typeface="微软雅黑" panose="020B0503020204020204" pitchFamily="34" charset="-122"/>
                <a:ea typeface="微软雅黑" panose="020B0503020204020204" pitchFamily="34" charset="-122"/>
              </a:defRPr>
            </a:lvl1pPr>
          </a:lstStyle>
          <a:p>
            <a:pPr algn="ctr">
              <a:lnSpc>
                <a:spcPct val="200000"/>
              </a:lnSpc>
            </a:pPr>
            <a:r>
              <a:rPr lang="zh-CN" altLang="en-US" sz="2000" dirty="0">
                <a:solidFill>
                  <a:srgbClr val="002060"/>
                </a:solidFill>
              </a:rPr>
              <a:t>主讲人：赵伟</a:t>
            </a:r>
            <a:endParaRPr lang="zh-CN" altLang="en-US" sz="2000" dirty="0">
              <a:solidFill>
                <a:srgbClr val="002060"/>
              </a:solidFill>
            </a:endParaRP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1101090" y="1927861"/>
            <a:ext cx="6713220" cy="1865100"/>
            <a:chOff x="1101090" y="1824567"/>
            <a:chExt cx="6713220" cy="2072333"/>
          </a:xfrm>
        </p:grpSpPr>
        <p:grpSp>
          <p:nvGrpSpPr>
            <p:cNvPr id="18" name="组合 17"/>
            <p:cNvGrpSpPr/>
            <p:nvPr/>
          </p:nvGrpSpPr>
          <p:grpSpPr>
            <a:xfrm>
              <a:off x="1101090" y="1824567"/>
              <a:ext cx="1371600" cy="760000"/>
              <a:chOff x="910590" y="1565910"/>
              <a:chExt cx="1371600" cy="684000"/>
            </a:xfrm>
          </p:grpSpPr>
          <p:grpSp>
            <p:nvGrpSpPr>
              <p:cNvPr id="28" name="组合 27"/>
              <p:cNvGrpSpPr/>
              <p:nvPr/>
            </p:nvGrpSpPr>
            <p:grpSpPr>
              <a:xfrm>
                <a:off x="910590" y="1699260"/>
                <a:ext cx="1371600" cy="99060"/>
                <a:chOff x="910590" y="1699260"/>
                <a:chExt cx="1371600" cy="99060"/>
              </a:xfrm>
            </p:grpSpPr>
            <p:cxnSp>
              <p:nvCxnSpPr>
                <p:cNvPr id="33" name="直接连接符 32"/>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4" name="直接连接符 33"/>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30" name="组合 29"/>
              <p:cNvGrpSpPr/>
              <p:nvPr/>
            </p:nvGrpSpPr>
            <p:grpSpPr>
              <a:xfrm rot="5400000">
                <a:off x="728610" y="1866000"/>
                <a:ext cx="684000" cy="83820"/>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19" name="组合 18"/>
            <p:cNvGrpSpPr/>
            <p:nvPr/>
          </p:nvGrpSpPr>
          <p:grpSpPr>
            <a:xfrm rot="10800000">
              <a:off x="6442710" y="3136900"/>
              <a:ext cx="1371600" cy="760000"/>
              <a:chOff x="910590" y="1565910"/>
              <a:chExt cx="1371600" cy="684000"/>
            </a:xfrm>
          </p:grpSpPr>
          <p:grpSp>
            <p:nvGrpSpPr>
              <p:cNvPr id="21" name="组合 35"/>
              <p:cNvGrpSpPr/>
              <p:nvPr/>
            </p:nvGrpSpPr>
            <p:grpSpPr>
              <a:xfrm>
                <a:off x="910590" y="1699260"/>
                <a:ext cx="1371600" cy="99060"/>
                <a:chOff x="910590" y="1699260"/>
                <a:chExt cx="1371600" cy="99060"/>
              </a:xfrm>
            </p:grpSpPr>
            <p:cxnSp>
              <p:nvCxnSpPr>
                <p:cNvPr id="26" name="直接连接符 25"/>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7" name="直接连接符 26"/>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2" name="组合 36"/>
              <p:cNvGrpSpPr/>
              <p:nvPr/>
            </p:nvGrpSpPr>
            <p:grpSpPr>
              <a:xfrm rot="5400000">
                <a:off x="728610" y="1866000"/>
                <a:ext cx="684000" cy="83820"/>
                <a:chOff x="910590" y="1699260"/>
                <a:chExt cx="1371600" cy="99060"/>
              </a:xfrm>
            </p:grpSpPr>
            <p:cxnSp>
              <p:nvCxnSpPr>
                <p:cNvPr id="23" name="直接连接符 22"/>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4" name="直接连接符 23"/>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20" name="文本框 6"/>
            <p:cNvSpPr txBox="1"/>
            <p:nvPr/>
          </p:nvSpPr>
          <p:spPr>
            <a:xfrm>
              <a:off x="1113588" y="2331362"/>
              <a:ext cx="6498792" cy="908225"/>
            </a:xfrm>
            <a:prstGeom prst="rect">
              <a:avLst/>
            </a:prstGeom>
            <a:noFill/>
          </p:spPr>
          <p:txBody>
            <a:bodyPr wrap="square" rtlCol="0">
              <a:spAutoFit/>
            </a:bodyPr>
            <a:lstStyle/>
            <a:p>
              <a:pPr algn="ctr">
                <a:lnSpc>
                  <a:spcPct val="125000"/>
                </a:lnSpc>
              </a:pPr>
              <a:r>
                <a:rPr lang="zh-CN" altLang="zh-CN"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6</a:t>
              </a:r>
              <a:r>
                <a:rPr lang="zh-CN" altLang="zh-CN"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时序逻辑电路</a:t>
              </a:r>
              <a:endParaRPr lang="en-US" altLang="zh-CN"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79213" y="985018"/>
            <a:ext cx="8631294" cy="4000798"/>
            <a:chOff x="256353" y="1058938"/>
            <a:chExt cx="8631294" cy="3517295"/>
          </a:xfrm>
        </p:grpSpPr>
        <p:sp>
          <p:nvSpPr>
            <p:cNvPr id="7" name="矩形 6"/>
            <p:cNvSpPr/>
            <p:nvPr/>
          </p:nvSpPr>
          <p:spPr>
            <a:xfrm>
              <a:off x="256353" y="1426524"/>
              <a:ext cx="8631294" cy="3149709"/>
            </a:xfrm>
            <a:prstGeom prst="rect">
              <a:avLst/>
            </a:prstGeom>
            <a:solidFill>
              <a:sysClr val="window" lastClr="FFFFFF">
                <a:alpha val="0"/>
              </a:sysClr>
            </a:solidFill>
            <a:ln w="25400" cap="flat" cmpd="sng" algn="ctr">
              <a:solidFill>
                <a:srgbClr val="2090EC"/>
              </a:solidFill>
              <a:prstDash val="solid"/>
            </a:ln>
            <a:effectLst/>
          </p:spPr>
          <p:txBody>
            <a:bodyPr lIns="0" tIns="72000" rIns="0" bIns="0" numCol="3" spcCol="180000" anchor="ctr"/>
            <a:lstStyle/>
            <a:p>
              <a:pPr marL="357505" indent="-268605">
                <a:spcBef>
                  <a:spcPts val="600"/>
                </a:spcBef>
                <a:buSzPct val="100000"/>
                <a:buFont typeface="Wingdings" panose="05000000000000000000" pitchFamily="2" charset="2"/>
                <a:buChar char="n"/>
              </a:pPr>
              <a:endParaRPr sz="1400" kern="100" dirty="0">
                <a:solidFill>
                  <a:srgbClr val="002060"/>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68913" y="1744751"/>
              <a:ext cx="8006174" cy="2568099"/>
            </a:xfrm>
            <a:prstGeom prst="rect">
              <a:avLst/>
            </a:prstGeom>
            <a:noFill/>
          </p:spPr>
          <p:txBody>
            <a:bodyPr wrap="square">
              <a:spAutoFit/>
            </a:bodyPr>
            <a:lstStyle/>
            <a:p>
              <a:pPr marL="342900" lvl="0" indent="-342900">
                <a:lnSpc>
                  <a:spcPct val="150000"/>
                </a:lnSpc>
                <a:spcBef>
                  <a:spcPts val="600"/>
                </a:spcBef>
                <a:buFont typeface="Wingdings" panose="05000000000000000000" pitchFamily="2" charset="2"/>
                <a:buChar char=""/>
              </a:pP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时序逻辑电路的结构特点、分类及描述方式；</a:t>
              </a:r>
              <a:endParaRPr lang="zh-CN"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342900">
                <a:lnSpc>
                  <a:spcPct val="150000"/>
                </a:lnSpc>
                <a:spcBef>
                  <a:spcPts val="600"/>
                </a:spcBef>
                <a:buFont typeface="Wingdings" panose="05000000000000000000" pitchFamily="2" charset="2"/>
                <a:buChar char=""/>
              </a:pP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同步、异步时序逻辑电路的分析方法；</a:t>
              </a:r>
              <a:endParaRPr lang="zh-CN"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342900">
                <a:lnSpc>
                  <a:spcPct val="150000"/>
                </a:lnSpc>
                <a:spcBef>
                  <a:spcPts val="600"/>
                </a:spcBef>
                <a:buFont typeface="Wingdings" panose="05000000000000000000" pitchFamily="2" charset="2"/>
                <a:buChar char=""/>
              </a:pP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同步时序逻辑电路的设计方法；</a:t>
              </a:r>
              <a:endParaRPr lang="zh-CN"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342900">
                <a:lnSpc>
                  <a:spcPct val="150000"/>
                </a:lnSpc>
                <a:spcBef>
                  <a:spcPts val="600"/>
                </a:spcBef>
                <a:buFont typeface="Wingdings" panose="05000000000000000000" pitchFamily="2" charset="2"/>
                <a:buChar char=""/>
              </a:pP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寄存器、移位寄存器及其应用；</a:t>
              </a:r>
              <a:endParaRPr lang="zh-CN"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342900">
                <a:lnSpc>
                  <a:spcPct val="150000"/>
                </a:lnSpc>
                <a:spcBef>
                  <a:spcPts val="600"/>
                </a:spcBef>
                <a:buFont typeface="Wingdings" panose="05000000000000000000" pitchFamily="2" charset="2"/>
                <a:buChar char=""/>
              </a:pP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计数器的基本概念、异步计数器和同步计数器的电路结构特点；</a:t>
              </a:r>
              <a:endParaRPr lang="zh-CN"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342900">
                <a:lnSpc>
                  <a:spcPct val="150000"/>
                </a:lnSpc>
                <a:spcBef>
                  <a:spcPts val="600"/>
                </a:spcBef>
                <a:buFont typeface="Wingdings" panose="05000000000000000000" pitchFamily="2" charset="2"/>
                <a:buChar char=""/>
              </a:pP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中规模集成计数器的功能及应用。</a:t>
              </a:r>
              <a:endParaRPr lang="zh-CN"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平行四边形 8"/>
            <p:cNvSpPr/>
            <p:nvPr/>
          </p:nvSpPr>
          <p:spPr>
            <a:xfrm>
              <a:off x="256353" y="1058938"/>
              <a:ext cx="7344511" cy="374964"/>
            </a:xfrm>
            <a:prstGeom prst="parallelogram">
              <a:avLst>
                <a:gd name="adj" fmla="val 64377"/>
              </a:avLst>
            </a:prstGeom>
            <a:solidFill>
              <a:srgbClr val="005DA2"/>
            </a:solidFill>
            <a:ln w="15875" cap="flat" cmpd="sng" algn="ctr">
              <a:solidFill>
                <a:srgbClr val="005DA2"/>
              </a:solidFill>
              <a:prstDash val="solid"/>
            </a:ln>
            <a:effectLst>
              <a:outerShdw blurRad="50800" dist="38100" dir="2700000" algn="tl" rotWithShape="0">
                <a:prstClr val="black">
                  <a:alpha val="40000"/>
                </a:prstClr>
              </a:outerShdw>
            </a:effectLst>
          </p:spPr>
          <p:txBody>
            <a:bodyPr lIns="0" tIns="0" rIns="0" bIns="0" rtlCol="0" anchor="ctr"/>
            <a:lstStyle/>
            <a:p>
              <a:pPr defTabSz="914400">
                <a:defRPr/>
              </a:pPr>
              <a:r>
                <a:rPr lang="zh-CN" altLang="en-US" sz="2000" b="1"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内 容 提 要</a:t>
              </a:r>
              <a:endParaRPr lang="zh-CN" altLang="en-US" sz="2000" b="1" kern="0" dirty="0">
                <a:solidFill>
                  <a:schemeClr val="bg1"/>
                </a:solidFill>
                <a:latin typeface="Calibri" panose="020F0502020204030204"/>
              </a:endParaRPr>
            </a:p>
          </p:txBody>
        </p:sp>
      </p:gr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1101090" y="1824567"/>
            <a:ext cx="1371600" cy="760000"/>
            <a:chOff x="910590" y="1565910"/>
            <a:chExt cx="1371600" cy="684000"/>
          </a:xfrm>
        </p:grpSpPr>
        <p:grpSp>
          <p:nvGrpSpPr>
            <p:cNvPr id="36" name="组合 35"/>
            <p:cNvGrpSpPr/>
            <p:nvPr/>
          </p:nvGrpSpPr>
          <p:grpSpPr>
            <a:xfrm>
              <a:off x="910590" y="1699260"/>
              <a:ext cx="1371600" cy="99060"/>
              <a:chOff x="910590" y="1699260"/>
              <a:chExt cx="1371600" cy="99060"/>
            </a:xfrm>
          </p:grpSpPr>
          <p:cxnSp>
            <p:nvCxnSpPr>
              <p:cNvPr id="29" name="直接连接符 2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5" name="直接连接符 34"/>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37" name="组合 36"/>
            <p:cNvGrpSpPr/>
            <p:nvPr/>
          </p:nvGrpSpPr>
          <p:grpSpPr>
            <a:xfrm rot="5400000">
              <a:off x="728610" y="1866000"/>
              <a:ext cx="684000" cy="83820"/>
              <a:chOff x="910590" y="1699260"/>
              <a:chExt cx="1371600" cy="99060"/>
            </a:xfrm>
          </p:grpSpPr>
          <p:cxnSp>
            <p:nvCxnSpPr>
              <p:cNvPr id="38" name="直接连接符 3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2" name="直接连接符 4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44" name="组合 43"/>
          <p:cNvGrpSpPr/>
          <p:nvPr/>
        </p:nvGrpSpPr>
        <p:grpSpPr>
          <a:xfrm rot="10800000">
            <a:off x="6442710" y="3136900"/>
            <a:ext cx="1371600" cy="760000"/>
            <a:chOff x="910590" y="1565910"/>
            <a:chExt cx="1371600" cy="684000"/>
          </a:xfrm>
        </p:grpSpPr>
        <p:grpSp>
          <p:nvGrpSpPr>
            <p:cNvPr id="45" name="组合 35"/>
            <p:cNvGrpSpPr/>
            <p:nvPr/>
          </p:nvGrpSpPr>
          <p:grpSpPr>
            <a:xfrm>
              <a:off x="910590" y="1699260"/>
              <a:ext cx="1371600" cy="99060"/>
              <a:chOff x="910590" y="1699260"/>
              <a:chExt cx="1371600" cy="99060"/>
            </a:xfrm>
          </p:grpSpPr>
          <p:cxnSp>
            <p:nvCxnSpPr>
              <p:cNvPr id="49" name="直接连接符 4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50" name="直接连接符 4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46" name="组合 36"/>
            <p:cNvGrpSpPr/>
            <p:nvPr/>
          </p:nvGrpSpPr>
          <p:grpSpPr>
            <a:xfrm rot="5400000">
              <a:off x="728610" y="1866000"/>
              <a:ext cx="684000" cy="83820"/>
              <a:chOff x="910590" y="1699260"/>
              <a:chExt cx="1371600" cy="99060"/>
            </a:xfrm>
          </p:grpSpPr>
          <p:cxnSp>
            <p:nvCxnSpPr>
              <p:cNvPr id="47" name="直接连接符 46"/>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8" name="直接连接符 47"/>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17" name="文本框 6"/>
          <p:cNvSpPr txBox="1"/>
          <p:nvPr/>
        </p:nvSpPr>
        <p:spPr>
          <a:xfrm>
            <a:off x="1393722" y="2157416"/>
            <a:ext cx="6150077" cy="708592"/>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6</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时序逻辑电路</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
        <p:nvSpPr>
          <p:cNvPr id="2" name="矩形 1"/>
          <p:cNvSpPr/>
          <p:nvPr/>
        </p:nvSpPr>
        <p:spPr>
          <a:xfrm>
            <a:off x="2286198" y="3020253"/>
            <a:ext cx="4365123" cy="461665"/>
          </a:xfrm>
          <a:prstGeom prst="rect">
            <a:avLst/>
          </a:prstGeom>
        </p:spPr>
        <p:txBody>
          <a:bodyPr wrap="square">
            <a:spAutoFit/>
          </a:bodyPr>
          <a:lstStyle/>
          <a:p>
            <a:pPr algn="ctr">
              <a:spcBef>
                <a:spcPts val="600"/>
              </a:spcBef>
            </a:pPr>
            <a:r>
              <a:rPr lang="en-US" altLang="zh-CN"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6.1 </a:t>
            </a:r>
            <a:r>
              <a:rPr lang="zh-CN" altLang="en-US"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时序逻辑电路概述</a:t>
            </a:r>
            <a:endParaRPr lang="zh-CN" altLang="en-US"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14:prism dir="u" isInverted="1"/>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圆角矩形 19"/>
          <p:cNvSpPr/>
          <p:nvPr/>
        </p:nvSpPr>
        <p:spPr>
          <a:xfrm>
            <a:off x="5233318" y="2762224"/>
            <a:ext cx="2880000" cy="1509624"/>
          </a:xfrm>
          <a:prstGeom prst="roundRect">
            <a:avLst>
              <a:gd name="adj" fmla="val 7613"/>
            </a:avLst>
          </a:prstGeom>
          <a:solidFill>
            <a:schemeClr val="accent4">
              <a:lumMod val="20000"/>
              <a:lumOff val="80000"/>
            </a:schemeClr>
          </a:solidFill>
          <a:ln w="28575">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marL="144145"/>
            <a:r>
              <a:rPr lang="zh-CN" altLang="en-US" sz="1600" dirty="0">
                <a:solidFill>
                  <a:schemeClr val="tx1"/>
                </a:solidFill>
                <a:latin typeface="黑体" panose="02010609060101010101" pitchFamily="49" charset="-122"/>
                <a:ea typeface="黑体" panose="02010609060101010101" pitchFamily="49" charset="-122"/>
              </a:rPr>
              <a:t>电路在某一时刻的稳态输出</a:t>
            </a:r>
            <a:r>
              <a:rPr lang="zh-CN" altLang="en-US" sz="1600" dirty="0">
                <a:solidFill>
                  <a:srgbClr val="FF0000"/>
                </a:solidFill>
                <a:latin typeface="黑体" panose="02010609060101010101" pitchFamily="49" charset="-122"/>
                <a:ea typeface="黑体" panose="02010609060101010101" pitchFamily="49" charset="-122"/>
              </a:rPr>
              <a:t>不仅</a:t>
            </a:r>
            <a:r>
              <a:rPr lang="zh-CN" altLang="en-US" sz="1600" dirty="0">
                <a:solidFill>
                  <a:schemeClr val="tx1"/>
                </a:solidFill>
                <a:latin typeface="黑体" panose="02010609060101010101" pitchFamily="49" charset="-122"/>
                <a:ea typeface="黑体" panose="02010609060101010101" pitchFamily="49" charset="-122"/>
              </a:rPr>
              <a:t>取决于该时刻的输入信号组合，还与输入信号作用前电路原来的状态</a:t>
            </a:r>
            <a:r>
              <a:rPr lang="zh-CN" altLang="en-US" sz="1600" dirty="0">
                <a:solidFill>
                  <a:srgbClr val="FF0000"/>
                </a:solidFill>
                <a:latin typeface="黑体" panose="02010609060101010101" pitchFamily="49" charset="-122"/>
                <a:ea typeface="黑体" panose="02010609060101010101" pitchFamily="49" charset="-122"/>
              </a:rPr>
              <a:t>有关</a:t>
            </a:r>
            <a:r>
              <a:rPr lang="zh-CN" altLang="en-US" sz="1600" dirty="0">
                <a:solidFill>
                  <a:schemeClr val="tx1"/>
                </a:solidFill>
                <a:latin typeface="黑体" panose="02010609060101010101" pitchFamily="49" charset="-122"/>
                <a:ea typeface="黑体" panose="02010609060101010101" pitchFamily="49" charset="-122"/>
              </a:rPr>
              <a:t>。</a:t>
            </a: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21" name="圆角矩形 20"/>
          <p:cNvSpPr/>
          <p:nvPr/>
        </p:nvSpPr>
        <p:spPr>
          <a:xfrm>
            <a:off x="787421" y="2729404"/>
            <a:ext cx="2880000" cy="1509624"/>
          </a:xfrm>
          <a:prstGeom prst="roundRect">
            <a:avLst>
              <a:gd name="adj" fmla="val 7613"/>
            </a:avLst>
          </a:prstGeom>
          <a:solidFill>
            <a:schemeClr val="accent4">
              <a:lumMod val="20000"/>
              <a:lumOff val="80000"/>
            </a:schemeClr>
          </a:solidFill>
          <a:ln w="28575">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marL="144145"/>
            <a:r>
              <a:rPr lang="zh-CN" altLang="en-US" sz="1600" dirty="0">
                <a:solidFill>
                  <a:schemeClr val="tx1"/>
                </a:solidFill>
                <a:latin typeface="黑体" panose="02010609060101010101" pitchFamily="49" charset="-122"/>
                <a:ea typeface="黑体" panose="02010609060101010101" pitchFamily="49" charset="-122"/>
              </a:rPr>
              <a:t>电路在任意时刻的稳态输出</a:t>
            </a:r>
            <a:r>
              <a:rPr lang="zh-CN" altLang="en-US" sz="1600" dirty="0">
                <a:solidFill>
                  <a:srgbClr val="FF0000"/>
                </a:solidFill>
                <a:latin typeface="黑体" panose="02010609060101010101" pitchFamily="49" charset="-122"/>
                <a:ea typeface="黑体" panose="02010609060101010101" pitchFamily="49" charset="-122"/>
              </a:rPr>
              <a:t>仅</a:t>
            </a:r>
            <a:r>
              <a:rPr lang="zh-CN" altLang="en-US" sz="1600" dirty="0">
                <a:solidFill>
                  <a:schemeClr val="tx1"/>
                </a:solidFill>
                <a:latin typeface="黑体" panose="02010609060101010101" pitchFamily="49" charset="-122"/>
                <a:ea typeface="黑体" panose="02010609060101010101" pitchFamily="49" charset="-122"/>
              </a:rPr>
              <a:t>取决于该时刻的输入信号组合，而与输入信号作用前电路原来的状态</a:t>
            </a:r>
            <a:r>
              <a:rPr lang="zh-CN" altLang="en-US" sz="1600" dirty="0">
                <a:solidFill>
                  <a:srgbClr val="FF0000"/>
                </a:solidFill>
                <a:latin typeface="黑体" panose="02010609060101010101" pitchFamily="49" charset="-122"/>
                <a:ea typeface="黑体" panose="02010609060101010101" pitchFamily="49" charset="-122"/>
              </a:rPr>
              <a:t>无关</a:t>
            </a:r>
            <a:r>
              <a:rPr lang="zh-CN" altLang="en-US" sz="1600" dirty="0">
                <a:solidFill>
                  <a:schemeClr val="tx1"/>
                </a:solidFill>
                <a:latin typeface="黑体" panose="02010609060101010101" pitchFamily="49" charset="-122"/>
                <a:ea typeface="黑体" panose="02010609060101010101" pitchFamily="49" charset="-122"/>
              </a:rPr>
              <a:t>。</a:t>
            </a:r>
            <a:endParaRPr lang="zh-CN" altLang="en-US" sz="1600" dirty="0">
              <a:solidFill>
                <a:schemeClr val="tx1"/>
              </a:solidFill>
              <a:latin typeface="黑体" panose="02010609060101010101" pitchFamily="49" charset="-122"/>
              <a:ea typeface="黑体" panose="02010609060101010101" pitchFamily="49" charset="-122"/>
            </a:endParaRPr>
          </a:p>
        </p:txBody>
      </p:sp>
      <p:grpSp>
        <p:nvGrpSpPr>
          <p:cNvPr id="7" name="组合 6"/>
          <p:cNvGrpSpPr/>
          <p:nvPr/>
        </p:nvGrpSpPr>
        <p:grpSpPr>
          <a:xfrm>
            <a:off x="1802332" y="1623252"/>
            <a:ext cx="5242993" cy="1188000"/>
            <a:chOff x="1656823" y="1720935"/>
            <a:chExt cx="5242993" cy="1188000"/>
          </a:xfrm>
        </p:grpSpPr>
        <p:sp>
          <p:nvSpPr>
            <p:cNvPr id="6" name="箭头: 左右 5"/>
            <p:cNvSpPr/>
            <p:nvPr/>
          </p:nvSpPr>
          <p:spPr>
            <a:xfrm>
              <a:off x="2555077" y="1916023"/>
              <a:ext cx="3446484" cy="797824"/>
            </a:xfrm>
            <a:prstGeom prst="leftRightArrow">
              <a:avLst>
                <a:gd name="adj1" fmla="val 100000"/>
                <a:gd name="adj2" fmla="val 50000"/>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数字电路</a:t>
              </a:r>
              <a:endParaRPr lang="zh-CN" altLang="en-US" sz="2800" dirty="0">
                <a:solidFill>
                  <a:schemeClr val="bg1"/>
                </a:solidFill>
              </a:endParaRPr>
            </a:p>
          </p:txBody>
        </p:sp>
        <p:sp>
          <p:nvSpPr>
            <p:cNvPr id="15" name="圆角矩形 14"/>
            <p:cNvSpPr/>
            <p:nvPr/>
          </p:nvSpPr>
          <p:spPr>
            <a:xfrm>
              <a:off x="6064424" y="1720935"/>
              <a:ext cx="835392" cy="1188000"/>
            </a:xfrm>
            <a:prstGeom prst="roundRect">
              <a:avLst/>
            </a:prstGeom>
            <a:ln>
              <a:noFill/>
            </a:ln>
            <a:effectLst>
              <a:glow rad="63500">
                <a:schemeClr val="accent2">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latin typeface="黑体" panose="02010609060101010101" pitchFamily="49" charset="-122"/>
                  <a:ea typeface="黑体" panose="02010609060101010101" pitchFamily="49" charset="-122"/>
                </a:rPr>
                <a:t>时序逻辑电路</a:t>
              </a:r>
              <a:endParaRPr lang="zh-CN" altLang="en-US" dirty="0">
                <a:latin typeface="黑体" panose="02010609060101010101" pitchFamily="49" charset="-122"/>
                <a:ea typeface="黑体" panose="02010609060101010101" pitchFamily="49" charset="-122"/>
              </a:endParaRPr>
            </a:p>
          </p:txBody>
        </p:sp>
        <p:sp>
          <p:nvSpPr>
            <p:cNvPr id="22" name="圆角矩形 21"/>
            <p:cNvSpPr/>
            <p:nvPr/>
          </p:nvSpPr>
          <p:spPr>
            <a:xfrm>
              <a:off x="1656823" y="1720935"/>
              <a:ext cx="835392" cy="1188000"/>
            </a:xfrm>
            <a:prstGeom prst="roundRect">
              <a:avLst/>
            </a:prstGeom>
            <a:ln>
              <a:noFill/>
            </a:ln>
            <a:effectLst>
              <a:glow rad="63500">
                <a:schemeClr val="accent2">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latin typeface="黑体" panose="02010609060101010101" pitchFamily="49" charset="-122"/>
                  <a:ea typeface="黑体" panose="02010609060101010101" pitchFamily="49" charset="-122"/>
                </a:rPr>
                <a:t>组合逻辑电路</a:t>
              </a:r>
              <a:endParaRPr lang="zh-CN" altLang="en-US" dirty="0">
                <a:latin typeface="黑体" panose="02010609060101010101" pitchFamily="49" charset="-122"/>
                <a:ea typeface="黑体" panose="02010609060101010101" pitchFamily="49" charset="-122"/>
              </a:endParaRPr>
            </a:p>
          </p:txBody>
        </p:sp>
      </p:grpSp>
      <p:grpSp>
        <p:nvGrpSpPr>
          <p:cNvPr id="9" name="组合 8"/>
          <p:cNvGrpSpPr/>
          <p:nvPr/>
        </p:nvGrpSpPr>
        <p:grpSpPr>
          <a:xfrm>
            <a:off x="2468880" y="3425212"/>
            <a:ext cx="4434840" cy="1622864"/>
            <a:chOff x="2468880" y="3425212"/>
            <a:chExt cx="4434840" cy="1622864"/>
          </a:xfrm>
        </p:grpSpPr>
        <p:grpSp>
          <p:nvGrpSpPr>
            <p:cNvPr id="25" name="组合 24"/>
            <p:cNvGrpSpPr/>
            <p:nvPr/>
          </p:nvGrpSpPr>
          <p:grpSpPr>
            <a:xfrm>
              <a:off x="2468880" y="4417908"/>
              <a:ext cx="4434840" cy="630168"/>
              <a:chOff x="1023969" y="1590780"/>
              <a:chExt cx="4434840" cy="630168"/>
            </a:xfrm>
          </p:grpSpPr>
          <p:sp>
            <p:nvSpPr>
              <p:cNvPr id="5" name="圆角矩形 4"/>
              <p:cNvSpPr/>
              <p:nvPr/>
            </p:nvSpPr>
            <p:spPr>
              <a:xfrm>
                <a:off x="1023969" y="1590780"/>
                <a:ext cx="4434840" cy="630168"/>
              </a:xfrm>
              <a:prstGeom prst="roundRect">
                <a:avLst>
                  <a:gd name="adj" fmla="val 8529"/>
                </a:avLst>
              </a:prstGeom>
              <a:solidFill>
                <a:schemeClr val="bg1"/>
              </a:solidFill>
              <a:ln w="28575">
                <a:solidFill>
                  <a:srgbClr val="66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1178886" y="1691507"/>
                <a:ext cx="1917723" cy="432000"/>
              </a:xfrm>
              <a:prstGeom prst="roundRect">
                <a:avLst/>
              </a:prstGeom>
              <a:solidFill>
                <a:srgbClr val="FFC000"/>
              </a:solidFill>
              <a:ln w="19050">
                <a:solidFill>
                  <a:schemeClr val="tx1">
                    <a:lumMod val="85000"/>
                    <a:lumOff val="15000"/>
                  </a:schemeClr>
                </a:solidFill>
              </a:ln>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组合逻辑电路</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4" name="圆角矩形 3"/>
              <p:cNvSpPr/>
              <p:nvPr/>
            </p:nvSpPr>
            <p:spPr>
              <a:xfrm>
                <a:off x="3403926" y="1691507"/>
                <a:ext cx="1917723" cy="432000"/>
              </a:xfrm>
              <a:prstGeom prst="roundRect">
                <a:avLst/>
              </a:prstGeom>
              <a:solidFill>
                <a:srgbClr val="66FF66"/>
              </a:solidFill>
              <a:ln w="19050">
                <a:solidFill>
                  <a:schemeClr val="tx1">
                    <a:lumMod val="85000"/>
                    <a:lumOff val="15000"/>
                  </a:schemeClr>
                </a:solidFill>
              </a:ln>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锁存器、触发器</a:t>
                </a:r>
                <a:endParaRPr lang="zh-CN" altLang="en-US" dirty="0">
                  <a:solidFill>
                    <a:srgbClr val="7030A0"/>
                  </a:solidFill>
                  <a:latin typeface="黑体" panose="02010609060101010101" pitchFamily="49" charset="-122"/>
                  <a:ea typeface="黑体" panose="02010609060101010101" pitchFamily="49" charset="-122"/>
                </a:endParaRPr>
              </a:p>
            </p:txBody>
          </p:sp>
        </p:grpSp>
        <p:sp>
          <p:nvSpPr>
            <p:cNvPr id="8" name="箭头: 圆角右 7"/>
            <p:cNvSpPr/>
            <p:nvPr/>
          </p:nvSpPr>
          <p:spPr>
            <a:xfrm rot="5400000" flipV="1">
              <a:off x="4339884" y="3449966"/>
              <a:ext cx="918188" cy="868680"/>
            </a:xfrm>
            <a:prstGeom prst="bentArrow">
              <a:avLst>
                <a:gd name="adj1" fmla="val 39045"/>
                <a:gd name="adj2" fmla="val 39045"/>
                <a:gd name="adj3" fmla="val 25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27" name="组合 26"/>
          <p:cNvGrpSpPr/>
          <p:nvPr/>
        </p:nvGrpSpPr>
        <p:grpSpPr>
          <a:xfrm>
            <a:off x="392432" y="778617"/>
            <a:ext cx="3972206" cy="420971"/>
            <a:chOff x="670560" y="892917"/>
            <a:chExt cx="3972206" cy="420971"/>
          </a:xfrm>
        </p:grpSpPr>
        <p:sp>
          <p:nvSpPr>
            <p:cNvPr id="28" name="矩形 27"/>
            <p:cNvSpPr/>
            <p:nvPr/>
          </p:nvSpPr>
          <p:spPr>
            <a:xfrm>
              <a:off x="1035233" y="913778"/>
              <a:ext cx="3607533" cy="400110"/>
            </a:xfrm>
            <a:prstGeom prst="rect">
              <a:avLst/>
            </a:prstGeom>
          </p:spPr>
          <p:txBody>
            <a:bodyPr wrap="square">
              <a:spAutoFit/>
            </a:bodyPr>
            <a:lstStyle/>
            <a:p>
              <a:r>
                <a:rPr lang="zh-CN" altLang="zh-CN" sz="2000" b="1" dirty="0">
                  <a:solidFill>
                    <a:srgbClr val="002060"/>
                  </a:solidFill>
                  <a:latin typeface="微软雅黑" panose="020B0503020204020204" pitchFamily="34" charset="-122"/>
                  <a:ea typeface="微软雅黑" panose="020B0503020204020204" pitchFamily="34" charset="-122"/>
                </a:rPr>
                <a:t>时序逻辑电路的结构特点</a:t>
              </a:r>
              <a:r>
                <a:rPr lang="zh-CN" altLang="en-US" sz="2000" b="1" dirty="0">
                  <a:solidFill>
                    <a:srgbClr val="002060"/>
                  </a:solidFill>
                  <a:latin typeface="微软雅黑" panose="020B0503020204020204" pitchFamily="34" charset="-122"/>
                  <a:ea typeface="微软雅黑" panose="020B0503020204020204" pitchFamily="34" charset="-122"/>
                </a:rPr>
                <a:t>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9"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7" presetClass="entr" presetSubtype="10"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ppt_w</p:attrName>
                                        </p:attrNameLst>
                                      </p:cBhvr>
                                      <p:tavLst>
                                        <p:tav tm="0">
                                          <p:val>
                                            <p:fltVal val="0"/>
                                          </p:val>
                                        </p:tav>
                                        <p:tav tm="100000">
                                          <p:val>
                                            <p:strVal val="#ppt_w"/>
                                          </p:val>
                                        </p:tav>
                                      </p:tavLst>
                                    </p:anim>
                                    <p:anim calcmode="lin" valueType="num">
                                      <p:cBhvr>
                                        <p:cTn id="14" dur="10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1000"/>
                                        <p:tgtEl>
                                          <p:spTgt spid="21"/>
                                        </p:tgtEl>
                                      </p:cBhvr>
                                    </p:animEffect>
                                    <p:anim calcmode="lin" valueType="num">
                                      <p:cBhvr>
                                        <p:cTn id="20" dur="1000" fill="hold"/>
                                        <p:tgtEl>
                                          <p:spTgt spid="21"/>
                                        </p:tgtEl>
                                        <p:attrNameLst>
                                          <p:attrName>ppt_x</p:attrName>
                                        </p:attrNameLst>
                                      </p:cBhvr>
                                      <p:tavLst>
                                        <p:tav tm="0">
                                          <p:val>
                                            <p:strVal val="#ppt_x"/>
                                          </p:val>
                                        </p:tav>
                                        <p:tav tm="100000">
                                          <p:val>
                                            <p:strVal val="#ppt_x"/>
                                          </p:val>
                                        </p:tav>
                                      </p:tavLst>
                                    </p:anim>
                                    <p:anim calcmode="lin" valueType="num">
                                      <p:cBhvr>
                                        <p:cTn id="21" dur="1000" fill="hold"/>
                                        <p:tgtEl>
                                          <p:spTgt spid="21"/>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42" presetClass="entr" presetSubtype="0" fill="hold" grpId="0" nodeType="after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1000"/>
                                        <p:tgtEl>
                                          <p:spTgt spid="20"/>
                                        </p:tgtEl>
                                      </p:cBhvr>
                                    </p:animEffect>
                                    <p:anim calcmode="lin" valueType="num">
                                      <p:cBhvr>
                                        <p:cTn id="26" dur="1000" fill="hold"/>
                                        <p:tgtEl>
                                          <p:spTgt spid="20"/>
                                        </p:tgtEl>
                                        <p:attrNameLst>
                                          <p:attrName>ppt_x</p:attrName>
                                        </p:attrNameLst>
                                      </p:cBhvr>
                                      <p:tavLst>
                                        <p:tav tm="0">
                                          <p:val>
                                            <p:strVal val="#ppt_x"/>
                                          </p:val>
                                        </p:tav>
                                        <p:tav tm="100000">
                                          <p:val>
                                            <p:strVal val="#ppt_x"/>
                                          </p:val>
                                        </p:tav>
                                      </p:tavLst>
                                    </p:anim>
                                    <p:anim calcmode="lin" valueType="num">
                                      <p:cBhvr>
                                        <p:cTn id="2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7" presetClass="entr" presetSubtype="1"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ppt_h/2"/>
                                          </p:val>
                                        </p:tav>
                                        <p:tav tm="100000">
                                          <p:val>
                                            <p:strVal val="#ppt_y"/>
                                          </p:val>
                                        </p:tav>
                                      </p:tavLst>
                                    </p:anim>
                                    <p:anim calcmode="lin" valueType="num">
                                      <p:cBhvr>
                                        <p:cTn id="34" dur="1000" fill="hold"/>
                                        <p:tgtEl>
                                          <p:spTgt spid="9"/>
                                        </p:tgtEl>
                                        <p:attrNameLst>
                                          <p:attrName>ppt_w</p:attrName>
                                        </p:attrNameLst>
                                      </p:cBhvr>
                                      <p:tavLst>
                                        <p:tav tm="0">
                                          <p:val>
                                            <p:strVal val="#ppt_w"/>
                                          </p:val>
                                        </p:tav>
                                        <p:tav tm="100000">
                                          <p:val>
                                            <p:strVal val="#ppt_w"/>
                                          </p:val>
                                        </p:tav>
                                      </p:tavLst>
                                    </p:anim>
                                    <p:anim calcmode="lin" valueType="num">
                                      <p:cBhvr>
                                        <p:cTn id="35" dur="10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组合 50"/>
          <p:cNvGrpSpPr/>
          <p:nvPr/>
        </p:nvGrpSpPr>
        <p:grpSpPr>
          <a:xfrm>
            <a:off x="1166251" y="3460260"/>
            <a:ext cx="7269480" cy="1546079"/>
            <a:chOff x="808111" y="3422160"/>
            <a:chExt cx="7269480" cy="1546079"/>
          </a:xfrm>
        </p:grpSpPr>
        <p:sp>
          <p:nvSpPr>
            <p:cNvPr id="27" name="圆角矩形 26"/>
            <p:cNvSpPr/>
            <p:nvPr/>
          </p:nvSpPr>
          <p:spPr>
            <a:xfrm>
              <a:off x="808111" y="3422160"/>
              <a:ext cx="7269480" cy="1546079"/>
            </a:xfrm>
            <a:prstGeom prst="roundRect">
              <a:avLst>
                <a:gd name="adj" fmla="val 11639"/>
              </a:avLst>
            </a:prstGeom>
            <a:solidFill>
              <a:schemeClr val="accent4">
                <a:lumMod val="20000"/>
                <a:lumOff val="80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23" name="Rectangle 23"/>
            <p:cNvSpPr>
              <a:spLocks noChangeArrowheads="1"/>
            </p:cNvSpPr>
            <p:nvPr/>
          </p:nvSpPr>
          <p:spPr bwMode="auto">
            <a:xfrm>
              <a:off x="933523" y="3503871"/>
              <a:ext cx="7144067" cy="406778"/>
            </a:xfrm>
            <a:prstGeom prst="rect">
              <a:avLst/>
            </a:prstGeom>
            <a:noFill/>
            <a:ln w="9525">
              <a:noFill/>
              <a:miter lim="800000"/>
            </a:ln>
          </p:spPr>
          <p:txBody>
            <a:bodyPr wrap="square" anchor="ctr">
              <a:spAutoFit/>
            </a:bodyPr>
            <a:lstStyle/>
            <a:p>
              <a:pPr marL="1435100" indent="-1435100">
                <a:lnSpc>
                  <a:spcPct val="125000"/>
                </a:lnSpc>
              </a:pPr>
              <a:r>
                <a:rPr lang="zh-CN" altLang="en-US"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输出方程</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i="1"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i="1" baseline="300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描述输出信号与输入信号、状态信号的关系。</a:t>
              </a:r>
              <a:endPar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 name="Rectangle 24"/>
            <p:cNvSpPr>
              <a:spLocks noChangeArrowheads="1"/>
            </p:cNvSpPr>
            <p:nvPr/>
          </p:nvSpPr>
          <p:spPr bwMode="auto">
            <a:xfrm>
              <a:off x="933524" y="3984669"/>
              <a:ext cx="7032258" cy="406778"/>
            </a:xfrm>
            <a:prstGeom prst="rect">
              <a:avLst/>
            </a:prstGeom>
            <a:noFill/>
            <a:ln w="9525" algn="ctr">
              <a:noFill/>
              <a:miter lim="800000"/>
            </a:ln>
          </p:spPr>
          <p:txBody>
            <a:bodyPr wrap="square" anchor="ctr">
              <a:spAutoFit/>
            </a:bodyPr>
            <a:lstStyle/>
            <a:p>
              <a:pPr marL="1435100" indent="-1435100">
                <a:lnSpc>
                  <a:spcPct val="125000"/>
                </a:lnSpc>
              </a:pPr>
              <a:r>
                <a:rPr lang="zh-CN" altLang="en-US"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激励方程</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 </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baseline="300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描述激励信号与输入信号、状态信号的关系。</a:t>
              </a:r>
              <a:endPar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Rectangle 25"/>
            <p:cNvSpPr>
              <a:spLocks noChangeArrowheads="1"/>
            </p:cNvSpPr>
            <p:nvPr/>
          </p:nvSpPr>
          <p:spPr bwMode="auto">
            <a:xfrm>
              <a:off x="933523" y="4465466"/>
              <a:ext cx="7063287" cy="406778"/>
            </a:xfrm>
            <a:prstGeom prst="rect">
              <a:avLst/>
            </a:prstGeom>
            <a:noFill/>
            <a:ln w="9525" algn="ctr">
              <a:noFill/>
              <a:miter lim="800000"/>
            </a:ln>
          </p:spPr>
          <p:txBody>
            <a:bodyPr wrap="square" anchor="ctr">
              <a:spAutoFit/>
            </a:bodyPr>
            <a:lstStyle/>
            <a:p>
              <a:pPr marL="1435100" indent="-1435100">
                <a:lnSpc>
                  <a:spcPct val="125000"/>
                </a:lnSpc>
              </a:pPr>
              <a:r>
                <a:rPr lang="zh-CN" altLang="en-US"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状态方程</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baseline="30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n+1</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baseline="300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描述存储电路由现态到次态的转换关系式。</a:t>
              </a:r>
              <a:endPar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29" name="组合 28"/>
          <p:cNvGrpSpPr/>
          <p:nvPr/>
        </p:nvGrpSpPr>
        <p:grpSpPr>
          <a:xfrm>
            <a:off x="2491740" y="1394460"/>
            <a:ext cx="3878580" cy="1729740"/>
            <a:chOff x="1874520" y="1463040"/>
            <a:chExt cx="3878580" cy="1729740"/>
          </a:xfrm>
        </p:grpSpPr>
        <p:grpSp>
          <p:nvGrpSpPr>
            <p:cNvPr id="30" name="组合 73"/>
            <p:cNvGrpSpPr/>
            <p:nvPr/>
          </p:nvGrpSpPr>
          <p:grpSpPr>
            <a:xfrm>
              <a:off x="1874520" y="1463040"/>
              <a:ext cx="3878580" cy="1729740"/>
              <a:chOff x="1874520" y="1463040"/>
              <a:chExt cx="3878580" cy="1729740"/>
            </a:xfrm>
          </p:grpSpPr>
          <p:sp>
            <p:nvSpPr>
              <p:cNvPr id="53" name="圆角矩形 52"/>
              <p:cNvSpPr/>
              <p:nvPr/>
            </p:nvSpPr>
            <p:spPr>
              <a:xfrm>
                <a:off x="1874520" y="1463040"/>
                <a:ext cx="3878580" cy="1729740"/>
              </a:xfrm>
              <a:prstGeom prst="roundRect">
                <a:avLst>
                  <a:gd name="adj" fmla="val 5377"/>
                </a:avLst>
              </a:prstGeom>
              <a:solidFill>
                <a:schemeClr val="bg1"/>
              </a:solidFill>
              <a:ln w="28575"/>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圆角矩形 53"/>
              <p:cNvSpPr/>
              <p:nvPr/>
            </p:nvSpPr>
            <p:spPr>
              <a:xfrm>
                <a:off x="3139440" y="1554481"/>
                <a:ext cx="1398270" cy="822960"/>
              </a:xfrm>
              <a:prstGeom prst="roundRect">
                <a:avLst>
                  <a:gd name="adj" fmla="val 0"/>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组合逻辑电路</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57" name="圆角矩形 56"/>
              <p:cNvSpPr/>
              <p:nvPr/>
            </p:nvSpPr>
            <p:spPr>
              <a:xfrm>
                <a:off x="3131820" y="2607797"/>
                <a:ext cx="1398270" cy="478303"/>
              </a:xfrm>
              <a:prstGeom prst="roundRect">
                <a:avLst>
                  <a:gd name="adj" fmla="val 0"/>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存储电路</a:t>
                </a:r>
                <a:endParaRPr lang="zh-CN" altLang="en-US" sz="2000" dirty="0">
                  <a:solidFill>
                    <a:schemeClr val="tx1"/>
                  </a:solidFill>
                  <a:latin typeface="微软雅黑" panose="020B0503020204020204" pitchFamily="34" charset="-122"/>
                  <a:ea typeface="微软雅黑" panose="020B0503020204020204" pitchFamily="34" charset="-122"/>
                </a:endParaRPr>
              </a:p>
            </p:txBody>
          </p:sp>
        </p:grpSp>
        <p:sp>
          <p:nvSpPr>
            <p:cNvPr id="31" name="矩形 30"/>
            <p:cNvSpPr/>
            <p:nvPr/>
          </p:nvSpPr>
          <p:spPr>
            <a:xfrm>
              <a:off x="2144364" y="1625084"/>
              <a:ext cx="332142" cy="338554"/>
            </a:xfrm>
            <a:prstGeom prst="rect">
              <a:avLst/>
            </a:prstGeom>
          </p:spPr>
          <p:txBody>
            <a:bodyPr wrap="none">
              <a:spAutoFit/>
            </a:bodyPr>
            <a:lstStyle/>
            <a:p>
              <a:pPr algn="ctr"/>
              <a:r>
                <a:rPr lang="en-US" altLang="zh-CN" sz="16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X</a:t>
              </a:r>
              <a:endParaRPr lang="zh-CN" altLang="en-US" sz="16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2" name="矩形 31"/>
            <p:cNvSpPr/>
            <p:nvPr/>
          </p:nvSpPr>
          <p:spPr>
            <a:xfrm>
              <a:off x="5169504" y="1625084"/>
              <a:ext cx="309700" cy="338554"/>
            </a:xfrm>
            <a:prstGeom prst="rect">
              <a:avLst/>
            </a:prstGeom>
          </p:spPr>
          <p:txBody>
            <a:bodyPr wrap="none">
              <a:spAutoFit/>
            </a:bodyPr>
            <a:lstStyle/>
            <a:p>
              <a:pPr algn="ctr"/>
              <a:r>
                <a:rPr lang="en-US" altLang="zh-CN" sz="16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Y</a:t>
              </a:r>
              <a:endParaRPr lang="zh-CN" altLang="en-US" sz="16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4" name="矩形 33"/>
            <p:cNvSpPr/>
            <p:nvPr/>
          </p:nvSpPr>
          <p:spPr>
            <a:xfrm>
              <a:off x="2112293" y="2345174"/>
              <a:ext cx="332142" cy="338554"/>
            </a:xfrm>
            <a:prstGeom prst="rect">
              <a:avLst/>
            </a:prstGeom>
          </p:spPr>
          <p:txBody>
            <a:bodyPr wrap="none">
              <a:spAutoFit/>
            </a:bodyPr>
            <a:lstStyle/>
            <a:p>
              <a:pPr algn="ctr"/>
              <a:r>
                <a:rPr lang="en-US" altLang="zh-CN" sz="16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Q</a:t>
              </a:r>
              <a:endParaRPr lang="zh-CN" altLang="en-US" sz="16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5" name="矩形 34"/>
            <p:cNvSpPr/>
            <p:nvPr/>
          </p:nvSpPr>
          <p:spPr>
            <a:xfrm>
              <a:off x="5169504" y="2337554"/>
              <a:ext cx="320922" cy="338554"/>
            </a:xfrm>
            <a:prstGeom prst="rect">
              <a:avLst/>
            </a:prstGeom>
          </p:spPr>
          <p:txBody>
            <a:bodyPr wrap="none">
              <a:spAutoFit/>
            </a:bodyPr>
            <a:lstStyle/>
            <a:p>
              <a:pPr algn="ctr"/>
              <a:r>
                <a:rPr lang="en-US" altLang="zh-CN" sz="16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E</a:t>
              </a:r>
              <a:endParaRPr lang="zh-CN" altLang="en-US" sz="16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6" name="组合 85"/>
            <p:cNvGrpSpPr/>
            <p:nvPr/>
          </p:nvGrpSpPr>
          <p:grpSpPr>
            <a:xfrm>
              <a:off x="2438400" y="1686361"/>
              <a:ext cx="684000" cy="216000"/>
              <a:chOff x="2438400" y="1656744"/>
              <a:chExt cx="684000" cy="216000"/>
            </a:xfrm>
          </p:grpSpPr>
          <p:cxnSp>
            <p:nvCxnSpPr>
              <p:cNvPr id="47" name="直接箭头连接符 46"/>
              <p:cNvCxnSpPr/>
              <p:nvPr/>
            </p:nvCxnSpPr>
            <p:spPr>
              <a:xfrm>
                <a:off x="2438400" y="1767840"/>
                <a:ext cx="684000" cy="0"/>
              </a:xfrm>
              <a:prstGeom prst="straightConnector1">
                <a:avLst/>
              </a:prstGeom>
              <a:ln w="4445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rot="18000000" flipV="1">
                <a:off x="2593499" y="1764744"/>
                <a:ext cx="216000" cy="0"/>
              </a:xfrm>
              <a:prstGeom prst="straightConnector1">
                <a:avLst/>
              </a:prstGeom>
              <a:ln w="44450">
                <a:solidFill>
                  <a:schemeClr val="tx1">
                    <a:lumMod val="65000"/>
                    <a:lumOff val="3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7" name="组合 86"/>
            <p:cNvGrpSpPr/>
            <p:nvPr/>
          </p:nvGrpSpPr>
          <p:grpSpPr>
            <a:xfrm>
              <a:off x="4556760" y="1686361"/>
              <a:ext cx="684000" cy="216000"/>
              <a:chOff x="2438400" y="1656744"/>
              <a:chExt cx="684000" cy="216000"/>
            </a:xfrm>
          </p:grpSpPr>
          <p:cxnSp>
            <p:nvCxnSpPr>
              <p:cNvPr id="45" name="直接箭头连接符 44"/>
              <p:cNvCxnSpPr/>
              <p:nvPr/>
            </p:nvCxnSpPr>
            <p:spPr>
              <a:xfrm>
                <a:off x="2438400" y="1767840"/>
                <a:ext cx="684000" cy="0"/>
              </a:xfrm>
              <a:prstGeom prst="straightConnector1">
                <a:avLst/>
              </a:prstGeom>
              <a:ln w="4445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rot="18000000" flipV="1">
                <a:off x="2593499" y="1764744"/>
                <a:ext cx="216000" cy="0"/>
              </a:xfrm>
              <a:prstGeom prst="straightConnector1">
                <a:avLst/>
              </a:prstGeom>
              <a:ln w="44450">
                <a:solidFill>
                  <a:schemeClr val="tx1">
                    <a:lumMod val="65000"/>
                    <a:lumOff val="3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8" name="组合 93"/>
            <p:cNvGrpSpPr/>
            <p:nvPr/>
          </p:nvGrpSpPr>
          <p:grpSpPr>
            <a:xfrm>
              <a:off x="4556760" y="2148840"/>
              <a:ext cx="678180" cy="716280"/>
              <a:chOff x="4556760" y="2141220"/>
              <a:chExt cx="678180" cy="716280"/>
            </a:xfrm>
          </p:grpSpPr>
          <p:sp>
            <p:nvSpPr>
              <p:cNvPr id="43" name="右中括号 42"/>
              <p:cNvSpPr/>
              <p:nvPr/>
            </p:nvSpPr>
            <p:spPr>
              <a:xfrm>
                <a:off x="4556760" y="2141220"/>
                <a:ext cx="563880" cy="716280"/>
              </a:xfrm>
              <a:prstGeom prst="rightBracket">
                <a:avLst>
                  <a:gd name="adj" fmla="val 0"/>
                </a:avLst>
              </a:prstGeom>
              <a:ln w="4445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44" name="直接箭头连接符 43"/>
              <p:cNvCxnSpPr/>
              <p:nvPr/>
            </p:nvCxnSpPr>
            <p:spPr>
              <a:xfrm flipV="1">
                <a:off x="5021914" y="2407920"/>
                <a:ext cx="213026" cy="107644"/>
              </a:xfrm>
              <a:prstGeom prst="straightConnector1">
                <a:avLst/>
              </a:prstGeom>
              <a:ln w="44450">
                <a:solidFill>
                  <a:schemeClr val="tx1">
                    <a:lumMod val="65000"/>
                    <a:lumOff val="3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9" name="组合 94"/>
            <p:cNvGrpSpPr/>
            <p:nvPr/>
          </p:nvGrpSpPr>
          <p:grpSpPr>
            <a:xfrm flipH="1" flipV="1">
              <a:off x="2461260" y="2148840"/>
              <a:ext cx="678180" cy="716280"/>
              <a:chOff x="4556760" y="2141220"/>
              <a:chExt cx="678180" cy="716280"/>
            </a:xfrm>
          </p:grpSpPr>
          <p:sp>
            <p:nvSpPr>
              <p:cNvPr id="40" name="右中括号 39"/>
              <p:cNvSpPr/>
              <p:nvPr/>
            </p:nvSpPr>
            <p:spPr>
              <a:xfrm>
                <a:off x="4556760" y="2141220"/>
                <a:ext cx="563880" cy="716280"/>
              </a:xfrm>
              <a:prstGeom prst="rightBracket">
                <a:avLst>
                  <a:gd name="adj" fmla="val 0"/>
                </a:avLst>
              </a:prstGeom>
              <a:ln w="4445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42" name="直接箭头连接符 41"/>
              <p:cNvCxnSpPr/>
              <p:nvPr/>
            </p:nvCxnSpPr>
            <p:spPr>
              <a:xfrm flipV="1">
                <a:off x="5021914" y="2407920"/>
                <a:ext cx="213026" cy="107644"/>
              </a:xfrm>
              <a:prstGeom prst="straightConnector1">
                <a:avLst/>
              </a:prstGeom>
              <a:ln w="44450">
                <a:solidFill>
                  <a:schemeClr val="tx1">
                    <a:lumMod val="65000"/>
                    <a:lumOff val="3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19" name="AutoShape 38"/>
          <p:cNvSpPr>
            <a:spLocks noChangeArrowheads="1"/>
          </p:cNvSpPr>
          <p:nvPr/>
        </p:nvSpPr>
        <p:spPr bwMode="auto">
          <a:xfrm>
            <a:off x="1234440" y="1478280"/>
            <a:ext cx="1440000" cy="648000"/>
          </a:xfrm>
          <a:prstGeom prst="wedgeRoundRectCallout">
            <a:avLst>
              <a:gd name="adj1" fmla="val 58923"/>
              <a:gd name="adj2" fmla="val 3546"/>
              <a:gd name="adj3" fmla="val 16667"/>
            </a:avLst>
          </a:prstGeom>
          <a:solidFill>
            <a:srgbClr val="FFFF66"/>
          </a:solidFill>
          <a:ln w="28575" algn="ctr">
            <a:solidFill>
              <a:srgbClr val="6600FF"/>
            </a:solidFill>
            <a:miter lim="800000"/>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lIns="0" rIns="0" anchor="ctr"/>
          <a:lstStyle/>
          <a:p>
            <a:pPr algn="ctr"/>
            <a:r>
              <a:rPr lang="zh-CN" altLang="en-US"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输入信号</a:t>
            </a:r>
            <a:endParaRPr lang="zh-CN" altLang="en-US"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4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1400" baseline="-250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1400" baseline="-250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1400" baseline="-250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AutoShape 39"/>
          <p:cNvSpPr>
            <a:spLocks noChangeArrowheads="1"/>
          </p:cNvSpPr>
          <p:nvPr/>
        </p:nvSpPr>
        <p:spPr bwMode="auto">
          <a:xfrm>
            <a:off x="6246251" y="1408332"/>
            <a:ext cx="1440000" cy="648000"/>
          </a:xfrm>
          <a:prstGeom prst="wedgeRoundRectCallout">
            <a:avLst>
              <a:gd name="adj1" fmla="val -64240"/>
              <a:gd name="adj2" fmla="val 5217"/>
              <a:gd name="adj3" fmla="val 16667"/>
            </a:avLst>
          </a:prstGeom>
          <a:solidFill>
            <a:srgbClr val="FFFF66"/>
          </a:solidFill>
          <a:ln w="28575" algn="ctr">
            <a:solidFill>
              <a:srgbClr val="6600FF"/>
            </a:solidFill>
            <a:miter lim="800000"/>
          </a:ln>
          <a:effectLst>
            <a:outerShdw blurRad="50800" dist="38100" dir="2700000" algn="tl" rotWithShape="0">
              <a:prstClr val="black">
                <a:alpha val="40000"/>
              </a:prstClr>
            </a:outerShdw>
          </a:effectLst>
        </p:spPr>
        <p:txBody>
          <a:bodyPr lIns="0" rIns="0" anchor="ctr"/>
          <a:lstStyle/>
          <a:p>
            <a:pPr algn="ctr"/>
            <a:r>
              <a:rPr lang="zh-CN" altLang="en-US"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输出信号</a:t>
            </a:r>
            <a:endParaRPr lang="zh-CN" altLang="en-US"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4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sz="1400" baseline="-250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sz="1400" baseline="-250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i="1" dirty="0" err="1">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sz="1400" baseline="-25000" dirty="0" err="1">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j</a:t>
            </a:r>
            <a:r>
              <a:rPr lang="en-US" altLang="zh-CN"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AutoShape 40"/>
          <p:cNvSpPr>
            <a:spLocks noChangeArrowheads="1"/>
          </p:cNvSpPr>
          <p:nvPr/>
        </p:nvSpPr>
        <p:spPr bwMode="auto">
          <a:xfrm>
            <a:off x="6308286" y="2250466"/>
            <a:ext cx="1440000" cy="648000"/>
          </a:xfrm>
          <a:prstGeom prst="wedgeRoundRectCallout">
            <a:avLst>
              <a:gd name="adj1" fmla="val -63480"/>
              <a:gd name="adj2" fmla="val -21832"/>
              <a:gd name="adj3" fmla="val 16667"/>
            </a:avLst>
          </a:prstGeom>
          <a:solidFill>
            <a:srgbClr val="FFFF66"/>
          </a:solidFill>
          <a:ln w="28575" algn="ctr">
            <a:solidFill>
              <a:srgbClr val="6600FF"/>
            </a:solidFill>
            <a:miter lim="800000"/>
          </a:ln>
          <a:effectLst>
            <a:outerShdw blurRad="50800" dist="38100" dir="5400000" algn="t" rotWithShape="0">
              <a:prstClr val="black">
                <a:alpha val="40000"/>
              </a:prstClr>
            </a:outerShdw>
          </a:effectLst>
        </p:spPr>
        <p:txBody>
          <a:bodyPr lIns="0" rIns="0" anchor="ctr"/>
          <a:lstStyle/>
          <a:p>
            <a:pPr algn="ctr"/>
            <a:r>
              <a:rPr lang="zh-CN" altLang="en-US"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激励信号</a:t>
            </a:r>
            <a:endParaRPr lang="zh-CN" altLang="en-US"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4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1400" baseline="-250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1400" baseline="-250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i="1" dirty="0" err="1">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1400" baseline="-25000" dirty="0" err="1">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AutoShape 41"/>
          <p:cNvSpPr>
            <a:spLocks noChangeArrowheads="1"/>
          </p:cNvSpPr>
          <p:nvPr/>
        </p:nvSpPr>
        <p:spPr bwMode="auto">
          <a:xfrm>
            <a:off x="1229653" y="2320924"/>
            <a:ext cx="1440000" cy="648000"/>
          </a:xfrm>
          <a:prstGeom prst="wedgeRoundRectCallout">
            <a:avLst>
              <a:gd name="adj1" fmla="val 59747"/>
              <a:gd name="adj2" fmla="val -35788"/>
              <a:gd name="adj3" fmla="val 16667"/>
            </a:avLst>
          </a:prstGeom>
          <a:solidFill>
            <a:srgbClr val="FFFF66"/>
          </a:solidFill>
          <a:ln w="28575" algn="ctr">
            <a:solidFill>
              <a:srgbClr val="6600FF"/>
            </a:solidFill>
            <a:miter lim="800000"/>
          </a:ln>
          <a:effectLst>
            <a:outerShdw blurRad="50800" dist="38100" dir="2700000" algn="tl" rotWithShape="0">
              <a:prstClr val="black">
                <a:alpha val="40000"/>
              </a:prstClr>
            </a:outerShdw>
          </a:effectLst>
        </p:spPr>
        <p:txBody>
          <a:bodyPr lIns="0" rIns="0" anchor="ctr"/>
          <a:lstStyle/>
          <a:p>
            <a:pPr algn="ctr">
              <a:defRPr/>
            </a:pPr>
            <a:r>
              <a:rPr lang="zh-CN" altLang="en-US"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状态信号</a:t>
            </a:r>
            <a:endParaRPr lang="zh-CN" altLang="en-US"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defRPr/>
            </a:pPr>
            <a:r>
              <a:rPr lang="en-US" altLang="zh-CN" sz="14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400" baseline="-250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400" baseline="-250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i="1" dirty="0" err="1">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400" baseline="-25000" dirty="0" err="1">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56" name="组合 55"/>
          <p:cNvGrpSpPr/>
          <p:nvPr/>
        </p:nvGrpSpPr>
        <p:grpSpPr>
          <a:xfrm>
            <a:off x="392432" y="778617"/>
            <a:ext cx="3780993" cy="420971"/>
            <a:chOff x="670560" y="892917"/>
            <a:chExt cx="3780993" cy="420971"/>
          </a:xfrm>
        </p:grpSpPr>
        <p:sp>
          <p:nvSpPr>
            <p:cNvPr id="61" name="矩形 60"/>
            <p:cNvSpPr/>
            <p:nvPr/>
          </p:nvSpPr>
          <p:spPr>
            <a:xfrm>
              <a:off x="1035233" y="913778"/>
              <a:ext cx="3416320"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时序逻辑电路的一般化模型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62"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63" name="组合 62"/>
          <p:cNvGrpSpPr/>
          <p:nvPr/>
        </p:nvGrpSpPr>
        <p:grpSpPr>
          <a:xfrm>
            <a:off x="3748669" y="1497330"/>
            <a:ext cx="1402080" cy="1524000"/>
            <a:chOff x="3398520" y="1455420"/>
            <a:chExt cx="1402080" cy="1524000"/>
          </a:xfrm>
        </p:grpSpPr>
        <p:sp>
          <p:nvSpPr>
            <p:cNvPr id="64" name="圆角矩形 71"/>
            <p:cNvSpPr/>
            <p:nvPr/>
          </p:nvSpPr>
          <p:spPr>
            <a:xfrm>
              <a:off x="3406140" y="1455420"/>
              <a:ext cx="1394460" cy="807720"/>
            </a:xfrm>
            <a:prstGeom prst="roundRect">
              <a:avLst>
                <a:gd name="adj" fmla="val 0"/>
              </a:avLst>
            </a:prstGeom>
            <a:solidFill>
              <a:srgbClr val="FFC000">
                <a:alpha val="1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圆角矩形 72"/>
            <p:cNvSpPr/>
            <p:nvPr/>
          </p:nvSpPr>
          <p:spPr>
            <a:xfrm>
              <a:off x="3398520" y="2499360"/>
              <a:ext cx="1394460" cy="480060"/>
            </a:xfrm>
            <a:prstGeom prst="roundRect">
              <a:avLst>
                <a:gd name="adj" fmla="val 0"/>
              </a:avLst>
            </a:prstGeom>
            <a:solidFill>
              <a:srgbClr val="FF00FF">
                <a:alpha val="1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1000"/>
                                        <p:tgtEl>
                                          <p:spTgt spid="56"/>
                                        </p:tgtEl>
                                      </p:cBhvr>
                                    </p:animEffect>
                                    <p:anim calcmode="lin" valueType="num">
                                      <p:cBhvr>
                                        <p:cTn id="8" dur="1000" fill="hold"/>
                                        <p:tgtEl>
                                          <p:spTgt spid="56"/>
                                        </p:tgtEl>
                                        <p:attrNameLst>
                                          <p:attrName>ppt_x</p:attrName>
                                        </p:attrNameLst>
                                      </p:cBhvr>
                                      <p:tavLst>
                                        <p:tav tm="0">
                                          <p:val>
                                            <p:strVal val="#ppt_x"/>
                                          </p:val>
                                        </p:tav>
                                        <p:tav tm="100000">
                                          <p:val>
                                            <p:strVal val="#ppt_x"/>
                                          </p:val>
                                        </p:tav>
                                      </p:tavLst>
                                    </p:anim>
                                    <p:anim calcmode="lin" valueType="num">
                                      <p:cBhvr>
                                        <p:cTn id="9" dur="1000" fill="hold"/>
                                        <p:tgtEl>
                                          <p:spTgt spid="5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1000"/>
                                        <p:tgtEl>
                                          <p:spTgt spid="29"/>
                                        </p:tgtEl>
                                      </p:cBhvr>
                                    </p:animEffect>
                                    <p:anim calcmode="lin" valueType="num">
                                      <p:cBhvr>
                                        <p:cTn id="14" dur="1000" fill="hold"/>
                                        <p:tgtEl>
                                          <p:spTgt spid="29"/>
                                        </p:tgtEl>
                                        <p:attrNameLst>
                                          <p:attrName>ppt_x</p:attrName>
                                        </p:attrNameLst>
                                      </p:cBhvr>
                                      <p:tavLst>
                                        <p:tav tm="0">
                                          <p:val>
                                            <p:strVal val="#ppt_x"/>
                                          </p:val>
                                        </p:tav>
                                        <p:tav tm="100000">
                                          <p:val>
                                            <p:strVal val="#ppt_x"/>
                                          </p:val>
                                        </p:tav>
                                      </p:tavLst>
                                    </p:anim>
                                    <p:anim calcmode="lin" valueType="num">
                                      <p:cBhvr>
                                        <p:cTn id="15" dur="1000" fill="hold"/>
                                        <p:tgtEl>
                                          <p:spTgt spid="29"/>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17" presetClass="entr" presetSubtype="10" fill="hold" nodeType="after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p:cTn id="19" dur="1000" fill="hold"/>
                                        <p:tgtEl>
                                          <p:spTgt spid="63"/>
                                        </p:tgtEl>
                                        <p:attrNameLst>
                                          <p:attrName>ppt_w</p:attrName>
                                        </p:attrNameLst>
                                      </p:cBhvr>
                                      <p:tavLst>
                                        <p:tav tm="0">
                                          <p:val>
                                            <p:fltVal val="0"/>
                                          </p:val>
                                        </p:tav>
                                        <p:tav tm="100000">
                                          <p:val>
                                            <p:strVal val="#ppt_w"/>
                                          </p:val>
                                        </p:tav>
                                      </p:tavLst>
                                    </p:anim>
                                    <p:anim calcmode="lin" valueType="num">
                                      <p:cBhvr>
                                        <p:cTn id="20" dur="1000" fill="hold"/>
                                        <p:tgtEl>
                                          <p:spTgt spid="63"/>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right)">
                                      <p:cBhvr>
                                        <p:cTn id="25" dur="1000"/>
                                        <p:tgtEl>
                                          <p:spTgt spid="19"/>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left)">
                                      <p:cBhvr>
                                        <p:cTn id="29" dur="1000"/>
                                        <p:tgtEl>
                                          <p:spTgt spid="20"/>
                                        </p:tgtEl>
                                      </p:cBhvr>
                                    </p:animEffect>
                                  </p:childTnLst>
                                </p:cTn>
                              </p:par>
                            </p:childTnLst>
                          </p:cTn>
                        </p:par>
                        <p:par>
                          <p:cTn id="30" fill="hold">
                            <p:stCondLst>
                              <p:cond delay="2000"/>
                            </p:stCondLst>
                            <p:childTnLst>
                              <p:par>
                                <p:cTn id="31" presetID="22" presetClass="entr" presetSubtype="8" fill="hold" grpId="0" nodeType="after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1000"/>
                                        <p:tgtEl>
                                          <p:spTgt spid="21"/>
                                        </p:tgtEl>
                                      </p:cBhvr>
                                    </p:animEffect>
                                  </p:childTnLst>
                                </p:cTn>
                              </p:par>
                            </p:childTnLst>
                          </p:cTn>
                        </p:par>
                        <p:par>
                          <p:cTn id="34" fill="hold">
                            <p:stCondLst>
                              <p:cond delay="3000"/>
                            </p:stCondLst>
                            <p:childTnLst>
                              <p:par>
                                <p:cTn id="35" presetID="22" presetClass="entr" presetSubtype="2" fill="hold" grpId="0" nodeType="after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right)">
                                      <p:cBhvr>
                                        <p:cTn id="37" dur="10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fade">
                                      <p:cBhvr>
                                        <p:cTn id="42" dur="1000"/>
                                        <p:tgtEl>
                                          <p:spTgt spid="51"/>
                                        </p:tgtEl>
                                      </p:cBhvr>
                                    </p:animEffect>
                                    <p:anim calcmode="lin" valueType="num">
                                      <p:cBhvr>
                                        <p:cTn id="43" dur="1000" fill="hold"/>
                                        <p:tgtEl>
                                          <p:spTgt spid="51"/>
                                        </p:tgtEl>
                                        <p:attrNameLst>
                                          <p:attrName>ppt_x</p:attrName>
                                        </p:attrNameLst>
                                      </p:cBhvr>
                                      <p:tavLst>
                                        <p:tav tm="0">
                                          <p:val>
                                            <p:strVal val="#ppt_x"/>
                                          </p:val>
                                        </p:tav>
                                        <p:tav tm="100000">
                                          <p:val>
                                            <p:strVal val="#ppt_x"/>
                                          </p:val>
                                        </p:tav>
                                      </p:tavLst>
                                    </p:anim>
                                    <p:anim calcmode="lin" valueType="num">
                                      <p:cBhvr>
                                        <p:cTn id="44"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组合 69"/>
          <p:cNvGrpSpPr/>
          <p:nvPr/>
        </p:nvGrpSpPr>
        <p:grpSpPr>
          <a:xfrm>
            <a:off x="392432" y="778617"/>
            <a:ext cx="3780993" cy="420971"/>
            <a:chOff x="670560" y="892917"/>
            <a:chExt cx="3780993" cy="420971"/>
          </a:xfrm>
        </p:grpSpPr>
        <p:sp>
          <p:nvSpPr>
            <p:cNvPr id="71" name="矩形 70"/>
            <p:cNvSpPr/>
            <p:nvPr/>
          </p:nvSpPr>
          <p:spPr>
            <a:xfrm>
              <a:off x="1035233" y="913778"/>
              <a:ext cx="3416320"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时序逻辑电路的一般化模型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5"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5" name="组合 24"/>
          <p:cNvGrpSpPr/>
          <p:nvPr/>
        </p:nvGrpSpPr>
        <p:grpSpPr>
          <a:xfrm>
            <a:off x="720309" y="4540693"/>
            <a:ext cx="5829993" cy="369332"/>
            <a:chOff x="716249" y="2575979"/>
            <a:chExt cx="5020174" cy="369332"/>
          </a:xfrm>
        </p:grpSpPr>
        <p:sp>
          <p:nvSpPr>
            <p:cNvPr id="26" name="矩形 25"/>
            <p:cNvSpPr/>
            <p:nvPr/>
          </p:nvSpPr>
          <p:spPr>
            <a:xfrm>
              <a:off x="1091551" y="2575979"/>
              <a:ext cx="4644872" cy="369332"/>
            </a:xfrm>
            <a:prstGeom prst="rect">
              <a:avLst/>
            </a:prstGeom>
          </p:spPr>
          <p:txBody>
            <a:bodyPr wrap="square">
              <a:spAutoFit/>
            </a:bodyPr>
            <a:lstStyle/>
            <a:p>
              <a:r>
                <a:rPr lang="zh-CN" altLang="en-US" dirty="0">
                  <a:latin typeface="黑体" panose="02010609060101010101" pitchFamily="49" charset="-122"/>
                  <a:ea typeface="黑体" panose="02010609060101010101" pitchFamily="49" charset="-122"/>
                </a:rPr>
                <a:t>电路存在反馈回路。</a:t>
              </a:r>
              <a:endParaRPr lang="zh-CN" altLang="en-US" dirty="0"/>
            </a:p>
          </p:txBody>
        </p:sp>
        <p:pic>
          <p:nvPicPr>
            <p:cNvPr id="33" name="Picture 5"/>
            <p:cNvPicPr>
              <a:picLocks noChangeArrowheads="1"/>
            </p:cNvPicPr>
            <p:nvPr/>
          </p:nvPicPr>
          <p:blipFill>
            <a:blip r:embed="rId2" cstate="print"/>
            <a:srcRect/>
            <a:stretch>
              <a:fillRect/>
            </a:stretch>
          </p:blipFill>
          <p:spPr bwMode="auto">
            <a:xfrm>
              <a:off x="716249" y="2595069"/>
              <a:ext cx="309994" cy="288000"/>
            </a:xfrm>
            <a:prstGeom prst="rect">
              <a:avLst/>
            </a:prstGeom>
            <a:noFill/>
            <a:ln w="9525">
              <a:noFill/>
              <a:miter lim="800000"/>
              <a:headEnd/>
              <a:tailEnd/>
            </a:ln>
          </p:spPr>
        </p:pic>
      </p:grpSp>
      <p:grpSp>
        <p:nvGrpSpPr>
          <p:cNvPr id="48" name="组合 47"/>
          <p:cNvGrpSpPr/>
          <p:nvPr/>
        </p:nvGrpSpPr>
        <p:grpSpPr>
          <a:xfrm>
            <a:off x="720310" y="4030650"/>
            <a:ext cx="7669310" cy="369332"/>
            <a:chOff x="716250" y="2564549"/>
            <a:chExt cx="7613092" cy="369332"/>
          </a:xfrm>
        </p:grpSpPr>
        <p:sp>
          <p:nvSpPr>
            <p:cNvPr id="49" name="矩形 48"/>
            <p:cNvSpPr/>
            <p:nvPr/>
          </p:nvSpPr>
          <p:spPr>
            <a:xfrm>
              <a:off x="1091551" y="2564549"/>
              <a:ext cx="7237791" cy="369332"/>
            </a:xfrm>
            <a:prstGeom prst="rect">
              <a:avLst/>
            </a:prstGeom>
          </p:spPr>
          <p:txBody>
            <a:bodyPr wrap="square">
              <a:spAutoFit/>
            </a:bodyPr>
            <a:lstStyle/>
            <a:p>
              <a:r>
                <a:rPr lang="zh-CN" altLang="en-US" dirty="0">
                  <a:latin typeface="黑体" panose="02010609060101010101" pitchFamily="49" charset="-122"/>
                  <a:ea typeface="黑体" panose="02010609060101010101" pitchFamily="49" charset="-122"/>
                </a:rPr>
                <a:t>由组合电路和存储电路（触发器）构成，电路包含记忆性元件。</a:t>
              </a:r>
              <a:endParaRPr lang="zh-CN" altLang="en-US" dirty="0">
                <a:latin typeface="黑体" panose="02010609060101010101" pitchFamily="49" charset="-122"/>
                <a:ea typeface="黑体" panose="02010609060101010101" pitchFamily="49" charset="-122"/>
              </a:endParaRPr>
            </a:p>
          </p:txBody>
        </p:sp>
        <p:pic>
          <p:nvPicPr>
            <p:cNvPr id="50" name="Picture 5"/>
            <p:cNvPicPr>
              <a:picLocks noChangeAspect="1" noChangeArrowheads="1"/>
            </p:cNvPicPr>
            <p:nvPr/>
          </p:nvPicPr>
          <p:blipFill>
            <a:blip r:embed="rId2" cstate="print"/>
            <a:srcRect/>
            <a:stretch>
              <a:fillRect/>
            </a:stretch>
          </p:blipFill>
          <p:spPr bwMode="auto">
            <a:xfrm>
              <a:off x="716250" y="2595070"/>
              <a:ext cx="357361" cy="286209"/>
            </a:xfrm>
            <a:prstGeom prst="rect">
              <a:avLst/>
            </a:prstGeom>
            <a:noFill/>
            <a:ln w="9525">
              <a:noFill/>
              <a:miter lim="800000"/>
              <a:headEnd/>
              <a:tailEnd/>
            </a:ln>
          </p:spPr>
        </p:pic>
      </p:grpSp>
      <p:grpSp>
        <p:nvGrpSpPr>
          <p:cNvPr id="54" name="组合 53"/>
          <p:cNvGrpSpPr/>
          <p:nvPr/>
        </p:nvGrpSpPr>
        <p:grpSpPr>
          <a:xfrm>
            <a:off x="477308" y="3506670"/>
            <a:ext cx="3374434" cy="420971"/>
            <a:chOff x="670560" y="892917"/>
            <a:chExt cx="3374434" cy="420971"/>
          </a:xfrm>
        </p:grpSpPr>
        <p:sp>
          <p:nvSpPr>
            <p:cNvPr id="55" name="矩形 54"/>
            <p:cNvSpPr/>
            <p:nvPr/>
          </p:nvSpPr>
          <p:spPr>
            <a:xfrm>
              <a:off x="1039043" y="913778"/>
              <a:ext cx="300595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时序逻辑电路的结构特点</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56"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68" name="组合 67"/>
          <p:cNvGrpSpPr/>
          <p:nvPr/>
        </p:nvGrpSpPr>
        <p:grpSpPr>
          <a:xfrm>
            <a:off x="2491740" y="1394460"/>
            <a:ext cx="3878580" cy="1729740"/>
            <a:chOff x="1874520" y="1463040"/>
            <a:chExt cx="3878580" cy="1729740"/>
          </a:xfrm>
        </p:grpSpPr>
        <p:grpSp>
          <p:nvGrpSpPr>
            <p:cNvPr id="69" name="组合 73"/>
            <p:cNvGrpSpPr/>
            <p:nvPr/>
          </p:nvGrpSpPr>
          <p:grpSpPr>
            <a:xfrm>
              <a:off x="1874520" y="1463040"/>
              <a:ext cx="3878580" cy="1729740"/>
              <a:chOff x="1874520" y="1463040"/>
              <a:chExt cx="3878580" cy="1729740"/>
            </a:xfrm>
          </p:grpSpPr>
          <p:sp>
            <p:nvSpPr>
              <p:cNvPr id="89" name="圆角矩形 52"/>
              <p:cNvSpPr/>
              <p:nvPr/>
            </p:nvSpPr>
            <p:spPr>
              <a:xfrm>
                <a:off x="1874520" y="1463040"/>
                <a:ext cx="3878580" cy="1729740"/>
              </a:xfrm>
              <a:prstGeom prst="roundRect">
                <a:avLst>
                  <a:gd name="adj" fmla="val 5377"/>
                </a:avLst>
              </a:prstGeom>
              <a:solidFill>
                <a:schemeClr val="bg1"/>
              </a:solidFill>
              <a:ln w="28575"/>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圆角矩形 53"/>
              <p:cNvSpPr/>
              <p:nvPr/>
            </p:nvSpPr>
            <p:spPr>
              <a:xfrm>
                <a:off x="3139440" y="1554481"/>
                <a:ext cx="1398270" cy="822960"/>
              </a:xfrm>
              <a:prstGeom prst="roundRect">
                <a:avLst>
                  <a:gd name="adj" fmla="val 0"/>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组合逻辑电路</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91" name="圆角矩形 56"/>
              <p:cNvSpPr/>
              <p:nvPr/>
            </p:nvSpPr>
            <p:spPr>
              <a:xfrm>
                <a:off x="3131820" y="2607797"/>
                <a:ext cx="1398270" cy="478303"/>
              </a:xfrm>
              <a:prstGeom prst="roundRect">
                <a:avLst>
                  <a:gd name="adj" fmla="val 0"/>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anose="020B0503020204020204" pitchFamily="34" charset="-122"/>
                    <a:ea typeface="微软雅黑" panose="020B0503020204020204" pitchFamily="34" charset="-122"/>
                  </a:rPr>
                  <a:t>存储电路</a:t>
                </a:r>
                <a:endParaRPr lang="zh-CN" altLang="en-US" sz="2000" dirty="0">
                  <a:solidFill>
                    <a:schemeClr val="tx1"/>
                  </a:solidFill>
                  <a:latin typeface="微软雅黑" panose="020B0503020204020204" pitchFamily="34" charset="-122"/>
                  <a:ea typeface="微软雅黑" panose="020B0503020204020204" pitchFamily="34" charset="-122"/>
                </a:endParaRPr>
              </a:p>
            </p:txBody>
          </p:sp>
        </p:grpSp>
        <p:sp>
          <p:nvSpPr>
            <p:cNvPr id="72" name="矩形 71"/>
            <p:cNvSpPr/>
            <p:nvPr/>
          </p:nvSpPr>
          <p:spPr>
            <a:xfrm>
              <a:off x="2144364" y="1625084"/>
              <a:ext cx="332142" cy="338554"/>
            </a:xfrm>
            <a:prstGeom prst="rect">
              <a:avLst/>
            </a:prstGeom>
          </p:spPr>
          <p:txBody>
            <a:bodyPr wrap="none">
              <a:spAutoFit/>
            </a:bodyPr>
            <a:lstStyle/>
            <a:p>
              <a:pPr algn="ctr"/>
              <a:r>
                <a:rPr lang="en-US" altLang="zh-CN" sz="16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X</a:t>
              </a:r>
              <a:endParaRPr lang="zh-CN" altLang="en-US" sz="16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3" name="矩形 72"/>
            <p:cNvSpPr/>
            <p:nvPr/>
          </p:nvSpPr>
          <p:spPr>
            <a:xfrm>
              <a:off x="5169504" y="1625084"/>
              <a:ext cx="309700" cy="338554"/>
            </a:xfrm>
            <a:prstGeom prst="rect">
              <a:avLst/>
            </a:prstGeom>
          </p:spPr>
          <p:txBody>
            <a:bodyPr wrap="none">
              <a:spAutoFit/>
            </a:bodyPr>
            <a:lstStyle/>
            <a:p>
              <a:pPr algn="ctr"/>
              <a:r>
                <a:rPr lang="en-US" altLang="zh-CN" sz="16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Y</a:t>
              </a:r>
              <a:endParaRPr lang="zh-CN" altLang="en-US" sz="16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4" name="矩形 73"/>
            <p:cNvSpPr/>
            <p:nvPr/>
          </p:nvSpPr>
          <p:spPr>
            <a:xfrm>
              <a:off x="2112292" y="2345174"/>
              <a:ext cx="332143" cy="338554"/>
            </a:xfrm>
            <a:prstGeom prst="rect">
              <a:avLst/>
            </a:prstGeom>
          </p:spPr>
          <p:txBody>
            <a:bodyPr wrap="none">
              <a:spAutoFit/>
            </a:bodyPr>
            <a:lstStyle/>
            <a:p>
              <a:pPr algn="ctr"/>
              <a:r>
                <a:rPr lang="en-US" altLang="zh-CN" sz="16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Q</a:t>
              </a:r>
              <a:endParaRPr lang="zh-CN" altLang="en-US" sz="16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6" name="矩形 75"/>
            <p:cNvSpPr/>
            <p:nvPr/>
          </p:nvSpPr>
          <p:spPr>
            <a:xfrm>
              <a:off x="5169504" y="2337554"/>
              <a:ext cx="320922" cy="338554"/>
            </a:xfrm>
            <a:prstGeom prst="rect">
              <a:avLst/>
            </a:prstGeom>
          </p:spPr>
          <p:txBody>
            <a:bodyPr wrap="none">
              <a:spAutoFit/>
            </a:bodyPr>
            <a:lstStyle/>
            <a:p>
              <a:pPr algn="ctr"/>
              <a:r>
                <a:rPr lang="en-US" altLang="zh-CN" sz="16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E</a:t>
              </a:r>
              <a:endParaRPr lang="zh-CN" altLang="en-US" sz="1600" b="1" i="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77" name="组合 85"/>
            <p:cNvGrpSpPr/>
            <p:nvPr/>
          </p:nvGrpSpPr>
          <p:grpSpPr>
            <a:xfrm>
              <a:off x="2438400" y="1686361"/>
              <a:ext cx="684000" cy="216000"/>
              <a:chOff x="2438400" y="1656744"/>
              <a:chExt cx="684000" cy="216000"/>
            </a:xfrm>
          </p:grpSpPr>
          <p:cxnSp>
            <p:nvCxnSpPr>
              <p:cNvPr id="87" name="直接箭头连接符 86"/>
              <p:cNvCxnSpPr/>
              <p:nvPr/>
            </p:nvCxnSpPr>
            <p:spPr>
              <a:xfrm>
                <a:off x="2438400" y="1767840"/>
                <a:ext cx="684000" cy="0"/>
              </a:xfrm>
              <a:prstGeom prst="straightConnector1">
                <a:avLst/>
              </a:prstGeom>
              <a:ln w="4445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p:nvPr/>
            </p:nvCxnSpPr>
            <p:spPr>
              <a:xfrm rot="18000000" flipV="1">
                <a:off x="2593499" y="1764744"/>
                <a:ext cx="216000" cy="0"/>
              </a:xfrm>
              <a:prstGeom prst="straightConnector1">
                <a:avLst/>
              </a:prstGeom>
              <a:ln w="44450">
                <a:solidFill>
                  <a:schemeClr val="tx1">
                    <a:lumMod val="65000"/>
                    <a:lumOff val="3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8" name="组合 86"/>
            <p:cNvGrpSpPr/>
            <p:nvPr/>
          </p:nvGrpSpPr>
          <p:grpSpPr>
            <a:xfrm>
              <a:off x="4556760" y="1686361"/>
              <a:ext cx="684000" cy="216000"/>
              <a:chOff x="2438400" y="1656744"/>
              <a:chExt cx="684000" cy="216000"/>
            </a:xfrm>
          </p:grpSpPr>
          <p:cxnSp>
            <p:nvCxnSpPr>
              <p:cNvPr id="85" name="直接箭头连接符 84"/>
              <p:cNvCxnSpPr/>
              <p:nvPr/>
            </p:nvCxnSpPr>
            <p:spPr>
              <a:xfrm>
                <a:off x="2438400" y="1767840"/>
                <a:ext cx="684000" cy="0"/>
              </a:xfrm>
              <a:prstGeom prst="straightConnector1">
                <a:avLst/>
              </a:prstGeom>
              <a:ln w="4445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p:nvPr/>
            </p:nvCxnSpPr>
            <p:spPr>
              <a:xfrm rot="18000000" flipV="1">
                <a:off x="2593499" y="1764744"/>
                <a:ext cx="216000" cy="0"/>
              </a:xfrm>
              <a:prstGeom prst="straightConnector1">
                <a:avLst/>
              </a:prstGeom>
              <a:ln w="44450">
                <a:solidFill>
                  <a:schemeClr val="tx1">
                    <a:lumMod val="65000"/>
                    <a:lumOff val="3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9" name="组合 93"/>
            <p:cNvGrpSpPr/>
            <p:nvPr/>
          </p:nvGrpSpPr>
          <p:grpSpPr>
            <a:xfrm>
              <a:off x="4556760" y="2148840"/>
              <a:ext cx="678180" cy="716280"/>
              <a:chOff x="4556760" y="2141220"/>
              <a:chExt cx="678180" cy="716280"/>
            </a:xfrm>
          </p:grpSpPr>
          <p:sp>
            <p:nvSpPr>
              <p:cNvPr id="83" name="右中括号 82"/>
              <p:cNvSpPr/>
              <p:nvPr/>
            </p:nvSpPr>
            <p:spPr>
              <a:xfrm>
                <a:off x="4556760" y="2141220"/>
                <a:ext cx="563880" cy="716280"/>
              </a:xfrm>
              <a:prstGeom prst="rightBracket">
                <a:avLst>
                  <a:gd name="adj" fmla="val 0"/>
                </a:avLst>
              </a:prstGeom>
              <a:ln w="4445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84" name="直接箭头连接符 83"/>
              <p:cNvCxnSpPr/>
              <p:nvPr/>
            </p:nvCxnSpPr>
            <p:spPr>
              <a:xfrm flipV="1">
                <a:off x="5021914" y="2407920"/>
                <a:ext cx="213026" cy="107644"/>
              </a:xfrm>
              <a:prstGeom prst="straightConnector1">
                <a:avLst/>
              </a:prstGeom>
              <a:ln w="44450">
                <a:solidFill>
                  <a:schemeClr val="tx1">
                    <a:lumMod val="65000"/>
                    <a:lumOff val="3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0" name="组合 94"/>
            <p:cNvGrpSpPr/>
            <p:nvPr/>
          </p:nvGrpSpPr>
          <p:grpSpPr>
            <a:xfrm flipH="1" flipV="1">
              <a:off x="2461260" y="2148840"/>
              <a:ext cx="678180" cy="716280"/>
              <a:chOff x="4556760" y="2141220"/>
              <a:chExt cx="678180" cy="716280"/>
            </a:xfrm>
          </p:grpSpPr>
          <p:sp>
            <p:nvSpPr>
              <p:cNvPr id="81" name="右中括号 80"/>
              <p:cNvSpPr/>
              <p:nvPr/>
            </p:nvSpPr>
            <p:spPr>
              <a:xfrm>
                <a:off x="4556760" y="2141220"/>
                <a:ext cx="563880" cy="716280"/>
              </a:xfrm>
              <a:prstGeom prst="rightBracket">
                <a:avLst>
                  <a:gd name="adj" fmla="val 0"/>
                </a:avLst>
              </a:prstGeom>
              <a:ln w="4445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82" name="直接箭头连接符 81"/>
              <p:cNvCxnSpPr/>
              <p:nvPr/>
            </p:nvCxnSpPr>
            <p:spPr>
              <a:xfrm flipV="1">
                <a:off x="5021914" y="2407920"/>
                <a:ext cx="213026" cy="107644"/>
              </a:xfrm>
              <a:prstGeom prst="straightConnector1">
                <a:avLst/>
              </a:prstGeom>
              <a:ln w="44450">
                <a:solidFill>
                  <a:schemeClr val="tx1">
                    <a:lumMod val="65000"/>
                    <a:lumOff val="3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92" name="组合 91"/>
          <p:cNvGrpSpPr/>
          <p:nvPr/>
        </p:nvGrpSpPr>
        <p:grpSpPr>
          <a:xfrm>
            <a:off x="3748669" y="1497330"/>
            <a:ext cx="1402080" cy="1524000"/>
            <a:chOff x="3398520" y="1455420"/>
            <a:chExt cx="1402080" cy="1524000"/>
          </a:xfrm>
        </p:grpSpPr>
        <p:sp>
          <p:nvSpPr>
            <p:cNvPr id="93" name="圆角矩形 71"/>
            <p:cNvSpPr/>
            <p:nvPr/>
          </p:nvSpPr>
          <p:spPr>
            <a:xfrm>
              <a:off x="3406140" y="1455420"/>
              <a:ext cx="1394460" cy="807720"/>
            </a:xfrm>
            <a:prstGeom prst="roundRect">
              <a:avLst>
                <a:gd name="adj" fmla="val 0"/>
              </a:avLst>
            </a:prstGeom>
            <a:solidFill>
              <a:srgbClr val="FFC000">
                <a:alpha val="1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圆角矩形 72"/>
            <p:cNvSpPr/>
            <p:nvPr/>
          </p:nvSpPr>
          <p:spPr>
            <a:xfrm>
              <a:off x="3398520" y="2499360"/>
              <a:ext cx="1394460" cy="480060"/>
            </a:xfrm>
            <a:prstGeom prst="roundRect">
              <a:avLst>
                <a:gd name="adj" fmla="val 0"/>
              </a:avLst>
            </a:prstGeom>
            <a:solidFill>
              <a:srgbClr val="FF00FF">
                <a:alpha val="1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1000"/>
                                        <p:tgtEl>
                                          <p:spTgt spid="54"/>
                                        </p:tgtEl>
                                      </p:cBhvr>
                                    </p:animEffect>
                                    <p:anim calcmode="lin" valueType="num">
                                      <p:cBhvr>
                                        <p:cTn id="8" dur="1000" fill="hold"/>
                                        <p:tgtEl>
                                          <p:spTgt spid="54"/>
                                        </p:tgtEl>
                                        <p:attrNameLst>
                                          <p:attrName>ppt_x</p:attrName>
                                        </p:attrNameLst>
                                      </p:cBhvr>
                                      <p:tavLst>
                                        <p:tav tm="0">
                                          <p:val>
                                            <p:strVal val="#ppt_x"/>
                                          </p:val>
                                        </p:tav>
                                        <p:tav tm="100000">
                                          <p:val>
                                            <p:strVal val="#ppt_x"/>
                                          </p:val>
                                        </p:tav>
                                      </p:tavLst>
                                    </p:anim>
                                    <p:anim calcmode="lin" valueType="num">
                                      <p:cBhvr>
                                        <p:cTn id="9" dur="1000" fill="hold"/>
                                        <p:tgtEl>
                                          <p:spTgt spid="5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1000"/>
                                        <p:tgtEl>
                                          <p:spTgt spid="48"/>
                                        </p:tgtEl>
                                      </p:cBhvr>
                                    </p:animEffect>
                                    <p:anim calcmode="lin" valueType="num">
                                      <p:cBhvr>
                                        <p:cTn id="13" dur="1000" fill="hold"/>
                                        <p:tgtEl>
                                          <p:spTgt spid="48"/>
                                        </p:tgtEl>
                                        <p:attrNameLst>
                                          <p:attrName>ppt_x</p:attrName>
                                        </p:attrNameLst>
                                      </p:cBhvr>
                                      <p:tavLst>
                                        <p:tav tm="0">
                                          <p:val>
                                            <p:strVal val="#ppt_x"/>
                                          </p:val>
                                        </p:tav>
                                        <p:tav tm="100000">
                                          <p:val>
                                            <p:strVal val="#ppt_x"/>
                                          </p:val>
                                        </p:tav>
                                      </p:tavLst>
                                    </p:anim>
                                    <p:anim calcmode="lin" valueType="num">
                                      <p:cBhvr>
                                        <p:cTn id="14" dur="1000" fill="hold"/>
                                        <p:tgtEl>
                                          <p:spTgt spid="4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1000"/>
                                        <p:tgtEl>
                                          <p:spTgt spid="25"/>
                                        </p:tgtEl>
                                      </p:cBhvr>
                                    </p:animEffect>
                                    <p:anim calcmode="lin" valueType="num">
                                      <p:cBhvr>
                                        <p:cTn id="18" dur="1000" fill="hold"/>
                                        <p:tgtEl>
                                          <p:spTgt spid="25"/>
                                        </p:tgtEl>
                                        <p:attrNameLst>
                                          <p:attrName>ppt_x</p:attrName>
                                        </p:attrNameLst>
                                      </p:cBhvr>
                                      <p:tavLst>
                                        <p:tav tm="0">
                                          <p:val>
                                            <p:strVal val="#ppt_x"/>
                                          </p:val>
                                        </p:tav>
                                        <p:tav tm="100000">
                                          <p:val>
                                            <p:strVal val="#ppt_x"/>
                                          </p:val>
                                        </p:tav>
                                      </p:tavLst>
                                    </p:anim>
                                    <p:anim calcmode="lin" valueType="num">
                                      <p:cBhvr>
                                        <p:cTn id="1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 41"/>
          <p:cNvSpPr>
            <a:spLocks noChangeArrowheads="1"/>
          </p:cNvSpPr>
          <p:nvPr/>
        </p:nvSpPr>
        <p:spPr bwMode="auto">
          <a:xfrm>
            <a:off x="2065338" y="1662931"/>
            <a:ext cx="2628581" cy="1186473"/>
          </a:xfrm>
          <a:prstGeom prst="wedgeRoundRectCallout">
            <a:avLst>
              <a:gd name="adj1" fmla="val -43449"/>
              <a:gd name="adj2" fmla="val -31457"/>
              <a:gd name="adj3" fmla="val 16667"/>
            </a:avLst>
          </a:prstGeom>
          <a:solidFill>
            <a:srgbClr val="FFFF66"/>
          </a:solidFill>
          <a:ln w="28575" algn="ctr">
            <a:solidFill>
              <a:srgbClr val="6600FF"/>
            </a:solidFill>
            <a:miter lim="800000"/>
          </a:ln>
          <a:effectLst>
            <a:outerShdw blurRad="50800" dist="38100" dir="2700000" algn="tl" rotWithShape="0">
              <a:prstClr val="black">
                <a:alpha val="40000"/>
              </a:prstClr>
            </a:outerShdw>
          </a:effectLst>
        </p:spPr>
        <p:txBody>
          <a:bodyPr lIns="0" rIns="0" anchor="ctr"/>
          <a:lstStyle/>
          <a:p>
            <a:pPr marL="144145"/>
            <a:r>
              <a:rPr kumimoji="1" lang="zh-CN" altLang="en-US" sz="1600" dirty="0">
                <a:latin typeface="微软雅黑" panose="020B0503020204020204" pitchFamily="34" charset="-122"/>
                <a:ea typeface="微软雅黑" panose="020B0503020204020204" pitchFamily="34" charset="-122"/>
              </a:rPr>
              <a:t>各</a:t>
            </a:r>
            <a:r>
              <a:rPr kumimoji="1" lang="zh-CN" altLang="zh-CN" sz="1600" dirty="0">
                <a:latin typeface="微软雅黑" panose="020B0503020204020204" pitchFamily="34" charset="-122"/>
                <a:ea typeface="微软雅黑" panose="020B0503020204020204" pitchFamily="34" charset="-122"/>
              </a:rPr>
              <a:t>触发器</a:t>
            </a:r>
            <a:r>
              <a:rPr kumimoji="1" lang="zh-CN" altLang="en-US" sz="1600" dirty="0">
                <a:latin typeface="微软雅黑" panose="020B0503020204020204" pitchFamily="34" charset="-122"/>
                <a:ea typeface="微软雅黑" panose="020B0503020204020204" pitchFamily="34" charset="-122"/>
              </a:rPr>
              <a:t>受统一</a:t>
            </a:r>
            <a:r>
              <a:rPr kumimoji="1" lang="zh-CN" altLang="zh-CN" sz="1600" dirty="0">
                <a:latin typeface="微软雅黑" panose="020B0503020204020204" pitchFamily="34" charset="-122"/>
                <a:ea typeface="微软雅黑" panose="020B0503020204020204" pitchFamily="34" charset="-122"/>
              </a:rPr>
              <a:t>时钟</a:t>
            </a:r>
            <a:r>
              <a:rPr kumimoji="1" lang="zh-CN" altLang="en-US" sz="1600" dirty="0">
                <a:latin typeface="微软雅黑" panose="020B0503020204020204" pitchFamily="34" charset="-122"/>
                <a:ea typeface="微软雅黑" panose="020B0503020204020204" pitchFamily="34" charset="-122"/>
              </a:rPr>
              <a:t>源的控制</a:t>
            </a:r>
            <a:r>
              <a:rPr kumimoji="1" lang="zh-CN" altLang="zh-CN" sz="1600" dirty="0">
                <a:latin typeface="微软雅黑" panose="020B0503020204020204" pitchFamily="34" charset="-122"/>
                <a:ea typeface="微软雅黑" panose="020B0503020204020204" pitchFamily="34" charset="-122"/>
              </a:rPr>
              <a:t>，它们的状态在该时钟信号的同一脉冲边沿作用下同步更新</a:t>
            </a:r>
            <a:r>
              <a:rPr kumimoji="1" lang="zh-CN" altLang="en-US" sz="1600" dirty="0">
                <a:latin typeface="微软雅黑" panose="020B0503020204020204" pitchFamily="34" charset="-122"/>
                <a:ea typeface="微软雅黑" panose="020B0503020204020204" pitchFamily="34" charset="-122"/>
              </a:rPr>
              <a:t>。</a:t>
            </a:r>
            <a:endParaRPr kumimoji="1" lang="zh-CN" altLang="en-US" sz="1600" dirty="0">
              <a:latin typeface="微软雅黑" panose="020B0503020204020204" pitchFamily="34" charset="-122"/>
              <a:ea typeface="微软雅黑" panose="020B0503020204020204" pitchFamily="34" charset="-122"/>
            </a:endParaRPr>
          </a:p>
        </p:txBody>
      </p:sp>
      <p:sp>
        <p:nvSpPr>
          <p:cNvPr id="25" name="AutoShape 41"/>
          <p:cNvSpPr>
            <a:spLocks noChangeArrowheads="1"/>
          </p:cNvSpPr>
          <p:nvPr/>
        </p:nvSpPr>
        <p:spPr bwMode="auto">
          <a:xfrm>
            <a:off x="2084779" y="3666173"/>
            <a:ext cx="2628581" cy="1215292"/>
          </a:xfrm>
          <a:prstGeom prst="wedgeRoundRectCallout">
            <a:avLst>
              <a:gd name="adj1" fmla="val -43008"/>
              <a:gd name="adj2" fmla="val 33217"/>
              <a:gd name="adj3" fmla="val 16667"/>
            </a:avLst>
          </a:prstGeom>
          <a:solidFill>
            <a:srgbClr val="FFFF66"/>
          </a:solidFill>
          <a:ln w="28575" algn="ctr">
            <a:solidFill>
              <a:srgbClr val="6600FF"/>
            </a:solidFill>
            <a:miter lim="800000"/>
          </a:ln>
          <a:effectLst>
            <a:outerShdw blurRad="50800" dist="38100" dir="2700000" algn="tl" rotWithShape="0">
              <a:prstClr val="black">
                <a:alpha val="40000"/>
              </a:prstClr>
            </a:outerShdw>
          </a:effectLst>
        </p:spPr>
        <p:txBody>
          <a:bodyPr lIns="0" rIns="0" anchor="ctr"/>
          <a:lstStyle/>
          <a:p>
            <a:pPr marL="144145"/>
            <a:r>
              <a:rPr kumimoji="1" lang="zh-CN" altLang="zh-CN" sz="1600" dirty="0">
                <a:latin typeface="微软雅黑" panose="020B0503020204020204" pitchFamily="34" charset="-122"/>
                <a:ea typeface="微软雅黑" panose="020B0503020204020204" pitchFamily="34" charset="-122"/>
              </a:rPr>
              <a:t>各触发器（或锁存器）不完全受统一时钟源的控制，它们的状态不在同一时刻更新。</a:t>
            </a:r>
            <a:endParaRPr kumimoji="1" lang="zh-CN" altLang="en-US" sz="1600" dirty="0">
              <a:latin typeface="微软雅黑" panose="020B0503020204020204" pitchFamily="34" charset="-122"/>
              <a:ea typeface="微软雅黑" panose="020B0503020204020204" pitchFamily="34" charset="-122"/>
            </a:endParaRPr>
          </a:p>
        </p:txBody>
      </p:sp>
      <p:grpSp>
        <p:nvGrpSpPr>
          <p:cNvPr id="2" name="组合 69"/>
          <p:cNvGrpSpPr/>
          <p:nvPr/>
        </p:nvGrpSpPr>
        <p:grpSpPr>
          <a:xfrm>
            <a:off x="392432" y="778617"/>
            <a:ext cx="2830827" cy="420971"/>
            <a:chOff x="670560" y="892917"/>
            <a:chExt cx="2830827" cy="420971"/>
          </a:xfrm>
        </p:grpSpPr>
        <p:sp>
          <p:nvSpPr>
            <p:cNvPr id="3" name="矩形 2"/>
            <p:cNvSpPr/>
            <p:nvPr/>
          </p:nvSpPr>
          <p:spPr>
            <a:xfrm>
              <a:off x="1035232" y="913778"/>
              <a:ext cx="2466155"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时序逻辑电路分类</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0" name="圆角矩形 9"/>
          <p:cNvSpPr/>
          <p:nvPr/>
        </p:nvSpPr>
        <p:spPr>
          <a:xfrm>
            <a:off x="821918" y="1846772"/>
            <a:ext cx="1331088" cy="790827"/>
          </a:xfrm>
          <a:prstGeom prst="roundRect">
            <a:avLst/>
          </a:prstGeom>
          <a:solidFill>
            <a:srgbClr val="FFC000"/>
          </a:solidFill>
          <a:ln w="19050">
            <a:solidFill>
              <a:schemeClr val="tx1">
                <a:lumMod val="85000"/>
                <a:lumOff val="15000"/>
              </a:schemeClr>
            </a:solidFill>
          </a:ln>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同步时序</a:t>
            </a:r>
            <a:endParaRPr lang="en-US" altLang="zh-CN" dirty="0">
              <a:solidFill>
                <a:srgbClr val="7030A0"/>
              </a:solidFill>
              <a:latin typeface="黑体" panose="02010609060101010101" pitchFamily="49" charset="-122"/>
              <a:ea typeface="黑体" panose="02010609060101010101" pitchFamily="49" charset="-122"/>
            </a:endParaRPr>
          </a:p>
          <a:p>
            <a:pPr algn="ctr"/>
            <a:r>
              <a:rPr lang="zh-CN" altLang="en-US" dirty="0">
                <a:solidFill>
                  <a:srgbClr val="7030A0"/>
                </a:solidFill>
                <a:latin typeface="黑体" panose="02010609060101010101" pitchFamily="49" charset="-122"/>
                <a:ea typeface="黑体" panose="02010609060101010101" pitchFamily="49" charset="-122"/>
              </a:rPr>
              <a:t>逻辑电路</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11" name="圆角矩形 10"/>
          <p:cNvSpPr/>
          <p:nvPr/>
        </p:nvSpPr>
        <p:spPr>
          <a:xfrm>
            <a:off x="821918" y="3848702"/>
            <a:ext cx="1331088" cy="790827"/>
          </a:xfrm>
          <a:prstGeom prst="roundRect">
            <a:avLst/>
          </a:prstGeom>
          <a:solidFill>
            <a:srgbClr val="FFC000"/>
          </a:solidFill>
          <a:ln w="19050">
            <a:solidFill>
              <a:schemeClr val="tx1">
                <a:lumMod val="85000"/>
                <a:lumOff val="15000"/>
              </a:schemeClr>
            </a:solidFill>
          </a:ln>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异步时序</a:t>
            </a:r>
            <a:endParaRPr lang="en-US" altLang="zh-CN" dirty="0">
              <a:solidFill>
                <a:srgbClr val="7030A0"/>
              </a:solidFill>
              <a:latin typeface="黑体" panose="02010609060101010101" pitchFamily="49" charset="-122"/>
              <a:ea typeface="黑体" panose="02010609060101010101" pitchFamily="49" charset="-122"/>
            </a:endParaRPr>
          </a:p>
          <a:p>
            <a:pPr algn="ctr"/>
            <a:r>
              <a:rPr lang="zh-CN" altLang="en-US" dirty="0">
                <a:solidFill>
                  <a:srgbClr val="7030A0"/>
                </a:solidFill>
                <a:latin typeface="黑体" panose="02010609060101010101" pitchFamily="49" charset="-122"/>
                <a:ea typeface="黑体" panose="02010609060101010101" pitchFamily="49" charset="-122"/>
              </a:rPr>
              <a:t>逻辑电路</a:t>
            </a:r>
            <a:endParaRPr lang="zh-CN" altLang="en-US" dirty="0">
              <a:solidFill>
                <a:srgbClr val="7030A0"/>
              </a:solidFill>
              <a:latin typeface="黑体" panose="02010609060101010101" pitchFamily="49" charset="-122"/>
              <a:ea typeface="黑体" panose="02010609060101010101" pitchFamily="49" charset="-122"/>
            </a:endParaRPr>
          </a:p>
        </p:txBody>
      </p:sp>
      <p:grpSp>
        <p:nvGrpSpPr>
          <p:cNvPr id="22" name="组合 21"/>
          <p:cNvGrpSpPr/>
          <p:nvPr/>
        </p:nvGrpSpPr>
        <p:grpSpPr>
          <a:xfrm>
            <a:off x="4968240" y="1516380"/>
            <a:ext cx="3733800" cy="1599091"/>
            <a:chOff x="4968240" y="1112520"/>
            <a:chExt cx="3733800" cy="1599091"/>
          </a:xfrm>
        </p:grpSpPr>
        <p:sp>
          <p:nvSpPr>
            <p:cNvPr id="26" name="圆角矩形 25"/>
            <p:cNvSpPr/>
            <p:nvPr/>
          </p:nvSpPr>
          <p:spPr>
            <a:xfrm>
              <a:off x="4968240" y="1112520"/>
              <a:ext cx="3733800" cy="1599091"/>
            </a:xfrm>
            <a:prstGeom prst="roundRect">
              <a:avLst>
                <a:gd name="adj" fmla="val 5389"/>
              </a:avLst>
            </a:prstGeom>
            <a:solidFill>
              <a:schemeClr val="accent6">
                <a:lumMod val="20000"/>
                <a:lumOff val="80000"/>
              </a:schemeClr>
            </a:solidFill>
            <a:ln>
              <a:solidFill>
                <a:srgbClr val="7030A0"/>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2"/>
            <a:stretch>
              <a:fillRect/>
            </a:stretch>
          </p:blipFill>
          <p:spPr>
            <a:xfrm>
              <a:off x="5048963" y="1199274"/>
              <a:ext cx="3520329" cy="1422005"/>
            </a:xfrm>
            <a:prstGeom prst="rect">
              <a:avLst/>
            </a:prstGeom>
          </p:spPr>
        </p:pic>
      </p:grpSp>
      <p:grpSp>
        <p:nvGrpSpPr>
          <p:cNvPr id="18" name="组合 17"/>
          <p:cNvGrpSpPr/>
          <p:nvPr/>
        </p:nvGrpSpPr>
        <p:grpSpPr>
          <a:xfrm>
            <a:off x="5303520" y="2307721"/>
            <a:ext cx="1869757" cy="596578"/>
            <a:chOff x="5303520" y="1903861"/>
            <a:chExt cx="1869757" cy="596578"/>
          </a:xfrm>
        </p:grpSpPr>
        <p:cxnSp>
          <p:nvCxnSpPr>
            <p:cNvPr id="12" name="直接连接符 11"/>
            <p:cNvCxnSpPr/>
            <p:nvPr/>
          </p:nvCxnSpPr>
          <p:spPr>
            <a:xfrm>
              <a:off x="5303520" y="2500439"/>
              <a:ext cx="1570831" cy="0"/>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5484654" y="1912065"/>
              <a:ext cx="298926" cy="0"/>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6874351" y="1926750"/>
              <a:ext cx="298926" cy="0"/>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5488893" y="1903861"/>
              <a:ext cx="1" cy="596578"/>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6869667" y="1903861"/>
              <a:ext cx="1" cy="596578"/>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4982210" y="3543300"/>
            <a:ext cx="3733800" cy="1599091"/>
            <a:chOff x="4982210" y="3413760"/>
            <a:chExt cx="3733800" cy="1599091"/>
          </a:xfrm>
        </p:grpSpPr>
        <p:sp>
          <p:nvSpPr>
            <p:cNvPr id="27" name="圆角矩形 26"/>
            <p:cNvSpPr/>
            <p:nvPr/>
          </p:nvSpPr>
          <p:spPr>
            <a:xfrm>
              <a:off x="4982210" y="3413760"/>
              <a:ext cx="3733800" cy="1599091"/>
            </a:xfrm>
            <a:prstGeom prst="roundRect">
              <a:avLst>
                <a:gd name="adj" fmla="val 5389"/>
              </a:avLst>
            </a:prstGeom>
            <a:solidFill>
              <a:schemeClr val="accent6">
                <a:lumMod val="20000"/>
                <a:lumOff val="80000"/>
              </a:schemeClr>
            </a:solidFill>
            <a:ln>
              <a:solidFill>
                <a:srgbClr val="7030A0"/>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p:cNvPicPr>
              <a:picLocks noChangeAspect="1"/>
            </p:cNvPicPr>
            <p:nvPr/>
          </p:nvPicPr>
          <p:blipFill>
            <a:blip r:embed="rId3"/>
            <a:stretch>
              <a:fillRect/>
            </a:stretch>
          </p:blipFill>
          <p:spPr>
            <a:xfrm>
              <a:off x="5080758" y="3499661"/>
              <a:ext cx="3560345" cy="1346659"/>
            </a:xfrm>
            <a:prstGeom prst="rect">
              <a:avLst/>
            </a:prstGeom>
          </p:spPr>
        </p:pic>
      </p:grpSp>
      <p:grpSp>
        <p:nvGrpSpPr>
          <p:cNvPr id="35" name="组合 34"/>
          <p:cNvGrpSpPr/>
          <p:nvPr/>
        </p:nvGrpSpPr>
        <p:grpSpPr>
          <a:xfrm>
            <a:off x="5394960" y="4004241"/>
            <a:ext cx="1895233" cy="401198"/>
            <a:chOff x="5394960" y="3874701"/>
            <a:chExt cx="1895233" cy="401198"/>
          </a:xfrm>
        </p:grpSpPr>
        <p:cxnSp>
          <p:nvCxnSpPr>
            <p:cNvPr id="42" name="直接连接符 41"/>
            <p:cNvCxnSpPr/>
            <p:nvPr/>
          </p:nvCxnSpPr>
          <p:spPr>
            <a:xfrm>
              <a:off x="5394960" y="4275899"/>
              <a:ext cx="632460" cy="0"/>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6632257" y="3887279"/>
              <a:ext cx="294323" cy="0"/>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6894193" y="4268279"/>
              <a:ext cx="396000" cy="0"/>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6907768" y="3874701"/>
              <a:ext cx="0" cy="401198"/>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p:stCondLst>
                              <p:cond delay="1000"/>
                            </p:stCondLst>
                            <p:childTnLst>
                              <p:par>
                                <p:cTn id="9" presetID="23" presetClass="entr" presetSubtype="16"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1000" fill="hold"/>
                                        <p:tgtEl>
                                          <p:spTgt spid="10"/>
                                        </p:tgtEl>
                                        <p:attrNameLst>
                                          <p:attrName>ppt_w</p:attrName>
                                        </p:attrNameLst>
                                      </p:cBhvr>
                                      <p:tavLst>
                                        <p:tav tm="0">
                                          <p:val>
                                            <p:fltVal val="0"/>
                                          </p:val>
                                        </p:tav>
                                        <p:tav tm="100000">
                                          <p:val>
                                            <p:strVal val="#ppt_w"/>
                                          </p:val>
                                        </p:tav>
                                      </p:tavLst>
                                    </p:anim>
                                    <p:anim calcmode="lin" valueType="num">
                                      <p:cBhvr>
                                        <p:cTn id="12" dur="1000" fill="hold"/>
                                        <p:tgtEl>
                                          <p:spTgt spid="10"/>
                                        </p:tgtEl>
                                        <p:attrNameLst>
                                          <p:attrName>ppt_h</p:attrName>
                                        </p:attrNameLst>
                                      </p:cBhvr>
                                      <p:tavLst>
                                        <p:tav tm="0">
                                          <p:val>
                                            <p:fltVal val="0"/>
                                          </p:val>
                                        </p:tav>
                                        <p:tav tm="100000">
                                          <p:val>
                                            <p:strVal val="#ppt_h"/>
                                          </p:val>
                                        </p:tav>
                                      </p:tavLst>
                                    </p:anim>
                                  </p:childTnLst>
                                </p:cTn>
                              </p:par>
                            </p:childTnLst>
                          </p:cTn>
                        </p:par>
                        <p:par>
                          <p:cTn id="13" fill="hold">
                            <p:stCondLst>
                              <p:cond delay="2000"/>
                            </p:stCondLst>
                            <p:childTnLst>
                              <p:par>
                                <p:cTn id="14" presetID="23" presetClass="entr" presetSubtype="16"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1000" fill="hold"/>
                                        <p:tgtEl>
                                          <p:spTgt spid="11"/>
                                        </p:tgtEl>
                                        <p:attrNameLst>
                                          <p:attrName>ppt_w</p:attrName>
                                        </p:attrNameLst>
                                      </p:cBhvr>
                                      <p:tavLst>
                                        <p:tav tm="0">
                                          <p:val>
                                            <p:fltVal val="0"/>
                                          </p:val>
                                        </p:tav>
                                        <p:tav tm="100000">
                                          <p:val>
                                            <p:strVal val="#ppt_w"/>
                                          </p:val>
                                        </p:tav>
                                      </p:tavLst>
                                    </p:anim>
                                    <p:anim calcmode="lin" valueType="num">
                                      <p:cBhvr>
                                        <p:cTn id="17" dur="10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7" presetClass="entr" presetSubtype="8"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 calcmode="lin" valueType="num">
                                      <p:cBhvr>
                                        <p:cTn id="22" dur="1000" fill="hold"/>
                                        <p:tgtEl>
                                          <p:spTgt spid="24"/>
                                        </p:tgtEl>
                                        <p:attrNameLst>
                                          <p:attrName>ppt_x</p:attrName>
                                        </p:attrNameLst>
                                      </p:cBhvr>
                                      <p:tavLst>
                                        <p:tav tm="0">
                                          <p:val>
                                            <p:strVal val="#ppt_x-#ppt_w/2"/>
                                          </p:val>
                                        </p:tav>
                                        <p:tav tm="100000">
                                          <p:val>
                                            <p:strVal val="#ppt_x"/>
                                          </p:val>
                                        </p:tav>
                                      </p:tavLst>
                                    </p:anim>
                                    <p:anim calcmode="lin" valueType="num">
                                      <p:cBhvr>
                                        <p:cTn id="23" dur="1000" fill="hold"/>
                                        <p:tgtEl>
                                          <p:spTgt spid="24"/>
                                        </p:tgtEl>
                                        <p:attrNameLst>
                                          <p:attrName>ppt_y</p:attrName>
                                        </p:attrNameLst>
                                      </p:cBhvr>
                                      <p:tavLst>
                                        <p:tav tm="0">
                                          <p:val>
                                            <p:strVal val="#ppt_y"/>
                                          </p:val>
                                        </p:tav>
                                        <p:tav tm="100000">
                                          <p:val>
                                            <p:strVal val="#ppt_y"/>
                                          </p:val>
                                        </p:tav>
                                      </p:tavLst>
                                    </p:anim>
                                    <p:anim calcmode="lin" valueType="num">
                                      <p:cBhvr>
                                        <p:cTn id="24" dur="1000" fill="hold"/>
                                        <p:tgtEl>
                                          <p:spTgt spid="24"/>
                                        </p:tgtEl>
                                        <p:attrNameLst>
                                          <p:attrName>ppt_w</p:attrName>
                                        </p:attrNameLst>
                                      </p:cBhvr>
                                      <p:tavLst>
                                        <p:tav tm="0">
                                          <p:val>
                                            <p:fltVal val="0"/>
                                          </p:val>
                                        </p:tav>
                                        <p:tav tm="100000">
                                          <p:val>
                                            <p:strVal val="#ppt_w"/>
                                          </p:val>
                                        </p:tav>
                                      </p:tavLst>
                                    </p:anim>
                                    <p:anim calcmode="lin" valueType="num">
                                      <p:cBhvr>
                                        <p:cTn id="25" dur="1000" fill="hold"/>
                                        <p:tgtEl>
                                          <p:spTgt spid="24"/>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22"/>
                                        </p:tgtEl>
                                        <p:attrNameLst>
                                          <p:attrName>style.visibility</p:attrName>
                                        </p:attrNameLst>
                                      </p:cBhvr>
                                      <p:to>
                                        <p:strVal val="visible"/>
                                      </p:to>
                                    </p:set>
                                    <p:anim calcmode="lin" valueType="num">
                                      <p:cBhvr>
                                        <p:cTn id="30" dur="1000" fill="hold"/>
                                        <p:tgtEl>
                                          <p:spTgt spid="22"/>
                                        </p:tgtEl>
                                        <p:attrNameLst>
                                          <p:attrName>ppt_w</p:attrName>
                                        </p:attrNameLst>
                                      </p:cBhvr>
                                      <p:tavLst>
                                        <p:tav tm="0">
                                          <p:val>
                                            <p:fltVal val="0"/>
                                          </p:val>
                                        </p:tav>
                                        <p:tav tm="100000">
                                          <p:val>
                                            <p:strVal val="#ppt_w"/>
                                          </p:val>
                                        </p:tav>
                                      </p:tavLst>
                                    </p:anim>
                                    <p:anim calcmode="lin" valueType="num">
                                      <p:cBhvr>
                                        <p:cTn id="31" dur="1000" fill="hold"/>
                                        <p:tgtEl>
                                          <p:spTgt spid="22"/>
                                        </p:tgtEl>
                                        <p:attrNameLst>
                                          <p:attrName>ppt_h</p:attrName>
                                        </p:attrNameLst>
                                      </p:cBhvr>
                                      <p:tavLst>
                                        <p:tav tm="0">
                                          <p:val>
                                            <p:fltVal val="0"/>
                                          </p:val>
                                        </p:tav>
                                        <p:tav tm="100000">
                                          <p:val>
                                            <p:strVal val="#ppt_h"/>
                                          </p:val>
                                        </p:tav>
                                      </p:tavLst>
                                    </p:anim>
                                    <p:animEffect transition="in" filter="fade">
                                      <p:cBhvr>
                                        <p:cTn id="32" dur="1000"/>
                                        <p:tgtEl>
                                          <p:spTgt spid="22"/>
                                        </p:tgtEl>
                                      </p:cBhvr>
                                    </p:animEffect>
                                  </p:childTnLst>
                                </p:cTn>
                              </p:par>
                            </p:childTnLst>
                          </p:cTn>
                        </p:par>
                        <p:par>
                          <p:cTn id="33" fill="hold">
                            <p:stCondLst>
                              <p:cond delay="1000"/>
                            </p:stCondLst>
                            <p:childTnLst>
                              <p:par>
                                <p:cTn id="34" presetID="53" presetClass="entr" presetSubtype="16" fill="hold" nodeType="after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p:cTn id="36" dur="1000" fill="hold"/>
                                        <p:tgtEl>
                                          <p:spTgt spid="18"/>
                                        </p:tgtEl>
                                        <p:attrNameLst>
                                          <p:attrName>ppt_w</p:attrName>
                                        </p:attrNameLst>
                                      </p:cBhvr>
                                      <p:tavLst>
                                        <p:tav tm="0">
                                          <p:val>
                                            <p:fltVal val="0"/>
                                          </p:val>
                                        </p:tav>
                                        <p:tav tm="100000">
                                          <p:val>
                                            <p:strVal val="#ppt_w"/>
                                          </p:val>
                                        </p:tav>
                                      </p:tavLst>
                                    </p:anim>
                                    <p:anim calcmode="lin" valueType="num">
                                      <p:cBhvr>
                                        <p:cTn id="37" dur="1000" fill="hold"/>
                                        <p:tgtEl>
                                          <p:spTgt spid="18"/>
                                        </p:tgtEl>
                                        <p:attrNameLst>
                                          <p:attrName>ppt_h</p:attrName>
                                        </p:attrNameLst>
                                      </p:cBhvr>
                                      <p:tavLst>
                                        <p:tav tm="0">
                                          <p:val>
                                            <p:fltVal val="0"/>
                                          </p:val>
                                        </p:tav>
                                        <p:tav tm="100000">
                                          <p:val>
                                            <p:strVal val="#ppt_h"/>
                                          </p:val>
                                        </p:tav>
                                      </p:tavLst>
                                    </p:anim>
                                    <p:animEffect transition="in" filter="fade">
                                      <p:cBhvr>
                                        <p:cTn id="38" dur="10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17" presetClass="entr" presetSubtype="8"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ppt_x</p:attrName>
                                        </p:attrNameLst>
                                      </p:cBhvr>
                                      <p:tavLst>
                                        <p:tav tm="0">
                                          <p:val>
                                            <p:strVal val="#ppt_x-#ppt_w/2"/>
                                          </p:val>
                                        </p:tav>
                                        <p:tav tm="100000">
                                          <p:val>
                                            <p:strVal val="#ppt_x"/>
                                          </p:val>
                                        </p:tav>
                                      </p:tavLst>
                                    </p:anim>
                                    <p:anim calcmode="lin" valueType="num">
                                      <p:cBhvr>
                                        <p:cTn id="44" dur="1000" fill="hold"/>
                                        <p:tgtEl>
                                          <p:spTgt spid="25"/>
                                        </p:tgtEl>
                                        <p:attrNameLst>
                                          <p:attrName>ppt_y</p:attrName>
                                        </p:attrNameLst>
                                      </p:cBhvr>
                                      <p:tavLst>
                                        <p:tav tm="0">
                                          <p:val>
                                            <p:strVal val="#ppt_y"/>
                                          </p:val>
                                        </p:tav>
                                        <p:tav tm="100000">
                                          <p:val>
                                            <p:strVal val="#ppt_y"/>
                                          </p:val>
                                        </p:tav>
                                      </p:tavLst>
                                    </p:anim>
                                    <p:anim calcmode="lin" valueType="num">
                                      <p:cBhvr>
                                        <p:cTn id="45" dur="1000" fill="hold"/>
                                        <p:tgtEl>
                                          <p:spTgt spid="25"/>
                                        </p:tgtEl>
                                        <p:attrNameLst>
                                          <p:attrName>ppt_w</p:attrName>
                                        </p:attrNameLst>
                                      </p:cBhvr>
                                      <p:tavLst>
                                        <p:tav tm="0">
                                          <p:val>
                                            <p:fltVal val="0"/>
                                          </p:val>
                                        </p:tav>
                                        <p:tav tm="100000">
                                          <p:val>
                                            <p:strVal val="#ppt_w"/>
                                          </p:val>
                                        </p:tav>
                                      </p:tavLst>
                                    </p:anim>
                                    <p:anim calcmode="lin" valueType="num">
                                      <p:cBhvr>
                                        <p:cTn id="46" dur="1000" fill="hold"/>
                                        <p:tgtEl>
                                          <p:spTgt spid="25"/>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nodeType="clickEffect">
                                  <p:stCondLst>
                                    <p:cond delay="0"/>
                                  </p:stCondLst>
                                  <p:childTnLst>
                                    <p:set>
                                      <p:cBhvr>
                                        <p:cTn id="50" dur="1" fill="hold">
                                          <p:stCondLst>
                                            <p:cond delay="0"/>
                                          </p:stCondLst>
                                        </p:cTn>
                                        <p:tgtEl>
                                          <p:spTgt spid="21"/>
                                        </p:tgtEl>
                                        <p:attrNameLst>
                                          <p:attrName>style.visibility</p:attrName>
                                        </p:attrNameLst>
                                      </p:cBhvr>
                                      <p:to>
                                        <p:strVal val="visible"/>
                                      </p:to>
                                    </p:set>
                                    <p:anim calcmode="lin" valueType="num">
                                      <p:cBhvr>
                                        <p:cTn id="51" dur="1000" fill="hold"/>
                                        <p:tgtEl>
                                          <p:spTgt spid="21"/>
                                        </p:tgtEl>
                                        <p:attrNameLst>
                                          <p:attrName>ppt_w</p:attrName>
                                        </p:attrNameLst>
                                      </p:cBhvr>
                                      <p:tavLst>
                                        <p:tav tm="0">
                                          <p:val>
                                            <p:fltVal val="0"/>
                                          </p:val>
                                        </p:tav>
                                        <p:tav tm="100000">
                                          <p:val>
                                            <p:strVal val="#ppt_w"/>
                                          </p:val>
                                        </p:tav>
                                      </p:tavLst>
                                    </p:anim>
                                    <p:anim calcmode="lin" valueType="num">
                                      <p:cBhvr>
                                        <p:cTn id="52" dur="1000" fill="hold"/>
                                        <p:tgtEl>
                                          <p:spTgt spid="21"/>
                                        </p:tgtEl>
                                        <p:attrNameLst>
                                          <p:attrName>ppt_h</p:attrName>
                                        </p:attrNameLst>
                                      </p:cBhvr>
                                      <p:tavLst>
                                        <p:tav tm="0">
                                          <p:val>
                                            <p:fltVal val="0"/>
                                          </p:val>
                                        </p:tav>
                                        <p:tav tm="100000">
                                          <p:val>
                                            <p:strVal val="#ppt_h"/>
                                          </p:val>
                                        </p:tav>
                                      </p:tavLst>
                                    </p:anim>
                                    <p:animEffect transition="in" filter="fade">
                                      <p:cBhvr>
                                        <p:cTn id="53" dur="1000"/>
                                        <p:tgtEl>
                                          <p:spTgt spid="21"/>
                                        </p:tgtEl>
                                      </p:cBhvr>
                                    </p:animEffect>
                                  </p:childTnLst>
                                </p:cTn>
                              </p:par>
                            </p:childTnLst>
                          </p:cTn>
                        </p:par>
                        <p:par>
                          <p:cTn id="54" fill="hold">
                            <p:stCondLst>
                              <p:cond delay="1000"/>
                            </p:stCondLst>
                            <p:childTnLst>
                              <p:par>
                                <p:cTn id="55" presetID="53" presetClass="entr" presetSubtype="16" fill="hold" nodeType="afterEffect">
                                  <p:stCondLst>
                                    <p:cond delay="0"/>
                                  </p:stCondLst>
                                  <p:childTnLst>
                                    <p:set>
                                      <p:cBhvr>
                                        <p:cTn id="56" dur="1" fill="hold">
                                          <p:stCondLst>
                                            <p:cond delay="0"/>
                                          </p:stCondLst>
                                        </p:cTn>
                                        <p:tgtEl>
                                          <p:spTgt spid="35"/>
                                        </p:tgtEl>
                                        <p:attrNameLst>
                                          <p:attrName>style.visibility</p:attrName>
                                        </p:attrNameLst>
                                      </p:cBhvr>
                                      <p:to>
                                        <p:strVal val="visible"/>
                                      </p:to>
                                    </p:set>
                                    <p:anim calcmode="lin" valueType="num">
                                      <p:cBhvr>
                                        <p:cTn id="57" dur="1000" fill="hold"/>
                                        <p:tgtEl>
                                          <p:spTgt spid="35"/>
                                        </p:tgtEl>
                                        <p:attrNameLst>
                                          <p:attrName>ppt_w</p:attrName>
                                        </p:attrNameLst>
                                      </p:cBhvr>
                                      <p:tavLst>
                                        <p:tav tm="0">
                                          <p:val>
                                            <p:fltVal val="0"/>
                                          </p:val>
                                        </p:tav>
                                        <p:tav tm="100000">
                                          <p:val>
                                            <p:strVal val="#ppt_w"/>
                                          </p:val>
                                        </p:tav>
                                      </p:tavLst>
                                    </p:anim>
                                    <p:anim calcmode="lin" valueType="num">
                                      <p:cBhvr>
                                        <p:cTn id="58" dur="1000" fill="hold"/>
                                        <p:tgtEl>
                                          <p:spTgt spid="35"/>
                                        </p:tgtEl>
                                        <p:attrNameLst>
                                          <p:attrName>ppt_h</p:attrName>
                                        </p:attrNameLst>
                                      </p:cBhvr>
                                      <p:tavLst>
                                        <p:tav tm="0">
                                          <p:val>
                                            <p:fltVal val="0"/>
                                          </p:val>
                                        </p:tav>
                                        <p:tav tm="100000">
                                          <p:val>
                                            <p:strVal val="#ppt_h"/>
                                          </p:val>
                                        </p:tav>
                                      </p:tavLst>
                                    </p:anim>
                                    <p:animEffect transition="in" filter="fade">
                                      <p:cBhvr>
                                        <p:cTn id="59"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10"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 41"/>
          <p:cNvSpPr>
            <a:spLocks noChangeArrowheads="1"/>
          </p:cNvSpPr>
          <p:nvPr/>
        </p:nvSpPr>
        <p:spPr bwMode="auto">
          <a:xfrm>
            <a:off x="2065338" y="1662931"/>
            <a:ext cx="2628581" cy="1186473"/>
          </a:xfrm>
          <a:prstGeom prst="wedgeRoundRectCallout">
            <a:avLst>
              <a:gd name="adj1" fmla="val -43449"/>
              <a:gd name="adj2" fmla="val -31457"/>
              <a:gd name="adj3" fmla="val 16667"/>
            </a:avLst>
          </a:prstGeom>
          <a:solidFill>
            <a:srgbClr val="FFFF66"/>
          </a:solidFill>
          <a:ln w="28575" algn="ctr">
            <a:solidFill>
              <a:srgbClr val="6600FF"/>
            </a:solidFill>
            <a:miter lim="800000"/>
          </a:ln>
          <a:effectLst>
            <a:outerShdw blurRad="50800" dist="38100" dir="2700000" algn="tl" rotWithShape="0">
              <a:prstClr val="black">
                <a:alpha val="40000"/>
              </a:prstClr>
            </a:outerShdw>
          </a:effectLst>
        </p:spPr>
        <p:txBody>
          <a:bodyPr lIns="0" rIns="0" anchor="ctr"/>
          <a:lstStyle/>
          <a:p>
            <a:pPr marL="144145">
              <a:lnSpc>
                <a:spcPct val="150000"/>
              </a:lnSpc>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输出不仅与现态</a:t>
            </a:r>
            <a:r>
              <a:rPr lang="en-US" altLang="zh-CN"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i="1" baseline="30000" dirty="0" err="1">
                <a:latin typeface="Times New Roman" panose="02020603050405020304" pitchFamily="18" charset="0"/>
                <a:ea typeface="微软雅黑" panose="020B0503020204020204" pitchFamily="34" charset="-122"/>
                <a:cs typeface="Times New Roman" panose="02020603050405020304" pitchFamily="18" charset="0"/>
              </a:rPr>
              <a:t>n</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有关，还与输入</a:t>
            </a: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有关</a:t>
            </a:r>
            <a:endPar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AutoShape 41"/>
          <p:cNvSpPr>
            <a:spLocks noChangeArrowheads="1"/>
          </p:cNvSpPr>
          <p:nvPr/>
        </p:nvSpPr>
        <p:spPr bwMode="auto">
          <a:xfrm>
            <a:off x="2084779" y="3666173"/>
            <a:ext cx="2628581" cy="1215292"/>
          </a:xfrm>
          <a:prstGeom prst="wedgeRoundRectCallout">
            <a:avLst>
              <a:gd name="adj1" fmla="val -43008"/>
              <a:gd name="adj2" fmla="val 33217"/>
              <a:gd name="adj3" fmla="val 16667"/>
            </a:avLst>
          </a:prstGeom>
          <a:solidFill>
            <a:srgbClr val="FFFF66"/>
          </a:solidFill>
          <a:ln w="28575" algn="ctr">
            <a:solidFill>
              <a:srgbClr val="6600FF"/>
            </a:solidFill>
            <a:miter lim="800000"/>
          </a:ln>
          <a:effectLst>
            <a:outerShdw blurRad="50800" dist="38100" dir="2700000" algn="tl" rotWithShape="0">
              <a:prstClr val="black">
                <a:alpha val="40000"/>
              </a:prstClr>
            </a:outerShdw>
          </a:effectLst>
        </p:spPr>
        <p:txBody>
          <a:bodyPr lIns="0" rIns="0" anchor="ctr"/>
          <a:lstStyle/>
          <a:p>
            <a:pPr marL="144145">
              <a:lnSpc>
                <a:spcPct val="150000"/>
              </a:lnSpc>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输出</a:t>
            </a: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Y</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只与现态</a:t>
            </a:r>
            <a:r>
              <a:rPr lang="en-US" altLang="zh-CN" b="1"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i="1" baseline="30000" dirty="0" err="1">
                <a:latin typeface="Times New Roman" panose="02020603050405020304" pitchFamily="18" charset="0"/>
                <a:ea typeface="微软雅黑" panose="020B0503020204020204" pitchFamily="34" charset="-122"/>
                <a:cs typeface="Times New Roman" panose="02020603050405020304" pitchFamily="18" charset="0"/>
              </a:rPr>
              <a:t>n</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有关，而与输入</a:t>
            </a: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无关</a:t>
            </a:r>
            <a:endParaRPr kumimoji="1"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 name="组合 69"/>
          <p:cNvGrpSpPr/>
          <p:nvPr/>
        </p:nvGrpSpPr>
        <p:grpSpPr>
          <a:xfrm>
            <a:off x="392432" y="778617"/>
            <a:ext cx="2830827" cy="420971"/>
            <a:chOff x="670560" y="892917"/>
            <a:chExt cx="2830827" cy="420971"/>
          </a:xfrm>
        </p:grpSpPr>
        <p:sp>
          <p:nvSpPr>
            <p:cNvPr id="3" name="矩形 2"/>
            <p:cNvSpPr/>
            <p:nvPr/>
          </p:nvSpPr>
          <p:spPr>
            <a:xfrm>
              <a:off x="1035232" y="913778"/>
              <a:ext cx="2466155"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时序逻辑电路分类</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0" name="圆角矩形 9"/>
          <p:cNvSpPr/>
          <p:nvPr/>
        </p:nvSpPr>
        <p:spPr>
          <a:xfrm>
            <a:off x="821918" y="1846772"/>
            <a:ext cx="1331088" cy="790827"/>
          </a:xfrm>
          <a:prstGeom prst="roundRect">
            <a:avLst/>
          </a:prstGeom>
          <a:solidFill>
            <a:srgbClr val="FFC000"/>
          </a:solidFill>
          <a:ln w="19050">
            <a:solidFill>
              <a:schemeClr val="tx1">
                <a:lumMod val="85000"/>
                <a:lumOff val="15000"/>
              </a:schemeClr>
            </a:solidFill>
          </a:ln>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Mealy(</a:t>
            </a:r>
            <a:r>
              <a:rPr lang="zh-CN" altLang="en-US"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米里</a:t>
            </a:r>
            <a:r>
              <a:rPr lang="en-US"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型</a:t>
            </a:r>
            <a:r>
              <a:rPr lang="zh-CN" altLang="en-US"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电路</a:t>
            </a:r>
            <a:endParaRPr lang="zh-CN" altLang="en-US"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圆角矩形 10"/>
          <p:cNvSpPr/>
          <p:nvPr/>
        </p:nvSpPr>
        <p:spPr>
          <a:xfrm>
            <a:off x="821918" y="3848702"/>
            <a:ext cx="1331088" cy="790827"/>
          </a:xfrm>
          <a:prstGeom prst="roundRect">
            <a:avLst/>
          </a:prstGeom>
          <a:solidFill>
            <a:srgbClr val="FFC000"/>
          </a:solidFill>
          <a:ln w="19050">
            <a:solidFill>
              <a:schemeClr val="tx1">
                <a:lumMod val="85000"/>
                <a:lumOff val="15000"/>
              </a:schemeClr>
            </a:solidFill>
          </a:ln>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Moore</a:t>
            </a:r>
            <a:r>
              <a:rPr lang="en-US" altLang="zh-CN">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a:solidFill>
                  <a:srgbClr val="7030A0"/>
                </a:solidFill>
                <a:latin typeface="Times New Roman" panose="02020603050405020304" pitchFamily="18" charset="0"/>
                <a:ea typeface="黑体" panose="02010609060101010101" pitchFamily="49" charset="-122"/>
                <a:cs typeface="Times New Roman" panose="02020603050405020304" pitchFamily="18" charset="0"/>
              </a:rPr>
              <a:t>摩尔</a:t>
            </a:r>
            <a:r>
              <a:rPr lang="en-US"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型</a:t>
            </a:r>
            <a:r>
              <a:rPr lang="zh-CN" altLang="en-US"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电路</a:t>
            </a:r>
            <a:endParaRPr lang="zh-CN" altLang="en-US"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22" name="组合 21"/>
          <p:cNvGrpSpPr/>
          <p:nvPr/>
        </p:nvGrpSpPr>
        <p:grpSpPr>
          <a:xfrm>
            <a:off x="4968240" y="1516380"/>
            <a:ext cx="3733800" cy="1599091"/>
            <a:chOff x="4968240" y="1112520"/>
            <a:chExt cx="3733800" cy="1599091"/>
          </a:xfrm>
        </p:grpSpPr>
        <p:sp>
          <p:nvSpPr>
            <p:cNvPr id="26" name="圆角矩形 25"/>
            <p:cNvSpPr/>
            <p:nvPr/>
          </p:nvSpPr>
          <p:spPr>
            <a:xfrm>
              <a:off x="4968240" y="1112520"/>
              <a:ext cx="3733800" cy="1599091"/>
            </a:xfrm>
            <a:prstGeom prst="roundRect">
              <a:avLst>
                <a:gd name="adj" fmla="val 5389"/>
              </a:avLst>
            </a:prstGeom>
            <a:solidFill>
              <a:schemeClr val="accent6">
                <a:lumMod val="20000"/>
                <a:lumOff val="80000"/>
              </a:schemeClr>
            </a:solidFill>
            <a:ln>
              <a:solidFill>
                <a:srgbClr val="7030A0"/>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2"/>
            <a:stretch>
              <a:fillRect/>
            </a:stretch>
          </p:blipFill>
          <p:spPr>
            <a:xfrm>
              <a:off x="5048963" y="1199274"/>
              <a:ext cx="3520329" cy="1422005"/>
            </a:xfrm>
            <a:prstGeom prst="rect">
              <a:avLst/>
            </a:prstGeom>
          </p:spPr>
        </p:pic>
      </p:grpSp>
      <p:grpSp>
        <p:nvGrpSpPr>
          <p:cNvPr id="21" name="组合 20"/>
          <p:cNvGrpSpPr/>
          <p:nvPr/>
        </p:nvGrpSpPr>
        <p:grpSpPr>
          <a:xfrm>
            <a:off x="4982210" y="3543300"/>
            <a:ext cx="3733800" cy="1599091"/>
            <a:chOff x="4982210" y="3413760"/>
            <a:chExt cx="3733800" cy="1599091"/>
          </a:xfrm>
        </p:grpSpPr>
        <p:sp>
          <p:nvSpPr>
            <p:cNvPr id="27" name="圆角矩形 26"/>
            <p:cNvSpPr/>
            <p:nvPr/>
          </p:nvSpPr>
          <p:spPr>
            <a:xfrm>
              <a:off x="4982210" y="3413760"/>
              <a:ext cx="3733800" cy="1599091"/>
            </a:xfrm>
            <a:prstGeom prst="roundRect">
              <a:avLst>
                <a:gd name="adj" fmla="val 5389"/>
              </a:avLst>
            </a:prstGeom>
            <a:solidFill>
              <a:schemeClr val="accent6">
                <a:lumMod val="20000"/>
                <a:lumOff val="80000"/>
              </a:schemeClr>
            </a:solidFill>
            <a:ln>
              <a:solidFill>
                <a:srgbClr val="7030A0"/>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p:cNvPicPr>
              <a:picLocks noChangeAspect="1"/>
            </p:cNvPicPr>
            <p:nvPr/>
          </p:nvPicPr>
          <p:blipFill>
            <a:blip r:embed="rId3"/>
            <a:stretch>
              <a:fillRect/>
            </a:stretch>
          </p:blipFill>
          <p:spPr>
            <a:xfrm>
              <a:off x="5080758" y="3499661"/>
              <a:ext cx="3560345" cy="1346659"/>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600">
        <p14:prism dir="u"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p:stCondLst>
                              <p:cond delay="1000"/>
                            </p:stCondLst>
                            <p:childTnLst>
                              <p:par>
                                <p:cTn id="9" presetID="23" presetClass="entr" presetSubtype="16"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1000" fill="hold"/>
                                        <p:tgtEl>
                                          <p:spTgt spid="10"/>
                                        </p:tgtEl>
                                        <p:attrNameLst>
                                          <p:attrName>ppt_w</p:attrName>
                                        </p:attrNameLst>
                                      </p:cBhvr>
                                      <p:tavLst>
                                        <p:tav tm="0">
                                          <p:val>
                                            <p:fltVal val="0"/>
                                          </p:val>
                                        </p:tav>
                                        <p:tav tm="100000">
                                          <p:val>
                                            <p:strVal val="#ppt_w"/>
                                          </p:val>
                                        </p:tav>
                                      </p:tavLst>
                                    </p:anim>
                                    <p:anim calcmode="lin" valueType="num">
                                      <p:cBhvr>
                                        <p:cTn id="12" dur="1000" fill="hold"/>
                                        <p:tgtEl>
                                          <p:spTgt spid="10"/>
                                        </p:tgtEl>
                                        <p:attrNameLst>
                                          <p:attrName>ppt_h</p:attrName>
                                        </p:attrNameLst>
                                      </p:cBhvr>
                                      <p:tavLst>
                                        <p:tav tm="0">
                                          <p:val>
                                            <p:fltVal val="0"/>
                                          </p:val>
                                        </p:tav>
                                        <p:tav tm="100000">
                                          <p:val>
                                            <p:strVal val="#ppt_h"/>
                                          </p:val>
                                        </p:tav>
                                      </p:tavLst>
                                    </p:anim>
                                  </p:childTnLst>
                                </p:cTn>
                              </p:par>
                            </p:childTnLst>
                          </p:cTn>
                        </p:par>
                        <p:par>
                          <p:cTn id="13" fill="hold">
                            <p:stCondLst>
                              <p:cond delay="2000"/>
                            </p:stCondLst>
                            <p:childTnLst>
                              <p:par>
                                <p:cTn id="14" presetID="23" presetClass="entr" presetSubtype="16"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1000" fill="hold"/>
                                        <p:tgtEl>
                                          <p:spTgt spid="11"/>
                                        </p:tgtEl>
                                        <p:attrNameLst>
                                          <p:attrName>ppt_w</p:attrName>
                                        </p:attrNameLst>
                                      </p:cBhvr>
                                      <p:tavLst>
                                        <p:tav tm="0">
                                          <p:val>
                                            <p:fltVal val="0"/>
                                          </p:val>
                                        </p:tav>
                                        <p:tav tm="100000">
                                          <p:val>
                                            <p:strVal val="#ppt_w"/>
                                          </p:val>
                                        </p:tav>
                                      </p:tavLst>
                                    </p:anim>
                                    <p:anim calcmode="lin" valueType="num">
                                      <p:cBhvr>
                                        <p:cTn id="17" dur="10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7" presetClass="entr" presetSubtype="8"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 calcmode="lin" valueType="num">
                                      <p:cBhvr>
                                        <p:cTn id="22" dur="1000" fill="hold"/>
                                        <p:tgtEl>
                                          <p:spTgt spid="24"/>
                                        </p:tgtEl>
                                        <p:attrNameLst>
                                          <p:attrName>ppt_x</p:attrName>
                                        </p:attrNameLst>
                                      </p:cBhvr>
                                      <p:tavLst>
                                        <p:tav tm="0">
                                          <p:val>
                                            <p:strVal val="#ppt_x-#ppt_w/2"/>
                                          </p:val>
                                        </p:tav>
                                        <p:tav tm="100000">
                                          <p:val>
                                            <p:strVal val="#ppt_x"/>
                                          </p:val>
                                        </p:tav>
                                      </p:tavLst>
                                    </p:anim>
                                    <p:anim calcmode="lin" valueType="num">
                                      <p:cBhvr>
                                        <p:cTn id="23" dur="1000" fill="hold"/>
                                        <p:tgtEl>
                                          <p:spTgt spid="24"/>
                                        </p:tgtEl>
                                        <p:attrNameLst>
                                          <p:attrName>ppt_y</p:attrName>
                                        </p:attrNameLst>
                                      </p:cBhvr>
                                      <p:tavLst>
                                        <p:tav tm="0">
                                          <p:val>
                                            <p:strVal val="#ppt_y"/>
                                          </p:val>
                                        </p:tav>
                                        <p:tav tm="100000">
                                          <p:val>
                                            <p:strVal val="#ppt_y"/>
                                          </p:val>
                                        </p:tav>
                                      </p:tavLst>
                                    </p:anim>
                                    <p:anim calcmode="lin" valueType="num">
                                      <p:cBhvr>
                                        <p:cTn id="24" dur="1000" fill="hold"/>
                                        <p:tgtEl>
                                          <p:spTgt spid="24"/>
                                        </p:tgtEl>
                                        <p:attrNameLst>
                                          <p:attrName>ppt_w</p:attrName>
                                        </p:attrNameLst>
                                      </p:cBhvr>
                                      <p:tavLst>
                                        <p:tav tm="0">
                                          <p:val>
                                            <p:fltVal val="0"/>
                                          </p:val>
                                        </p:tav>
                                        <p:tav tm="100000">
                                          <p:val>
                                            <p:strVal val="#ppt_w"/>
                                          </p:val>
                                        </p:tav>
                                      </p:tavLst>
                                    </p:anim>
                                    <p:anim calcmode="lin" valueType="num">
                                      <p:cBhvr>
                                        <p:cTn id="25" dur="1000" fill="hold"/>
                                        <p:tgtEl>
                                          <p:spTgt spid="24"/>
                                        </p:tgtEl>
                                        <p:attrNameLst>
                                          <p:attrName>ppt_h</p:attrName>
                                        </p:attrNameLst>
                                      </p:cBhvr>
                                      <p:tavLst>
                                        <p:tav tm="0">
                                          <p:val>
                                            <p:strVal val="#ppt_h"/>
                                          </p:val>
                                        </p:tav>
                                        <p:tav tm="100000">
                                          <p:val>
                                            <p:strVal val="#ppt_h"/>
                                          </p:val>
                                        </p:tav>
                                      </p:tavLst>
                                    </p:anim>
                                  </p:childTnLst>
                                </p:cTn>
                              </p:par>
                            </p:childTnLst>
                          </p:cTn>
                        </p:par>
                        <p:par>
                          <p:cTn id="26" fill="hold">
                            <p:stCondLst>
                              <p:cond delay="1000"/>
                            </p:stCondLst>
                            <p:childTnLst>
                              <p:par>
                                <p:cTn id="27" presetID="53" presetClass="entr" presetSubtype="16" fill="hold" nodeType="after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p:cTn id="29" dur="1000" fill="hold"/>
                                        <p:tgtEl>
                                          <p:spTgt spid="22"/>
                                        </p:tgtEl>
                                        <p:attrNameLst>
                                          <p:attrName>ppt_w</p:attrName>
                                        </p:attrNameLst>
                                      </p:cBhvr>
                                      <p:tavLst>
                                        <p:tav tm="0">
                                          <p:val>
                                            <p:fltVal val="0"/>
                                          </p:val>
                                        </p:tav>
                                        <p:tav tm="100000">
                                          <p:val>
                                            <p:strVal val="#ppt_w"/>
                                          </p:val>
                                        </p:tav>
                                      </p:tavLst>
                                    </p:anim>
                                    <p:anim calcmode="lin" valueType="num">
                                      <p:cBhvr>
                                        <p:cTn id="30" dur="1000" fill="hold"/>
                                        <p:tgtEl>
                                          <p:spTgt spid="22"/>
                                        </p:tgtEl>
                                        <p:attrNameLst>
                                          <p:attrName>ppt_h</p:attrName>
                                        </p:attrNameLst>
                                      </p:cBhvr>
                                      <p:tavLst>
                                        <p:tav tm="0">
                                          <p:val>
                                            <p:fltVal val="0"/>
                                          </p:val>
                                        </p:tav>
                                        <p:tav tm="100000">
                                          <p:val>
                                            <p:strVal val="#ppt_h"/>
                                          </p:val>
                                        </p:tav>
                                      </p:tavLst>
                                    </p:anim>
                                    <p:animEffect transition="in" filter="fade">
                                      <p:cBhvr>
                                        <p:cTn id="31" dur="10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17" presetClass="entr" presetSubtype="8" fill="hold" grpId="0" nodeType="clickEffect">
                                  <p:stCondLst>
                                    <p:cond delay="0"/>
                                  </p:stCondLst>
                                  <p:childTnLst>
                                    <p:set>
                                      <p:cBhvr>
                                        <p:cTn id="35" dur="1" fill="hold">
                                          <p:stCondLst>
                                            <p:cond delay="0"/>
                                          </p:stCondLst>
                                        </p:cTn>
                                        <p:tgtEl>
                                          <p:spTgt spid="25"/>
                                        </p:tgtEl>
                                        <p:attrNameLst>
                                          <p:attrName>style.visibility</p:attrName>
                                        </p:attrNameLst>
                                      </p:cBhvr>
                                      <p:to>
                                        <p:strVal val="visible"/>
                                      </p:to>
                                    </p:set>
                                    <p:anim calcmode="lin" valueType="num">
                                      <p:cBhvr>
                                        <p:cTn id="36" dur="1000" fill="hold"/>
                                        <p:tgtEl>
                                          <p:spTgt spid="25"/>
                                        </p:tgtEl>
                                        <p:attrNameLst>
                                          <p:attrName>ppt_x</p:attrName>
                                        </p:attrNameLst>
                                      </p:cBhvr>
                                      <p:tavLst>
                                        <p:tav tm="0">
                                          <p:val>
                                            <p:strVal val="#ppt_x-#ppt_w/2"/>
                                          </p:val>
                                        </p:tav>
                                        <p:tav tm="100000">
                                          <p:val>
                                            <p:strVal val="#ppt_x"/>
                                          </p:val>
                                        </p:tav>
                                      </p:tavLst>
                                    </p:anim>
                                    <p:anim calcmode="lin" valueType="num">
                                      <p:cBhvr>
                                        <p:cTn id="37" dur="1000" fill="hold"/>
                                        <p:tgtEl>
                                          <p:spTgt spid="25"/>
                                        </p:tgtEl>
                                        <p:attrNameLst>
                                          <p:attrName>ppt_y</p:attrName>
                                        </p:attrNameLst>
                                      </p:cBhvr>
                                      <p:tavLst>
                                        <p:tav tm="0">
                                          <p:val>
                                            <p:strVal val="#ppt_y"/>
                                          </p:val>
                                        </p:tav>
                                        <p:tav tm="100000">
                                          <p:val>
                                            <p:strVal val="#ppt_y"/>
                                          </p:val>
                                        </p:tav>
                                      </p:tavLst>
                                    </p:anim>
                                    <p:anim calcmode="lin" valueType="num">
                                      <p:cBhvr>
                                        <p:cTn id="38" dur="1000" fill="hold"/>
                                        <p:tgtEl>
                                          <p:spTgt spid="25"/>
                                        </p:tgtEl>
                                        <p:attrNameLst>
                                          <p:attrName>ppt_w</p:attrName>
                                        </p:attrNameLst>
                                      </p:cBhvr>
                                      <p:tavLst>
                                        <p:tav tm="0">
                                          <p:val>
                                            <p:fltVal val="0"/>
                                          </p:val>
                                        </p:tav>
                                        <p:tav tm="100000">
                                          <p:val>
                                            <p:strVal val="#ppt_w"/>
                                          </p:val>
                                        </p:tav>
                                      </p:tavLst>
                                    </p:anim>
                                    <p:anim calcmode="lin" valueType="num">
                                      <p:cBhvr>
                                        <p:cTn id="39" dur="1000" fill="hold"/>
                                        <p:tgtEl>
                                          <p:spTgt spid="25"/>
                                        </p:tgtEl>
                                        <p:attrNameLst>
                                          <p:attrName>ppt_h</p:attrName>
                                        </p:attrNameLst>
                                      </p:cBhvr>
                                      <p:tavLst>
                                        <p:tav tm="0">
                                          <p:val>
                                            <p:strVal val="#ppt_h"/>
                                          </p:val>
                                        </p:tav>
                                        <p:tav tm="100000">
                                          <p:val>
                                            <p:strVal val="#ppt_h"/>
                                          </p:val>
                                        </p:tav>
                                      </p:tavLst>
                                    </p:anim>
                                  </p:childTnLst>
                                </p:cTn>
                              </p:par>
                            </p:childTnLst>
                          </p:cTn>
                        </p:par>
                        <p:par>
                          <p:cTn id="40" fill="hold">
                            <p:stCondLst>
                              <p:cond delay="1000"/>
                            </p:stCondLst>
                            <p:childTnLst>
                              <p:par>
                                <p:cTn id="41" presetID="53" presetClass="entr" presetSubtype="16" fill="hold" nodeType="after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p:cTn id="43" dur="1000" fill="hold"/>
                                        <p:tgtEl>
                                          <p:spTgt spid="21"/>
                                        </p:tgtEl>
                                        <p:attrNameLst>
                                          <p:attrName>ppt_w</p:attrName>
                                        </p:attrNameLst>
                                      </p:cBhvr>
                                      <p:tavLst>
                                        <p:tav tm="0">
                                          <p:val>
                                            <p:fltVal val="0"/>
                                          </p:val>
                                        </p:tav>
                                        <p:tav tm="100000">
                                          <p:val>
                                            <p:strVal val="#ppt_w"/>
                                          </p:val>
                                        </p:tav>
                                      </p:tavLst>
                                    </p:anim>
                                    <p:anim calcmode="lin" valueType="num">
                                      <p:cBhvr>
                                        <p:cTn id="44" dur="1000" fill="hold"/>
                                        <p:tgtEl>
                                          <p:spTgt spid="21"/>
                                        </p:tgtEl>
                                        <p:attrNameLst>
                                          <p:attrName>ppt_h</p:attrName>
                                        </p:attrNameLst>
                                      </p:cBhvr>
                                      <p:tavLst>
                                        <p:tav tm="0">
                                          <p:val>
                                            <p:fltVal val="0"/>
                                          </p:val>
                                        </p:tav>
                                        <p:tav tm="100000">
                                          <p:val>
                                            <p:strVal val="#ppt_h"/>
                                          </p:val>
                                        </p:tav>
                                      </p:tavLst>
                                    </p:anim>
                                    <p:animEffect transition="in" filter="fade">
                                      <p:cBhvr>
                                        <p:cTn id="45"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638810" y="1734820"/>
            <a:ext cx="3213466" cy="2898297"/>
            <a:chOff x="1021080" y="1649730"/>
            <a:chExt cx="3213466" cy="2898297"/>
          </a:xfrm>
        </p:grpSpPr>
        <p:sp>
          <p:nvSpPr>
            <p:cNvPr id="16" name="圆角矩形 15"/>
            <p:cNvSpPr/>
            <p:nvPr/>
          </p:nvSpPr>
          <p:spPr>
            <a:xfrm>
              <a:off x="2051686" y="1662387"/>
              <a:ext cx="2160000" cy="432000"/>
            </a:xfrm>
            <a:prstGeom prst="roundRect">
              <a:avLst/>
            </a:prstGeom>
            <a:solidFill>
              <a:srgbClr val="66FF66"/>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逻辑表达式</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17" name="圆角矩形 16"/>
            <p:cNvSpPr/>
            <p:nvPr/>
          </p:nvSpPr>
          <p:spPr>
            <a:xfrm>
              <a:off x="2051686" y="2275797"/>
              <a:ext cx="2160000" cy="432000"/>
            </a:xfrm>
            <a:prstGeom prst="roundRect">
              <a:avLst/>
            </a:prstGeom>
            <a:solidFill>
              <a:schemeClr val="accent2">
                <a:lumMod val="60000"/>
                <a:lumOff val="40000"/>
              </a:schemeClr>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逻辑真值表</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19" name="圆角矩形 18"/>
            <p:cNvSpPr/>
            <p:nvPr/>
          </p:nvSpPr>
          <p:spPr>
            <a:xfrm>
              <a:off x="2066926" y="2889207"/>
              <a:ext cx="2160000" cy="432000"/>
            </a:xfrm>
            <a:prstGeom prst="roundRect">
              <a:avLst/>
            </a:prstGeom>
            <a:solidFill>
              <a:srgbClr val="00B0F0"/>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卡  诺  图</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24" name="圆角矩形 23"/>
            <p:cNvSpPr/>
            <p:nvPr/>
          </p:nvSpPr>
          <p:spPr>
            <a:xfrm>
              <a:off x="2074546" y="3502617"/>
              <a:ext cx="2160000" cy="432000"/>
            </a:xfrm>
            <a:prstGeom prst="roundRect">
              <a:avLst/>
            </a:prstGeom>
            <a:solidFill>
              <a:srgbClr val="92D050"/>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最小项表达式</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26" name="圆角矩形 25"/>
            <p:cNvSpPr/>
            <p:nvPr/>
          </p:nvSpPr>
          <p:spPr>
            <a:xfrm>
              <a:off x="2063116" y="4116027"/>
              <a:ext cx="2160000" cy="432000"/>
            </a:xfrm>
            <a:prstGeom prst="roundRect">
              <a:avLst/>
            </a:prstGeom>
            <a:solidFill>
              <a:srgbClr val="66FFCC"/>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波形图</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27" name="左大括号 26"/>
            <p:cNvSpPr/>
            <p:nvPr/>
          </p:nvSpPr>
          <p:spPr>
            <a:xfrm>
              <a:off x="1626870" y="1649730"/>
              <a:ext cx="381000" cy="2895600"/>
            </a:xfrm>
            <a:prstGeom prst="leftBrace">
              <a:avLst>
                <a:gd name="adj1" fmla="val 43000"/>
                <a:gd name="adj2" fmla="val 5013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圆角矩形 27"/>
            <p:cNvSpPr/>
            <p:nvPr/>
          </p:nvSpPr>
          <p:spPr>
            <a:xfrm>
              <a:off x="1021080" y="2426970"/>
              <a:ext cx="472440" cy="1390650"/>
            </a:xfrm>
            <a:prstGeom prst="roundRect">
              <a:avLst/>
            </a:prstGeom>
            <a:ln w="381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组合电路</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320356" y="1460018"/>
            <a:ext cx="4000184" cy="3494733"/>
            <a:chOff x="4259896" y="1313486"/>
            <a:chExt cx="4000184" cy="3494733"/>
          </a:xfrm>
        </p:grpSpPr>
        <p:sp>
          <p:nvSpPr>
            <p:cNvPr id="3" name="矩形: 圆角 2"/>
            <p:cNvSpPr/>
            <p:nvPr/>
          </p:nvSpPr>
          <p:spPr>
            <a:xfrm>
              <a:off x="4259896" y="1313486"/>
              <a:ext cx="4000184" cy="3494733"/>
            </a:xfrm>
            <a:prstGeom prst="roundRect">
              <a:avLst>
                <a:gd name="adj" fmla="val 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4631690" y="1531260"/>
              <a:ext cx="3190606" cy="2908817"/>
              <a:chOff x="1021080" y="1641750"/>
              <a:chExt cx="3190606" cy="2908817"/>
            </a:xfrm>
          </p:grpSpPr>
          <p:sp>
            <p:nvSpPr>
              <p:cNvPr id="31" name="圆角矩形 30"/>
              <p:cNvSpPr/>
              <p:nvPr/>
            </p:nvSpPr>
            <p:spPr>
              <a:xfrm>
                <a:off x="2051686" y="1641750"/>
                <a:ext cx="2160000" cy="432000"/>
              </a:xfrm>
              <a:prstGeom prst="roundRect">
                <a:avLst/>
              </a:prstGeom>
              <a:solidFill>
                <a:srgbClr val="66FF66"/>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逻辑方程式</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32" name="圆角矩形 31"/>
              <p:cNvSpPr/>
              <p:nvPr/>
            </p:nvSpPr>
            <p:spPr>
              <a:xfrm>
                <a:off x="2051686" y="2467356"/>
                <a:ext cx="2160000" cy="432000"/>
              </a:xfrm>
              <a:prstGeom prst="roundRect">
                <a:avLst/>
              </a:prstGeom>
              <a:solidFill>
                <a:schemeClr val="accent2">
                  <a:lumMod val="60000"/>
                  <a:lumOff val="40000"/>
                </a:schemeClr>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状态转换表</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33" name="圆角矩形 32"/>
              <p:cNvSpPr/>
              <p:nvPr/>
            </p:nvSpPr>
            <p:spPr>
              <a:xfrm>
                <a:off x="2051686" y="3292962"/>
                <a:ext cx="2160000" cy="432000"/>
              </a:xfrm>
              <a:prstGeom prst="roundRect">
                <a:avLst/>
              </a:prstGeom>
              <a:solidFill>
                <a:srgbClr val="00B0F0"/>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状态转换图</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34" name="圆角矩形 33"/>
              <p:cNvSpPr/>
              <p:nvPr/>
            </p:nvSpPr>
            <p:spPr>
              <a:xfrm>
                <a:off x="2051686" y="4118567"/>
                <a:ext cx="2160000" cy="432000"/>
              </a:xfrm>
              <a:prstGeom prst="roundRect">
                <a:avLst/>
              </a:prstGeom>
              <a:solidFill>
                <a:srgbClr val="92D050"/>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时序波形图</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35" name="左大括号 34"/>
              <p:cNvSpPr/>
              <p:nvPr/>
            </p:nvSpPr>
            <p:spPr>
              <a:xfrm>
                <a:off x="1626870" y="1649730"/>
                <a:ext cx="381000" cy="2895600"/>
              </a:xfrm>
              <a:prstGeom prst="leftBrace">
                <a:avLst>
                  <a:gd name="adj1" fmla="val 43000"/>
                  <a:gd name="adj2" fmla="val 5013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圆角矩形 35"/>
              <p:cNvSpPr/>
              <p:nvPr/>
            </p:nvSpPr>
            <p:spPr>
              <a:xfrm>
                <a:off x="1021080" y="2426970"/>
                <a:ext cx="472440" cy="1390650"/>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时序电路</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grpSp>
        <p:nvGrpSpPr>
          <p:cNvPr id="20" name="组合 69"/>
          <p:cNvGrpSpPr/>
          <p:nvPr/>
        </p:nvGrpSpPr>
        <p:grpSpPr>
          <a:xfrm>
            <a:off x="392432" y="778617"/>
            <a:ext cx="3722368" cy="420971"/>
            <a:chOff x="670560" y="892917"/>
            <a:chExt cx="3722368" cy="420971"/>
          </a:xfrm>
        </p:grpSpPr>
        <p:sp>
          <p:nvSpPr>
            <p:cNvPr id="21" name="矩形 20"/>
            <p:cNvSpPr/>
            <p:nvPr/>
          </p:nvSpPr>
          <p:spPr>
            <a:xfrm>
              <a:off x="1035232" y="913778"/>
              <a:ext cx="335769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时序逻辑电路的描述方法</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2"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23" name="AutoShape 39"/>
          <p:cNvSpPr>
            <a:spLocks noChangeArrowheads="1"/>
          </p:cNvSpPr>
          <p:nvPr/>
        </p:nvSpPr>
        <p:spPr bwMode="auto">
          <a:xfrm>
            <a:off x="3899794" y="1491802"/>
            <a:ext cx="4320000" cy="720000"/>
          </a:xfrm>
          <a:prstGeom prst="wedgeRoundRectCallout">
            <a:avLst>
              <a:gd name="adj1" fmla="val -46790"/>
              <a:gd name="adj2" fmla="val 21288"/>
              <a:gd name="adj3" fmla="val 16667"/>
            </a:avLst>
          </a:prstGeom>
          <a:solidFill>
            <a:srgbClr val="FFFF66"/>
          </a:solidFill>
          <a:ln w="28575" algn="ctr">
            <a:solidFill>
              <a:srgbClr val="6600FF"/>
            </a:solidFill>
            <a:miter lim="800000"/>
          </a:ln>
          <a:effectLst>
            <a:outerShdw blurRad="50800" dist="38100" dir="2700000" algn="tl" rotWithShape="0">
              <a:prstClr val="black">
                <a:alpha val="40000"/>
              </a:prstClr>
            </a:outerShdw>
          </a:effectLst>
        </p:spPr>
        <p:txBody>
          <a:bodyPr lIns="72000" rIns="72000" anchor="ctr"/>
          <a:lstStyle/>
          <a:p>
            <a:r>
              <a:rPr lang="zh-CN" altLang="zh-CN" sz="1400" dirty="0">
                <a:latin typeface="微软雅黑" panose="020B0503020204020204" pitchFamily="34" charset="-122"/>
                <a:ea typeface="微软雅黑" panose="020B0503020204020204" pitchFamily="34" charset="-122"/>
              </a:rPr>
              <a:t>使用逻辑表达式表示时序逻辑电路的一种方式，包括输出方程、驱动方程和状态方程。</a:t>
            </a:r>
            <a:endParaRPr lang="zh-CN" altLang="en-US" sz="1400" dirty="0">
              <a:latin typeface="微软雅黑" panose="020B0503020204020204" pitchFamily="34" charset="-122"/>
              <a:ea typeface="微软雅黑" panose="020B0503020204020204" pitchFamily="34" charset="-122"/>
            </a:endParaRPr>
          </a:p>
        </p:txBody>
      </p:sp>
      <p:sp>
        <p:nvSpPr>
          <p:cNvPr id="25" name="AutoShape 39"/>
          <p:cNvSpPr>
            <a:spLocks noChangeArrowheads="1"/>
          </p:cNvSpPr>
          <p:nvPr/>
        </p:nvSpPr>
        <p:spPr bwMode="auto">
          <a:xfrm>
            <a:off x="3899794" y="2354378"/>
            <a:ext cx="4320000" cy="720000"/>
          </a:xfrm>
          <a:prstGeom prst="wedgeRoundRectCallout">
            <a:avLst>
              <a:gd name="adj1" fmla="val -46790"/>
              <a:gd name="adj2" fmla="val 21288"/>
              <a:gd name="adj3" fmla="val 16667"/>
            </a:avLst>
          </a:prstGeom>
          <a:solidFill>
            <a:srgbClr val="FFFF66"/>
          </a:solidFill>
          <a:ln w="28575" algn="ctr">
            <a:solidFill>
              <a:srgbClr val="6600FF"/>
            </a:solidFill>
            <a:miter lim="800000"/>
          </a:ln>
          <a:effectLst>
            <a:outerShdw blurRad="50800" dist="38100" dir="2700000" algn="tl" rotWithShape="0">
              <a:prstClr val="black">
                <a:alpha val="40000"/>
              </a:prstClr>
            </a:outerShdw>
          </a:effectLst>
        </p:spPr>
        <p:txBody>
          <a:bodyPr lIns="72000" rIns="72000" anchor="ctr"/>
          <a:lstStyle/>
          <a:p>
            <a:r>
              <a:rPr lang="zh-CN" altLang="zh-CN" sz="1400" dirty="0">
                <a:latin typeface="微软雅黑" panose="020B0503020204020204" pitchFamily="34" charset="-122"/>
                <a:ea typeface="微软雅黑" panose="020B0503020204020204" pitchFamily="34" charset="-122"/>
              </a:rPr>
              <a:t>描述时序逻辑电路的输出、次态与电路的输入、现态之间逻辑关系的表格</a:t>
            </a:r>
            <a:r>
              <a:rPr lang="zh-CN" altLang="en-US"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p:txBody>
      </p:sp>
      <p:sp>
        <p:nvSpPr>
          <p:cNvPr id="30" name="AutoShape 39"/>
          <p:cNvSpPr>
            <a:spLocks noChangeArrowheads="1"/>
          </p:cNvSpPr>
          <p:nvPr/>
        </p:nvSpPr>
        <p:spPr bwMode="auto">
          <a:xfrm>
            <a:off x="3899794" y="3199862"/>
            <a:ext cx="4320000" cy="720000"/>
          </a:xfrm>
          <a:prstGeom prst="wedgeRoundRectCallout">
            <a:avLst>
              <a:gd name="adj1" fmla="val -46790"/>
              <a:gd name="adj2" fmla="val 21288"/>
              <a:gd name="adj3" fmla="val 16667"/>
            </a:avLst>
          </a:prstGeom>
          <a:solidFill>
            <a:srgbClr val="FFFF66"/>
          </a:solidFill>
          <a:ln w="28575" algn="ctr">
            <a:solidFill>
              <a:srgbClr val="6600FF"/>
            </a:solidFill>
            <a:miter lim="800000"/>
          </a:ln>
          <a:effectLst>
            <a:outerShdw blurRad="50800" dist="38100" dir="2700000" algn="tl" rotWithShape="0">
              <a:prstClr val="black">
                <a:alpha val="40000"/>
              </a:prstClr>
            </a:outerShdw>
          </a:effectLst>
        </p:spPr>
        <p:txBody>
          <a:bodyPr lIns="72000" rIns="72000" anchor="ctr"/>
          <a:lstStyle/>
          <a:p>
            <a:r>
              <a:rPr lang="zh-CN" altLang="zh-CN" sz="1400" dirty="0">
                <a:latin typeface="微软雅黑" panose="020B0503020204020204" pitchFamily="34" charset="-122"/>
                <a:ea typeface="微软雅黑" panose="020B0503020204020204" pitchFamily="34" charset="-122"/>
              </a:rPr>
              <a:t>用图形的方式来描述时序逻辑电路状态之间的转换规律，能直观描述时序逻辑电路的状态转换过程。</a:t>
            </a:r>
            <a:endParaRPr lang="zh-CN" altLang="en-US" sz="1400" dirty="0">
              <a:latin typeface="微软雅黑" panose="020B0503020204020204" pitchFamily="34" charset="-122"/>
              <a:ea typeface="微软雅黑" panose="020B0503020204020204" pitchFamily="34" charset="-122"/>
            </a:endParaRPr>
          </a:p>
        </p:txBody>
      </p:sp>
      <p:sp>
        <p:nvSpPr>
          <p:cNvPr id="37" name="AutoShape 39"/>
          <p:cNvSpPr>
            <a:spLocks noChangeArrowheads="1"/>
          </p:cNvSpPr>
          <p:nvPr/>
        </p:nvSpPr>
        <p:spPr bwMode="auto">
          <a:xfrm>
            <a:off x="3899794" y="4045345"/>
            <a:ext cx="4320000" cy="720000"/>
          </a:xfrm>
          <a:prstGeom prst="wedgeRoundRectCallout">
            <a:avLst>
              <a:gd name="adj1" fmla="val -46790"/>
              <a:gd name="adj2" fmla="val 21288"/>
              <a:gd name="adj3" fmla="val 16667"/>
            </a:avLst>
          </a:prstGeom>
          <a:solidFill>
            <a:srgbClr val="FFFF66"/>
          </a:solidFill>
          <a:ln w="28575" algn="ctr">
            <a:solidFill>
              <a:srgbClr val="6600FF"/>
            </a:solidFill>
            <a:miter lim="800000"/>
          </a:ln>
          <a:effectLst>
            <a:outerShdw blurRad="50800" dist="38100" dir="2700000" algn="tl" rotWithShape="0">
              <a:prstClr val="black">
                <a:alpha val="40000"/>
              </a:prstClr>
            </a:outerShdw>
          </a:effectLst>
        </p:spPr>
        <p:txBody>
          <a:bodyPr lIns="72000" rIns="72000" anchor="ctr"/>
          <a:lstStyle/>
          <a:p>
            <a:r>
              <a:rPr lang="zh-CN" altLang="zh-CN" sz="1400" dirty="0">
                <a:latin typeface="微软雅黑" panose="020B0503020204020204" pitchFamily="34" charset="-122"/>
                <a:ea typeface="微软雅黑" panose="020B0503020204020204" pitchFamily="34" charset="-122"/>
              </a:rPr>
              <a:t>在时钟脉冲及输入信号的作用下，电路的状态、输出随时间变化的波形图</a:t>
            </a:r>
            <a:r>
              <a:rPr lang="zh-CN" altLang="en-US"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14:prism dir="r"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1000"/>
                                        <p:tgtEl>
                                          <p:spTgt spid="13"/>
                                        </p:tgtEl>
                                      </p:cBhvr>
                                    </p:animEffect>
                                    <p:anim calcmode="lin" valueType="num">
                                      <p:cBhvr>
                                        <p:cTn id="14" dur="1000" fill="hold"/>
                                        <p:tgtEl>
                                          <p:spTgt spid="13"/>
                                        </p:tgtEl>
                                        <p:attrNameLst>
                                          <p:attrName>ppt_x</p:attrName>
                                        </p:attrNameLst>
                                      </p:cBhvr>
                                      <p:tavLst>
                                        <p:tav tm="0">
                                          <p:val>
                                            <p:strVal val="#ppt_x"/>
                                          </p:val>
                                        </p:tav>
                                        <p:tav tm="100000">
                                          <p:val>
                                            <p:strVal val="#ppt_x"/>
                                          </p:val>
                                        </p:tav>
                                      </p:tavLst>
                                    </p:anim>
                                    <p:anim calcmode="lin" valueType="num">
                                      <p:cBhvr>
                                        <p:cTn id="1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left)">
                                      <p:cBhvr>
                                        <p:cTn id="27" dur="10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10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wipe(left)">
                                      <p:cBhvr>
                                        <p:cTn id="37" dur="10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wipe(left)">
                                      <p:cBhvr>
                                        <p:cTn id="42"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30" grpId="0" animBg="1"/>
      <p:bldP spid="3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01090" y="1824567"/>
            <a:ext cx="6713220" cy="2072333"/>
            <a:chOff x="1101090" y="1824567"/>
            <a:chExt cx="6713220" cy="2072333"/>
          </a:xfrm>
        </p:grpSpPr>
        <p:grpSp>
          <p:nvGrpSpPr>
            <p:cNvPr id="17" name="组合 16"/>
            <p:cNvGrpSpPr/>
            <p:nvPr/>
          </p:nvGrpSpPr>
          <p:grpSpPr>
            <a:xfrm>
              <a:off x="1101090" y="1824567"/>
              <a:ext cx="1371600" cy="760000"/>
              <a:chOff x="910590" y="1565910"/>
              <a:chExt cx="1371600" cy="684000"/>
            </a:xfrm>
          </p:grpSpPr>
          <p:grpSp>
            <p:nvGrpSpPr>
              <p:cNvPr id="18" name="组合 17"/>
              <p:cNvGrpSpPr/>
              <p:nvPr/>
            </p:nvGrpSpPr>
            <p:grpSpPr>
              <a:xfrm>
                <a:off x="910590" y="1699260"/>
                <a:ext cx="1371600" cy="99060"/>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19" name="组合 18"/>
              <p:cNvGrpSpPr/>
              <p:nvPr/>
            </p:nvGrpSpPr>
            <p:grpSpPr>
              <a:xfrm rot="5400000">
                <a:off x="728610" y="1866000"/>
                <a:ext cx="684000" cy="83820"/>
                <a:chOff x="910590" y="1699260"/>
                <a:chExt cx="1371600" cy="99060"/>
              </a:xfrm>
            </p:grpSpPr>
            <p:cxnSp>
              <p:nvCxnSpPr>
                <p:cNvPr id="20" name="直接连接符 1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24" name="组合 23"/>
            <p:cNvGrpSpPr/>
            <p:nvPr/>
          </p:nvGrpSpPr>
          <p:grpSpPr>
            <a:xfrm rot="10800000">
              <a:off x="6442710" y="3136900"/>
              <a:ext cx="1371600" cy="760000"/>
              <a:chOff x="910590" y="1565910"/>
              <a:chExt cx="1371600" cy="684000"/>
            </a:xfrm>
          </p:grpSpPr>
          <p:grpSp>
            <p:nvGrpSpPr>
              <p:cNvPr id="26" name="组合 35"/>
              <p:cNvGrpSpPr/>
              <p:nvPr/>
            </p:nvGrpSpPr>
            <p:grpSpPr>
              <a:xfrm>
                <a:off x="910590" y="1699260"/>
                <a:ext cx="1371600" cy="99060"/>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7" name="组合 36"/>
              <p:cNvGrpSpPr/>
              <p:nvPr/>
            </p:nvGrpSpPr>
            <p:grpSpPr>
              <a:xfrm rot="5400000">
                <a:off x="728610" y="1866000"/>
                <a:ext cx="684000" cy="83820"/>
                <a:chOff x="910590" y="1699260"/>
                <a:chExt cx="1371600" cy="99060"/>
              </a:xfrm>
            </p:grpSpPr>
            <p:cxnSp>
              <p:nvCxnSpPr>
                <p:cNvPr id="28" name="直接连接符 2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0" name="直接连接符 2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33" name="文本框 6"/>
            <p:cNvSpPr txBox="1"/>
            <p:nvPr/>
          </p:nvSpPr>
          <p:spPr>
            <a:xfrm>
              <a:off x="1393721" y="2085460"/>
              <a:ext cx="6150077" cy="708592"/>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6</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时序逻辑电路</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
          <p:nvSpPr>
            <p:cNvPr id="34" name="矩形 33"/>
            <p:cNvSpPr/>
            <p:nvPr/>
          </p:nvSpPr>
          <p:spPr>
            <a:xfrm>
              <a:off x="1942339" y="2825404"/>
              <a:ext cx="4800590" cy="923330"/>
            </a:xfrm>
            <a:prstGeom prst="rect">
              <a:avLst/>
            </a:prstGeom>
          </p:spPr>
          <p:txBody>
            <a:bodyPr wrap="square">
              <a:spAutoFit/>
            </a:bodyPr>
            <a:lstStyle/>
            <a:p>
              <a:pPr algn="ctr">
                <a:spcBef>
                  <a:spcPts val="1200"/>
                </a:spcBef>
              </a:pPr>
              <a:r>
                <a:rPr lang="en-US" altLang="zh-CN"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6.2   </a:t>
              </a:r>
              <a:r>
                <a:rPr lang="zh-CN" altLang="en-US"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时序逻辑电路分析</a:t>
              </a:r>
              <a:endParaRPr lang="en-US" altLang="zh-CN"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spcBef>
                  <a:spcPts val="1200"/>
                </a:spcBef>
              </a:pPr>
              <a:r>
                <a:rPr lang="zh-CN" altLang="en-US" sz="20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a:t>
              </a:r>
              <a:r>
                <a:rPr lang="en-US" altLang="zh-CN" sz="20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1</a:t>
              </a:r>
              <a:r>
                <a:rPr lang="zh-CN" altLang="en-US" sz="20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a:t>
              </a:r>
              <a:r>
                <a:rPr lang="en-US" altLang="zh-CN" sz="20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20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同步时序逻辑电路分析</a:t>
              </a:r>
              <a:endParaRPr lang="zh-CN" altLang="en-US" sz="20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392432" y="943591"/>
            <a:ext cx="4653026" cy="420971"/>
            <a:chOff x="670560" y="892917"/>
            <a:chExt cx="4653026" cy="420971"/>
          </a:xfrm>
        </p:grpSpPr>
        <p:sp>
          <p:nvSpPr>
            <p:cNvPr id="22" name="矩形 21"/>
            <p:cNvSpPr/>
            <p:nvPr/>
          </p:nvSpPr>
          <p:spPr>
            <a:xfrm>
              <a:off x="1035233" y="913778"/>
              <a:ext cx="4288353"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同步时序逻辑电路分析的目的与步骤</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3"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 name="组合 1"/>
          <p:cNvGrpSpPr/>
          <p:nvPr/>
        </p:nvGrpSpPr>
        <p:grpSpPr>
          <a:xfrm>
            <a:off x="647700" y="1833568"/>
            <a:ext cx="7620001" cy="652762"/>
            <a:chOff x="647700" y="1833568"/>
            <a:chExt cx="7620001" cy="652762"/>
          </a:xfrm>
        </p:grpSpPr>
        <p:sp>
          <p:nvSpPr>
            <p:cNvPr id="18" name="燕尾形 17"/>
            <p:cNvSpPr/>
            <p:nvPr/>
          </p:nvSpPr>
          <p:spPr>
            <a:xfrm>
              <a:off x="1633537" y="1833568"/>
              <a:ext cx="6634164" cy="648000"/>
            </a:xfrm>
            <a:prstGeom prst="chevron">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700" dirty="0">
                  <a:solidFill>
                    <a:schemeClr val="tx1"/>
                  </a:solidFill>
                  <a:latin typeface="黑体" panose="02010609060101010101" pitchFamily="49" charset="-122"/>
                  <a:ea typeface="黑体" panose="02010609060101010101" pitchFamily="49" charset="-122"/>
                </a:rPr>
                <a:t>分析给定时序电路的</a:t>
              </a:r>
              <a:r>
                <a:rPr lang="zh-CN" altLang="en-US" sz="1700" dirty="0">
                  <a:solidFill>
                    <a:srgbClr val="FF00FF"/>
                  </a:solidFill>
                  <a:latin typeface="黑体" panose="02010609060101010101" pitchFamily="49" charset="-122"/>
                  <a:ea typeface="黑体" panose="02010609060101010101" pitchFamily="49" charset="-122"/>
                </a:rPr>
                <a:t>状态和输出信号在输入变量和时钟作用下的转换规律</a:t>
              </a:r>
              <a:r>
                <a:rPr lang="zh-CN" altLang="en-US" sz="1700" dirty="0">
                  <a:solidFill>
                    <a:schemeClr val="tx1"/>
                  </a:solidFill>
                  <a:latin typeface="黑体" panose="02010609060101010101" pitchFamily="49" charset="-122"/>
                  <a:ea typeface="黑体" panose="02010609060101010101" pitchFamily="49" charset="-122"/>
                </a:rPr>
                <a:t>，从而确定其逻辑功能及工作特性。</a:t>
              </a:r>
              <a:endParaRPr lang="zh-CN" altLang="en-US" sz="1700" dirty="0">
                <a:solidFill>
                  <a:schemeClr val="tx1"/>
                </a:solidFill>
              </a:endParaRPr>
            </a:p>
          </p:txBody>
        </p:sp>
        <p:grpSp>
          <p:nvGrpSpPr>
            <p:cNvPr id="25" name="组合 24"/>
            <p:cNvGrpSpPr/>
            <p:nvPr/>
          </p:nvGrpSpPr>
          <p:grpSpPr>
            <a:xfrm>
              <a:off x="647700" y="1838330"/>
              <a:ext cx="1220063" cy="648000"/>
              <a:chOff x="647700" y="1785937"/>
              <a:chExt cx="1220063" cy="648000"/>
            </a:xfrm>
          </p:grpSpPr>
          <p:sp>
            <p:nvSpPr>
              <p:cNvPr id="30" name="五边形 29"/>
              <p:cNvSpPr/>
              <p:nvPr/>
            </p:nvSpPr>
            <p:spPr>
              <a:xfrm>
                <a:off x="647700" y="1785937"/>
                <a:ext cx="1220063" cy="648000"/>
              </a:xfrm>
              <a:prstGeom prst="homePlat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b="1" dirty="0">
                    <a:solidFill>
                      <a:srgbClr val="0000FF"/>
                    </a:solidFill>
                    <a:latin typeface="微软雅黑" panose="020B0503020204020204" pitchFamily="34" charset="-122"/>
                    <a:ea typeface="微软雅黑" panose="020B0503020204020204" pitchFamily="34" charset="-122"/>
                  </a:rPr>
                  <a:t>目</a:t>
                </a:r>
                <a:endParaRPr lang="en-US" altLang="zh-CN" b="1" dirty="0">
                  <a:solidFill>
                    <a:srgbClr val="0000FF"/>
                  </a:solidFill>
                  <a:latin typeface="微软雅黑" panose="020B0503020204020204" pitchFamily="34" charset="-122"/>
                  <a:ea typeface="微软雅黑" panose="020B0503020204020204" pitchFamily="34" charset="-122"/>
                </a:endParaRPr>
              </a:p>
              <a:p>
                <a:pPr algn="r"/>
                <a:r>
                  <a:rPr lang="zh-CN" altLang="en-US" b="1" dirty="0">
                    <a:solidFill>
                      <a:srgbClr val="0000FF"/>
                    </a:solidFill>
                    <a:latin typeface="微软雅黑" panose="020B0503020204020204" pitchFamily="34" charset="-122"/>
                    <a:ea typeface="微软雅黑" panose="020B0503020204020204" pitchFamily="34" charset="-122"/>
                  </a:rPr>
                  <a:t>的</a:t>
                </a:r>
                <a:endParaRPr lang="zh-CN" altLang="en-US" b="1" dirty="0">
                  <a:solidFill>
                    <a:srgbClr val="0000FF"/>
                  </a:solidFill>
                </a:endParaRPr>
              </a:p>
            </p:txBody>
          </p:sp>
          <p:pic>
            <p:nvPicPr>
              <p:cNvPr id="37" name="Picture 1"/>
              <p:cNvPicPr>
                <a:picLocks noChangeAspect="1" noChangeArrowheads="1"/>
              </p:cNvPicPr>
              <p:nvPr/>
            </p:nvPicPr>
            <p:blipFill>
              <a:blip r:embed="rId2" cstate="print"/>
              <a:srcRect/>
              <a:stretch>
                <a:fillRect/>
              </a:stretch>
            </p:blipFill>
            <p:spPr bwMode="auto">
              <a:xfrm>
                <a:off x="685824" y="1809754"/>
                <a:ext cx="633386" cy="590548"/>
              </a:xfrm>
              <a:prstGeom prst="rect">
                <a:avLst/>
              </a:prstGeom>
              <a:noFill/>
              <a:ln w="9525">
                <a:noFill/>
                <a:miter lim="800000"/>
                <a:headEnd/>
                <a:tailEnd/>
              </a:ln>
            </p:spPr>
          </p:pic>
        </p:grpSp>
      </p:grpSp>
      <p:grpSp>
        <p:nvGrpSpPr>
          <p:cNvPr id="15" name="组合 14"/>
          <p:cNvGrpSpPr/>
          <p:nvPr/>
        </p:nvGrpSpPr>
        <p:grpSpPr>
          <a:xfrm>
            <a:off x="619125" y="2850456"/>
            <a:ext cx="7625715" cy="2207337"/>
            <a:chOff x="619125" y="2850456"/>
            <a:chExt cx="7625715" cy="2207337"/>
          </a:xfrm>
        </p:grpSpPr>
        <p:grpSp>
          <p:nvGrpSpPr>
            <p:cNvPr id="38" name="组合 37"/>
            <p:cNvGrpSpPr/>
            <p:nvPr/>
          </p:nvGrpSpPr>
          <p:grpSpPr>
            <a:xfrm>
              <a:off x="619125" y="3481359"/>
              <a:ext cx="1220063" cy="648000"/>
              <a:chOff x="652463" y="2557463"/>
              <a:chExt cx="1220063" cy="648000"/>
            </a:xfrm>
          </p:grpSpPr>
          <p:sp>
            <p:nvSpPr>
              <p:cNvPr id="39" name="五边形 38"/>
              <p:cNvSpPr/>
              <p:nvPr/>
            </p:nvSpPr>
            <p:spPr>
              <a:xfrm>
                <a:off x="652463" y="2557463"/>
                <a:ext cx="1220063" cy="648000"/>
              </a:xfrm>
              <a:prstGeom prst="homePlat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b="1" dirty="0">
                    <a:solidFill>
                      <a:srgbClr val="0000FF"/>
                    </a:solidFill>
                    <a:latin typeface="微软雅黑" panose="020B0503020204020204" pitchFamily="34" charset="-122"/>
                    <a:ea typeface="微软雅黑" panose="020B0503020204020204" pitchFamily="34" charset="-122"/>
                  </a:rPr>
                  <a:t>步</a:t>
                </a:r>
                <a:endParaRPr lang="en-US" altLang="zh-CN" b="1" dirty="0">
                  <a:solidFill>
                    <a:srgbClr val="0000FF"/>
                  </a:solidFill>
                  <a:latin typeface="微软雅黑" panose="020B0503020204020204" pitchFamily="34" charset="-122"/>
                  <a:ea typeface="微软雅黑" panose="020B0503020204020204" pitchFamily="34" charset="-122"/>
                </a:endParaRPr>
              </a:p>
              <a:p>
                <a:pPr algn="r"/>
                <a:r>
                  <a:rPr lang="zh-CN" altLang="en-US" b="1" dirty="0">
                    <a:solidFill>
                      <a:srgbClr val="0000FF"/>
                    </a:solidFill>
                    <a:latin typeface="微软雅黑" panose="020B0503020204020204" pitchFamily="34" charset="-122"/>
                    <a:ea typeface="微软雅黑" panose="020B0503020204020204" pitchFamily="34" charset="-122"/>
                  </a:rPr>
                  <a:t>骤</a:t>
                </a:r>
                <a:endParaRPr lang="zh-CN" altLang="en-US" b="1" dirty="0">
                  <a:solidFill>
                    <a:srgbClr val="0000FF"/>
                  </a:solidFill>
                  <a:latin typeface="微软雅黑" panose="020B0503020204020204" pitchFamily="34" charset="-122"/>
                  <a:ea typeface="微软雅黑" panose="020B0503020204020204" pitchFamily="34" charset="-122"/>
                </a:endParaRPr>
              </a:p>
            </p:txBody>
          </p:sp>
          <p:pic>
            <p:nvPicPr>
              <p:cNvPr id="40" name="Picture 4"/>
              <p:cNvPicPr>
                <a:picLocks noChangeAspect="1" noChangeArrowheads="1"/>
              </p:cNvPicPr>
              <p:nvPr/>
            </p:nvPicPr>
            <p:blipFill>
              <a:blip r:embed="rId3" cstate="print"/>
              <a:srcRect/>
              <a:stretch>
                <a:fillRect/>
              </a:stretch>
            </p:blipFill>
            <p:spPr bwMode="auto">
              <a:xfrm>
                <a:off x="714378" y="2581272"/>
                <a:ext cx="573639" cy="581025"/>
              </a:xfrm>
              <a:prstGeom prst="rect">
                <a:avLst/>
              </a:prstGeom>
              <a:noFill/>
              <a:ln w="9525">
                <a:noFill/>
                <a:miter lim="800000"/>
                <a:headEnd/>
                <a:tailEnd/>
              </a:ln>
            </p:spPr>
          </p:pic>
        </p:grpSp>
        <p:sp>
          <p:nvSpPr>
            <p:cNvPr id="42" name="五边形 41"/>
            <p:cNvSpPr/>
            <p:nvPr/>
          </p:nvSpPr>
          <p:spPr>
            <a:xfrm>
              <a:off x="2518377" y="2850456"/>
              <a:ext cx="5726463" cy="386057"/>
            </a:xfrm>
            <a:prstGeom prst="homePlat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、写逻辑方程组（输出方程、激励方程和状态方程）</a:t>
              </a:r>
              <a:endParaRPr lang="zh-CN" altLang="en-US" dirty="0">
                <a:latin typeface="黑体" panose="02010609060101010101" pitchFamily="49" charset="-122"/>
                <a:ea typeface="黑体" panose="02010609060101010101" pitchFamily="49" charset="-122"/>
              </a:endParaRPr>
            </a:p>
          </p:txBody>
        </p:sp>
        <p:sp>
          <p:nvSpPr>
            <p:cNvPr id="44" name="五边形 43"/>
            <p:cNvSpPr/>
            <p:nvPr/>
          </p:nvSpPr>
          <p:spPr>
            <a:xfrm>
              <a:off x="2518377" y="3305776"/>
              <a:ext cx="5726463" cy="386057"/>
            </a:xfrm>
            <a:prstGeom prst="homePlat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solidFill>
                    <a:srgbClr val="6600FF"/>
                  </a:solidFill>
                  <a:latin typeface="黑体" panose="02010609060101010101" pitchFamily="49" charset="-122"/>
                  <a:ea typeface="黑体" panose="02010609060101010101" pitchFamily="49" charset="-122"/>
                </a:rPr>
                <a:t>2</a:t>
              </a:r>
              <a:r>
                <a:rPr lang="zh-CN" altLang="en-US" dirty="0">
                  <a:solidFill>
                    <a:srgbClr val="6600FF"/>
                  </a:solidFill>
                  <a:latin typeface="黑体" panose="02010609060101010101" pitchFamily="49" charset="-122"/>
                  <a:ea typeface="黑体" panose="02010609060101010101" pitchFamily="49" charset="-122"/>
                </a:rPr>
                <a:t>、由状态方程和输出方程列出状态转换真值表</a:t>
              </a:r>
              <a:endParaRPr lang="zh-CN" altLang="en-US" dirty="0">
                <a:solidFill>
                  <a:srgbClr val="6600FF"/>
                </a:solidFill>
                <a:latin typeface="黑体" panose="02010609060101010101" pitchFamily="49" charset="-122"/>
                <a:ea typeface="黑体" panose="02010609060101010101" pitchFamily="49" charset="-122"/>
              </a:endParaRPr>
            </a:p>
          </p:txBody>
        </p:sp>
        <p:sp>
          <p:nvSpPr>
            <p:cNvPr id="45" name="五边形 44"/>
            <p:cNvSpPr/>
            <p:nvPr/>
          </p:nvSpPr>
          <p:spPr>
            <a:xfrm>
              <a:off x="2518377" y="3761096"/>
              <a:ext cx="5726463" cy="386057"/>
            </a:xfrm>
            <a:prstGeom prst="homePlate">
              <a:avLst/>
            </a:prstGeom>
            <a:solidFill>
              <a:srgbClr val="3366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latin typeface="黑体" panose="02010609060101010101" pitchFamily="49" charset="-122"/>
                  <a:ea typeface="黑体" panose="02010609060101010101" pitchFamily="49" charset="-122"/>
                </a:rPr>
                <a:t>3</a:t>
              </a:r>
              <a:r>
                <a:rPr lang="zh-CN" altLang="en-US" dirty="0">
                  <a:latin typeface="黑体" panose="02010609060101010101" pitchFamily="49" charset="-122"/>
                  <a:ea typeface="黑体" panose="02010609060101010101" pitchFamily="49" charset="-122"/>
                </a:rPr>
                <a:t>、根据状态表，画出电路的状态转换图</a:t>
              </a:r>
              <a:endParaRPr lang="zh-CN" altLang="en-US" dirty="0">
                <a:latin typeface="黑体" panose="02010609060101010101" pitchFamily="49" charset="-122"/>
                <a:ea typeface="黑体" panose="02010609060101010101" pitchFamily="49" charset="-122"/>
              </a:endParaRPr>
            </a:p>
          </p:txBody>
        </p:sp>
        <p:sp>
          <p:nvSpPr>
            <p:cNvPr id="46" name="五边形 45"/>
            <p:cNvSpPr/>
            <p:nvPr/>
          </p:nvSpPr>
          <p:spPr>
            <a:xfrm>
              <a:off x="2518376" y="4671736"/>
              <a:ext cx="5726463" cy="386057"/>
            </a:xfrm>
            <a:prstGeom prst="homePlate">
              <a:avLst/>
            </a:prstGeom>
            <a:solidFill>
              <a:srgbClr val="66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solidFill>
                    <a:schemeClr val="tx1"/>
                  </a:solidFill>
                  <a:latin typeface="黑体" panose="02010609060101010101" pitchFamily="49" charset="-122"/>
                  <a:ea typeface="黑体" panose="02010609060101010101" pitchFamily="49" charset="-122"/>
                </a:rPr>
                <a:t>5</a:t>
              </a:r>
              <a:r>
                <a:rPr lang="zh-CN" altLang="en-US" dirty="0">
                  <a:solidFill>
                    <a:schemeClr val="tx1"/>
                  </a:solidFill>
                  <a:latin typeface="黑体" panose="02010609060101010101" pitchFamily="49" charset="-122"/>
                  <a:ea typeface="黑体" panose="02010609060101010101" pitchFamily="49" charset="-122"/>
                </a:rPr>
                <a:t>、通过电路的状态转换规律描述电路的逻辑功能</a:t>
              </a:r>
              <a:endParaRPr lang="zh-CN" altLang="en-US" dirty="0">
                <a:solidFill>
                  <a:schemeClr val="tx1"/>
                </a:solidFill>
                <a:latin typeface="黑体" panose="02010609060101010101" pitchFamily="49" charset="-122"/>
                <a:ea typeface="黑体" panose="02010609060101010101" pitchFamily="49" charset="-122"/>
              </a:endParaRPr>
            </a:p>
          </p:txBody>
        </p:sp>
        <p:cxnSp>
          <p:nvCxnSpPr>
            <p:cNvPr id="5" name="直接连接符 4"/>
            <p:cNvCxnSpPr>
              <a:stCxn id="39" idx="3"/>
              <a:endCxn id="42" idx="1"/>
            </p:cNvCxnSpPr>
            <p:nvPr/>
          </p:nvCxnSpPr>
          <p:spPr>
            <a:xfrm flipV="1">
              <a:off x="1839188" y="3043485"/>
              <a:ext cx="679189" cy="761874"/>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stCxn id="39" idx="3"/>
              <a:endCxn id="46" idx="1"/>
            </p:cNvCxnSpPr>
            <p:nvPr/>
          </p:nvCxnSpPr>
          <p:spPr>
            <a:xfrm>
              <a:off x="1839188" y="3805359"/>
              <a:ext cx="679188" cy="1059406"/>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32" name="五边形 43"/>
            <p:cNvSpPr/>
            <p:nvPr/>
          </p:nvSpPr>
          <p:spPr>
            <a:xfrm>
              <a:off x="2518375" y="4216416"/>
              <a:ext cx="5726463" cy="386057"/>
            </a:xfrm>
            <a:prstGeom prst="homePlat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solidFill>
                    <a:srgbClr val="6600FF"/>
                  </a:solidFill>
                  <a:latin typeface="黑体" panose="02010609060101010101" pitchFamily="49" charset="-122"/>
                  <a:ea typeface="黑体" panose="02010609060101010101" pitchFamily="49" charset="-122"/>
                </a:rPr>
                <a:t>4</a:t>
              </a:r>
              <a:r>
                <a:rPr lang="zh-CN" altLang="en-US" dirty="0">
                  <a:solidFill>
                    <a:srgbClr val="6600FF"/>
                  </a:solidFill>
                  <a:latin typeface="黑体" panose="02010609060101010101" pitchFamily="49" charset="-122"/>
                  <a:ea typeface="黑体" panose="02010609060101010101" pitchFamily="49" charset="-122"/>
                </a:rPr>
                <a:t>、根据时钟信号和输入信号画出时序波形图</a:t>
              </a:r>
              <a:endParaRPr lang="zh-CN" altLang="en-US" dirty="0">
                <a:solidFill>
                  <a:srgbClr val="6600FF"/>
                </a:solidFill>
                <a:latin typeface="黑体" panose="02010609060101010101" pitchFamily="49" charset="-122"/>
                <a:ea typeface="黑体" panose="02010609060101010101"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7" presetClass="entr" presetSubtype="8"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1000" fill="hold"/>
                                        <p:tgtEl>
                                          <p:spTgt spid="2"/>
                                        </p:tgtEl>
                                        <p:attrNameLst>
                                          <p:attrName>ppt_x</p:attrName>
                                        </p:attrNameLst>
                                      </p:cBhvr>
                                      <p:tavLst>
                                        <p:tav tm="0">
                                          <p:val>
                                            <p:strVal val="#ppt_x-#ppt_w/2"/>
                                          </p:val>
                                        </p:tav>
                                        <p:tav tm="100000">
                                          <p:val>
                                            <p:strVal val="#ppt_x"/>
                                          </p:val>
                                        </p:tav>
                                      </p:tavLst>
                                    </p:anim>
                                    <p:anim calcmode="lin" valueType="num">
                                      <p:cBhvr>
                                        <p:cTn id="14" dur="1000" fill="hold"/>
                                        <p:tgtEl>
                                          <p:spTgt spid="2"/>
                                        </p:tgtEl>
                                        <p:attrNameLst>
                                          <p:attrName>ppt_y</p:attrName>
                                        </p:attrNameLst>
                                      </p:cBhvr>
                                      <p:tavLst>
                                        <p:tav tm="0">
                                          <p:val>
                                            <p:strVal val="#ppt_y"/>
                                          </p:val>
                                        </p:tav>
                                        <p:tav tm="100000">
                                          <p:val>
                                            <p:strVal val="#ppt_y"/>
                                          </p:val>
                                        </p:tav>
                                      </p:tavLst>
                                    </p:anim>
                                    <p:anim calcmode="lin" valueType="num">
                                      <p:cBhvr>
                                        <p:cTn id="15" dur="1000" fill="hold"/>
                                        <p:tgtEl>
                                          <p:spTgt spid="2"/>
                                        </p:tgtEl>
                                        <p:attrNameLst>
                                          <p:attrName>ppt_w</p:attrName>
                                        </p:attrNameLst>
                                      </p:cBhvr>
                                      <p:tavLst>
                                        <p:tav tm="0">
                                          <p:val>
                                            <p:fltVal val="0"/>
                                          </p:val>
                                        </p:tav>
                                        <p:tav tm="100000">
                                          <p:val>
                                            <p:strVal val="#ppt_w"/>
                                          </p:val>
                                        </p:tav>
                                      </p:tavLst>
                                    </p:anim>
                                    <p:anim calcmode="lin" valueType="num">
                                      <p:cBhvr>
                                        <p:cTn id="16" dur="1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7" presetClass="entr" presetSubtype="8"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p:cTn id="21" dur="1000" fill="hold"/>
                                        <p:tgtEl>
                                          <p:spTgt spid="15"/>
                                        </p:tgtEl>
                                        <p:attrNameLst>
                                          <p:attrName>ppt_x</p:attrName>
                                        </p:attrNameLst>
                                      </p:cBhvr>
                                      <p:tavLst>
                                        <p:tav tm="0">
                                          <p:val>
                                            <p:strVal val="#ppt_x-#ppt_w/2"/>
                                          </p:val>
                                        </p:tav>
                                        <p:tav tm="100000">
                                          <p:val>
                                            <p:strVal val="#ppt_x"/>
                                          </p:val>
                                        </p:tav>
                                      </p:tavLst>
                                    </p:anim>
                                    <p:anim calcmode="lin" valueType="num">
                                      <p:cBhvr>
                                        <p:cTn id="22" dur="1000" fill="hold"/>
                                        <p:tgtEl>
                                          <p:spTgt spid="15"/>
                                        </p:tgtEl>
                                        <p:attrNameLst>
                                          <p:attrName>ppt_y</p:attrName>
                                        </p:attrNameLst>
                                      </p:cBhvr>
                                      <p:tavLst>
                                        <p:tav tm="0">
                                          <p:val>
                                            <p:strVal val="#ppt_y"/>
                                          </p:val>
                                        </p:tav>
                                        <p:tav tm="100000">
                                          <p:val>
                                            <p:strVal val="#ppt_y"/>
                                          </p:val>
                                        </p:tav>
                                      </p:tavLst>
                                    </p:anim>
                                    <p:anim calcmode="lin" valueType="num">
                                      <p:cBhvr>
                                        <p:cTn id="23" dur="1000" fill="hold"/>
                                        <p:tgtEl>
                                          <p:spTgt spid="15"/>
                                        </p:tgtEl>
                                        <p:attrNameLst>
                                          <p:attrName>ppt_w</p:attrName>
                                        </p:attrNameLst>
                                      </p:cBhvr>
                                      <p:tavLst>
                                        <p:tav tm="0">
                                          <p:val>
                                            <p:fltVal val="0"/>
                                          </p:val>
                                        </p:tav>
                                        <p:tav tm="100000">
                                          <p:val>
                                            <p:strVal val="#ppt_w"/>
                                          </p:val>
                                        </p:tav>
                                      </p:tavLst>
                                    </p:anim>
                                    <p:anim calcmode="lin" valueType="num">
                                      <p:cBhvr>
                                        <p:cTn id="24" dur="1000" fill="hold"/>
                                        <p:tgtEl>
                                          <p:spTgt spid="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945556" y="1851851"/>
            <a:ext cx="5146807" cy="1942909"/>
            <a:chOff x="1945556" y="1851851"/>
            <a:chExt cx="5146807" cy="1942909"/>
          </a:xfrm>
        </p:grpSpPr>
        <p:sp>
          <p:nvSpPr>
            <p:cNvPr id="79" name="圆角矩形 78"/>
            <p:cNvSpPr/>
            <p:nvPr/>
          </p:nvSpPr>
          <p:spPr>
            <a:xfrm>
              <a:off x="1945557" y="1851851"/>
              <a:ext cx="5146806" cy="1942909"/>
            </a:xfrm>
            <a:prstGeom prst="roundRect">
              <a:avLst>
                <a:gd name="adj" fmla="val 536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414" name="图片 35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45556" y="1975200"/>
              <a:ext cx="5146807" cy="1677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0" name="组合 69"/>
          <p:cNvGrpSpPr/>
          <p:nvPr/>
        </p:nvGrpSpPr>
        <p:grpSpPr>
          <a:xfrm>
            <a:off x="392432" y="778617"/>
            <a:ext cx="3388258" cy="411055"/>
            <a:chOff x="670560" y="892917"/>
            <a:chExt cx="3388258" cy="411055"/>
          </a:xfrm>
        </p:grpSpPr>
        <p:sp>
          <p:nvSpPr>
            <p:cNvPr id="71" name="矩形 70"/>
            <p:cNvSpPr/>
            <p:nvPr/>
          </p:nvSpPr>
          <p:spPr>
            <a:xfrm>
              <a:off x="1035233" y="913778"/>
              <a:ext cx="3023585" cy="369332"/>
            </a:xfrm>
            <a:prstGeom prst="rect">
              <a:avLst/>
            </a:prstGeom>
          </p:spPr>
          <p:txBody>
            <a:bodyPr wrap="none">
              <a:spAutoFit/>
            </a:bodyPr>
            <a:lstStyle/>
            <a:p>
              <a:r>
                <a:rPr lang="zh-CN" altLang="en-US" b="1" dirty="0">
                  <a:solidFill>
                    <a:srgbClr val="002060"/>
                  </a:solidFill>
                  <a:latin typeface="微软雅黑" panose="020B0503020204020204" pitchFamily="34" charset="-122"/>
                  <a:ea typeface="微软雅黑" panose="020B0503020204020204" pitchFamily="34" charset="-122"/>
                </a:rPr>
                <a:t>同步时序逻辑电路分析实例 </a:t>
              </a:r>
              <a:endParaRPr lang="zh-CN" altLang="en-US" b="1" dirty="0">
                <a:solidFill>
                  <a:srgbClr val="002060"/>
                </a:solidFill>
                <a:latin typeface="微软雅黑" panose="020B0503020204020204" pitchFamily="34" charset="-122"/>
                <a:ea typeface="微软雅黑" panose="020B0503020204020204" pitchFamily="34" charset="-122"/>
              </a:endParaRPr>
            </a:p>
          </p:txBody>
        </p:sp>
        <p:pic>
          <p:nvPicPr>
            <p:cNvPr id="75"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33" name="组合 32"/>
          <p:cNvGrpSpPr/>
          <p:nvPr/>
        </p:nvGrpSpPr>
        <p:grpSpPr>
          <a:xfrm>
            <a:off x="392432" y="1293865"/>
            <a:ext cx="3537818" cy="374630"/>
            <a:chOff x="369777" y="1347760"/>
            <a:chExt cx="3537818" cy="374630"/>
          </a:xfrm>
        </p:grpSpPr>
        <p:sp>
          <p:nvSpPr>
            <p:cNvPr id="36" name="TextBox 35"/>
            <p:cNvSpPr txBox="1"/>
            <p:nvPr/>
          </p:nvSpPr>
          <p:spPr>
            <a:xfrm>
              <a:off x="723710" y="1350409"/>
              <a:ext cx="3183885" cy="338554"/>
            </a:xfrm>
            <a:prstGeom prst="rect">
              <a:avLst/>
            </a:prstGeom>
            <a:noFill/>
          </p:spPr>
          <p:txBody>
            <a:bodyPr wrap="none" rtlCol="0">
              <a:spAutoFit/>
            </a:bodyPr>
            <a:lstStyle/>
            <a:p>
              <a:r>
                <a:rPr lang="zh-CN" altLang="en-US" sz="1600" b="1" dirty="0">
                  <a:solidFill>
                    <a:srgbClr val="CC00CC"/>
                  </a:solidFill>
                  <a:latin typeface="黑体" panose="02010609060101010101" pitchFamily="49" charset="-122"/>
                  <a:ea typeface="黑体" panose="02010609060101010101" pitchFamily="49" charset="-122"/>
                </a:rPr>
                <a:t>例</a:t>
              </a:r>
              <a:r>
                <a:rPr lang="en-US" altLang="zh-CN" sz="1600" b="1" dirty="0">
                  <a:solidFill>
                    <a:srgbClr val="CC00CC"/>
                  </a:solidFill>
                  <a:latin typeface="黑体" panose="02010609060101010101" pitchFamily="49" charset="-122"/>
                  <a:ea typeface="黑体" panose="02010609060101010101" pitchFamily="49" charset="-122"/>
                </a:rPr>
                <a:t>1</a:t>
              </a:r>
              <a:r>
                <a:rPr lang="zh-CN" altLang="en-US" sz="1600" b="1" dirty="0">
                  <a:solidFill>
                    <a:srgbClr val="CC00CC"/>
                  </a:solidFill>
                  <a:latin typeface="黑体" panose="02010609060101010101" pitchFamily="49" charset="-122"/>
                  <a:ea typeface="黑体" panose="02010609060101010101" pitchFamily="49" charset="-122"/>
                </a:rPr>
                <a:t>：</a:t>
              </a:r>
              <a:r>
                <a:rPr lang="zh-CN" altLang="en-US" sz="1600" b="1" dirty="0">
                  <a:solidFill>
                    <a:srgbClr val="6600FF"/>
                  </a:solidFill>
                  <a:latin typeface="黑体" panose="02010609060101010101" pitchFamily="49" charset="-122"/>
                  <a:ea typeface="黑体" panose="02010609060101010101" pitchFamily="49" charset="-122"/>
                </a:rPr>
                <a:t>分析图示同步时序逻辑电路</a:t>
              </a:r>
              <a:endParaRPr lang="zh-CN" altLang="en-US" sz="1600" b="1" dirty="0">
                <a:solidFill>
                  <a:srgbClr val="6600FF"/>
                </a:solidFill>
                <a:latin typeface="黑体" panose="02010609060101010101" pitchFamily="49" charset="-122"/>
                <a:ea typeface="黑体" panose="02010609060101010101" pitchFamily="49" charset="-122"/>
              </a:endParaRPr>
            </a:p>
          </p:txBody>
        </p:sp>
        <p:pic>
          <p:nvPicPr>
            <p:cNvPr id="37" name="Picture 4"/>
            <p:cNvPicPr>
              <a:picLocks noChangeAspect="1" noChangeArrowheads="1"/>
            </p:cNvPicPr>
            <p:nvPr/>
          </p:nvPicPr>
          <p:blipFill>
            <a:blip r:embed="rId3"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24" name="组合 23"/>
          <p:cNvGrpSpPr/>
          <p:nvPr/>
        </p:nvGrpSpPr>
        <p:grpSpPr>
          <a:xfrm>
            <a:off x="3414342" y="2457188"/>
            <a:ext cx="2572771" cy="792001"/>
            <a:chOff x="-509663" y="2703734"/>
            <a:chExt cx="2572771" cy="792001"/>
          </a:xfrm>
        </p:grpSpPr>
        <p:sp>
          <p:nvSpPr>
            <p:cNvPr id="38" name="矩形 37"/>
            <p:cNvSpPr/>
            <p:nvPr/>
          </p:nvSpPr>
          <p:spPr>
            <a:xfrm>
              <a:off x="-509663" y="2703735"/>
              <a:ext cx="594385" cy="792000"/>
            </a:xfrm>
            <a:prstGeom prst="rect">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1468723" y="2703734"/>
              <a:ext cx="594385" cy="792000"/>
            </a:xfrm>
            <a:prstGeom prst="rect">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7" name="圆角矩形 76"/>
          <p:cNvSpPr/>
          <p:nvPr/>
        </p:nvSpPr>
        <p:spPr>
          <a:xfrm>
            <a:off x="1945556" y="4033541"/>
            <a:ext cx="5146807" cy="793898"/>
          </a:xfrm>
          <a:prstGeom prst="roundRect">
            <a:avLst/>
          </a:prstGeom>
          <a:solidFill>
            <a:srgbClr val="FFFF00"/>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电路是由两个上升沿触发的</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触发器构成的包含一个输入</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和一个输出</a:t>
            </a:r>
            <a:r>
              <a:rPr lang="en-US"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的同步时序电路。</a:t>
            </a:r>
            <a:endPar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 name="组合 3"/>
          <p:cNvGrpSpPr/>
          <p:nvPr/>
        </p:nvGrpSpPr>
        <p:grpSpPr>
          <a:xfrm>
            <a:off x="2307934" y="2970635"/>
            <a:ext cx="3068369" cy="581168"/>
            <a:chOff x="2307934" y="2970635"/>
            <a:chExt cx="3068369" cy="581168"/>
          </a:xfrm>
        </p:grpSpPr>
        <p:grpSp>
          <p:nvGrpSpPr>
            <p:cNvPr id="62" name="组合 61"/>
            <p:cNvGrpSpPr/>
            <p:nvPr/>
          </p:nvGrpSpPr>
          <p:grpSpPr>
            <a:xfrm>
              <a:off x="2307934" y="2970635"/>
              <a:ext cx="3068369" cy="566529"/>
              <a:chOff x="-1644267" y="3127341"/>
              <a:chExt cx="3068369" cy="566529"/>
            </a:xfrm>
          </p:grpSpPr>
          <p:cxnSp>
            <p:nvCxnSpPr>
              <p:cNvPr id="41" name="直接连接符 40"/>
              <p:cNvCxnSpPr/>
              <p:nvPr/>
            </p:nvCxnSpPr>
            <p:spPr>
              <a:xfrm rot="16200000">
                <a:off x="-1097916" y="3397341"/>
                <a:ext cx="540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1644267" y="3693870"/>
                <a:ext cx="2772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843156" y="3134372"/>
                <a:ext cx="324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136102" y="3142798"/>
                <a:ext cx="288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cxnSp>
          <p:nvCxnSpPr>
            <p:cNvPr id="29" name="直接连接符 28"/>
            <p:cNvCxnSpPr/>
            <p:nvPr/>
          </p:nvCxnSpPr>
          <p:spPr>
            <a:xfrm rot="16200000">
              <a:off x="4800303" y="3263803"/>
              <a:ext cx="576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2893561" y="2031113"/>
            <a:ext cx="3733728" cy="870321"/>
            <a:chOff x="2893561" y="2031113"/>
            <a:chExt cx="3733728" cy="870321"/>
          </a:xfrm>
        </p:grpSpPr>
        <p:grpSp>
          <p:nvGrpSpPr>
            <p:cNvPr id="23" name="组合 22"/>
            <p:cNvGrpSpPr/>
            <p:nvPr/>
          </p:nvGrpSpPr>
          <p:grpSpPr>
            <a:xfrm>
              <a:off x="2893561" y="2437666"/>
              <a:ext cx="1815940" cy="463768"/>
              <a:chOff x="1168899" y="4164261"/>
              <a:chExt cx="1815940" cy="463768"/>
            </a:xfrm>
          </p:grpSpPr>
          <p:sp>
            <p:nvSpPr>
              <p:cNvPr id="21" name="矩形 20"/>
              <p:cNvSpPr/>
              <p:nvPr/>
            </p:nvSpPr>
            <p:spPr>
              <a:xfrm>
                <a:off x="2732839" y="4268029"/>
                <a:ext cx="252000" cy="360000"/>
              </a:xfrm>
              <a:prstGeom prst="rect">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矩形 21"/>
              <p:cNvSpPr/>
              <p:nvPr/>
            </p:nvSpPr>
            <p:spPr>
              <a:xfrm>
                <a:off x="1168899" y="4164261"/>
                <a:ext cx="258466" cy="396000"/>
              </a:xfrm>
              <a:prstGeom prst="rect">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矩形 30"/>
            <p:cNvSpPr/>
            <p:nvPr/>
          </p:nvSpPr>
          <p:spPr>
            <a:xfrm>
              <a:off x="4870195" y="2440711"/>
              <a:ext cx="252000" cy="360000"/>
            </a:xfrm>
            <a:prstGeom prst="rect">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矩形 33"/>
            <p:cNvSpPr/>
            <p:nvPr/>
          </p:nvSpPr>
          <p:spPr>
            <a:xfrm>
              <a:off x="6375289" y="2031113"/>
              <a:ext cx="252000" cy="360000"/>
            </a:xfrm>
            <a:prstGeom prst="rect">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3" name="椭圆 2"/>
          <p:cNvSpPr/>
          <p:nvPr/>
        </p:nvSpPr>
        <p:spPr>
          <a:xfrm>
            <a:off x="5953565" y="2418883"/>
            <a:ext cx="307427" cy="216783"/>
          </a:xfrm>
          <a:prstGeom prst="ellipse">
            <a:avLst/>
          </a:prstGeom>
          <a:solidFill>
            <a:srgbClr val="FFFF0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5104516" y="2395581"/>
            <a:ext cx="307427" cy="216783"/>
          </a:xfrm>
          <a:prstGeom prst="ellipse">
            <a:avLst/>
          </a:prstGeom>
          <a:solidFill>
            <a:srgbClr val="FFFF0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4019778" y="2403928"/>
            <a:ext cx="307427" cy="216783"/>
          </a:xfrm>
          <a:prstGeom prst="ellipse">
            <a:avLst/>
          </a:prstGeom>
          <a:solidFill>
            <a:srgbClr val="FFFF0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3128609" y="2397761"/>
            <a:ext cx="307427" cy="216783"/>
          </a:xfrm>
          <a:prstGeom prst="ellipse">
            <a:avLst/>
          </a:prstGeom>
          <a:solidFill>
            <a:srgbClr val="FFFF0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3534311" y="3227280"/>
            <a:ext cx="372428" cy="198592"/>
          </a:xfrm>
          <a:prstGeom prst="ellipse">
            <a:avLst/>
          </a:prstGeom>
          <a:solidFill>
            <a:srgbClr val="FFFF0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5500301" y="3236796"/>
            <a:ext cx="372428" cy="198592"/>
          </a:xfrm>
          <a:prstGeom prst="ellipse">
            <a:avLst/>
          </a:prstGeom>
          <a:solidFill>
            <a:srgbClr val="FFFF0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1000"/>
                                        <p:tgtEl>
                                          <p:spTgt spid="70"/>
                                        </p:tgtEl>
                                      </p:cBhvr>
                                    </p:animEffect>
                                    <p:anim calcmode="lin" valueType="num">
                                      <p:cBhvr>
                                        <p:cTn id="8" dur="1000" fill="hold"/>
                                        <p:tgtEl>
                                          <p:spTgt spid="70"/>
                                        </p:tgtEl>
                                        <p:attrNameLst>
                                          <p:attrName>ppt_x</p:attrName>
                                        </p:attrNameLst>
                                      </p:cBhvr>
                                      <p:tavLst>
                                        <p:tav tm="0">
                                          <p:val>
                                            <p:strVal val="#ppt_x"/>
                                          </p:val>
                                        </p:tav>
                                        <p:tav tm="100000">
                                          <p:val>
                                            <p:strVal val="#ppt_x"/>
                                          </p:val>
                                        </p:tav>
                                      </p:tavLst>
                                    </p:anim>
                                    <p:anim calcmode="lin" valueType="num">
                                      <p:cBhvr>
                                        <p:cTn id="9" dur="1000" fill="hold"/>
                                        <p:tgtEl>
                                          <p:spTgt spid="7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1000" fill="hold"/>
                                        <p:tgtEl>
                                          <p:spTgt spid="5"/>
                                        </p:tgtEl>
                                        <p:attrNameLst>
                                          <p:attrName>ppt_w</p:attrName>
                                        </p:attrNameLst>
                                      </p:cBhvr>
                                      <p:tavLst>
                                        <p:tav tm="0">
                                          <p:val>
                                            <p:fltVal val="0"/>
                                          </p:val>
                                        </p:tav>
                                        <p:tav tm="100000">
                                          <p:val>
                                            <p:strVal val="#ppt_w"/>
                                          </p:val>
                                        </p:tav>
                                      </p:tavLst>
                                    </p:anim>
                                    <p:anim calcmode="lin" valueType="num">
                                      <p:cBhvr>
                                        <p:cTn id="25" dur="1000" fill="hold"/>
                                        <p:tgtEl>
                                          <p:spTgt spid="5"/>
                                        </p:tgtEl>
                                        <p:attrNameLst>
                                          <p:attrName>ppt_h</p:attrName>
                                        </p:attrNameLst>
                                      </p:cBhvr>
                                      <p:tavLst>
                                        <p:tav tm="0">
                                          <p:val>
                                            <p:fltVal val="0"/>
                                          </p:val>
                                        </p:tav>
                                        <p:tav tm="100000">
                                          <p:val>
                                            <p:strVal val="#ppt_h"/>
                                          </p:val>
                                        </p:tav>
                                      </p:tavLst>
                                    </p:anim>
                                    <p:animEffect transition="in" filter="fade">
                                      <p:cBhvr>
                                        <p:cTn id="26" dur="1000"/>
                                        <p:tgtEl>
                                          <p:spTgt spid="5"/>
                                        </p:tgtEl>
                                      </p:cBhvr>
                                    </p:animEffect>
                                  </p:childTnLst>
                                </p:cTn>
                              </p:par>
                            </p:childTnLst>
                          </p:cTn>
                        </p:par>
                        <p:par>
                          <p:cTn id="27" fill="hold">
                            <p:stCondLst>
                              <p:cond delay="1000"/>
                            </p:stCondLst>
                            <p:childTnLst>
                              <p:par>
                                <p:cTn id="28" presetID="53" presetClass="entr" presetSubtype="16" fill="hold" nodeType="afterEffect">
                                  <p:stCondLst>
                                    <p:cond delay="0"/>
                                  </p:stCondLst>
                                  <p:childTnLst>
                                    <p:set>
                                      <p:cBhvr>
                                        <p:cTn id="29" dur="1" fill="hold">
                                          <p:stCondLst>
                                            <p:cond delay="0"/>
                                          </p:stCondLst>
                                        </p:cTn>
                                        <p:tgtEl>
                                          <p:spTgt spid="24"/>
                                        </p:tgtEl>
                                        <p:attrNameLst>
                                          <p:attrName>style.visibility</p:attrName>
                                        </p:attrNameLst>
                                      </p:cBhvr>
                                      <p:to>
                                        <p:strVal val="visible"/>
                                      </p:to>
                                    </p:set>
                                    <p:anim calcmode="lin" valueType="num">
                                      <p:cBhvr>
                                        <p:cTn id="30" dur="1000" fill="hold"/>
                                        <p:tgtEl>
                                          <p:spTgt spid="24"/>
                                        </p:tgtEl>
                                        <p:attrNameLst>
                                          <p:attrName>ppt_w</p:attrName>
                                        </p:attrNameLst>
                                      </p:cBhvr>
                                      <p:tavLst>
                                        <p:tav tm="0">
                                          <p:val>
                                            <p:fltVal val="0"/>
                                          </p:val>
                                        </p:tav>
                                        <p:tav tm="100000">
                                          <p:val>
                                            <p:strVal val="#ppt_w"/>
                                          </p:val>
                                        </p:tav>
                                      </p:tavLst>
                                    </p:anim>
                                    <p:anim calcmode="lin" valueType="num">
                                      <p:cBhvr>
                                        <p:cTn id="31" dur="1000" fill="hold"/>
                                        <p:tgtEl>
                                          <p:spTgt spid="24"/>
                                        </p:tgtEl>
                                        <p:attrNameLst>
                                          <p:attrName>ppt_h</p:attrName>
                                        </p:attrNameLst>
                                      </p:cBhvr>
                                      <p:tavLst>
                                        <p:tav tm="0">
                                          <p:val>
                                            <p:fltVal val="0"/>
                                          </p:val>
                                        </p:tav>
                                        <p:tav tm="100000">
                                          <p:val>
                                            <p:strVal val="#ppt_h"/>
                                          </p:val>
                                        </p:tav>
                                      </p:tavLst>
                                    </p:anim>
                                    <p:animEffect transition="in" filter="fade">
                                      <p:cBhvr>
                                        <p:cTn id="32" dur="1000"/>
                                        <p:tgtEl>
                                          <p:spTgt spid="24"/>
                                        </p:tgtEl>
                                      </p:cBhvr>
                                    </p:animEffect>
                                  </p:childTnLst>
                                </p:cTn>
                              </p:par>
                            </p:childTnLst>
                          </p:cTn>
                        </p:par>
                        <p:par>
                          <p:cTn id="33" fill="hold">
                            <p:stCondLst>
                              <p:cond delay="2000"/>
                            </p:stCondLst>
                            <p:childTnLst>
                              <p:par>
                                <p:cTn id="34" presetID="42" presetClass="entr" presetSubtype="0" fill="hold" grpId="0" nodeType="afterEffect">
                                  <p:stCondLst>
                                    <p:cond delay="0"/>
                                  </p:stCondLst>
                                  <p:childTnLst>
                                    <p:set>
                                      <p:cBhvr>
                                        <p:cTn id="35" dur="1" fill="hold">
                                          <p:stCondLst>
                                            <p:cond delay="0"/>
                                          </p:stCondLst>
                                        </p:cTn>
                                        <p:tgtEl>
                                          <p:spTgt spid="77"/>
                                        </p:tgtEl>
                                        <p:attrNameLst>
                                          <p:attrName>style.visibility</p:attrName>
                                        </p:attrNameLst>
                                      </p:cBhvr>
                                      <p:to>
                                        <p:strVal val="visible"/>
                                      </p:to>
                                    </p:set>
                                    <p:animEffect transition="in" filter="fade">
                                      <p:cBhvr>
                                        <p:cTn id="36" dur="1000"/>
                                        <p:tgtEl>
                                          <p:spTgt spid="77"/>
                                        </p:tgtEl>
                                      </p:cBhvr>
                                    </p:animEffect>
                                    <p:anim calcmode="lin" valueType="num">
                                      <p:cBhvr>
                                        <p:cTn id="37" dur="1000" fill="hold"/>
                                        <p:tgtEl>
                                          <p:spTgt spid="77"/>
                                        </p:tgtEl>
                                        <p:attrNameLst>
                                          <p:attrName>ppt_x</p:attrName>
                                        </p:attrNameLst>
                                      </p:cBhvr>
                                      <p:tavLst>
                                        <p:tav tm="0">
                                          <p:val>
                                            <p:strVal val="#ppt_x"/>
                                          </p:val>
                                        </p:tav>
                                        <p:tav tm="100000">
                                          <p:val>
                                            <p:strVal val="#ppt_x"/>
                                          </p:val>
                                        </p:tav>
                                      </p:tavLst>
                                    </p:anim>
                                    <p:anim calcmode="lin" valueType="num">
                                      <p:cBhvr>
                                        <p:cTn id="38" dur="1000" fill="hold"/>
                                        <p:tgtEl>
                                          <p:spTgt spid="77"/>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p:cTn id="43" dur="1000" fill="hold"/>
                                        <p:tgtEl>
                                          <p:spTgt spid="4"/>
                                        </p:tgtEl>
                                        <p:attrNameLst>
                                          <p:attrName>ppt_w</p:attrName>
                                        </p:attrNameLst>
                                      </p:cBhvr>
                                      <p:tavLst>
                                        <p:tav tm="0">
                                          <p:val>
                                            <p:fltVal val="0"/>
                                          </p:val>
                                        </p:tav>
                                        <p:tav tm="100000">
                                          <p:val>
                                            <p:strVal val="#ppt_w"/>
                                          </p:val>
                                        </p:tav>
                                      </p:tavLst>
                                    </p:anim>
                                    <p:anim calcmode="lin" valueType="num">
                                      <p:cBhvr>
                                        <p:cTn id="44" dur="1000" fill="hold"/>
                                        <p:tgtEl>
                                          <p:spTgt spid="4"/>
                                        </p:tgtEl>
                                        <p:attrNameLst>
                                          <p:attrName>ppt_h</p:attrName>
                                        </p:attrNameLst>
                                      </p:cBhvr>
                                      <p:tavLst>
                                        <p:tav tm="0">
                                          <p:val>
                                            <p:fltVal val="0"/>
                                          </p:val>
                                        </p:tav>
                                        <p:tav tm="100000">
                                          <p:val>
                                            <p:strVal val="#ppt_h"/>
                                          </p:val>
                                        </p:tav>
                                      </p:tavLst>
                                    </p:anim>
                                    <p:animEffect transition="in" filter="fade">
                                      <p:cBhvr>
                                        <p:cTn id="45" dur="1000"/>
                                        <p:tgtEl>
                                          <p:spTgt spid="4"/>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39"/>
                                        </p:tgtEl>
                                        <p:attrNameLst>
                                          <p:attrName>style.visibility</p:attrName>
                                        </p:attrNameLst>
                                      </p:cBhvr>
                                      <p:to>
                                        <p:strVal val="visible"/>
                                      </p:to>
                                    </p:set>
                                    <p:anim calcmode="lin" valueType="num">
                                      <p:cBhvr>
                                        <p:cTn id="50" dur="1000" fill="hold"/>
                                        <p:tgtEl>
                                          <p:spTgt spid="39"/>
                                        </p:tgtEl>
                                        <p:attrNameLst>
                                          <p:attrName>ppt_w</p:attrName>
                                        </p:attrNameLst>
                                      </p:cBhvr>
                                      <p:tavLst>
                                        <p:tav tm="0">
                                          <p:val>
                                            <p:fltVal val="0"/>
                                          </p:val>
                                        </p:tav>
                                        <p:tav tm="100000">
                                          <p:val>
                                            <p:strVal val="#ppt_w"/>
                                          </p:val>
                                        </p:tav>
                                      </p:tavLst>
                                    </p:anim>
                                    <p:anim calcmode="lin" valueType="num">
                                      <p:cBhvr>
                                        <p:cTn id="51" dur="1000" fill="hold"/>
                                        <p:tgtEl>
                                          <p:spTgt spid="39"/>
                                        </p:tgtEl>
                                        <p:attrNameLst>
                                          <p:attrName>ppt_h</p:attrName>
                                        </p:attrNameLst>
                                      </p:cBhvr>
                                      <p:tavLst>
                                        <p:tav tm="0">
                                          <p:val>
                                            <p:fltVal val="0"/>
                                          </p:val>
                                        </p:tav>
                                        <p:tav tm="100000">
                                          <p:val>
                                            <p:strVal val="#ppt_h"/>
                                          </p:val>
                                        </p:tav>
                                      </p:tavLst>
                                    </p:anim>
                                    <p:animEffect transition="in" filter="fade">
                                      <p:cBhvr>
                                        <p:cTn id="52" dur="1000"/>
                                        <p:tgtEl>
                                          <p:spTgt spid="39"/>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42"/>
                                        </p:tgtEl>
                                        <p:attrNameLst>
                                          <p:attrName>style.visibility</p:attrName>
                                        </p:attrNameLst>
                                      </p:cBhvr>
                                      <p:to>
                                        <p:strVal val="visible"/>
                                      </p:to>
                                    </p:set>
                                    <p:anim calcmode="lin" valueType="num">
                                      <p:cBhvr>
                                        <p:cTn id="55" dur="1000" fill="hold"/>
                                        <p:tgtEl>
                                          <p:spTgt spid="42"/>
                                        </p:tgtEl>
                                        <p:attrNameLst>
                                          <p:attrName>ppt_w</p:attrName>
                                        </p:attrNameLst>
                                      </p:cBhvr>
                                      <p:tavLst>
                                        <p:tav tm="0">
                                          <p:val>
                                            <p:fltVal val="0"/>
                                          </p:val>
                                        </p:tav>
                                        <p:tav tm="100000">
                                          <p:val>
                                            <p:strVal val="#ppt_w"/>
                                          </p:val>
                                        </p:tav>
                                      </p:tavLst>
                                    </p:anim>
                                    <p:anim calcmode="lin" valueType="num">
                                      <p:cBhvr>
                                        <p:cTn id="56" dur="1000" fill="hold"/>
                                        <p:tgtEl>
                                          <p:spTgt spid="42"/>
                                        </p:tgtEl>
                                        <p:attrNameLst>
                                          <p:attrName>ppt_h</p:attrName>
                                        </p:attrNameLst>
                                      </p:cBhvr>
                                      <p:tavLst>
                                        <p:tav tm="0">
                                          <p:val>
                                            <p:fltVal val="0"/>
                                          </p:val>
                                        </p:tav>
                                        <p:tav tm="100000">
                                          <p:val>
                                            <p:strVal val="#ppt_h"/>
                                          </p:val>
                                        </p:tav>
                                      </p:tavLst>
                                    </p:anim>
                                    <p:animEffect transition="in" filter="fade">
                                      <p:cBhvr>
                                        <p:cTn id="57" dur="1000"/>
                                        <p:tgtEl>
                                          <p:spTgt spid="42"/>
                                        </p:tgtEl>
                                      </p:cBhvr>
                                    </p:animEffect>
                                  </p:childTnLst>
                                </p:cTn>
                              </p:par>
                            </p:childTnLst>
                          </p:cTn>
                        </p:par>
                        <p:par>
                          <p:cTn id="58" fill="hold">
                            <p:stCondLst>
                              <p:cond delay="1000"/>
                            </p:stCondLst>
                            <p:childTnLst>
                              <p:par>
                                <p:cTn id="59" presetID="53" presetClass="entr" presetSubtype="16" fill="hold" grpId="0" nodeType="afterEffect">
                                  <p:stCondLst>
                                    <p:cond delay="0"/>
                                  </p:stCondLst>
                                  <p:childTnLst>
                                    <p:set>
                                      <p:cBhvr>
                                        <p:cTn id="60" dur="1" fill="hold">
                                          <p:stCondLst>
                                            <p:cond delay="0"/>
                                          </p:stCondLst>
                                        </p:cTn>
                                        <p:tgtEl>
                                          <p:spTgt spid="35"/>
                                        </p:tgtEl>
                                        <p:attrNameLst>
                                          <p:attrName>style.visibility</p:attrName>
                                        </p:attrNameLst>
                                      </p:cBhvr>
                                      <p:to>
                                        <p:strVal val="visible"/>
                                      </p:to>
                                    </p:set>
                                    <p:anim calcmode="lin" valueType="num">
                                      <p:cBhvr>
                                        <p:cTn id="61" dur="1000" fill="hold"/>
                                        <p:tgtEl>
                                          <p:spTgt spid="35"/>
                                        </p:tgtEl>
                                        <p:attrNameLst>
                                          <p:attrName>ppt_w</p:attrName>
                                        </p:attrNameLst>
                                      </p:cBhvr>
                                      <p:tavLst>
                                        <p:tav tm="0">
                                          <p:val>
                                            <p:fltVal val="0"/>
                                          </p:val>
                                        </p:tav>
                                        <p:tav tm="100000">
                                          <p:val>
                                            <p:strVal val="#ppt_w"/>
                                          </p:val>
                                        </p:tav>
                                      </p:tavLst>
                                    </p:anim>
                                    <p:anim calcmode="lin" valueType="num">
                                      <p:cBhvr>
                                        <p:cTn id="62" dur="1000" fill="hold"/>
                                        <p:tgtEl>
                                          <p:spTgt spid="35"/>
                                        </p:tgtEl>
                                        <p:attrNameLst>
                                          <p:attrName>ppt_h</p:attrName>
                                        </p:attrNameLst>
                                      </p:cBhvr>
                                      <p:tavLst>
                                        <p:tav tm="0">
                                          <p:val>
                                            <p:fltVal val="0"/>
                                          </p:val>
                                        </p:tav>
                                        <p:tav tm="100000">
                                          <p:val>
                                            <p:strVal val="#ppt_h"/>
                                          </p:val>
                                        </p:tav>
                                      </p:tavLst>
                                    </p:anim>
                                    <p:animEffect transition="in" filter="fade">
                                      <p:cBhvr>
                                        <p:cTn id="63" dur="1000"/>
                                        <p:tgtEl>
                                          <p:spTgt spid="35"/>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32"/>
                                        </p:tgtEl>
                                        <p:attrNameLst>
                                          <p:attrName>style.visibility</p:attrName>
                                        </p:attrNameLst>
                                      </p:cBhvr>
                                      <p:to>
                                        <p:strVal val="visible"/>
                                      </p:to>
                                    </p:set>
                                    <p:anim calcmode="lin" valueType="num">
                                      <p:cBhvr>
                                        <p:cTn id="66" dur="1000" fill="hold"/>
                                        <p:tgtEl>
                                          <p:spTgt spid="32"/>
                                        </p:tgtEl>
                                        <p:attrNameLst>
                                          <p:attrName>ppt_w</p:attrName>
                                        </p:attrNameLst>
                                      </p:cBhvr>
                                      <p:tavLst>
                                        <p:tav tm="0">
                                          <p:val>
                                            <p:fltVal val="0"/>
                                          </p:val>
                                        </p:tav>
                                        <p:tav tm="100000">
                                          <p:val>
                                            <p:strVal val="#ppt_w"/>
                                          </p:val>
                                        </p:tav>
                                      </p:tavLst>
                                    </p:anim>
                                    <p:anim calcmode="lin" valueType="num">
                                      <p:cBhvr>
                                        <p:cTn id="67" dur="1000" fill="hold"/>
                                        <p:tgtEl>
                                          <p:spTgt spid="32"/>
                                        </p:tgtEl>
                                        <p:attrNameLst>
                                          <p:attrName>ppt_h</p:attrName>
                                        </p:attrNameLst>
                                      </p:cBhvr>
                                      <p:tavLst>
                                        <p:tav tm="0">
                                          <p:val>
                                            <p:fltVal val="0"/>
                                          </p:val>
                                        </p:tav>
                                        <p:tav tm="100000">
                                          <p:val>
                                            <p:strVal val="#ppt_h"/>
                                          </p:val>
                                        </p:tav>
                                      </p:tavLst>
                                    </p:anim>
                                    <p:animEffect transition="in" filter="fade">
                                      <p:cBhvr>
                                        <p:cTn id="68" dur="1000"/>
                                        <p:tgtEl>
                                          <p:spTgt spid="32"/>
                                        </p:tgtEl>
                                      </p:cBhvr>
                                    </p:animEffect>
                                  </p:childTnLst>
                                </p:cTn>
                              </p:par>
                            </p:childTnLst>
                          </p:cTn>
                        </p:par>
                        <p:par>
                          <p:cTn id="69" fill="hold">
                            <p:stCondLst>
                              <p:cond delay="2000"/>
                            </p:stCondLst>
                            <p:childTnLst>
                              <p:par>
                                <p:cTn id="70" presetID="53" presetClass="entr" presetSubtype="16" fill="hold" grpId="0" nodeType="afterEffect">
                                  <p:stCondLst>
                                    <p:cond delay="0"/>
                                  </p:stCondLst>
                                  <p:childTnLst>
                                    <p:set>
                                      <p:cBhvr>
                                        <p:cTn id="71" dur="1" fill="hold">
                                          <p:stCondLst>
                                            <p:cond delay="0"/>
                                          </p:stCondLst>
                                        </p:cTn>
                                        <p:tgtEl>
                                          <p:spTgt spid="30"/>
                                        </p:tgtEl>
                                        <p:attrNameLst>
                                          <p:attrName>style.visibility</p:attrName>
                                        </p:attrNameLst>
                                      </p:cBhvr>
                                      <p:to>
                                        <p:strVal val="visible"/>
                                      </p:to>
                                    </p:set>
                                    <p:anim calcmode="lin" valueType="num">
                                      <p:cBhvr>
                                        <p:cTn id="72" dur="1000" fill="hold"/>
                                        <p:tgtEl>
                                          <p:spTgt spid="30"/>
                                        </p:tgtEl>
                                        <p:attrNameLst>
                                          <p:attrName>ppt_w</p:attrName>
                                        </p:attrNameLst>
                                      </p:cBhvr>
                                      <p:tavLst>
                                        <p:tav tm="0">
                                          <p:val>
                                            <p:fltVal val="0"/>
                                          </p:val>
                                        </p:tav>
                                        <p:tav tm="100000">
                                          <p:val>
                                            <p:strVal val="#ppt_w"/>
                                          </p:val>
                                        </p:tav>
                                      </p:tavLst>
                                    </p:anim>
                                    <p:anim calcmode="lin" valueType="num">
                                      <p:cBhvr>
                                        <p:cTn id="73" dur="1000" fill="hold"/>
                                        <p:tgtEl>
                                          <p:spTgt spid="30"/>
                                        </p:tgtEl>
                                        <p:attrNameLst>
                                          <p:attrName>ppt_h</p:attrName>
                                        </p:attrNameLst>
                                      </p:cBhvr>
                                      <p:tavLst>
                                        <p:tav tm="0">
                                          <p:val>
                                            <p:fltVal val="0"/>
                                          </p:val>
                                        </p:tav>
                                        <p:tav tm="100000">
                                          <p:val>
                                            <p:strVal val="#ppt_h"/>
                                          </p:val>
                                        </p:tav>
                                      </p:tavLst>
                                    </p:anim>
                                    <p:animEffect transition="in" filter="fade">
                                      <p:cBhvr>
                                        <p:cTn id="74" dur="1000"/>
                                        <p:tgtEl>
                                          <p:spTgt spid="30"/>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3"/>
                                        </p:tgtEl>
                                        <p:attrNameLst>
                                          <p:attrName>style.visibility</p:attrName>
                                        </p:attrNameLst>
                                      </p:cBhvr>
                                      <p:to>
                                        <p:strVal val="visible"/>
                                      </p:to>
                                    </p:set>
                                    <p:anim calcmode="lin" valueType="num">
                                      <p:cBhvr>
                                        <p:cTn id="77" dur="1000" fill="hold"/>
                                        <p:tgtEl>
                                          <p:spTgt spid="3"/>
                                        </p:tgtEl>
                                        <p:attrNameLst>
                                          <p:attrName>ppt_w</p:attrName>
                                        </p:attrNameLst>
                                      </p:cBhvr>
                                      <p:tavLst>
                                        <p:tav tm="0">
                                          <p:val>
                                            <p:fltVal val="0"/>
                                          </p:val>
                                        </p:tav>
                                        <p:tav tm="100000">
                                          <p:val>
                                            <p:strVal val="#ppt_w"/>
                                          </p:val>
                                        </p:tav>
                                      </p:tavLst>
                                    </p:anim>
                                    <p:anim calcmode="lin" valueType="num">
                                      <p:cBhvr>
                                        <p:cTn id="78" dur="1000" fill="hold"/>
                                        <p:tgtEl>
                                          <p:spTgt spid="3"/>
                                        </p:tgtEl>
                                        <p:attrNameLst>
                                          <p:attrName>ppt_h</p:attrName>
                                        </p:attrNameLst>
                                      </p:cBhvr>
                                      <p:tavLst>
                                        <p:tav tm="0">
                                          <p:val>
                                            <p:fltVal val="0"/>
                                          </p:val>
                                        </p:tav>
                                        <p:tav tm="100000">
                                          <p:val>
                                            <p:strVal val="#ppt_h"/>
                                          </p:val>
                                        </p:tav>
                                      </p:tavLst>
                                    </p:anim>
                                    <p:animEffect transition="in" filter="fade">
                                      <p:cBhvr>
                                        <p:cTn id="7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3" grpId="0" animBg="1"/>
      <p:bldP spid="30" grpId="0" animBg="1"/>
      <p:bldP spid="32" grpId="0" animBg="1"/>
      <p:bldP spid="35" grpId="0" animBg="1"/>
      <p:bldP spid="39" grpId="0" animBg="1"/>
      <p:bldP spid="4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 name="组合 88"/>
          <p:cNvGrpSpPr/>
          <p:nvPr/>
        </p:nvGrpSpPr>
        <p:grpSpPr>
          <a:xfrm>
            <a:off x="392432" y="778617"/>
            <a:ext cx="3072466" cy="411055"/>
            <a:chOff x="670560" y="892917"/>
            <a:chExt cx="3072466" cy="411055"/>
          </a:xfrm>
        </p:grpSpPr>
        <p:sp>
          <p:nvSpPr>
            <p:cNvPr id="97" name="矩形 96"/>
            <p:cNvSpPr/>
            <p:nvPr/>
          </p:nvSpPr>
          <p:spPr>
            <a:xfrm>
              <a:off x="1035233" y="913778"/>
              <a:ext cx="2707793" cy="338554"/>
            </a:xfrm>
            <a:prstGeom prst="rect">
              <a:avLst/>
            </a:prstGeom>
          </p:spPr>
          <p:txBody>
            <a:bodyPr wrap="none">
              <a:spAutoFit/>
            </a:bodyPr>
            <a:lstStyle/>
            <a:p>
              <a:r>
                <a:rPr lang="zh-CN" altLang="en-US" sz="1600" b="1" dirty="0">
                  <a:solidFill>
                    <a:srgbClr val="002060"/>
                  </a:solidFill>
                  <a:latin typeface="微软雅黑" panose="020B0503020204020204" pitchFamily="34" charset="-122"/>
                  <a:ea typeface="微软雅黑" panose="020B0503020204020204" pitchFamily="34" charset="-122"/>
                </a:rPr>
                <a:t>同步时序逻辑电路分析实例 </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pic>
          <p:nvPicPr>
            <p:cNvPr id="11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155" name="组合 154"/>
          <p:cNvGrpSpPr/>
          <p:nvPr/>
        </p:nvGrpSpPr>
        <p:grpSpPr>
          <a:xfrm>
            <a:off x="451719" y="1792609"/>
            <a:ext cx="1760616" cy="338554"/>
            <a:chOff x="4731375" y="1650857"/>
            <a:chExt cx="1760616" cy="338554"/>
          </a:xfrm>
        </p:grpSpPr>
        <p:sp>
          <p:nvSpPr>
            <p:cNvPr id="153" name="矩形 152"/>
            <p:cNvSpPr/>
            <p:nvPr/>
          </p:nvSpPr>
          <p:spPr>
            <a:xfrm>
              <a:off x="5076219" y="1650857"/>
              <a:ext cx="1415772"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写逻辑方程组</a:t>
              </a:r>
              <a:endParaRPr lang="zh-CN" altLang="en-US" sz="1600" dirty="0"/>
            </a:p>
          </p:txBody>
        </p:sp>
        <p:pic>
          <p:nvPicPr>
            <p:cNvPr id="154" name="Picture 5"/>
            <p:cNvPicPr>
              <a:picLocks noChangeAspect="1" noChangeArrowheads="1"/>
            </p:cNvPicPr>
            <p:nvPr/>
          </p:nvPicPr>
          <p:blipFill>
            <a:blip r:embed="rId2" cstate="print"/>
            <a:srcRect/>
            <a:stretch>
              <a:fillRect/>
            </a:stretch>
          </p:blipFill>
          <p:spPr bwMode="auto">
            <a:xfrm>
              <a:off x="4731375" y="1677030"/>
              <a:ext cx="360000" cy="286209"/>
            </a:xfrm>
            <a:prstGeom prst="rect">
              <a:avLst/>
            </a:prstGeom>
            <a:noFill/>
            <a:ln w="9525">
              <a:noFill/>
              <a:miter lim="800000"/>
              <a:headEnd/>
              <a:tailEnd/>
            </a:ln>
          </p:spPr>
        </p:pic>
      </p:grpSp>
      <p:grpSp>
        <p:nvGrpSpPr>
          <p:cNvPr id="2" name="组合 1"/>
          <p:cNvGrpSpPr/>
          <p:nvPr/>
        </p:nvGrpSpPr>
        <p:grpSpPr>
          <a:xfrm>
            <a:off x="4472933" y="697971"/>
            <a:ext cx="4516120" cy="1769460"/>
            <a:chOff x="3781976" y="1703257"/>
            <a:chExt cx="5146807" cy="1942909"/>
          </a:xfrm>
        </p:grpSpPr>
        <p:sp>
          <p:nvSpPr>
            <p:cNvPr id="53" name="圆角矩形 78"/>
            <p:cNvSpPr/>
            <p:nvPr/>
          </p:nvSpPr>
          <p:spPr>
            <a:xfrm>
              <a:off x="3781977" y="1703257"/>
              <a:ext cx="5146806" cy="1942909"/>
            </a:xfrm>
            <a:prstGeom prst="roundRect">
              <a:avLst>
                <a:gd name="adj" fmla="val 536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5" name="图片 3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1976" y="1826606"/>
              <a:ext cx="5146807" cy="1677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4" name="组合 73"/>
          <p:cNvGrpSpPr/>
          <p:nvPr/>
        </p:nvGrpSpPr>
        <p:grpSpPr>
          <a:xfrm>
            <a:off x="392432" y="1293865"/>
            <a:ext cx="3537818" cy="374630"/>
            <a:chOff x="369777" y="1347760"/>
            <a:chExt cx="3537818" cy="374630"/>
          </a:xfrm>
        </p:grpSpPr>
        <p:sp>
          <p:nvSpPr>
            <p:cNvPr id="75" name="TextBox 35"/>
            <p:cNvSpPr txBox="1"/>
            <p:nvPr/>
          </p:nvSpPr>
          <p:spPr>
            <a:xfrm>
              <a:off x="723710" y="1350409"/>
              <a:ext cx="3183885" cy="338554"/>
            </a:xfrm>
            <a:prstGeom prst="rect">
              <a:avLst/>
            </a:prstGeom>
            <a:noFill/>
          </p:spPr>
          <p:txBody>
            <a:bodyPr wrap="none" rtlCol="0">
              <a:spAutoFit/>
            </a:bodyPr>
            <a:lstStyle/>
            <a:p>
              <a:r>
                <a:rPr lang="zh-CN" altLang="en-US" sz="1600" b="1" dirty="0">
                  <a:solidFill>
                    <a:srgbClr val="CC00CC"/>
                  </a:solidFill>
                  <a:latin typeface="黑体" panose="02010609060101010101" pitchFamily="49" charset="-122"/>
                  <a:ea typeface="黑体" panose="02010609060101010101" pitchFamily="49" charset="-122"/>
                </a:rPr>
                <a:t>例</a:t>
              </a:r>
              <a:r>
                <a:rPr lang="en-US" altLang="zh-CN" sz="1600" b="1" dirty="0">
                  <a:solidFill>
                    <a:srgbClr val="CC00CC"/>
                  </a:solidFill>
                  <a:latin typeface="黑体" panose="02010609060101010101" pitchFamily="49" charset="-122"/>
                  <a:ea typeface="黑体" panose="02010609060101010101" pitchFamily="49" charset="-122"/>
                </a:rPr>
                <a:t>1</a:t>
              </a:r>
              <a:r>
                <a:rPr lang="zh-CN" altLang="en-US" sz="1600" b="1" dirty="0">
                  <a:solidFill>
                    <a:srgbClr val="CC00CC"/>
                  </a:solidFill>
                  <a:latin typeface="黑体" panose="02010609060101010101" pitchFamily="49" charset="-122"/>
                  <a:ea typeface="黑体" panose="02010609060101010101" pitchFamily="49" charset="-122"/>
                </a:rPr>
                <a:t>：</a:t>
              </a:r>
              <a:r>
                <a:rPr lang="zh-CN" altLang="en-US" sz="1600" b="1" dirty="0">
                  <a:solidFill>
                    <a:srgbClr val="6600FF"/>
                  </a:solidFill>
                  <a:latin typeface="黑体" panose="02010609060101010101" pitchFamily="49" charset="-122"/>
                  <a:ea typeface="黑体" panose="02010609060101010101" pitchFamily="49" charset="-122"/>
                </a:rPr>
                <a:t>分析图示同步时序逻辑电路</a:t>
              </a:r>
              <a:endParaRPr lang="zh-CN" altLang="en-US" sz="1600" b="1" dirty="0">
                <a:solidFill>
                  <a:srgbClr val="6600FF"/>
                </a:solidFill>
                <a:latin typeface="黑体" panose="02010609060101010101" pitchFamily="49" charset="-122"/>
                <a:ea typeface="黑体" panose="02010609060101010101" pitchFamily="49" charset="-122"/>
              </a:endParaRPr>
            </a:p>
          </p:txBody>
        </p:sp>
        <p:pic>
          <p:nvPicPr>
            <p:cNvPr id="76" name="Picture 4"/>
            <p:cNvPicPr>
              <a:picLocks noChangeAspect="1" noChangeArrowheads="1"/>
            </p:cNvPicPr>
            <p:nvPr/>
          </p:nvPicPr>
          <p:blipFill>
            <a:blip r:embed="rId4"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15" name="组合 14"/>
          <p:cNvGrpSpPr/>
          <p:nvPr/>
        </p:nvGrpSpPr>
        <p:grpSpPr>
          <a:xfrm>
            <a:off x="506132" y="2231275"/>
            <a:ext cx="1878467" cy="338554"/>
            <a:chOff x="616772" y="2333024"/>
            <a:chExt cx="1878467" cy="338554"/>
          </a:xfrm>
        </p:grpSpPr>
        <p:sp>
          <p:nvSpPr>
            <p:cNvPr id="156" name="矩形 155"/>
            <p:cNvSpPr/>
            <p:nvPr/>
          </p:nvSpPr>
          <p:spPr>
            <a:xfrm>
              <a:off x="616772" y="2333024"/>
              <a:ext cx="870431" cy="338554"/>
            </a:xfrm>
            <a:prstGeom prst="rect">
              <a:avLst/>
            </a:prstGeom>
          </p:spPr>
          <p:txBody>
            <a:bodyPr wrap="none" lIns="0" rIns="0">
              <a:spAutoFit/>
            </a:bodyPr>
            <a:lstStyle/>
            <a:p>
              <a:r>
                <a:rPr kumimoji="1" lang="zh-CN" altLang="en-US" sz="1600" dirty="0">
                  <a:solidFill>
                    <a:srgbClr val="CC00CC"/>
                  </a:solidFill>
                  <a:latin typeface="微软雅黑" panose="020B0503020204020204" pitchFamily="34" charset="-122"/>
                  <a:ea typeface="微软雅黑" panose="020B0503020204020204" pitchFamily="34" charset="-122"/>
                </a:rPr>
                <a:t>输出方程</a:t>
              </a:r>
              <a:r>
                <a:rPr kumimoji="1" lang="en-US" altLang="zh-CN" sz="1600" dirty="0">
                  <a:solidFill>
                    <a:srgbClr val="CC00CC"/>
                  </a:solidFill>
                  <a:latin typeface="微软雅黑" panose="020B0503020204020204" pitchFamily="34" charset="-122"/>
                  <a:ea typeface="微软雅黑" panose="020B0503020204020204" pitchFamily="34" charset="-122"/>
                </a:rPr>
                <a:t>:</a:t>
              </a:r>
              <a:endParaRPr kumimoji="1" lang="zh-CN" altLang="en-US" sz="1600" baseline="-25000" dirty="0">
                <a:solidFill>
                  <a:srgbClr val="CC00CC"/>
                </a:solidFill>
                <a:latin typeface="微软雅黑" panose="020B0503020204020204" pitchFamily="34" charset="-122"/>
                <a:ea typeface="微软雅黑" panose="020B0503020204020204" pitchFamily="34" charset="-122"/>
              </a:endParaRPr>
            </a:p>
          </p:txBody>
        </p:sp>
        <p:graphicFrame>
          <p:nvGraphicFramePr>
            <p:cNvPr id="4" name="对象 3"/>
            <p:cNvGraphicFramePr>
              <a:graphicFrameLocks noChangeAspect="1"/>
            </p:cNvGraphicFramePr>
            <p:nvPr/>
          </p:nvGraphicFramePr>
          <p:xfrm>
            <a:off x="1515804" y="2342415"/>
            <a:ext cx="979435" cy="328092"/>
          </p:xfrm>
          <a:graphic>
            <a:graphicData uri="http://schemas.openxmlformats.org/presentationml/2006/ole">
              <mc:AlternateContent xmlns:mc="http://schemas.openxmlformats.org/markup-compatibility/2006">
                <mc:Choice xmlns:v="urn:schemas-microsoft-com:vml" Requires="v">
                  <p:oleObj spid="_x0000_s1092" name="公式" r:id="rId5" imgW="634365" imgH="215900" progId="Equation.3">
                    <p:embed/>
                  </p:oleObj>
                </mc:Choice>
                <mc:Fallback>
                  <p:oleObj name="公式" r:id="rId5" imgW="634365" imgH="215900" progId="Equation.3">
                    <p:embed/>
                    <p:pic>
                      <p:nvPicPr>
                        <p:cNvPr id="0"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5804" y="2342415"/>
                          <a:ext cx="979435" cy="328092"/>
                        </a:xfrm>
                        <a:prstGeom prst="rect">
                          <a:avLst/>
                        </a:prstGeom>
                        <a:noFill/>
                      </p:spPr>
                    </p:pic>
                  </p:oleObj>
                </mc:Fallback>
              </mc:AlternateContent>
            </a:graphicData>
          </a:graphic>
        </p:graphicFrame>
      </p:grpSp>
      <p:grpSp>
        <p:nvGrpSpPr>
          <p:cNvPr id="14" name="组合 13"/>
          <p:cNvGrpSpPr/>
          <p:nvPr/>
        </p:nvGrpSpPr>
        <p:grpSpPr>
          <a:xfrm>
            <a:off x="475689" y="2635623"/>
            <a:ext cx="2196224" cy="588533"/>
            <a:chOff x="616772" y="2787994"/>
            <a:chExt cx="2196224" cy="588533"/>
          </a:xfrm>
        </p:grpSpPr>
        <p:sp>
          <p:nvSpPr>
            <p:cNvPr id="151" name="Rectangle 13"/>
            <p:cNvSpPr>
              <a:spLocks noChangeArrowheads="1"/>
            </p:cNvSpPr>
            <p:nvPr/>
          </p:nvSpPr>
          <p:spPr bwMode="auto">
            <a:xfrm>
              <a:off x="616772" y="2787994"/>
              <a:ext cx="1176977" cy="338554"/>
            </a:xfrm>
            <a:prstGeom prst="rect">
              <a:avLst/>
            </a:prstGeom>
            <a:noFill/>
            <a:ln w="9525" algn="ctr">
              <a:noFill/>
              <a:miter lim="800000"/>
            </a:ln>
          </p:spPr>
          <p:txBody>
            <a:bodyPr wrap="square" lIns="0" rIns="0">
              <a:spAutoFit/>
            </a:bodyPr>
            <a:lstStyle/>
            <a:p>
              <a:r>
                <a:rPr kumimoji="1" lang="zh-CN" altLang="en-US" sz="1600" dirty="0">
                  <a:solidFill>
                    <a:srgbClr val="CC00CC"/>
                  </a:solidFill>
                  <a:latin typeface="微软雅黑" panose="020B0503020204020204" pitchFamily="34" charset="-122"/>
                  <a:ea typeface="微软雅黑" panose="020B0503020204020204" pitchFamily="34" charset="-122"/>
                </a:rPr>
                <a:t>激励方程</a:t>
              </a:r>
              <a:r>
                <a:rPr kumimoji="1" lang="en-US" altLang="zh-CN" sz="1600" dirty="0">
                  <a:solidFill>
                    <a:srgbClr val="CC00CC"/>
                  </a:solidFill>
                  <a:latin typeface="微软雅黑" panose="020B0503020204020204" pitchFamily="34" charset="-122"/>
                  <a:ea typeface="微软雅黑" panose="020B0503020204020204" pitchFamily="34" charset="-122"/>
                </a:rPr>
                <a:t>:</a:t>
              </a:r>
              <a:endParaRPr kumimoji="1" lang="zh-CN" altLang="en-US" sz="1600" dirty="0">
                <a:solidFill>
                  <a:srgbClr val="CC00CC"/>
                </a:solidFill>
                <a:latin typeface="微软雅黑" panose="020B0503020204020204" pitchFamily="34" charset="-122"/>
                <a:ea typeface="微软雅黑" panose="020B0503020204020204" pitchFamily="34" charset="-122"/>
              </a:endParaRPr>
            </a:p>
          </p:txBody>
        </p:sp>
        <p:graphicFrame>
          <p:nvGraphicFramePr>
            <p:cNvPr id="6" name="对象 5"/>
            <p:cNvGraphicFramePr>
              <a:graphicFrameLocks noChangeAspect="1"/>
            </p:cNvGraphicFramePr>
            <p:nvPr/>
          </p:nvGraphicFramePr>
          <p:xfrm>
            <a:off x="1559038" y="2834705"/>
            <a:ext cx="841631" cy="272053"/>
          </p:xfrm>
          <a:graphic>
            <a:graphicData uri="http://schemas.openxmlformats.org/presentationml/2006/ole">
              <mc:AlternateContent xmlns:mc="http://schemas.openxmlformats.org/markup-compatibility/2006">
                <mc:Choice xmlns:v="urn:schemas-microsoft-com:vml" Requires="v">
                  <p:oleObj spid="_x0000_s1093" name="Equation" r:id="rId7" imgW="825500" imgH="241300" progId="Equation.DSMT4">
                    <p:embed/>
                  </p:oleObj>
                </mc:Choice>
                <mc:Fallback>
                  <p:oleObj name="Equation" r:id="rId7" imgW="825500" imgH="241300" progId="Equation.DSMT4">
                    <p:embed/>
                    <p:pic>
                      <p:nvPicPr>
                        <p:cNvPr id="0" name="对象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59038" y="2834705"/>
                          <a:ext cx="841631" cy="272053"/>
                        </a:xfrm>
                        <a:prstGeom prst="rect">
                          <a:avLst/>
                        </a:prstGeom>
                        <a:noFill/>
                      </p:spPr>
                    </p:pic>
                  </p:oleObj>
                </mc:Fallback>
              </mc:AlternateContent>
            </a:graphicData>
          </a:graphic>
        </p:graphicFrame>
        <p:graphicFrame>
          <p:nvGraphicFramePr>
            <p:cNvPr id="8" name="对象 7"/>
            <p:cNvGraphicFramePr>
              <a:graphicFrameLocks noChangeAspect="1"/>
            </p:cNvGraphicFramePr>
            <p:nvPr/>
          </p:nvGraphicFramePr>
          <p:xfrm>
            <a:off x="1559038" y="3103088"/>
            <a:ext cx="1253958" cy="273439"/>
          </p:xfrm>
          <a:graphic>
            <a:graphicData uri="http://schemas.openxmlformats.org/presentationml/2006/ole">
              <mc:AlternateContent xmlns:mc="http://schemas.openxmlformats.org/markup-compatibility/2006">
                <mc:Choice xmlns:v="urn:schemas-microsoft-com:vml" Requires="v">
                  <p:oleObj spid="_x0000_s1094" name="Equation" r:id="rId9" imgW="1066800" imgH="241300" progId="Equation.DSMT4">
                    <p:embed/>
                  </p:oleObj>
                </mc:Choice>
                <mc:Fallback>
                  <p:oleObj name="Equation" r:id="rId9" imgW="1066800" imgH="241300" progId="Equation.DSMT4">
                    <p:embed/>
                    <p:pic>
                      <p:nvPicPr>
                        <p:cNvPr id="0" name="对象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59038" y="3103088"/>
                          <a:ext cx="1253958" cy="273439"/>
                        </a:xfrm>
                        <a:prstGeom prst="rect">
                          <a:avLst/>
                        </a:prstGeom>
                        <a:noFill/>
                      </p:spPr>
                    </p:pic>
                  </p:oleObj>
                </mc:Fallback>
              </mc:AlternateContent>
            </a:graphicData>
          </a:graphic>
        </p:graphicFrame>
      </p:grpSp>
      <p:sp>
        <p:nvSpPr>
          <p:cNvPr id="9" name="Rectangle 6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13" name="组合 12"/>
          <p:cNvGrpSpPr/>
          <p:nvPr/>
        </p:nvGrpSpPr>
        <p:grpSpPr>
          <a:xfrm>
            <a:off x="392432" y="3375238"/>
            <a:ext cx="2789253" cy="352401"/>
            <a:chOff x="982614" y="3434876"/>
            <a:chExt cx="2789253" cy="352401"/>
          </a:xfrm>
        </p:grpSpPr>
        <p:sp>
          <p:nvSpPr>
            <p:cNvPr id="56" name="矩形 55"/>
            <p:cNvSpPr/>
            <p:nvPr/>
          </p:nvSpPr>
          <p:spPr>
            <a:xfrm>
              <a:off x="982614" y="3438428"/>
              <a:ext cx="1983235" cy="338554"/>
            </a:xfrm>
            <a:prstGeom prst="rect">
              <a:avLst/>
            </a:prstGeom>
          </p:spPr>
          <p:txBody>
            <a:bodyPr wrap="none">
              <a:spAutoFit/>
            </a:bodyPr>
            <a:lstStyle/>
            <a:p>
              <a:r>
                <a:rPr lang="en-US" altLang="zh-CN" sz="1600" dirty="0">
                  <a:latin typeface="微软雅黑" panose="020B0503020204020204" pitchFamily="34" charset="-122"/>
                  <a:ea typeface="微软雅黑" panose="020B0503020204020204" pitchFamily="34" charset="-122"/>
                </a:rPr>
                <a:t>D</a:t>
              </a:r>
              <a:r>
                <a:rPr lang="zh-CN" altLang="en-US" sz="1600" dirty="0">
                  <a:latin typeface="微软雅黑" panose="020B0503020204020204" pitchFamily="34" charset="-122"/>
                  <a:ea typeface="微软雅黑" panose="020B0503020204020204" pitchFamily="34" charset="-122"/>
                </a:rPr>
                <a:t>触发器的特征方程</a:t>
              </a:r>
              <a:endParaRPr lang="zh-CN" altLang="en-US" sz="1600" dirty="0">
                <a:latin typeface="微软雅黑" panose="020B0503020204020204" pitchFamily="34" charset="-122"/>
                <a:ea typeface="微软雅黑" panose="020B0503020204020204" pitchFamily="34" charset="-122"/>
              </a:endParaRPr>
            </a:p>
          </p:txBody>
        </p:sp>
        <p:graphicFrame>
          <p:nvGraphicFramePr>
            <p:cNvPr id="12" name="对象 11"/>
            <p:cNvGraphicFramePr>
              <a:graphicFrameLocks noChangeAspect="1"/>
            </p:cNvGraphicFramePr>
            <p:nvPr/>
          </p:nvGraphicFramePr>
          <p:xfrm>
            <a:off x="2975134" y="3434876"/>
            <a:ext cx="796733" cy="352401"/>
          </p:xfrm>
          <a:graphic>
            <a:graphicData uri="http://schemas.openxmlformats.org/presentationml/2006/ole">
              <mc:AlternateContent xmlns:mc="http://schemas.openxmlformats.org/markup-compatibility/2006">
                <mc:Choice xmlns:v="urn:schemas-microsoft-com:vml" Requires="v">
                  <p:oleObj spid="_x0000_s1095" name="公式" r:id="rId11" imgW="494665" imgH="215900" progId="Equation.3">
                    <p:embed/>
                  </p:oleObj>
                </mc:Choice>
                <mc:Fallback>
                  <p:oleObj name="公式" r:id="rId11" imgW="494665" imgH="215900" progId="Equation.3">
                    <p:embed/>
                    <p:pic>
                      <p:nvPicPr>
                        <p:cNvPr id="0" name="对象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75134" y="3434876"/>
                          <a:ext cx="796733" cy="352401"/>
                        </a:xfrm>
                        <a:prstGeom prst="rect">
                          <a:avLst/>
                        </a:prstGeom>
                        <a:noFill/>
                      </p:spPr>
                    </p:pic>
                  </p:oleObj>
                </mc:Fallback>
              </mc:AlternateContent>
            </a:graphicData>
          </a:graphic>
        </p:graphicFrame>
      </p:grpSp>
      <p:grpSp>
        <p:nvGrpSpPr>
          <p:cNvPr id="24" name="组合 23"/>
          <p:cNvGrpSpPr/>
          <p:nvPr/>
        </p:nvGrpSpPr>
        <p:grpSpPr>
          <a:xfrm>
            <a:off x="479523" y="3993037"/>
            <a:ext cx="2729939" cy="678248"/>
            <a:chOff x="616772" y="4245996"/>
            <a:chExt cx="2729939" cy="678248"/>
          </a:xfrm>
        </p:grpSpPr>
        <p:sp>
          <p:nvSpPr>
            <p:cNvPr id="196" name="Rectangle 13"/>
            <p:cNvSpPr>
              <a:spLocks noChangeArrowheads="1"/>
            </p:cNvSpPr>
            <p:nvPr/>
          </p:nvSpPr>
          <p:spPr bwMode="auto">
            <a:xfrm>
              <a:off x="616772" y="4245996"/>
              <a:ext cx="1176977" cy="338554"/>
            </a:xfrm>
            <a:prstGeom prst="rect">
              <a:avLst/>
            </a:prstGeom>
            <a:noFill/>
            <a:ln w="9525" algn="ctr">
              <a:noFill/>
              <a:miter lim="800000"/>
            </a:ln>
          </p:spPr>
          <p:txBody>
            <a:bodyPr wrap="square" lIns="0" rIns="0">
              <a:spAutoFit/>
            </a:bodyPr>
            <a:lstStyle/>
            <a:p>
              <a:r>
                <a:rPr kumimoji="1" lang="zh-CN" altLang="en-US" sz="1600" dirty="0">
                  <a:solidFill>
                    <a:srgbClr val="CC00CC"/>
                  </a:solidFill>
                  <a:latin typeface="微软雅黑" panose="020B0503020204020204" pitchFamily="34" charset="-122"/>
                  <a:ea typeface="微软雅黑" panose="020B0503020204020204" pitchFamily="34" charset="-122"/>
                </a:rPr>
                <a:t>状态方程</a:t>
              </a:r>
              <a:r>
                <a:rPr kumimoji="1" lang="en-US" altLang="zh-CN" sz="1600" dirty="0">
                  <a:solidFill>
                    <a:srgbClr val="CC00CC"/>
                  </a:solidFill>
                  <a:latin typeface="微软雅黑" panose="020B0503020204020204" pitchFamily="34" charset="-122"/>
                  <a:ea typeface="微软雅黑" panose="020B0503020204020204" pitchFamily="34" charset="-122"/>
                </a:rPr>
                <a:t>:</a:t>
              </a:r>
              <a:endParaRPr kumimoji="1" lang="zh-CN" altLang="en-US" sz="1600" dirty="0">
                <a:solidFill>
                  <a:srgbClr val="CC00CC"/>
                </a:solidFill>
                <a:latin typeface="微软雅黑" panose="020B0503020204020204" pitchFamily="34" charset="-122"/>
                <a:ea typeface="微软雅黑" panose="020B0503020204020204" pitchFamily="34" charset="-122"/>
              </a:endParaRPr>
            </a:p>
          </p:txBody>
        </p:sp>
        <p:graphicFrame>
          <p:nvGraphicFramePr>
            <p:cNvPr id="21" name="对象 20"/>
            <p:cNvGraphicFramePr>
              <a:graphicFrameLocks noChangeAspect="1"/>
            </p:cNvGraphicFramePr>
            <p:nvPr/>
          </p:nvGraphicFramePr>
          <p:xfrm>
            <a:off x="1555204" y="4255369"/>
            <a:ext cx="1638185" cy="289485"/>
          </p:xfrm>
          <a:graphic>
            <a:graphicData uri="http://schemas.openxmlformats.org/presentationml/2006/ole">
              <mc:AlternateContent xmlns:mc="http://schemas.openxmlformats.org/markup-compatibility/2006">
                <mc:Choice xmlns:v="urn:schemas-microsoft-com:vml" Requires="v">
                  <p:oleObj spid="_x0000_s1096" name="Equation" r:id="rId13" imgW="1244600" imgH="241300" progId="Equation.DSMT4">
                    <p:embed/>
                  </p:oleObj>
                </mc:Choice>
                <mc:Fallback>
                  <p:oleObj name="Equation" r:id="rId13" imgW="1244600" imgH="241300" progId="Equation.DSMT4">
                    <p:embed/>
                    <p:pic>
                      <p:nvPicPr>
                        <p:cNvPr id="0" name="对象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55204" y="4255369"/>
                          <a:ext cx="1638185" cy="289485"/>
                        </a:xfrm>
                        <a:prstGeom prst="rect">
                          <a:avLst/>
                        </a:prstGeom>
                        <a:noFill/>
                      </p:spPr>
                    </p:pic>
                  </p:oleObj>
                </mc:Fallback>
              </mc:AlternateContent>
            </a:graphicData>
          </a:graphic>
        </p:graphicFrame>
        <p:graphicFrame>
          <p:nvGraphicFramePr>
            <p:cNvPr id="23" name="对象 22"/>
            <p:cNvGraphicFramePr>
              <a:graphicFrameLocks noChangeAspect="1"/>
            </p:cNvGraphicFramePr>
            <p:nvPr/>
          </p:nvGraphicFramePr>
          <p:xfrm>
            <a:off x="1554661" y="4634759"/>
            <a:ext cx="1792050" cy="289485"/>
          </p:xfrm>
          <a:graphic>
            <a:graphicData uri="http://schemas.openxmlformats.org/presentationml/2006/ole">
              <mc:AlternateContent xmlns:mc="http://schemas.openxmlformats.org/markup-compatibility/2006">
                <mc:Choice xmlns:v="urn:schemas-microsoft-com:vml" Requires="v">
                  <p:oleObj spid="_x0000_s1097" name="Equation" r:id="rId15" imgW="1485900" imgH="241300" progId="Equation.DSMT4">
                    <p:embed/>
                  </p:oleObj>
                </mc:Choice>
                <mc:Fallback>
                  <p:oleObj name="Equation" r:id="rId15" imgW="1485900" imgH="241300" progId="Equation.DSMT4">
                    <p:embed/>
                    <p:pic>
                      <p:nvPicPr>
                        <p:cNvPr id="0" name="对象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54661" y="4634759"/>
                          <a:ext cx="1792050" cy="289485"/>
                        </a:xfrm>
                        <a:prstGeom prst="rect">
                          <a:avLst/>
                        </a:prstGeom>
                        <a:noFill/>
                      </p:spPr>
                    </p:pic>
                  </p:oleObj>
                </mc:Fallback>
              </mc:AlternateContent>
            </a:graphicData>
          </a:graphic>
        </p:graphicFrame>
      </p:grpSp>
      <p:grpSp>
        <p:nvGrpSpPr>
          <p:cNvPr id="62" name="组合 61"/>
          <p:cNvGrpSpPr/>
          <p:nvPr/>
        </p:nvGrpSpPr>
        <p:grpSpPr>
          <a:xfrm>
            <a:off x="3892174" y="2628290"/>
            <a:ext cx="1760616" cy="338554"/>
            <a:chOff x="4731375" y="1650857"/>
            <a:chExt cx="1760616" cy="338554"/>
          </a:xfrm>
        </p:grpSpPr>
        <p:sp>
          <p:nvSpPr>
            <p:cNvPr id="63" name="矩形 62"/>
            <p:cNvSpPr/>
            <p:nvPr/>
          </p:nvSpPr>
          <p:spPr>
            <a:xfrm>
              <a:off x="5076219" y="1650857"/>
              <a:ext cx="1415772"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列状态转换表</a:t>
              </a:r>
              <a:endParaRPr lang="zh-CN" altLang="en-US" sz="1600" dirty="0"/>
            </a:p>
          </p:txBody>
        </p:sp>
        <p:pic>
          <p:nvPicPr>
            <p:cNvPr id="64" name="Picture 5"/>
            <p:cNvPicPr>
              <a:picLocks noChangeAspect="1" noChangeArrowheads="1"/>
            </p:cNvPicPr>
            <p:nvPr/>
          </p:nvPicPr>
          <p:blipFill>
            <a:blip r:embed="rId2" cstate="print"/>
            <a:srcRect/>
            <a:stretch>
              <a:fillRect/>
            </a:stretch>
          </p:blipFill>
          <p:spPr bwMode="auto">
            <a:xfrm>
              <a:off x="4731375" y="1677030"/>
              <a:ext cx="360000" cy="286209"/>
            </a:xfrm>
            <a:prstGeom prst="rect">
              <a:avLst/>
            </a:prstGeom>
            <a:noFill/>
            <a:ln w="9525">
              <a:noFill/>
              <a:miter lim="800000"/>
              <a:headEnd/>
              <a:tailEnd/>
            </a:ln>
          </p:spPr>
        </p:pic>
      </p:grpSp>
      <p:sp>
        <p:nvSpPr>
          <p:cNvPr id="65" name="圆角矩形 193"/>
          <p:cNvSpPr/>
          <p:nvPr/>
        </p:nvSpPr>
        <p:spPr>
          <a:xfrm>
            <a:off x="417024" y="2157336"/>
            <a:ext cx="2038500" cy="402729"/>
          </a:xfrm>
          <a:prstGeom prst="roundRect">
            <a:avLst>
              <a:gd name="adj" fmla="val 26712"/>
            </a:avLst>
          </a:prstGeom>
          <a:solidFill>
            <a:srgbClr val="CC00CC">
              <a:alpha val="16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圆角矩形 193"/>
          <p:cNvSpPr/>
          <p:nvPr/>
        </p:nvSpPr>
        <p:spPr>
          <a:xfrm>
            <a:off x="417024" y="3920691"/>
            <a:ext cx="2906718" cy="787907"/>
          </a:xfrm>
          <a:prstGeom prst="roundRect">
            <a:avLst>
              <a:gd name="adj" fmla="val 13706"/>
            </a:avLst>
          </a:prstGeom>
          <a:solidFill>
            <a:srgbClr val="CC00CC">
              <a:alpha val="16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8" name="组合 27"/>
          <p:cNvGrpSpPr/>
          <p:nvPr/>
        </p:nvGrpSpPr>
        <p:grpSpPr>
          <a:xfrm>
            <a:off x="1376563" y="2670489"/>
            <a:ext cx="1962240" cy="1037140"/>
            <a:chOff x="1376563" y="2670489"/>
            <a:chExt cx="1962240" cy="1037140"/>
          </a:xfrm>
        </p:grpSpPr>
        <p:grpSp>
          <p:nvGrpSpPr>
            <p:cNvPr id="17" name="组合 16"/>
            <p:cNvGrpSpPr/>
            <p:nvPr/>
          </p:nvGrpSpPr>
          <p:grpSpPr>
            <a:xfrm>
              <a:off x="1376563" y="2670489"/>
              <a:ext cx="1962240" cy="1037140"/>
              <a:chOff x="1376563" y="2670489"/>
              <a:chExt cx="1962240" cy="1037140"/>
            </a:xfrm>
          </p:grpSpPr>
          <p:sp>
            <p:nvSpPr>
              <p:cNvPr id="195" name="圆角矩形 194"/>
              <p:cNvSpPr/>
              <p:nvPr/>
            </p:nvSpPr>
            <p:spPr>
              <a:xfrm>
                <a:off x="2330820" y="3355228"/>
                <a:ext cx="1007983" cy="352401"/>
              </a:xfrm>
              <a:prstGeom prst="roundRect">
                <a:avLst>
                  <a:gd name="adj" fmla="val 26712"/>
                </a:avLst>
              </a:prstGeom>
              <a:solidFill>
                <a:srgbClr val="0000FF">
                  <a:alpha val="16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4" name="圆角矩形 193"/>
              <p:cNvSpPr/>
              <p:nvPr/>
            </p:nvSpPr>
            <p:spPr>
              <a:xfrm>
                <a:off x="1376563" y="2670489"/>
                <a:ext cx="1459213" cy="573677"/>
              </a:xfrm>
              <a:prstGeom prst="roundRect">
                <a:avLst>
                  <a:gd name="adj" fmla="val 16926"/>
                </a:avLst>
              </a:prstGeom>
              <a:solidFill>
                <a:srgbClr val="0000FF">
                  <a:alpha val="16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7" name="箭头: 圆角右 26"/>
            <p:cNvSpPr/>
            <p:nvPr/>
          </p:nvSpPr>
          <p:spPr>
            <a:xfrm rot="5400000">
              <a:off x="2798874" y="2939888"/>
              <a:ext cx="426918" cy="336573"/>
            </a:xfrm>
            <a:prstGeom prst="bentArrow">
              <a:avLst>
                <a:gd name="adj1" fmla="val 36711"/>
                <a:gd name="adj2" fmla="val 40224"/>
                <a:gd name="adj3" fmla="val 25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32" name="图片 31"/>
          <p:cNvPicPr>
            <a:picLocks noChangeAspect="1"/>
          </p:cNvPicPr>
          <p:nvPr/>
        </p:nvPicPr>
        <p:blipFill>
          <a:blip r:embed="rId17"/>
          <a:stretch>
            <a:fillRect/>
          </a:stretch>
        </p:blipFill>
        <p:spPr>
          <a:xfrm>
            <a:off x="6786174" y="2989116"/>
            <a:ext cx="2180279" cy="1742812"/>
          </a:xfrm>
          <a:prstGeom prst="rect">
            <a:avLst/>
          </a:prstGeom>
        </p:spPr>
      </p:pic>
      <p:pic>
        <p:nvPicPr>
          <p:cNvPr id="36" name="图片 35"/>
          <p:cNvPicPr>
            <a:picLocks noChangeAspect="1"/>
          </p:cNvPicPr>
          <p:nvPr/>
        </p:nvPicPr>
        <p:blipFill>
          <a:blip r:embed="rId18"/>
          <a:stretch>
            <a:fillRect/>
          </a:stretch>
        </p:blipFill>
        <p:spPr>
          <a:xfrm>
            <a:off x="4091291" y="3009417"/>
            <a:ext cx="2550171" cy="1998419"/>
          </a:xfrm>
          <a:prstGeom prst="rect">
            <a:avLst/>
          </a:prstGeom>
        </p:spPr>
      </p:pic>
      <p:sp>
        <p:nvSpPr>
          <p:cNvPr id="41" name="圆角矩形 193"/>
          <p:cNvSpPr/>
          <p:nvPr/>
        </p:nvSpPr>
        <p:spPr>
          <a:xfrm>
            <a:off x="4175154" y="3470121"/>
            <a:ext cx="2399067" cy="727466"/>
          </a:xfrm>
          <a:prstGeom prst="roundRect">
            <a:avLst>
              <a:gd name="adj" fmla="val 1267"/>
            </a:avLst>
          </a:prstGeom>
          <a:solidFill>
            <a:srgbClr val="CC00CC">
              <a:alpha val="16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圆角矩形 193"/>
          <p:cNvSpPr/>
          <p:nvPr/>
        </p:nvSpPr>
        <p:spPr>
          <a:xfrm>
            <a:off x="4175154" y="4212644"/>
            <a:ext cx="2399067" cy="727466"/>
          </a:xfrm>
          <a:prstGeom prst="roundRect">
            <a:avLst>
              <a:gd name="adj" fmla="val 1267"/>
            </a:avLst>
          </a:prstGeom>
          <a:solidFill>
            <a:srgbClr val="CC00CC">
              <a:alpha val="16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fade">
                                      <p:cBhvr>
                                        <p:cTn id="7" dur="1000"/>
                                        <p:tgtEl>
                                          <p:spTgt spid="155"/>
                                        </p:tgtEl>
                                      </p:cBhvr>
                                    </p:animEffect>
                                    <p:anim calcmode="lin" valueType="num">
                                      <p:cBhvr>
                                        <p:cTn id="8" dur="1000" fill="hold"/>
                                        <p:tgtEl>
                                          <p:spTgt spid="155"/>
                                        </p:tgtEl>
                                        <p:attrNameLst>
                                          <p:attrName>ppt_x</p:attrName>
                                        </p:attrNameLst>
                                      </p:cBhvr>
                                      <p:tavLst>
                                        <p:tav tm="0">
                                          <p:val>
                                            <p:strVal val="#ppt_x"/>
                                          </p:val>
                                        </p:tav>
                                        <p:tav tm="100000">
                                          <p:val>
                                            <p:strVal val="#ppt_x"/>
                                          </p:val>
                                        </p:tav>
                                      </p:tavLst>
                                    </p:anim>
                                    <p:anim calcmode="lin" valueType="num">
                                      <p:cBhvr>
                                        <p:cTn id="9" dur="1000" fill="hold"/>
                                        <p:tgtEl>
                                          <p:spTgt spid="15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wipe(up)">
                                      <p:cBhvr>
                                        <p:cTn id="35" dur="1000"/>
                                        <p:tgtEl>
                                          <p:spTgt spid="28"/>
                                        </p:tgtEl>
                                      </p:cBhvr>
                                    </p:animEffect>
                                  </p:childTnLst>
                                </p:cTn>
                              </p:par>
                            </p:childTnLst>
                          </p:cTn>
                        </p:par>
                        <p:par>
                          <p:cTn id="36" fill="hold">
                            <p:stCondLst>
                              <p:cond delay="1000"/>
                            </p:stCondLst>
                            <p:childTnLst>
                              <p:par>
                                <p:cTn id="37" presetID="42" presetClass="entr" presetSubtype="0" fill="hold"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1000"/>
                                        <p:tgtEl>
                                          <p:spTgt spid="24"/>
                                        </p:tgtEl>
                                      </p:cBhvr>
                                    </p:animEffect>
                                    <p:anim calcmode="lin" valueType="num">
                                      <p:cBhvr>
                                        <p:cTn id="40" dur="1000" fill="hold"/>
                                        <p:tgtEl>
                                          <p:spTgt spid="24"/>
                                        </p:tgtEl>
                                        <p:attrNameLst>
                                          <p:attrName>ppt_x</p:attrName>
                                        </p:attrNameLst>
                                      </p:cBhvr>
                                      <p:tavLst>
                                        <p:tav tm="0">
                                          <p:val>
                                            <p:strVal val="#ppt_x"/>
                                          </p:val>
                                        </p:tav>
                                        <p:tav tm="100000">
                                          <p:val>
                                            <p:strVal val="#ppt_x"/>
                                          </p:val>
                                        </p:tav>
                                      </p:tavLst>
                                    </p:anim>
                                    <p:anim calcmode="lin" valueType="num">
                                      <p:cBhvr>
                                        <p:cTn id="41"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nodeType="clickEffect">
                                  <p:stCondLst>
                                    <p:cond delay="0"/>
                                  </p:stCondLst>
                                  <p:childTnLst>
                                    <p:animEffect transition="out" filter="fade">
                                      <p:cBhvr>
                                        <p:cTn id="45" dur="500"/>
                                        <p:tgtEl>
                                          <p:spTgt spid="28"/>
                                        </p:tgtEl>
                                      </p:cBhvr>
                                    </p:animEffect>
                                    <p:set>
                                      <p:cBhvr>
                                        <p:cTn id="46" dur="1" fill="hold">
                                          <p:stCondLst>
                                            <p:cond delay="499"/>
                                          </p:stCondLst>
                                        </p:cTn>
                                        <p:tgtEl>
                                          <p:spTgt spid="28"/>
                                        </p:tgtEl>
                                        <p:attrNameLst>
                                          <p:attrName>style.visibility</p:attrName>
                                        </p:attrNameLst>
                                      </p:cBhvr>
                                      <p:to>
                                        <p:strVal val="hidden"/>
                                      </p:to>
                                    </p:set>
                                  </p:childTnLst>
                                </p:cTn>
                              </p:par>
                            </p:childTnLst>
                          </p:cTn>
                        </p:par>
                        <p:par>
                          <p:cTn id="47" fill="hold">
                            <p:stCondLst>
                              <p:cond delay="500"/>
                            </p:stCondLst>
                            <p:childTnLst>
                              <p:par>
                                <p:cTn id="48" presetID="53" presetClass="entr" presetSubtype="16" fill="hold" grpId="0" nodeType="afterEffect">
                                  <p:stCondLst>
                                    <p:cond delay="0"/>
                                  </p:stCondLst>
                                  <p:childTnLst>
                                    <p:set>
                                      <p:cBhvr>
                                        <p:cTn id="49" dur="1" fill="hold">
                                          <p:stCondLst>
                                            <p:cond delay="0"/>
                                          </p:stCondLst>
                                        </p:cTn>
                                        <p:tgtEl>
                                          <p:spTgt spid="65"/>
                                        </p:tgtEl>
                                        <p:attrNameLst>
                                          <p:attrName>style.visibility</p:attrName>
                                        </p:attrNameLst>
                                      </p:cBhvr>
                                      <p:to>
                                        <p:strVal val="visible"/>
                                      </p:to>
                                    </p:set>
                                    <p:anim calcmode="lin" valueType="num">
                                      <p:cBhvr>
                                        <p:cTn id="50" dur="1000" fill="hold"/>
                                        <p:tgtEl>
                                          <p:spTgt spid="65"/>
                                        </p:tgtEl>
                                        <p:attrNameLst>
                                          <p:attrName>ppt_w</p:attrName>
                                        </p:attrNameLst>
                                      </p:cBhvr>
                                      <p:tavLst>
                                        <p:tav tm="0">
                                          <p:val>
                                            <p:fltVal val="0"/>
                                          </p:val>
                                        </p:tav>
                                        <p:tav tm="100000">
                                          <p:val>
                                            <p:strVal val="#ppt_w"/>
                                          </p:val>
                                        </p:tav>
                                      </p:tavLst>
                                    </p:anim>
                                    <p:anim calcmode="lin" valueType="num">
                                      <p:cBhvr>
                                        <p:cTn id="51" dur="1000" fill="hold"/>
                                        <p:tgtEl>
                                          <p:spTgt spid="65"/>
                                        </p:tgtEl>
                                        <p:attrNameLst>
                                          <p:attrName>ppt_h</p:attrName>
                                        </p:attrNameLst>
                                      </p:cBhvr>
                                      <p:tavLst>
                                        <p:tav tm="0">
                                          <p:val>
                                            <p:fltVal val="0"/>
                                          </p:val>
                                        </p:tav>
                                        <p:tav tm="100000">
                                          <p:val>
                                            <p:strVal val="#ppt_h"/>
                                          </p:val>
                                        </p:tav>
                                      </p:tavLst>
                                    </p:anim>
                                    <p:animEffect transition="in" filter="fade">
                                      <p:cBhvr>
                                        <p:cTn id="52" dur="1000"/>
                                        <p:tgtEl>
                                          <p:spTgt spid="65"/>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66"/>
                                        </p:tgtEl>
                                        <p:attrNameLst>
                                          <p:attrName>style.visibility</p:attrName>
                                        </p:attrNameLst>
                                      </p:cBhvr>
                                      <p:to>
                                        <p:strVal val="visible"/>
                                      </p:to>
                                    </p:set>
                                    <p:anim calcmode="lin" valueType="num">
                                      <p:cBhvr>
                                        <p:cTn id="55" dur="1000" fill="hold"/>
                                        <p:tgtEl>
                                          <p:spTgt spid="66"/>
                                        </p:tgtEl>
                                        <p:attrNameLst>
                                          <p:attrName>ppt_w</p:attrName>
                                        </p:attrNameLst>
                                      </p:cBhvr>
                                      <p:tavLst>
                                        <p:tav tm="0">
                                          <p:val>
                                            <p:fltVal val="0"/>
                                          </p:val>
                                        </p:tav>
                                        <p:tav tm="100000">
                                          <p:val>
                                            <p:strVal val="#ppt_w"/>
                                          </p:val>
                                        </p:tav>
                                      </p:tavLst>
                                    </p:anim>
                                    <p:anim calcmode="lin" valueType="num">
                                      <p:cBhvr>
                                        <p:cTn id="56" dur="1000" fill="hold"/>
                                        <p:tgtEl>
                                          <p:spTgt spid="66"/>
                                        </p:tgtEl>
                                        <p:attrNameLst>
                                          <p:attrName>ppt_h</p:attrName>
                                        </p:attrNameLst>
                                      </p:cBhvr>
                                      <p:tavLst>
                                        <p:tav tm="0">
                                          <p:val>
                                            <p:fltVal val="0"/>
                                          </p:val>
                                        </p:tav>
                                        <p:tav tm="100000">
                                          <p:val>
                                            <p:strVal val="#ppt_h"/>
                                          </p:val>
                                        </p:tav>
                                      </p:tavLst>
                                    </p:anim>
                                    <p:animEffect transition="in" filter="fade">
                                      <p:cBhvr>
                                        <p:cTn id="57" dur="1000"/>
                                        <p:tgtEl>
                                          <p:spTgt spid="66"/>
                                        </p:tgtEl>
                                      </p:cBhvr>
                                    </p:animEffect>
                                  </p:childTnLst>
                                </p:cTn>
                              </p:par>
                            </p:childTnLst>
                          </p:cTn>
                        </p:par>
                        <p:par>
                          <p:cTn id="58" fill="hold">
                            <p:stCondLst>
                              <p:cond delay="1500"/>
                            </p:stCondLst>
                            <p:childTnLst>
                              <p:par>
                                <p:cTn id="59" presetID="42" presetClass="entr" presetSubtype="0" fill="hold" nodeType="afterEffect">
                                  <p:stCondLst>
                                    <p:cond delay="0"/>
                                  </p:stCondLst>
                                  <p:childTnLst>
                                    <p:set>
                                      <p:cBhvr>
                                        <p:cTn id="60" dur="1" fill="hold">
                                          <p:stCondLst>
                                            <p:cond delay="0"/>
                                          </p:stCondLst>
                                        </p:cTn>
                                        <p:tgtEl>
                                          <p:spTgt spid="62"/>
                                        </p:tgtEl>
                                        <p:attrNameLst>
                                          <p:attrName>style.visibility</p:attrName>
                                        </p:attrNameLst>
                                      </p:cBhvr>
                                      <p:to>
                                        <p:strVal val="visible"/>
                                      </p:to>
                                    </p:set>
                                    <p:animEffect transition="in" filter="fade">
                                      <p:cBhvr>
                                        <p:cTn id="61" dur="1000"/>
                                        <p:tgtEl>
                                          <p:spTgt spid="62"/>
                                        </p:tgtEl>
                                      </p:cBhvr>
                                    </p:animEffect>
                                    <p:anim calcmode="lin" valueType="num">
                                      <p:cBhvr>
                                        <p:cTn id="62" dur="1000" fill="hold"/>
                                        <p:tgtEl>
                                          <p:spTgt spid="62"/>
                                        </p:tgtEl>
                                        <p:attrNameLst>
                                          <p:attrName>ppt_x</p:attrName>
                                        </p:attrNameLst>
                                      </p:cBhvr>
                                      <p:tavLst>
                                        <p:tav tm="0">
                                          <p:val>
                                            <p:strVal val="#ppt_x"/>
                                          </p:val>
                                        </p:tav>
                                        <p:tav tm="100000">
                                          <p:val>
                                            <p:strVal val="#ppt_x"/>
                                          </p:val>
                                        </p:tav>
                                      </p:tavLst>
                                    </p:anim>
                                    <p:anim calcmode="lin" valueType="num">
                                      <p:cBhvr>
                                        <p:cTn id="63" dur="1000" fill="hold"/>
                                        <p:tgtEl>
                                          <p:spTgt spid="62"/>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fade">
                                      <p:cBhvr>
                                        <p:cTn id="66" dur="1000"/>
                                        <p:tgtEl>
                                          <p:spTgt spid="36"/>
                                        </p:tgtEl>
                                      </p:cBhvr>
                                    </p:animEffect>
                                    <p:anim calcmode="lin" valueType="num">
                                      <p:cBhvr>
                                        <p:cTn id="67" dur="1000" fill="hold"/>
                                        <p:tgtEl>
                                          <p:spTgt spid="36"/>
                                        </p:tgtEl>
                                        <p:attrNameLst>
                                          <p:attrName>ppt_x</p:attrName>
                                        </p:attrNameLst>
                                      </p:cBhvr>
                                      <p:tavLst>
                                        <p:tav tm="0">
                                          <p:val>
                                            <p:strVal val="#ppt_x"/>
                                          </p:val>
                                        </p:tav>
                                        <p:tav tm="100000">
                                          <p:val>
                                            <p:strVal val="#ppt_x"/>
                                          </p:val>
                                        </p:tav>
                                      </p:tavLst>
                                    </p:anim>
                                    <p:anim calcmode="lin" valueType="num">
                                      <p:cBhvr>
                                        <p:cTn id="68"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2" presetClass="entr" presetSubtype="1" fill="hold" grpId="0" nodeType="clickEffect">
                                  <p:stCondLst>
                                    <p:cond delay="0"/>
                                  </p:stCondLst>
                                  <p:childTnLst>
                                    <p:set>
                                      <p:cBhvr>
                                        <p:cTn id="72" dur="1" fill="hold">
                                          <p:stCondLst>
                                            <p:cond delay="0"/>
                                          </p:stCondLst>
                                        </p:cTn>
                                        <p:tgtEl>
                                          <p:spTgt spid="41"/>
                                        </p:tgtEl>
                                        <p:attrNameLst>
                                          <p:attrName>style.visibility</p:attrName>
                                        </p:attrNameLst>
                                      </p:cBhvr>
                                      <p:to>
                                        <p:strVal val="visible"/>
                                      </p:to>
                                    </p:set>
                                    <p:anim calcmode="lin" valueType="num">
                                      <p:cBhvr additive="base">
                                        <p:cTn id="73" dur="1000"/>
                                        <p:tgtEl>
                                          <p:spTgt spid="41"/>
                                        </p:tgtEl>
                                        <p:attrNameLst>
                                          <p:attrName>ppt_y</p:attrName>
                                        </p:attrNameLst>
                                      </p:cBhvr>
                                      <p:tavLst>
                                        <p:tav tm="0">
                                          <p:val>
                                            <p:strVal val="#ppt_y-#ppt_h*1.125000"/>
                                          </p:val>
                                        </p:tav>
                                        <p:tav tm="100000">
                                          <p:val>
                                            <p:strVal val="#ppt_y"/>
                                          </p:val>
                                        </p:tav>
                                      </p:tavLst>
                                    </p:anim>
                                    <p:animEffect transition="in" filter="wipe(down)">
                                      <p:cBhvr>
                                        <p:cTn id="74" dur="1000"/>
                                        <p:tgtEl>
                                          <p:spTgt spid="41"/>
                                        </p:tgtEl>
                                      </p:cBhvr>
                                    </p:animEffect>
                                  </p:childTnLst>
                                  <p:subTnLst>
                                    <p:set>
                                      <p:cBhvr override="childStyle">
                                        <p:cTn dur="1" fill="hold" display="0" masterRel="nextClick" afterEffect="1"/>
                                        <p:tgtEl>
                                          <p:spTgt spid="41"/>
                                        </p:tgtEl>
                                        <p:attrNameLst>
                                          <p:attrName>style.visibility</p:attrName>
                                        </p:attrNameLst>
                                      </p:cBhvr>
                                      <p:to>
                                        <p:strVal val="hidden"/>
                                      </p:to>
                                    </p:set>
                                  </p:subTnLst>
                                </p:cTn>
                              </p:par>
                            </p:childTnLst>
                          </p:cTn>
                        </p:par>
                      </p:childTnLst>
                    </p:cTn>
                  </p:par>
                  <p:par>
                    <p:cTn id="75" fill="hold">
                      <p:stCondLst>
                        <p:cond delay="indefinite"/>
                      </p:stCondLst>
                      <p:childTnLst>
                        <p:par>
                          <p:cTn id="76" fill="hold">
                            <p:stCondLst>
                              <p:cond delay="0"/>
                            </p:stCondLst>
                            <p:childTnLst>
                              <p:par>
                                <p:cTn id="77" presetID="12" presetClass="entr" presetSubtype="1" fill="hold" grpId="0" nodeType="clickEffect">
                                  <p:stCondLst>
                                    <p:cond delay="0"/>
                                  </p:stCondLst>
                                  <p:childTnLst>
                                    <p:set>
                                      <p:cBhvr>
                                        <p:cTn id="78" dur="1" fill="hold">
                                          <p:stCondLst>
                                            <p:cond delay="0"/>
                                          </p:stCondLst>
                                        </p:cTn>
                                        <p:tgtEl>
                                          <p:spTgt spid="42"/>
                                        </p:tgtEl>
                                        <p:attrNameLst>
                                          <p:attrName>style.visibility</p:attrName>
                                        </p:attrNameLst>
                                      </p:cBhvr>
                                      <p:to>
                                        <p:strVal val="visible"/>
                                      </p:to>
                                    </p:set>
                                    <p:anim calcmode="lin" valueType="num">
                                      <p:cBhvr additive="base">
                                        <p:cTn id="79" dur="1000"/>
                                        <p:tgtEl>
                                          <p:spTgt spid="42"/>
                                        </p:tgtEl>
                                        <p:attrNameLst>
                                          <p:attrName>ppt_y</p:attrName>
                                        </p:attrNameLst>
                                      </p:cBhvr>
                                      <p:tavLst>
                                        <p:tav tm="0">
                                          <p:val>
                                            <p:strVal val="#ppt_y-#ppt_h*1.125000"/>
                                          </p:val>
                                        </p:tav>
                                        <p:tav tm="100000">
                                          <p:val>
                                            <p:strVal val="#ppt_y"/>
                                          </p:val>
                                        </p:tav>
                                      </p:tavLst>
                                    </p:anim>
                                    <p:animEffect transition="in" filter="wipe(down)">
                                      <p:cBhvr>
                                        <p:cTn id="80" dur="1000"/>
                                        <p:tgtEl>
                                          <p:spTgt spid="42"/>
                                        </p:tgtEl>
                                      </p:cBhvr>
                                    </p:animEffect>
                                  </p:childTnLst>
                                  <p:subTnLst>
                                    <p:set>
                                      <p:cBhvr override="childStyle">
                                        <p:cTn dur="1" fill="hold" display="0" masterRel="nextClick" afterEffect="1"/>
                                        <p:tgtEl>
                                          <p:spTgt spid="42"/>
                                        </p:tgtEl>
                                        <p:attrNameLst>
                                          <p:attrName>style.visibility</p:attrName>
                                        </p:attrNameLst>
                                      </p:cBhvr>
                                      <p:to>
                                        <p:strVal val="hidden"/>
                                      </p:to>
                                    </p:set>
                                  </p:subTnLst>
                                </p:cTn>
                              </p:par>
                            </p:childTnLst>
                          </p:cTn>
                        </p:par>
                      </p:childTnLst>
                    </p:cTn>
                  </p:par>
                  <p:par>
                    <p:cTn id="81" fill="hold">
                      <p:stCondLst>
                        <p:cond delay="indefinite"/>
                      </p:stCondLst>
                      <p:childTnLst>
                        <p:par>
                          <p:cTn id="82" fill="hold">
                            <p:stCondLst>
                              <p:cond delay="0"/>
                            </p:stCondLst>
                            <p:childTnLst>
                              <p:par>
                                <p:cTn id="83" presetID="12" presetClass="entr" presetSubtype="8" fill="hold" nodeType="clickEffect">
                                  <p:stCondLst>
                                    <p:cond delay="0"/>
                                  </p:stCondLst>
                                  <p:childTnLst>
                                    <p:set>
                                      <p:cBhvr>
                                        <p:cTn id="84" dur="1" fill="hold">
                                          <p:stCondLst>
                                            <p:cond delay="0"/>
                                          </p:stCondLst>
                                        </p:cTn>
                                        <p:tgtEl>
                                          <p:spTgt spid="32"/>
                                        </p:tgtEl>
                                        <p:attrNameLst>
                                          <p:attrName>style.visibility</p:attrName>
                                        </p:attrNameLst>
                                      </p:cBhvr>
                                      <p:to>
                                        <p:strVal val="visible"/>
                                      </p:to>
                                    </p:set>
                                    <p:anim calcmode="lin" valueType="num">
                                      <p:cBhvr additive="base">
                                        <p:cTn id="85" dur="1000"/>
                                        <p:tgtEl>
                                          <p:spTgt spid="32"/>
                                        </p:tgtEl>
                                        <p:attrNameLst>
                                          <p:attrName>ppt_x</p:attrName>
                                        </p:attrNameLst>
                                      </p:cBhvr>
                                      <p:tavLst>
                                        <p:tav tm="0">
                                          <p:val>
                                            <p:strVal val="#ppt_x-#ppt_w*1.125000"/>
                                          </p:val>
                                        </p:tav>
                                        <p:tav tm="100000">
                                          <p:val>
                                            <p:strVal val="#ppt_x"/>
                                          </p:val>
                                        </p:tav>
                                      </p:tavLst>
                                    </p:anim>
                                    <p:animEffect transition="in" filter="wipe(right)">
                                      <p:cBhvr>
                                        <p:cTn id="86"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animBg="1"/>
      <p:bldP spid="41" grpId="0" animBg="1"/>
      <p:bldP spid="4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 name="组合 88"/>
          <p:cNvGrpSpPr/>
          <p:nvPr/>
        </p:nvGrpSpPr>
        <p:grpSpPr>
          <a:xfrm>
            <a:off x="392432" y="778617"/>
            <a:ext cx="3072466" cy="411055"/>
            <a:chOff x="670560" y="892917"/>
            <a:chExt cx="3072466" cy="411055"/>
          </a:xfrm>
        </p:grpSpPr>
        <p:sp>
          <p:nvSpPr>
            <p:cNvPr id="97" name="矩形 96"/>
            <p:cNvSpPr/>
            <p:nvPr/>
          </p:nvSpPr>
          <p:spPr>
            <a:xfrm>
              <a:off x="1035233" y="913778"/>
              <a:ext cx="2707793" cy="338554"/>
            </a:xfrm>
            <a:prstGeom prst="rect">
              <a:avLst/>
            </a:prstGeom>
          </p:spPr>
          <p:txBody>
            <a:bodyPr wrap="none">
              <a:spAutoFit/>
            </a:bodyPr>
            <a:lstStyle/>
            <a:p>
              <a:r>
                <a:rPr lang="zh-CN" altLang="en-US" sz="1600" b="1" dirty="0">
                  <a:solidFill>
                    <a:srgbClr val="002060"/>
                  </a:solidFill>
                  <a:latin typeface="微软雅黑" panose="020B0503020204020204" pitchFamily="34" charset="-122"/>
                  <a:ea typeface="微软雅黑" panose="020B0503020204020204" pitchFamily="34" charset="-122"/>
                </a:rPr>
                <a:t>同步时序逻辑电路分析实例 </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pic>
          <p:nvPicPr>
            <p:cNvPr id="11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 name="组合 1"/>
          <p:cNvGrpSpPr/>
          <p:nvPr/>
        </p:nvGrpSpPr>
        <p:grpSpPr>
          <a:xfrm>
            <a:off x="4472933" y="697971"/>
            <a:ext cx="4516120" cy="1769460"/>
            <a:chOff x="3781976" y="1703257"/>
            <a:chExt cx="5146807" cy="1942909"/>
          </a:xfrm>
        </p:grpSpPr>
        <p:sp>
          <p:nvSpPr>
            <p:cNvPr id="53" name="圆角矩形 78"/>
            <p:cNvSpPr/>
            <p:nvPr/>
          </p:nvSpPr>
          <p:spPr>
            <a:xfrm>
              <a:off x="3781977" y="1703257"/>
              <a:ext cx="5146806" cy="1942909"/>
            </a:xfrm>
            <a:prstGeom prst="roundRect">
              <a:avLst>
                <a:gd name="adj" fmla="val 536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5" name="图片 3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1976" y="1826606"/>
              <a:ext cx="5146807" cy="1677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4" name="组合 73"/>
          <p:cNvGrpSpPr/>
          <p:nvPr/>
        </p:nvGrpSpPr>
        <p:grpSpPr>
          <a:xfrm>
            <a:off x="392432" y="1293865"/>
            <a:ext cx="3537818" cy="374630"/>
            <a:chOff x="369777" y="1347760"/>
            <a:chExt cx="3537818" cy="374630"/>
          </a:xfrm>
        </p:grpSpPr>
        <p:sp>
          <p:nvSpPr>
            <p:cNvPr id="75" name="TextBox 35"/>
            <p:cNvSpPr txBox="1"/>
            <p:nvPr/>
          </p:nvSpPr>
          <p:spPr>
            <a:xfrm>
              <a:off x="723710" y="1350409"/>
              <a:ext cx="3183885" cy="338554"/>
            </a:xfrm>
            <a:prstGeom prst="rect">
              <a:avLst/>
            </a:prstGeom>
            <a:noFill/>
          </p:spPr>
          <p:txBody>
            <a:bodyPr wrap="none" rtlCol="0">
              <a:spAutoFit/>
            </a:bodyPr>
            <a:lstStyle/>
            <a:p>
              <a:r>
                <a:rPr lang="zh-CN" altLang="en-US" sz="1600" b="1" dirty="0">
                  <a:solidFill>
                    <a:srgbClr val="CC00CC"/>
                  </a:solidFill>
                  <a:latin typeface="黑体" panose="02010609060101010101" pitchFamily="49" charset="-122"/>
                  <a:ea typeface="黑体" panose="02010609060101010101" pitchFamily="49" charset="-122"/>
                </a:rPr>
                <a:t>例</a:t>
              </a:r>
              <a:r>
                <a:rPr lang="en-US" altLang="zh-CN" sz="1600" b="1" dirty="0">
                  <a:solidFill>
                    <a:srgbClr val="CC00CC"/>
                  </a:solidFill>
                  <a:latin typeface="黑体" panose="02010609060101010101" pitchFamily="49" charset="-122"/>
                  <a:ea typeface="黑体" panose="02010609060101010101" pitchFamily="49" charset="-122"/>
                </a:rPr>
                <a:t>1</a:t>
              </a:r>
              <a:r>
                <a:rPr lang="zh-CN" altLang="en-US" sz="1600" b="1" dirty="0">
                  <a:solidFill>
                    <a:srgbClr val="CC00CC"/>
                  </a:solidFill>
                  <a:latin typeface="黑体" panose="02010609060101010101" pitchFamily="49" charset="-122"/>
                  <a:ea typeface="黑体" panose="02010609060101010101" pitchFamily="49" charset="-122"/>
                </a:rPr>
                <a:t>：</a:t>
              </a:r>
              <a:r>
                <a:rPr lang="zh-CN" altLang="en-US" sz="1600" b="1" dirty="0">
                  <a:solidFill>
                    <a:srgbClr val="6600FF"/>
                  </a:solidFill>
                  <a:latin typeface="黑体" panose="02010609060101010101" pitchFamily="49" charset="-122"/>
                  <a:ea typeface="黑体" panose="02010609060101010101" pitchFamily="49" charset="-122"/>
                </a:rPr>
                <a:t>分析图示同步时序逻辑电路</a:t>
              </a:r>
              <a:endParaRPr lang="zh-CN" altLang="en-US" sz="1600" b="1" dirty="0">
                <a:solidFill>
                  <a:srgbClr val="6600FF"/>
                </a:solidFill>
                <a:latin typeface="黑体" panose="02010609060101010101" pitchFamily="49" charset="-122"/>
                <a:ea typeface="黑体" panose="02010609060101010101" pitchFamily="49" charset="-122"/>
              </a:endParaRPr>
            </a:p>
          </p:txBody>
        </p:sp>
        <p:pic>
          <p:nvPicPr>
            <p:cNvPr id="76" name="Picture 4"/>
            <p:cNvPicPr>
              <a:picLocks noChangeAspect="1" noChangeArrowheads="1"/>
            </p:cNvPicPr>
            <p:nvPr/>
          </p:nvPicPr>
          <p:blipFill>
            <a:blip r:embed="rId3" cstate="print"/>
            <a:srcRect/>
            <a:stretch>
              <a:fillRect/>
            </a:stretch>
          </p:blipFill>
          <p:spPr bwMode="auto">
            <a:xfrm>
              <a:off x="369777" y="1347760"/>
              <a:ext cx="373669" cy="374630"/>
            </a:xfrm>
            <a:prstGeom prst="rect">
              <a:avLst/>
            </a:prstGeom>
            <a:noFill/>
            <a:ln w="9525">
              <a:noFill/>
              <a:miter lim="800000"/>
              <a:headEnd/>
              <a:tailEnd/>
            </a:ln>
          </p:spPr>
        </p:pic>
      </p:grpSp>
      <p:sp>
        <p:nvSpPr>
          <p:cNvPr id="9" name="Rectangle 6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1" name="组合 40"/>
          <p:cNvGrpSpPr/>
          <p:nvPr/>
        </p:nvGrpSpPr>
        <p:grpSpPr>
          <a:xfrm>
            <a:off x="423560" y="1937509"/>
            <a:ext cx="1760616" cy="338554"/>
            <a:chOff x="4731375" y="1650857"/>
            <a:chExt cx="1760616" cy="338554"/>
          </a:xfrm>
        </p:grpSpPr>
        <p:sp>
          <p:nvSpPr>
            <p:cNvPr id="42" name="矩形 41"/>
            <p:cNvSpPr/>
            <p:nvPr/>
          </p:nvSpPr>
          <p:spPr>
            <a:xfrm>
              <a:off x="5076219" y="1650857"/>
              <a:ext cx="1415772"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画状态转换图</a:t>
              </a:r>
              <a:endParaRPr lang="zh-CN" altLang="en-US" sz="1600" dirty="0"/>
            </a:p>
          </p:txBody>
        </p:sp>
        <p:pic>
          <p:nvPicPr>
            <p:cNvPr id="43" name="Picture 5"/>
            <p:cNvPicPr>
              <a:picLocks noChangeAspect="1" noChangeArrowheads="1"/>
            </p:cNvPicPr>
            <p:nvPr/>
          </p:nvPicPr>
          <p:blipFill>
            <a:blip r:embed="rId4" cstate="print"/>
            <a:srcRect/>
            <a:stretch>
              <a:fillRect/>
            </a:stretch>
          </p:blipFill>
          <p:spPr bwMode="auto">
            <a:xfrm>
              <a:off x="4731375" y="1677030"/>
              <a:ext cx="360000" cy="286209"/>
            </a:xfrm>
            <a:prstGeom prst="rect">
              <a:avLst/>
            </a:prstGeom>
            <a:noFill/>
            <a:ln w="9525">
              <a:noFill/>
              <a:miter lim="800000"/>
              <a:headEnd/>
              <a:tailEnd/>
            </a:ln>
          </p:spPr>
        </p:pic>
      </p:grpSp>
      <p:grpSp>
        <p:nvGrpSpPr>
          <p:cNvPr id="87" name="组合 86"/>
          <p:cNvGrpSpPr/>
          <p:nvPr/>
        </p:nvGrpSpPr>
        <p:grpSpPr>
          <a:xfrm>
            <a:off x="3892174" y="2628290"/>
            <a:ext cx="1760616" cy="338554"/>
            <a:chOff x="4731375" y="1650857"/>
            <a:chExt cx="1760616" cy="338554"/>
          </a:xfrm>
        </p:grpSpPr>
        <p:sp>
          <p:nvSpPr>
            <p:cNvPr id="88" name="矩形 87"/>
            <p:cNvSpPr/>
            <p:nvPr/>
          </p:nvSpPr>
          <p:spPr>
            <a:xfrm>
              <a:off x="5076219" y="1650857"/>
              <a:ext cx="1415772"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列状态转换表</a:t>
              </a:r>
              <a:endParaRPr lang="zh-CN" altLang="en-US" sz="1600" dirty="0"/>
            </a:p>
          </p:txBody>
        </p:sp>
        <p:pic>
          <p:nvPicPr>
            <p:cNvPr id="90" name="Picture 5"/>
            <p:cNvPicPr>
              <a:picLocks noChangeAspect="1" noChangeArrowheads="1"/>
            </p:cNvPicPr>
            <p:nvPr/>
          </p:nvPicPr>
          <p:blipFill>
            <a:blip r:embed="rId4" cstate="print"/>
            <a:srcRect/>
            <a:stretch>
              <a:fillRect/>
            </a:stretch>
          </p:blipFill>
          <p:spPr bwMode="auto">
            <a:xfrm>
              <a:off x="4731375" y="1677030"/>
              <a:ext cx="360000" cy="286209"/>
            </a:xfrm>
            <a:prstGeom prst="rect">
              <a:avLst/>
            </a:prstGeom>
            <a:noFill/>
            <a:ln w="9525">
              <a:noFill/>
              <a:miter lim="800000"/>
              <a:headEnd/>
              <a:tailEnd/>
            </a:ln>
          </p:spPr>
        </p:pic>
      </p:grpSp>
      <p:pic>
        <p:nvPicPr>
          <p:cNvPr id="5" name="图片 4"/>
          <p:cNvPicPr>
            <a:picLocks noChangeAspect="1"/>
          </p:cNvPicPr>
          <p:nvPr/>
        </p:nvPicPr>
        <p:blipFill>
          <a:blip r:embed="rId5"/>
          <a:stretch>
            <a:fillRect/>
          </a:stretch>
        </p:blipFill>
        <p:spPr>
          <a:xfrm>
            <a:off x="766101" y="2500217"/>
            <a:ext cx="2581068" cy="2231711"/>
          </a:xfrm>
          <a:prstGeom prst="rect">
            <a:avLst/>
          </a:prstGeom>
        </p:spPr>
      </p:pic>
      <p:pic>
        <p:nvPicPr>
          <p:cNvPr id="21" name="图片 20"/>
          <p:cNvPicPr>
            <a:picLocks noChangeAspect="1"/>
          </p:cNvPicPr>
          <p:nvPr/>
        </p:nvPicPr>
        <p:blipFill>
          <a:blip r:embed="rId6"/>
          <a:stretch>
            <a:fillRect/>
          </a:stretch>
        </p:blipFill>
        <p:spPr>
          <a:xfrm>
            <a:off x="6786174" y="2989116"/>
            <a:ext cx="2180279" cy="1742812"/>
          </a:xfrm>
          <a:prstGeom prst="rect">
            <a:avLst/>
          </a:prstGeom>
        </p:spPr>
      </p:pic>
      <p:pic>
        <p:nvPicPr>
          <p:cNvPr id="22" name="图片 21"/>
          <p:cNvPicPr>
            <a:picLocks noChangeAspect="1"/>
          </p:cNvPicPr>
          <p:nvPr/>
        </p:nvPicPr>
        <p:blipFill>
          <a:blip r:embed="rId7"/>
          <a:stretch>
            <a:fillRect/>
          </a:stretch>
        </p:blipFill>
        <p:spPr>
          <a:xfrm>
            <a:off x="4091291" y="3009417"/>
            <a:ext cx="2550171" cy="1998419"/>
          </a:xfrm>
          <a:prstGeom prst="rect">
            <a:avLst/>
          </a:prstGeom>
        </p:spPr>
      </p:pic>
      <p:sp>
        <p:nvSpPr>
          <p:cNvPr id="23" name="圆角矩形 194"/>
          <p:cNvSpPr/>
          <p:nvPr/>
        </p:nvSpPr>
        <p:spPr>
          <a:xfrm>
            <a:off x="746365" y="2533644"/>
            <a:ext cx="1090318" cy="581396"/>
          </a:xfrm>
          <a:prstGeom prst="roundRect">
            <a:avLst>
              <a:gd name="adj" fmla="val 26712"/>
            </a:avLst>
          </a:prstGeom>
          <a:solidFill>
            <a:srgbClr val="0000FF">
              <a:alpha val="16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p:cTn id="19" dur="1000" fill="hold"/>
                                        <p:tgtEl>
                                          <p:spTgt spid="23"/>
                                        </p:tgtEl>
                                        <p:attrNameLst>
                                          <p:attrName>ppt_w</p:attrName>
                                        </p:attrNameLst>
                                      </p:cBhvr>
                                      <p:tavLst>
                                        <p:tav tm="0">
                                          <p:val>
                                            <p:fltVal val="0"/>
                                          </p:val>
                                        </p:tav>
                                        <p:tav tm="100000">
                                          <p:val>
                                            <p:strVal val="#ppt_w"/>
                                          </p:val>
                                        </p:tav>
                                      </p:tavLst>
                                    </p:anim>
                                    <p:anim calcmode="lin" valueType="num">
                                      <p:cBhvr>
                                        <p:cTn id="20" dur="1000" fill="hold"/>
                                        <p:tgtEl>
                                          <p:spTgt spid="23"/>
                                        </p:tgtEl>
                                        <p:attrNameLst>
                                          <p:attrName>ppt_h</p:attrName>
                                        </p:attrNameLst>
                                      </p:cBhvr>
                                      <p:tavLst>
                                        <p:tav tm="0">
                                          <p:val>
                                            <p:fltVal val="0"/>
                                          </p:val>
                                        </p:tav>
                                        <p:tav tm="100000">
                                          <p:val>
                                            <p:strVal val="#ppt_h"/>
                                          </p:val>
                                        </p:tav>
                                      </p:tavLst>
                                    </p:anim>
                                    <p:animEffect transition="in" filter="fade">
                                      <p:cBhvr>
                                        <p:cTn id="21"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 name="组合 88"/>
          <p:cNvGrpSpPr/>
          <p:nvPr/>
        </p:nvGrpSpPr>
        <p:grpSpPr>
          <a:xfrm>
            <a:off x="392432" y="778617"/>
            <a:ext cx="3072466" cy="411055"/>
            <a:chOff x="670560" y="892917"/>
            <a:chExt cx="3072466" cy="411055"/>
          </a:xfrm>
        </p:grpSpPr>
        <p:sp>
          <p:nvSpPr>
            <p:cNvPr id="97" name="矩形 96"/>
            <p:cNvSpPr/>
            <p:nvPr/>
          </p:nvSpPr>
          <p:spPr>
            <a:xfrm>
              <a:off x="1035233" y="913778"/>
              <a:ext cx="2707793" cy="338554"/>
            </a:xfrm>
            <a:prstGeom prst="rect">
              <a:avLst/>
            </a:prstGeom>
          </p:spPr>
          <p:txBody>
            <a:bodyPr wrap="none">
              <a:spAutoFit/>
            </a:bodyPr>
            <a:lstStyle/>
            <a:p>
              <a:r>
                <a:rPr lang="zh-CN" altLang="en-US" sz="1600" b="1" dirty="0">
                  <a:solidFill>
                    <a:srgbClr val="002060"/>
                  </a:solidFill>
                  <a:latin typeface="微软雅黑" panose="020B0503020204020204" pitchFamily="34" charset="-122"/>
                  <a:ea typeface="微软雅黑" panose="020B0503020204020204" pitchFamily="34" charset="-122"/>
                </a:rPr>
                <a:t>同步时序逻辑电路分析实例 </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pic>
          <p:nvPicPr>
            <p:cNvPr id="11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 name="组合 1"/>
          <p:cNvGrpSpPr/>
          <p:nvPr/>
        </p:nvGrpSpPr>
        <p:grpSpPr>
          <a:xfrm>
            <a:off x="4472933" y="697971"/>
            <a:ext cx="4516120" cy="1769460"/>
            <a:chOff x="3781976" y="1703257"/>
            <a:chExt cx="5146807" cy="1942909"/>
          </a:xfrm>
        </p:grpSpPr>
        <p:sp>
          <p:nvSpPr>
            <p:cNvPr id="53" name="圆角矩形 78"/>
            <p:cNvSpPr/>
            <p:nvPr/>
          </p:nvSpPr>
          <p:spPr>
            <a:xfrm>
              <a:off x="3781977" y="1703257"/>
              <a:ext cx="5146806" cy="1942909"/>
            </a:xfrm>
            <a:prstGeom prst="roundRect">
              <a:avLst>
                <a:gd name="adj" fmla="val 536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5" name="图片 3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1976" y="1826606"/>
              <a:ext cx="5146807" cy="1677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4" name="组合 73"/>
          <p:cNvGrpSpPr/>
          <p:nvPr/>
        </p:nvGrpSpPr>
        <p:grpSpPr>
          <a:xfrm>
            <a:off x="392432" y="1293865"/>
            <a:ext cx="3537818" cy="374630"/>
            <a:chOff x="369777" y="1347760"/>
            <a:chExt cx="3537818" cy="374630"/>
          </a:xfrm>
        </p:grpSpPr>
        <p:sp>
          <p:nvSpPr>
            <p:cNvPr id="75" name="TextBox 35"/>
            <p:cNvSpPr txBox="1"/>
            <p:nvPr/>
          </p:nvSpPr>
          <p:spPr>
            <a:xfrm>
              <a:off x="723710" y="1350409"/>
              <a:ext cx="3183885" cy="338554"/>
            </a:xfrm>
            <a:prstGeom prst="rect">
              <a:avLst/>
            </a:prstGeom>
            <a:noFill/>
          </p:spPr>
          <p:txBody>
            <a:bodyPr wrap="none" rtlCol="0">
              <a:spAutoFit/>
            </a:bodyPr>
            <a:lstStyle/>
            <a:p>
              <a:r>
                <a:rPr lang="zh-CN" altLang="en-US" sz="1600" b="1" dirty="0">
                  <a:solidFill>
                    <a:srgbClr val="CC00CC"/>
                  </a:solidFill>
                  <a:latin typeface="黑体" panose="02010609060101010101" pitchFamily="49" charset="-122"/>
                  <a:ea typeface="黑体" panose="02010609060101010101" pitchFamily="49" charset="-122"/>
                </a:rPr>
                <a:t>例</a:t>
              </a:r>
              <a:r>
                <a:rPr lang="en-US" altLang="zh-CN" sz="1600" b="1" dirty="0">
                  <a:solidFill>
                    <a:srgbClr val="CC00CC"/>
                  </a:solidFill>
                  <a:latin typeface="黑体" panose="02010609060101010101" pitchFamily="49" charset="-122"/>
                  <a:ea typeface="黑体" panose="02010609060101010101" pitchFamily="49" charset="-122"/>
                </a:rPr>
                <a:t>1</a:t>
              </a:r>
              <a:r>
                <a:rPr lang="zh-CN" altLang="en-US" sz="1600" b="1" dirty="0">
                  <a:solidFill>
                    <a:srgbClr val="CC00CC"/>
                  </a:solidFill>
                  <a:latin typeface="黑体" panose="02010609060101010101" pitchFamily="49" charset="-122"/>
                  <a:ea typeface="黑体" panose="02010609060101010101" pitchFamily="49" charset="-122"/>
                </a:rPr>
                <a:t>：</a:t>
              </a:r>
              <a:r>
                <a:rPr lang="zh-CN" altLang="en-US" sz="1600" b="1" dirty="0">
                  <a:solidFill>
                    <a:srgbClr val="6600FF"/>
                  </a:solidFill>
                  <a:latin typeface="黑体" panose="02010609060101010101" pitchFamily="49" charset="-122"/>
                  <a:ea typeface="黑体" panose="02010609060101010101" pitchFamily="49" charset="-122"/>
                </a:rPr>
                <a:t>分析图示同步时序逻辑电路</a:t>
              </a:r>
              <a:endParaRPr lang="zh-CN" altLang="en-US" sz="1600" b="1" dirty="0">
                <a:solidFill>
                  <a:srgbClr val="6600FF"/>
                </a:solidFill>
                <a:latin typeface="黑体" panose="02010609060101010101" pitchFamily="49" charset="-122"/>
                <a:ea typeface="黑体" panose="02010609060101010101" pitchFamily="49" charset="-122"/>
              </a:endParaRPr>
            </a:p>
          </p:txBody>
        </p:sp>
        <p:pic>
          <p:nvPicPr>
            <p:cNvPr id="76" name="Picture 4"/>
            <p:cNvPicPr>
              <a:picLocks noChangeAspect="1" noChangeArrowheads="1"/>
            </p:cNvPicPr>
            <p:nvPr/>
          </p:nvPicPr>
          <p:blipFill>
            <a:blip r:embed="rId3" cstate="print"/>
            <a:srcRect/>
            <a:stretch>
              <a:fillRect/>
            </a:stretch>
          </p:blipFill>
          <p:spPr bwMode="auto">
            <a:xfrm>
              <a:off x="369777" y="1347760"/>
              <a:ext cx="373669" cy="374630"/>
            </a:xfrm>
            <a:prstGeom prst="rect">
              <a:avLst/>
            </a:prstGeom>
            <a:noFill/>
            <a:ln w="9525">
              <a:noFill/>
              <a:miter lim="800000"/>
              <a:headEnd/>
              <a:tailEnd/>
            </a:ln>
          </p:spPr>
        </p:pic>
      </p:grpSp>
      <p:sp>
        <p:nvSpPr>
          <p:cNvPr id="9" name="Rectangle 6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1" name="组合 40"/>
          <p:cNvGrpSpPr/>
          <p:nvPr/>
        </p:nvGrpSpPr>
        <p:grpSpPr>
          <a:xfrm>
            <a:off x="423560" y="1937509"/>
            <a:ext cx="1760616" cy="338554"/>
            <a:chOff x="4731375" y="1650857"/>
            <a:chExt cx="1760616" cy="338554"/>
          </a:xfrm>
        </p:grpSpPr>
        <p:sp>
          <p:nvSpPr>
            <p:cNvPr id="42" name="矩形 41"/>
            <p:cNvSpPr/>
            <p:nvPr/>
          </p:nvSpPr>
          <p:spPr>
            <a:xfrm>
              <a:off x="5076219" y="1650857"/>
              <a:ext cx="1415772"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画状态转换图</a:t>
              </a:r>
              <a:endParaRPr lang="zh-CN" altLang="en-US" sz="1600" dirty="0"/>
            </a:p>
          </p:txBody>
        </p:sp>
        <p:pic>
          <p:nvPicPr>
            <p:cNvPr id="43" name="Picture 5"/>
            <p:cNvPicPr>
              <a:picLocks noChangeAspect="1" noChangeArrowheads="1"/>
            </p:cNvPicPr>
            <p:nvPr/>
          </p:nvPicPr>
          <p:blipFill>
            <a:blip r:embed="rId4" cstate="print"/>
            <a:srcRect/>
            <a:stretch>
              <a:fillRect/>
            </a:stretch>
          </p:blipFill>
          <p:spPr bwMode="auto">
            <a:xfrm>
              <a:off x="4731375" y="1677030"/>
              <a:ext cx="360000" cy="286209"/>
            </a:xfrm>
            <a:prstGeom prst="rect">
              <a:avLst/>
            </a:prstGeom>
            <a:noFill/>
            <a:ln w="9525">
              <a:noFill/>
              <a:miter lim="800000"/>
              <a:headEnd/>
              <a:tailEnd/>
            </a:ln>
          </p:spPr>
        </p:pic>
      </p:grpSp>
      <p:pic>
        <p:nvPicPr>
          <p:cNvPr id="5" name="图片 4"/>
          <p:cNvPicPr>
            <a:picLocks noChangeAspect="1"/>
          </p:cNvPicPr>
          <p:nvPr/>
        </p:nvPicPr>
        <p:blipFill>
          <a:blip r:embed="rId5"/>
          <a:stretch>
            <a:fillRect/>
          </a:stretch>
        </p:blipFill>
        <p:spPr>
          <a:xfrm>
            <a:off x="766101" y="2500217"/>
            <a:ext cx="2581068" cy="2231711"/>
          </a:xfrm>
          <a:prstGeom prst="rect">
            <a:avLst/>
          </a:prstGeom>
        </p:spPr>
      </p:pic>
      <p:grpSp>
        <p:nvGrpSpPr>
          <p:cNvPr id="21" name="组合 20"/>
          <p:cNvGrpSpPr/>
          <p:nvPr/>
        </p:nvGrpSpPr>
        <p:grpSpPr>
          <a:xfrm>
            <a:off x="4228525" y="2611075"/>
            <a:ext cx="1760616" cy="338554"/>
            <a:chOff x="4731375" y="1650857"/>
            <a:chExt cx="1760616" cy="338554"/>
          </a:xfrm>
        </p:grpSpPr>
        <p:sp>
          <p:nvSpPr>
            <p:cNvPr id="22" name="矩形 21"/>
            <p:cNvSpPr/>
            <p:nvPr/>
          </p:nvSpPr>
          <p:spPr>
            <a:xfrm>
              <a:off x="5076219" y="1650857"/>
              <a:ext cx="1415772"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画时序波形图</a:t>
              </a:r>
              <a:endParaRPr lang="zh-CN" altLang="en-US" sz="1600" dirty="0"/>
            </a:p>
          </p:txBody>
        </p:sp>
        <p:pic>
          <p:nvPicPr>
            <p:cNvPr id="23" name="Picture 5"/>
            <p:cNvPicPr>
              <a:picLocks noChangeAspect="1" noChangeArrowheads="1"/>
            </p:cNvPicPr>
            <p:nvPr/>
          </p:nvPicPr>
          <p:blipFill>
            <a:blip r:embed="rId4" cstate="print"/>
            <a:srcRect/>
            <a:stretch>
              <a:fillRect/>
            </a:stretch>
          </p:blipFill>
          <p:spPr bwMode="auto">
            <a:xfrm>
              <a:off x="4731375" y="1677030"/>
              <a:ext cx="360000" cy="286209"/>
            </a:xfrm>
            <a:prstGeom prst="rect">
              <a:avLst/>
            </a:prstGeom>
            <a:noFill/>
            <a:ln w="9525">
              <a:noFill/>
              <a:miter lim="800000"/>
              <a:headEnd/>
              <a:tailEnd/>
            </a:ln>
          </p:spPr>
        </p:pic>
      </p:grpSp>
      <p:grpSp>
        <p:nvGrpSpPr>
          <p:cNvPr id="3" name="组合 2"/>
          <p:cNvGrpSpPr/>
          <p:nvPr/>
        </p:nvGrpSpPr>
        <p:grpSpPr>
          <a:xfrm>
            <a:off x="4286216" y="3152845"/>
            <a:ext cx="4683850" cy="1691640"/>
            <a:chOff x="4286216" y="3152845"/>
            <a:chExt cx="4683850" cy="1691640"/>
          </a:xfrm>
        </p:grpSpPr>
        <p:sp>
          <p:nvSpPr>
            <p:cNvPr id="24" name="圆角矩形 71"/>
            <p:cNvSpPr/>
            <p:nvPr/>
          </p:nvSpPr>
          <p:spPr>
            <a:xfrm>
              <a:off x="4322416" y="3152845"/>
              <a:ext cx="4647650" cy="1691640"/>
            </a:xfrm>
            <a:prstGeom prst="roundRect">
              <a:avLst>
                <a:gd name="adj" fmla="val 2657"/>
              </a:avLst>
            </a:prstGeom>
            <a:solidFill>
              <a:schemeClr val="bg1">
                <a:alpha val="16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grpSp>
          <p:nvGrpSpPr>
            <p:cNvPr id="25" name="组合 35"/>
            <p:cNvGrpSpPr/>
            <p:nvPr/>
          </p:nvGrpSpPr>
          <p:grpSpPr>
            <a:xfrm>
              <a:off x="4286216" y="3188236"/>
              <a:ext cx="4620993" cy="561880"/>
              <a:chOff x="2865441" y="2493629"/>
              <a:chExt cx="5463218" cy="773799"/>
            </a:xfrm>
          </p:grpSpPr>
          <p:pic>
            <p:nvPicPr>
              <p:cNvPr id="26" name="Picture 14"/>
              <p:cNvPicPr>
                <a:picLocks noChangeAspect="1" noChangeArrowheads="1"/>
              </p:cNvPicPr>
              <p:nvPr/>
            </p:nvPicPr>
            <p:blipFill>
              <a:blip r:embed="rId6" cstate="print"/>
              <a:srcRect b="64190"/>
              <a:stretch>
                <a:fillRect/>
              </a:stretch>
            </p:blipFill>
            <p:spPr bwMode="auto">
              <a:xfrm>
                <a:off x="3298508" y="2493629"/>
                <a:ext cx="5030151" cy="773799"/>
              </a:xfrm>
              <a:prstGeom prst="rect">
                <a:avLst/>
              </a:prstGeom>
              <a:noFill/>
              <a:ln w="9525">
                <a:noFill/>
                <a:miter lim="800000"/>
                <a:headEnd/>
                <a:tailEnd/>
              </a:ln>
            </p:spPr>
          </p:pic>
          <p:sp>
            <p:nvSpPr>
              <p:cNvPr id="27" name="TextBox 98"/>
              <p:cNvSpPr txBox="1"/>
              <p:nvPr/>
            </p:nvSpPr>
            <p:spPr>
              <a:xfrm>
                <a:off x="2865441" y="2537461"/>
                <a:ext cx="489333" cy="720559"/>
              </a:xfrm>
              <a:prstGeom prst="rect">
                <a:avLst/>
              </a:prstGeom>
              <a:noFill/>
            </p:spPr>
            <p:txBody>
              <a:bodyPr wrap="none" rtlCol="0">
                <a:spAutoFit/>
              </a:bodyPr>
              <a:lstStyle/>
              <a:p>
                <a:pPr algn="r"/>
                <a:r>
                  <a:rPr lang="en-US" altLang="zh-CN" sz="1400" i="1" dirty="0">
                    <a:latin typeface="Times New Roman" panose="02020603050405020304" pitchFamily="18" charset="0"/>
                    <a:cs typeface="Times New Roman" panose="02020603050405020304" pitchFamily="18" charset="0"/>
                  </a:rPr>
                  <a:t>CP</a:t>
                </a:r>
                <a:endParaRPr lang="en-US" altLang="zh-CN" sz="1400" i="1" dirty="0">
                  <a:latin typeface="Times New Roman" panose="02020603050405020304" pitchFamily="18" charset="0"/>
                  <a:cs typeface="Times New Roman" panose="02020603050405020304" pitchFamily="18" charset="0"/>
                </a:endParaRPr>
              </a:p>
              <a:p>
                <a:pPr algn="ctr"/>
                <a:r>
                  <a:rPr lang="en-US" altLang="zh-CN" sz="1400" i="1" dirty="0">
                    <a:latin typeface="Times New Roman" panose="02020603050405020304" pitchFamily="18" charset="0"/>
                    <a:cs typeface="Times New Roman" panose="02020603050405020304" pitchFamily="18" charset="0"/>
                  </a:rPr>
                  <a:t>X</a:t>
                </a:r>
                <a:endParaRPr lang="zh-CN" altLang="en-US" sz="1400" i="1" dirty="0">
                  <a:latin typeface="Times New Roman" panose="02020603050405020304" pitchFamily="18" charset="0"/>
                  <a:cs typeface="Times New Roman" panose="02020603050405020304" pitchFamily="18" charset="0"/>
                </a:endParaRPr>
              </a:p>
            </p:txBody>
          </p:sp>
        </p:grpSp>
      </p:grpSp>
      <p:grpSp>
        <p:nvGrpSpPr>
          <p:cNvPr id="28" name="组合 38"/>
          <p:cNvGrpSpPr/>
          <p:nvPr/>
        </p:nvGrpSpPr>
        <p:grpSpPr>
          <a:xfrm>
            <a:off x="4259374" y="3745481"/>
            <a:ext cx="4656621" cy="653495"/>
            <a:chOff x="2861388" y="3003548"/>
            <a:chExt cx="5477486" cy="899965"/>
          </a:xfrm>
        </p:grpSpPr>
        <p:pic>
          <p:nvPicPr>
            <p:cNvPr id="29" name="Picture 14"/>
            <p:cNvPicPr>
              <a:picLocks noChangeAspect="1" noChangeArrowheads="1"/>
            </p:cNvPicPr>
            <p:nvPr/>
          </p:nvPicPr>
          <p:blipFill>
            <a:blip r:embed="rId6" cstate="print"/>
            <a:srcRect t="39738" b="21353"/>
            <a:stretch>
              <a:fillRect/>
            </a:stretch>
          </p:blipFill>
          <p:spPr bwMode="auto">
            <a:xfrm>
              <a:off x="3308721" y="3062751"/>
              <a:ext cx="5030153" cy="840762"/>
            </a:xfrm>
            <a:prstGeom prst="rect">
              <a:avLst/>
            </a:prstGeom>
            <a:noFill/>
            <a:ln w="9525">
              <a:noFill/>
              <a:miter lim="800000"/>
              <a:headEnd/>
              <a:tailEnd/>
            </a:ln>
          </p:spPr>
        </p:pic>
        <p:sp>
          <p:nvSpPr>
            <p:cNvPr id="30" name="TextBox 96"/>
            <p:cNvSpPr txBox="1"/>
            <p:nvPr/>
          </p:nvSpPr>
          <p:spPr>
            <a:xfrm>
              <a:off x="2861388" y="3003548"/>
              <a:ext cx="501007" cy="886413"/>
            </a:xfrm>
            <a:prstGeom prst="rect">
              <a:avLst/>
            </a:prstGeom>
            <a:noFill/>
          </p:spPr>
          <p:txBody>
            <a:bodyPr wrap="none" rtlCol="0">
              <a:spAutoFit/>
            </a:bodyPr>
            <a:lstStyle/>
            <a:p>
              <a:pPr algn="r"/>
              <a:r>
                <a:rPr lang="en-US" altLang="zh-CN" sz="1400" i="1"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0</a:t>
              </a:r>
              <a:endParaRPr lang="en-US" altLang="zh-CN" sz="1400" baseline="-25000" dirty="0">
                <a:latin typeface="Times New Roman" panose="02020603050405020304" pitchFamily="18" charset="0"/>
                <a:cs typeface="Times New Roman" panose="02020603050405020304" pitchFamily="18" charset="0"/>
              </a:endParaRPr>
            </a:p>
            <a:p>
              <a:pPr algn="r">
                <a:spcBef>
                  <a:spcPts val="600"/>
                </a:spcBef>
              </a:pPr>
              <a:r>
                <a:rPr lang="en-US" altLang="zh-CN" sz="1400" i="1"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1</a:t>
              </a:r>
              <a:endParaRPr lang="en-US" altLang="zh-CN" sz="1400" baseline="-25000" dirty="0">
                <a:latin typeface="Times New Roman" panose="02020603050405020304" pitchFamily="18" charset="0"/>
                <a:cs typeface="Times New Roman" panose="02020603050405020304" pitchFamily="18" charset="0"/>
              </a:endParaRPr>
            </a:p>
          </p:txBody>
        </p:sp>
      </p:grpSp>
      <p:grpSp>
        <p:nvGrpSpPr>
          <p:cNvPr id="31" name="组合 41"/>
          <p:cNvGrpSpPr/>
          <p:nvPr/>
        </p:nvGrpSpPr>
        <p:grpSpPr>
          <a:xfrm>
            <a:off x="4315446" y="4504324"/>
            <a:ext cx="4576087" cy="330080"/>
            <a:chOff x="2916196" y="3914290"/>
            <a:chExt cx="5391451" cy="454568"/>
          </a:xfrm>
        </p:grpSpPr>
        <p:pic>
          <p:nvPicPr>
            <p:cNvPr id="32" name="Picture 14"/>
            <p:cNvPicPr>
              <a:picLocks noChangeAspect="1" noChangeArrowheads="1"/>
            </p:cNvPicPr>
            <p:nvPr/>
          </p:nvPicPr>
          <p:blipFill>
            <a:blip r:embed="rId6" cstate="print"/>
            <a:srcRect t="83778"/>
            <a:stretch>
              <a:fillRect/>
            </a:stretch>
          </p:blipFill>
          <p:spPr bwMode="auto">
            <a:xfrm>
              <a:off x="3309730" y="3924163"/>
              <a:ext cx="4997917" cy="350521"/>
            </a:xfrm>
            <a:prstGeom prst="rect">
              <a:avLst/>
            </a:prstGeom>
            <a:noFill/>
            <a:ln w="9525">
              <a:noFill/>
              <a:miter lim="800000"/>
              <a:headEnd/>
              <a:tailEnd/>
            </a:ln>
          </p:spPr>
        </p:pic>
        <p:sp>
          <p:nvSpPr>
            <p:cNvPr id="33" name="TextBox 94"/>
            <p:cNvSpPr txBox="1"/>
            <p:nvPr/>
          </p:nvSpPr>
          <p:spPr>
            <a:xfrm>
              <a:off x="2916196" y="3914290"/>
              <a:ext cx="385238" cy="454568"/>
            </a:xfrm>
            <a:prstGeom prst="rect">
              <a:avLst/>
            </a:prstGeom>
            <a:noFill/>
          </p:spPr>
          <p:txBody>
            <a:bodyPr wrap="none" rtlCol="0">
              <a:spAutoFit/>
            </a:bodyPr>
            <a:lstStyle/>
            <a:p>
              <a:pPr algn="r"/>
              <a:r>
                <a:rPr lang="en-US" altLang="zh-CN" sz="1400" i="1" dirty="0">
                  <a:latin typeface="Times New Roman" panose="02020603050405020304" pitchFamily="18" charset="0"/>
                  <a:cs typeface="Times New Roman" panose="02020603050405020304" pitchFamily="18" charset="0"/>
                </a:rPr>
                <a:t>Y</a:t>
              </a:r>
              <a:endParaRPr lang="en-US" altLang="zh-CN" sz="1400" baseline="-25000" dirty="0">
                <a:latin typeface="Times New Roman" panose="02020603050405020304" pitchFamily="18" charset="0"/>
                <a:cs typeface="Times New Roman" panose="02020603050405020304" pitchFamily="18" charset="0"/>
              </a:endParaRPr>
            </a:p>
          </p:txBody>
        </p:sp>
      </p:grpSp>
      <p:grpSp>
        <p:nvGrpSpPr>
          <p:cNvPr id="34" name="组合 44"/>
          <p:cNvGrpSpPr/>
          <p:nvPr/>
        </p:nvGrpSpPr>
        <p:grpSpPr>
          <a:xfrm>
            <a:off x="4828755" y="3324450"/>
            <a:ext cx="3623152" cy="1375255"/>
            <a:chOff x="3385288" y="2538931"/>
            <a:chExt cx="4282440" cy="1497880"/>
          </a:xfrm>
        </p:grpSpPr>
        <p:sp>
          <p:nvSpPr>
            <p:cNvPr id="35" name="Line 11"/>
            <p:cNvSpPr>
              <a:spLocks noChangeShapeType="1"/>
            </p:cNvSpPr>
            <p:nvPr/>
          </p:nvSpPr>
          <p:spPr bwMode="auto">
            <a:xfrm>
              <a:off x="3385288"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36" name="Line 11"/>
            <p:cNvSpPr>
              <a:spLocks noChangeShapeType="1"/>
            </p:cNvSpPr>
            <p:nvPr/>
          </p:nvSpPr>
          <p:spPr bwMode="auto">
            <a:xfrm>
              <a:off x="3857399"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37" name="Line 11"/>
            <p:cNvSpPr>
              <a:spLocks noChangeShapeType="1"/>
            </p:cNvSpPr>
            <p:nvPr/>
          </p:nvSpPr>
          <p:spPr bwMode="auto">
            <a:xfrm>
              <a:off x="4339322"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38" name="Line 11"/>
            <p:cNvSpPr>
              <a:spLocks noChangeShapeType="1"/>
            </p:cNvSpPr>
            <p:nvPr/>
          </p:nvSpPr>
          <p:spPr bwMode="auto">
            <a:xfrm>
              <a:off x="4825467"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39" name="Line 11"/>
            <p:cNvSpPr>
              <a:spLocks noChangeShapeType="1"/>
            </p:cNvSpPr>
            <p:nvPr/>
          </p:nvSpPr>
          <p:spPr bwMode="auto">
            <a:xfrm>
              <a:off x="5297908"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40" name="Line 11"/>
            <p:cNvSpPr>
              <a:spLocks noChangeShapeType="1"/>
            </p:cNvSpPr>
            <p:nvPr/>
          </p:nvSpPr>
          <p:spPr bwMode="auto">
            <a:xfrm>
              <a:off x="5779501"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44" name="Line 11"/>
            <p:cNvSpPr>
              <a:spLocks noChangeShapeType="1"/>
            </p:cNvSpPr>
            <p:nvPr/>
          </p:nvSpPr>
          <p:spPr bwMode="auto">
            <a:xfrm>
              <a:off x="6244321"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45" name="Line 11"/>
            <p:cNvSpPr>
              <a:spLocks noChangeShapeType="1"/>
            </p:cNvSpPr>
            <p:nvPr/>
          </p:nvSpPr>
          <p:spPr bwMode="auto">
            <a:xfrm>
              <a:off x="6716761"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46" name="Line 11"/>
            <p:cNvSpPr>
              <a:spLocks noChangeShapeType="1"/>
            </p:cNvSpPr>
            <p:nvPr/>
          </p:nvSpPr>
          <p:spPr bwMode="auto">
            <a:xfrm>
              <a:off x="7189201"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47" name="Line 11"/>
            <p:cNvSpPr>
              <a:spLocks noChangeShapeType="1"/>
            </p:cNvSpPr>
            <p:nvPr/>
          </p:nvSpPr>
          <p:spPr bwMode="auto">
            <a:xfrm>
              <a:off x="7667728"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grpSp>
      <p:grpSp>
        <p:nvGrpSpPr>
          <p:cNvPr id="48" name="组合 47"/>
          <p:cNvGrpSpPr/>
          <p:nvPr/>
        </p:nvGrpSpPr>
        <p:grpSpPr>
          <a:xfrm>
            <a:off x="6787093" y="2682237"/>
            <a:ext cx="1367633" cy="402729"/>
            <a:chOff x="3036727" y="1777292"/>
            <a:chExt cx="1367633" cy="402729"/>
          </a:xfrm>
        </p:grpSpPr>
        <p:graphicFrame>
          <p:nvGraphicFramePr>
            <p:cNvPr id="49" name="Object 8"/>
            <p:cNvGraphicFramePr>
              <a:graphicFrameLocks noChangeAspect="1"/>
            </p:cNvGraphicFramePr>
            <p:nvPr/>
          </p:nvGraphicFramePr>
          <p:xfrm>
            <a:off x="3163331" y="1800543"/>
            <a:ext cx="1114425" cy="365125"/>
          </p:xfrm>
          <a:graphic>
            <a:graphicData uri="http://schemas.openxmlformats.org/presentationml/2006/ole">
              <mc:AlternateContent xmlns:mc="http://schemas.openxmlformats.org/markup-compatibility/2006">
                <mc:Choice xmlns:v="urn:schemas-microsoft-com:vml" Requires="v">
                  <p:oleObj spid="_x0000_s2061" name="公式" r:id="rId7" imgW="736600" imgH="241300" progId="Equation.3">
                    <p:embed/>
                  </p:oleObj>
                </mc:Choice>
                <mc:Fallback>
                  <p:oleObj name="公式" r:id="rId7" imgW="736600" imgH="2413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63331" y="1800543"/>
                          <a:ext cx="1114425"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 name="圆角矩形 128"/>
            <p:cNvSpPr/>
            <p:nvPr/>
          </p:nvSpPr>
          <p:spPr>
            <a:xfrm>
              <a:off x="3036727" y="1777292"/>
              <a:ext cx="1367633" cy="402729"/>
            </a:xfrm>
            <a:prstGeom prst="roundRect">
              <a:avLst>
                <a:gd name="adj" fmla="val 26712"/>
              </a:avLst>
            </a:prstGeom>
            <a:solidFill>
              <a:srgbClr val="0000FF">
                <a:alpha val="16000"/>
              </a:srgb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51" name="组合 50"/>
          <p:cNvGrpSpPr/>
          <p:nvPr/>
        </p:nvGrpSpPr>
        <p:grpSpPr>
          <a:xfrm>
            <a:off x="4829875" y="3339051"/>
            <a:ext cx="3614606" cy="1375255"/>
            <a:chOff x="1239335" y="2571905"/>
            <a:chExt cx="3614606" cy="1375255"/>
          </a:xfrm>
        </p:grpSpPr>
        <p:sp>
          <p:nvSpPr>
            <p:cNvPr id="52" name="Line 11"/>
            <p:cNvSpPr>
              <a:spLocks noChangeShapeType="1"/>
            </p:cNvSpPr>
            <p:nvPr/>
          </p:nvSpPr>
          <p:spPr bwMode="auto">
            <a:xfrm>
              <a:off x="1239335" y="2571905"/>
              <a:ext cx="0" cy="1375255"/>
            </a:xfrm>
            <a:prstGeom prst="line">
              <a:avLst/>
            </a:prstGeom>
            <a:noFill/>
            <a:ln w="28575">
              <a:solidFill>
                <a:srgbClr val="0000FF"/>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54" name="Line 11"/>
            <p:cNvSpPr>
              <a:spLocks noChangeShapeType="1"/>
            </p:cNvSpPr>
            <p:nvPr/>
          </p:nvSpPr>
          <p:spPr bwMode="auto">
            <a:xfrm>
              <a:off x="1637438" y="2571905"/>
              <a:ext cx="0" cy="1375255"/>
            </a:xfrm>
            <a:prstGeom prst="line">
              <a:avLst/>
            </a:prstGeom>
            <a:noFill/>
            <a:ln w="28575">
              <a:solidFill>
                <a:srgbClr val="0000FF"/>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56" name="Line 11"/>
            <p:cNvSpPr>
              <a:spLocks noChangeShapeType="1"/>
            </p:cNvSpPr>
            <p:nvPr/>
          </p:nvSpPr>
          <p:spPr bwMode="auto">
            <a:xfrm>
              <a:off x="2037948" y="2571905"/>
              <a:ext cx="0" cy="1375255"/>
            </a:xfrm>
            <a:prstGeom prst="line">
              <a:avLst/>
            </a:prstGeom>
            <a:noFill/>
            <a:ln w="28575">
              <a:solidFill>
                <a:srgbClr val="0000FF"/>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57" name="Line 11"/>
            <p:cNvSpPr>
              <a:spLocks noChangeShapeType="1"/>
            </p:cNvSpPr>
            <p:nvPr/>
          </p:nvSpPr>
          <p:spPr bwMode="auto">
            <a:xfrm>
              <a:off x="2449250" y="2571905"/>
              <a:ext cx="0" cy="1375255"/>
            </a:xfrm>
            <a:prstGeom prst="line">
              <a:avLst/>
            </a:prstGeom>
            <a:noFill/>
            <a:ln w="28575">
              <a:solidFill>
                <a:srgbClr val="0000FF"/>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58" name="Line 11"/>
            <p:cNvSpPr>
              <a:spLocks noChangeShapeType="1"/>
            </p:cNvSpPr>
            <p:nvPr/>
          </p:nvSpPr>
          <p:spPr bwMode="auto">
            <a:xfrm>
              <a:off x="3256409" y="2571905"/>
              <a:ext cx="0" cy="1375255"/>
            </a:xfrm>
            <a:prstGeom prst="line">
              <a:avLst/>
            </a:prstGeom>
            <a:noFill/>
            <a:ln w="28575">
              <a:solidFill>
                <a:srgbClr val="0000FF"/>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59" name="Line 11"/>
            <p:cNvSpPr>
              <a:spLocks noChangeShapeType="1"/>
            </p:cNvSpPr>
            <p:nvPr/>
          </p:nvSpPr>
          <p:spPr bwMode="auto">
            <a:xfrm>
              <a:off x="4049377" y="2571905"/>
              <a:ext cx="0" cy="1375255"/>
            </a:xfrm>
            <a:prstGeom prst="line">
              <a:avLst/>
            </a:prstGeom>
            <a:noFill/>
            <a:ln w="28575">
              <a:solidFill>
                <a:srgbClr val="0000FF"/>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60" name="Line 11"/>
            <p:cNvSpPr>
              <a:spLocks noChangeShapeType="1"/>
            </p:cNvSpPr>
            <p:nvPr/>
          </p:nvSpPr>
          <p:spPr bwMode="auto">
            <a:xfrm>
              <a:off x="4449084" y="2571905"/>
              <a:ext cx="0" cy="1375255"/>
            </a:xfrm>
            <a:prstGeom prst="line">
              <a:avLst/>
            </a:prstGeom>
            <a:noFill/>
            <a:ln w="28575">
              <a:solidFill>
                <a:srgbClr val="0000FF"/>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61" name="Line 11"/>
            <p:cNvSpPr>
              <a:spLocks noChangeShapeType="1"/>
            </p:cNvSpPr>
            <p:nvPr/>
          </p:nvSpPr>
          <p:spPr bwMode="auto">
            <a:xfrm>
              <a:off x="4853941" y="2571905"/>
              <a:ext cx="0" cy="1375255"/>
            </a:xfrm>
            <a:prstGeom prst="line">
              <a:avLst/>
            </a:prstGeom>
            <a:noFill/>
            <a:ln w="28575">
              <a:solidFill>
                <a:srgbClr val="0000FF"/>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grpSp>
      <p:grpSp>
        <p:nvGrpSpPr>
          <p:cNvPr id="62" name="组合 61"/>
          <p:cNvGrpSpPr/>
          <p:nvPr/>
        </p:nvGrpSpPr>
        <p:grpSpPr>
          <a:xfrm>
            <a:off x="6450115" y="3379680"/>
            <a:ext cx="784946" cy="1375255"/>
            <a:chOff x="2864724" y="2571905"/>
            <a:chExt cx="784946" cy="1375255"/>
          </a:xfrm>
        </p:grpSpPr>
        <p:sp>
          <p:nvSpPr>
            <p:cNvPr id="63" name="Line 11"/>
            <p:cNvSpPr>
              <a:spLocks noChangeShapeType="1"/>
            </p:cNvSpPr>
            <p:nvPr/>
          </p:nvSpPr>
          <p:spPr bwMode="auto">
            <a:xfrm>
              <a:off x="2864724" y="2571905"/>
              <a:ext cx="0" cy="1375255"/>
            </a:xfrm>
            <a:prstGeom prst="line">
              <a:avLst/>
            </a:prstGeom>
            <a:noFill/>
            <a:ln w="28575">
              <a:solidFill>
                <a:srgbClr val="FF00FF"/>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64" name="Line 11"/>
            <p:cNvSpPr>
              <a:spLocks noChangeShapeType="1"/>
            </p:cNvSpPr>
            <p:nvPr/>
          </p:nvSpPr>
          <p:spPr bwMode="auto">
            <a:xfrm>
              <a:off x="3649670" y="2571905"/>
              <a:ext cx="0" cy="1375255"/>
            </a:xfrm>
            <a:prstGeom prst="line">
              <a:avLst/>
            </a:prstGeom>
            <a:noFill/>
            <a:ln w="28575">
              <a:solidFill>
                <a:srgbClr val="FF00FF"/>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grpSp>
      <p:grpSp>
        <p:nvGrpSpPr>
          <p:cNvPr id="69" name="组合 68"/>
          <p:cNvGrpSpPr/>
          <p:nvPr/>
        </p:nvGrpSpPr>
        <p:grpSpPr>
          <a:xfrm>
            <a:off x="5647746" y="3512817"/>
            <a:ext cx="2803380" cy="1224000"/>
            <a:chOff x="1897380" y="2607872"/>
            <a:chExt cx="2803380" cy="1224000"/>
          </a:xfrm>
        </p:grpSpPr>
        <p:sp>
          <p:nvSpPr>
            <p:cNvPr id="70" name="圆角矩形 146"/>
            <p:cNvSpPr/>
            <p:nvPr/>
          </p:nvSpPr>
          <p:spPr>
            <a:xfrm>
              <a:off x="1897380" y="2607872"/>
              <a:ext cx="388620" cy="1224000"/>
            </a:xfrm>
            <a:prstGeom prst="roundRect">
              <a:avLst>
                <a:gd name="adj" fmla="val 7514"/>
              </a:avLst>
            </a:prstGeom>
            <a:solidFill>
              <a:srgbClr val="0000FF">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圆角矩形 147"/>
            <p:cNvSpPr/>
            <p:nvPr/>
          </p:nvSpPr>
          <p:spPr>
            <a:xfrm>
              <a:off x="4290060" y="2607872"/>
              <a:ext cx="190500" cy="1224000"/>
            </a:xfrm>
            <a:prstGeom prst="roundRect">
              <a:avLst>
                <a:gd name="adj" fmla="val 7514"/>
              </a:avLst>
            </a:prstGeom>
            <a:solidFill>
              <a:srgbClr val="0000FF">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圆角矩形 148"/>
            <p:cNvSpPr/>
            <p:nvPr/>
          </p:nvSpPr>
          <p:spPr>
            <a:xfrm>
              <a:off x="4556760" y="2607872"/>
              <a:ext cx="144000" cy="1224000"/>
            </a:xfrm>
            <a:prstGeom prst="roundRect">
              <a:avLst>
                <a:gd name="adj" fmla="val 7514"/>
              </a:avLst>
            </a:prstGeom>
            <a:solidFill>
              <a:srgbClr val="0000FF">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p:cTn id="19" dur="1000" fill="hold"/>
                                        <p:tgtEl>
                                          <p:spTgt spid="34"/>
                                        </p:tgtEl>
                                        <p:attrNameLst>
                                          <p:attrName>ppt_x</p:attrName>
                                        </p:attrNameLst>
                                      </p:cBhvr>
                                      <p:tavLst>
                                        <p:tav tm="0">
                                          <p:val>
                                            <p:strVal val="#ppt_x"/>
                                          </p:val>
                                        </p:tav>
                                        <p:tav tm="100000">
                                          <p:val>
                                            <p:strVal val="#ppt_x"/>
                                          </p:val>
                                        </p:tav>
                                      </p:tavLst>
                                    </p:anim>
                                    <p:anim calcmode="lin" valueType="num">
                                      <p:cBhvr>
                                        <p:cTn id="20" dur="1000" fill="hold"/>
                                        <p:tgtEl>
                                          <p:spTgt spid="34"/>
                                        </p:tgtEl>
                                        <p:attrNameLst>
                                          <p:attrName>ppt_y</p:attrName>
                                        </p:attrNameLst>
                                      </p:cBhvr>
                                      <p:tavLst>
                                        <p:tav tm="0">
                                          <p:val>
                                            <p:strVal val="#ppt_y-#ppt_h/2"/>
                                          </p:val>
                                        </p:tav>
                                        <p:tav tm="100000">
                                          <p:val>
                                            <p:strVal val="#ppt_y"/>
                                          </p:val>
                                        </p:tav>
                                      </p:tavLst>
                                    </p:anim>
                                    <p:anim calcmode="lin" valueType="num">
                                      <p:cBhvr>
                                        <p:cTn id="21" dur="1000" fill="hold"/>
                                        <p:tgtEl>
                                          <p:spTgt spid="34"/>
                                        </p:tgtEl>
                                        <p:attrNameLst>
                                          <p:attrName>ppt_w</p:attrName>
                                        </p:attrNameLst>
                                      </p:cBhvr>
                                      <p:tavLst>
                                        <p:tav tm="0">
                                          <p:val>
                                            <p:strVal val="#ppt_w"/>
                                          </p:val>
                                        </p:tav>
                                        <p:tav tm="100000">
                                          <p:val>
                                            <p:strVal val="#ppt_w"/>
                                          </p:val>
                                        </p:tav>
                                      </p:tavLst>
                                    </p:anim>
                                    <p:anim calcmode="lin" valueType="num">
                                      <p:cBhvr>
                                        <p:cTn id="22" dur="1000" fill="hold"/>
                                        <p:tgtEl>
                                          <p:spTgt spid="34"/>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10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fade">
                                      <p:cBhvr>
                                        <p:cTn id="32" dur="1000"/>
                                        <p:tgtEl>
                                          <p:spTgt spid="48"/>
                                        </p:tgtEl>
                                      </p:cBhvr>
                                    </p:animEffect>
                                    <p:anim calcmode="lin" valueType="num">
                                      <p:cBhvr>
                                        <p:cTn id="33" dur="1000" fill="hold"/>
                                        <p:tgtEl>
                                          <p:spTgt spid="48"/>
                                        </p:tgtEl>
                                        <p:attrNameLst>
                                          <p:attrName>ppt_x</p:attrName>
                                        </p:attrNameLst>
                                      </p:cBhvr>
                                      <p:tavLst>
                                        <p:tav tm="0">
                                          <p:val>
                                            <p:strVal val="#ppt_x"/>
                                          </p:val>
                                        </p:tav>
                                        <p:tav tm="100000">
                                          <p:val>
                                            <p:strVal val="#ppt_x"/>
                                          </p:val>
                                        </p:tav>
                                      </p:tavLst>
                                    </p:anim>
                                    <p:anim calcmode="lin" valueType="num">
                                      <p:cBhvr>
                                        <p:cTn id="34" dur="1000" fill="hold"/>
                                        <p:tgtEl>
                                          <p:spTgt spid="48"/>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42" presetClass="entr" presetSubtype="0" fill="hold" nodeType="after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fade">
                                      <p:cBhvr>
                                        <p:cTn id="38" dur="1000"/>
                                        <p:tgtEl>
                                          <p:spTgt spid="31"/>
                                        </p:tgtEl>
                                      </p:cBhvr>
                                    </p:animEffect>
                                    <p:anim calcmode="lin" valueType="num">
                                      <p:cBhvr>
                                        <p:cTn id="39" dur="1000" fill="hold"/>
                                        <p:tgtEl>
                                          <p:spTgt spid="31"/>
                                        </p:tgtEl>
                                        <p:attrNameLst>
                                          <p:attrName>ppt_x</p:attrName>
                                        </p:attrNameLst>
                                      </p:cBhvr>
                                      <p:tavLst>
                                        <p:tav tm="0">
                                          <p:val>
                                            <p:strVal val="#ppt_x"/>
                                          </p:val>
                                        </p:tav>
                                        <p:tav tm="100000">
                                          <p:val>
                                            <p:strVal val="#ppt_x"/>
                                          </p:val>
                                        </p:tav>
                                      </p:tavLst>
                                    </p:anim>
                                    <p:anim calcmode="lin" valueType="num">
                                      <p:cBhvr>
                                        <p:cTn id="40"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1" fill="hold" nodeType="clickEffect">
                                  <p:stCondLst>
                                    <p:cond delay="0"/>
                                  </p:stCondLst>
                                  <p:childTnLst>
                                    <p:set>
                                      <p:cBhvr>
                                        <p:cTn id="44" dur="1" fill="hold">
                                          <p:stCondLst>
                                            <p:cond delay="0"/>
                                          </p:stCondLst>
                                        </p:cTn>
                                        <p:tgtEl>
                                          <p:spTgt spid="51"/>
                                        </p:tgtEl>
                                        <p:attrNameLst>
                                          <p:attrName>style.visibility</p:attrName>
                                        </p:attrNameLst>
                                      </p:cBhvr>
                                      <p:to>
                                        <p:strVal val="visible"/>
                                      </p:to>
                                    </p:set>
                                    <p:anim calcmode="lin" valueType="num">
                                      <p:cBhvr>
                                        <p:cTn id="45" dur="1000" fill="hold"/>
                                        <p:tgtEl>
                                          <p:spTgt spid="51"/>
                                        </p:tgtEl>
                                        <p:attrNameLst>
                                          <p:attrName>ppt_x</p:attrName>
                                        </p:attrNameLst>
                                      </p:cBhvr>
                                      <p:tavLst>
                                        <p:tav tm="0">
                                          <p:val>
                                            <p:strVal val="#ppt_x"/>
                                          </p:val>
                                        </p:tav>
                                        <p:tav tm="100000">
                                          <p:val>
                                            <p:strVal val="#ppt_x"/>
                                          </p:val>
                                        </p:tav>
                                      </p:tavLst>
                                    </p:anim>
                                    <p:anim calcmode="lin" valueType="num">
                                      <p:cBhvr>
                                        <p:cTn id="46" dur="1000" fill="hold"/>
                                        <p:tgtEl>
                                          <p:spTgt spid="51"/>
                                        </p:tgtEl>
                                        <p:attrNameLst>
                                          <p:attrName>ppt_y</p:attrName>
                                        </p:attrNameLst>
                                      </p:cBhvr>
                                      <p:tavLst>
                                        <p:tav tm="0">
                                          <p:val>
                                            <p:strVal val="#ppt_y-#ppt_h/2"/>
                                          </p:val>
                                        </p:tav>
                                        <p:tav tm="100000">
                                          <p:val>
                                            <p:strVal val="#ppt_y"/>
                                          </p:val>
                                        </p:tav>
                                      </p:tavLst>
                                    </p:anim>
                                    <p:anim calcmode="lin" valueType="num">
                                      <p:cBhvr>
                                        <p:cTn id="47" dur="1000" fill="hold"/>
                                        <p:tgtEl>
                                          <p:spTgt spid="51"/>
                                        </p:tgtEl>
                                        <p:attrNameLst>
                                          <p:attrName>ppt_w</p:attrName>
                                        </p:attrNameLst>
                                      </p:cBhvr>
                                      <p:tavLst>
                                        <p:tav tm="0">
                                          <p:val>
                                            <p:strVal val="#ppt_w"/>
                                          </p:val>
                                        </p:tav>
                                        <p:tav tm="100000">
                                          <p:val>
                                            <p:strVal val="#ppt_w"/>
                                          </p:val>
                                        </p:tav>
                                      </p:tavLst>
                                    </p:anim>
                                    <p:anim calcmode="lin" valueType="num">
                                      <p:cBhvr>
                                        <p:cTn id="48" dur="1000" fill="hold"/>
                                        <p:tgtEl>
                                          <p:spTgt spid="51"/>
                                        </p:tgtEl>
                                        <p:attrNameLst>
                                          <p:attrName>ppt_h</p:attrName>
                                        </p:attrNameLst>
                                      </p:cBhvr>
                                      <p:tavLst>
                                        <p:tav tm="0">
                                          <p:val>
                                            <p:fltVal val="0"/>
                                          </p:val>
                                        </p:tav>
                                        <p:tav tm="100000">
                                          <p:val>
                                            <p:strVal val="#ppt_h"/>
                                          </p:val>
                                        </p:tav>
                                      </p:tavLst>
                                    </p:anim>
                                  </p:childTnLst>
                                </p:cTn>
                              </p:par>
                            </p:childTnLst>
                          </p:cTn>
                        </p:par>
                        <p:par>
                          <p:cTn id="49" fill="hold">
                            <p:stCondLst>
                              <p:cond delay="1000"/>
                            </p:stCondLst>
                            <p:childTnLst>
                              <p:par>
                                <p:cTn id="50" presetID="17" presetClass="entr" presetSubtype="1" fill="hold" nodeType="afterEffect">
                                  <p:stCondLst>
                                    <p:cond delay="0"/>
                                  </p:stCondLst>
                                  <p:childTnLst>
                                    <p:set>
                                      <p:cBhvr>
                                        <p:cTn id="51" dur="1" fill="hold">
                                          <p:stCondLst>
                                            <p:cond delay="0"/>
                                          </p:stCondLst>
                                        </p:cTn>
                                        <p:tgtEl>
                                          <p:spTgt spid="69"/>
                                        </p:tgtEl>
                                        <p:attrNameLst>
                                          <p:attrName>style.visibility</p:attrName>
                                        </p:attrNameLst>
                                      </p:cBhvr>
                                      <p:to>
                                        <p:strVal val="visible"/>
                                      </p:to>
                                    </p:set>
                                    <p:anim calcmode="lin" valueType="num">
                                      <p:cBhvr>
                                        <p:cTn id="52" dur="1000" fill="hold"/>
                                        <p:tgtEl>
                                          <p:spTgt spid="69"/>
                                        </p:tgtEl>
                                        <p:attrNameLst>
                                          <p:attrName>ppt_x</p:attrName>
                                        </p:attrNameLst>
                                      </p:cBhvr>
                                      <p:tavLst>
                                        <p:tav tm="0">
                                          <p:val>
                                            <p:strVal val="#ppt_x"/>
                                          </p:val>
                                        </p:tav>
                                        <p:tav tm="100000">
                                          <p:val>
                                            <p:strVal val="#ppt_x"/>
                                          </p:val>
                                        </p:tav>
                                      </p:tavLst>
                                    </p:anim>
                                    <p:anim calcmode="lin" valueType="num">
                                      <p:cBhvr>
                                        <p:cTn id="53" dur="1000" fill="hold"/>
                                        <p:tgtEl>
                                          <p:spTgt spid="69"/>
                                        </p:tgtEl>
                                        <p:attrNameLst>
                                          <p:attrName>ppt_y</p:attrName>
                                        </p:attrNameLst>
                                      </p:cBhvr>
                                      <p:tavLst>
                                        <p:tav tm="0">
                                          <p:val>
                                            <p:strVal val="#ppt_y-#ppt_h/2"/>
                                          </p:val>
                                        </p:tav>
                                        <p:tav tm="100000">
                                          <p:val>
                                            <p:strVal val="#ppt_y"/>
                                          </p:val>
                                        </p:tav>
                                      </p:tavLst>
                                    </p:anim>
                                    <p:anim calcmode="lin" valueType="num">
                                      <p:cBhvr>
                                        <p:cTn id="54" dur="1000" fill="hold"/>
                                        <p:tgtEl>
                                          <p:spTgt spid="69"/>
                                        </p:tgtEl>
                                        <p:attrNameLst>
                                          <p:attrName>ppt_w</p:attrName>
                                        </p:attrNameLst>
                                      </p:cBhvr>
                                      <p:tavLst>
                                        <p:tav tm="0">
                                          <p:val>
                                            <p:strVal val="#ppt_w"/>
                                          </p:val>
                                        </p:tav>
                                        <p:tav tm="100000">
                                          <p:val>
                                            <p:strVal val="#ppt_w"/>
                                          </p:val>
                                        </p:tav>
                                      </p:tavLst>
                                    </p:anim>
                                    <p:anim calcmode="lin" valueType="num">
                                      <p:cBhvr>
                                        <p:cTn id="55" dur="1000" fill="hold"/>
                                        <p:tgtEl>
                                          <p:spTgt spid="69"/>
                                        </p:tgtEl>
                                        <p:attrNameLst>
                                          <p:attrName>ppt_h</p:attrName>
                                        </p:attrNameLst>
                                      </p:cBhvr>
                                      <p:tavLst>
                                        <p:tav tm="0">
                                          <p:val>
                                            <p:fltVal val="0"/>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17" presetClass="entr" presetSubtype="1" fill="hold" nodeType="clickEffect">
                                  <p:stCondLst>
                                    <p:cond delay="0"/>
                                  </p:stCondLst>
                                  <p:childTnLst>
                                    <p:set>
                                      <p:cBhvr>
                                        <p:cTn id="59" dur="1" fill="hold">
                                          <p:stCondLst>
                                            <p:cond delay="0"/>
                                          </p:stCondLst>
                                        </p:cTn>
                                        <p:tgtEl>
                                          <p:spTgt spid="62"/>
                                        </p:tgtEl>
                                        <p:attrNameLst>
                                          <p:attrName>style.visibility</p:attrName>
                                        </p:attrNameLst>
                                      </p:cBhvr>
                                      <p:to>
                                        <p:strVal val="visible"/>
                                      </p:to>
                                    </p:set>
                                    <p:anim calcmode="lin" valueType="num">
                                      <p:cBhvr>
                                        <p:cTn id="60" dur="1000" fill="hold"/>
                                        <p:tgtEl>
                                          <p:spTgt spid="62"/>
                                        </p:tgtEl>
                                        <p:attrNameLst>
                                          <p:attrName>ppt_x</p:attrName>
                                        </p:attrNameLst>
                                      </p:cBhvr>
                                      <p:tavLst>
                                        <p:tav tm="0">
                                          <p:val>
                                            <p:strVal val="#ppt_x"/>
                                          </p:val>
                                        </p:tav>
                                        <p:tav tm="100000">
                                          <p:val>
                                            <p:strVal val="#ppt_x"/>
                                          </p:val>
                                        </p:tav>
                                      </p:tavLst>
                                    </p:anim>
                                    <p:anim calcmode="lin" valueType="num">
                                      <p:cBhvr>
                                        <p:cTn id="61" dur="1000" fill="hold"/>
                                        <p:tgtEl>
                                          <p:spTgt spid="62"/>
                                        </p:tgtEl>
                                        <p:attrNameLst>
                                          <p:attrName>ppt_y</p:attrName>
                                        </p:attrNameLst>
                                      </p:cBhvr>
                                      <p:tavLst>
                                        <p:tav tm="0">
                                          <p:val>
                                            <p:strVal val="#ppt_y-#ppt_h/2"/>
                                          </p:val>
                                        </p:tav>
                                        <p:tav tm="100000">
                                          <p:val>
                                            <p:strVal val="#ppt_y"/>
                                          </p:val>
                                        </p:tav>
                                      </p:tavLst>
                                    </p:anim>
                                    <p:anim calcmode="lin" valueType="num">
                                      <p:cBhvr>
                                        <p:cTn id="62" dur="1000" fill="hold"/>
                                        <p:tgtEl>
                                          <p:spTgt spid="62"/>
                                        </p:tgtEl>
                                        <p:attrNameLst>
                                          <p:attrName>ppt_w</p:attrName>
                                        </p:attrNameLst>
                                      </p:cBhvr>
                                      <p:tavLst>
                                        <p:tav tm="0">
                                          <p:val>
                                            <p:strVal val="#ppt_w"/>
                                          </p:val>
                                        </p:tav>
                                        <p:tav tm="100000">
                                          <p:val>
                                            <p:strVal val="#ppt_w"/>
                                          </p:val>
                                        </p:tav>
                                      </p:tavLst>
                                    </p:anim>
                                    <p:anim calcmode="lin" valueType="num">
                                      <p:cBhvr>
                                        <p:cTn id="63" dur="1000" fill="hold"/>
                                        <p:tgtEl>
                                          <p:spTgt spid="6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 name="组合 88"/>
          <p:cNvGrpSpPr/>
          <p:nvPr/>
        </p:nvGrpSpPr>
        <p:grpSpPr>
          <a:xfrm>
            <a:off x="392432" y="778617"/>
            <a:ext cx="3072466" cy="411055"/>
            <a:chOff x="670560" y="892917"/>
            <a:chExt cx="3072466" cy="411055"/>
          </a:xfrm>
        </p:grpSpPr>
        <p:sp>
          <p:nvSpPr>
            <p:cNvPr id="97" name="矩形 96"/>
            <p:cNvSpPr/>
            <p:nvPr/>
          </p:nvSpPr>
          <p:spPr>
            <a:xfrm>
              <a:off x="1035233" y="913778"/>
              <a:ext cx="2707793" cy="338554"/>
            </a:xfrm>
            <a:prstGeom prst="rect">
              <a:avLst/>
            </a:prstGeom>
          </p:spPr>
          <p:txBody>
            <a:bodyPr wrap="none">
              <a:spAutoFit/>
            </a:bodyPr>
            <a:lstStyle/>
            <a:p>
              <a:r>
                <a:rPr lang="zh-CN" altLang="en-US" sz="1600" b="1" dirty="0">
                  <a:solidFill>
                    <a:srgbClr val="002060"/>
                  </a:solidFill>
                  <a:latin typeface="微软雅黑" panose="020B0503020204020204" pitchFamily="34" charset="-122"/>
                  <a:ea typeface="微软雅黑" panose="020B0503020204020204" pitchFamily="34" charset="-122"/>
                </a:rPr>
                <a:t>同步时序逻辑电路分析实例 </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pic>
          <p:nvPicPr>
            <p:cNvPr id="11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 name="组合 1"/>
          <p:cNvGrpSpPr/>
          <p:nvPr/>
        </p:nvGrpSpPr>
        <p:grpSpPr>
          <a:xfrm>
            <a:off x="4472933" y="697971"/>
            <a:ext cx="4516120" cy="1769460"/>
            <a:chOff x="3781976" y="1703257"/>
            <a:chExt cx="5146807" cy="1942909"/>
          </a:xfrm>
        </p:grpSpPr>
        <p:sp>
          <p:nvSpPr>
            <p:cNvPr id="53" name="圆角矩形 78"/>
            <p:cNvSpPr/>
            <p:nvPr/>
          </p:nvSpPr>
          <p:spPr>
            <a:xfrm>
              <a:off x="3781977" y="1703257"/>
              <a:ext cx="5146806" cy="1942909"/>
            </a:xfrm>
            <a:prstGeom prst="roundRect">
              <a:avLst>
                <a:gd name="adj" fmla="val 536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5" name="图片 3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1976" y="1826606"/>
              <a:ext cx="5146807" cy="1677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4" name="组合 73"/>
          <p:cNvGrpSpPr/>
          <p:nvPr/>
        </p:nvGrpSpPr>
        <p:grpSpPr>
          <a:xfrm>
            <a:off x="392432" y="1293865"/>
            <a:ext cx="3537818" cy="374630"/>
            <a:chOff x="369777" y="1347760"/>
            <a:chExt cx="3537818" cy="374630"/>
          </a:xfrm>
        </p:grpSpPr>
        <p:sp>
          <p:nvSpPr>
            <p:cNvPr id="75" name="TextBox 35"/>
            <p:cNvSpPr txBox="1"/>
            <p:nvPr/>
          </p:nvSpPr>
          <p:spPr>
            <a:xfrm>
              <a:off x="723710" y="1350409"/>
              <a:ext cx="3183885" cy="338554"/>
            </a:xfrm>
            <a:prstGeom prst="rect">
              <a:avLst/>
            </a:prstGeom>
            <a:noFill/>
          </p:spPr>
          <p:txBody>
            <a:bodyPr wrap="none" rtlCol="0">
              <a:spAutoFit/>
            </a:bodyPr>
            <a:lstStyle/>
            <a:p>
              <a:r>
                <a:rPr lang="zh-CN" altLang="en-US" sz="1600" b="1" dirty="0">
                  <a:solidFill>
                    <a:srgbClr val="CC00CC"/>
                  </a:solidFill>
                  <a:latin typeface="黑体" panose="02010609060101010101" pitchFamily="49" charset="-122"/>
                  <a:ea typeface="黑体" panose="02010609060101010101" pitchFamily="49" charset="-122"/>
                </a:rPr>
                <a:t>例</a:t>
              </a:r>
              <a:r>
                <a:rPr lang="en-US" altLang="zh-CN" sz="1600" b="1" dirty="0">
                  <a:solidFill>
                    <a:srgbClr val="CC00CC"/>
                  </a:solidFill>
                  <a:latin typeface="黑体" panose="02010609060101010101" pitchFamily="49" charset="-122"/>
                  <a:ea typeface="黑体" panose="02010609060101010101" pitchFamily="49" charset="-122"/>
                </a:rPr>
                <a:t>1</a:t>
              </a:r>
              <a:r>
                <a:rPr lang="zh-CN" altLang="en-US" sz="1600" b="1" dirty="0">
                  <a:solidFill>
                    <a:srgbClr val="CC00CC"/>
                  </a:solidFill>
                  <a:latin typeface="黑体" panose="02010609060101010101" pitchFamily="49" charset="-122"/>
                  <a:ea typeface="黑体" panose="02010609060101010101" pitchFamily="49" charset="-122"/>
                </a:rPr>
                <a:t>：</a:t>
              </a:r>
              <a:r>
                <a:rPr lang="zh-CN" altLang="en-US" sz="1600" b="1" dirty="0">
                  <a:solidFill>
                    <a:srgbClr val="6600FF"/>
                  </a:solidFill>
                  <a:latin typeface="黑体" panose="02010609060101010101" pitchFamily="49" charset="-122"/>
                  <a:ea typeface="黑体" panose="02010609060101010101" pitchFamily="49" charset="-122"/>
                </a:rPr>
                <a:t>分析图示同步时序逻辑电路</a:t>
              </a:r>
              <a:endParaRPr lang="zh-CN" altLang="en-US" sz="1600" b="1" dirty="0">
                <a:solidFill>
                  <a:srgbClr val="6600FF"/>
                </a:solidFill>
                <a:latin typeface="黑体" panose="02010609060101010101" pitchFamily="49" charset="-122"/>
                <a:ea typeface="黑体" panose="02010609060101010101" pitchFamily="49" charset="-122"/>
              </a:endParaRPr>
            </a:p>
          </p:txBody>
        </p:sp>
        <p:pic>
          <p:nvPicPr>
            <p:cNvPr id="76" name="Picture 4"/>
            <p:cNvPicPr>
              <a:picLocks noChangeAspect="1" noChangeArrowheads="1"/>
            </p:cNvPicPr>
            <p:nvPr/>
          </p:nvPicPr>
          <p:blipFill>
            <a:blip r:embed="rId3" cstate="print"/>
            <a:srcRect/>
            <a:stretch>
              <a:fillRect/>
            </a:stretch>
          </p:blipFill>
          <p:spPr bwMode="auto">
            <a:xfrm>
              <a:off x="369777" y="1347760"/>
              <a:ext cx="373669" cy="374630"/>
            </a:xfrm>
            <a:prstGeom prst="rect">
              <a:avLst/>
            </a:prstGeom>
            <a:noFill/>
            <a:ln w="9525">
              <a:noFill/>
              <a:miter lim="800000"/>
              <a:headEnd/>
              <a:tailEnd/>
            </a:ln>
          </p:spPr>
        </p:pic>
      </p:grpSp>
      <p:sp>
        <p:nvSpPr>
          <p:cNvPr id="9" name="Rectangle 6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5" name="图片 4"/>
          <p:cNvPicPr>
            <a:picLocks noChangeAspect="1"/>
          </p:cNvPicPr>
          <p:nvPr/>
        </p:nvPicPr>
        <p:blipFill>
          <a:blip r:embed="rId4"/>
          <a:stretch>
            <a:fillRect/>
          </a:stretch>
        </p:blipFill>
        <p:spPr>
          <a:xfrm>
            <a:off x="476730" y="1715716"/>
            <a:ext cx="2581068" cy="2231711"/>
          </a:xfrm>
          <a:prstGeom prst="rect">
            <a:avLst/>
          </a:prstGeom>
        </p:spPr>
      </p:pic>
      <p:grpSp>
        <p:nvGrpSpPr>
          <p:cNvPr id="4" name="组合 3"/>
          <p:cNvGrpSpPr/>
          <p:nvPr/>
        </p:nvGrpSpPr>
        <p:grpSpPr>
          <a:xfrm>
            <a:off x="4278361" y="2579768"/>
            <a:ext cx="4710692" cy="1691640"/>
            <a:chOff x="4259374" y="3152845"/>
            <a:chExt cx="4710692" cy="1691640"/>
          </a:xfrm>
        </p:grpSpPr>
        <p:grpSp>
          <p:nvGrpSpPr>
            <p:cNvPr id="3" name="组合 2"/>
            <p:cNvGrpSpPr/>
            <p:nvPr/>
          </p:nvGrpSpPr>
          <p:grpSpPr>
            <a:xfrm>
              <a:off x="4286216" y="3152845"/>
              <a:ext cx="4683850" cy="1691640"/>
              <a:chOff x="4286216" y="3152845"/>
              <a:chExt cx="4683850" cy="1691640"/>
            </a:xfrm>
          </p:grpSpPr>
          <p:sp>
            <p:nvSpPr>
              <p:cNvPr id="24" name="圆角矩形 71"/>
              <p:cNvSpPr/>
              <p:nvPr/>
            </p:nvSpPr>
            <p:spPr>
              <a:xfrm>
                <a:off x="4322416" y="3152845"/>
                <a:ext cx="4647650" cy="1691640"/>
              </a:xfrm>
              <a:prstGeom prst="roundRect">
                <a:avLst>
                  <a:gd name="adj" fmla="val 2657"/>
                </a:avLst>
              </a:prstGeom>
              <a:solidFill>
                <a:schemeClr val="bg1">
                  <a:alpha val="16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grpSp>
            <p:nvGrpSpPr>
              <p:cNvPr id="25" name="组合 35"/>
              <p:cNvGrpSpPr/>
              <p:nvPr/>
            </p:nvGrpSpPr>
            <p:grpSpPr>
              <a:xfrm>
                <a:off x="4286216" y="3188236"/>
                <a:ext cx="4620993" cy="561880"/>
                <a:chOff x="2865441" y="2493629"/>
                <a:chExt cx="5463218" cy="773799"/>
              </a:xfrm>
            </p:grpSpPr>
            <p:pic>
              <p:nvPicPr>
                <p:cNvPr id="26" name="Picture 14"/>
                <p:cNvPicPr>
                  <a:picLocks noChangeAspect="1" noChangeArrowheads="1"/>
                </p:cNvPicPr>
                <p:nvPr/>
              </p:nvPicPr>
              <p:blipFill>
                <a:blip r:embed="rId5" cstate="print"/>
                <a:srcRect b="64190"/>
                <a:stretch>
                  <a:fillRect/>
                </a:stretch>
              </p:blipFill>
              <p:spPr bwMode="auto">
                <a:xfrm>
                  <a:off x="3298508" y="2493629"/>
                  <a:ext cx="5030151" cy="773799"/>
                </a:xfrm>
                <a:prstGeom prst="rect">
                  <a:avLst/>
                </a:prstGeom>
                <a:noFill/>
                <a:ln w="9525">
                  <a:noFill/>
                  <a:miter lim="800000"/>
                  <a:headEnd/>
                  <a:tailEnd/>
                </a:ln>
              </p:spPr>
            </p:pic>
            <p:sp>
              <p:nvSpPr>
                <p:cNvPr id="27" name="TextBox 98"/>
                <p:cNvSpPr txBox="1"/>
                <p:nvPr/>
              </p:nvSpPr>
              <p:spPr>
                <a:xfrm>
                  <a:off x="2865441" y="2537461"/>
                  <a:ext cx="489333" cy="720559"/>
                </a:xfrm>
                <a:prstGeom prst="rect">
                  <a:avLst/>
                </a:prstGeom>
                <a:noFill/>
              </p:spPr>
              <p:txBody>
                <a:bodyPr wrap="none" rtlCol="0">
                  <a:spAutoFit/>
                </a:bodyPr>
                <a:lstStyle/>
                <a:p>
                  <a:pPr algn="r"/>
                  <a:r>
                    <a:rPr lang="en-US" altLang="zh-CN" sz="1400" i="1" dirty="0">
                      <a:latin typeface="Times New Roman" panose="02020603050405020304" pitchFamily="18" charset="0"/>
                      <a:cs typeface="Times New Roman" panose="02020603050405020304" pitchFamily="18" charset="0"/>
                    </a:rPr>
                    <a:t>CP</a:t>
                  </a:r>
                  <a:endParaRPr lang="en-US" altLang="zh-CN" sz="1400" i="1" dirty="0">
                    <a:latin typeface="Times New Roman" panose="02020603050405020304" pitchFamily="18" charset="0"/>
                    <a:cs typeface="Times New Roman" panose="02020603050405020304" pitchFamily="18" charset="0"/>
                  </a:endParaRPr>
                </a:p>
                <a:p>
                  <a:pPr algn="ctr"/>
                  <a:r>
                    <a:rPr lang="en-US" altLang="zh-CN" sz="1400" i="1" dirty="0">
                      <a:latin typeface="Times New Roman" panose="02020603050405020304" pitchFamily="18" charset="0"/>
                      <a:cs typeface="Times New Roman" panose="02020603050405020304" pitchFamily="18" charset="0"/>
                    </a:rPr>
                    <a:t>X</a:t>
                  </a:r>
                  <a:endParaRPr lang="zh-CN" altLang="en-US" sz="1400" i="1" dirty="0">
                    <a:latin typeface="Times New Roman" panose="02020603050405020304" pitchFamily="18" charset="0"/>
                    <a:cs typeface="Times New Roman" panose="02020603050405020304" pitchFamily="18" charset="0"/>
                  </a:endParaRPr>
                </a:p>
              </p:txBody>
            </p:sp>
          </p:grpSp>
        </p:grpSp>
        <p:grpSp>
          <p:nvGrpSpPr>
            <p:cNvPr id="28" name="组合 38"/>
            <p:cNvGrpSpPr/>
            <p:nvPr/>
          </p:nvGrpSpPr>
          <p:grpSpPr>
            <a:xfrm>
              <a:off x="4259374" y="3745481"/>
              <a:ext cx="4656621" cy="653495"/>
              <a:chOff x="2861388" y="3003548"/>
              <a:chExt cx="5477486" cy="899965"/>
            </a:xfrm>
          </p:grpSpPr>
          <p:pic>
            <p:nvPicPr>
              <p:cNvPr id="29" name="Picture 14"/>
              <p:cNvPicPr>
                <a:picLocks noChangeAspect="1" noChangeArrowheads="1"/>
              </p:cNvPicPr>
              <p:nvPr/>
            </p:nvPicPr>
            <p:blipFill>
              <a:blip r:embed="rId5" cstate="print"/>
              <a:srcRect t="39738" b="21353"/>
              <a:stretch>
                <a:fillRect/>
              </a:stretch>
            </p:blipFill>
            <p:spPr bwMode="auto">
              <a:xfrm>
                <a:off x="3308721" y="3062751"/>
                <a:ext cx="5030153" cy="840762"/>
              </a:xfrm>
              <a:prstGeom prst="rect">
                <a:avLst/>
              </a:prstGeom>
              <a:noFill/>
              <a:ln w="9525">
                <a:noFill/>
                <a:miter lim="800000"/>
                <a:headEnd/>
                <a:tailEnd/>
              </a:ln>
            </p:spPr>
          </p:pic>
          <p:sp>
            <p:nvSpPr>
              <p:cNvPr id="30" name="TextBox 96"/>
              <p:cNvSpPr txBox="1"/>
              <p:nvPr/>
            </p:nvSpPr>
            <p:spPr>
              <a:xfrm>
                <a:off x="2861388" y="3003548"/>
                <a:ext cx="501007" cy="886413"/>
              </a:xfrm>
              <a:prstGeom prst="rect">
                <a:avLst/>
              </a:prstGeom>
              <a:noFill/>
            </p:spPr>
            <p:txBody>
              <a:bodyPr wrap="none" rtlCol="0">
                <a:spAutoFit/>
              </a:bodyPr>
              <a:lstStyle/>
              <a:p>
                <a:pPr algn="r"/>
                <a:r>
                  <a:rPr lang="en-US" altLang="zh-CN" sz="1400" i="1"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0</a:t>
                </a:r>
                <a:endParaRPr lang="en-US" altLang="zh-CN" sz="1400" baseline="-25000" dirty="0">
                  <a:latin typeface="Times New Roman" panose="02020603050405020304" pitchFamily="18" charset="0"/>
                  <a:cs typeface="Times New Roman" panose="02020603050405020304" pitchFamily="18" charset="0"/>
                </a:endParaRPr>
              </a:p>
              <a:p>
                <a:pPr algn="r">
                  <a:spcBef>
                    <a:spcPts val="600"/>
                  </a:spcBef>
                </a:pPr>
                <a:r>
                  <a:rPr lang="en-US" altLang="zh-CN" sz="1400" i="1"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1</a:t>
                </a:r>
                <a:endParaRPr lang="en-US" altLang="zh-CN" sz="1400" baseline="-25000" dirty="0">
                  <a:latin typeface="Times New Roman" panose="02020603050405020304" pitchFamily="18" charset="0"/>
                  <a:cs typeface="Times New Roman" panose="02020603050405020304" pitchFamily="18" charset="0"/>
                </a:endParaRPr>
              </a:p>
            </p:txBody>
          </p:sp>
        </p:grpSp>
        <p:grpSp>
          <p:nvGrpSpPr>
            <p:cNvPr id="31" name="组合 41"/>
            <p:cNvGrpSpPr/>
            <p:nvPr/>
          </p:nvGrpSpPr>
          <p:grpSpPr>
            <a:xfrm>
              <a:off x="4307563" y="4504324"/>
              <a:ext cx="4591853" cy="330080"/>
              <a:chOff x="2916196" y="3914290"/>
              <a:chExt cx="5410026" cy="454568"/>
            </a:xfrm>
          </p:grpSpPr>
          <p:pic>
            <p:nvPicPr>
              <p:cNvPr id="32" name="Picture 14"/>
              <p:cNvPicPr>
                <a:picLocks noChangeAspect="1" noChangeArrowheads="1"/>
              </p:cNvPicPr>
              <p:nvPr/>
            </p:nvPicPr>
            <p:blipFill>
              <a:blip r:embed="rId5" cstate="print"/>
              <a:srcRect t="83778"/>
              <a:stretch>
                <a:fillRect/>
              </a:stretch>
            </p:blipFill>
            <p:spPr bwMode="auto">
              <a:xfrm>
                <a:off x="3328305" y="3924163"/>
                <a:ext cx="4997917" cy="350521"/>
              </a:xfrm>
              <a:prstGeom prst="rect">
                <a:avLst/>
              </a:prstGeom>
              <a:noFill/>
              <a:ln w="9525">
                <a:noFill/>
                <a:miter lim="800000"/>
                <a:headEnd/>
                <a:tailEnd/>
              </a:ln>
            </p:spPr>
          </p:pic>
          <p:sp>
            <p:nvSpPr>
              <p:cNvPr id="33" name="TextBox 94"/>
              <p:cNvSpPr txBox="1"/>
              <p:nvPr/>
            </p:nvSpPr>
            <p:spPr>
              <a:xfrm>
                <a:off x="2916196" y="3914290"/>
                <a:ext cx="385238" cy="454568"/>
              </a:xfrm>
              <a:prstGeom prst="rect">
                <a:avLst/>
              </a:prstGeom>
              <a:noFill/>
            </p:spPr>
            <p:txBody>
              <a:bodyPr wrap="none" rtlCol="0">
                <a:spAutoFit/>
              </a:bodyPr>
              <a:lstStyle/>
              <a:p>
                <a:pPr algn="r"/>
                <a:r>
                  <a:rPr lang="en-US" altLang="zh-CN" sz="1400" i="1" dirty="0">
                    <a:latin typeface="Times New Roman" panose="02020603050405020304" pitchFamily="18" charset="0"/>
                    <a:cs typeface="Times New Roman" panose="02020603050405020304" pitchFamily="18" charset="0"/>
                  </a:rPr>
                  <a:t>Y</a:t>
                </a:r>
                <a:endParaRPr lang="en-US" altLang="zh-CN" sz="1400" baseline="-25000" dirty="0">
                  <a:latin typeface="Times New Roman" panose="02020603050405020304" pitchFamily="18" charset="0"/>
                  <a:cs typeface="Times New Roman" panose="02020603050405020304" pitchFamily="18" charset="0"/>
                </a:endParaRPr>
              </a:p>
            </p:txBody>
          </p:sp>
        </p:grpSp>
        <p:grpSp>
          <p:nvGrpSpPr>
            <p:cNvPr id="34" name="组合 44"/>
            <p:cNvGrpSpPr/>
            <p:nvPr/>
          </p:nvGrpSpPr>
          <p:grpSpPr>
            <a:xfrm>
              <a:off x="4828755" y="3324450"/>
              <a:ext cx="3623152" cy="1375255"/>
              <a:chOff x="3385288" y="2538931"/>
              <a:chExt cx="4282440" cy="1497880"/>
            </a:xfrm>
          </p:grpSpPr>
          <p:sp>
            <p:nvSpPr>
              <p:cNvPr id="35" name="Line 11"/>
              <p:cNvSpPr>
                <a:spLocks noChangeShapeType="1"/>
              </p:cNvSpPr>
              <p:nvPr/>
            </p:nvSpPr>
            <p:spPr bwMode="auto">
              <a:xfrm>
                <a:off x="3385288"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36" name="Line 11"/>
              <p:cNvSpPr>
                <a:spLocks noChangeShapeType="1"/>
              </p:cNvSpPr>
              <p:nvPr/>
            </p:nvSpPr>
            <p:spPr bwMode="auto">
              <a:xfrm>
                <a:off x="3857399"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37" name="Line 11"/>
              <p:cNvSpPr>
                <a:spLocks noChangeShapeType="1"/>
              </p:cNvSpPr>
              <p:nvPr/>
            </p:nvSpPr>
            <p:spPr bwMode="auto">
              <a:xfrm>
                <a:off x="4339322"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38" name="Line 11"/>
              <p:cNvSpPr>
                <a:spLocks noChangeShapeType="1"/>
              </p:cNvSpPr>
              <p:nvPr/>
            </p:nvSpPr>
            <p:spPr bwMode="auto">
              <a:xfrm>
                <a:off x="4816149"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39" name="Line 11"/>
              <p:cNvSpPr>
                <a:spLocks noChangeShapeType="1"/>
              </p:cNvSpPr>
              <p:nvPr/>
            </p:nvSpPr>
            <p:spPr bwMode="auto">
              <a:xfrm>
                <a:off x="5297908"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40" name="Line 11"/>
              <p:cNvSpPr>
                <a:spLocks noChangeShapeType="1"/>
              </p:cNvSpPr>
              <p:nvPr/>
            </p:nvSpPr>
            <p:spPr bwMode="auto">
              <a:xfrm>
                <a:off x="5760866"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44" name="Line 11"/>
              <p:cNvSpPr>
                <a:spLocks noChangeShapeType="1"/>
              </p:cNvSpPr>
              <p:nvPr/>
            </p:nvSpPr>
            <p:spPr bwMode="auto">
              <a:xfrm>
                <a:off x="6244321"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dirty="0">
                  <a:effectLst>
                    <a:outerShdw blurRad="38100" dist="38100" dir="2700000" algn="tl">
                      <a:srgbClr val="000000">
                        <a:alpha val="43137"/>
                      </a:srgbClr>
                    </a:outerShdw>
                  </a:effectLst>
                </a:endParaRPr>
              </a:p>
            </p:txBody>
          </p:sp>
          <p:sp>
            <p:nvSpPr>
              <p:cNvPr id="45" name="Line 11"/>
              <p:cNvSpPr>
                <a:spLocks noChangeShapeType="1"/>
              </p:cNvSpPr>
              <p:nvPr/>
            </p:nvSpPr>
            <p:spPr bwMode="auto">
              <a:xfrm>
                <a:off x="6707444"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46" name="Line 11"/>
              <p:cNvSpPr>
                <a:spLocks noChangeShapeType="1"/>
              </p:cNvSpPr>
              <p:nvPr/>
            </p:nvSpPr>
            <p:spPr bwMode="auto">
              <a:xfrm>
                <a:off x="7189201"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sp>
            <p:nvSpPr>
              <p:cNvPr id="47" name="Line 11"/>
              <p:cNvSpPr>
                <a:spLocks noChangeShapeType="1"/>
              </p:cNvSpPr>
              <p:nvPr/>
            </p:nvSpPr>
            <p:spPr bwMode="auto">
              <a:xfrm>
                <a:off x="7667728" y="2538931"/>
                <a:ext cx="0" cy="1497880"/>
              </a:xfrm>
              <a:prstGeom prst="line">
                <a:avLst/>
              </a:prstGeom>
              <a:noFill/>
              <a:ln w="12700">
                <a:solidFill>
                  <a:srgbClr val="FF0000"/>
                </a:solidFill>
                <a:prstDash val="sysDash"/>
                <a:round/>
              </a:ln>
              <a:effectLst/>
            </p:spPr>
            <p:txBody>
              <a:bodyPr lIns="0" rIns="0" anchor="ctr"/>
              <a:lstStyle/>
              <a:p>
                <a:pPr>
                  <a:defRPr/>
                </a:pPr>
                <a:endParaRPr lang="zh-CN" altLang="en-US" sz="1400">
                  <a:effectLst>
                    <a:outerShdw blurRad="38100" dist="38100" dir="2700000" algn="tl">
                      <a:srgbClr val="000000">
                        <a:alpha val="43137"/>
                      </a:srgbClr>
                    </a:outerShdw>
                  </a:effectLst>
                </a:endParaRPr>
              </a:p>
            </p:txBody>
          </p:sp>
        </p:grpSp>
      </p:grpSp>
      <p:sp>
        <p:nvSpPr>
          <p:cNvPr id="65" name="圆角矩形 99"/>
          <p:cNvSpPr/>
          <p:nvPr/>
        </p:nvSpPr>
        <p:spPr>
          <a:xfrm>
            <a:off x="544203" y="4512741"/>
            <a:ext cx="8397599" cy="909418"/>
          </a:xfrm>
          <a:prstGeom prst="roundRect">
            <a:avLst/>
          </a:prstGeom>
          <a:solidFill>
            <a:srgbClr val="FFFF00"/>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电路是一个由</a:t>
            </a:r>
            <a:r>
              <a:rPr kumimoji="1" lang="zh-CN" altLang="en-US" sz="1400"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信号</a:t>
            </a:r>
            <a:r>
              <a:rPr kumimoji="1" lang="en-US" altLang="zh-CN" sz="1400" i="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zh-CN" altLang="en-US" sz="1400"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控制的可控二进制计数器</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。当</a:t>
            </a:r>
            <a:r>
              <a:rPr kumimoji="1"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时停止计数，状态保持；当</a:t>
            </a:r>
            <a:r>
              <a:rPr kumimoji="1"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时，在</a:t>
            </a:r>
            <a:r>
              <a:rPr kumimoji="1"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CP</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上升沿作用下电路状态值加</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，当计数到</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11</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状态时，</a:t>
            </a:r>
            <a:r>
              <a:rPr kumimoji="1"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Y </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输出</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，并在下一个</a:t>
            </a:r>
            <a:r>
              <a:rPr kumimoji="1"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CP</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上升沿计数状态返回</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00</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，此时输出信号</a:t>
            </a:r>
            <a:r>
              <a:rPr kumimoji="1"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Y</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的下降沿可用于触发进位操作。</a:t>
            </a:r>
            <a:endParaRPr lang="zh-CN" altLang="en-US" sz="1400" dirty="0"/>
          </a:p>
        </p:txBody>
      </p:sp>
      <p:grpSp>
        <p:nvGrpSpPr>
          <p:cNvPr id="66" name="组合 63"/>
          <p:cNvGrpSpPr/>
          <p:nvPr/>
        </p:nvGrpSpPr>
        <p:grpSpPr>
          <a:xfrm>
            <a:off x="563558" y="4120119"/>
            <a:ext cx="2170985" cy="338554"/>
            <a:chOff x="4731375" y="1650857"/>
            <a:chExt cx="2170985" cy="338554"/>
          </a:xfrm>
        </p:grpSpPr>
        <p:sp>
          <p:nvSpPr>
            <p:cNvPr id="67" name="矩形 66"/>
            <p:cNvSpPr/>
            <p:nvPr/>
          </p:nvSpPr>
          <p:spPr>
            <a:xfrm>
              <a:off x="5076219" y="1650857"/>
              <a:ext cx="1826141"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电路逻辑功能分析</a:t>
              </a:r>
              <a:endParaRPr lang="zh-CN" altLang="en-US" sz="1600" dirty="0"/>
            </a:p>
          </p:txBody>
        </p:sp>
        <p:pic>
          <p:nvPicPr>
            <p:cNvPr id="68" name="Picture 5"/>
            <p:cNvPicPr>
              <a:picLocks noChangeAspect="1" noChangeArrowheads="1"/>
            </p:cNvPicPr>
            <p:nvPr/>
          </p:nvPicPr>
          <p:blipFill>
            <a:blip r:embed="rId6" cstate="print"/>
            <a:srcRect/>
            <a:stretch>
              <a:fillRect/>
            </a:stretch>
          </p:blipFill>
          <p:spPr bwMode="auto">
            <a:xfrm>
              <a:off x="4731375" y="1677030"/>
              <a:ext cx="360000" cy="286209"/>
            </a:xfrm>
            <a:prstGeom prst="rect">
              <a:avLst/>
            </a:prstGeom>
            <a:noFill/>
            <a:ln w="9525">
              <a:noFill/>
              <a:miter lim="800000"/>
              <a:headEnd/>
              <a:tailEnd/>
            </a:ln>
          </p:spPr>
        </p:pic>
      </p:grpSp>
      <p:cxnSp>
        <p:nvCxnSpPr>
          <p:cNvPr id="87" name="直接箭头连接符 86"/>
          <p:cNvCxnSpPr/>
          <p:nvPr/>
        </p:nvCxnSpPr>
        <p:spPr>
          <a:xfrm flipV="1">
            <a:off x="5777025" y="4058321"/>
            <a:ext cx="274320" cy="129540"/>
          </a:xfrm>
          <a:prstGeom prst="straightConnector1">
            <a:avLst/>
          </a:prstGeom>
          <a:ln w="28575">
            <a:solidFill>
              <a:srgbClr val="6600FF"/>
            </a:solidFill>
            <a:tailEnd type="arrow"/>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p:nvPr/>
        </p:nvCxnSpPr>
        <p:spPr>
          <a:xfrm flipV="1">
            <a:off x="8040165" y="4104041"/>
            <a:ext cx="205740" cy="106680"/>
          </a:xfrm>
          <a:prstGeom prst="straightConnector1">
            <a:avLst/>
          </a:prstGeom>
          <a:ln w="28575">
            <a:solidFill>
              <a:srgbClr val="6600FF"/>
            </a:solidFill>
            <a:tailEnd type="arrow"/>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p:nvPr/>
        </p:nvCxnSpPr>
        <p:spPr>
          <a:xfrm flipV="1">
            <a:off x="8307391" y="4119281"/>
            <a:ext cx="190500" cy="106680"/>
          </a:xfrm>
          <a:prstGeom prst="straightConnector1">
            <a:avLst/>
          </a:prstGeom>
          <a:ln w="28575">
            <a:solidFill>
              <a:srgbClr val="6600FF"/>
            </a:solidFill>
            <a:tailEnd type="arrow"/>
          </a:ln>
        </p:spPr>
        <p:style>
          <a:lnRef idx="1">
            <a:schemeClr val="accent1"/>
          </a:lnRef>
          <a:fillRef idx="0">
            <a:schemeClr val="accent1"/>
          </a:fillRef>
          <a:effectRef idx="0">
            <a:schemeClr val="accent1"/>
          </a:effectRef>
          <a:fontRef idx="minor">
            <a:schemeClr val="tx1"/>
          </a:fontRef>
        </p:style>
      </p:cxnSp>
      <p:sp>
        <p:nvSpPr>
          <p:cNvPr id="91" name="椭圆 90"/>
          <p:cNvSpPr/>
          <p:nvPr/>
        </p:nvSpPr>
        <p:spPr>
          <a:xfrm>
            <a:off x="8183666" y="2902581"/>
            <a:ext cx="205740" cy="304800"/>
          </a:xfrm>
          <a:prstGeom prst="ellipse">
            <a:avLst/>
          </a:prstGeom>
          <a:solidFill>
            <a:schemeClr val="accent1">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1000"/>
                                        <p:tgtEl>
                                          <p:spTgt spid="66"/>
                                        </p:tgtEl>
                                      </p:cBhvr>
                                    </p:animEffect>
                                    <p:anim calcmode="lin" valueType="num">
                                      <p:cBhvr>
                                        <p:cTn id="8" dur="1000" fill="hold"/>
                                        <p:tgtEl>
                                          <p:spTgt spid="66"/>
                                        </p:tgtEl>
                                        <p:attrNameLst>
                                          <p:attrName>ppt_x</p:attrName>
                                        </p:attrNameLst>
                                      </p:cBhvr>
                                      <p:tavLst>
                                        <p:tav tm="0">
                                          <p:val>
                                            <p:strVal val="#ppt_x"/>
                                          </p:val>
                                        </p:tav>
                                        <p:tav tm="100000">
                                          <p:val>
                                            <p:strVal val="#ppt_x"/>
                                          </p:val>
                                        </p:tav>
                                      </p:tavLst>
                                    </p:anim>
                                    <p:anim calcmode="lin" valueType="num">
                                      <p:cBhvr>
                                        <p:cTn id="9" dur="1000" fill="hold"/>
                                        <p:tgtEl>
                                          <p:spTgt spid="6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fade">
                                      <p:cBhvr>
                                        <p:cTn id="12" dur="1000"/>
                                        <p:tgtEl>
                                          <p:spTgt spid="65"/>
                                        </p:tgtEl>
                                      </p:cBhvr>
                                    </p:animEffect>
                                    <p:anim calcmode="lin" valueType="num">
                                      <p:cBhvr>
                                        <p:cTn id="13" dur="1000" fill="hold"/>
                                        <p:tgtEl>
                                          <p:spTgt spid="65"/>
                                        </p:tgtEl>
                                        <p:attrNameLst>
                                          <p:attrName>ppt_x</p:attrName>
                                        </p:attrNameLst>
                                      </p:cBhvr>
                                      <p:tavLst>
                                        <p:tav tm="0">
                                          <p:val>
                                            <p:strVal val="#ppt_x"/>
                                          </p:val>
                                        </p:tav>
                                        <p:tav tm="100000">
                                          <p:val>
                                            <p:strVal val="#ppt_x"/>
                                          </p:val>
                                        </p:tav>
                                      </p:tavLst>
                                    </p:anim>
                                    <p:anim calcmode="lin" valueType="num">
                                      <p:cBhvr>
                                        <p:cTn id="14"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7"/>
                                        </p:tgtEl>
                                        <p:attrNameLst>
                                          <p:attrName>style.visibility</p:attrName>
                                        </p:attrNameLst>
                                      </p:cBhvr>
                                      <p:to>
                                        <p:strVal val="visible"/>
                                      </p:to>
                                    </p:set>
                                    <p:animEffect transition="in" filter="fade">
                                      <p:cBhvr>
                                        <p:cTn id="19" dur="1000"/>
                                        <p:tgtEl>
                                          <p:spTgt spid="87"/>
                                        </p:tgtEl>
                                      </p:cBhvr>
                                    </p:animEffect>
                                    <p:anim calcmode="lin" valueType="num">
                                      <p:cBhvr>
                                        <p:cTn id="20" dur="1000" fill="hold"/>
                                        <p:tgtEl>
                                          <p:spTgt spid="87"/>
                                        </p:tgtEl>
                                        <p:attrNameLst>
                                          <p:attrName>ppt_x</p:attrName>
                                        </p:attrNameLst>
                                      </p:cBhvr>
                                      <p:tavLst>
                                        <p:tav tm="0">
                                          <p:val>
                                            <p:strVal val="#ppt_x"/>
                                          </p:val>
                                        </p:tav>
                                        <p:tav tm="100000">
                                          <p:val>
                                            <p:strVal val="#ppt_x"/>
                                          </p:val>
                                        </p:tav>
                                      </p:tavLst>
                                    </p:anim>
                                    <p:anim calcmode="lin" valueType="num">
                                      <p:cBhvr>
                                        <p:cTn id="21" dur="1000" fill="hold"/>
                                        <p:tgtEl>
                                          <p:spTgt spid="8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91"/>
                                        </p:tgtEl>
                                        <p:attrNameLst>
                                          <p:attrName>style.visibility</p:attrName>
                                        </p:attrNameLst>
                                      </p:cBhvr>
                                      <p:to>
                                        <p:strVal val="visible"/>
                                      </p:to>
                                    </p:set>
                                    <p:anim calcmode="lin" valueType="num">
                                      <p:cBhvr>
                                        <p:cTn id="26" dur="1000" fill="hold"/>
                                        <p:tgtEl>
                                          <p:spTgt spid="91"/>
                                        </p:tgtEl>
                                        <p:attrNameLst>
                                          <p:attrName>ppt_w</p:attrName>
                                        </p:attrNameLst>
                                      </p:cBhvr>
                                      <p:tavLst>
                                        <p:tav tm="0">
                                          <p:val>
                                            <p:fltVal val="0"/>
                                          </p:val>
                                        </p:tav>
                                        <p:tav tm="100000">
                                          <p:val>
                                            <p:strVal val="#ppt_w"/>
                                          </p:val>
                                        </p:tav>
                                      </p:tavLst>
                                    </p:anim>
                                    <p:anim calcmode="lin" valueType="num">
                                      <p:cBhvr>
                                        <p:cTn id="27" dur="1000" fill="hold"/>
                                        <p:tgtEl>
                                          <p:spTgt spid="91"/>
                                        </p:tgtEl>
                                        <p:attrNameLst>
                                          <p:attrName>ppt_h</p:attrName>
                                        </p:attrNameLst>
                                      </p:cBhvr>
                                      <p:tavLst>
                                        <p:tav tm="0">
                                          <p:val>
                                            <p:fltVal val="0"/>
                                          </p:val>
                                        </p:tav>
                                        <p:tav tm="100000">
                                          <p:val>
                                            <p:strVal val="#ppt_h"/>
                                          </p:val>
                                        </p:tav>
                                      </p:tavLst>
                                    </p:anim>
                                    <p:animEffect transition="in" filter="fade">
                                      <p:cBhvr>
                                        <p:cTn id="28" dur="1000"/>
                                        <p:tgtEl>
                                          <p:spTgt spid="91"/>
                                        </p:tgtEl>
                                      </p:cBhvr>
                                    </p:animEffect>
                                  </p:childTnLst>
                                </p:cTn>
                              </p:par>
                            </p:childTnLst>
                          </p:cTn>
                        </p:par>
                        <p:par>
                          <p:cTn id="29" fill="hold">
                            <p:stCondLst>
                              <p:cond delay="1000"/>
                            </p:stCondLst>
                            <p:childTnLst>
                              <p:par>
                                <p:cTn id="30" presetID="42" presetClass="entr" presetSubtype="0" fill="hold" nodeType="afterEffect">
                                  <p:stCondLst>
                                    <p:cond delay="0"/>
                                  </p:stCondLst>
                                  <p:childTnLst>
                                    <p:set>
                                      <p:cBhvr>
                                        <p:cTn id="31" dur="1" fill="hold">
                                          <p:stCondLst>
                                            <p:cond delay="0"/>
                                          </p:stCondLst>
                                        </p:cTn>
                                        <p:tgtEl>
                                          <p:spTgt spid="88"/>
                                        </p:tgtEl>
                                        <p:attrNameLst>
                                          <p:attrName>style.visibility</p:attrName>
                                        </p:attrNameLst>
                                      </p:cBhvr>
                                      <p:to>
                                        <p:strVal val="visible"/>
                                      </p:to>
                                    </p:set>
                                    <p:animEffect transition="in" filter="fade">
                                      <p:cBhvr>
                                        <p:cTn id="32" dur="1000"/>
                                        <p:tgtEl>
                                          <p:spTgt spid="88"/>
                                        </p:tgtEl>
                                      </p:cBhvr>
                                    </p:animEffect>
                                    <p:anim calcmode="lin" valueType="num">
                                      <p:cBhvr>
                                        <p:cTn id="33" dur="1000" fill="hold"/>
                                        <p:tgtEl>
                                          <p:spTgt spid="88"/>
                                        </p:tgtEl>
                                        <p:attrNameLst>
                                          <p:attrName>ppt_x</p:attrName>
                                        </p:attrNameLst>
                                      </p:cBhvr>
                                      <p:tavLst>
                                        <p:tav tm="0">
                                          <p:val>
                                            <p:strVal val="#ppt_x"/>
                                          </p:val>
                                        </p:tav>
                                        <p:tav tm="100000">
                                          <p:val>
                                            <p:strVal val="#ppt_x"/>
                                          </p:val>
                                        </p:tav>
                                      </p:tavLst>
                                    </p:anim>
                                    <p:anim calcmode="lin" valueType="num">
                                      <p:cBhvr>
                                        <p:cTn id="34" dur="1000" fill="hold"/>
                                        <p:tgtEl>
                                          <p:spTgt spid="8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90"/>
                                        </p:tgtEl>
                                        <p:attrNameLst>
                                          <p:attrName>style.visibility</p:attrName>
                                        </p:attrNameLst>
                                      </p:cBhvr>
                                      <p:to>
                                        <p:strVal val="visible"/>
                                      </p:to>
                                    </p:set>
                                    <p:animEffect transition="in" filter="fade">
                                      <p:cBhvr>
                                        <p:cTn id="37" dur="1000"/>
                                        <p:tgtEl>
                                          <p:spTgt spid="90"/>
                                        </p:tgtEl>
                                      </p:cBhvr>
                                    </p:animEffect>
                                    <p:anim calcmode="lin" valueType="num">
                                      <p:cBhvr>
                                        <p:cTn id="38" dur="1000" fill="hold"/>
                                        <p:tgtEl>
                                          <p:spTgt spid="90"/>
                                        </p:tgtEl>
                                        <p:attrNameLst>
                                          <p:attrName>ppt_x</p:attrName>
                                        </p:attrNameLst>
                                      </p:cBhvr>
                                      <p:tavLst>
                                        <p:tav tm="0">
                                          <p:val>
                                            <p:strVal val="#ppt_x"/>
                                          </p:val>
                                        </p:tav>
                                        <p:tav tm="100000">
                                          <p:val>
                                            <p:strVal val="#ppt_x"/>
                                          </p:val>
                                        </p:tav>
                                      </p:tavLst>
                                    </p:anim>
                                    <p:anim calcmode="lin" valueType="num">
                                      <p:cBhvr>
                                        <p:cTn id="39" dur="1000" fill="hold"/>
                                        <p:tgtEl>
                                          <p:spTgt spid="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9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1773555" y="1844040"/>
            <a:ext cx="4543425" cy="2179320"/>
            <a:chOff x="1773555" y="1844040"/>
            <a:chExt cx="4543425" cy="2179320"/>
          </a:xfrm>
        </p:grpSpPr>
        <p:sp>
          <p:nvSpPr>
            <p:cNvPr id="9" name="AutoShape 5"/>
            <p:cNvSpPr>
              <a:spLocks noChangeArrowheads="1"/>
            </p:cNvSpPr>
            <p:nvPr/>
          </p:nvSpPr>
          <p:spPr bwMode="auto">
            <a:xfrm>
              <a:off x="1773555" y="1844040"/>
              <a:ext cx="4543425" cy="2179320"/>
            </a:xfrm>
            <a:prstGeom prst="roundRect">
              <a:avLst>
                <a:gd name="adj" fmla="val 2731"/>
              </a:avLst>
            </a:prstGeom>
            <a:solidFill>
              <a:srgbClr val="FFFFFF"/>
            </a:solidFill>
            <a:ln w="19050">
              <a:solidFill>
                <a:schemeClr val="tx2">
                  <a:lumMod val="75000"/>
                </a:schemeClr>
              </a:solidFill>
              <a:miter lim="800000"/>
            </a:ln>
          </p:spPr>
          <p:txBody>
            <a:bodyPr wrap="none" anchor="ctr"/>
            <a:lstStyle/>
            <a:p>
              <a:pPr algn="ctr"/>
              <a:endParaRPr lang="en-US" altLang="zh-CN" sz="2000">
                <a:solidFill>
                  <a:srgbClr val="000000"/>
                </a:solidFill>
              </a:endParaRPr>
            </a:p>
          </p:txBody>
        </p:sp>
        <p:graphicFrame>
          <p:nvGraphicFramePr>
            <p:cNvPr id="22" name="对象 21"/>
            <p:cNvGraphicFramePr>
              <a:graphicFrameLocks noChangeAspect="1"/>
            </p:cNvGraphicFramePr>
            <p:nvPr/>
          </p:nvGraphicFramePr>
          <p:xfrm>
            <a:off x="1873488" y="1888733"/>
            <a:ext cx="4343558" cy="1937534"/>
          </p:xfrm>
          <a:graphic>
            <a:graphicData uri="http://schemas.openxmlformats.org/presentationml/2006/ole">
              <mc:AlternateContent xmlns:mc="http://schemas.openxmlformats.org/markup-compatibility/2006">
                <mc:Choice xmlns:v="urn:schemas-microsoft-com:vml" Requires="v">
                  <p:oleObj spid="_x0000_s3085" name="Visio" r:id="rId1" imgW="2143125" imgH="962025" progId="Visio.Drawing.11">
                    <p:embed/>
                  </p:oleObj>
                </mc:Choice>
                <mc:Fallback>
                  <p:oleObj name="Visio" r:id="rId1" imgW="2143125" imgH="962025" progId="Visio.Drawing.11">
                    <p:embed/>
                    <p:pic>
                      <p:nvPicPr>
                        <p:cNvPr id="0" name="对象 21"/>
                        <p:cNvPicPr>
                          <a:picLocks noChangeAspect="1" noChangeArrowheads="1"/>
                        </p:cNvPicPr>
                        <p:nvPr/>
                      </p:nvPicPr>
                      <p:blipFill>
                        <a:blip r:embed="rId2"/>
                        <a:srcRect/>
                        <a:stretch>
                          <a:fillRect/>
                        </a:stretch>
                      </p:blipFill>
                      <p:spPr bwMode="auto">
                        <a:xfrm>
                          <a:off x="1873488" y="1888733"/>
                          <a:ext cx="4343558" cy="1937534"/>
                        </a:xfrm>
                        <a:prstGeom prst="rect">
                          <a:avLst/>
                        </a:prstGeom>
                        <a:noFill/>
                        <a:ln>
                          <a:noFill/>
                        </a:ln>
                      </p:spPr>
                    </p:pic>
                  </p:oleObj>
                </mc:Fallback>
              </mc:AlternateContent>
            </a:graphicData>
          </a:graphic>
        </p:graphicFrame>
      </p:grpSp>
      <p:grpSp>
        <p:nvGrpSpPr>
          <p:cNvPr id="2" name="组合 67"/>
          <p:cNvGrpSpPr/>
          <p:nvPr/>
        </p:nvGrpSpPr>
        <p:grpSpPr>
          <a:xfrm>
            <a:off x="392432" y="778617"/>
            <a:ext cx="3388258" cy="411055"/>
            <a:chOff x="670560" y="892917"/>
            <a:chExt cx="3388258" cy="411055"/>
          </a:xfrm>
        </p:grpSpPr>
        <p:sp>
          <p:nvSpPr>
            <p:cNvPr id="3" name="矩形 2"/>
            <p:cNvSpPr/>
            <p:nvPr/>
          </p:nvSpPr>
          <p:spPr>
            <a:xfrm>
              <a:off x="1035233" y="913778"/>
              <a:ext cx="3023585" cy="369332"/>
            </a:xfrm>
            <a:prstGeom prst="rect">
              <a:avLst/>
            </a:prstGeom>
          </p:spPr>
          <p:txBody>
            <a:bodyPr wrap="none">
              <a:spAutoFit/>
            </a:bodyPr>
            <a:lstStyle/>
            <a:p>
              <a:r>
                <a:rPr lang="zh-CN" altLang="en-US" b="1" dirty="0">
                  <a:solidFill>
                    <a:srgbClr val="002060"/>
                  </a:solidFill>
                  <a:latin typeface="微软雅黑" panose="020B0503020204020204" pitchFamily="34" charset="-122"/>
                  <a:ea typeface="微软雅黑" panose="020B0503020204020204" pitchFamily="34" charset="-122"/>
                </a:rPr>
                <a:t>同步时序逻辑电路分析实例 </a:t>
              </a:r>
              <a:endParaRPr lang="zh-CN" altLang="en-US"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5" name="组合 77"/>
          <p:cNvGrpSpPr/>
          <p:nvPr/>
        </p:nvGrpSpPr>
        <p:grpSpPr>
          <a:xfrm>
            <a:off x="408133" y="1277936"/>
            <a:ext cx="3537818" cy="374630"/>
            <a:chOff x="369777" y="1347760"/>
            <a:chExt cx="3537818" cy="374630"/>
          </a:xfrm>
        </p:grpSpPr>
        <p:sp>
          <p:nvSpPr>
            <p:cNvPr id="6" name="TextBox 5"/>
            <p:cNvSpPr txBox="1"/>
            <p:nvPr/>
          </p:nvSpPr>
          <p:spPr>
            <a:xfrm>
              <a:off x="723710" y="1350409"/>
              <a:ext cx="3183885" cy="338554"/>
            </a:xfrm>
            <a:prstGeom prst="rect">
              <a:avLst/>
            </a:prstGeom>
            <a:noFill/>
          </p:spPr>
          <p:txBody>
            <a:bodyPr wrap="none" rtlCol="0">
              <a:spAutoFit/>
            </a:bodyPr>
            <a:lstStyle/>
            <a:p>
              <a:r>
                <a:rPr lang="zh-CN" altLang="en-US" sz="1600" b="1" dirty="0">
                  <a:solidFill>
                    <a:srgbClr val="CC00CC"/>
                  </a:solidFill>
                  <a:latin typeface="黑体" panose="02010609060101010101" pitchFamily="49" charset="-122"/>
                  <a:ea typeface="黑体" panose="02010609060101010101" pitchFamily="49" charset="-122"/>
                </a:rPr>
                <a:t>例</a:t>
              </a:r>
              <a:r>
                <a:rPr lang="en-US" altLang="zh-CN" sz="1600" b="1" dirty="0">
                  <a:solidFill>
                    <a:srgbClr val="CC00CC"/>
                  </a:solidFill>
                  <a:latin typeface="黑体" panose="02010609060101010101" pitchFamily="49" charset="-122"/>
                  <a:ea typeface="黑体" panose="02010609060101010101" pitchFamily="49" charset="-122"/>
                </a:rPr>
                <a:t>2</a:t>
              </a:r>
              <a:r>
                <a:rPr lang="zh-CN" altLang="en-US" sz="1600" b="1" dirty="0">
                  <a:solidFill>
                    <a:srgbClr val="CC00CC"/>
                  </a:solidFill>
                  <a:latin typeface="黑体" panose="02010609060101010101" pitchFamily="49" charset="-122"/>
                  <a:ea typeface="黑体" panose="02010609060101010101" pitchFamily="49" charset="-122"/>
                </a:rPr>
                <a:t>：</a:t>
              </a:r>
              <a:r>
                <a:rPr lang="zh-CN" altLang="en-US" sz="1600" b="1" dirty="0">
                  <a:solidFill>
                    <a:srgbClr val="6600FF"/>
                  </a:solidFill>
                  <a:latin typeface="黑体" panose="02010609060101010101" pitchFamily="49" charset="-122"/>
                  <a:ea typeface="黑体" panose="02010609060101010101" pitchFamily="49" charset="-122"/>
                </a:rPr>
                <a:t>分析图示同步时序逻辑电路</a:t>
              </a:r>
              <a:endParaRPr lang="zh-CN" altLang="en-US" sz="1600" b="1" dirty="0">
                <a:solidFill>
                  <a:srgbClr val="6600FF"/>
                </a:solidFill>
                <a:latin typeface="黑体" panose="02010609060101010101" pitchFamily="49" charset="-122"/>
                <a:ea typeface="黑体" panose="02010609060101010101" pitchFamily="49" charset="-122"/>
              </a:endParaRPr>
            </a:p>
          </p:txBody>
        </p:sp>
        <p:pic>
          <p:nvPicPr>
            <p:cNvPr id="7" name="Picture 4"/>
            <p:cNvPicPr>
              <a:picLocks noChangeAspect="1" noChangeArrowheads="1"/>
            </p:cNvPicPr>
            <p:nvPr/>
          </p:nvPicPr>
          <p:blipFill>
            <a:blip r:embed="rId4" cstate="print"/>
            <a:srcRect/>
            <a:stretch>
              <a:fillRect/>
            </a:stretch>
          </p:blipFill>
          <p:spPr bwMode="auto">
            <a:xfrm>
              <a:off x="369777" y="1347760"/>
              <a:ext cx="373669" cy="374630"/>
            </a:xfrm>
            <a:prstGeom prst="rect">
              <a:avLst/>
            </a:prstGeom>
            <a:noFill/>
            <a:ln w="9525">
              <a:noFill/>
              <a:miter lim="800000"/>
              <a:headEnd/>
              <a:tailEnd/>
            </a:ln>
          </p:spPr>
        </p:pic>
      </p:grpSp>
      <p:sp>
        <p:nvSpPr>
          <p:cNvPr id="11" name="圆角矩形 10"/>
          <p:cNvSpPr/>
          <p:nvPr/>
        </p:nvSpPr>
        <p:spPr>
          <a:xfrm>
            <a:off x="1282856" y="4230687"/>
            <a:ext cx="6147540" cy="694458"/>
          </a:xfrm>
          <a:prstGeom prst="roundRect">
            <a:avLst/>
          </a:prstGeom>
          <a:solidFill>
            <a:srgbClr val="FFFF00"/>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电路是由两个上降沿触发的</a:t>
            </a:r>
            <a:r>
              <a:rPr lang="en-US" altLang="zh-CN"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JK </a:t>
            </a:r>
            <a:r>
              <a:rPr lang="zh-CN" altLang="en-US"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触发器组成同步时序电路。</a:t>
            </a:r>
            <a:endParaRPr lang="en-US" altLang="zh-CN"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pPr algn="ctr"/>
            <a:r>
              <a:rPr lang="zh-CN" altLang="en-US"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（有一个输入</a:t>
            </a:r>
            <a:r>
              <a:rPr lang="en-US" altLang="zh-CN"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X</a:t>
            </a:r>
            <a:r>
              <a:rPr lang="zh-CN" altLang="en-US"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和一个输出</a:t>
            </a:r>
            <a:r>
              <a:rPr lang="en-US" altLang="zh-CN"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Y</a:t>
            </a:r>
            <a:r>
              <a:rPr lang="zh-CN" altLang="en-US"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 name="矩形 12"/>
          <p:cNvSpPr/>
          <p:nvPr/>
        </p:nvSpPr>
        <p:spPr>
          <a:xfrm>
            <a:off x="4423638" y="2565198"/>
            <a:ext cx="633127" cy="864000"/>
          </a:xfrm>
          <a:prstGeom prst="rect">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18"/>
          <p:cNvSpPr/>
          <p:nvPr/>
        </p:nvSpPr>
        <p:spPr>
          <a:xfrm>
            <a:off x="1963012" y="1910584"/>
            <a:ext cx="307699" cy="295154"/>
          </a:xfrm>
          <a:prstGeom prst="roundRect">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圆角矩形 19"/>
          <p:cNvSpPr/>
          <p:nvPr/>
        </p:nvSpPr>
        <p:spPr>
          <a:xfrm>
            <a:off x="5905399" y="2417621"/>
            <a:ext cx="307699" cy="295154"/>
          </a:xfrm>
          <a:prstGeom prst="roundRect">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p:cNvSpPr/>
          <p:nvPr/>
        </p:nvSpPr>
        <p:spPr>
          <a:xfrm>
            <a:off x="2862297" y="2550825"/>
            <a:ext cx="639466" cy="864000"/>
          </a:xfrm>
          <a:prstGeom prst="rect">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p:cNvGrpSpPr/>
          <p:nvPr/>
        </p:nvGrpSpPr>
        <p:grpSpPr>
          <a:xfrm>
            <a:off x="2270710" y="2978653"/>
            <a:ext cx="2149575" cy="650857"/>
            <a:chOff x="2135934" y="2921440"/>
            <a:chExt cx="1943404" cy="650857"/>
          </a:xfrm>
        </p:grpSpPr>
        <p:cxnSp>
          <p:nvCxnSpPr>
            <p:cNvPr id="15" name="直接连接符 14"/>
            <p:cNvCxnSpPr/>
            <p:nvPr/>
          </p:nvCxnSpPr>
          <p:spPr>
            <a:xfrm rot="16200000">
              <a:off x="3581096" y="3248297"/>
              <a:ext cx="648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135934" y="3557679"/>
              <a:ext cx="1760691"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481484" y="2926195"/>
              <a:ext cx="195283"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3899338" y="2926579"/>
              <a:ext cx="180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rot="16200000">
              <a:off x="2158371" y="3245440"/>
              <a:ext cx="648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sp>
        <p:nvSpPr>
          <p:cNvPr id="24" name="矩形 23"/>
          <p:cNvSpPr/>
          <p:nvPr/>
        </p:nvSpPr>
        <p:spPr>
          <a:xfrm>
            <a:off x="3092811" y="1979451"/>
            <a:ext cx="270000" cy="396000"/>
          </a:xfrm>
          <a:prstGeom prst="rect">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矩形 25"/>
          <p:cNvSpPr/>
          <p:nvPr/>
        </p:nvSpPr>
        <p:spPr>
          <a:xfrm>
            <a:off x="5410736" y="2375451"/>
            <a:ext cx="270000" cy="396000"/>
          </a:xfrm>
          <a:prstGeom prst="rect">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p14:prism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1000"/>
                                        <p:tgtEl>
                                          <p:spTgt spid="25"/>
                                        </p:tgtEl>
                                      </p:cBhvr>
                                    </p:animEffect>
                                    <p:anim calcmode="lin" valueType="num">
                                      <p:cBhvr>
                                        <p:cTn id="13" dur="1000" fill="hold"/>
                                        <p:tgtEl>
                                          <p:spTgt spid="25"/>
                                        </p:tgtEl>
                                        <p:attrNameLst>
                                          <p:attrName>ppt_x</p:attrName>
                                        </p:attrNameLst>
                                      </p:cBhvr>
                                      <p:tavLst>
                                        <p:tav tm="0">
                                          <p:val>
                                            <p:strVal val="#ppt_x"/>
                                          </p:val>
                                        </p:tav>
                                        <p:tav tm="100000">
                                          <p:val>
                                            <p:strVal val="#ppt_x"/>
                                          </p:val>
                                        </p:tav>
                                      </p:tavLst>
                                    </p:anim>
                                    <p:anim calcmode="lin" valueType="num">
                                      <p:cBhvr>
                                        <p:cTn id="14"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1000" fill="hold"/>
                                        <p:tgtEl>
                                          <p:spTgt spid="12"/>
                                        </p:tgtEl>
                                        <p:attrNameLst>
                                          <p:attrName>ppt_w</p:attrName>
                                        </p:attrNameLst>
                                      </p:cBhvr>
                                      <p:tavLst>
                                        <p:tav tm="0">
                                          <p:val>
                                            <p:fltVal val="0"/>
                                          </p:val>
                                        </p:tav>
                                        <p:tav tm="100000">
                                          <p:val>
                                            <p:strVal val="#ppt_w"/>
                                          </p:val>
                                        </p:tav>
                                      </p:tavLst>
                                    </p:anim>
                                    <p:anim calcmode="lin" valueType="num">
                                      <p:cBhvr>
                                        <p:cTn id="20" dur="1000" fill="hold"/>
                                        <p:tgtEl>
                                          <p:spTgt spid="12"/>
                                        </p:tgtEl>
                                        <p:attrNameLst>
                                          <p:attrName>ppt_h</p:attrName>
                                        </p:attrNameLst>
                                      </p:cBhvr>
                                      <p:tavLst>
                                        <p:tav tm="0">
                                          <p:val>
                                            <p:fltVal val="0"/>
                                          </p:val>
                                        </p:tav>
                                        <p:tav tm="100000">
                                          <p:val>
                                            <p:strVal val="#ppt_h"/>
                                          </p:val>
                                        </p:tav>
                                      </p:tavLst>
                                    </p:anim>
                                    <p:animEffect transition="in" filter="fade">
                                      <p:cBhvr>
                                        <p:cTn id="21" dur="1000"/>
                                        <p:tgtEl>
                                          <p:spTgt spid="12"/>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p:cTn id="24" dur="1000" fill="hold"/>
                                        <p:tgtEl>
                                          <p:spTgt spid="13"/>
                                        </p:tgtEl>
                                        <p:attrNameLst>
                                          <p:attrName>ppt_w</p:attrName>
                                        </p:attrNameLst>
                                      </p:cBhvr>
                                      <p:tavLst>
                                        <p:tav tm="0">
                                          <p:val>
                                            <p:fltVal val="0"/>
                                          </p:val>
                                        </p:tav>
                                        <p:tav tm="100000">
                                          <p:val>
                                            <p:strVal val="#ppt_w"/>
                                          </p:val>
                                        </p:tav>
                                      </p:tavLst>
                                    </p:anim>
                                    <p:anim calcmode="lin" valueType="num">
                                      <p:cBhvr>
                                        <p:cTn id="25" dur="1000" fill="hold"/>
                                        <p:tgtEl>
                                          <p:spTgt spid="13"/>
                                        </p:tgtEl>
                                        <p:attrNameLst>
                                          <p:attrName>ppt_h</p:attrName>
                                        </p:attrNameLst>
                                      </p:cBhvr>
                                      <p:tavLst>
                                        <p:tav tm="0">
                                          <p:val>
                                            <p:fltVal val="0"/>
                                          </p:val>
                                        </p:tav>
                                        <p:tav tm="100000">
                                          <p:val>
                                            <p:strVal val="#ppt_h"/>
                                          </p:val>
                                        </p:tav>
                                      </p:tavLst>
                                    </p:anim>
                                    <p:animEffect transition="in" filter="fade">
                                      <p:cBhvr>
                                        <p:cTn id="26" dur="1000"/>
                                        <p:tgtEl>
                                          <p:spTgt spid="13"/>
                                        </p:tgtEl>
                                      </p:cBhvr>
                                    </p:animEffect>
                                  </p:childTnLst>
                                </p:cTn>
                              </p:par>
                            </p:childTnLst>
                          </p:cTn>
                        </p:par>
                        <p:par>
                          <p:cTn id="27" fill="hold">
                            <p:stCondLst>
                              <p:cond delay="1000"/>
                            </p:stCondLst>
                            <p:childTnLst>
                              <p:par>
                                <p:cTn id="28" presetID="53" presetClass="entr" presetSubtype="16" fill="hold" grpId="0" nodeType="afterEffect">
                                  <p:stCondLst>
                                    <p:cond delay="0"/>
                                  </p:stCondLst>
                                  <p:childTnLst>
                                    <p:set>
                                      <p:cBhvr>
                                        <p:cTn id="29" dur="1" fill="hold">
                                          <p:stCondLst>
                                            <p:cond delay="0"/>
                                          </p:stCondLst>
                                        </p:cTn>
                                        <p:tgtEl>
                                          <p:spTgt spid="24"/>
                                        </p:tgtEl>
                                        <p:attrNameLst>
                                          <p:attrName>style.visibility</p:attrName>
                                        </p:attrNameLst>
                                      </p:cBhvr>
                                      <p:to>
                                        <p:strVal val="visible"/>
                                      </p:to>
                                    </p:set>
                                    <p:anim calcmode="lin" valueType="num">
                                      <p:cBhvr>
                                        <p:cTn id="30" dur="1000" fill="hold"/>
                                        <p:tgtEl>
                                          <p:spTgt spid="24"/>
                                        </p:tgtEl>
                                        <p:attrNameLst>
                                          <p:attrName>ppt_w</p:attrName>
                                        </p:attrNameLst>
                                      </p:cBhvr>
                                      <p:tavLst>
                                        <p:tav tm="0">
                                          <p:val>
                                            <p:fltVal val="0"/>
                                          </p:val>
                                        </p:tav>
                                        <p:tav tm="100000">
                                          <p:val>
                                            <p:strVal val="#ppt_w"/>
                                          </p:val>
                                        </p:tav>
                                      </p:tavLst>
                                    </p:anim>
                                    <p:anim calcmode="lin" valueType="num">
                                      <p:cBhvr>
                                        <p:cTn id="31" dur="1000" fill="hold"/>
                                        <p:tgtEl>
                                          <p:spTgt spid="24"/>
                                        </p:tgtEl>
                                        <p:attrNameLst>
                                          <p:attrName>ppt_h</p:attrName>
                                        </p:attrNameLst>
                                      </p:cBhvr>
                                      <p:tavLst>
                                        <p:tav tm="0">
                                          <p:val>
                                            <p:fltVal val="0"/>
                                          </p:val>
                                        </p:tav>
                                        <p:tav tm="100000">
                                          <p:val>
                                            <p:strVal val="#ppt_h"/>
                                          </p:val>
                                        </p:tav>
                                      </p:tavLst>
                                    </p:anim>
                                    <p:animEffect transition="in" filter="fade">
                                      <p:cBhvr>
                                        <p:cTn id="32" dur="1000"/>
                                        <p:tgtEl>
                                          <p:spTgt spid="24"/>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 calcmode="lin" valueType="num">
                                      <p:cBhvr>
                                        <p:cTn id="35" dur="1000" fill="hold"/>
                                        <p:tgtEl>
                                          <p:spTgt spid="26"/>
                                        </p:tgtEl>
                                        <p:attrNameLst>
                                          <p:attrName>ppt_w</p:attrName>
                                        </p:attrNameLst>
                                      </p:cBhvr>
                                      <p:tavLst>
                                        <p:tav tm="0">
                                          <p:val>
                                            <p:fltVal val="0"/>
                                          </p:val>
                                        </p:tav>
                                        <p:tav tm="100000">
                                          <p:val>
                                            <p:strVal val="#ppt_w"/>
                                          </p:val>
                                        </p:tav>
                                      </p:tavLst>
                                    </p:anim>
                                    <p:anim calcmode="lin" valueType="num">
                                      <p:cBhvr>
                                        <p:cTn id="36" dur="1000" fill="hold"/>
                                        <p:tgtEl>
                                          <p:spTgt spid="26"/>
                                        </p:tgtEl>
                                        <p:attrNameLst>
                                          <p:attrName>ppt_h</p:attrName>
                                        </p:attrNameLst>
                                      </p:cBhvr>
                                      <p:tavLst>
                                        <p:tav tm="0">
                                          <p:val>
                                            <p:fltVal val="0"/>
                                          </p:val>
                                        </p:tav>
                                        <p:tav tm="100000">
                                          <p:val>
                                            <p:strVal val="#ppt_h"/>
                                          </p:val>
                                        </p:tav>
                                      </p:tavLst>
                                    </p:anim>
                                    <p:animEffect transition="in" filter="fade">
                                      <p:cBhvr>
                                        <p:cTn id="37" dur="1000"/>
                                        <p:tgtEl>
                                          <p:spTgt spid="26"/>
                                        </p:tgtEl>
                                      </p:cBhvr>
                                    </p:animEffect>
                                  </p:childTnLst>
                                </p:cTn>
                              </p:par>
                            </p:childTnLst>
                          </p:cTn>
                        </p:par>
                        <p:par>
                          <p:cTn id="38" fill="hold">
                            <p:stCondLst>
                              <p:cond delay="2000"/>
                            </p:stCondLst>
                            <p:childTnLst>
                              <p:par>
                                <p:cTn id="39" presetID="53" presetClass="entr" presetSubtype="16" fill="hold" grpId="0" nodeType="afterEffect">
                                  <p:stCondLst>
                                    <p:cond delay="0"/>
                                  </p:stCondLst>
                                  <p:childTnLst>
                                    <p:set>
                                      <p:cBhvr>
                                        <p:cTn id="40" dur="1" fill="hold">
                                          <p:stCondLst>
                                            <p:cond delay="0"/>
                                          </p:stCondLst>
                                        </p:cTn>
                                        <p:tgtEl>
                                          <p:spTgt spid="19"/>
                                        </p:tgtEl>
                                        <p:attrNameLst>
                                          <p:attrName>style.visibility</p:attrName>
                                        </p:attrNameLst>
                                      </p:cBhvr>
                                      <p:to>
                                        <p:strVal val="visible"/>
                                      </p:to>
                                    </p:set>
                                    <p:anim calcmode="lin" valueType="num">
                                      <p:cBhvr>
                                        <p:cTn id="41" dur="1000" fill="hold"/>
                                        <p:tgtEl>
                                          <p:spTgt spid="19"/>
                                        </p:tgtEl>
                                        <p:attrNameLst>
                                          <p:attrName>ppt_w</p:attrName>
                                        </p:attrNameLst>
                                      </p:cBhvr>
                                      <p:tavLst>
                                        <p:tav tm="0">
                                          <p:val>
                                            <p:fltVal val="0"/>
                                          </p:val>
                                        </p:tav>
                                        <p:tav tm="100000">
                                          <p:val>
                                            <p:strVal val="#ppt_w"/>
                                          </p:val>
                                        </p:tav>
                                      </p:tavLst>
                                    </p:anim>
                                    <p:anim calcmode="lin" valueType="num">
                                      <p:cBhvr>
                                        <p:cTn id="42" dur="1000" fill="hold"/>
                                        <p:tgtEl>
                                          <p:spTgt spid="19"/>
                                        </p:tgtEl>
                                        <p:attrNameLst>
                                          <p:attrName>ppt_h</p:attrName>
                                        </p:attrNameLst>
                                      </p:cBhvr>
                                      <p:tavLst>
                                        <p:tav tm="0">
                                          <p:val>
                                            <p:fltVal val="0"/>
                                          </p:val>
                                        </p:tav>
                                        <p:tav tm="100000">
                                          <p:val>
                                            <p:strVal val="#ppt_h"/>
                                          </p:val>
                                        </p:tav>
                                      </p:tavLst>
                                    </p:anim>
                                    <p:animEffect transition="in" filter="fade">
                                      <p:cBhvr>
                                        <p:cTn id="43" dur="1000"/>
                                        <p:tgtEl>
                                          <p:spTgt spid="19"/>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 calcmode="lin" valueType="num">
                                      <p:cBhvr>
                                        <p:cTn id="46" dur="1000" fill="hold"/>
                                        <p:tgtEl>
                                          <p:spTgt spid="20"/>
                                        </p:tgtEl>
                                        <p:attrNameLst>
                                          <p:attrName>ppt_w</p:attrName>
                                        </p:attrNameLst>
                                      </p:cBhvr>
                                      <p:tavLst>
                                        <p:tav tm="0">
                                          <p:val>
                                            <p:fltVal val="0"/>
                                          </p:val>
                                        </p:tav>
                                        <p:tav tm="100000">
                                          <p:val>
                                            <p:strVal val="#ppt_w"/>
                                          </p:val>
                                        </p:tav>
                                      </p:tavLst>
                                    </p:anim>
                                    <p:anim calcmode="lin" valueType="num">
                                      <p:cBhvr>
                                        <p:cTn id="47" dur="1000" fill="hold"/>
                                        <p:tgtEl>
                                          <p:spTgt spid="20"/>
                                        </p:tgtEl>
                                        <p:attrNameLst>
                                          <p:attrName>ppt_h</p:attrName>
                                        </p:attrNameLst>
                                      </p:cBhvr>
                                      <p:tavLst>
                                        <p:tav tm="0">
                                          <p:val>
                                            <p:fltVal val="0"/>
                                          </p:val>
                                        </p:tav>
                                        <p:tav tm="100000">
                                          <p:val>
                                            <p:strVal val="#ppt_h"/>
                                          </p:val>
                                        </p:tav>
                                      </p:tavLst>
                                    </p:anim>
                                    <p:animEffect transition="in" filter="fade">
                                      <p:cBhvr>
                                        <p:cTn id="48" dur="1000"/>
                                        <p:tgtEl>
                                          <p:spTgt spid="20"/>
                                        </p:tgtEl>
                                      </p:cBhvr>
                                    </p:animEffect>
                                  </p:childTnLst>
                                </p:cTn>
                              </p:par>
                            </p:childTnLst>
                          </p:cTn>
                        </p:par>
                        <p:par>
                          <p:cTn id="49" fill="hold">
                            <p:stCondLst>
                              <p:cond delay="3000"/>
                            </p:stCondLst>
                            <p:childTnLst>
                              <p:par>
                                <p:cTn id="50" presetID="53" presetClass="entr" presetSubtype="16" fill="hold" nodeType="afterEffect">
                                  <p:stCondLst>
                                    <p:cond delay="0"/>
                                  </p:stCondLst>
                                  <p:childTnLst>
                                    <p:set>
                                      <p:cBhvr>
                                        <p:cTn id="51" dur="1" fill="hold">
                                          <p:stCondLst>
                                            <p:cond delay="0"/>
                                          </p:stCondLst>
                                        </p:cTn>
                                        <p:tgtEl>
                                          <p:spTgt spid="23"/>
                                        </p:tgtEl>
                                        <p:attrNameLst>
                                          <p:attrName>style.visibility</p:attrName>
                                        </p:attrNameLst>
                                      </p:cBhvr>
                                      <p:to>
                                        <p:strVal val="visible"/>
                                      </p:to>
                                    </p:set>
                                    <p:anim calcmode="lin" valueType="num">
                                      <p:cBhvr>
                                        <p:cTn id="52" dur="1000" fill="hold"/>
                                        <p:tgtEl>
                                          <p:spTgt spid="23"/>
                                        </p:tgtEl>
                                        <p:attrNameLst>
                                          <p:attrName>ppt_w</p:attrName>
                                        </p:attrNameLst>
                                      </p:cBhvr>
                                      <p:tavLst>
                                        <p:tav tm="0">
                                          <p:val>
                                            <p:fltVal val="0"/>
                                          </p:val>
                                        </p:tav>
                                        <p:tav tm="100000">
                                          <p:val>
                                            <p:strVal val="#ppt_w"/>
                                          </p:val>
                                        </p:tav>
                                      </p:tavLst>
                                    </p:anim>
                                    <p:anim calcmode="lin" valueType="num">
                                      <p:cBhvr>
                                        <p:cTn id="53" dur="1000" fill="hold"/>
                                        <p:tgtEl>
                                          <p:spTgt spid="23"/>
                                        </p:tgtEl>
                                        <p:attrNameLst>
                                          <p:attrName>ppt_h</p:attrName>
                                        </p:attrNameLst>
                                      </p:cBhvr>
                                      <p:tavLst>
                                        <p:tav tm="0">
                                          <p:val>
                                            <p:fltVal val="0"/>
                                          </p:val>
                                        </p:tav>
                                        <p:tav tm="100000">
                                          <p:val>
                                            <p:strVal val="#ppt_h"/>
                                          </p:val>
                                        </p:tav>
                                      </p:tavLst>
                                    </p:anim>
                                    <p:animEffect transition="in" filter="fade">
                                      <p:cBhvr>
                                        <p:cTn id="54" dur="1000"/>
                                        <p:tgtEl>
                                          <p:spTgt spid="23"/>
                                        </p:tgtEl>
                                      </p:cBhvr>
                                    </p:animEffect>
                                  </p:childTnLst>
                                </p:cTn>
                              </p:par>
                            </p:childTnLst>
                          </p:cTn>
                        </p:par>
                        <p:par>
                          <p:cTn id="55" fill="hold">
                            <p:stCondLst>
                              <p:cond delay="4000"/>
                            </p:stCondLst>
                            <p:childTnLst>
                              <p:par>
                                <p:cTn id="56" presetID="42" presetClass="entr" presetSubtype="0" fill="hold" grpId="0" nodeType="after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1000"/>
                                        <p:tgtEl>
                                          <p:spTgt spid="11"/>
                                        </p:tgtEl>
                                      </p:cBhvr>
                                    </p:animEffect>
                                    <p:anim calcmode="lin" valueType="num">
                                      <p:cBhvr>
                                        <p:cTn id="59" dur="1000" fill="hold"/>
                                        <p:tgtEl>
                                          <p:spTgt spid="11"/>
                                        </p:tgtEl>
                                        <p:attrNameLst>
                                          <p:attrName>ppt_x</p:attrName>
                                        </p:attrNameLst>
                                      </p:cBhvr>
                                      <p:tavLst>
                                        <p:tav tm="0">
                                          <p:val>
                                            <p:strVal val="#ppt_x"/>
                                          </p:val>
                                        </p:tav>
                                        <p:tav tm="100000">
                                          <p:val>
                                            <p:strVal val="#ppt_x"/>
                                          </p:val>
                                        </p:tav>
                                      </p:tavLst>
                                    </p:anim>
                                    <p:anim calcmode="lin" valueType="num">
                                      <p:cBhvr>
                                        <p:cTn id="6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9" grpId="0" animBg="1"/>
      <p:bldP spid="20" grpId="0" animBg="1"/>
      <p:bldP spid="12" grpId="0" animBg="1"/>
      <p:bldP spid="24" grpId="0" animBg="1"/>
      <p:bldP spid="2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471795" y="1856597"/>
            <a:ext cx="2581354" cy="338554"/>
            <a:chOff x="4731375" y="1650857"/>
            <a:chExt cx="2581354" cy="338554"/>
          </a:xfrm>
        </p:grpSpPr>
        <p:sp>
          <p:nvSpPr>
            <p:cNvPr id="27" name="矩形 26"/>
            <p:cNvSpPr/>
            <p:nvPr/>
          </p:nvSpPr>
          <p:spPr>
            <a:xfrm>
              <a:off x="5076219" y="1650857"/>
              <a:ext cx="2236510"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写输出方程和激励方程</a:t>
              </a:r>
              <a:endParaRPr lang="zh-CN" altLang="en-US" sz="1600" dirty="0"/>
            </a:p>
          </p:txBody>
        </p:sp>
        <p:pic>
          <p:nvPicPr>
            <p:cNvPr id="28" name="Picture 5"/>
            <p:cNvPicPr>
              <a:picLocks noChangeAspect="1" noChangeArrowheads="1"/>
            </p:cNvPicPr>
            <p:nvPr/>
          </p:nvPicPr>
          <p:blipFill>
            <a:blip r:embed="rId1" cstate="print"/>
            <a:srcRect/>
            <a:stretch>
              <a:fillRect/>
            </a:stretch>
          </p:blipFill>
          <p:spPr bwMode="auto">
            <a:xfrm>
              <a:off x="4731375" y="1677030"/>
              <a:ext cx="360000" cy="286209"/>
            </a:xfrm>
            <a:prstGeom prst="rect">
              <a:avLst/>
            </a:prstGeom>
            <a:noFill/>
            <a:ln w="9525">
              <a:noFill/>
              <a:miter lim="800000"/>
              <a:headEnd/>
              <a:tailEnd/>
            </a:ln>
          </p:spPr>
        </p:pic>
      </p:grpSp>
      <p:grpSp>
        <p:nvGrpSpPr>
          <p:cNvPr id="14" name="组合 13"/>
          <p:cNvGrpSpPr/>
          <p:nvPr/>
        </p:nvGrpSpPr>
        <p:grpSpPr>
          <a:xfrm>
            <a:off x="624392" y="2833761"/>
            <a:ext cx="3607089" cy="379834"/>
            <a:chOff x="624392" y="2833761"/>
            <a:chExt cx="3607089" cy="379834"/>
          </a:xfrm>
        </p:grpSpPr>
        <p:sp>
          <p:nvSpPr>
            <p:cNvPr id="25" name="Rectangle 13"/>
            <p:cNvSpPr>
              <a:spLocks noChangeArrowheads="1"/>
            </p:cNvSpPr>
            <p:nvPr/>
          </p:nvSpPr>
          <p:spPr bwMode="auto">
            <a:xfrm>
              <a:off x="624392" y="2833761"/>
              <a:ext cx="1176977" cy="338554"/>
            </a:xfrm>
            <a:prstGeom prst="rect">
              <a:avLst/>
            </a:prstGeom>
            <a:noFill/>
            <a:ln w="9525" algn="ctr">
              <a:noFill/>
              <a:miter lim="800000"/>
            </a:ln>
          </p:spPr>
          <p:txBody>
            <a:bodyPr wrap="square" lIns="0" rIns="0">
              <a:spAutoFit/>
            </a:bodyPr>
            <a:lstStyle/>
            <a:p>
              <a:r>
                <a:rPr kumimoji="1" lang="zh-CN" altLang="en-US" sz="1600" dirty="0">
                  <a:solidFill>
                    <a:srgbClr val="CC00CC"/>
                  </a:solidFill>
                  <a:latin typeface="微软雅黑" panose="020B0503020204020204" pitchFamily="34" charset="-122"/>
                  <a:ea typeface="微软雅黑" panose="020B0503020204020204" pitchFamily="34" charset="-122"/>
                </a:rPr>
                <a:t>激励方程</a:t>
              </a:r>
              <a:r>
                <a:rPr kumimoji="1" lang="en-US" altLang="zh-CN" sz="1600" dirty="0">
                  <a:solidFill>
                    <a:srgbClr val="CC00CC"/>
                  </a:solidFill>
                  <a:latin typeface="微软雅黑" panose="020B0503020204020204" pitchFamily="34" charset="-122"/>
                  <a:ea typeface="微软雅黑" panose="020B0503020204020204" pitchFamily="34" charset="-122"/>
                </a:rPr>
                <a:t>:</a:t>
              </a:r>
              <a:endParaRPr kumimoji="1" lang="zh-CN" altLang="en-US" sz="1600" dirty="0">
                <a:solidFill>
                  <a:srgbClr val="CC00CC"/>
                </a:solidFill>
                <a:latin typeface="微软雅黑" panose="020B0503020204020204" pitchFamily="34" charset="-122"/>
                <a:ea typeface="微软雅黑" panose="020B0503020204020204" pitchFamily="34" charset="-122"/>
              </a:endParaRPr>
            </a:p>
          </p:txBody>
        </p:sp>
        <p:graphicFrame>
          <p:nvGraphicFramePr>
            <p:cNvPr id="30" name="Object 12"/>
            <p:cNvGraphicFramePr>
              <a:graphicFrameLocks noChangeAspect="1"/>
            </p:cNvGraphicFramePr>
            <p:nvPr/>
          </p:nvGraphicFramePr>
          <p:xfrm>
            <a:off x="1494823" y="2872265"/>
            <a:ext cx="1038225" cy="328612"/>
          </p:xfrm>
          <a:graphic>
            <a:graphicData uri="http://schemas.openxmlformats.org/presentationml/2006/ole">
              <mc:AlternateContent xmlns:mc="http://schemas.openxmlformats.org/markup-compatibility/2006">
                <mc:Choice xmlns:v="urn:schemas-microsoft-com:vml" Requires="v">
                  <p:oleObj spid="_x0000_s4208" name="Equation" r:id="rId2" imgW="17373600" imgH="5486400" progId="Equation.DSMT4">
                    <p:embed/>
                  </p:oleObj>
                </mc:Choice>
                <mc:Fallback>
                  <p:oleObj name="Equation" r:id="rId2" imgW="17373600" imgH="5486400" progId="Equation.DSMT4">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4823" y="2872265"/>
                          <a:ext cx="1038225" cy="32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3" name="Object 9"/>
            <p:cNvGraphicFramePr>
              <a:graphicFrameLocks noChangeAspect="1"/>
            </p:cNvGraphicFramePr>
            <p:nvPr/>
          </p:nvGraphicFramePr>
          <p:xfrm>
            <a:off x="2647156" y="2865933"/>
            <a:ext cx="1584325" cy="347662"/>
          </p:xfrm>
          <a:graphic>
            <a:graphicData uri="http://schemas.openxmlformats.org/presentationml/2006/ole">
              <mc:AlternateContent xmlns:mc="http://schemas.openxmlformats.org/markup-compatibility/2006">
                <mc:Choice xmlns:v="urn:schemas-microsoft-com:vml" Requires="v">
                  <p:oleObj spid="_x0000_s4209" name="Equation" r:id="rId4" imgW="26517600" imgH="5791200" progId="Equation.DSMT4">
                    <p:embed/>
                  </p:oleObj>
                </mc:Choice>
                <mc:Fallback>
                  <p:oleObj name="Equation" r:id="rId4" imgW="26517600" imgH="579120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7156" y="2865933"/>
                          <a:ext cx="1584325"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 name="组合 1"/>
          <p:cNvGrpSpPr/>
          <p:nvPr/>
        </p:nvGrpSpPr>
        <p:grpSpPr>
          <a:xfrm>
            <a:off x="624392" y="3985260"/>
            <a:ext cx="7020499" cy="875004"/>
            <a:chOff x="624392" y="3985260"/>
            <a:chExt cx="7020499" cy="875004"/>
          </a:xfrm>
        </p:grpSpPr>
        <p:grpSp>
          <p:nvGrpSpPr>
            <p:cNvPr id="16" name="组合 15"/>
            <p:cNvGrpSpPr/>
            <p:nvPr/>
          </p:nvGrpSpPr>
          <p:grpSpPr>
            <a:xfrm>
              <a:off x="624392" y="3985260"/>
              <a:ext cx="3428497" cy="431165"/>
              <a:chOff x="624392" y="3985260"/>
              <a:chExt cx="3428497" cy="431165"/>
            </a:xfrm>
          </p:grpSpPr>
          <p:sp>
            <p:nvSpPr>
              <p:cNvPr id="38" name="Rectangle 13"/>
              <p:cNvSpPr>
                <a:spLocks noChangeArrowheads="1"/>
              </p:cNvSpPr>
              <p:nvPr/>
            </p:nvSpPr>
            <p:spPr bwMode="auto">
              <a:xfrm>
                <a:off x="624392" y="4008137"/>
                <a:ext cx="1176977" cy="338554"/>
              </a:xfrm>
              <a:prstGeom prst="rect">
                <a:avLst/>
              </a:prstGeom>
              <a:noFill/>
              <a:ln w="9525" algn="ctr">
                <a:noFill/>
                <a:miter lim="800000"/>
              </a:ln>
            </p:spPr>
            <p:txBody>
              <a:bodyPr wrap="square" lIns="0" rIns="0">
                <a:spAutoFit/>
              </a:bodyPr>
              <a:lstStyle/>
              <a:p>
                <a:r>
                  <a:rPr kumimoji="1" lang="zh-CN" altLang="en-US" sz="1600" dirty="0">
                    <a:solidFill>
                      <a:srgbClr val="CC00CC"/>
                    </a:solidFill>
                    <a:latin typeface="微软雅黑" panose="020B0503020204020204" pitchFamily="34" charset="-122"/>
                    <a:ea typeface="微软雅黑" panose="020B0503020204020204" pitchFamily="34" charset="-122"/>
                  </a:rPr>
                  <a:t>状态方程</a:t>
                </a:r>
                <a:r>
                  <a:rPr kumimoji="1" lang="en-US" altLang="zh-CN" sz="1600" dirty="0">
                    <a:solidFill>
                      <a:srgbClr val="CC00CC"/>
                    </a:solidFill>
                    <a:latin typeface="微软雅黑" panose="020B0503020204020204" pitchFamily="34" charset="-122"/>
                    <a:ea typeface="微软雅黑" panose="020B0503020204020204" pitchFamily="34" charset="-122"/>
                  </a:rPr>
                  <a:t>:</a:t>
                </a:r>
                <a:endParaRPr kumimoji="1" lang="zh-CN" altLang="en-US" sz="1600" dirty="0">
                  <a:solidFill>
                    <a:srgbClr val="CC00CC"/>
                  </a:solidFill>
                  <a:latin typeface="微软雅黑" panose="020B0503020204020204" pitchFamily="34" charset="-122"/>
                  <a:ea typeface="微软雅黑" panose="020B0503020204020204" pitchFamily="34" charset="-122"/>
                </a:endParaRPr>
              </a:p>
            </p:txBody>
          </p:sp>
          <p:graphicFrame>
            <p:nvGraphicFramePr>
              <p:cNvPr id="102415" name="Object 15"/>
              <p:cNvGraphicFramePr>
                <a:graphicFrameLocks noChangeAspect="1"/>
              </p:cNvGraphicFramePr>
              <p:nvPr/>
            </p:nvGraphicFramePr>
            <p:xfrm>
              <a:off x="1526381" y="3985260"/>
              <a:ext cx="1912937" cy="401638"/>
            </p:xfrm>
            <a:graphic>
              <a:graphicData uri="http://schemas.openxmlformats.org/presentationml/2006/ole">
                <mc:AlternateContent xmlns:mc="http://schemas.openxmlformats.org/markup-compatibility/2006">
                  <mc:Choice xmlns:v="urn:schemas-microsoft-com:vml" Requires="v">
                    <p:oleObj spid="_x0000_s4210" name="公式" r:id="rId6" imgW="30480000" imgH="6400800" progId="Equation.3">
                      <p:embed/>
                    </p:oleObj>
                  </mc:Choice>
                  <mc:Fallback>
                    <p:oleObj name="公式" r:id="rId6" imgW="30480000" imgH="6400800" progId="Equation.3">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6381" y="3985260"/>
                            <a:ext cx="1912937" cy="401638"/>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102417" name="Object 17"/>
              <p:cNvGraphicFramePr>
                <a:graphicFrameLocks noChangeAspect="1"/>
              </p:cNvGraphicFramePr>
              <p:nvPr/>
            </p:nvGraphicFramePr>
            <p:xfrm>
              <a:off x="3496945" y="3985260"/>
              <a:ext cx="555944" cy="431165"/>
            </p:xfrm>
            <a:graphic>
              <a:graphicData uri="http://schemas.openxmlformats.org/presentationml/2006/ole">
                <mc:AlternateContent xmlns:mc="http://schemas.openxmlformats.org/markup-compatibility/2006">
                  <mc:Choice xmlns:v="urn:schemas-microsoft-com:vml" Requires="v">
                    <p:oleObj spid="_x0000_s4211" name="公式" r:id="rId8" imgW="8229600" imgH="6400800" progId="Equation.3">
                      <p:embed/>
                    </p:oleObj>
                  </mc:Choice>
                  <mc:Fallback>
                    <p:oleObj name="公式" r:id="rId8" imgW="8229600" imgH="6400800" progId="Equation.3">
                      <p:embed/>
                      <p:pic>
                        <p:nvPicPr>
                          <p:cNvPr id="0"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96945" y="3985260"/>
                            <a:ext cx="555944" cy="431165"/>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pSp>
        <p:grpSp>
          <p:nvGrpSpPr>
            <p:cNvPr id="17" name="组合 16"/>
            <p:cNvGrpSpPr/>
            <p:nvPr/>
          </p:nvGrpSpPr>
          <p:grpSpPr>
            <a:xfrm>
              <a:off x="1499109" y="4476108"/>
              <a:ext cx="6145782" cy="384156"/>
              <a:chOff x="1499109" y="4476108"/>
              <a:chExt cx="6145782" cy="384156"/>
            </a:xfrm>
          </p:grpSpPr>
          <p:graphicFrame>
            <p:nvGraphicFramePr>
              <p:cNvPr id="102418" name="Object 18"/>
              <p:cNvGraphicFramePr>
                <a:graphicFrameLocks noChangeAspect="1"/>
              </p:cNvGraphicFramePr>
              <p:nvPr/>
            </p:nvGraphicFramePr>
            <p:xfrm>
              <a:off x="3362960" y="4476108"/>
              <a:ext cx="2748280" cy="384156"/>
            </p:xfrm>
            <a:graphic>
              <a:graphicData uri="http://schemas.openxmlformats.org/presentationml/2006/ole">
                <mc:AlternateContent xmlns:mc="http://schemas.openxmlformats.org/markup-compatibility/2006">
                  <mc:Choice xmlns:v="urn:schemas-microsoft-com:vml" Requires="v">
                    <p:oleObj spid="_x0000_s4212" name="公式" r:id="rId10" imgW="43586400" imgH="6400800" progId="Equation.3">
                      <p:embed/>
                    </p:oleObj>
                  </mc:Choice>
                  <mc:Fallback>
                    <p:oleObj name="公式" r:id="rId10" imgW="43586400" imgH="6400800" progId="Equation.3">
                      <p:embed/>
                      <p:pic>
                        <p:nvPicPr>
                          <p:cNvPr id="0"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62960" y="4476108"/>
                            <a:ext cx="2748280" cy="384156"/>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102419" name="Object 19"/>
              <p:cNvGraphicFramePr>
                <a:graphicFrameLocks noChangeAspect="1"/>
              </p:cNvGraphicFramePr>
              <p:nvPr/>
            </p:nvGraphicFramePr>
            <p:xfrm>
              <a:off x="6199631" y="4504676"/>
              <a:ext cx="1445260" cy="355588"/>
            </p:xfrm>
            <a:graphic>
              <a:graphicData uri="http://schemas.openxmlformats.org/presentationml/2006/ole">
                <mc:AlternateContent xmlns:mc="http://schemas.openxmlformats.org/markup-compatibility/2006">
                  <mc:Choice xmlns:v="urn:schemas-microsoft-com:vml" Requires="v">
                    <p:oleObj spid="_x0000_s4213" name="公式" r:id="rId12" imgW="23469600" imgH="5791200" progId="Equation.3">
                      <p:embed/>
                    </p:oleObj>
                  </mc:Choice>
                  <mc:Fallback>
                    <p:oleObj name="公式" r:id="rId12" imgW="23469600" imgH="5791200" progId="Equation.3">
                      <p:embed/>
                      <p:pic>
                        <p:nvPicPr>
                          <p:cNvPr id="0"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99631" y="4504676"/>
                            <a:ext cx="1445260" cy="355588"/>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102416" name="Object 16"/>
              <p:cNvGraphicFramePr>
                <a:graphicFrameLocks noChangeAspect="1"/>
              </p:cNvGraphicFramePr>
              <p:nvPr/>
            </p:nvGraphicFramePr>
            <p:xfrm>
              <a:off x="1499109" y="4486417"/>
              <a:ext cx="1785937" cy="363538"/>
            </p:xfrm>
            <a:graphic>
              <a:graphicData uri="http://schemas.openxmlformats.org/presentationml/2006/ole">
                <mc:AlternateContent xmlns:mc="http://schemas.openxmlformats.org/markup-compatibility/2006">
                  <mc:Choice xmlns:v="urn:schemas-microsoft-com:vml" Requires="v">
                    <p:oleObj spid="_x0000_s4214" name="公式" r:id="rId14" imgW="29870400" imgH="6096000" progId="Equation.3">
                      <p:embed/>
                    </p:oleObj>
                  </mc:Choice>
                  <mc:Fallback>
                    <p:oleObj name="公式" r:id="rId14" imgW="29870400" imgH="6096000" progId="Equation.3">
                      <p:embed/>
                      <p:pic>
                        <p:nvPicPr>
                          <p:cNvPr id="0"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99109" y="4486417"/>
                            <a:ext cx="1785937" cy="363538"/>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pSp>
      </p:grpSp>
      <p:grpSp>
        <p:nvGrpSpPr>
          <p:cNvPr id="15" name="组合 14"/>
          <p:cNvGrpSpPr/>
          <p:nvPr/>
        </p:nvGrpSpPr>
        <p:grpSpPr>
          <a:xfrm>
            <a:off x="504872" y="3407810"/>
            <a:ext cx="3902194" cy="338554"/>
            <a:chOff x="504872" y="3331610"/>
            <a:chExt cx="3902194" cy="338554"/>
          </a:xfrm>
        </p:grpSpPr>
        <p:sp>
          <p:nvSpPr>
            <p:cNvPr id="33" name="矩形 32"/>
            <p:cNvSpPr/>
            <p:nvPr/>
          </p:nvSpPr>
          <p:spPr>
            <a:xfrm>
              <a:off x="504872" y="3331610"/>
              <a:ext cx="2441694" cy="338554"/>
            </a:xfrm>
            <a:prstGeom prst="rect">
              <a:avLst/>
            </a:prstGeom>
          </p:spPr>
          <p:txBody>
            <a:bodyPr wrap="none">
              <a:spAutoFit/>
            </a:bodyPr>
            <a:lstStyle/>
            <a:p>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已知</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JK</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触发器的状态方程</a:t>
              </a:r>
              <a:endParaRPr lang="zh-CN" altLang="en-US" sz="1600" dirty="0">
                <a:latin typeface="Times New Roman" panose="02020603050405020304" pitchFamily="18" charset="0"/>
                <a:cs typeface="Times New Roman" panose="02020603050405020304" pitchFamily="18" charset="0"/>
              </a:endParaRPr>
            </a:p>
          </p:txBody>
        </p:sp>
        <p:graphicFrame>
          <p:nvGraphicFramePr>
            <p:cNvPr id="36880" name="Object 16"/>
            <p:cNvGraphicFramePr>
              <a:graphicFrameLocks noChangeAspect="1"/>
            </p:cNvGraphicFramePr>
            <p:nvPr/>
          </p:nvGraphicFramePr>
          <p:xfrm>
            <a:off x="2946566" y="3333451"/>
            <a:ext cx="1460500" cy="317500"/>
          </p:xfrm>
          <a:graphic>
            <a:graphicData uri="http://schemas.openxmlformats.org/presentationml/2006/ole">
              <mc:AlternateContent xmlns:mc="http://schemas.openxmlformats.org/markup-compatibility/2006">
                <mc:Choice xmlns:v="urn:schemas-microsoft-com:vml" Requires="v">
                  <p:oleObj spid="_x0000_s4215" name="公式" r:id="rId16" imgW="28041600" imgH="6096000" progId="Equation.3">
                    <p:embed/>
                  </p:oleObj>
                </mc:Choice>
                <mc:Fallback>
                  <p:oleObj name="公式" r:id="rId16" imgW="28041600" imgH="6096000" progId="Equation.3">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946566" y="3333451"/>
                          <a:ext cx="14605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1" name="组合 30"/>
          <p:cNvGrpSpPr/>
          <p:nvPr/>
        </p:nvGrpSpPr>
        <p:grpSpPr>
          <a:xfrm>
            <a:off x="4794079" y="677863"/>
            <a:ext cx="4343558" cy="1943470"/>
            <a:chOff x="2052904" y="1844040"/>
            <a:chExt cx="4343558" cy="1943470"/>
          </a:xfrm>
        </p:grpSpPr>
        <p:sp>
          <p:nvSpPr>
            <p:cNvPr id="32" name="AutoShape 5"/>
            <p:cNvSpPr>
              <a:spLocks noChangeArrowheads="1"/>
            </p:cNvSpPr>
            <p:nvPr/>
          </p:nvSpPr>
          <p:spPr bwMode="auto">
            <a:xfrm>
              <a:off x="2052904" y="1844040"/>
              <a:ext cx="4264076" cy="1937534"/>
            </a:xfrm>
            <a:prstGeom prst="roundRect">
              <a:avLst>
                <a:gd name="adj" fmla="val 2731"/>
              </a:avLst>
            </a:prstGeom>
            <a:solidFill>
              <a:srgbClr val="FFFFFF"/>
            </a:solidFill>
            <a:ln w="19050">
              <a:solidFill>
                <a:schemeClr val="tx2">
                  <a:lumMod val="75000"/>
                </a:schemeClr>
              </a:solidFill>
              <a:miter lim="800000"/>
            </a:ln>
          </p:spPr>
          <p:txBody>
            <a:bodyPr wrap="none" anchor="ctr"/>
            <a:lstStyle/>
            <a:p>
              <a:pPr algn="ctr"/>
              <a:endParaRPr lang="en-US" altLang="zh-CN" sz="2000">
                <a:solidFill>
                  <a:srgbClr val="000000"/>
                </a:solidFill>
              </a:endParaRPr>
            </a:p>
          </p:txBody>
        </p:sp>
        <p:graphicFrame>
          <p:nvGraphicFramePr>
            <p:cNvPr id="34" name="对象 33"/>
            <p:cNvGraphicFramePr>
              <a:graphicFrameLocks noChangeAspect="1"/>
            </p:cNvGraphicFramePr>
            <p:nvPr/>
          </p:nvGraphicFramePr>
          <p:xfrm>
            <a:off x="2052904" y="1849976"/>
            <a:ext cx="4343558" cy="1937534"/>
          </p:xfrm>
          <a:graphic>
            <a:graphicData uri="http://schemas.openxmlformats.org/presentationml/2006/ole">
              <mc:AlternateContent xmlns:mc="http://schemas.openxmlformats.org/markup-compatibility/2006">
                <mc:Choice xmlns:v="urn:schemas-microsoft-com:vml" Requires="v">
                  <p:oleObj spid="_x0000_s4216" name="Visio" r:id="rId18" imgW="2143125" imgH="962025" progId="Visio.Drawing.11">
                    <p:embed/>
                  </p:oleObj>
                </mc:Choice>
                <mc:Fallback>
                  <p:oleObj name="Visio" r:id="rId18" imgW="2143125" imgH="962025" progId="Visio.Drawing.11">
                    <p:embed/>
                    <p:pic>
                      <p:nvPicPr>
                        <p:cNvPr id="0" name="对象 33"/>
                        <p:cNvPicPr>
                          <a:picLocks noChangeAspect="1" noChangeArrowheads="1"/>
                        </p:cNvPicPr>
                        <p:nvPr/>
                      </p:nvPicPr>
                      <p:blipFill>
                        <a:blip r:embed="rId19"/>
                        <a:srcRect/>
                        <a:stretch>
                          <a:fillRect/>
                        </a:stretch>
                      </p:blipFill>
                      <p:spPr bwMode="auto">
                        <a:xfrm>
                          <a:off x="2052904" y="1849976"/>
                          <a:ext cx="4343558" cy="1937534"/>
                        </a:xfrm>
                        <a:prstGeom prst="rect">
                          <a:avLst/>
                        </a:prstGeom>
                        <a:noFill/>
                        <a:ln>
                          <a:noFill/>
                        </a:ln>
                      </p:spPr>
                    </p:pic>
                  </p:oleObj>
                </mc:Fallback>
              </mc:AlternateContent>
            </a:graphicData>
          </a:graphic>
        </p:graphicFrame>
      </p:grpSp>
      <p:grpSp>
        <p:nvGrpSpPr>
          <p:cNvPr id="36" name="组合 67"/>
          <p:cNvGrpSpPr/>
          <p:nvPr/>
        </p:nvGrpSpPr>
        <p:grpSpPr>
          <a:xfrm>
            <a:off x="392432" y="778617"/>
            <a:ext cx="3388258" cy="411055"/>
            <a:chOff x="670560" y="892917"/>
            <a:chExt cx="3388258" cy="411055"/>
          </a:xfrm>
        </p:grpSpPr>
        <p:sp>
          <p:nvSpPr>
            <p:cNvPr id="37" name="矩形 36"/>
            <p:cNvSpPr/>
            <p:nvPr/>
          </p:nvSpPr>
          <p:spPr>
            <a:xfrm>
              <a:off x="1035233" y="913778"/>
              <a:ext cx="3023585" cy="369332"/>
            </a:xfrm>
            <a:prstGeom prst="rect">
              <a:avLst/>
            </a:prstGeom>
          </p:spPr>
          <p:txBody>
            <a:bodyPr wrap="none">
              <a:spAutoFit/>
            </a:bodyPr>
            <a:lstStyle/>
            <a:p>
              <a:r>
                <a:rPr lang="zh-CN" altLang="en-US" b="1" dirty="0">
                  <a:solidFill>
                    <a:srgbClr val="002060"/>
                  </a:solidFill>
                  <a:latin typeface="微软雅黑" panose="020B0503020204020204" pitchFamily="34" charset="-122"/>
                  <a:ea typeface="微软雅黑" panose="020B0503020204020204" pitchFamily="34" charset="-122"/>
                </a:rPr>
                <a:t>同步时序逻辑电路分析实例 </a:t>
              </a:r>
              <a:endParaRPr lang="zh-CN" altLang="en-US" b="1" dirty="0">
                <a:solidFill>
                  <a:srgbClr val="002060"/>
                </a:solidFill>
                <a:latin typeface="微软雅黑" panose="020B0503020204020204" pitchFamily="34" charset="-122"/>
                <a:ea typeface="微软雅黑" panose="020B0503020204020204" pitchFamily="34" charset="-122"/>
              </a:endParaRPr>
            </a:p>
          </p:txBody>
        </p:sp>
        <p:pic>
          <p:nvPicPr>
            <p:cNvPr id="40" name="Picture 3"/>
            <p:cNvPicPr>
              <a:picLocks noChangeAspect="1" noChangeArrowheads="1"/>
            </p:cNvPicPr>
            <p:nvPr/>
          </p:nvPicPr>
          <p:blipFill>
            <a:blip r:embed="rId20"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41" name="组合 77"/>
          <p:cNvGrpSpPr/>
          <p:nvPr/>
        </p:nvGrpSpPr>
        <p:grpSpPr>
          <a:xfrm>
            <a:off x="408133" y="1277936"/>
            <a:ext cx="3537818" cy="374630"/>
            <a:chOff x="369777" y="1347760"/>
            <a:chExt cx="3537818" cy="374630"/>
          </a:xfrm>
        </p:grpSpPr>
        <p:sp>
          <p:nvSpPr>
            <p:cNvPr id="42" name="TextBox 5"/>
            <p:cNvSpPr txBox="1"/>
            <p:nvPr/>
          </p:nvSpPr>
          <p:spPr>
            <a:xfrm>
              <a:off x="723710" y="1350409"/>
              <a:ext cx="3183885" cy="338554"/>
            </a:xfrm>
            <a:prstGeom prst="rect">
              <a:avLst/>
            </a:prstGeom>
            <a:noFill/>
          </p:spPr>
          <p:txBody>
            <a:bodyPr wrap="none" rtlCol="0">
              <a:spAutoFit/>
            </a:bodyPr>
            <a:lstStyle/>
            <a:p>
              <a:r>
                <a:rPr lang="zh-CN" altLang="en-US" sz="1600" b="1" dirty="0">
                  <a:solidFill>
                    <a:srgbClr val="CC00CC"/>
                  </a:solidFill>
                  <a:latin typeface="黑体" panose="02010609060101010101" pitchFamily="49" charset="-122"/>
                  <a:ea typeface="黑体" panose="02010609060101010101" pitchFamily="49" charset="-122"/>
                </a:rPr>
                <a:t>例</a:t>
              </a:r>
              <a:r>
                <a:rPr lang="en-US" altLang="zh-CN" sz="1600" b="1" dirty="0">
                  <a:solidFill>
                    <a:srgbClr val="CC00CC"/>
                  </a:solidFill>
                  <a:latin typeface="黑体" panose="02010609060101010101" pitchFamily="49" charset="-122"/>
                  <a:ea typeface="黑体" panose="02010609060101010101" pitchFamily="49" charset="-122"/>
                </a:rPr>
                <a:t>2</a:t>
              </a:r>
              <a:r>
                <a:rPr lang="zh-CN" altLang="en-US" sz="1600" b="1" dirty="0">
                  <a:solidFill>
                    <a:srgbClr val="CC00CC"/>
                  </a:solidFill>
                  <a:latin typeface="黑体" panose="02010609060101010101" pitchFamily="49" charset="-122"/>
                  <a:ea typeface="黑体" panose="02010609060101010101" pitchFamily="49" charset="-122"/>
                </a:rPr>
                <a:t>：</a:t>
              </a:r>
              <a:r>
                <a:rPr lang="zh-CN" altLang="en-US" sz="1600" b="1" dirty="0">
                  <a:solidFill>
                    <a:srgbClr val="6600FF"/>
                  </a:solidFill>
                  <a:latin typeface="黑体" panose="02010609060101010101" pitchFamily="49" charset="-122"/>
                  <a:ea typeface="黑体" panose="02010609060101010101" pitchFamily="49" charset="-122"/>
                </a:rPr>
                <a:t>分析图示同步时序逻辑电路</a:t>
              </a:r>
              <a:endParaRPr lang="zh-CN" altLang="en-US" sz="1600" b="1" dirty="0">
                <a:solidFill>
                  <a:srgbClr val="6600FF"/>
                </a:solidFill>
                <a:latin typeface="黑体" panose="02010609060101010101" pitchFamily="49" charset="-122"/>
                <a:ea typeface="黑体" panose="02010609060101010101" pitchFamily="49" charset="-122"/>
              </a:endParaRPr>
            </a:p>
          </p:txBody>
        </p:sp>
        <p:pic>
          <p:nvPicPr>
            <p:cNvPr id="43" name="Picture 4"/>
            <p:cNvPicPr>
              <a:picLocks noChangeAspect="1" noChangeArrowheads="1"/>
            </p:cNvPicPr>
            <p:nvPr/>
          </p:nvPicPr>
          <p:blipFill>
            <a:blip r:embed="rId21"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13" name="组合 12"/>
          <p:cNvGrpSpPr/>
          <p:nvPr/>
        </p:nvGrpSpPr>
        <p:grpSpPr>
          <a:xfrm>
            <a:off x="624392" y="2375830"/>
            <a:ext cx="1772419" cy="351227"/>
            <a:chOff x="624392" y="2375830"/>
            <a:chExt cx="1772419" cy="351227"/>
          </a:xfrm>
        </p:grpSpPr>
        <p:sp>
          <p:nvSpPr>
            <p:cNvPr id="29" name="矩形 28"/>
            <p:cNvSpPr/>
            <p:nvPr/>
          </p:nvSpPr>
          <p:spPr>
            <a:xfrm>
              <a:off x="624392" y="2378791"/>
              <a:ext cx="870431" cy="338554"/>
            </a:xfrm>
            <a:prstGeom prst="rect">
              <a:avLst/>
            </a:prstGeom>
          </p:spPr>
          <p:txBody>
            <a:bodyPr wrap="none" lIns="0" rIns="0">
              <a:spAutoFit/>
            </a:bodyPr>
            <a:lstStyle/>
            <a:p>
              <a:r>
                <a:rPr kumimoji="1" lang="zh-CN" altLang="en-US" sz="1600" dirty="0">
                  <a:solidFill>
                    <a:srgbClr val="CC00CC"/>
                  </a:solidFill>
                  <a:latin typeface="微软雅黑" panose="020B0503020204020204" pitchFamily="34" charset="-122"/>
                  <a:ea typeface="微软雅黑" panose="020B0503020204020204" pitchFamily="34" charset="-122"/>
                </a:rPr>
                <a:t>输出方程</a:t>
              </a:r>
              <a:r>
                <a:rPr kumimoji="1" lang="en-US" altLang="zh-CN" sz="1600" dirty="0">
                  <a:solidFill>
                    <a:srgbClr val="CC00CC"/>
                  </a:solidFill>
                  <a:latin typeface="微软雅黑" panose="020B0503020204020204" pitchFamily="34" charset="-122"/>
                  <a:ea typeface="微软雅黑" panose="020B0503020204020204" pitchFamily="34" charset="-122"/>
                </a:rPr>
                <a:t>:</a:t>
              </a:r>
              <a:endParaRPr kumimoji="1" lang="zh-CN" altLang="en-US" sz="1600" baseline="-25000" dirty="0">
                <a:solidFill>
                  <a:srgbClr val="CC00CC"/>
                </a:solidFill>
                <a:latin typeface="微软雅黑" panose="020B0503020204020204" pitchFamily="34" charset="-122"/>
                <a:ea typeface="微软雅黑" panose="020B0503020204020204" pitchFamily="34" charset="-122"/>
              </a:endParaRPr>
            </a:p>
          </p:txBody>
        </p:sp>
        <p:graphicFrame>
          <p:nvGraphicFramePr>
            <p:cNvPr id="12" name="对象 11"/>
            <p:cNvGraphicFramePr>
              <a:graphicFrameLocks noChangeAspect="1"/>
            </p:cNvGraphicFramePr>
            <p:nvPr/>
          </p:nvGraphicFramePr>
          <p:xfrm>
            <a:off x="1526381" y="2375830"/>
            <a:ext cx="870430" cy="351227"/>
          </p:xfrm>
          <a:graphic>
            <a:graphicData uri="http://schemas.openxmlformats.org/presentationml/2006/ole">
              <mc:AlternateContent xmlns:mc="http://schemas.openxmlformats.org/markup-compatibility/2006">
                <mc:Choice xmlns:v="urn:schemas-microsoft-com:vml" Requires="v">
                  <p:oleObj spid="_x0000_s4217" name="公式" r:id="rId22" imgW="545465" imgH="215900" progId="Equation.3">
                    <p:embed/>
                  </p:oleObj>
                </mc:Choice>
                <mc:Fallback>
                  <p:oleObj name="公式" r:id="rId22" imgW="545465" imgH="215900" progId="Equation.3">
                    <p:embed/>
                    <p:pic>
                      <p:nvPicPr>
                        <p:cNvPr id="0" name="对象 1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526381" y="2375830"/>
                          <a:ext cx="870430" cy="351227"/>
                        </a:xfrm>
                        <a:prstGeom prst="rect">
                          <a:avLst/>
                        </a:prstGeom>
                        <a:noFill/>
                      </p:spPr>
                    </p:pic>
                  </p:oleObj>
                </mc:Fallback>
              </mc:AlternateContent>
            </a:graphicData>
          </a:graphic>
        </p:graphicFrame>
      </p:grpSp>
      <p:grpSp>
        <p:nvGrpSpPr>
          <p:cNvPr id="3" name="组合 2"/>
          <p:cNvGrpSpPr/>
          <p:nvPr/>
        </p:nvGrpSpPr>
        <p:grpSpPr>
          <a:xfrm>
            <a:off x="1494823" y="2841975"/>
            <a:ext cx="3019907" cy="938197"/>
            <a:chOff x="1494823" y="2841975"/>
            <a:chExt cx="3019907" cy="938197"/>
          </a:xfrm>
        </p:grpSpPr>
        <p:sp>
          <p:nvSpPr>
            <p:cNvPr id="35" name="圆角矩形 34"/>
            <p:cNvSpPr/>
            <p:nvPr/>
          </p:nvSpPr>
          <p:spPr>
            <a:xfrm>
              <a:off x="1494823" y="2841975"/>
              <a:ext cx="2736658" cy="402729"/>
            </a:xfrm>
            <a:prstGeom prst="roundRect">
              <a:avLst>
                <a:gd name="adj" fmla="val 26712"/>
              </a:avLst>
            </a:prstGeom>
            <a:solidFill>
              <a:srgbClr val="0000FF">
                <a:alpha val="16000"/>
              </a:srgb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圆角矩形 38"/>
            <p:cNvSpPr/>
            <p:nvPr/>
          </p:nvSpPr>
          <p:spPr>
            <a:xfrm>
              <a:off x="2895820" y="3377443"/>
              <a:ext cx="1618910" cy="402729"/>
            </a:xfrm>
            <a:prstGeom prst="roundRect">
              <a:avLst>
                <a:gd name="adj" fmla="val 26712"/>
              </a:avLst>
            </a:prstGeom>
            <a:solidFill>
              <a:srgbClr val="0000FF">
                <a:alpha val="16000"/>
              </a:srgb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箭头: 圆角右 43"/>
            <p:cNvSpPr/>
            <p:nvPr/>
          </p:nvSpPr>
          <p:spPr>
            <a:xfrm rot="5400000">
              <a:off x="4171315" y="3033109"/>
              <a:ext cx="426918" cy="259911"/>
            </a:xfrm>
            <a:prstGeom prst="bentArrow">
              <a:avLst>
                <a:gd name="adj1" fmla="val 36711"/>
                <a:gd name="adj2" fmla="val 40224"/>
                <a:gd name="adj3" fmla="val 50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di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1000"/>
                                        <p:tgtEl>
                                          <p:spTgt spid="31"/>
                                        </p:tgtEl>
                                      </p:cBhvr>
                                    </p:animEffect>
                                    <p:anim calcmode="lin" valueType="num">
                                      <p:cBhvr>
                                        <p:cTn id="13" dur="1000" fill="hold"/>
                                        <p:tgtEl>
                                          <p:spTgt spid="31"/>
                                        </p:tgtEl>
                                        <p:attrNameLst>
                                          <p:attrName>ppt_x</p:attrName>
                                        </p:attrNameLst>
                                      </p:cBhvr>
                                      <p:tavLst>
                                        <p:tav tm="0">
                                          <p:val>
                                            <p:strVal val="#ppt_x"/>
                                          </p:val>
                                        </p:tav>
                                        <p:tav tm="100000">
                                          <p:val>
                                            <p:strVal val="#ppt_x"/>
                                          </p:val>
                                        </p:tav>
                                      </p:tavLst>
                                    </p:anim>
                                    <p:anim calcmode="lin" valueType="num">
                                      <p:cBhvr>
                                        <p:cTn id="14"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1000"/>
                                        <p:tgtEl>
                                          <p:spTgt spid="14"/>
                                        </p:tgtEl>
                                      </p:cBhvr>
                                    </p:animEffect>
                                    <p:anim calcmode="lin" valueType="num">
                                      <p:cBhvr>
                                        <p:cTn id="27" dur="1000" fill="hold"/>
                                        <p:tgtEl>
                                          <p:spTgt spid="14"/>
                                        </p:tgtEl>
                                        <p:attrNameLst>
                                          <p:attrName>ppt_x</p:attrName>
                                        </p:attrNameLst>
                                      </p:cBhvr>
                                      <p:tavLst>
                                        <p:tav tm="0">
                                          <p:val>
                                            <p:strVal val="#ppt_x"/>
                                          </p:val>
                                        </p:tav>
                                        <p:tav tm="100000">
                                          <p:val>
                                            <p:strVal val="#ppt_x"/>
                                          </p:val>
                                        </p:tav>
                                      </p:tavLst>
                                    </p:anim>
                                    <p:anim calcmode="lin" valueType="num">
                                      <p:cBhvr>
                                        <p:cTn id="2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1000"/>
                                        <p:tgtEl>
                                          <p:spTgt spid="15"/>
                                        </p:tgtEl>
                                      </p:cBhvr>
                                    </p:animEffect>
                                    <p:anim calcmode="lin" valueType="num">
                                      <p:cBhvr>
                                        <p:cTn id="34" dur="1000" fill="hold"/>
                                        <p:tgtEl>
                                          <p:spTgt spid="15"/>
                                        </p:tgtEl>
                                        <p:attrNameLst>
                                          <p:attrName>ppt_x</p:attrName>
                                        </p:attrNameLst>
                                      </p:cBhvr>
                                      <p:tavLst>
                                        <p:tav tm="0">
                                          <p:val>
                                            <p:strVal val="#ppt_x"/>
                                          </p:val>
                                        </p:tav>
                                        <p:tav tm="100000">
                                          <p:val>
                                            <p:strVal val="#ppt_x"/>
                                          </p:val>
                                        </p:tav>
                                      </p:tavLst>
                                    </p:anim>
                                    <p:anim calcmode="lin" valueType="num">
                                      <p:cBhvr>
                                        <p:cTn id="35" dur="1000" fill="hold"/>
                                        <p:tgtEl>
                                          <p:spTgt spid="15"/>
                                        </p:tgtEl>
                                        <p:attrNameLst>
                                          <p:attrName>ppt_y</p:attrName>
                                        </p:attrNameLst>
                                      </p:cBhvr>
                                      <p:tavLst>
                                        <p:tav tm="0">
                                          <p:val>
                                            <p:strVal val="#ppt_y+.1"/>
                                          </p:val>
                                        </p:tav>
                                        <p:tav tm="100000">
                                          <p:val>
                                            <p:strVal val="#ppt_y"/>
                                          </p:val>
                                        </p:tav>
                                      </p:tavLst>
                                    </p:anim>
                                  </p:childTnLst>
                                </p:cTn>
                              </p:par>
                            </p:childTnLst>
                          </p:cTn>
                        </p:par>
                        <p:par>
                          <p:cTn id="36" fill="hold">
                            <p:stCondLst>
                              <p:cond delay="1000"/>
                            </p:stCondLst>
                            <p:childTnLst>
                              <p:par>
                                <p:cTn id="37" presetID="22" presetClass="entr" presetSubtype="1" fill="hold" nodeType="after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up)">
                                      <p:cBhvr>
                                        <p:cTn id="39" dur="1000"/>
                                        <p:tgtEl>
                                          <p:spTgt spid="3"/>
                                        </p:tgtEl>
                                      </p:cBhvr>
                                    </p:animEffect>
                                  </p:childTnLst>
                                </p:cTn>
                              </p:par>
                            </p:childTnLst>
                          </p:cTn>
                        </p:par>
                        <p:par>
                          <p:cTn id="40" fill="hold">
                            <p:stCondLst>
                              <p:cond delay="2000"/>
                            </p:stCondLst>
                            <p:childTnLst>
                              <p:par>
                                <p:cTn id="41" presetID="42" presetClass="entr" presetSubtype="0" fill="hold" nodeType="after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fade">
                                      <p:cBhvr>
                                        <p:cTn id="43" dur="1000"/>
                                        <p:tgtEl>
                                          <p:spTgt spid="2"/>
                                        </p:tgtEl>
                                      </p:cBhvr>
                                    </p:animEffect>
                                    <p:anim calcmode="lin" valueType="num">
                                      <p:cBhvr>
                                        <p:cTn id="44" dur="1000" fill="hold"/>
                                        <p:tgtEl>
                                          <p:spTgt spid="2"/>
                                        </p:tgtEl>
                                        <p:attrNameLst>
                                          <p:attrName>ppt_x</p:attrName>
                                        </p:attrNameLst>
                                      </p:cBhvr>
                                      <p:tavLst>
                                        <p:tav tm="0">
                                          <p:val>
                                            <p:strVal val="#ppt_x"/>
                                          </p:val>
                                        </p:tav>
                                        <p:tav tm="100000">
                                          <p:val>
                                            <p:strVal val="#ppt_x"/>
                                          </p:val>
                                        </p:tav>
                                      </p:tavLst>
                                    </p:anim>
                                    <p:anim calcmode="lin" valueType="num">
                                      <p:cBhvr>
                                        <p:cTn id="4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25"/>
          <p:cNvGrpSpPr/>
          <p:nvPr/>
        </p:nvGrpSpPr>
        <p:grpSpPr>
          <a:xfrm>
            <a:off x="471795" y="1795637"/>
            <a:ext cx="1760616" cy="338554"/>
            <a:chOff x="4731375" y="1650857"/>
            <a:chExt cx="1760616" cy="338554"/>
          </a:xfrm>
        </p:grpSpPr>
        <p:sp>
          <p:nvSpPr>
            <p:cNvPr id="27" name="矩形 26"/>
            <p:cNvSpPr/>
            <p:nvPr/>
          </p:nvSpPr>
          <p:spPr>
            <a:xfrm>
              <a:off x="5076219" y="1650857"/>
              <a:ext cx="1415772"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列状态转换表</a:t>
              </a:r>
              <a:endParaRPr lang="zh-CN" altLang="en-US" sz="1600" dirty="0"/>
            </a:p>
          </p:txBody>
        </p:sp>
        <p:pic>
          <p:nvPicPr>
            <p:cNvPr id="28" name="Picture 5"/>
            <p:cNvPicPr>
              <a:picLocks noChangeAspect="1" noChangeArrowheads="1"/>
            </p:cNvPicPr>
            <p:nvPr/>
          </p:nvPicPr>
          <p:blipFill>
            <a:blip r:embed="rId1" cstate="print"/>
            <a:srcRect/>
            <a:stretch>
              <a:fillRect/>
            </a:stretch>
          </p:blipFill>
          <p:spPr bwMode="auto">
            <a:xfrm>
              <a:off x="4731375" y="1677030"/>
              <a:ext cx="360000" cy="286209"/>
            </a:xfrm>
            <a:prstGeom prst="rect">
              <a:avLst/>
            </a:prstGeom>
            <a:noFill/>
            <a:ln w="9525">
              <a:noFill/>
              <a:miter lim="800000"/>
              <a:headEnd/>
              <a:tailEnd/>
            </a:ln>
          </p:spPr>
        </p:pic>
      </p:grpSp>
      <p:graphicFrame>
        <p:nvGraphicFramePr>
          <p:cNvPr id="36" name="Group 477"/>
          <p:cNvGraphicFramePr>
            <a:graphicFrameLocks noGrp="1"/>
          </p:cNvGraphicFramePr>
          <p:nvPr/>
        </p:nvGraphicFramePr>
        <p:xfrm>
          <a:off x="638296" y="2741008"/>
          <a:ext cx="2509595" cy="2271107"/>
        </p:xfrm>
        <a:graphic>
          <a:graphicData uri="http://schemas.openxmlformats.org/drawingml/2006/table">
            <a:tbl>
              <a:tblPr/>
              <a:tblGrid>
                <a:gridCol w="327048"/>
                <a:gridCol w="393793"/>
                <a:gridCol w="413816"/>
                <a:gridCol w="480562"/>
                <a:gridCol w="520608"/>
                <a:gridCol w="373768"/>
              </a:tblGrid>
              <a:tr h="275923">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defRPr/>
                      </a:pPr>
                      <a:r>
                        <a:rPr kumimoji="0" lang="en-US" altLang="zh-CN" sz="16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en-US" altLang="zh-CN" sz="16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defRPr/>
                      </a:pPr>
                      <a:r>
                        <a:rPr kumimoji="0" lang="en-US" altLang="zh-CN" sz="16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16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zh-CN" altLang="en-US" sz="16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defRPr/>
                      </a:pPr>
                      <a:r>
                        <a:rPr kumimoji="0" lang="en-US" altLang="zh-CN" sz="16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16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16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n+1</a:t>
                      </a:r>
                      <a:endParaRPr kumimoji="0" lang="en-US" altLang="zh-CN" sz="16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16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n+1</a:t>
                      </a:r>
                      <a:endParaRPr kumimoji="0" lang="zh-CN" altLang="en-US" sz="16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en-US" altLang="zh-CN" sz="16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r>
              <a:tr h="24939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24939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24939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24939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24939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24939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24939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r>
              <a:tr h="249398">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cxnSp>
        <p:nvCxnSpPr>
          <p:cNvPr id="44" name="直接连接符 43"/>
          <p:cNvCxnSpPr/>
          <p:nvPr/>
        </p:nvCxnSpPr>
        <p:spPr>
          <a:xfrm>
            <a:off x="3480338" y="2559875"/>
            <a:ext cx="756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2527727" y="2559875"/>
            <a:ext cx="756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717003" y="2559875"/>
            <a:ext cx="1512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47" name="组合 25"/>
          <p:cNvGrpSpPr/>
          <p:nvPr/>
        </p:nvGrpSpPr>
        <p:grpSpPr>
          <a:xfrm>
            <a:off x="3634422" y="2968958"/>
            <a:ext cx="1760616" cy="338554"/>
            <a:chOff x="4731375" y="1650857"/>
            <a:chExt cx="1760616" cy="338554"/>
          </a:xfrm>
        </p:grpSpPr>
        <p:sp>
          <p:nvSpPr>
            <p:cNvPr id="48" name="矩形 47"/>
            <p:cNvSpPr/>
            <p:nvPr/>
          </p:nvSpPr>
          <p:spPr>
            <a:xfrm>
              <a:off x="5076219" y="1650857"/>
              <a:ext cx="1415772"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画状态转换图</a:t>
              </a:r>
              <a:endParaRPr lang="zh-CN" altLang="en-US" sz="1600" dirty="0"/>
            </a:p>
          </p:txBody>
        </p:sp>
        <p:pic>
          <p:nvPicPr>
            <p:cNvPr id="49" name="Picture 5"/>
            <p:cNvPicPr>
              <a:picLocks noChangeAspect="1" noChangeArrowheads="1"/>
            </p:cNvPicPr>
            <p:nvPr/>
          </p:nvPicPr>
          <p:blipFill>
            <a:blip r:embed="rId1" cstate="print"/>
            <a:srcRect/>
            <a:stretch>
              <a:fillRect/>
            </a:stretch>
          </p:blipFill>
          <p:spPr bwMode="auto">
            <a:xfrm>
              <a:off x="4731375" y="1677030"/>
              <a:ext cx="360000" cy="286209"/>
            </a:xfrm>
            <a:prstGeom prst="rect">
              <a:avLst/>
            </a:prstGeom>
            <a:noFill/>
            <a:ln w="9525">
              <a:noFill/>
              <a:miter lim="800000"/>
              <a:headEnd/>
              <a:tailEnd/>
            </a:ln>
          </p:spPr>
        </p:pic>
      </p:grpSp>
      <p:graphicFrame>
        <p:nvGraphicFramePr>
          <p:cNvPr id="12" name="Object 50"/>
          <p:cNvGraphicFramePr>
            <a:graphicFrameLocks noChangeAspect="1"/>
          </p:cNvGraphicFramePr>
          <p:nvPr/>
        </p:nvGraphicFramePr>
        <p:xfrm>
          <a:off x="5529142" y="3138235"/>
          <a:ext cx="2514600" cy="2079625"/>
        </p:xfrm>
        <a:graphic>
          <a:graphicData uri="http://schemas.openxmlformats.org/presentationml/2006/ole">
            <mc:AlternateContent xmlns:mc="http://schemas.openxmlformats.org/markup-compatibility/2006">
              <mc:Choice xmlns:v="urn:schemas-microsoft-com:vml" Requires="v">
                <p:oleObj spid="_x0000_s5177" name="Visio" r:id="rId2" imgW="1590675" imgH="1314450" progId="Visio.Drawing.11">
                  <p:embed/>
                </p:oleObj>
              </mc:Choice>
              <mc:Fallback>
                <p:oleObj name="Visio" r:id="rId2" imgW="1590675" imgH="1314450" progId="Visio.Drawing.11">
                  <p:embed/>
                  <p:pic>
                    <p:nvPicPr>
                      <p:cNvPr id="0" name="Object 50"/>
                      <p:cNvPicPr>
                        <a:picLocks noChangeAspect="1" noChangeArrowheads="1"/>
                      </p:cNvPicPr>
                      <p:nvPr/>
                    </p:nvPicPr>
                    <p:blipFill>
                      <a:blip r:embed="rId3"/>
                      <a:srcRect/>
                      <a:stretch>
                        <a:fillRect/>
                      </a:stretch>
                    </p:blipFill>
                    <p:spPr bwMode="auto">
                      <a:xfrm>
                        <a:off x="5529142" y="3138235"/>
                        <a:ext cx="2514600" cy="2079625"/>
                      </a:xfrm>
                      <a:prstGeom prst="rect">
                        <a:avLst/>
                      </a:prstGeom>
                      <a:solidFill>
                        <a:srgbClr val="FFFFFF"/>
                      </a:solidFill>
                    </p:spPr>
                  </p:pic>
                </p:oleObj>
              </mc:Fallback>
            </mc:AlternateContent>
          </a:graphicData>
        </a:graphic>
      </p:graphicFrame>
      <p:grpSp>
        <p:nvGrpSpPr>
          <p:cNvPr id="33" name="组合 32"/>
          <p:cNvGrpSpPr/>
          <p:nvPr/>
        </p:nvGrpSpPr>
        <p:grpSpPr>
          <a:xfrm>
            <a:off x="666907" y="3247952"/>
            <a:ext cx="1474313" cy="1766548"/>
            <a:chOff x="666907" y="3247952"/>
            <a:chExt cx="1474313" cy="1766548"/>
          </a:xfrm>
        </p:grpSpPr>
        <p:sp>
          <p:nvSpPr>
            <p:cNvPr id="29" name="圆角矩形 28"/>
            <p:cNvSpPr/>
            <p:nvPr/>
          </p:nvSpPr>
          <p:spPr>
            <a:xfrm>
              <a:off x="666907" y="3247952"/>
              <a:ext cx="1474313" cy="523947"/>
            </a:xfrm>
            <a:prstGeom prst="roundRect">
              <a:avLst>
                <a:gd name="adj" fmla="val 10714"/>
              </a:avLst>
            </a:prstGeom>
            <a:solidFill>
              <a:srgbClr val="0000FF">
                <a:alpha val="16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圆角矩形 29"/>
            <p:cNvSpPr/>
            <p:nvPr/>
          </p:nvSpPr>
          <p:spPr>
            <a:xfrm>
              <a:off x="666907" y="4008119"/>
              <a:ext cx="1474313" cy="252000"/>
            </a:xfrm>
            <a:prstGeom prst="roundRect">
              <a:avLst>
                <a:gd name="adj" fmla="val 10714"/>
              </a:avLst>
            </a:prstGeom>
            <a:solidFill>
              <a:srgbClr val="0000FF">
                <a:alpha val="16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圆角矩形 31"/>
            <p:cNvSpPr/>
            <p:nvPr/>
          </p:nvSpPr>
          <p:spPr>
            <a:xfrm>
              <a:off x="666907" y="4762500"/>
              <a:ext cx="1474313" cy="252000"/>
            </a:xfrm>
            <a:prstGeom prst="roundRect">
              <a:avLst>
                <a:gd name="adj" fmla="val 10714"/>
              </a:avLst>
            </a:prstGeom>
            <a:solidFill>
              <a:srgbClr val="0000FF">
                <a:alpha val="16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 name="组合 12"/>
          <p:cNvGrpSpPr/>
          <p:nvPr/>
        </p:nvGrpSpPr>
        <p:grpSpPr>
          <a:xfrm>
            <a:off x="1390807" y="3040379"/>
            <a:ext cx="1260953" cy="1973581"/>
            <a:chOff x="1390807" y="3040379"/>
            <a:chExt cx="1260953" cy="1973581"/>
          </a:xfrm>
        </p:grpSpPr>
        <p:sp>
          <p:nvSpPr>
            <p:cNvPr id="34" name="圆角矩形 33"/>
            <p:cNvSpPr/>
            <p:nvPr/>
          </p:nvSpPr>
          <p:spPr>
            <a:xfrm>
              <a:off x="1390807" y="3047999"/>
              <a:ext cx="308453" cy="1965961"/>
            </a:xfrm>
            <a:prstGeom prst="roundRect">
              <a:avLst>
                <a:gd name="adj" fmla="val 10714"/>
              </a:avLst>
            </a:prstGeom>
            <a:solidFill>
              <a:srgbClr val="0000FF">
                <a:alpha val="16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圆角矩形 34"/>
            <p:cNvSpPr/>
            <p:nvPr/>
          </p:nvSpPr>
          <p:spPr>
            <a:xfrm>
              <a:off x="2343307" y="3040379"/>
              <a:ext cx="308453" cy="1965961"/>
            </a:xfrm>
            <a:prstGeom prst="roundRect">
              <a:avLst>
                <a:gd name="adj" fmla="val 10714"/>
              </a:avLst>
            </a:prstGeom>
            <a:solidFill>
              <a:schemeClr val="accent2">
                <a:alpha val="1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4" name="组合 13"/>
          <p:cNvGrpSpPr/>
          <p:nvPr/>
        </p:nvGrpSpPr>
        <p:grpSpPr>
          <a:xfrm>
            <a:off x="1040287" y="3756659"/>
            <a:ext cx="2061053" cy="1249681"/>
            <a:chOff x="1040287" y="3756659"/>
            <a:chExt cx="2061053" cy="1249681"/>
          </a:xfrm>
        </p:grpSpPr>
        <p:grpSp>
          <p:nvGrpSpPr>
            <p:cNvPr id="52" name="组合 51"/>
            <p:cNvGrpSpPr/>
            <p:nvPr/>
          </p:nvGrpSpPr>
          <p:grpSpPr>
            <a:xfrm>
              <a:off x="1040287" y="3756659"/>
              <a:ext cx="2061053" cy="243841"/>
              <a:chOff x="1040287" y="3756659"/>
              <a:chExt cx="2061053" cy="243841"/>
            </a:xfrm>
          </p:grpSpPr>
          <p:sp>
            <p:nvSpPr>
              <p:cNvPr id="38" name="圆角矩形 37"/>
              <p:cNvSpPr/>
              <p:nvPr/>
            </p:nvSpPr>
            <p:spPr>
              <a:xfrm>
                <a:off x="1040287" y="3756659"/>
                <a:ext cx="636113" cy="243841"/>
              </a:xfrm>
              <a:prstGeom prst="roundRect">
                <a:avLst>
                  <a:gd name="adj" fmla="val 10714"/>
                </a:avLst>
              </a:prstGeom>
              <a:solidFill>
                <a:srgbClr val="0000FF">
                  <a:alpha val="16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圆角矩形 42"/>
              <p:cNvSpPr/>
              <p:nvPr/>
            </p:nvSpPr>
            <p:spPr>
              <a:xfrm>
                <a:off x="2800507" y="3756659"/>
                <a:ext cx="300833" cy="243841"/>
              </a:xfrm>
              <a:prstGeom prst="roundRect">
                <a:avLst>
                  <a:gd name="adj" fmla="val 10714"/>
                </a:avLst>
              </a:prstGeom>
              <a:solidFill>
                <a:srgbClr val="0000FF">
                  <a:alpha val="16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51" name="组合 50"/>
            <p:cNvGrpSpPr/>
            <p:nvPr/>
          </p:nvGrpSpPr>
          <p:grpSpPr>
            <a:xfrm>
              <a:off x="1040287" y="4762499"/>
              <a:ext cx="2061053" cy="243841"/>
              <a:chOff x="1040287" y="4762499"/>
              <a:chExt cx="2061053" cy="243841"/>
            </a:xfrm>
          </p:grpSpPr>
          <p:sp>
            <p:nvSpPr>
              <p:cNvPr id="39" name="圆角矩形 38"/>
              <p:cNvSpPr/>
              <p:nvPr/>
            </p:nvSpPr>
            <p:spPr>
              <a:xfrm>
                <a:off x="1040287" y="4762499"/>
                <a:ext cx="636113" cy="243841"/>
              </a:xfrm>
              <a:prstGeom prst="roundRect">
                <a:avLst>
                  <a:gd name="adj" fmla="val 10714"/>
                </a:avLst>
              </a:prstGeom>
              <a:solidFill>
                <a:srgbClr val="0000FF">
                  <a:alpha val="16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圆角矩形 49"/>
              <p:cNvSpPr/>
              <p:nvPr/>
            </p:nvSpPr>
            <p:spPr>
              <a:xfrm>
                <a:off x="2800507" y="4762499"/>
                <a:ext cx="300833" cy="243841"/>
              </a:xfrm>
              <a:prstGeom prst="roundRect">
                <a:avLst>
                  <a:gd name="adj" fmla="val 10714"/>
                </a:avLst>
              </a:prstGeom>
              <a:solidFill>
                <a:srgbClr val="0000FF">
                  <a:alpha val="16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42" name="组合 67"/>
          <p:cNvGrpSpPr/>
          <p:nvPr/>
        </p:nvGrpSpPr>
        <p:grpSpPr>
          <a:xfrm>
            <a:off x="392432" y="778617"/>
            <a:ext cx="3388258" cy="411055"/>
            <a:chOff x="670560" y="892917"/>
            <a:chExt cx="3388258" cy="411055"/>
          </a:xfrm>
        </p:grpSpPr>
        <p:sp>
          <p:nvSpPr>
            <p:cNvPr id="53" name="矩形 52"/>
            <p:cNvSpPr/>
            <p:nvPr/>
          </p:nvSpPr>
          <p:spPr>
            <a:xfrm>
              <a:off x="1035233" y="913778"/>
              <a:ext cx="3023585" cy="369332"/>
            </a:xfrm>
            <a:prstGeom prst="rect">
              <a:avLst/>
            </a:prstGeom>
          </p:spPr>
          <p:txBody>
            <a:bodyPr wrap="none">
              <a:spAutoFit/>
            </a:bodyPr>
            <a:lstStyle/>
            <a:p>
              <a:r>
                <a:rPr lang="zh-CN" altLang="en-US" b="1" dirty="0">
                  <a:solidFill>
                    <a:srgbClr val="002060"/>
                  </a:solidFill>
                  <a:latin typeface="微软雅黑" panose="020B0503020204020204" pitchFamily="34" charset="-122"/>
                  <a:ea typeface="微软雅黑" panose="020B0503020204020204" pitchFamily="34" charset="-122"/>
                </a:rPr>
                <a:t>同步时序逻辑电路分析实例 </a:t>
              </a:r>
              <a:endParaRPr lang="zh-CN" altLang="en-US" b="1" dirty="0">
                <a:solidFill>
                  <a:srgbClr val="002060"/>
                </a:solidFill>
                <a:latin typeface="微软雅黑" panose="020B0503020204020204" pitchFamily="34" charset="-122"/>
                <a:ea typeface="微软雅黑" panose="020B0503020204020204" pitchFamily="34" charset="-122"/>
              </a:endParaRPr>
            </a:p>
          </p:txBody>
        </p:sp>
        <p:pic>
          <p:nvPicPr>
            <p:cNvPr id="54"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55" name="组合 77"/>
          <p:cNvGrpSpPr/>
          <p:nvPr/>
        </p:nvGrpSpPr>
        <p:grpSpPr>
          <a:xfrm>
            <a:off x="408133" y="1277936"/>
            <a:ext cx="3537818" cy="374630"/>
            <a:chOff x="369777" y="1347760"/>
            <a:chExt cx="3537818" cy="374630"/>
          </a:xfrm>
        </p:grpSpPr>
        <p:sp>
          <p:nvSpPr>
            <p:cNvPr id="56" name="TextBox 5"/>
            <p:cNvSpPr txBox="1"/>
            <p:nvPr/>
          </p:nvSpPr>
          <p:spPr>
            <a:xfrm>
              <a:off x="723710" y="1350409"/>
              <a:ext cx="3183885" cy="338554"/>
            </a:xfrm>
            <a:prstGeom prst="rect">
              <a:avLst/>
            </a:prstGeom>
            <a:noFill/>
          </p:spPr>
          <p:txBody>
            <a:bodyPr wrap="none" rtlCol="0">
              <a:spAutoFit/>
            </a:bodyPr>
            <a:lstStyle/>
            <a:p>
              <a:r>
                <a:rPr lang="zh-CN" altLang="en-US" sz="1600" b="1" dirty="0">
                  <a:solidFill>
                    <a:srgbClr val="CC00CC"/>
                  </a:solidFill>
                  <a:latin typeface="黑体" panose="02010609060101010101" pitchFamily="49" charset="-122"/>
                  <a:ea typeface="黑体" panose="02010609060101010101" pitchFamily="49" charset="-122"/>
                </a:rPr>
                <a:t>例</a:t>
              </a:r>
              <a:r>
                <a:rPr lang="en-US" altLang="zh-CN" sz="1600" b="1" dirty="0">
                  <a:solidFill>
                    <a:srgbClr val="CC00CC"/>
                  </a:solidFill>
                  <a:latin typeface="黑体" panose="02010609060101010101" pitchFamily="49" charset="-122"/>
                  <a:ea typeface="黑体" panose="02010609060101010101" pitchFamily="49" charset="-122"/>
                </a:rPr>
                <a:t>2</a:t>
              </a:r>
              <a:r>
                <a:rPr lang="zh-CN" altLang="en-US" sz="1600" b="1" dirty="0">
                  <a:solidFill>
                    <a:srgbClr val="CC00CC"/>
                  </a:solidFill>
                  <a:latin typeface="黑体" panose="02010609060101010101" pitchFamily="49" charset="-122"/>
                  <a:ea typeface="黑体" panose="02010609060101010101" pitchFamily="49" charset="-122"/>
                </a:rPr>
                <a:t>：</a:t>
              </a:r>
              <a:r>
                <a:rPr lang="zh-CN" altLang="en-US" sz="1600" b="1" dirty="0">
                  <a:solidFill>
                    <a:srgbClr val="6600FF"/>
                  </a:solidFill>
                  <a:latin typeface="黑体" panose="02010609060101010101" pitchFamily="49" charset="-122"/>
                  <a:ea typeface="黑体" panose="02010609060101010101" pitchFamily="49" charset="-122"/>
                </a:rPr>
                <a:t>分析图示同步时序逻辑电路</a:t>
              </a:r>
              <a:endParaRPr lang="zh-CN" altLang="en-US" sz="1600" b="1" dirty="0">
                <a:solidFill>
                  <a:srgbClr val="6600FF"/>
                </a:solidFill>
                <a:latin typeface="黑体" panose="02010609060101010101" pitchFamily="49" charset="-122"/>
                <a:ea typeface="黑体" panose="02010609060101010101" pitchFamily="49" charset="-122"/>
              </a:endParaRPr>
            </a:p>
          </p:txBody>
        </p:sp>
        <p:pic>
          <p:nvPicPr>
            <p:cNvPr id="57" name="Picture 4"/>
            <p:cNvPicPr>
              <a:picLocks noChangeAspect="1" noChangeArrowheads="1"/>
            </p:cNvPicPr>
            <p:nvPr/>
          </p:nvPicPr>
          <p:blipFill>
            <a:blip r:embed="rId5"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16" name="组合 15"/>
          <p:cNvGrpSpPr/>
          <p:nvPr/>
        </p:nvGrpSpPr>
        <p:grpSpPr>
          <a:xfrm>
            <a:off x="706121" y="2221502"/>
            <a:ext cx="3530217" cy="332460"/>
            <a:chOff x="706121" y="2221502"/>
            <a:chExt cx="3530217" cy="332460"/>
          </a:xfrm>
        </p:grpSpPr>
        <p:grpSp>
          <p:nvGrpSpPr>
            <p:cNvPr id="15" name="组合 14"/>
            <p:cNvGrpSpPr/>
            <p:nvPr/>
          </p:nvGrpSpPr>
          <p:grpSpPr>
            <a:xfrm>
              <a:off x="706121" y="2229962"/>
              <a:ext cx="2596604" cy="324000"/>
              <a:chOff x="706121" y="2229962"/>
              <a:chExt cx="2596604" cy="324000"/>
            </a:xfrm>
          </p:grpSpPr>
          <p:graphicFrame>
            <p:nvGraphicFramePr>
              <p:cNvPr id="102419" name="Object 19"/>
              <p:cNvGraphicFramePr>
                <a:graphicFrameLocks noChangeAspect="1"/>
              </p:cNvGraphicFramePr>
              <p:nvPr/>
            </p:nvGraphicFramePr>
            <p:xfrm>
              <a:off x="706121" y="2239605"/>
              <a:ext cx="1625600" cy="304715"/>
            </p:xfrm>
            <a:graphic>
              <a:graphicData uri="http://schemas.openxmlformats.org/presentationml/2006/ole">
                <mc:AlternateContent xmlns:mc="http://schemas.openxmlformats.org/markup-compatibility/2006">
                  <mc:Choice xmlns:v="urn:schemas-microsoft-com:vml" Requires="v">
                    <p:oleObj spid="_x0000_s5178" name="公式" r:id="rId6" imgW="30784800" imgH="5791200" progId="Equation.3">
                      <p:embed/>
                    </p:oleObj>
                  </mc:Choice>
                  <mc:Fallback>
                    <p:oleObj name="公式" r:id="rId6" imgW="30784800" imgH="5791200" progId="Equation.3">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6121" y="2239605"/>
                            <a:ext cx="1625600" cy="304715"/>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102415" name="Object 15"/>
              <p:cNvGraphicFramePr>
                <a:graphicFrameLocks noChangeAspect="1"/>
              </p:cNvGraphicFramePr>
              <p:nvPr/>
            </p:nvGraphicFramePr>
            <p:xfrm>
              <a:off x="2516417" y="2229962"/>
              <a:ext cx="786308" cy="324000"/>
            </p:xfrm>
            <a:graphic>
              <a:graphicData uri="http://schemas.openxmlformats.org/presentationml/2006/ole">
                <mc:AlternateContent xmlns:mc="http://schemas.openxmlformats.org/markup-compatibility/2006">
                  <mc:Choice xmlns:v="urn:schemas-microsoft-com:vml" Requires="v">
                    <p:oleObj spid="_x0000_s5179" name="公式" r:id="rId8" imgW="15544800" imgH="6400800" progId="Equation.3">
                      <p:embed/>
                    </p:oleObj>
                  </mc:Choice>
                  <mc:Fallback>
                    <p:oleObj name="公式" r:id="rId8" imgW="15544800" imgH="6400800" progId="Equation.3">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16417" y="2229962"/>
                            <a:ext cx="786308" cy="324000"/>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pSp>
        <p:graphicFrame>
          <p:nvGraphicFramePr>
            <p:cNvPr id="58" name="对象 57"/>
            <p:cNvGraphicFramePr>
              <a:graphicFrameLocks noChangeAspect="1"/>
            </p:cNvGraphicFramePr>
            <p:nvPr/>
          </p:nvGraphicFramePr>
          <p:xfrm>
            <a:off x="3480338" y="2221502"/>
            <a:ext cx="756000" cy="305053"/>
          </p:xfrm>
          <a:graphic>
            <a:graphicData uri="http://schemas.openxmlformats.org/presentationml/2006/ole">
              <mc:AlternateContent xmlns:mc="http://schemas.openxmlformats.org/markup-compatibility/2006">
                <mc:Choice xmlns:v="urn:schemas-microsoft-com:vml" Requires="v">
                  <p:oleObj spid="_x0000_s5180" name="公式" r:id="rId10" imgW="545465" imgH="215900" progId="Equation.3">
                    <p:embed/>
                  </p:oleObj>
                </mc:Choice>
                <mc:Fallback>
                  <p:oleObj name="公式" r:id="rId10" imgW="545465" imgH="215900" progId="Equation.3">
                    <p:embed/>
                    <p:pic>
                      <p:nvPicPr>
                        <p:cNvPr id="0" name="对象 5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80338" y="2221502"/>
                          <a:ext cx="756000" cy="305053"/>
                        </a:xfrm>
                        <a:prstGeom prst="rect">
                          <a:avLst/>
                        </a:prstGeom>
                        <a:noFill/>
                      </p:spPr>
                    </p:pic>
                  </p:oleObj>
                </mc:Fallback>
              </mc:AlternateContent>
            </a:graphicData>
          </a:graphic>
        </p:graphicFrame>
      </p:grpSp>
      <p:grpSp>
        <p:nvGrpSpPr>
          <p:cNvPr id="59" name="组合 58"/>
          <p:cNvGrpSpPr/>
          <p:nvPr/>
        </p:nvGrpSpPr>
        <p:grpSpPr>
          <a:xfrm>
            <a:off x="4794079" y="677863"/>
            <a:ext cx="4343558" cy="1943470"/>
            <a:chOff x="2052904" y="1844040"/>
            <a:chExt cx="4343558" cy="1943470"/>
          </a:xfrm>
        </p:grpSpPr>
        <p:sp>
          <p:nvSpPr>
            <p:cNvPr id="60" name="AutoShape 5"/>
            <p:cNvSpPr>
              <a:spLocks noChangeArrowheads="1"/>
            </p:cNvSpPr>
            <p:nvPr/>
          </p:nvSpPr>
          <p:spPr bwMode="auto">
            <a:xfrm>
              <a:off x="2052904" y="1844040"/>
              <a:ext cx="4264076" cy="1937534"/>
            </a:xfrm>
            <a:prstGeom prst="roundRect">
              <a:avLst>
                <a:gd name="adj" fmla="val 2731"/>
              </a:avLst>
            </a:prstGeom>
            <a:solidFill>
              <a:srgbClr val="FFFFFF"/>
            </a:solidFill>
            <a:ln w="19050">
              <a:solidFill>
                <a:schemeClr val="tx2">
                  <a:lumMod val="75000"/>
                </a:schemeClr>
              </a:solidFill>
              <a:miter lim="800000"/>
            </a:ln>
          </p:spPr>
          <p:txBody>
            <a:bodyPr wrap="none" anchor="ctr"/>
            <a:lstStyle/>
            <a:p>
              <a:pPr algn="ctr"/>
              <a:endParaRPr lang="en-US" altLang="zh-CN" sz="2000">
                <a:solidFill>
                  <a:srgbClr val="000000"/>
                </a:solidFill>
              </a:endParaRPr>
            </a:p>
          </p:txBody>
        </p:sp>
        <p:graphicFrame>
          <p:nvGraphicFramePr>
            <p:cNvPr id="61" name="对象 60"/>
            <p:cNvGraphicFramePr>
              <a:graphicFrameLocks noChangeAspect="1"/>
            </p:cNvGraphicFramePr>
            <p:nvPr/>
          </p:nvGraphicFramePr>
          <p:xfrm>
            <a:off x="2052904" y="1849976"/>
            <a:ext cx="4343558" cy="1937534"/>
          </p:xfrm>
          <a:graphic>
            <a:graphicData uri="http://schemas.openxmlformats.org/presentationml/2006/ole">
              <mc:AlternateContent xmlns:mc="http://schemas.openxmlformats.org/markup-compatibility/2006">
                <mc:Choice xmlns:v="urn:schemas-microsoft-com:vml" Requires="v">
                  <p:oleObj spid="_x0000_s5181" name="Visio" r:id="rId12" imgW="2143125" imgH="962025" progId="Visio.Drawing.11">
                    <p:embed/>
                  </p:oleObj>
                </mc:Choice>
                <mc:Fallback>
                  <p:oleObj name="Visio" r:id="rId12" imgW="2143125" imgH="962025" progId="Visio.Drawing.11">
                    <p:embed/>
                    <p:pic>
                      <p:nvPicPr>
                        <p:cNvPr id="0" name="对象 60"/>
                        <p:cNvPicPr>
                          <a:picLocks noChangeAspect="1" noChangeArrowheads="1"/>
                        </p:cNvPicPr>
                        <p:nvPr/>
                      </p:nvPicPr>
                      <p:blipFill>
                        <a:blip r:embed="rId13"/>
                        <a:srcRect/>
                        <a:stretch>
                          <a:fillRect/>
                        </a:stretch>
                      </p:blipFill>
                      <p:spPr bwMode="auto">
                        <a:xfrm>
                          <a:off x="2052904" y="1849976"/>
                          <a:ext cx="4343558" cy="1937534"/>
                        </a:xfrm>
                        <a:prstGeom prst="rect">
                          <a:avLst/>
                        </a:prstGeom>
                        <a:noFill/>
                        <a:ln>
                          <a:noFill/>
                        </a:ln>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1000"/>
                                        <p:tgtEl>
                                          <p:spTgt spid="16"/>
                                        </p:tgtEl>
                                      </p:cBhvr>
                                    </p:animEffect>
                                    <p:anim calcmode="lin" valueType="num">
                                      <p:cBhvr>
                                        <p:cTn id="14" dur="1000" fill="hold"/>
                                        <p:tgtEl>
                                          <p:spTgt spid="16"/>
                                        </p:tgtEl>
                                        <p:attrNameLst>
                                          <p:attrName>ppt_x</p:attrName>
                                        </p:attrNameLst>
                                      </p:cBhvr>
                                      <p:tavLst>
                                        <p:tav tm="0">
                                          <p:val>
                                            <p:strVal val="#ppt_x"/>
                                          </p:val>
                                        </p:tav>
                                        <p:tav tm="100000">
                                          <p:val>
                                            <p:strVal val="#ppt_x"/>
                                          </p:val>
                                        </p:tav>
                                      </p:tavLst>
                                    </p:anim>
                                    <p:anim calcmode="lin" valueType="num">
                                      <p:cBhvr>
                                        <p:cTn id="15" dur="1000" fill="hold"/>
                                        <p:tgtEl>
                                          <p:spTgt spid="16"/>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1000"/>
                                        <p:tgtEl>
                                          <p:spTgt spid="36"/>
                                        </p:tgtEl>
                                      </p:cBhvr>
                                    </p:animEffect>
                                    <p:anim calcmode="lin" valueType="num">
                                      <p:cBhvr>
                                        <p:cTn id="20" dur="1000" fill="hold"/>
                                        <p:tgtEl>
                                          <p:spTgt spid="36"/>
                                        </p:tgtEl>
                                        <p:attrNameLst>
                                          <p:attrName>ppt_x</p:attrName>
                                        </p:attrNameLst>
                                      </p:cBhvr>
                                      <p:tavLst>
                                        <p:tav tm="0">
                                          <p:val>
                                            <p:strVal val="#ppt_x"/>
                                          </p:val>
                                        </p:tav>
                                        <p:tav tm="100000">
                                          <p:val>
                                            <p:strVal val="#ppt_x"/>
                                          </p:val>
                                        </p:tav>
                                      </p:tavLst>
                                    </p:anim>
                                    <p:anim calcmode="lin" valueType="num">
                                      <p:cBhvr>
                                        <p:cTn id="21"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nodeType="click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1000"/>
                                        <p:tgtEl>
                                          <p:spTgt spid="46"/>
                                        </p:tgtEl>
                                        <p:attrNameLst>
                                          <p:attrName>ppt_y</p:attrName>
                                        </p:attrNameLst>
                                      </p:cBhvr>
                                      <p:tavLst>
                                        <p:tav tm="0">
                                          <p:val>
                                            <p:strVal val="#ppt_y+#ppt_h*1.125000"/>
                                          </p:val>
                                        </p:tav>
                                        <p:tav tm="100000">
                                          <p:val>
                                            <p:strVal val="#ppt_y"/>
                                          </p:val>
                                        </p:tav>
                                      </p:tavLst>
                                    </p:anim>
                                    <p:animEffect transition="in" filter="wipe(up)">
                                      <p:cBhvr>
                                        <p:cTn id="27" dur="1000"/>
                                        <p:tgtEl>
                                          <p:spTgt spid="46"/>
                                        </p:tgtEl>
                                      </p:cBhvr>
                                    </p:animEffect>
                                  </p:childTnLst>
                                </p:cTn>
                              </p:par>
                            </p:childTnLst>
                          </p:cTn>
                        </p:par>
                        <p:par>
                          <p:cTn id="28" fill="hold">
                            <p:stCondLst>
                              <p:cond delay="1000"/>
                            </p:stCondLst>
                            <p:childTnLst>
                              <p:par>
                                <p:cTn id="29" presetID="17" presetClass="entr" presetSubtype="10" fill="hold" nodeType="after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p:cTn id="31" dur="1000" fill="hold"/>
                                        <p:tgtEl>
                                          <p:spTgt spid="33"/>
                                        </p:tgtEl>
                                        <p:attrNameLst>
                                          <p:attrName>ppt_w</p:attrName>
                                        </p:attrNameLst>
                                      </p:cBhvr>
                                      <p:tavLst>
                                        <p:tav tm="0">
                                          <p:val>
                                            <p:fltVal val="0"/>
                                          </p:val>
                                        </p:tav>
                                        <p:tav tm="100000">
                                          <p:val>
                                            <p:strVal val="#ppt_w"/>
                                          </p:val>
                                        </p:tav>
                                      </p:tavLst>
                                    </p:anim>
                                    <p:anim calcmode="lin" valueType="num">
                                      <p:cBhvr>
                                        <p:cTn id="32" dur="1000" fill="hold"/>
                                        <p:tgtEl>
                                          <p:spTgt spid="33"/>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33"/>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45"/>
                                        </p:tgtEl>
                                        <p:attrNameLst>
                                          <p:attrName>style.visibility</p:attrName>
                                        </p:attrNameLst>
                                      </p:cBhvr>
                                      <p:to>
                                        <p:strVal val="visible"/>
                                      </p:to>
                                    </p:set>
                                    <p:anim calcmode="lin" valueType="num">
                                      <p:cBhvr additive="base">
                                        <p:cTn id="37" dur="1000"/>
                                        <p:tgtEl>
                                          <p:spTgt spid="45"/>
                                        </p:tgtEl>
                                        <p:attrNameLst>
                                          <p:attrName>ppt_y</p:attrName>
                                        </p:attrNameLst>
                                      </p:cBhvr>
                                      <p:tavLst>
                                        <p:tav tm="0">
                                          <p:val>
                                            <p:strVal val="#ppt_y+#ppt_h*1.125000"/>
                                          </p:val>
                                        </p:tav>
                                        <p:tav tm="100000">
                                          <p:val>
                                            <p:strVal val="#ppt_y"/>
                                          </p:val>
                                        </p:tav>
                                      </p:tavLst>
                                    </p:anim>
                                    <p:animEffect transition="in" filter="wipe(up)">
                                      <p:cBhvr>
                                        <p:cTn id="38" dur="1000"/>
                                        <p:tgtEl>
                                          <p:spTgt spid="45"/>
                                        </p:tgtEl>
                                      </p:cBhvr>
                                    </p:animEffect>
                                  </p:childTnLst>
                                </p:cTn>
                              </p:par>
                            </p:childTnLst>
                          </p:cTn>
                        </p:par>
                        <p:par>
                          <p:cTn id="39" fill="hold">
                            <p:stCondLst>
                              <p:cond delay="1000"/>
                            </p:stCondLst>
                            <p:childTnLst>
                              <p:par>
                                <p:cTn id="40" presetID="22" presetClass="entr" presetSubtype="1" fill="hold" nodeType="after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up)">
                                      <p:cBhvr>
                                        <p:cTn id="42" dur="10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12" presetClass="entr" presetSubtype="4" fill="hold" nodeType="clickEffect">
                                  <p:stCondLst>
                                    <p:cond delay="0"/>
                                  </p:stCondLst>
                                  <p:childTnLst>
                                    <p:set>
                                      <p:cBhvr>
                                        <p:cTn id="46" dur="1" fill="hold">
                                          <p:stCondLst>
                                            <p:cond delay="0"/>
                                          </p:stCondLst>
                                        </p:cTn>
                                        <p:tgtEl>
                                          <p:spTgt spid="44"/>
                                        </p:tgtEl>
                                        <p:attrNameLst>
                                          <p:attrName>style.visibility</p:attrName>
                                        </p:attrNameLst>
                                      </p:cBhvr>
                                      <p:to>
                                        <p:strVal val="visible"/>
                                      </p:to>
                                    </p:set>
                                    <p:anim calcmode="lin" valueType="num">
                                      <p:cBhvr additive="base">
                                        <p:cTn id="47" dur="1000"/>
                                        <p:tgtEl>
                                          <p:spTgt spid="44"/>
                                        </p:tgtEl>
                                        <p:attrNameLst>
                                          <p:attrName>ppt_y</p:attrName>
                                        </p:attrNameLst>
                                      </p:cBhvr>
                                      <p:tavLst>
                                        <p:tav tm="0">
                                          <p:val>
                                            <p:strVal val="#ppt_y+#ppt_h*1.125000"/>
                                          </p:val>
                                        </p:tav>
                                        <p:tav tm="100000">
                                          <p:val>
                                            <p:strVal val="#ppt_y"/>
                                          </p:val>
                                        </p:tav>
                                      </p:tavLst>
                                    </p:anim>
                                    <p:animEffect transition="in" filter="wipe(up)">
                                      <p:cBhvr>
                                        <p:cTn id="48" dur="1000"/>
                                        <p:tgtEl>
                                          <p:spTgt spid="44"/>
                                        </p:tgtEl>
                                      </p:cBhvr>
                                    </p:animEffect>
                                  </p:childTnLst>
                                </p:cTn>
                              </p:par>
                            </p:childTnLst>
                          </p:cTn>
                        </p:par>
                        <p:par>
                          <p:cTn id="49" fill="hold">
                            <p:stCondLst>
                              <p:cond delay="1000"/>
                            </p:stCondLst>
                            <p:childTnLst>
                              <p:par>
                                <p:cTn id="50" presetID="53" presetClass="entr" presetSubtype="16" fill="hold" nodeType="after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p:cTn id="52" dur="1000" fill="hold"/>
                                        <p:tgtEl>
                                          <p:spTgt spid="14"/>
                                        </p:tgtEl>
                                        <p:attrNameLst>
                                          <p:attrName>ppt_w</p:attrName>
                                        </p:attrNameLst>
                                      </p:cBhvr>
                                      <p:tavLst>
                                        <p:tav tm="0">
                                          <p:val>
                                            <p:fltVal val="0"/>
                                          </p:val>
                                        </p:tav>
                                        <p:tav tm="100000">
                                          <p:val>
                                            <p:strVal val="#ppt_w"/>
                                          </p:val>
                                        </p:tav>
                                      </p:tavLst>
                                    </p:anim>
                                    <p:anim calcmode="lin" valueType="num">
                                      <p:cBhvr>
                                        <p:cTn id="53" dur="1000" fill="hold"/>
                                        <p:tgtEl>
                                          <p:spTgt spid="14"/>
                                        </p:tgtEl>
                                        <p:attrNameLst>
                                          <p:attrName>ppt_h</p:attrName>
                                        </p:attrNameLst>
                                      </p:cBhvr>
                                      <p:tavLst>
                                        <p:tav tm="0">
                                          <p:val>
                                            <p:fltVal val="0"/>
                                          </p:val>
                                        </p:tav>
                                        <p:tav tm="100000">
                                          <p:val>
                                            <p:strVal val="#ppt_h"/>
                                          </p:val>
                                        </p:tav>
                                      </p:tavLst>
                                    </p:anim>
                                    <p:animEffect transition="in" filter="fade">
                                      <p:cBhvr>
                                        <p:cTn id="54" dur="10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47"/>
                                        </p:tgtEl>
                                        <p:attrNameLst>
                                          <p:attrName>style.visibility</p:attrName>
                                        </p:attrNameLst>
                                      </p:cBhvr>
                                      <p:to>
                                        <p:strVal val="visible"/>
                                      </p:to>
                                    </p:set>
                                    <p:animEffect transition="in" filter="fade">
                                      <p:cBhvr>
                                        <p:cTn id="59" dur="1000"/>
                                        <p:tgtEl>
                                          <p:spTgt spid="47"/>
                                        </p:tgtEl>
                                      </p:cBhvr>
                                    </p:animEffect>
                                    <p:anim calcmode="lin" valueType="num">
                                      <p:cBhvr>
                                        <p:cTn id="60" dur="1000" fill="hold"/>
                                        <p:tgtEl>
                                          <p:spTgt spid="47"/>
                                        </p:tgtEl>
                                        <p:attrNameLst>
                                          <p:attrName>ppt_x</p:attrName>
                                        </p:attrNameLst>
                                      </p:cBhvr>
                                      <p:tavLst>
                                        <p:tav tm="0">
                                          <p:val>
                                            <p:strVal val="#ppt_x"/>
                                          </p:val>
                                        </p:tav>
                                        <p:tav tm="100000">
                                          <p:val>
                                            <p:strVal val="#ppt_x"/>
                                          </p:val>
                                        </p:tav>
                                      </p:tavLst>
                                    </p:anim>
                                    <p:anim calcmode="lin" valueType="num">
                                      <p:cBhvr>
                                        <p:cTn id="61" dur="1000" fill="hold"/>
                                        <p:tgtEl>
                                          <p:spTgt spid="47"/>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fade">
                                      <p:cBhvr>
                                        <p:cTn id="64" dur="1000"/>
                                        <p:tgtEl>
                                          <p:spTgt spid="12"/>
                                        </p:tgtEl>
                                      </p:cBhvr>
                                    </p:animEffect>
                                    <p:anim calcmode="lin" valueType="num">
                                      <p:cBhvr>
                                        <p:cTn id="65" dur="1000" fill="hold"/>
                                        <p:tgtEl>
                                          <p:spTgt spid="12"/>
                                        </p:tgtEl>
                                        <p:attrNameLst>
                                          <p:attrName>ppt_x</p:attrName>
                                        </p:attrNameLst>
                                      </p:cBhvr>
                                      <p:tavLst>
                                        <p:tav tm="0">
                                          <p:val>
                                            <p:strVal val="#ppt_x"/>
                                          </p:val>
                                        </p:tav>
                                        <p:tav tm="100000">
                                          <p:val>
                                            <p:strVal val="#ppt_x"/>
                                          </p:val>
                                        </p:tav>
                                      </p:tavLst>
                                    </p:anim>
                                    <p:anim calcmode="lin" valueType="num">
                                      <p:cBhvr>
                                        <p:cTn id="6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25"/>
          <p:cNvGrpSpPr/>
          <p:nvPr/>
        </p:nvGrpSpPr>
        <p:grpSpPr>
          <a:xfrm>
            <a:off x="471795" y="1795637"/>
            <a:ext cx="1760616" cy="338554"/>
            <a:chOff x="4731375" y="1650857"/>
            <a:chExt cx="1760616" cy="338554"/>
          </a:xfrm>
        </p:grpSpPr>
        <p:sp>
          <p:nvSpPr>
            <p:cNvPr id="27" name="矩形 26"/>
            <p:cNvSpPr/>
            <p:nvPr/>
          </p:nvSpPr>
          <p:spPr>
            <a:xfrm>
              <a:off x="5076219" y="1650857"/>
              <a:ext cx="1415772"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画时序波形图</a:t>
              </a:r>
              <a:endParaRPr lang="zh-CN" altLang="en-US" sz="1600" dirty="0"/>
            </a:p>
          </p:txBody>
        </p:sp>
        <p:pic>
          <p:nvPicPr>
            <p:cNvPr id="28" name="Picture 5"/>
            <p:cNvPicPr>
              <a:picLocks noChangeAspect="1" noChangeArrowheads="1"/>
            </p:cNvPicPr>
            <p:nvPr/>
          </p:nvPicPr>
          <p:blipFill>
            <a:blip r:embed="rId1" cstate="print"/>
            <a:srcRect/>
            <a:stretch>
              <a:fillRect/>
            </a:stretch>
          </p:blipFill>
          <p:spPr bwMode="auto">
            <a:xfrm>
              <a:off x="4731375" y="1677030"/>
              <a:ext cx="360000" cy="286209"/>
            </a:xfrm>
            <a:prstGeom prst="rect">
              <a:avLst/>
            </a:prstGeom>
            <a:noFill/>
            <a:ln w="9525">
              <a:noFill/>
              <a:miter lim="800000"/>
              <a:headEnd/>
              <a:tailEnd/>
            </a:ln>
          </p:spPr>
        </p:pic>
      </p:grpSp>
      <p:graphicFrame>
        <p:nvGraphicFramePr>
          <p:cNvPr id="104453" name="Object 5"/>
          <p:cNvGraphicFramePr>
            <a:graphicFrameLocks noChangeAspect="1"/>
          </p:cNvGraphicFramePr>
          <p:nvPr/>
        </p:nvGraphicFramePr>
        <p:xfrm>
          <a:off x="479425" y="2217738"/>
          <a:ext cx="4291013" cy="769937"/>
        </p:xfrm>
        <a:graphic>
          <a:graphicData uri="http://schemas.openxmlformats.org/presentationml/2006/ole">
            <mc:AlternateContent xmlns:mc="http://schemas.openxmlformats.org/markup-compatibility/2006">
              <mc:Choice xmlns:v="urn:schemas-microsoft-com:vml" Requires="v">
                <p:oleObj spid="_x0000_s6190" name="Visio" r:id="rId2" imgW="3267075" imgH="628650" progId="Visio.Drawing.11">
                  <p:embed/>
                </p:oleObj>
              </mc:Choice>
              <mc:Fallback>
                <p:oleObj name="Visio" r:id="rId2" imgW="3267075" imgH="628650" progId="Visio.Drawing.11">
                  <p:embed/>
                  <p:pic>
                    <p:nvPicPr>
                      <p:cNvPr id="0" name="Object 5"/>
                      <p:cNvPicPr>
                        <a:picLocks noChangeAspect="1" noChangeArrowheads="1"/>
                      </p:cNvPicPr>
                      <p:nvPr/>
                    </p:nvPicPr>
                    <p:blipFill>
                      <a:blip r:embed="rId3"/>
                      <a:srcRect/>
                      <a:stretch>
                        <a:fillRect/>
                      </a:stretch>
                    </p:blipFill>
                    <p:spPr bwMode="auto">
                      <a:xfrm>
                        <a:off x="479425" y="2217738"/>
                        <a:ext cx="4291013" cy="769937"/>
                      </a:xfrm>
                      <a:prstGeom prst="rect">
                        <a:avLst/>
                      </a:prstGeom>
                      <a:solidFill>
                        <a:srgbClr val="FFFFFF"/>
                      </a:solidFill>
                    </p:spPr>
                  </p:pic>
                </p:oleObj>
              </mc:Fallback>
            </mc:AlternateContent>
          </a:graphicData>
        </a:graphic>
      </p:graphicFrame>
      <p:graphicFrame>
        <p:nvGraphicFramePr>
          <p:cNvPr id="13" name="Object 5"/>
          <p:cNvGraphicFramePr>
            <a:graphicFrameLocks noChangeAspect="1"/>
          </p:cNvGraphicFramePr>
          <p:nvPr/>
        </p:nvGraphicFramePr>
        <p:xfrm>
          <a:off x="504825" y="2889250"/>
          <a:ext cx="4289425" cy="1196656"/>
        </p:xfrm>
        <a:graphic>
          <a:graphicData uri="http://schemas.openxmlformats.org/presentationml/2006/ole">
            <mc:AlternateContent xmlns:mc="http://schemas.openxmlformats.org/markup-compatibility/2006">
              <mc:Choice xmlns:v="urn:schemas-microsoft-com:vml" Requires="v">
                <p:oleObj spid="_x0000_s6191" name="Visio" r:id="rId4" imgW="3267075" imgH="990600" progId="Visio.Drawing.11">
                  <p:embed/>
                </p:oleObj>
              </mc:Choice>
              <mc:Fallback>
                <p:oleObj name="Visio" r:id="rId4" imgW="3267075" imgH="990600" progId="Visio.Drawing.11">
                  <p:embed/>
                  <p:pic>
                    <p:nvPicPr>
                      <p:cNvPr id="0" name="Object 5"/>
                      <p:cNvPicPr>
                        <a:picLocks noChangeAspect="1" noChangeArrowheads="1"/>
                      </p:cNvPicPr>
                      <p:nvPr/>
                    </p:nvPicPr>
                    <p:blipFill>
                      <a:blip r:embed="rId5"/>
                      <a:srcRect/>
                      <a:stretch>
                        <a:fillRect/>
                      </a:stretch>
                    </p:blipFill>
                    <p:spPr bwMode="auto">
                      <a:xfrm>
                        <a:off x="504825" y="2889250"/>
                        <a:ext cx="4289425" cy="1196656"/>
                      </a:xfrm>
                      <a:prstGeom prst="rect">
                        <a:avLst/>
                      </a:prstGeom>
                      <a:solidFill>
                        <a:srgbClr val="FFFFFF"/>
                      </a:solidFill>
                    </p:spPr>
                  </p:pic>
                </p:oleObj>
              </mc:Fallback>
            </mc:AlternateContent>
          </a:graphicData>
        </a:graphic>
      </p:graphicFrame>
      <p:grpSp>
        <p:nvGrpSpPr>
          <p:cNvPr id="52" name="组合 51"/>
          <p:cNvGrpSpPr/>
          <p:nvPr/>
        </p:nvGrpSpPr>
        <p:grpSpPr>
          <a:xfrm>
            <a:off x="946842" y="2263190"/>
            <a:ext cx="3317760" cy="1697790"/>
            <a:chOff x="1178554" y="2409390"/>
            <a:chExt cx="3317760" cy="1903529"/>
          </a:xfrm>
        </p:grpSpPr>
        <p:sp>
          <p:nvSpPr>
            <p:cNvPr id="32" name="Line 11"/>
            <p:cNvSpPr>
              <a:spLocks noChangeShapeType="1"/>
            </p:cNvSpPr>
            <p:nvPr/>
          </p:nvSpPr>
          <p:spPr bwMode="auto">
            <a:xfrm>
              <a:off x="1178554" y="2409390"/>
              <a:ext cx="0" cy="1903529"/>
            </a:xfrm>
            <a:prstGeom prst="line">
              <a:avLst/>
            </a:prstGeom>
            <a:noFill/>
            <a:ln w="19050">
              <a:solidFill>
                <a:srgbClr val="FF0000"/>
              </a:solidFill>
              <a:prstDash val="sysDash"/>
              <a:rou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sp>
          <p:nvSpPr>
            <p:cNvPr id="33" name="Line 11"/>
            <p:cNvSpPr>
              <a:spLocks noChangeShapeType="1"/>
            </p:cNvSpPr>
            <p:nvPr/>
          </p:nvSpPr>
          <p:spPr bwMode="auto">
            <a:xfrm>
              <a:off x="1652520" y="2409390"/>
              <a:ext cx="0" cy="1903529"/>
            </a:xfrm>
            <a:prstGeom prst="line">
              <a:avLst/>
            </a:prstGeom>
            <a:noFill/>
            <a:ln w="19050">
              <a:solidFill>
                <a:srgbClr val="FF0000"/>
              </a:solidFill>
              <a:prstDash val="sysDash"/>
              <a:rou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sp>
          <p:nvSpPr>
            <p:cNvPr id="34" name="Line 11"/>
            <p:cNvSpPr>
              <a:spLocks noChangeShapeType="1"/>
            </p:cNvSpPr>
            <p:nvPr/>
          </p:nvSpPr>
          <p:spPr bwMode="auto">
            <a:xfrm>
              <a:off x="2126486" y="2409390"/>
              <a:ext cx="0" cy="1903529"/>
            </a:xfrm>
            <a:prstGeom prst="line">
              <a:avLst/>
            </a:prstGeom>
            <a:noFill/>
            <a:ln w="19050">
              <a:solidFill>
                <a:srgbClr val="FF0000"/>
              </a:solidFill>
              <a:prstDash val="sysDash"/>
              <a:rou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sp>
          <p:nvSpPr>
            <p:cNvPr id="35" name="Line 11"/>
            <p:cNvSpPr>
              <a:spLocks noChangeShapeType="1"/>
            </p:cNvSpPr>
            <p:nvPr/>
          </p:nvSpPr>
          <p:spPr bwMode="auto">
            <a:xfrm>
              <a:off x="2600452" y="2409390"/>
              <a:ext cx="0" cy="1903529"/>
            </a:xfrm>
            <a:prstGeom prst="line">
              <a:avLst/>
            </a:prstGeom>
            <a:noFill/>
            <a:ln w="19050">
              <a:solidFill>
                <a:srgbClr val="FF0000"/>
              </a:solidFill>
              <a:prstDash val="sysDash"/>
              <a:rou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sp>
          <p:nvSpPr>
            <p:cNvPr id="38" name="Line 11"/>
            <p:cNvSpPr>
              <a:spLocks noChangeShapeType="1"/>
            </p:cNvSpPr>
            <p:nvPr/>
          </p:nvSpPr>
          <p:spPr bwMode="auto">
            <a:xfrm>
              <a:off x="3074418" y="2409390"/>
              <a:ext cx="0" cy="1903529"/>
            </a:xfrm>
            <a:prstGeom prst="line">
              <a:avLst/>
            </a:prstGeom>
            <a:noFill/>
            <a:ln w="19050">
              <a:solidFill>
                <a:srgbClr val="FF0000"/>
              </a:solidFill>
              <a:prstDash val="sysDash"/>
              <a:rou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sp>
          <p:nvSpPr>
            <p:cNvPr id="39" name="Line 11"/>
            <p:cNvSpPr>
              <a:spLocks noChangeShapeType="1"/>
            </p:cNvSpPr>
            <p:nvPr/>
          </p:nvSpPr>
          <p:spPr bwMode="auto">
            <a:xfrm>
              <a:off x="3548384" y="2409390"/>
              <a:ext cx="0" cy="1903529"/>
            </a:xfrm>
            <a:prstGeom prst="line">
              <a:avLst/>
            </a:prstGeom>
            <a:noFill/>
            <a:ln w="19050">
              <a:solidFill>
                <a:srgbClr val="FF0000"/>
              </a:solidFill>
              <a:prstDash val="sysDash"/>
              <a:round/>
            </a:ln>
            <a:effectLst/>
          </p:spPr>
          <p:txBody>
            <a:bodyPr lIns="0" rIns="0" anchor="ctr"/>
            <a:lstStyle/>
            <a:p>
              <a:pPr>
                <a:defRPr/>
              </a:pPr>
              <a:endParaRPr lang="zh-CN" altLang="en-US" dirty="0">
                <a:effectLst>
                  <a:outerShdw blurRad="38100" dist="38100" dir="2700000" algn="tl">
                    <a:srgbClr val="000000">
                      <a:alpha val="43137"/>
                    </a:srgbClr>
                  </a:outerShdw>
                </a:effectLst>
              </a:endParaRPr>
            </a:p>
          </p:txBody>
        </p:sp>
        <p:sp>
          <p:nvSpPr>
            <p:cNvPr id="43" name="Line 11"/>
            <p:cNvSpPr>
              <a:spLocks noChangeShapeType="1"/>
            </p:cNvSpPr>
            <p:nvPr/>
          </p:nvSpPr>
          <p:spPr bwMode="auto">
            <a:xfrm>
              <a:off x="4022350" y="2409390"/>
              <a:ext cx="0" cy="1903529"/>
            </a:xfrm>
            <a:prstGeom prst="line">
              <a:avLst/>
            </a:prstGeom>
            <a:noFill/>
            <a:ln w="19050">
              <a:solidFill>
                <a:srgbClr val="FF0000"/>
              </a:solidFill>
              <a:prstDash val="sysDash"/>
              <a:rou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sp>
          <p:nvSpPr>
            <p:cNvPr id="47" name="Line 11"/>
            <p:cNvSpPr>
              <a:spLocks noChangeShapeType="1"/>
            </p:cNvSpPr>
            <p:nvPr/>
          </p:nvSpPr>
          <p:spPr bwMode="auto">
            <a:xfrm>
              <a:off x="4496314" y="2409390"/>
              <a:ext cx="0" cy="1903529"/>
            </a:xfrm>
            <a:prstGeom prst="line">
              <a:avLst/>
            </a:prstGeom>
            <a:noFill/>
            <a:ln w="19050">
              <a:solidFill>
                <a:srgbClr val="FF0000"/>
              </a:solidFill>
              <a:prstDash val="sysDash"/>
              <a:rou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grpSp>
      <p:graphicFrame>
        <p:nvGraphicFramePr>
          <p:cNvPr id="14" name="Object 50"/>
          <p:cNvGraphicFramePr>
            <a:graphicFrameLocks noChangeAspect="1"/>
          </p:cNvGraphicFramePr>
          <p:nvPr/>
        </p:nvGraphicFramePr>
        <p:xfrm>
          <a:off x="6234180" y="2727060"/>
          <a:ext cx="2514600" cy="2079625"/>
        </p:xfrm>
        <a:graphic>
          <a:graphicData uri="http://schemas.openxmlformats.org/presentationml/2006/ole">
            <mc:AlternateContent xmlns:mc="http://schemas.openxmlformats.org/markup-compatibility/2006">
              <mc:Choice xmlns:v="urn:schemas-microsoft-com:vml" Requires="v">
                <p:oleObj spid="_x0000_s6192" name="Visio" r:id="rId6" imgW="1590675" imgH="1314450" progId="Visio.Drawing.11">
                  <p:embed/>
                </p:oleObj>
              </mc:Choice>
              <mc:Fallback>
                <p:oleObj name="Visio" r:id="rId6" imgW="1590675" imgH="1314450" progId="Visio.Drawing.11">
                  <p:embed/>
                  <p:pic>
                    <p:nvPicPr>
                      <p:cNvPr id="0" name="Object 50"/>
                      <p:cNvPicPr>
                        <a:picLocks noChangeAspect="1" noChangeArrowheads="1"/>
                      </p:cNvPicPr>
                      <p:nvPr/>
                    </p:nvPicPr>
                    <p:blipFill>
                      <a:blip r:embed="rId7"/>
                      <a:srcRect/>
                      <a:stretch>
                        <a:fillRect/>
                      </a:stretch>
                    </p:blipFill>
                    <p:spPr bwMode="auto">
                      <a:xfrm>
                        <a:off x="6234180" y="2727060"/>
                        <a:ext cx="2514600" cy="2079625"/>
                      </a:xfrm>
                      <a:prstGeom prst="rect">
                        <a:avLst/>
                      </a:prstGeom>
                      <a:solidFill>
                        <a:srgbClr val="FFFFFF"/>
                      </a:solidFill>
                    </p:spPr>
                  </p:pic>
                </p:oleObj>
              </mc:Fallback>
            </mc:AlternateContent>
          </a:graphicData>
        </a:graphic>
      </p:graphicFrame>
      <p:sp>
        <p:nvSpPr>
          <p:cNvPr id="56" name="圆角矩形 55"/>
          <p:cNvSpPr/>
          <p:nvPr/>
        </p:nvSpPr>
        <p:spPr>
          <a:xfrm>
            <a:off x="550758" y="4180742"/>
            <a:ext cx="5743362" cy="1084678"/>
          </a:xfrm>
          <a:prstGeom prst="roundRect">
            <a:avLst>
              <a:gd name="adj" fmla="val 11715"/>
            </a:avLst>
          </a:prstGeom>
          <a:solidFill>
            <a:srgbClr val="CCFFFF"/>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电路为一个</a:t>
            </a:r>
            <a:r>
              <a:rPr kumimoji="1" lang="zh-CN" altLang="en-US" sz="1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可逆二进制计数器</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。当</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X=0</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时，在</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CP</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的作用下，</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kumimoji="1" lang="en-US" altLang="zh-CN" sz="1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kumimoji="1" lang="en-US" altLang="zh-CN" sz="1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从</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00→11</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递增进行循环加法计数，当计数到</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11</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Z</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输出</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，此时，</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Z</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为进位信号（进位触发为下降沿）。当</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X</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时，进行状态转换相反的减计数，此时，</a:t>
            </a:r>
            <a:r>
              <a:rPr kumimoji="1"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Z</a:t>
            </a:r>
            <a:r>
              <a:rPr kumimoji="1"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为借位信号（借位触发为上升沿）。 </a:t>
            </a:r>
            <a:endParaRPr lang="zh-CN" altLang="en-US" sz="1400" dirty="0"/>
          </a:p>
        </p:txBody>
      </p:sp>
      <p:grpSp>
        <p:nvGrpSpPr>
          <p:cNvPr id="36" name="组合 35"/>
          <p:cNvGrpSpPr/>
          <p:nvPr/>
        </p:nvGrpSpPr>
        <p:grpSpPr>
          <a:xfrm>
            <a:off x="4794079" y="677863"/>
            <a:ext cx="4343558" cy="1943470"/>
            <a:chOff x="2052904" y="1844040"/>
            <a:chExt cx="4343558" cy="1943470"/>
          </a:xfrm>
        </p:grpSpPr>
        <p:sp>
          <p:nvSpPr>
            <p:cNvPr id="37" name="AutoShape 5"/>
            <p:cNvSpPr>
              <a:spLocks noChangeArrowheads="1"/>
            </p:cNvSpPr>
            <p:nvPr/>
          </p:nvSpPr>
          <p:spPr bwMode="auto">
            <a:xfrm>
              <a:off x="2052904" y="1844040"/>
              <a:ext cx="4264076" cy="1937534"/>
            </a:xfrm>
            <a:prstGeom prst="roundRect">
              <a:avLst>
                <a:gd name="adj" fmla="val 2731"/>
              </a:avLst>
            </a:prstGeom>
            <a:solidFill>
              <a:srgbClr val="FFFFFF"/>
            </a:solidFill>
            <a:ln w="19050">
              <a:solidFill>
                <a:schemeClr val="tx2">
                  <a:lumMod val="75000"/>
                </a:schemeClr>
              </a:solidFill>
              <a:miter lim="800000"/>
            </a:ln>
          </p:spPr>
          <p:txBody>
            <a:bodyPr wrap="none" anchor="ctr"/>
            <a:lstStyle/>
            <a:p>
              <a:pPr algn="ctr"/>
              <a:endParaRPr lang="en-US" altLang="zh-CN" sz="2000">
                <a:solidFill>
                  <a:srgbClr val="000000"/>
                </a:solidFill>
              </a:endParaRPr>
            </a:p>
          </p:txBody>
        </p:sp>
        <p:graphicFrame>
          <p:nvGraphicFramePr>
            <p:cNvPr id="40" name="对象 39"/>
            <p:cNvGraphicFramePr>
              <a:graphicFrameLocks noChangeAspect="1"/>
            </p:cNvGraphicFramePr>
            <p:nvPr/>
          </p:nvGraphicFramePr>
          <p:xfrm>
            <a:off x="2052904" y="1849976"/>
            <a:ext cx="4343558" cy="1937534"/>
          </p:xfrm>
          <a:graphic>
            <a:graphicData uri="http://schemas.openxmlformats.org/presentationml/2006/ole">
              <mc:AlternateContent xmlns:mc="http://schemas.openxmlformats.org/markup-compatibility/2006">
                <mc:Choice xmlns:v="urn:schemas-microsoft-com:vml" Requires="v">
                  <p:oleObj spid="_x0000_s6193" name="Visio" r:id="rId8" imgW="2143125" imgH="962025" progId="Visio.Drawing.11">
                    <p:embed/>
                  </p:oleObj>
                </mc:Choice>
                <mc:Fallback>
                  <p:oleObj name="Visio" r:id="rId8" imgW="2143125" imgH="962025" progId="Visio.Drawing.11">
                    <p:embed/>
                    <p:pic>
                      <p:nvPicPr>
                        <p:cNvPr id="0" name="对象 39"/>
                        <p:cNvPicPr>
                          <a:picLocks noChangeAspect="1" noChangeArrowheads="1"/>
                        </p:cNvPicPr>
                        <p:nvPr/>
                      </p:nvPicPr>
                      <p:blipFill>
                        <a:blip r:embed="rId9"/>
                        <a:srcRect/>
                        <a:stretch>
                          <a:fillRect/>
                        </a:stretch>
                      </p:blipFill>
                      <p:spPr bwMode="auto">
                        <a:xfrm>
                          <a:off x="2052904" y="1849976"/>
                          <a:ext cx="4343558" cy="1937534"/>
                        </a:xfrm>
                        <a:prstGeom prst="rect">
                          <a:avLst/>
                        </a:prstGeom>
                        <a:noFill/>
                        <a:ln>
                          <a:noFill/>
                        </a:ln>
                      </p:spPr>
                    </p:pic>
                  </p:oleObj>
                </mc:Fallback>
              </mc:AlternateContent>
            </a:graphicData>
          </a:graphic>
        </p:graphicFrame>
      </p:grpSp>
      <p:grpSp>
        <p:nvGrpSpPr>
          <p:cNvPr id="41" name="组合 67"/>
          <p:cNvGrpSpPr/>
          <p:nvPr/>
        </p:nvGrpSpPr>
        <p:grpSpPr>
          <a:xfrm>
            <a:off x="392432" y="778617"/>
            <a:ext cx="3388258" cy="411055"/>
            <a:chOff x="670560" y="892917"/>
            <a:chExt cx="3388258" cy="411055"/>
          </a:xfrm>
        </p:grpSpPr>
        <p:sp>
          <p:nvSpPr>
            <p:cNvPr id="42" name="矩形 41"/>
            <p:cNvSpPr/>
            <p:nvPr/>
          </p:nvSpPr>
          <p:spPr>
            <a:xfrm>
              <a:off x="1035233" y="913778"/>
              <a:ext cx="3023585" cy="369332"/>
            </a:xfrm>
            <a:prstGeom prst="rect">
              <a:avLst/>
            </a:prstGeom>
          </p:spPr>
          <p:txBody>
            <a:bodyPr wrap="none">
              <a:spAutoFit/>
            </a:bodyPr>
            <a:lstStyle/>
            <a:p>
              <a:r>
                <a:rPr lang="zh-CN" altLang="en-US" b="1" dirty="0">
                  <a:solidFill>
                    <a:srgbClr val="002060"/>
                  </a:solidFill>
                  <a:latin typeface="微软雅黑" panose="020B0503020204020204" pitchFamily="34" charset="-122"/>
                  <a:ea typeface="微软雅黑" panose="020B0503020204020204" pitchFamily="34" charset="-122"/>
                </a:rPr>
                <a:t>同步时序逻辑电路分析实例 </a:t>
              </a:r>
              <a:endParaRPr lang="zh-CN" altLang="en-US" b="1" dirty="0">
                <a:solidFill>
                  <a:srgbClr val="002060"/>
                </a:solidFill>
                <a:latin typeface="微软雅黑" panose="020B0503020204020204" pitchFamily="34" charset="-122"/>
                <a:ea typeface="微软雅黑" panose="020B0503020204020204" pitchFamily="34" charset="-122"/>
              </a:endParaRPr>
            </a:p>
          </p:txBody>
        </p:sp>
        <p:pic>
          <p:nvPicPr>
            <p:cNvPr id="44" name="Picture 3"/>
            <p:cNvPicPr>
              <a:picLocks noChangeAspect="1" noChangeArrowheads="1"/>
            </p:cNvPicPr>
            <p:nvPr/>
          </p:nvPicPr>
          <p:blipFill>
            <a:blip r:embed="rId10"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45" name="组合 77"/>
          <p:cNvGrpSpPr/>
          <p:nvPr/>
        </p:nvGrpSpPr>
        <p:grpSpPr>
          <a:xfrm>
            <a:off x="408133" y="1277936"/>
            <a:ext cx="3537818" cy="374630"/>
            <a:chOff x="369777" y="1347760"/>
            <a:chExt cx="3537818" cy="374630"/>
          </a:xfrm>
        </p:grpSpPr>
        <p:sp>
          <p:nvSpPr>
            <p:cNvPr id="46" name="TextBox 5"/>
            <p:cNvSpPr txBox="1"/>
            <p:nvPr/>
          </p:nvSpPr>
          <p:spPr>
            <a:xfrm>
              <a:off x="723710" y="1350409"/>
              <a:ext cx="3183885" cy="338554"/>
            </a:xfrm>
            <a:prstGeom prst="rect">
              <a:avLst/>
            </a:prstGeom>
            <a:noFill/>
          </p:spPr>
          <p:txBody>
            <a:bodyPr wrap="none" rtlCol="0">
              <a:spAutoFit/>
            </a:bodyPr>
            <a:lstStyle/>
            <a:p>
              <a:r>
                <a:rPr lang="zh-CN" altLang="en-US" sz="1600" b="1" dirty="0">
                  <a:solidFill>
                    <a:srgbClr val="CC00CC"/>
                  </a:solidFill>
                  <a:latin typeface="黑体" panose="02010609060101010101" pitchFamily="49" charset="-122"/>
                  <a:ea typeface="黑体" panose="02010609060101010101" pitchFamily="49" charset="-122"/>
                </a:rPr>
                <a:t>例</a:t>
              </a:r>
              <a:r>
                <a:rPr lang="en-US" altLang="zh-CN" sz="1600" b="1" dirty="0">
                  <a:solidFill>
                    <a:srgbClr val="CC00CC"/>
                  </a:solidFill>
                  <a:latin typeface="黑体" panose="02010609060101010101" pitchFamily="49" charset="-122"/>
                  <a:ea typeface="黑体" panose="02010609060101010101" pitchFamily="49" charset="-122"/>
                </a:rPr>
                <a:t>2</a:t>
              </a:r>
              <a:r>
                <a:rPr lang="zh-CN" altLang="en-US" sz="1600" b="1" dirty="0">
                  <a:solidFill>
                    <a:srgbClr val="CC00CC"/>
                  </a:solidFill>
                  <a:latin typeface="黑体" panose="02010609060101010101" pitchFamily="49" charset="-122"/>
                  <a:ea typeface="黑体" panose="02010609060101010101" pitchFamily="49" charset="-122"/>
                </a:rPr>
                <a:t>：</a:t>
              </a:r>
              <a:r>
                <a:rPr lang="zh-CN" altLang="en-US" sz="1600" b="1" dirty="0">
                  <a:solidFill>
                    <a:srgbClr val="6600FF"/>
                  </a:solidFill>
                  <a:latin typeface="黑体" panose="02010609060101010101" pitchFamily="49" charset="-122"/>
                  <a:ea typeface="黑体" panose="02010609060101010101" pitchFamily="49" charset="-122"/>
                </a:rPr>
                <a:t>分析图示同步时序逻辑电路</a:t>
              </a:r>
              <a:endParaRPr lang="zh-CN" altLang="en-US" sz="1600" b="1" dirty="0">
                <a:solidFill>
                  <a:srgbClr val="6600FF"/>
                </a:solidFill>
                <a:latin typeface="黑体" panose="02010609060101010101" pitchFamily="49" charset="-122"/>
                <a:ea typeface="黑体" panose="02010609060101010101" pitchFamily="49" charset="-122"/>
              </a:endParaRPr>
            </a:p>
          </p:txBody>
        </p:sp>
        <p:pic>
          <p:nvPicPr>
            <p:cNvPr id="48" name="Picture 4"/>
            <p:cNvPicPr>
              <a:picLocks noChangeAspect="1" noChangeArrowheads="1"/>
            </p:cNvPicPr>
            <p:nvPr/>
          </p:nvPicPr>
          <p:blipFill>
            <a:blip r:embed="rId11" cstate="print"/>
            <a:srcRect/>
            <a:stretch>
              <a:fillRect/>
            </a:stretch>
          </p:blipFill>
          <p:spPr bwMode="auto">
            <a:xfrm>
              <a:off x="369777" y="1347760"/>
              <a:ext cx="373669" cy="374630"/>
            </a:xfrm>
            <a:prstGeom prst="rect">
              <a:avLst/>
            </a:prstGeom>
            <a:noFill/>
            <a:ln w="9525">
              <a:noFill/>
              <a:miter lim="800000"/>
              <a:headEnd/>
              <a:tailEnd/>
            </a:ln>
          </p:spPr>
        </p:pic>
      </p:grpSp>
      <p:sp>
        <p:nvSpPr>
          <p:cNvPr id="29" name="圆角矩形 28"/>
          <p:cNvSpPr/>
          <p:nvPr/>
        </p:nvSpPr>
        <p:spPr>
          <a:xfrm>
            <a:off x="736955" y="2244583"/>
            <a:ext cx="1937670" cy="1784797"/>
          </a:xfrm>
          <a:prstGeom prst="roundRect">
            <a:avLst>
              <a:gd name="adj" fmla="val 0"/>
            </a:avLst>
          </a:prstGeom>
          <a:solidFill>
            <a:srgbClr val="0000FF">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圆角矩形 28"/>
          <p:cNvSpPr/>
          <p:nvPr/>
        </p:nvSpPr>
        <p:spPr>
          <a:xfrm>
            <a:off x="2754106" y="2244583"/>
            <a:ext cx="1962850" cy="1784797"/>
          </a:xfrm>
          <a:prstGeom prst="roundRect">
            <a:avLst>
              <a:gd name="adj" fmla="val 0"/>
            </a:avLst>
          </a:prstGeom>
          <a:solidFill>
            <a:srgbClr val="0000FF">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圆角矩形 28"/>
          <p:cNvSpPr/>
          <p:nvPr/>
        </p:nvSpPr>
        <p:spPr>
          <a:xfrm>
            <a:off x="1899261" y="3023591"/>
            <a:ext cx="459003" cy="934706"/>
          </a:xfrm>
          <a:prstGeom prst="roundRect">
            <a:avLst>
              <a:gd name="adj" fmla="val 0"/>
            </a:avLst>
          </a:prstGeom>
          <a:solidFill>
            <a:srgbClr val="0000FF">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 name="圆角矩形 28"/>
          <p:cNvSpPr/>
          <p:nvPr/>
        </p:nvSpPr>
        <p:spPr>
          <a:xfrm>
            <a:off x="2843822" y="3029941"/>
            <a:ext cx="459003" cy="934706"/>
          </a:xfrm>
          <a:prstGeom prst="roundRect">
            <a:avLst>
              <a:gd name="adj" fmla="val 0"/>
            </a:avLst>
          </a:prstGeom>
          <a:solidFill>
            <a:srgbClr val="0000FF">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AutoShape 40"/>
          <p:cNvSpPr>
            <a:spLocks noChangeArrowheads="1"/>
          </p:cNvSpPr>
          <p:nvPr/>
        </p:nvSpPr>
        <p:spPr bwMode="auto">
          <a:xfrm>
            <a:off x="1026407" y="3169454"/>
            <a:ext cx="879563" cy="429976"/>
          </a:xfrm>
          <a:prstGeom prst="wedgeRoundRectCallout">
            <a:avLst>
              <a:gd name="adj1" fmla="val 68317"/>
              <a:gd name="adj2" fmla="val 62853"/>
              <a:gd name="adj3" fmla="val 16667"/>
            </a:avLst>
          </a:prstGeom>
          <a:solidFill>
            <a:srgbClr val="FFFF66"/>
          </a:solidFill>
          <a:ln w="28575" algn="ctr">
            <a:solidFill>
              <a:srgbClr val="6600FF"/>
            </a:solidFill>
            <a:miter lim="800000"/>
          </a:ln>
          <a:effectLst>
            <a:outerShdw blurRad="50800" dist="38100" dir="5400000" algn="t" rotWithShape="0">
              <a:prstClr val="black">
                <a:alpha val="40000"/>
              </a:prstClr>
            </a:outerShdw>
          </a:effectLst>
        </p:spPr>
        <p:txBody>
          <a:bodyPr lIns="0" rIns="0" anchor="ctr"/>
          <a:lstStyle/>
          <a:p>
            <a:pPr marL="88900">
              <a:lnSpc>
                <a:spcPct val="150000"/>
              </a:lnSpc>
              <a:tabLst>
                <a:tab pos="1257300" algn="l"/>
                <a:tab pos="1346200" algn="l"/>
              </a:tabLst>
            </a:pPr>
            <a:r>
              <a:rPr lang="zh-CN" altLang="en-US"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进位信号</a:t>
            </a:r>
            <a:endParaRPr lang="zh-CN" altLang="en-US"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1" name="AutoShape 40"/>
          <p:cNvSpPr>
            <a:spLocks noChangeArrowheads="1"/>
          </p:cNvSpPr>
          <p:nvPr/>
        </p:nvSpPr>
        <p:spPr bwMode="auto">
          <a:xfrm>
            <a:off x="3270847" y="3130353"/>
            <a:ext cx="879563" cy="429976"/>
          </a:xfrm>
          <a:prstGeom prst="wedgeRoundRectCallout">
            <a:avLst>
              <a:gd name="adj1" fmla="val -62848"/>
              <a:gd name="adj2" fmla="val 82728"/>
              <a:gd name="adj3" fmla="val 16667"/>
            </a:avLst>
          </a:prstGeom>
          <a:solidFill>
            <a:srgbClr val="FFFF66"/>
          </a:solidFill>
          <a:ln w="28575" algn="ctr">
            <a:solidFill>
              <a:srgbClr val="6600FF"/>
            </a:solidFill>
            <a:miter lim="800000"/>
          </a:ln>
          <a:effectLst>
            <a:outerShdw blurRad="50800" dist="38100" dir="5400000" algn="t" rotWithShape="0">
              <a:prstClr val="black">
                <a:alpha val="40000"/>
              </a:prstClr>
            </a:outerShdw>
          </a:effectLst>
        </p:spPr>
        <p:txBody>
          <a:bodyPr lIns="0" rIns="0" anchor="ctr"/>
          <a:lstStyle/>
          <a:p>
            <a:pPr marL="88900">
              <a:lnSpc>
                <a:spcPct val="150000"/>
              </a:lnSpc>
              <a:tabLst>
                <a:tab pos="1257300" algn="l"/>
                <a:tab pos="1346200" algn="l"/>
              </a:tabLst>
            </a:pPr>
            <a:r>
              <a:rPr lang="zh-CN" altLang="en-US"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借位信号</a:t>
            </a:r>
            <a:endParaRPr lang="zh-CN" altLang="en-US"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53" name="直接箭头连接符 52"/>
          <p:cNvCxnSpPr/>
          <p:nvPr/>
        </p:nvCxnSpPr>
        <p:spPr>
          <a:xfrm flipV="1">
            <a:off x="2070633" y="3828757"/>
            <a:ext cx="274320" cy="129540"/>
          </a:xfrm>
          <a:prstGeom prst="straightConnector1">
            <a:avLst/>
          </a:prstGeom>
          <a:ln w="28575">
            <a:solidFill>
              <a:srgbClr val="6600FF"/>
            </a:solidFill>
            <a:tailEnd type="arrow"/>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stCxn id="49" idx="2"/>
          </p:cNvCxnSpPr>
          <p:nvPr/>
        </p:nvCxnSpPr>
        <p:spPr>
          <a:xfrm flipH="1" flipV="1">
            <a:off x="2842704" y="3835353"/>
            <a:ext cx="230620" cy="129294"/>
          </a:xfrm>
          <a:prstGeom prst="straightConnector1">
            <a:avLst/>
          </a:prstGeom>
          <a:ln w="28575">
            <a:solidFill>
              <a:srgbClr val="6600FF"/>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p14:prism dir="u"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4453"/>
                                        </p:tgtEl>
                                        <p:attrNameLst>
                                          <p:attrName>style.visibility</p:attrName>
                                        </p:attrNameLst>
                                      </p:cBhvr>
                                      <p:to>
                                        <p:strVal val="visible"/>
                                      </p:to>
                                    </p:set>
                                    <p:animEffect transition="in" filter="fade">
                                      <p:cBhvr>
                                        <p:cTn id="12" dur="1000"/>
                                        <p:tgtEl>
                                          <p:spTgt spid="104453"/>
                                        </p:tgtEl>
                                      </p:cBhvr>
                                    </p:animEffect>
                                    <p:anim calcmode="lin" valueType="num">
                                      <p:cBhvr>
                                        <p:cTn id="13" dur="1000" fill="hold"/>
                                        <p:tgtEl>
                                          <p:spTgt spid="104453"/>
                                        </p:tgtEl>
                                        <p:attrNameLst>
                                          <p:attrName>ppt_x</p:attrName>
                                        </p:attrNameLst>
                                      </p:cBhvr>
                                      <p:tavLst>
                                        <p:tav tm="0">
                                          <p:val>
                                            <p:strVal val="#ppt_x"/>
                                          </p:val>
                                        </p:tav>
                                        <p:tav tm="100000">
                                          <p:val>
                                            <p:strVal val="#ppt_x"/>
                                          </p:val>
                                        </p:tav>
                                      </p:tavLst>
                                    </p:anim>
                                    <p:anim calcmode="lin" valueType="num">
                                      <p:cBhvr>
                                        <p:cTn id="14" dur="1000" fill="hold"/>
                                        <p:tgtEl>
                                          <p:spTgt spid="10445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wipe(up)">
                                      <p:cBhvr>
                                        <p:cTn id="19" dur="1000"/>
                                        <p:tgtEl>
                                          <p:spTgt spid="52"/>
                                        </p:tgtEl>
                                      </p:cBhvr>
                                    </p:animEffect>
                                  </p:childTnLst>
                                </p:cTn>
                              </p:par>
                            </p:childTnLst>
                          </p:cTn>
                        </p:par>
                        <p:par>
                          <p:cTn id="20" fill="hold">
                            <p:stCondLst>
                              <p:cond delay="1000"/>
                            </p:stCondLst>
                            <p:childTnLst>
                              <p:par>
                                <p:cTn id="21" presetID="22" presetClass="entr" presetSubtype="8"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10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left)">
                                      <p:cBhvr>
                                        <p:cTn id="28" dur="1000"/>
                                        <p:tgtEl>
                                          <p:spTgt spid="29"/>
                                        </p:tgtEl>
                                      </p:cBhvr>
                                    </p:animEffec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wipe(left)">
                                      <p:cBhvr>
                                        <p:cTn id="33" dur="1000"/>
                                        <p:tgtEl>
                                          <p:spTgt spid="30"/>
                                        </p:tgtEl>
                                      </p:cBhvr>
                                    </p:animEffec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wipe(left)">
                                      <p:cBhvr>
                                        <p:cTn id="38" dur="1000"/>
                                        <p:tgtEl>
                                          <p:spTgt spid="31"/>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wipe(left)">
                                      <p:cBhvr>
                                        <p:cTn id="42" dur="1000"/>
                                        <p:tgtEl>
                                          <p:spTgt spid="49"/>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fade">
                                      <p:cBhvr>
                                        <p:cTn id="47" dur="1000"/>
                                        <p:tgtEl>
                                          <p:spTgt spid="56"/>
                                        </p:tgtEl>
                                      </p:cBhvr>
                                    </p:animEffect>
                                    <p:anim calcmode="lin" valueType="num">
                                      <p:cBhvr>
                                        <p:cTn id="48" dur="1000" fill="hold"/>
                                        <p:tgtEl>
                                          <p:spTgt spid="56"/>
                                        </p:tgtEl>
                                        <p:attrNameLst>
                                          <p:attrName>ppt_x</p:attrName>
                                        </p:attrNameLst>
                                      </p:cBhvr>
                                      <p:tavLst>
                                        <p:tav tm="0">
                                          <p:val>
                                            <p:strVal val="#ppt_x"/>
                                          </p:val>
                                        </p:tav>
                                        <p:tav tm="100000">
                                          <p:val>
                                            <p:strVal val="#ppt_x"/>
                                          </p:val>
                                        </p:tav>
                                      </p:tavLst>
                                    </p:anim>
                                    <p:anim calcmode="lin" valueType="num">
                                      <p:cBhvr>
                                        <p:cTn id="49" dur="1000" fill="hold"/>
                                        <p:tgtEl>
                                          <p:spTgt spid="56"/>
                                        </p:tgtEl>
                                        <p:attrNameLst>
                                          <p:attrName>ppt_y</p:attrName>
                                        </p:attrNameLst>
                                      </p:cBhvr>
                                      <p:tavLst>
                                        <p:tav tm="0">
                                          <p:val>
                                            <p:strVal val="#ppt_y+.1"/>
                                          </p:val>
                                        </p:tav>
                                        <p:tav tm="100000">
                                          <p:val>
                                            <p:strVal val="#ppt_y"/>
                                          </p:val>
                                        </p:tav>
                                      </p:tavLst>
                                    </p:anim>
                                  </p:childTnLst>
                                </p:cTn>
                              </p:par>
                            </p:childTnLst>
                          </p:cTn>
                        </p:par>
                        <p:par>
                          <p:cTn id="50" fill="hold">
                            <p:stCondLst>
                              <p:cond delay="1000"/>
                            </p:stCondLst>
                            <p:childTnLst>
                              <p:par>
                                <p:cTn id="51" presetID="22" presetClass="entr" presetSubtype="4" fill="hold" grpId="0" nodeType="after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wipe(down)">
                                      <p:cBhvr>
                                        <p:cTn id="53" dur="1000"/>
                                        <p:tgtEl>
                                          <p:spTgt spid="50"/>
                                        </p:tgtEl>
                                      </p:cBhvr>
                                    </p:animEffect>
                                  </p:childTnLst>
                                </p:cTn>
                              </p:par>
                            </p:childTnLst>
                          </p:cTn>
                        </p:par>
                        <p:par>
                          <p:cTn id="54" fill="hold">
                            <p:stCondLst>
                              <p:cond delay="2000"/>
                            </p:stCondLst>
                            <p:childTnLst>
                              <p:par>
                                <p:cTn id="55" presetID="42" presetClass="entr" presetSubtype="0" fill="hold" nodeType="after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fade">
                                      <p:cBhvr>
                                        <p:cTn id="57" dur="1000"/>
                                        <p:tgtEl>
                                          <p:spTgt spid="53"/>
                                        </p:tgtEl>
                                      </p:cBhvr>
                                    </p:animEffect>
                                    <p:anim calcmode="lin" valueType="num">
                                      <p:cBhvr>
                                        <p:cTn id="58" dur="1000" fill="hold"/>
                                        <p:tgtEl>
                                          <p:spTgt spid="53"/>
                                        </p:tgtEl>
                                        <p:attrNameLst>
                                          <p:attrName>ppt_x</p:attrName>
                                        </p:attrNameLst>
                                      </p:cBhvr>
                                      <p:tavLst>
                                        <p:tav tm="0">
                                          <p:val>
                                            <p:strVal val="#ppt_x"/>
                                          </p:val>
                                        </p:tav>
                                        <p:tav tm="100000">
                                          <p:val>
                                            <p:strVal val="#ppt_x"/>
                                          </p:val>
                                        </p:tav>
                                      </p:tavLst>
                                    </p:anim>
                                    <p:anim calcmode="lin" valueType="num">
                                      <p:cBhvr>
                                        <p:cTn id="59" dur="1000" fill="hold"/>
                                        <p:tgtEl>
                                          <p:spTgt spid="53"/>
                                        </p:tgtEl>
                                        <p:attrNameLst>
                                          <p:attrName>ppt_y</p:attrName>
                                        </p:attrNameLst>
                                      </p:cBhvr>
                                      <p:tavLst>
                                        <p:tav tm="0">
                                          <p:val>
                                            <p:strVal val="#ppt_y+.1"/>
                                          </p:val>
                                        </p:tav>
                                        <p:tav tm="100000">
                                          <p:val>
                                            <p:strVal val="#ppt_y"/>
                                          </p:val>
                                        </p:tav>
                                      </p:tavLst>
                                    </p:anim>
                                  </p:childTnLst>
                                </p:cTn>
                              </p:par>
                            </p:childTnLst>
                          </p:cTn>
                        </p:par>
                        <p:par>
                          <p:cTn id="60" fill="hold">
                            <p:stCondLst>
                              <p:cond delay="3000"/>
                            </p:stCondLst>
                            <p:childTnLst>
                              <p:par>
                                <p:cTn id="61" presetID="22" presetClass="entr" presetSubtype="4" fill="hold" grpId="0" nodeType="afterEffect">
                                  <p:stCondLst>
                                    <p:cond delay="0"/>
                                  </p:stCondLst>
                                  <p:childTnLst>
                                    <p:set>
                                      <p:cBhvr>
                                        <p:cTn id="62" dur="1" fill="hold">
                                          <p:stCondLst>
                                            <p:cond delay="0"/>
                                          </p:stCondLst>
                                        </p:cTn>
                                        <p:tgtEl>
                                          <p:spTgt spid="51"/>
                                        </p:tgtEl>
                                        <p:attrNameLst>
                                          <p:attrName>style.visibility</p:attrName>
                                        </p:attrNameLst>
                                      </p:cBhvr>
                                      <p:to>
                                        <p:strVal val="visible"/>
                                      </p:to>
                                    </p:set>
                                    <p:animEffect transition="in" filter="wipe(down)">
                                      <p:cBhvr>
                                        <p:cTn id="63" dur="1000"/>
                                        <p:tgtEl>
                                          <p:spTgt spid="51"/>
                                        </p:tgtEl>
                                      </p:cBhvr>
                                    </p:animEffect>
                                  </p:childTnLst>
                                </p:cTn>
                              </p:par>
                            </p:childTnLst>
                          </p:cTn>
                        </p:par>
                        <p:par>
                          <p:cTn id="64" fill="hold">
                            <p:stCondLst>
                              <p:cond delay="4000"/>
                            </p:stCondLst>
                            <p:childTnLst>
                              <p:par>
                                <p:cTn id="65" presetID="42" presetClass="entr" presetSubtype="0" fill="hold" nodeType="afterEffect">
                                  <p:stCondLst>
                                    <p:cond delay="0"/>
                                  </p:stCondLst>
                                  <p:childTnLst>
                                    <p:set>
                                      <p:cBhvr>
                                        <p:cTn id="66" dur="1" fill="hold">
                                          <p:stCondLst>
                                            <p:cond delay="0"/>
                                          </p:stCondLst>
                                        </p:cTn>
                                        <p:tgtEl>
                                          <p:spTgt spid="54"/>
                                        </p:tgtEl>
                                        <p:attrNameLst>
                                          <p:attrName>style.visibility</p:attrName>
                                        </p:attrNameLst>
                                      </p:cBhvr>
                                      <p:to>
                                        <p:strVal val="visible"/>
                                      </p:to>
                                    </p:set>
                                    <p:animEffect transition="in" filter="fade">
                                      <p:cBhvr>
                                        <p:cTn id="67" dur="1000"/>
                                        <p:tgtEl>
                                          <p:spTgt spid="54"/>
                                        </p:tgtEl>
                                      </p:cBhvr>
                                    </p:animEffect>
                                    <p:anim calcmode="lin" valueType="num">
                                      <p:cBhvr>
                                        <p:cTn id="68" dur="1000" fill="hold"/>
                                        <p:tgtEl>
                                          <p:spTgt spid="54"/>
                                        </p:tgtEl>
                                        <p:attrNameLst>
                                          <p:attrName>ppt_x</p:attrName>
                                        </p:attrNameLst>
                                      </p:cBhvr>
                                      <p:tavLst>
                                        <p:tav tm="0">
                                          <p:val>
                                            <p:strVal val="#ppt_x"/>
                                          </p:val>
                                        </p:tav>
                                        <p:tav tm="100000">
                                          <p:val>
                                            <p:strVal val="#ppt_x"/>
                                          </p:val>
                                        </p:tav>
                                      </p:tavLst>
                                    </p:anim>
                                    <p:anim calcmode="lin" valueType="num">
                                      <p:cBhvr>
                                        <p:cTn id="69"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29" grpId="0" animBg="1"/>
      <p:bldP spid="30" grpId="0" animBg="1"/>
      <p:bldP spid="31" grpId="0" animBg="1"/>
      <p:bldP spid="49" grpId="0" animBg="1"/>
      <p:bldP spid="50" grpId="0" animBg="1"/>
      <p:bldP spid="5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67"/>
          <p:cNvGrpSpPr/>
          <p:nvPr/>
        </p:nvGrpSpPr>
        <p:grpSpPr>
          <a:xfrm>
            <a:off x="392432" y="778617"/>
            <a:ext cx="3388258" cy="411055"/>
            <a:chOff x="670560" y="892917"/>
            <a:chExt cx="3388258" cy="411055"/>
          </a:xfrm>
        </p:grpSpPr>
        <p:sp>
          <p:nvSpPr>
            <p:cNvPr id="3" name="矩形 2"/>
            <p:cNvSpPr/>
            <p:nvPr/>
          </p:nvSpPr>
          <p:spPr>
            <a:xfrm>
              <a:off x="1035233" y="913778"/>
              <a:ext cx="3023585" cy="369332"/>
            </a:xfrm>
            <a:prstGeom prst="rect">
              <a:avLst/>
            </a:prstGeom>
          </p:spPr>
          <p:txBody>
            <a:bodyPr wrap="none">
              <a:spAutoFit/>
            </a:bodyPr>
            <a:lstStyle/>
            <a:p>
              <a:r>
                <a:rPr lang="zh-CN" altLang="en-US" b="1" dirty="0">
                  <a:solidFill>
                    <a:srgbClr val="002060"/>
                  </a:solidFill>
                  <a:latin typeface="微软雅黑" panose="020B0503020204020204" pitchFamily="34" charset="-122"/>
                  <a:ea typeface="微软雅黑" panose="020B0503020204020204" pitchFamily="34" charset="-122"/>
                </a:rPr>
                <a:t>同步时序逻辑电路分析实例 </a:t>
              </a:r>
              <a:endParaRPr lang="zh-CN" altLang="en-US"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5" name="组合 77"/>
          <p:cNvGrpSpPr/>
          <p:nvPr/>
        </p:nvGrpSpPr>
        <p:grpSpPr>
          <a:xfrm>
            <a:off x="400513" y="1331276"/>
            <a:ext cx="3537818" cy="374630"/>
            <a:chOff x="369777" y="1347760"/>
            <a:chExt cx="3537818" cy="374630"/>
          </a:xfrm>
        </p:grpSpPr>
        <p:sp>
          <p:nvSpPr>
            <p:cNvPr id="6" name="TextBox 5"/>
            <p:cNvSpPr txBox="1"/>
            <p:nvPr/>
          </p:nvSpPr>
          <p:spPr>
            <a:xfrm>
              <a:off x="723710" y="1350409"/>
              <a:ext cx="3183885" cy="338554"/>
            </a:xfrm>
            <a:prstGeom prst="rect">
              <a:avLst/>
            </a:prstGeom>
            <a:noFill/>
          </p:spPr>
          <p:txBody>
            <a:bodyPr wrap="none" rtlCol="0">
              <a:spAutoFit/>
            </a:bodyPr>
            <a:lstStyle/>
            <a:p>
              <a:r>
                <a:rPr lang="zh-CN" altLang="en-US" sz="1600" b="1" dirty="0">
                  <a:solidFill>
                    <a:srgbClr val="CC00CC"/>
                  </a:solidFill>
                  <a:latin typeface="黑体" panose="02010609060101010101" pitchFamily="49" charset="-122"/>
                  <a:ea typeface="黑体" panose="02010609060101010101" pitchFamily="49" charset="-122"/>
                </a:rPr>
                <a:t>例</a:t>
              </a:r>
              <a:r>
                <a:rPr lang="en-US" altLang="zh-CN" sz="1600" b="1" dirty="0">
                  <a:solidFill>
                    <a:srgbClr val="CC00CC"/>
                  </a:solidFill>
                  <a:latin typeface="黑体" panose="02010609060101010101" pitchFamily="49" charset="-122"/>
                  <a:ea typeface="黑体" panose="02010609060101010101" pitchFamily="49" charset="-122"/>
                </a:rPr>
                <a:t>3</a:t>
              </a:r>
              <a:r>
                <a:rPr lang="zh-CN" altLang="en-US" sz="1600" b="1" dirty="0">
                  <a:solidFill>
                    <a:srgbClr val="CC00CC"/>
                  </a:solidFill>
                  <a:latin typeface="黑体" panose="02010609060101010101" pitchFamily="49" charset="-122"/>
                  <a:ea typeface="黑体" panose="02010609060101010101" pitchFamily="49" charset="-122"/>
                </a:rPr>
                <a:t>：</a:t>
              </a:r>
              <a:r>
                <a:rPr lang="zh-CN" altLang="en-US" sz="1600" b="1" dirty="0">
                  <a:solidFill>
                    <a:srgbClr val="6600FF"/>
                  </a:solidFill>
                  <a:latin typeface="黑体" panose="02010609060101010101" pitchFamily="49" charset="-122"/>
                  <a:ea typeface="黑体" panose="02010609060101010101" pitchFamily="49" charset="-122"/>
                </a:rPr>
                <a:t>分析图示同步时序逻辑电路</a:t>
              </a:r>
              <a:endParaRPr lang="zh-CN" altLang="en-US" sz="1600" b="1" dirty="0">
                <a:solidFill>
                  <a:srgbClr val="6600FF"/>
                </a:solidFill>
                <a:latin typeface="黑体" panose="02010609060101010101" pitchFamily="49" charset="-122"/>
                <a:ea typeface="黑体" panose="02010609060101010101" pitchFamily="49" charset="-122"/>
              </a:endParaRPr>
            </a:p>
          </p:txBody>
        </p:sp>
        <p:pic>
          <p:nvPicPr>
            <p:cNvPr id="7"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25" name="组合 24"/>
          <p:cNvGrpSpPr/>
          <p:nvPr/>
        </p:nvGrpSpPr>
        <p:grpSpPr>
          <a:xfrm>
            <a:off x="3235859" y="2356205"/>
            <a:ext cx="1350247" cy="338554"/>
            <a:chOff x="4731375" y="1650857"/>
            <a:chExt cx="1350247" cy="338554"/>
          </a:xfrm>
        </p:grpSpPr>
        <p:sp>
          <p:nvSpPr>
            <p:cNvPr id="26" name="矩形 25"/>
            <p:cNvSpPr/>
            <p:nvPr/>
          </p:nvSpPr>
          <p:spPr>
            <a:xfrm>
              <a:off x="5076219" y="1650857"/>
              <a:ext cx="1005403"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列状态表</a:t>
              </a:r>
              <a:endParaRPr lang="zh-CN" altLang="en-US" sz="1600" dirty="0">
                <a:latin typeface="黑体" panose="02010609060101010101" pitchFamily="49" charset="-122"/>
                <a:ea typeface="黑体" panose="02010609060101010101" pitchFamily="49" charset="-122"/>
              </a:endParaRPr>
            </a:p>
          </p:txBody>
        </p:sp>
        <p:pic>
          <p:nvPicPr>
            <p:cNvPr id="27" name="Picture 5"/>
            <p:cNvPicPr>
              <a:picLocks noChangeAspect="1" noChangeArrowheads="1"/>
            </p:cNvPicPr>
            <p:nvPr/>
          </p:nvPicPr>
          <p:blipFill>
            <a:blip r:embed="rId3" cstate="print"/>
            <a:srcRect/>
            <a:stretch>
              <a:fillRect/>
            </a:stretch>
          </p:blipFill>
          <p:spPr bwMode="auto">
            <a:xfrm>
              <a:off x="4731375" y="1677030"/>
              <a:ext cx="360000" cy="286209"/>
            </a:xfrm>
            <a:prstGeom prst="rect">
              <a:avLst/>
            </a:prstGeom>
            <a:noFill/>
            <a:ln w="9525">
              <a:noFill/>
              <a:miter lim="800000"/>
              <a:headEnd/>
              <a:tailEnd/>
            </a:ln>
          </p:spPr>
        </p:pic>
      </p:grpSp>
      <p:grpSp>
        <p:nvGrpSpPr>
          <p:cNvPr id="36" name="组合 25"/>
          <p:cNvGrpSpPr/>
          <p:nvPr/>
        </p:nvGrpSpPr>
        <p:grpSpPr>
          <a:xfrm>
            <a:off x="6034395" y="2382377"/>
            <a:ext cx="1760616" cy="338554"/>
            <a:chOff x="4731375" y="1650857"/>
            <a:chExt cx="1760616" cy="338554"/>
          </a:xfrm>
        </p:grpSpPr>
        <p:sp>
          <p:nvSpPr>
            <p:cNvPr id="37" name="矩形 36"/>
            <p:cNvSpPr/>
            <p:nvPr/>
          </p:nvSpPr>
          <p:spPr>
            <a:xfrm>
              <a:off x="5076219" y="1650857"/>
              <a:ext cx="1415772"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画状态转换图</a:t>
              </a:r>
              <a:endParaRPr lang="zh-CN" altLang="en-US" sz="1600" dirty="0"/>
            </a:p>
          </p:txBody>
        </p:sp>
        <p:pic>
          <p:nvPicPr>
            <p:cNvPr id="38" name="Picture 5"/>
            <p:cNvPicPr>
              <a:picLocks noChangeAspect="1" noChangeArrowheads="1"/>
            </p:cNvPicPr>
            <p:nvPr/>
          </p:nvPicPr>
          <p:blipFill>
            <a:blip r:embed="rId3" cstate="print"/>
            <a:srcRect/>
            <a:stretch>
              <a:fillRect/>
            </a:stretch>
          </p:blipFill>
          <p:spPr bwMode="auto">
            <a:xfrm>
              <a:off x="4731375" y="1677030"/>
              <a:ext cx="360000" cy="286209"/>
            </a:xfrm>
            <a:prstGeom prst="rect">
              <a:avLst/>
            </a:prstGeom>
            <a:noFill/>
            <a:ln w="9525">
              <a:noFill/>
              <a:miter lim="800000"/>
              <a:headEnd/>
              <a:tailEnd/>
            </a:ln>
          </p:spPr>
        </p:pic>
      </p:grpSp>
      <p:pic>
        <p:nvPicPr>
          <p:cNvPr id="14" name="图片 13"/>
          <p:cNvPicPr>
            <a:picLocks noChangeAspect="1"/>
          </p:cNvPicPr>
          <p:nvPr/>
        </p:nvPicPr>
        <p:blipFill>
          <a:blip r:embed="rId4"/>
          <a:stretch>
            <a:fillRect/>
          </a:stretch>
        </p:blipFill>
        <p:spPr>
          <a:xfrm>
            <a:off x="4651358" y="772963"/>
            <a:ext cx="4289114" cy="1418175"/>
          </a:xfrm>
          <a:prstGeom prst="rect">
            <a:avLst/>
          </a:prstGeom>
        </p:spPr>
      </p:pic>
      <p:grpSp>
        <p:nvGrpSpPr>
          <p:cNvPr id="60" name="组合 59"/>
          <p:cNvGrpSpPr/>
          <p:nvPr/>
        </p:nvGrpSpPr>
        <p:grpSpPr>
          <a:xfrm>
            <a:off x="403215" y="1788017"/>
            <a:ext cx="2389760" cy="1459857"/>
            <a:chOff x="403215" y="1788017"/>
            <a:chExt cx="2389760" cy="1459857"/>
          </a:xfrm>
        </p:grpSpPr>
        <p:grpSp>
          <p:nvGrpSpPr>
            <p:cNvPr id="11" name="组合 10"/>
            <p:cNvGrpSpPr/>
            <p:nvPr/>
          </p:nvGrpSpPr>
          <p:grpSpPr>
            <a:xfrm>
              <a:off x="403215" y="1788017"/>
              <a:ext cx="1760616" cy="338554"/>
              <a:chOff x="4731375" y="1650857"/>
              <a:chExt cx="1760616" cy="338554"/>
            </a:xfrm>
          </p:grpSpPr>
          <p:sp>
            <p:nvSpPr>
              <p:cNvPr id="12" name="矩形 11"/>
              <p:cNvSpPr/>
              <p:nvPr/>
            </p:nvSpPr>
            <p:spPr>
              <a:xfrm>
                <a:off x="5076219" y="1650857"/>
                <a:ext cx="1415772"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写逻辑方程组</a:t>
                </a:r>
                <a:endParaRPr lang="zh-CN" altLang="en-US" sz="1600" dirty="0"/>
              </a:p>
            </p:txBody>
          </p:sp>
          <p:pic>
            <p:nvPicPr>
              <p:cNvPr id="13" name="Picture 5"/>
              <p:cNvPicPr>
                <a:picLocks noChangeAspect="1" noChangeArrowheads="1"/>
              </p:cNvPicPr>
              <p:nvPr/>
            </p:nvPicPr>
            <p:blipFill>
              <a:blip r:embed="rId3" cstate="print"/>
              <a:srcRect/>
              <a:stretch>
                <a:fillRect/>
              </a:stretch>
            </p:blipFill>
            <p:spPr bwMode="auto">
              <a:xfrm>
                <a:off x="4731375" y="1677030"/>
                <a:ext cx="360000" cy="286209"/>
              </a:xfrm>
              <a:prstGeom prst="rect">
                <a:avLst/>
              </a:prstGeom>
              <a:noFill/>
              <a:ln w="9525">
                <a:noFill/>
                <a:miter lim="800000"/>
                <a:headEnd/>
                <a:tailEnd/>
              </a:ln>
            </p:spPr>
          </p:pic>
        </p:grpSp>
        <p:sp>
          <p:nvSpPr>
            <p:cNvPr id="51" name="Rectangle 13"/>
            <p:cNvSpPr>
              <a:spLocks noChangeArrowheads="1"/>
            </p:cNvSpPr>
            <p:nvPr/>
          </p:nvSpPr>
          <p:spPr bwMode="auto">
            <a:xfrm>
              <a:off x="449131" y="2241474"/>
              <a:ext cx="1176977" cy="307777"/>
            </a:xfrm>
            <a:prstGeom prst="rect">
              <a:avLst/>
            </a:prstGeom>
            <a:noFill/>
            <a:ln w="9525" algn="ctr">
              <a:noFill/>
              <a:miter lim="800000"/>
            </a:ln>
          </p:spPr>
          <p:txBody>
            <a:bodyPr wrap="square" lIns="0" rIns="0">
              <a:spAutoFit/>
            </a:bodyPr>
            <a:lstStyle/>
            <a:p>
              <a:r>
                <a:rPr kumimoji="1" lang="zh-CN" altLang="en-US" sz="1400" dirty="0">
                  <a:solidFill>
                    <a:srgbClr val="CC00CC"/>
                  </a:solidFill>
                  <a:latin typeface="微软雅黑" panose="020B0503020204020204" pitchFamily="34" charset="-122"/>
                  <a:ea typeface="微软雅黑" panose="020B0503020204020204" pitchFamily="34" charset="-122"/>
                </a:rPr>
                <a:t>激励方程</a:t>
              </a:r>
              <a:r>
                <a:rPr kumimoji="1" lang="en-US" altLang="zh-CN" sz="1400" dirty="0">
                  <a:solidFill>
                    <a:srgbClr val="CC00CC"/>
                  </a:solidFill>
                  <a:latin typeface="微软雅黑" panose="020B0503020204020204" pitchFamily="34" charset="-122"/>
                  <a:ea typeface="微软雅黑" panose="020B0503020204020204" pitchFamily="34" charset="-122"/>
                </a:rPr>
                <a:t>:</a:t>
              </a:r>
              <a:endParaRPr kumimoji="1" lang="zh-CN" altLang="en-US" sz="1400" dirty="0">
                <a:solidFill>
                  <a:srgbClr val="CC00CC"/>
                </a:solidFill>
                <a:latin typeface="微软雅黑" panose="020B0503020204020204" pitchFamily="34" charset="-122"/>
                <a:ea typeface="微软雅黑" panose="020B0503020204020204" pitchFamily="34" charset="-122"/>
              </a:endParaRPr>
            </a:p>
          </p:txBody>
        </p:sp>
        <p:graphicFrame>
          <p:nvGraphicFramePr>
            <p:cNvPr id="15" name="对象 14"/>
            <p:cNvGraphicFramePr>
              <a:graphicFrameLocks noChangeAspect="1"/>
            </p:cNvGraphicFramePr>
            <p:nvPr/>
          </p:nvGraphicFramePr>
          <p:xfrm>
            <a:off x="510440" y="2582102"/>
            <a:ext cx="1069242" cy="323587"/>
          </p:xfrm>
          <a:graphic>
            <a:graphicData uri="http://schemas.openxmlformats.org/presentationml/2006/ole">
              <mc:AlternateContent xmlns:mc="http://schemas.openxmlformats.org/markup-compatibility/2006">
                <mc:Choice xmlns:v="urn:schemas-microsoft-com:vml" Requires="v">
                  <p:oleObj spid="_x0000_s7247" name="公式" r:id="rId5" imgW="723265" imgH="215900" progId="Equation.3">
                    <p:embed/>
                  </p:oleObj>
                </mc:Choice>
                <mc:Fallback>
                  <p:oleObj name="公式" r:id="rId5" imgW="723265" imgH="215900" progId="Equation.3">
                    <p:embed/>
                    <p:pic>
                      <p:nvPicPr>
                        <p:cNvPr id="0" name="对象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440" y="2582102"/>
                          <a:ext cx="1069242" cy="323587"/>
                        </a:xfrm>
                        <a:prstGeom prst="rect">
                          <a:avLst/>
                        </a:prstGeom>
                        <a:noFill/>
                      </p:spPr>
                    </p:pic>
                  </p:oleObj>
                </mc:Fallback>
              </mc:AlternateContent>
            </a:graphicData>
          </a:graphic>
        </p:graphicFrame>
        <p:graphicFrame>
          <p:nvGraphicFramePr>
            <p:cNvPr id="16" name="对象 15"/>
            <p:cNvGraphicFramePr>
              <a:graphicFrameLocks noChangeAspect="1"/>
            </p:cNvGraphicFramePr>
            <p:nvPr/>
          </p:nvGraphicFramePr>
          <p:xfrm>
            <a:off x="1675994" y="2575843"/>
            <a:ext cx="1012967" cy="323587"/>
          </p:xfrm>
          <a:graphic>
            <a:graphicData uri="http://schemas.openxmlformats.org/presentationml/2006/ole">
              <mc:AlternateContent xmlns:mc="http://schemas.openxmlformats.org/markup-compatibility/2006">
                <mc:Choice xmlns:v="urn:schemas-microsoft-com:vml" Requires="v">
                  <p:oleObj spid="_x0000_s7248" name="公式" r:id="rId7" imgW="685165" imgH="215900" progId="Equation.3">
                    <p:embed/>
                  </p:oleObj>
                </mc:Choice>
                <mc:Fallback>
                  <p:oleObj name="公式" r:id="rId7" imgW="685165" imgH="215900" progId="Equation.3">
                    <p:embed/>
                    <p:pic>
                      <p:nvPicPr>
                        <p:cNvPr id="0" name="对象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5994" y="2575843"/>
                          <a:ext cx="1012967" cy="323587"/>
                        </a:xfrm>
                        <a:prstGeom prst="rect">
                          <a:avLst/>
                        </a:prstGeom>
                        <a:noFill/>
                      </p:spPr>
                    </p:pic>
                  </p:oleObj>
                </mc:Fallback>
              </mc:AlternateContent>
            </a:graphicData>
          </a:graphic>
        </p:graphicFrame>
        <p:graphicFrame>
          <p:nvGraphicFramePr>
            <p:cNvPr id="17" name="对象 16"/>
            <p:cNvGraphicFramePr>
              <a:graphicFrameLocks noChangeAspect="1"/>
            </p:cNvGraphicFramePr>
            <p:nvPr/>
          </p:nvGraphicFramePr>
          <p:xfrm>
            <a:off x="510440" y="2932427"/>
            <a:ext cx="872277" cy="309518"/>
          </p:xfrm>
          <a:graphic>
            <a:graphicData uri="http://schemas.openxmlformats.org/presentationml/2006/ole">
              <mc:AlternateContent xmlns:mc="http://schemas.openxmlformats.org/markup-compatibility/2006">
                <mc:Choice xmlns:v="urn:schemas-microsoft-com:vml" Requires="v">
                  <p:oleObj spid="_x0000_s7249" name="公式" r:id="rId9" imgW="583565" imgH="215900" progId="Equation.3">
                    <p:embed/>
                  </p:oleObj>
                </mc:Choice>
                <mc:Fallback>
                  <p:oleObj name="公式" r:id="rId9" imgW="583565" imgH="215900" progId="Equation.3">
                    <p:embed/>
                    <p:pic>
                      <p:nvPicPr>
                        <p:cNvPr id="0" name="对象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0440" y="2932427"/>
                          <a:ext cx="872277" cy="309518"/>
                        </a:xfrm>
                        <a:prstGeom prst="rect">
                          <a:avLst/>
                        </a:prstGeom>
                        <a:noFill/>
                      </p:spPr>
                    </p:pic>
                  </p:oleObj>
                </mc:Fallback>
              </mc:AlternateContent>
            </a:graphicData>
          </a:graphic>
        </p:graphicFrame>
        <p:graphicFrame>
          <p:nvGraphicFramePr>
            <p:cNvPr id="18" name="对象 17"/>
            <p:cNvGraphicFramePr>
              <a:graphicFrameLocks noChangeAspect="1"/>
            </p:cNvGraphicFramePr>
            <p:nvPr/>
          </p:nvGraphicFramePr>
          <p:xfrm>
            <a:off x="1679897" y="2924287"/>
            <a:ext cx="675311" cy="323587"/>
          </p:xfrm>
          <a:graphic>
            <a:graphicData uri="http://schemas.openxmlformats.org/presentationml/2006/ole">
              <mc:AlternateContent xmlns:mc="http://schemas.openxmlformats.org/markup-compatibility/2006">
                <mc:Choice xmlns:v="urn:schemas-microsoft-com:vml" Requires="v">
                  <p:oleObj spid="_x0000_s7250" name="公式" r:id="rId11" imgW="456565" imgH="215900" progId="Equation.3">
                    <p:embed/>
                  </p:oleObj>
                </mc:Choice>
                <mc:Fallback>
                  <p:oleObj name="公式" r:id="rId11" imgW="456565" imgH="215900" progId="Equation.3">
                    <p:embed/>
                    <p:pic>
                      <p:nvPicPr>
                        <p:cNvPr id="0" name="对象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79897" y="2924287"/>
                          <a:ext cx="675311" cy="323587"/>
                        </a:xfrm>
                        <a:prstGeom prst="rect">
                          <a:avLst/>
                        </a:prstGeom>
                        <a:noFill/>
                      </p:spPr>
                    </p:pic>
                  </p:oleObj>
                </mc:Fallback>
              </mc:AlternateContent>
            </a:graphicData>
          </a:graphic>
        </p:graphicFrame>
        <p:sp>
          <p:nvSpPr>
            <p:cNvPr id="21" name="Rectangle 194"/>
            <p:cNvSpPr>
              <a:spLocks noChangeArrowheads="1"/>
            </p:cNvSpPr>
            <p:nvPr/>
          </p:nvSpPr>
          <p:spPr bwMode="auto">
            <a:xfrm>
              <a:off x="2040846" y="2318738"/>
              <a:ext cx="75212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53340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grpSp>
      <p:grpSp>
        <p:nvGrpSpPr>
          <p:cNvPr id="61" name="组合 60"/>
          <p:cNvGrpSpPr/>
          <p:nvPr/>
        </p:nvGrpSpPr>
        <p:grpSpPr>
          <a:xfrm>
            <a:off x="449131" y="3404448"/>
            <a:ext cx="1750604" cy="1387290"/>
            <a:chOff x="449131" y="3404448"/>
            <a:chExt cx="1750604" cy="1387290"/>
          </a:xfrm>
        </p:grpSpPr>
        <p:sp>
          <p:nvSpPr>
            <p:cNvPr id="53" name="Rectangle 13"/>
            <p:cNvSpPr>
              <a:spLocks noChangeArrowheads="1"/>
            </p:cNvSpPr>
            <p:nvPr/>
          </p:nvSpPr>
          <p:spPr bwMode="auto">
            <a:xfrm>
              <a:off x="449131" y="3404448"/>
              <a:ext cx="1176977" cy="307777"/>
            </a:xfrm>
            <a:prstGeom prst="rect">
              <a:avLst/>
            </a:prstGeom>
            <a:noFill/>
            <a:ln w="9525" algn="ctr">
              <a:noFill/>
              <a:miter lim="800000"/>
            </a:ln>
          </p:spPr>
          <p:txBody>
            <a:bodyPr wrap="square" lIns="0" rIns="0">
              <a:spAutoFit/>
            </a:bodyPr>
            <a:lstStyle/>
            <a:p>
              <a:r>
                <a:rPr kumimoji="1" lang="zh-CN" altLang="en-US" sz="1400" dirty="0">
                  <a:solidFill>
                    <a:srgbClr val="CC00CC"/>
                  </a:solidFill>
                  <a:latin typeface="微软雅黑" panose="020B0503020204020204" pitchFamily="34" charset="-122"/>
                  <a:ea typeface="微软雅黑" panose="020B0503020204020204" pitchFamily="34" charset="-122"/>
                </a:rPr>
                <a:t>状态方程</a:t>
              </a:r>
              <a:r>
                <a:rPr kumimoji="1" lang="en-US" altLang="zh-CN" sz="1400" dirty="0">
                  <a:solidFill>
                    <a:srgbClr val="CC00CC"/>
                  </a:solidFill>
                  <a:latin typeface="微软雅黑" panose="020B0503020204020204" pitchFamily="34" charset="-122"/>
                  <a:ea typeface="微软雅黑" panose="020B0503020204020204" pitchFamily="34" charset="-122"/>
                </a:rPr>
                <a:t>:</a:t>
              </a:r>
              <a:endParaRPr kumimoji="1" lang="zh-CN" altLang="en-US" sz="1400" dirty="0">
                <a:solidFill>
                  <a:srgbClr val="CC00CC"/>
                </a:solidFill>
                <a:latin typeface="微软雅黑" panose="020B0503020204020204" pitchFamily="34" charset="-122"/>
                <a:ea typeface="微软雅黑" panose="020B0503020204020204" pitchFamily="34" charset="-122"/>
              </a:endParaRPr>
            </a:p>
          </p:txBody>
        </p:sp>
        <p:graphicFrame>
          <p:nvGraphicFramePr>
            <p:cNvPr id="28" name="对象 27"/>
            <p:cNvGraphicFramePr>
              <a:graphicFrameLocks noChangeAspect="1"/>
            </p:cNvGraphicFramePr>
            <p:nvPr/>
          </p:nvGraphicFramePr>
          <p:xfrm>
            <a:off x="614838" y="3760886"/>
            <a:ext cx="1584897" cy="337765"/>
          </p:xfrm>
          <a:graphic>
            <a:graphicData uri="http://schemas.openxmlformats.org/presentationml/2006/ole">
              <mc:AlternateContent xmlns:mc="http://schemas.openxmlformats.org/markup-compatibility/2006">
                <mc:Choice xmlns:v="urn:schemas-microsoft-com:vml" Requires="v">
                  <p:oleObj spid="_x0000_s7251" name="公式" r:id="rId13" imgW="1155065" imgH="241300" progId="Equation.3">
                    <p:embed/>
                  </p:oleObj>
                </mc:Choice>
                <mc:Fallback>
                  <p:oleObj name="公式" r:id="rId13" imgW="1155065" imgH="241300" progId="Equation.3">
                    <p:embed/>
                    <p:pic>
                      <p:nvPicPr>
                        <p:cNvPr id="0" name="对象 2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4838" y="3760886"/>
                          <a:ext cx="1584897" cy="337765"/>
                        </a:xfrm>
                        <a:prstGeom prst="rect">
                          <a:avLst/>
                        </a:prstGeom>
                        <a:noFill/>
                      </p:spPr>
                    </p:pic>
                  </p:oleObj>
                </mc:Fallback>
              </mc:AlternateContent>
            </a:graphicData>
          </a:graphic>
        </p:graphicFrame>
        <p:graphicFrame>
          <p:nvGraphicFramePr>
            <p:cNvPr id="29" name="对象 28"/>
            <p:cNvGraphicFramePr>
              <a:graphicFrameLocks noChangeAspect="1"/>
            </p:cNvGraphicFramePr>
            <p:nvPr/>
          </p:nvGraphicFramePr>
          <p:xfrm>
            <a:off x="627497" y="4125685"/>
            <a:ext cx="1462997" cy="290077"/>
          </p:xfrm>
          <a:graphic>
            <a:graphicData uri="http://schemas.openxmlformats.org/presentationml/2006/ole">
              <mc:AlternateContent xmlns:mc="http://schemas.openxmlformats.org/markup-compatibility/2006">
                <mc:Choice xmlns:v="urn:schemas-microsoft-com:vml" Requires="v">
                  <p:oleObj spid="_x0000_s7252" name="公式" r:id="rId15" imgW="1103630" imgH="215900" progId="Equation.3">
                    <p:embed/>
                  </p:oleObj>
                </mc:Choice>
                <mc:Fallback>
                  <p:oleObj name="公式" r:id="rId15" imgW="1103630" imgH="215900" progId="Equation.3">
                    <p:embed/>
                    <p:pic>
                      <p:nvPicPr>
                        <p:cNvPr id="0" name="对象 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27497" y="4125685"/>
                          <a:ext cx="1462997" cy="290077"/>
                        </a:xfrm>
                        <a:prstGeom prst="rect">
                          <a:avLst/>
                        </a:prstGeom>
                        <a:noFill/>
                      </p:spPr>
                    </p:pic>
                  </p:oleObj>
                </mc:Fallback>
              </mc:AlternateContent>
            </a:graphicData>
          </a:graphic>
        </p:graphicFrame>
        <p:graphicFrame>
          <p:nvGraphicFramePr>
            <p:cNvPr id="30" name="对象 29"/>
            <p:cNvGraphicFramePr>
              <a:graphicFrameLocks noChangeAspect="1"/>
            </p:cNvGraphicFramePr>
            <p:nvPr/>
          </p:nvGraphicFramePr>
          <p:xfrm>
            <a:off x="630475" y="4472813"/>
            <a:ext cx="1220235" cy="318925"/>
          </p:xfrm>
          <a:graphic>
            <a:graphicData uri="http://schemas.openxmlformats.org/presentationml/2006/ole">
              <mc:AlternateContent xmlns:mc="http://schemas.openxmlformats.org/markup-compatibility/2006">
                <mc:Choice xmlns:v="urn:schemas-microsoft-com:vml" Requires="v">
                  <p:oleObj spid="_x0000_s7253" name="公式" r:id="rId17" imgW="836930" imgH="215900" progId="Equation.3">
                    <p:embed/>
                  </p:oleObj>
                </mc:Choice>
                <mc:Fallback>
                  <p:oleObj name="公式" r:id="rId17" imgW="836930" imgH="215900" progId="Equation.3">
                    <p:embed/>
                    <p:pic>
                      <p:nvPicPr>
                        <p:cNvPr id="0" name="对象 2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30475" y="4472813"/>
                          <a:ext cx="1220235" cy="318925"/>
                        </a:xfrm>
                        <a:prstGeom prst="rect">
                          <a:avLst/>
                        </a:prstGeom>
                        <a:noFill/>
                      </p:spPr>
                    </p:pic>
                  </p:oleObj>
                </mc:Fallback>
              </mc:AlternateContent>
            </a:graphicData>
          </a:graphic>
        </p:graphicFrame>
      </p:grpSp>
      <p:pic>
        <p:nvPicPr>
          <p:cNvPr id="44" name="图片 43"/>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3084216" y="2825780"/>
            <a:ext cx="2974706" cy="2014217"/>
          </a:xfrm>
          <a:prstGeom prst="rect">
            <a:avLst/>
          </a:prstGeom>
        </p:spPr>
      </p:pic>
      <p:grpSp>
        <p:nvGrpSpPr>
          <p:cNvPr id="59" name="组合 58"/>
          <p:cNvGrpSpPr/>
          <p:nvPr/>
        </p:nvGrpSpPr>
        <p:grpSpPr>
          <a:xfrm>
            <a:off x="6214395" y="2813077"/>
            <a:ext cx="2735580" cy="2026920"/>
            <a:chOff x="6214395" y="2813077"/>
            <a:chExt cx="2735580" cy="2026920"/>
          </a:xfrm>
        </p:grpSpPr>
        <p:sp>
          <p:nvSpPr>
            <p:cNvPr id="49" name="圆角矩形 48"/>
            <p:cNvSpPr/>
            <p:nvPr/>
          </p:nvSpPr>
          <p:spPr>
            <a:xfrm>
              <a:off x="6214395" y="2813077"/>
              <a:ext cx="2735580" cy="2026920"/>
            </a:xfrm>
            <a:prstGeom prst="roundRect">
              <a:avLst>
                <a:gd name="adj" fmla="val 471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8" name="图片 57"/>
            <p:cNvPicPr>
              <a:picLocks noChangeAspect="1"/>
            </p:cNvPicPr>
            <p:nvPr/>
          </p:nvPicPr>
          <p:blipFill>
            <a:blip r:embed="rId20"/>
            <a:stretch>
              <a:fillRect/>
            </a:stretch>
          </p:blipFill>
          <p:spPr>
            <a:xfrm>
              <a:off x="6347218" y="2938907"/>
              <a:ext cx="2505941" cy="1683679"/>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1000"/>
                                        <p:tgtEl>
                                          <p:spTgt spid="14"/>
                                        </p:tgtEl>
                                      </p:cBhvr>
                                    </p:animEffect>
                                    <p:anim calcmode="lin" valueType="num">
                                      <p:cBhvr>
                                        <p:cTn id="14" dur="1000" fill="hold"/>
                                        <p:tgtEl>
                                          <p:spTgt spid="14"/>
                                        </p:tgtEl>
                                        <p:attrNameLst>
                                          <p:attrName>ppt_x</p:attrName>
                                        </p:attrNameLst>
                                      </p:cBhvr>
                                      <p:tavLst>
                                        <p:tav tm="0">
                                          <p:val>
                                            <p:strVal val="#ppt_x"/>
                                          </p:val>
                                        </p:tav>
                                        <p:tav tm="100000">
                                          <p:val>
                                            <p:strVal val="#ppt_x"/>
                                          </p:val>
                                        </p:tav>
                                      </p:tavLst>
                                    </p:anim>
                                    <p:anim calcmode="lin" valueType="num">
                                      <p:cBhvr>
                                        <p:cTn id="15"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fade">
                                      <p:cBhvr>
                                        <p:cTn id="20" dur="1000"/>
                                        <p:tgtEl>
                                          <p:spTgt spid="60"/>
                                        </p:tgtEl>
                                      </p:cBhvr>
                                    </p:animEffect>
                                    <p:anim calcmode="lin" valueType="num">
                                      <p:cBhvr>
                                        <p:cTn id="21" dur="1000" fill="hold"/>
                                        <p:tgtEl>
                                          <p:spTgt spid="60"/>
                                        </p:tgtEl>
                                        <p:attrNameLst>
                                          <p:attrName>ppt_x</p:attrName>
                                        </p:attrNameLst>
                                      </p:cBhvr>
                                      <p:tavLst>
                                        <p:tav tm="0">
                                          <p:val>
                                            <p:strVal val="#ppt_x"/>
                                          </p:val>
                                        </p:tav>
                                        <p:tav tm="100000">
                                          <p:val>
                                            <p:strVal val="#ppt_x"/>
                                          </p:val>
                                        </p:tav>
                                      </p:tavLst>
                                    </p:anim>
                                    <p:anim calcmode="lin" valueType="num">
                                      <p:cBhvr>
                                        <p:cTn id="22"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fade">
                                      <p:cBhvr>
                                        <p:cTn id="27" dur="1000"/>
                                        <p:tgtEl>
                                          <p:spTgt spid="61"/>
                                        </p:tgtEl>
                                      </p:cBhvr>
                                    </p:animEffect>
                                    <p:anim calcmode="lin" valueType="num">
                                      <p:cBhvr>
                                        <p:cTn id="28" dur="1000" fill="hold"/>
                                        <p:tgtEl>
                                          <p:spTgt spid="61"/>
                                        </p:tgtEl>
                                        <p:attrNameLst>
                                          <p:attrName>ppt_x</p:attrName>
                                        </p:attrNameLst>
                                      </p:cBhvr>
                                      <p:tavLst>
                                        <p:tav tm="0">
                                          <p:val>
                                            <p:strVal val="#ppt_x"/>
                                          </p:val>
                                        </p:tav>
                                        <p:tav tm="100000">
                                          <p:val>
                                            <p:strVal val="#ppt_x"/>
                                          </p:val>
                                        </p:tav>
                                      </p:tavLst>
                                    </p:anim>
                                    <p:anim calcmode="lin" valueType="num">
                                      <p:cBhvr>
                                        <p:cTn id="29"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1000"/>
                                        <p:tgtEl>
                                          <p:spTgt spid="25"/>
                                        </p:tgtEl>
                                      </p:cBhvr>
                                    </p:animEffect>
                                    <p:anim calcmode="lin" valueType="num">
                                      <p:cBhvr>
                                        <p:cTn id="35" dur="1000" fill="hold"/>
                                        <p:tgtEl>
                                          <p:spTgt spid="25"/>
                                        </p:tgtEl>
                                        <p:attrNameLst>
                                          <p:attrName>ppt_x</p:attrName>
                                        </p:attrNameLst>
                                      </p:cBhvr>
                                      <p:tavLst>
                                        <p:tav tm="0">
                                          <p:val>
                                            <p:strVal val="#ppt_x"/>
                                          </p:val>
                                        </p:tav>
                                        <p:tav tm="100000">
                                          <p:val>
                                            <p:strVal val="#ppt_x"/>
                                          </p:val>
                                        </p:tav>
                                      </p:tavLst>
                                    </p:anim>
                                    <p:anim calcmode="lin" valueType="num">
                                      <p:cBhvr>
                                        <p:cTn id="36" dur="1000" fill="hold"/>
                                        <p:tgtEl>
                                          <p:spTgt spid="25"/>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1000"/>
                                        <p:tgtEl>
                                          <p:spTgt spid="44"/>
                                        </p:tgtEl>
                                      </p:cBhvr>
                                    </p:animEffect>
                                    <p:anim calcmode="lin" valueType="num">
                                      <p:cBhvr>
                                        <p:cTn id="40" dur="1000" fill="hold"/>
                                        <p:tgtEl>
                                          <p:spTgt spid="44"/>
                                        </p:tgtEl>
                                        <p:attrNameLst>
                                          <p:attrName>ppt_x</p:attrName>
                                        </p:attrNameLst>
                                      </p:cBhvr>
                                      <p:tavLst>
                                        <p:tav tm="0">
                                          <p:val>
                                            <p:strVal val="#ppt_x"/>
                                          </p:val>
                                        </p:tav>
                                        <p:tav tm="100000">
                                          <p:val>
                                            <p:strVal val="#ppt_x"/>
                                          </p:val>
                                        </p:tav>
                                      </p:tavLst>
                                    </p:anim>
                                    <p:anim calcmode="lin" valueType="num">
                                      <p:cBhvr>
                                        <p:cTn id="41"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1000"/>
                                        <p:tgtEl>
                                          <p:spTgt spid="36"/>
                                        </p:tgtEl>
                                      </p:cBhvr>
                                    </p:animEffect>
                                    <p:anim calcmode="lin" valueType="num">
                                      <p:cBhvr>
                                        <p:cTn id="47" dur="1000" fill="hold"/>
                                        <p:tgtEl>
                                          <p:spTgt spid="36"/>
                                        </p:tgtEl>
                                        <p:attrNameLst>
                                          <p:attrName>ppt_x</p:attrName>
                                        </p:attrNameLst>
                                      </p:cBhvr>
                                      <p:tavLst>
                                        <p:tav tm="0">
                                          <p:val>
                                            <p:strVal val="#ppt_x"/>
                                          </p:val>
                                        </p:tav>
                                        <p:tav tm="100000">
                                          <p:val>
                                            <p:strVal val="#ppt_x"/>
                                          </p:val>
                                        </p:tav>
                                      </p:tavLst>
                                    </p:anim>
                                    <p:anim calcmode="lin" valueType="num">
                                      <p:cBhvr>
                                        <p:cTn id="48" dur="1000" fill="hold"/>
                                        <p:tgtEl>
                                          <p:spTgt spid="36"/>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59"/>
                                        </p:tgtEl>
                                        <p:attrNameLst>
                                          <p:attrName>style.visibility</p:attrName>
                                        </p:attrNameLst>
                                      </p:cBhvr>
                                      <p:to>
                                        <p:strVal val="visible"/>
                                      </p:to>
                                    </p:set>
                                    <p:animEffect transition="in" filter="fade">
                                      <p:cBhvr>
                                        <p:cTn id="51" dur="1000"/>
                                        <p:tgtEl>
                                          <p:spTgt spid="59"/>
                                        </p:tgtEl>
                                      </p:cBhvr>
                                    </p:animEffect>
                                    <p:anim calcmode="lin" valueType="num">
                                      <p:cBhvr>
                                        <p:cTn id="52" dur="1000" fill="hold"/>
                                        <p:tgtEl>
                                          <p:spTgt spid="59"/>
                                        </p:tgtEl>
                                        <p:attrNameLst>
                                          <p:attrName>ppt_x</p:attrName>
                                        </p:attrNameLst>
                                      </p:cBhvr>
                                      <p:tavLst>
                                        <p:tav tm="0">
                                          <p:val>
                                            <p:strVal val="#ppt_x"/>
                                          </p:val>
                                        </p:tav>
                                        <p:tav tm="100000">
                                          <p:val>
                                            <p:strVal val="#ppt_x"/>
                                          </p:val>
                                        </p:tav>
                                      </p:tavLst>
                                    </p:anim>
                                    <p:anim calcmode="lin" valueType="num">
                                      <p:cBhvr>
                                        <p:cTn id="53"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67"/>
          <p:cNvGrpSpPr/>
          <p:nvPr/>
        </p:nvGrpSpPr>
        <p:grpSpPr>
          <a:xfrm>
            <a:off x="392432" y="778617"/>
            <a:ext cx="3388258" cy="411055"/>
            <a:chOff x="670560" y="892917"/>
            <a:chExt cx="3388258" cy="411055"/>
          </a:xfrm>
        </p:grpSpPr>
        <p:sp>
          <p:nvSpPr>
            <p:cNvPr id="3" name="矩形 2"/>
            <p:cNvSpPr/>
            <p:nvPr/>
          </p:nvSpPr>
          <p:spPr>
            <a:xfrm>
              <a:off x="1035233" y="913778"/>
              <a:ext cx="3023585" cy="369332"/>
            </a:xfrm>
            <a:prstGeom prst="rect">
              <a:avLst/>
            </a:prstGeom>
          </p:spPr>
          <p:txBody>
            <a:bodyPr wrap="none">
              <a:spAutoFit/>
            </a:bodyPr>
            <a:lstStyle/>
            <a:p>
              <a:r>
                <a:rPr lang="zh-CN" altLang="en-US" b="1" dirty="0">
                  <a:solidFill>
                    <a:srgbClr val="002060"/>
                  </a:solidFill>
                  <a:latin typeface="微软雅黑" panose="020B0503020204020204" pitchFamily="34" charset="-122"/>
                  <a:ea typeface="微软雅黑" panose="020B0503020204020204" pitchFamily="34" charset="-122"/>
                </a:rPr>
                <a:t>同步时序逻辑电路分析实例 </a:t>
              </a:r>
              <a:endParaRPr lang="zh-CN" altLang="en-US"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5" name="组合 77"/>
          <p:cNvGrpSpPr/>
          <p:nvPr/>
        </p:nvGrpSpPr>
        <p:grpSpPr>
          <a:xfrm>
            <a:off x="400513" y="1331276"/>
            <a:ext cx="3537818" cy="374630"/>
            <a:chOff x="369777" y="1347760"/>
            <a:chExt cx="3537818" cy="374630"/>
          </a:xfrm>
        </p:grpSpPr>
        <p:sp>
          <p:nvSpPr>
            <p:cNvPr id="6" name="TextBox 5"/>
            <p:cNvSpPr txBox="1"/>
            <p:nvPr/>
          </p:nvSpPr>
          <p:spPr>
            <a:xfrm>
              <a:off x="723710" y="1350409"/>
              <a:ext cx="3183885" cy="338554"/>
            </a:xfrm>
            <a:prstGeom prst="rect">
              <a:avLst/>
            </a:prstGeom>
            <a:noFill/>
          </p:spPr>
          <p:txBody>
            <a:bodyPr wrap="none" rtlCol="0">
              <a:spAutoFit/>
            </a:bodyPr>
            <a:lstStyle/>
            <a:p>
              <a:r>
                <a:rPr lang="zh-CN" altLang="en-US" sz="1600" b="1" dirty="0">
                  <a:solidFill>
                    <a:srgbClr val="CC00CC"/>
                  </a:solidFill>
                  <a:latin typeface="黑体" panose="02010609060101010101" pitchFamily="49" charset="-122"/>
                  <a:ea typeface="黑体" panose="02010609060101010101" pitchFamily="49" charset="-122"/>
                </a:rPr>
                <a:t>例</a:t>
              </a:r>
              <a:r>
                <a:rPr lang="en-US" altLang="zh-CN" sz="1600" b="1" dirty="0">
                  <a:solidFill>
                    <a:srgbClr val="CC00CC"/>
                  </a:solidFill>
                  <a:latin typeface="黑体" panose="02010609060101010101" pitchFamily="49" charset="-122"/>
                  <a:ea typeface="黑体" panose="02010609060101010101" pitchFamily="49" charset="-122"/>
                </a:rPr>
                <a:t>3</a:t>
              </a:r>
              <a:r>
                <a:rPr lang="zh-CN" altLang="en-US" sz="1600" b="1" dirty="0">
                  <a:solidFill>
                    <a:srgbClr val="CC00CC"/>
                  </a:solidFill>
                  <a:latin typeface="黑体" panose="02010609060101010101" pitchFamily="49" charset="-122"/>
                  <a:ea typeface="黑体" panose="02010609060101010101" pitchFamily="49" charset="-122"/>
                </a:rPr>
                <a:t>：</a:t>
              </a:r>
              <a:r>
                <a:rPr lang="zh-CN" altLang="en-US" sz="1600" b="1" dirty="0">
                  <a:solidFill>
                    <a:srgbClr val="6600FF"/>
                  </a:solidFill>
                  <a:latin typeface="黑体" panose="02010609060101010101" pitchFamily="49" charset="-122"/>
                  <a:ea typeface="黑体" panose="02010609060101010101" pitchFamily="49" charset="-122"/>
                </a:rPr>
                <a:t>分析图示同步时序逻辑电路</a:t>
              </a:r>
              <a:endParaRPr lang="zh-CN" altLang="en-US" sz="1600" b="1" dirty="0">
                <a:solidFill>
                  <a:srgbClr val="6600FF"/>
                </a:solidFill>
                <a:latin typeface="黑体" panose="02010609060101010101" pitchFamily="49" charset="-122"/>
                <a:ea typeface="黑体" panose="02010609060101010101" pitchFamily="49" charset="-122"/>
              </a:endParaRPr>
            </a:p>
          </p:txBody>
        </p:sp>
        <p:pic>
          <p:nvPicPr>
            <p:cNvPr id="7"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36" name="组合 25"/>
          <p:cNvGrpSpPr/>
          <p:nvPr/>
        </p:nvGrpSpPr>
        <p:grpSpPr>
          <a:xfrm>
            <a:off x="6034395" y="2382377"/>
            <a:ext cx="1760616" cy="338554"/>
            <a:chOff x="4731375" y="1650857"/>
            <a:chExt cx="1760616" cy="338554"/>
          </a:xfrm>
        </p:grpSpPr>
        <p:sp>
          <p:nvSpPr>
            <p:cNvPr id="37" name="矩形 36"/>
            <p:cNvSpPr/>
            <p:nvPr/>
          </p:nvSpPr>
          <p:spPr>
            <a:xfrm>
              <a:off x="5076219" y="1650857"/>
              <a:ext cx="1415772"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画状态转换图</a:t>
              </a:r>
              <a:endParaRPr lang="zh-CN" altLang="en-US" sz="1600" dirty="0"/>
            </a:p>
          </p:txBody>
        </p:sp>
        <p:pic>
          <p:nvPicPr>
            <p:cNvPr id="38" name="Picture 5"/>
            <p:cNvPicPr>
              <a:picLocks noChangeAspect="1" noChangeArrowheads="1"/>
            </p:cNvPicPr>
            <p:nvPr/>
          </p:nvPicPr>
          <p:blipFill>
            <a:blip r:embed="rId3" cstate="print"/>
            <a:srcRect/>
            <a:stretch>
              <a:fillRect/>
            </a:stretch>
          </p:blipFill>
          <p:spPr bwMode="auto">
            <a:xfrm>
              <a:off x="4731375" y="1677030"/>
              <a:ext cx="360000" cy="286209"/>
            </a:xfrm>
            <a:prstGeom prst="rect">
              <a:avLst/>
            </a:prstGeom>
            <a:noFill/>
            <a:ln w="9525">
              <a:noFill/>
              <a:miter lim="800000"/>
              <a:headEnd/>
              <a:tailEnd/>
            </a:ln>
          </p:spPr>
        </p:pic>
      </p:grpSp>
      <p:grpSp>
        <p:nvGrpSpPr>
          <p:cNvPr id="31" name="组合 25"/>
          <p:cNvGrpSpPr/>
          <p:nvPr/>
        </p:nvGrpSpPr>
        <p:grpSpPr>
          <a:xfrm>
            <a:off x="464175" y="1879457"/>
            <a:ext cx="1760616" cy="338554"/>
            <a:chOff x="4731375" y="1650857"/>
            <a:chExt cx="1760616" cy="338554"/>
          </a:xfrm>
        </p:grpSpPr>
        <p:sp>
          <p:nvSpPr>
            <p:cNvPr id="32" name="矩形 31"/>
            <p:cNvSpPr/>
            <p:nvPr/>
          </p:nvSpPr>
          <p:spPr>
            <a:xfrm>
              <a:off x="5076219" y="1650857"/>
              <a:ext cx="1415772"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画时序波形图</a:t>
              </a:r>
              <a:endParaRPr lang="zh-CN" altLang="en-US" sz="1600" dirty="0"/>
            </a:p>
          </p:txBody>
        </p:sp>
        <p:pic>
          <p:nvPicPr>
            <p:cNvPr id="33" name="Picture 5"/>
            <p:cNvPicPr>
              <a:picLocks noChangeAspect="1" noChangeArrowheads="1"/>
            </p:cNvPicPr>
            <p:nvPr/>
          </p:nvPicPr>
          <p:blipFill>
            <a:blip r:embed="rId3" cstate="print"/>
            <a:srcRect/>
            <a:stretch>
              <a:fillRect/>
            </a:stretch>
          </p:blipFill>
          <p:spPr bwMode="auto">
            <a:xfrm>
              <a:off x="4731375" y="1677030"/>
              <a:ext cx="360000" cy="286209"/>
            </a:xfrm>
            <a:prstGeom prst="rect">
              <a:avLst/>
            </a:prstGeom>
            <a:noFill/>
            <a:ln w="9525">
              <a:noFill/>
              <a:miter lim="800000"/>
              <a:headEnd/>
              <a:tailEnd/>
            </a:ln>
          </p:spPr>
        </p:pic>
      </p:grpSp>
      <p:pic>
        <p:nvPicPr>
          <p:cNvPr id="9" name="图片 8"/>
          <p:cNvPicPr>
            <a:picLocks noChangeAspect="1"/>
          </p:cNvPicPr>
          <p:nvPr/>
        </p:nvPicPr>
        <p:blipFill>
          <a:blip r:embed="rId4"/>
          <a:stretch>
            <a:fillRect/>
          </a:stretch>
        </p:blipFill>
        <p:spPr>
          <a:xfrm>
            <a:off x="824175" y="2382377"/>
            <a:ext cx="3183885" cy="1553456"/>
          </a:xfrm>
          <a:prstGeom prst="rect">
            <a:avLst/>
          </a:prstGeom>
        </p:spPr>
      </p:pic>
      <p:sp>
        <p:nvSpPr>
          <p:cNvPr id="39" name="圆角矩形 71"/>
          <p:cNvSpPr/>
          <p:nvPr/>
        </p:nvSpPr>
        <p:spPr>
          <a:xfrm>
            <a:off x="943720" y="4033420"/>
            <a:ext cx="3183885" cy="558898"/>
          </a:xfrm>
          <a:prstGeom prst="roundRect">
            <a:avLst>
              <a:gd name="adj" fmla="val 11715"/>
            </a:avLst>
          </a:prstGeom>
          <a:solidFill>
            <a:srgbClr val="CCFFFF"/>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600" dirty="0">
                <a:solidFill>
                  <a:srgbClr val="000000"/>
                </a:solidFill>
                <a:latin typeface="微软雅黑" panose="020B0503020204020204" pitchFamily="34" charset="-122"/>
                <a:ea typeface="微软雅黑" panose="020B0503020204020204" pitchFamily="34" charset="-122"/>
              </a:rPr>
              <a:t>电路的功能为</a:t>
            </a:r>
            <a:r>
              <a:rPr lang="en-US" altLang="zh-CN" sz="1600" u="sng" dirty="0">
                <a:solidFill>
                  <a:srgbClr val="FF0000"/>
                </a:solidFill>
                <a:latin typeface="微软雅黑" panose="020B0503020204020204" pitchFamily="34" charset="-122"/>
                <a:ea typeface="微软雅黑" panose="020B0503020204020204" pitchFamily="34" charset="-122"/>
              </a:rPr>
              <a:t> </a:t>
            </a:r>
            <a:r>
              <a:rPr lang="zh-CN" altLang="en-US" sz="1600" u="sng" dirty="0">
                <a:solidFill>
                  <a:srgbClr val="FF0000"/>
                </a:solidFill>
                <a:latin typeface="微软雅黑" panose="020B0503020204020204" pitchFamily="34" charset="-122"/>
                <a:ea typeface="微软雅黑" panose="020B0503020204020204" pitchFamily="34" charset="-122"/>
              </a:rPr>
              <a:t>五进制计数器。</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40" name="AutoShape 40"/>
          <p:cNvSpPr>
            <a:spLocks noChangeArrowheads="1"/>
          </p:cNvSpPr>
          <p:nvPr/>
        </p:nvSpPr>
        <p:spPr bwMode="auto">
          <a:xfrm>
            <a:off x="4483963" y="2813077"/>
            <a:ext cx="1419372" cy="579414"/>
          </a:xfrm>
          <a:prstGeom prst="wedgeRoundRectCallout">
            <a:avLst>
              <a:gd name="adj1" fmla="val 71327"/>
              <a:gd name="adj2" fmla="val 58428"/>
              <a:gd name="adj3" fmla="val 16667"/>
            </a:avLst>
          </a:prstGeom>
          <a:solidFill>
            <a:srgbClr val="FFFF66"/>
          </a:solidFill>
          <a:ln w="28575" algn="ctr">
            <a:solidFill>
              <a:srgbClr val="6600FF"/>
            </a:solidFill>
            <a:miter lim="800000"/>
          </a:ln>
          <a:effectLst>
            <a:outerShdw blurRad="50800" dist="38100" dir="5400000" algn="t" rotWithShape="0">
              <a:prstClr val="black">
                <a:alpha val="40000"/>
              </a:prstClr>
            </a:outerShdw>
          </a:effectLst>
        </p:spPr>
        <p:txBody>
          <a:bodyPr lIns="0" rIns="0" anchor="ctr"/>
          <a:lstStyle/>
          <a:p>
            <a:pPr marL="88900">
              <a:lnSpc>
                <a:spcPct val="150000"/>
              </a:lnSpc>
              <a:tabLst>
                <a:tab pos="1257300" algn="l"/>
                <a:tab pos="1346200" algn="l"/>
              </a:tabLst>
            </a:pPr>
            <a:r>
              <a:rPr lang="zh-CN" altLang="en-US"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完全状态转换图</a:t>
            </a:r>
            <a:endParaRPr lang="zh-CN" altLang="en-US"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AutoShape 40"/>
          <p:cNvSpPr>
            <a:spLocks noChangeArrowheads="1"/>
          </p:cNvSpPr>
          <p:nvPr/>
        </p:nvSpPr>
        <p:spPr bwMode="auto">
          <a:xfrm>
            <a:off x="4526624" y="4200698"/>
            <a:ext cx="1419372" cy="579414"/>
          </a:xfrm>
          <a:prstGeom prst="wedgeRoundRectCallout">
            <a:avLst>
              <a:gd name="adj1" fmla="val 65774"/>
              <a:gd name="adj2" fmla="val -54490"/>
              <a:gd name="adj3" fmla="val 16667"/>
            </a:avLst>
          </a:prstGeom>
          <a:solidFill>
            <a:srgbClr val="FFFF66"/>
          </a:solidFill>
          <a:ln w="28575" algn="ctr">
            <a:solidFill>
              <a:srgbClr val="6600FF"/>
            </a:solidFill>
            <a:miter lim="800000"/>
          </a:ln>
          <a:effectLst>
            <a:outerShdw blurRad="50800" dist="38100" dir="5400000" algn="t" rotWithShape="0">
              <a:prstClr val="black">
                <a:alpha val="40000"/>
              </a:prstClr>
            </a:outerShdw>
          </a:effectLst>
        </p:spPr>
        <p:txBody>
          <a:bodyPr lIns="0" rIns="0" anchor="ctr"/>
          <a:lstStyle/>
          <a:p>
            <a:pPr marL="88900">
              <a:lnSpc>
                <a:spcPct val="150000"/>
              </a:lnSpc>
              <a:tabLst>
                <a:tab pos="1257300" algn="l"/>
                <a:tab pos="1346200" algn="l"/>
              </a:tabLst>
            </a:pPr>
            <a:r>
              <a:rPr lang="zh-CN" altLang="en-US"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具备自启动能力</a:t>
            </a:r>
            <a:endParaRPr lang="zh-CN" altLang="en-US"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2" name="组合 41"/>
          <p:cNvGrpSpPr/>
          <p:nvPr/>
        </p:nvGrpSpPr>
        <p:grpSpPr>
          <a:xfrm>
            <a:off x="6214395" y="2813077"/>
            <a:ext cx="2735580" cy="2026920"/>
            <a:chOff x="6214395" y="2813077"/>
            <a:chExt cx="2735580" cy="2026920"/>
          </a:xfrm>
        </p:grpSpPr>
        <p:sp>
          <p:nvSpPr>
            <p:cNvPr id="43" name="圆角矩形 48"/>
            <p:cNvSpPr/>
            <p:nvPr/>
          </p:nvSpPr>
          <p:spPr>
            <a:xfrm>
              <a:off x="6214395" y="2813077"/>
              <a:ext cx="2735580" cy="2026920"/>
            </a:xfrm>
            <a:prstGeom prst="roundRect">
              <a:avLst>
                <a:gd name="adj" fmla="val 471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5" name="图片 44"/>
            <p:cNvPicPr>
              <a:picLocks noChangeAspect="1"/>
            </p:cNvPicPr>
            <p:nvPr/>
          </p:nvPicPr>
          <p:blipFill>
            <a:blip r:embed="rId5"/>
            <a:stretch>
              <a:fillRect/>
            </a:stretch>
          </p:blipFill>
          <p:spPr>
            <a:xfrm>
              <a:off x="6347218" y="2938907"/>
              <a:ext cx="2505941" cy="1683679"/>
            </a:xfrm>
            <a:prstGeom prst="rect">
              <a:avLst/>
            </a:prstGeom>
          </p:spPr>
        </p:pic>
      </p:grpSp>
      <p:sp>
        <p:nvSpPr>
          <p:cNvPr id="19" name="任意多边形: 形状 18"/>
          <p:cNvSpPr/>
          <p:nvPr/>
        </p:nvSpPr>
        <p:spPr>
          <a:xfrm>
            <a:off x="7149662" y="4033420"/>
            <a:ext cx="892269" cy="191739"/>
          </a:xfrm>
          <a:custGeom>
            <a:avLst/>
            <a:gdLst>
              <a:gd name="connsiteX0" fmla="*/ 0 w 892269"/>
              <a:gd name="connsiteY0" fmla="*/ 18318 h 235841"/>
              <a:gd name="connsiteX1" fmla="*/ 614855 w 892269"/>
              <a:gd name="connsiteY1" fmla="*/ 2552 h 235841"/>
              <a:gd name="connsiteX2" fmla="*/ 867104 w 892269"/>
              <a:gd name="connsiteY2" fmla="*/ 65614 h 235841"/>
              <a:gd name="connsiteX3" fmla="*/ 811924 w 892269"/>
              <a:gd name="connsiteY3" fmla="*/ 215387 h 235841"/>
              <a:gd name="connsiteX4" fmla="*/ 236483 w 892269"/>
              <a:gd name="connsiteY4" fmla="*/ 231152 h 235841"/>
              <a:gd name="connsiteX5" fmla="*/ 7883 w 892269"/>
              <a:gd name="connsiteY5" fmla="*/ 183856 h 235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2269" h="235841">
                <a:moveTo>
                  <a:pt x="0" y="18318"/>
                </a:moveTo>
                <a:cubicBezTo>
                  <a:pt x="235169" y="6493"/>
                  <a:pt x="470338" y="-5331"/>
                  <a:pt x="614855" y="2552"/>
                </a:cubicBezTo>
                <a:cubicBezTo>
                  <a:pt x="759372" y="10435"/>
                  <a:pt x="834259" y="30142"/>
                  <a:pt x="867104" y="65614"/>
                </a:cubicBezTo>
                <a:cubicBezTo>
                  <a:pt x="899949" y="101086"/>
                  <a:pt x="917027" y="187797"/>
                  <a:pt x="811924" y="215387"/>
                </a:cubicBezTo>
                <a:cubicBezTo>
                  <a:pt x="706821" y="242977"/>
                  <a:pt x="370490" y="236407"/>
                  <a:pt x="236483" y="231152"/>
                </a:cubicBezTo>
                <a:cubicBezTo>
                  <a:pt x="102476" y="225897"/>
                  <a:pt x="55179" y="204876"/>
                  <a:pt x="7883" y="183856"/>
                </a:cubicBezTo>
              </a:path>
            </a:pathLst>
          </a:custGeom>
          <a:noFill/>
          <a:ln w="28575">
            <a:solidFill>
              <a:srgbClr val="CC00CC"/>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7440287" y="3270740"/>
            <a:ext cx="288000" cy="288000"/>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8512692" y="3278623"/>
            <a:ext cx="288000" cy="288000"/>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0460" y="4278128"/>
            <a:ext cx="288000" cy="288000"/>
          </a:xfrm>
          <a:prstGeom prst="ellipse">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0" name="图片 49"/>
          <p:cNvPicPr>
            <a:picLocks noChangeAspect="1"/>
          </p:cNvPicPr>
          <p:nvPr/>
        </p:nvPicPr>
        <p:blipFill>
          <a:blip r:embed="rId6"/>
          <a:stretch>
            <a:fillRect/>
          </a:stretch>
        </p:blipFill>
        <p:spPr>
          <a:xfrm>
            <a:off x="4651358" y="772963"/>
            <a:ext cx="4289114" cy="14181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dir="r"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1000"/>
                                        <p:tgtEl>
                                          <p:spTgt spid="39"/>
                                        </p:tgtEl>
                                      </p:cBhvr>
                                    </p:animEffect>
                                    <p:anim calcmode="lin" valueType="num">
                                      <p:cBhvr>
                                        <p:cTn id="20" dur="1000" fill="hold"/>
                                        <p:tgtEl>
                                          <p:spTgt spid="39"/>
                                        </p:tgtEl>
                                        <p:attrNameLst>
                                          <p:attrName>ppt_x</p:attrName>
                                        </p:attrNameLst>
                                      </p:cBhvr>
                                      <p:tavLst>
                                        <p:tav tm="0">
                                          <p:val>
                                            <p:strVal val="#ppt_x"/>
                                          </p:val>
                                        </p:tav>
                                        <p:tav tm="100000">
                                          <p:val>
                                            <p:strVal val="#ppt_x"/>
                                          </p:val>
                                        </p:tav>
                                      </p:tavLst>
                                    </p:anim>
                                    <p:anim calcmode="lin" valueType="num">
                                      <p:cBhvr>
                                        <p:cTn id="21"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grpId="0" nodeType="click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wipe(right)">
                                      <p:cBhvr>
                                        <p:cTn id="26" dur="1000"/>
                                        <p:tgtEl>
                                          <p:spTgt spid="40"/>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p:cTn id="31" dur="1000" fill="hold"/>
                                        <p:tgtEl>
                                          <p:spTgt spid="19"/>
                                        </p:tgtEl>
                                        <p:attrNameLst>
                                          <p:attrName>ppt_w</p:attrName>
                                        </p:attrNameLst>
                                      </p:cBhvr>
                                      <p:tavLst>
                                        <p:tav tm="0">
                                          <p:val>
                                            <p:fltVal val="0"/>
                                          </p:val>
                                        </p:tav>
                                        <p:tav tm="100000">
                                          <p:val>
                                            <p:strVal val="#ppt_w"/>
                                          </p:val>
                                        </p:tav>
                                      </p:tavLst>
                                    </p:anim>
                                    <p:anim calcmode="lin" valueType="num">
                                      <p:cBhvr>
                                        <p:cTn id="32" dur="1000" fill="hold"/>
                                        <p:tgtEl>
                                          <p:spTgt spid="19"/>
                                        </p:tgtEl>
                                        <p:attrNameLst>
                                          <p:attrName>ppt_h</p:attrName>
                                        </p:attrNameLst>
                                      </p:cBhvr>
                                      <p:tavLst>
                                        <p:tav tm="0">
                                          <p:val>
                                            <p:fltVal val="0"/>
                                          </p:val>
                                        </p:tav>
                                        <p:tav tm="100000">
                                          <p:val>
                                            <p:strVal val="#ppt_h"/>
                                          </p:val>
                                        </p:tav>
                                      </p:tavLst>
                                    </p:anim>
                                  </p:childTnLst>
                                </p:cTn>
                              </p:par>
                            </p:childTnLst>
                          </p:cTn>
                        </p:par>
                        <p:par>
                          <p:cTn id="33" fill="hold">
                            <p:stCondLst>
                              <p:cond delay="1000"/>
                            </p:stCondLst>
                            <p:childTnLst>
                              <p:par>
                                <p:cTn id="34" presetID="53" presetClass="entr" presetSubtype="16" fill="hold" grpId="0" nodeType="afterEffect">
                                  <p:stCondLst>
                                    <p:cond delay="0"/>
                                  </p:stCondLst>
                                  <p:childTnLst>
                                    <p:set>
                                      <p:cBhvr>
                                        <p:cTn id="35" dur="1" fill="hold">
                                          <p:stCondLst>
                                            <p:cond delay="0"/>
                                          </p:stCondLst>
                                        </p:cTn>
                                        <p:tgtEl>
                                          <p:spTgt spid="20"/>
                                        </p:tgtEl>
                                        <p:attrNameLst>
                                          <p:attrName>style.visibility</p:attrName>
                                        </p:attrNameLst>
                                      </p:cBhvr>
                                      <p:to>
                                        <p:strVal val="visible"/>
                                      </p:to>
                                    </p:set>
                                    <p:anim calcmode="lin" valueType="num">
                                      <p:cBhvr>
                                        <p:cTn id="36" dur="1000" fill="hold"/>
                                        <p:tgtEl>
                                          <p:spTgt spid="20"/>
                                        </p:tgtEl>
                                        <p:attrNameLst>
                                          <p:attrName>ppt_w</p:attrName>
                                        </p:attrNameLst>
                                      </p:cBhvr>
                                      <p:tavLst>
                                        <p:tav tm="0">
                                          <p:val>
                                            <p:fltVal val="0"/>
                                          </p:val>
                                        </p:tav>
                                        <p:tav tm="100000">
                                          <p:val>
                                            <p:strVal val="#ppt_w"/>
                                          </p:val>
                                        </p:tav>
                                      </p:tavLst>
                                    </p:anim>
                                    <p:anim calcmode="lin" valueType="num">
                                      <p:cBhvr>
                                        <p:cTn id="37" dur="1000" fill="hold"/>
                                        <p:tgtEl>
                                          <p:spTgt spid="20"/>
                                        </p:tgtEl>
                                        <p:attrNameLst>
                                          <p:attrName>ppt_h</p:attrName>
                                        </p:attrNameLst>
                                      </p:cBhvr>
                                      <p:tavLst>
                                        <p:tav tm="0">
                                          <p:val>
                                            <p:fltVal val="0"/>
                                          </p:val>
                                        </p:tav>
                                        <p:tav tm="100000">
                                          <p:val>
                                            <p:strVal val="#ppt_h"/>
                                          </p:val>
                                        </p:tav>
                                      </p:tavLst>
                                    </p:anim>
                                    <p:animEffect transition="in" filter="fade">
                                      <p:cBhvr>
                                        <p:cTn id="38" dur="1000"/>
                                        <p:tgtEl>
                                          <p:spTgt spid="20"/>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anim calcmode="lin" valueType="num">
                                      <p:cBhvr>
                                        <p:cTn id="41" dur="1000" fill="hold"/>
                                        <p:tgtEl>
                                          <p:spTgt spid="47"/>
                                        </p:tgtEl>
                                        <p:attrNameLst>
                                          <p:attrName>ppt_w</p:attrName>
                                        </p:attrNameLst>
                                      </p:cBhvr>
                                      <p:tavLst>
                                        <p:tav tm="0">
                                          <p:val>
                                            <p:fltVal val="0"/>
                                          </p:val>
                                        </p:tav>
                                        <p:tav tm="100000">
                                          <p:val>
                                            <p:strVal val="#ppt_w"/>
                                          </p:val>
                                        </p:tav>
                                      </p:tavLst>
                                    </p:anim>
                                    <p:anim calcmode="lin" valueType="num">
                                      <p:cBhvr>
                                        <p:cTn id="42" dur="1000" fill="hold"/>
                                        <p:tgtEl>
                                          <p:spTgt spid="47"/>
                                        </p:tgtEl>
                                        <p:attrNameLst>
                                          <p:attrName>ppt_h</p:attrName>
                                        </p:attrNameLst>
                                      </p:cBhvr>
                                      <p:tavLst>
                                        <p:tav tm="0">
                                          <p:val>
                                            <p:fltVal val="0"/>
                                          </p:val>
                                        </p:tav>
                                        <p:tav tm="100000">
                                          <p:val>
                                            <p:strVal val="#ppt_h"/>
                                          </p:val>
                                        </p:tav>
                                      </p:tavLst>
                                    </p:anim>
                                    <p:animEffect transition="in" filter="fade">
                                      <p:cBhvr>
                                        <p:cTn id="43" dur="1000"/>
                                        <p:tgtEl>
                                          <p:spTgt spid="47"/>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48"/>
                                        </p:tgtEl>
                                        <p:attrNameLst>
                                          <p:attrName>style.visibility</p:attrName>
                                        </p:attrNameLst>
                                      </p:cBhvr>
                                      <p:to>
                                        <p:strVal val="visible"/>
                                      </p:to>
                                    </p:set>
                                    <p:anim calcmode="lin" valueType="num">
                                      <p:cBhvr>
                                        <p:cTn id="46" dur="1000" fill="hold"/>
                                        <p:tgtEl>
                                          <p:spTgt spid="48"/>
                                        </p:tgtEl>
                                        <p:attrNameLst>
                                          <p:attrName>ppt_w</p:attrName>
                                        </p:attrNameLst>
                                      </p:cBhvr>
                                      <p:tavLst>
                                        <p:tav tm="0">
                                          <p:val>
                                            <p:fltVal val="0"/>
                                          </p:val>
                                        </p:tav>
                                        <p:tav tm="100000">
                                          <p:val>
                                            <p:strVal val="#ppt_w"/>
                                          </p:val>
                                        </p:tav>
                                      </p:tavLst>
                                    </p:anim>
                                    <p:anim calcmode="lin" valueType="num">
                                      <p:cBhvr>
                                        <p:cTn id="47" dur="1000" fill="hold"/>
                                        <p:tgtEl>
                                          <p:spTgt spid="48"/>
                                        </p:tgtEl>
                                        <p:attrNameLst>
                                          <p:attrName>ppt_h</p:attrName>
                                        </p:attrNameLst>
                                      </p:cBhvr>
                                      <p:tavLst>
                                        <p:tav tm="0">
                                          <p:val>
                                            <p:fltVal val="0"/>
                                          </p:val>
                                        </p:tav>
                                        <p:tav tm="100000">
                                          <p:val>
                                            <p:strVal val="#ppt_h"/>
                                          </p:val>
                                        </p:tav>
                                      </p:tavLst>
                                    </p:anim>
                                    <p:animEffect transition="in" filter="fade">
                                      <p:cBhvr>
                                        <p:cTn id="48" dur="1000"/>
                                        <p:tgtEl>
                                          <p:spTgt spid="4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grpId="0" nodeType="click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wipe(right)">
                                      <p:cBhvr>
                                        <p:cTn id="53"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19" grpId="0" animBg="1"/>
      <p:bldP spid="20" grpId="0" animBg="1"/>
      <p:bldP spid="47" grpId="0" animBg="1"/>
      <p:bldP spid="4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nvGrpSpPr>
        <p:grpSpPr>
          <a:xfrm>
            <a:off x="1101090" y="1824567"/>
            <a:ext cx="6713220" cy="2072333"/>
            <a:chOff x="1101090" y="1824567"/>
            <a:chExt cx="6713220" cy="2072333"/>
          </a:xfrm>
        </p:grpSpPr>
        <p:grpSp>
          <p:nvGrpSpPr>
            <p:cNvPr id="37" name="组合 36"/>
            <p:cNvGrpSpPr/>
            <p:nvPr/>
          </p:nvGrpSpPr>
          <p:grpSpPr>
            <a:xfrm>
              <a:off x="1101090" y="1824567"/>
              <a:ext cx="1371600" cy="760000"/>
              <a:chOff x="910590" y="1565910"/>
              <a:chExt cx="1371600" cy="684000"/>
            </a:xfrm>
          </p:grpSpPr>
          <p:grpSp>
            <p:nvGrpSpPr>
              <p:cNvPr id="50" name="组合 49"/>
              <p:cNvGrpSpPr/>
              <p:nvPr/>
            </p:nvGrpSpPr>
            <p:grpSpPr>
              <a:xfrm>
                <a:off x="910590" y="1699260"/>
                <a:ext cx="1371600" cy="99060"/>
                <a:chOff x="910590" y="1699260"/>
                <a:chExt cx="1371600" cy="99060"/>
              </a:xfrm>
            </p:grpSpPr>
            <p:cxnSp>
              <p:nvCxnSpPr>
                <p:cNvPr id="68" name="直接连接符 6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69" name="直接连接符 68"/>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65" name="组合 64"/>
              <p:cNvGrpSpPr/>
              <p:nvPr/>
            </p:nvGrpSpPr>
            <p:grpSpPr>
              <a:xfrm rot="5400000">
                <a:off x="728610" y="1866000"/>
                <a:ext cx="684000" cy="83820"/>
                <a:chOff x="910590" y="1699260"/>
                <a:chExt cx="1371600" cy="99060"/>
              </a:xfrm>
            </p:grpSpPr>
            <p:cxnSp>
              <p:nvCxnSpPr>
                <p:cNvPr id="66" name="直接连接符 65"/>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67" name="直接连接符 66"/>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38" name="组合 37"/>
            <p:cNvGrpSpPr/>
            <p:nvPr/>
          </p:nvGrpSpPr>
          <p:grpSpPr>
            <a:xfrm rot="10800000">
              <a:off x="6442710" y="3136900"/>
              <a:ext cx="1371600" cy="760000"/>
              <a:chOff x="910590" y="1565910"/>
              <a:chExt cx="1371600" cy="684000"/>
            </a:xfrm>
          </p:grpSpPr>
          <p:grpSp>
            <p:nvGrpSpPr>
              <p:cNvPr id="44" name="组合 35"/>
              <p:cNvGrpSpPr/>
              <p:nvPr/>
            </p:nvGrpSpPr>
            <p:grpSpPr>
              <a:xfrm>
                <a:off x="910590" y="1699260"/>
                <a:ext cx="1371600" cy="99060"/>
                <a:chOff x="910590" y="1699260"/>
                <a:chExt cx="1371600" cy="99060"/>
              </a:xfrm>
            </p:grpSpPr>
            <p:cxnSp>
              <p:nvCxnSpPr>
                <p:cNvPr id="48" name="直接连接符 4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9" name="直接连接符 48"/>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45" name="组合 36"/>
              <p:cNvGrpSpPr/>
              <p:nvPr/>
            </p:nvGrpSpPr>
            <p:grpSpPr>
              <a:xfrm rot="5400000">
                <a:off x="728610" y="1866000"/>
                <a:ext cx="684000" cy="83820"/>
                <a:chOff x="910590" y="1699260"/>
                <a:chExt cx="1371600" cy="99060"/>
              </a:xfrm>
            </p:grpSpPr>
            <p:cxnSp>
              <p:nvCxnSpPr>
                <p:cNvPr id="46" name="直接连接符 45"/>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7" name="直接连接符 46"/>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42" name="文本框 6"/>
            <p:cNvSpPr txBox="1"/>
            <p:nvPr/>
          </p:nvSpPr>
          <p:spPr>
            <a:xfrm>
              <a:off x="1393721" y="2085460"/>
              <a:ext cx="6150077" cy="708592"/>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6</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时序逻辑电路</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
          <p:nvSpPr>
            <p:cNvPr id="43" name="矩形 42"/>
            <p:cNvSpPr/>
            <p:nvPr/>
          </p:nvSpPr>
          <p:spPr>
            <a:xfrm>
              <a:off x="1942339" y="2825404"/>
              <a:ext cx="4800590" cy="923330"/>
            </a:xfrm>
            <a:prstGeom prst="rect">
              <a:avLst/>
            </a:prstGeom>
          </p:spPr>
          <p:txBody>
            <a:bodyPr wrap="square">
              <a:spAutoFit/>
            </a:bodyPr>
            <a:lstStyle/>
            <a:p>
              <a:pPr algn="ctr">
                <a:spcBef>
                  <a:spcPts val="1200"/>
                </a:spcBef>
              </a:pPr>
              <a:r>
                <a:rPr lang="en-US" altLang="zh-CN"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6.2   </a:t>
              </a:r>
              <a:r>
                <a:rPr lang="zh-CN" altLang="en-US"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时序逻辑电路分析</a:t>
              </a:r>
              <a:endParaRPr lang="en-US" altLang="zh-CN"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spcBef>
                  <a:spcPts val="1200"/>
                </a:spcBef>
              </a:pPr>
              <a:r>
                <a:rPr lang="zh-CN" altLang="en-US" sz="20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a:t>
              </a:r>
              <a:r>
                <a:rPr lang="en-US" altLang="zh-CN" sz="20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2</a:t>
              </a:r>
              <a:r>
                <a:rPr lang="zh-CN" altLang="en-US" sz="20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a:t>
              </a:r>
              <a:r>
                <a:rPr lang="en-US" altLang="zh-CN" sz="20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20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异步时序逻辑电路分析</a:t>
              </a:r>
              <a:endParaRPr lang="zh-CN" altLang="en-US" sz="20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grpSp>
    </p:spTree>
  </p:cSld>
  <p:clrMapOvr>
    <a:masterClrMapping/>
  </p:clrMapOvr>
  <p:transition spd="slow">
    <p:randomBa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6"/>
          <p:cNvSpPr>
            <a:spLocks noChangeArrowheads="1"/>
          </p:cNvSpPr>
          <p:nvPr/>
        </p:nvSpPr>
        <p:spPr bwMode="auto">
          <a:xfrm>
            <a:off x="1858645" y="701675"/>
            <a:ext cx="4946650" cy="523220"/>
          </a:xfrm>
          <a:prstGeom prst="rect">
            <a:avLst/>
          </a:prstGeom>
          <a:noFill/>
          <a:ln w="9525">
            <a:noFill/>
            <a:miter lim="800000"/>
          </a:ln>
        </p:spPr>
        <p:txBody>
          <a:bodyP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defRPr/>
            </a:pPr>
            <a:r>
              <a:rPr lang="zh-CN" altLang="en-US" sz="2800" b="1" cap="all" dirty="0">
                <a:ln w="0"/>
                <a:solidFill>
                  <a:srgbClr val="6600FF"/>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rPr>
              <a:t>异步时序逻辑电路分析</a:t>
            </a:r>
            <a:endParaRPr lang="zh-CN" altLang="en-US" sz="2800" b="1" cap="all" dirty="0">
              <a:ln w="0"/>
              <a:solidFill>
                <a:srgbClr val="6600FF"/>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endParaRPr>
          </a:p>
        </p:txBody>
      </p:sp>
      <p:grpSp>
        <p:nvGrpSpPr>
          <p:cNvPr id="21" name="组合 20"/>
          <p:cNvGrpSpPr/>
          <p:nvPr/>
        </p:nvGrpSpPr>
        <p:grpSpPr>
          <a:xfrm>
            <a:off x="392432" y="1327223"/>
            <a:ext cx="4396546" cy="420971"/>
            <a:chOff x="670560" y="892917"/>
            <a:chExt cx="4396546" cy="420971"/>
          </a:xfrm>
        </p:grpSpPr>
        <p:sp>
          <p:nvSpPr>
            <p:cNvPr id="22" name="矩形 21"/>
            <p:cNvSpPr/>
            <p:nvPr/>
          </p:nvSpPr>
          <p:spPr>
            <a:xfrm>
              <a:off x="1035233" y="913778"/>
              <a:ext cx="4031873"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异步与同步时序逻辑电路分析差异</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3"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1" name="AutoShape 40"/>
          <p:cNvSpPr>
            <a:spLocks noChangeArrowheads="1"/>
          </p:cNvSpPr>
          <p:nvPr/>
        </p:nvSpPr>
        <p:spPr bwMode="auto">
          <a:xfrm>
            <a:off x="2586990" y="3536939"/>
            <a:ext cx="1851660" cy="440701"/>
          </a:xfrm>
          <a:prstGeom prst="wedgeRoundRectCallout">
            <a:avLst>
              <a:gd name="adj1" fmla="val -2891"/>
              <a:gd name="adj2" fmla="val -75680"/>
              <a:gd name="adj3" fmla="val 16667"/>
            </a:avLst>
          </a:prstGeom>
          <a:solidFill>
            <a:srgbClr val="FFFF66"/>
          </a:solidFill>
          <a:ln w="28575" algn="ctr">
            <a:solidFill>
              <a:srgbClr val="6600FF"/>
            </a:solidFill>
            <a:miter lim="800000"/>
          </a:ln>
          <a:effectLst>
            <a:outerShdw blurRad="50800" dist="38100" dir="5400000" algn="t" rotWithShape="0">
              <a:prstClr val="black">
                <a:alpha val="40000"/>
              </a:prstClr>
            </a:outerShdw>
          </a:effectLst>
        </p:spPr>
        <p:txBody>
          <a:bodyPr lIns="0" rIns="0" anchor="ctr"/>
          <a:lstStyle/>
          <a:p>
            <a:pPr marL="88900">
              <a:tabLst>
                <a:tab pos="1257300" algn="l"/>
                <a:tab pos="1346200" algn="l"/>
              </a:tabLst>
            </a:pPr>
            <a:r>
              <a:rPr lang="zh-CN" altLang="en-US"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成立条件：时钟有效</a:t>
            </a:r>
            <a:endParaRPr lang="zh-CN" altLang="en-US"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0" name="左右箭头标注 59"/>
          <p:cNvSpPr/>
          <p:nvPr/>
        </p:nvSpPr>
        <p:spPr>
          <a:xfrm>
            <a:off x="2122170" y="2484120"/>
            <a:ext cx="2727960" cy="914400"/>
          </a:xfrm>
          <a:prstGeom prst="leftRightArrowCallout">
            <a:avLst>
              <a:gd name="adj1" fmla="val 45000"/>
              <a:gd name="adj2" fmla="val 38333"/>
              <a:gd name="adj3" fmla="val 25000"/>
              <a:gd name="adj4" fmla="val 48123"/>
            </a:avLst>
          </a:prstGeom>
          <a:solidFill>
            <a:schemeClr val="bg2"/>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00FF"/>
                </a:solidFill>
                <a:latin typeface="微软雅黑" panose="020B0503020204020204" pitchFamily="34" charset="-122"/>
                <a:ea typeface="微软雅黑" panose="020B0503020204020204" pitchFamily="34" charset="-122"/>
              </a:rPr>
              <a:t>状态</a:t>
            </a:r>
            <a:endParaRPr lang="en-US" altLang="zh-CN" b="1" dirty="0">
              <a:solidFill>
                <a:srgbClr val="0000FF"/>
              </a:solidFill>
              <a:latin typeface="微软雅黑" panose="020B0503020204020204" pitchFamily="34" charset="-122"/>
              <a:ea typeface="微软雅黑" panose="020B0503020204020204" pitchFamily="34" charset="-122"/>
            </a:endParaRPr>
          </a:p>
          <a:p>
            <a:pPr algn="ctr"/>
            <a:r>
              <a:rPr lang="zh-CN" altLang="en-US" b="1" dirty="0">
                <a:solidFill>
                  <a:srgbClr val="0000FF"/>
                </a:solidFill>
                <a:latin typeface="微软雅黑" panose="020B0503020204020204" pitchFamily="34" charset="-122"/>
                <a:ea typeface="微软雅黑" panose="020B0503020204020204" pitchFamily="34" charset="-122"/>
              </a:rPr>
              <a:t>方程</a:t>
            </a:r>
            <a:endParaRPr lang="zh-CN" altLang="en-US" dirty="0"/>
          </a:p>
        </p:txBody>
      </p:sp>
      <p:sp>
        <p:nvSpPr>
          <p:cNvPr id="63" name="圆角矩形 62"/>
          <p:cNvSpPr/>
          <p:nvPr/>
        </p:nvSpPr>
        <p:spPr>
          <a:xfrm>
            <a:off x="1062990" y="2468880"/>
            <a:ext cx="1036320" cy="9144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不考虑时钟</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64" name="圆角矩形 63"/>
          <p:cNvSpPr/>
          <p:nvPr/>
        </p:nvSpPr>
        <p:spPr>
          <a:xfrm>
            <a:off x="4872990" y="2491740"/>
            <a:ext cx="1036320" cy="9144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必须考虑时钟</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65" name="右箭头 64"/>
          <p:cNvSpPr/>
          <p:nvPr/>
        </p:nvSpPr>
        <p:spPr>
          <a:xfrm>
            <a:off x="5909310" y="2682240"/>
            <a:ext cx="53340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 65"/>
          <p:cNvSpPr/>
          <p:nvPr/>
        </p:nvSpPr>
        <p:spPr>
          <a:xfrm>
            <a:off x="6457950" y="2484120"/>
            <a:ext cx="1653540" cy="914400"/>
          </a:xfrm>
          <a:prstGeom prst="roundRect">
            <a:avLst>
              <a:gd name="adj" fmla="val 1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zh-CN" altLang="en-US"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需要列出时钟方程并确定状态方程成立的时钟条件。</a:t>
            </a:r>
            <a:endParaRPr lang="zh-CN" altLang="en-US" sz="14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TextBox 11"/>
          <p:cNvSpPr txBox="1"/>
          <p:nvPr/>
        </p:nvSpPr>
        <p:spPr>
          <a:xfrm>
            <a:off x="2209800" y="2762250"/>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同步</a:t>
            </a:r>
            <a:endParaRPr lang="zh-CN" altLang="en-US" dirty="0">
              <a:latin typeface="微软雅黑" panose="020B0503020204020204" pitchFamily="34" charset="-122"/>
              <a:ea typeface="微软雅黑" panose="020B0503020204020204" pitchFamily="34" charset="-122"/>
            </a:endParaRPr>
          </a:p>
        </p:txBody>
      </p:sp>
      <p:sp>
        <p:nvSpPr>
          <p:cNvPr id="13" name="TextBox 12"/>
          <p:cNvSpPr txBox="1"/>
          <p:nvPr/>
        </p:nvSpPr>
        <p:spPr>
          <a:xfrm>
            <a:off x="4103370" y="2758440"/>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异步</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p:cTn id="7" dur="1000" fill="hold"/>
                                        <p:tgtEl>
                                          <p:spTgt spid="60"/>
                                        </p:tgtEl>
                                        <p:attrNameLst>
                                          <p:attrName>ppt_w</p:attrName>
                                        </p:attrNameLst>
                                      </p:cBhvr>
                                      <p:tavLst>
                                        <p:tav tm="0">
                                          <p:val>
                                            <p:fltVal val="0"/>
                                          </p:val>
                                        </p:tav>
                                        <p:tav tm="100000">
                                          <p:val>
                                            <p:strVal val="#ppt_w"/>
                                          </p:val>
                                        </p:tav>
                                      </p:tavLst>
                                    </p:anim>
                                    <p:anim calcmode="lin" valueType="num">
                                      <p:cBhvr>
                                        <p:cTn id="8" dur="1000" fill="hold"/>
                                        <p:tgtEl>
                                          <p:spTgt spid="60"/>
                                        </p:tgtEl>
                                        <p:attrNameLst>
                                          <p:attrName>ppt_h</p:attrName>
                                        </p:attrNameLst>
                                      </p:cBhvr>
                                      <p:tavLst>
                                        <p:tav tm="0">
                                          <p:val>
                                            <p:strVal val="#ppt_h"/>
                                          </p:val>
                                        </p:tav>
                                        <p:tav tm="100000">
                                          <p:val>
                                            <p:strVal val="#ppt_h"/>
                                          </p:val>
                                        </p:tav>
                                      </p:tavLst>
                                    </p:anim>
                                  </p:childTnLst>
                                </p:cTn>
                              </p:par>
                            </p:childTnLst>
                          </p:cTn>
                        </p:par>
                        <p:par>
                          <p:cTn id="9" fill="hold">
                            <p:stCondLst>
                              <p:cond delay="1000"/>
                            </p:stCondLst>
                            <p:childTnLst>
                              <p:par>
                                <p:cTn id="10" presetID="22" presetClass="entr" presetSubtype="1" fill="hold" grpId="0" nodeType="after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up)">
                                      <p:cBhvr>
                                        <p:cTn id="12" dur="10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2"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1000"/>
                                        <p:tgtEl>
                                          <p:spTgt spid="12"/>
                                        </p:tgtEl>
                                        <p:attrNameLst>
                                          <p:attrName>ppt_x</p:attrName>
                                        </p:attrNameLst>
                                      </p:cBhvr>
                                      <p:tavLst>
                                        <p:tav tm="0">
                                          <p:val>
                                            <p:strVal val="#ppt_x+#ppt_w*1.125000"/>
                                          </p:val>
                                        </p:tav>
                                        <p:tav tm="100000">
                                          <p:val>
                                            <p:strVal val="#ppt_x"/>
                                          </p:val>
                                        </p:tav>
                                      </p:tavLst>
                                    </p:anim>
                                    <p:animEffect transition="in" filter="wipe(left)">
                                      <p:cBhvr>
                                        <p:cTn id="18" dur="1000"/>
                                        <p:tgtEl>
                                          <p:spTgt spid="12"/>
                                        </p:tgtEl>
                                      </p:cBhvr>
                                    </p:animEffect>
                                  </p:childTnLst>
                                </p:cTn>
                              </p:par>
                            </p:childTnLst>
                          </p:cTn>
                        </p:par>
                        <p:par>
                          <p:cTn id="19" fill="hold">
                            <p:stCondLst>
                              <p:cond delay="1000"/>
                            </p:stCondLst>
                            <p:childTnLst>
                              <p:par>
                                <p:cTn id="20" presetID="12" presetClass="entr" presetSubtype="2" fill="hold" grpId="0" nodeType="afterEffect">
                                  <p:stCondLst>
                                    <p:cond delay="0"/>
                                  </p:stCondLst>
                                  <p:childTnLst>
                                    <p:set>
                                      <p:cBhvr>
                                        <p:cTn id="21" dur="1" fill="hold">
                                          <p:stCondLst>
                                            <p:cond delay="0"/>
                                          </p:stCondLst>
                                        </p:cTn>
                                        <p:tgtEl>
                                          <p:spTgt spid="63"/>
                                        </p:tgtEl>
                                        <p:attrNameLst>
                                          <p:attrName>style.visibility</p:attrName>
                                        </p:attrNameLst>
                                      </p:cBhvr>
                                      <p:to>
                                        <p:strVal val="visible"/>
                                      </p:to>
                                    </p:set>
                                    <p:anim calcmode="lin" valueType="num">
                                      <p:cBhvr additive="base">
                                        <p:cTn id="22" dur="1000"/>
                                        <p:tgtEl>
                                          <p:spTgt spid="63"/>
                                        </p:tgtEl>
                                        <p:attrNameLst>
                                          <p:attrName>ppt_x</p:attrName>
                                        </p:attrNameLst>
                                      </p:cBhvr>
                                      <p:tavLst>
                                        <p:tav tm="0">
                                          <p:val>
                                            <p:strVal val="#ppt_x+#ppt_w*1.125000"/>
                                          </p:val>
                                        </p:tav>
                                        <p:tav tm="100000">
                                          <p:val>
                                            <p:strVal val="#ppt_x"/>
                                          </p:val>
                                        </p:tav>
                                      </p:tavLst>
                                    </p:anim>
                                    <p:animEffect transition="in" filter="wipe(left)">
                                      <p:cBhvr>
                                        <p:cTn id="23" dur="1000"/>
                                        <p:tgtEl>
                                          <p:spTgt spid="63"/>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8"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1000"/>
                                        <p:tgtEl>
                                          <p:spTgt spid="13"/>
                                        </p:tgtEl>
                                        <p:attrNameLst>
                                          <p:attrName>ppt_x</p:attrName>
                                        </p:attrNameLst>
                                      </p:cBhvr>
                                      <p:tavLst>
                                        <p:tav tm="0">
                                          <p:val>
                                            <p:strVal val="#ppt_x-#ppt_w*1.125000"/>
                                          </p:val>
                                        </p:tav>
                                        <p:tav tm="100000">
                                          <p:val>
                                            <p:strVal val="#ppt_x"/>
                                          </p:val>
                                        </p:tav>
                                      </p:tavLst>
                                    </p:anim>
                                    <p:animEffect transition="in" filter="wipe(right)">
                                      <p:cBhvr>
                                        <p:cTn id="29" dur="1000"/>
                                        <p:tgtEl>
                                          <p:spTgt spid="13"/>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64"/>
                                        </p:tgtEl>
                                        <p:attrNameLst>
                                          <p:attrName>style.visibility</p:attrName>
                                        </p:attrNameLst>
                                      </p:cBhvr>
                                      <p:to>
                                        <p:strVal val="visible"/>
                                      </p:to>
                                    </p:set>
                                    <p:animEffect transition="in" filter="wipe(left)">
                                      <p:cBhvr>
                                        <p:cTn id="33" dur="1000"/>
                                        <p:tgtEl>
                                          <p:spTgt spid="64"/>
                                        </p:tgtEl>
                                      </p:cBhvr>
                                    </p:animEffect>
                                  </p:childTnLst>
                                </p:cTn>
                              </p:par>
                            </p:childTnLst>
                          </p:cTn>
                        </p:par>
                        <p:par>
                          <p:cTn id="34" fill="hold">
                            <p:stCondLst>
                              <p:cond delay="2000"/>
                            </p:stCondLst>
                            <p:childTnLst>
                              <p:par>
                                <p:cTn id="35" presetID="22" presetClass="entr" presetSubtype="8" fill="hold" grpId="0" nodeType="afterEffect">
                                  <p:stCondLst>
                                    <p:cond delay="0"/>
                                  </p:stCondLst>
                                  <p:childTnLst>
                                    <p:set>
                                      <p:cBhvr>
                                        <p:cTn id="36" dur="1" fill="hold">
                                          <p:stCondLst>
                                            <p:cond delay="0"/>
                                          </p:stCondLst>
                                        </p:cTn>
                                        <p:tgtEl>
                                          <p:spTgt spid="65"/>
                                        </p:tgtEl>
                                        <p:attrNameLst>
                                          <p:attrName>style.visibility</p:attrName>
                                        </p:attrNameLst>
                                      </p:cBhvr>
                                      <p:to>
                                        <p:strVal val="visible"/>
                                      </p:to>
                                    </p:set>
                                    <p:animEffect transition="in" filter="wipe(left)">
                                      <p:cBhvr>
                                        <p:cTn id="37" dur="1000"/>
                                        <p:tgtEl>
                                          <p:spTgt spid="65"/>
                                        </p:tgtEl>
                                      </p:cBhvr>
                                    </p:animEffect>
                                  </p:childTnLst>
                                </p:cTn>
                              </p:par>
                            </p:childTnLst>
                          </p:cTn>
                        </p:par>
                        <p:par>
                          <p:cTn id="38" fill="hold">
                            <p:stCondLst>
                              <p:cond delay="3000"/>
                            </p:stCondLst>
                            <p:childTnLst>
                              <p:par>
                                <p:cTn id="39" presetID="22" presetClass="entr" presetSubtype="8" fill="hold" grpId="0" nodeType="afterEffect">
                                  <p:stCondLst>
                                    <p:cond delay="0"/>
                                  </p:stCondLst>
                                  <p:childTnLst>
                                    <p:set>
                                      <p:cBhvr>
                                        <p:cTn id="40" dur="1" fill="hold">
                                          <p:stCondLst>
                                            <p:cond delay="0"/>
                                          </p:stCondLst>
                                        </p:cTn>
                                        <p:tgtEl>
                                          <p:spTgt spid="66"/>
                                        </p:tgtEl>
                                        <p:attrNameLst>
                                          <p:attrName>style.visibility</p:attrName>
                                        </p:attrNameLst>
                                      </p:cBhvr>
                                      <p:to>
                                        <p:strVal val="visible"/>
                                      </p:to>
                                    </p:set>
                                    <p:animEffect transition="in" filter="wipe(left)">
                                      <p:cBhvr>
                                        <p:cTn id="41" dur="10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60" grpId="0" animBg="1"/>
      <p:bldP spid="63" grpId="0" animBg="1"/>
      <p:bldP spid="64" grpId="0" animBg="1"/>
      <p:bldP spid="65" grpId="0" animBg="1"/>
      <p:bldP spid="66" grpId="0" animBg="1"/>
      <p:bldP spid="12"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392893" y="1369376"/>
            <a:ext cx="3792695" cy="374630"/>
            <a:chOff x="369777" y="1347760"/>
            <a:chExt cx="3792695" cy="374630"/>
          </a:xfrm>
        </p:grpSpPr>
        <p:sp>
          <p:nvSpPr>
            <p:cNvPr id="31" name="TextBox 30"/>
            <p:cNvSpPr txBox="1"/>
            <p:nvPr/>
          </p:nvSpPr>
          <p:spPr>
            <a:xfrm>
              <a:off x="723710" y="1350409"/>
              <a:ext cx="3438762" cy="369332"/>
            </a:xfrm>
            <a:prstGeom prst="rect">
              <a:avLst/>
            </a:prstGeom>
            <a:noFill/>
          </p:spPr>
          <p:txBody>
            <a:bodyPr wrap="none" rtlCol="0">
              <a:spAutoFit/>
            </a:bodyPr>
            <a:lstStyle/>
            <a:p>
              <a:r>
                <a:rPr lang="zh-CN" altLang="en-US" b="1" dirty="0">
                  <a:solidFill>
                    <a:srgbClr val="CC00CC"/>
                  </a:solidFill>
                  <a:latin typeface="黑体" panose="02010609060101010101" pitchFamily="49" charset="-122"/>
                  <a:ea typeface="黑体" panose="02010609060101010101" pitchFamily="49" charset="-122"/>
                </a:rPr>
                <a:t>例：</a:t>
              </a:r>
              <a:r>
                <a:rPr lang="zh-CN" altLang="en-US" b="1" dirty="0">
                  <a:solidFill>
                    <a:srgbClr val="6600FF"/>
                  </a:solidFill>
                  <a:latin typeface="黑体" panose="02010609060101010101" pitchFamily="49" charset="-122"/>
                  <a:ea typeface="黑体" panose="02010609060101010101" pitchFamily="49" charset="-122"/>
                </a:rPr>
                <a:t>分析图示异步时序逻辑电路</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32" name="Picture 4"/>
            <p:cNvPicPr>
              <a:picLocks noChangeAspect="1" noChangeArrowheads="1"/>
            </p:cNvPicPr>
            <p:nvPr/>
          </p:nvPicPr>
          <p:blipFill>
            <a:blip r:embed="rId1"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19" name="组合 18"/>
          <p:cNvGrpSpPr/>
          <p:nvPr/>
        </p:nvGrpSpPr>
        <p:grpSpPr>
          <a:xfrm>
            <a:off x="300992" y="801443"/>
            <a:ext cx="3627105" cy="420971"/>
            <a:chOff x="670560" y="892917"/>
            <a:chExt cx="3627105" cy="420971"/>
          </a:xfrm>
        </p:grpSpPr>
        <p:sp>
          <p:nvSpPr>
            <p:cNvPr id="21" name="矩形 20"/>
            <p:cNvSpPr/>
            <p:nvPr/>
          </p:nvSpPr>
          <p:spPr>
            <a:xfrm>
              <a:off x="1035233" y="913778"/>
              <a:ext cx="3262432"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异步时序逻辑电路分析举例</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4"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59" name="组合 58"/>
          <p:cNvGrpSpPr/>
          <p:nvPr/>
        </p:nvGrpSpPr>
        <p:grpSpPr>
          <a:xfrm>
            <a:off x="443548" y="2406487"/>
            <a:ext cx="3636541" cy="1138337"/>
            <a:chOff x="443548" y="2284567"/>
            <a:chExt cx="3636541" cy="1138337"/>
          </a:xfrm>
        </p:grpSpPr>
        <p:sp>
          <p:nvSpPr>
            <p:cNvPr id="22" name="Rectangle 11"/>
            <p:cNvSpPr>
              <a:spLocks noChangeArrowheads="1"/>
            </p:cNvSpPr>
            <p:nvPr/>
          </p:nvSpPr>
          <p:spPr bwMode="auto">
            <a:xfrm>
              <a:off x="443548" y="2284567"/>
              <a:ext cx="1476686" cy="397673"/>
            </a:xfrm>
            <a:prstGeom prst="rect">
              <a:avLst/>
            </a:prstGeom>
            <a:noFill/>
            <a:ln w="9525" algn="ctr">
              <a:noFill/>
              <a:miter lim="800000"/>
            </a:ln>
          </p:spPr>
          <p:txBody>
            <a:bodyPr wrap="none">
              <a:spAutoFit/>
            </a:bodyPr>
            <a:lstStyle/>
            <a:p>
              <a:pPr>
                <a:lnSpc>
                  <a:spcPct val="124000"/>
                </a:lnSpc>
                <a:spcBef>
                  <a:spcPts val="300"/>
                </a:spcBef>
                <a:spcAft>
                  <a:spcPts val="300"/>
                </a:spcAft>
              </a:pPr>
              <a:r>
                <a:rPr lang="en-US" altLang="zh-CN" sz="16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rPr>
                <a:t>① </a:t>
              </a:r>
              <a:r>
                <a:rPr lang="zh-CN" altLang="en-US" sz="16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rPr>
                <a:t>时钟方程：</a:t>
              </a:r>
              <a:endParaRPr lang="zh-CN" altLang="en-US" sz="16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Rectangle 12"/>
            <p:cNvSpPr>
              <a:spLocks noChangeArrowheads="1"/>
            </p:cNvSpPr>
            <p:nvPr/>
          </p:nvSpPr>
          <p:spPr bwMode="auto">
            <a:xfrm>
              <a:off x="676593" y="2729702"/>
              <a:ext cx="3403496" cy="338554"/>
            </a:xfrm>
            <a:prstGeom prst="rect">
              <a:avLst/>
            </a:prstGeom>
            <a:noFill/>
            <a:ln w="9525" algn="ctr">
              <a:noFill/>
              <a:miter lim="800000"/>
            </a:ln>
          </p:spPr>
          <p:txBody>
            <a:bodyPr wrap="none" anchor="ctr">
              <a:spAutoFit/>
            </a:bodyPr>
            <a:lstStyle/>
            <a:p>
              <a:pPr eaLnBrk="0" hangingPunct="0"/>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FF</a:t>
              </a:r>
              <a:r>
                <a:rPr lang="en-US" altLang="zh-CN" sz="1600" baseline="-25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CP</a:t>
              </a:r>
              <a:r>
                <a:rPr lang="en-US" altLang="zh-CN" sz="1600" baseline="-25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CP</a:t>
              </a: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CP</a:t>
              </a: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0→1</a:t>
              </a: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时有效； </a:t>
              </a:r>
              <a:endPar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5" name="Rectangle 13"/>
            <p:cNvSpPr>
              <a:spLocks noChangeArrowheads="1"/>
            </p:cNvSpPr>
            <p:nvPr/>
          </p:nvSpPr>
          <p:spPr bwMode="auto">
            <a:xfrm>
              <a:off x="676593" y="3084350"/>
              <a:ext cx="3344227" cy="338554"/>
            </a:xfrm>
            <a:prstGeom prst="rect">
              <a:avLst/>
            </a:prstGeom>
            <a:noFill/>
            <a:ln w="9525" algn="ctr">
              <a:noFill/>
              <a:miter lim="800000"/>
            </a:ln>
          </p:spPr>
          <p:txBody>
            <a:bodyPr wrap="square">
              <a:spAutoFit/>
            </a:bodyPr>
            <a:lstStyle/>
            <a:p>
              <a:pPr marL="622300" indent="-622300" eaLnBrk="0" hangingPunct="0"/>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FF</a:t>
              </a:r>
              <a:r>
                <a:rPr lang="en-US" altLang="zh-CN" sz="1600" baseline="-25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CP</a:t>
              </a:r>
              <a:r>
                <a:rPr lang="en-US" altLang="zh-CN" sz="1600" baseline="-25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Q</a:t>
              </a:r>
              <a:r>
                <a:rPr lang="en-US" altLang="zh-CN" sz="1600" baseline="-25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Q</a:t>
              </a:r>
              <a:r>
                <a:rPr lang="en-US" altLang="zh-CN" sz="1600" baseline="-25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0→1</a:t>
              </a: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时有效。</a:t>
              </a:r>
              <a:endPar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grpSp>
      <p:grpSp>
        <p:nvGrpSpPr>
          <p:cNvPr id="30" name="组合 29"/>
          <p:cNvGrpSpPr/>
          <p:nvPr/>
        </p:nvGrpSpPr>
        <p:grpSpPr>
          <a:xfrm>
            <a:off x="464175" y="2012644"/>
            <a:ext cx="1965801" cy="338554"/>
            <a:chOff x="4731375" y="1650857"/>
            <a:chExt cx="1965801" cy="338554"/>
          </a:xfrm>
        </p:grpSpPr>
        <p:sp>
          <p:nvSpPr>
            <p:cNvPr id="33" name="矩形 32"/>
            <p:cNvSpPr/>
            <p:nvPr/>
          </p:nvSpPr>
          <p:spPr>
            <a:xfrm>
              <a:off x="5076219" y="1650857"/>
              <a:ext cx="1620957"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写各逻辑方程式</a:t>
              </a:r>
              <a:endParaRPr lang="zh-CN" altLang="en-US" sz="1600" dirty="0"/>
            </a:p>
          </p:txBody>
        </p:sp>
        <p:pic>
          <p:nvPicPr>
            <p:cNvPr id="34" name="Picture 5"/>
            <p:cNvPicPr>
              <a:picLocks noChangeAspect="1" noChangeArrowheads="1"/>
            </p:cNvPicPr>
            <p:nvPr/>
          </p:nvPicPr>
          <p:blipFill>
            <a:blip r:embed="rId3" cstate="print"/>
            <a:srcRect/>
            <a:stretch>
              <a:fillRect/>
            </a:stretch>
          </p:blipFill>
          <p:spPr bwMode="auto">
            <a:xfrm>
              <a:off x="4731375" y="1677030"/>
              <a:ext cx="360000" cy="286209"/>
            </a:xfrm>
            <a:prstGeom prst="rect">
              <a:avLst/>
            </a:prstGeom>
            <a:noFill/>
            <a:ln w="9525">
              <a:noFill/>
              <a:miter lim="800000"/>
              <a:headEnd/>
              <a:tailEnd/>
            </a:ln>
          </p:spPr>
        </p:pic>
      </p:grpSp>
      <p:grpSp>
        <p:nvGrpSpPr>
          <p:cNvPr id="8" name="组合 7"/>
          <p:cNvGrpSpPr/>
          <p:nvPr/>
        </p:nvGrpSpPr>
        <p:grpSpPr>
          <a:xfrm>
            <a:off x="4847669" y="803910"/>
            <a:ext cx="4087434" cy="1425366"/>
            <a:chOff x="4847669" y="803910"/>
            <a:chExt cx="4087434" cy="1425366"/>
          </a:xfrm>
        </p:grpSpPr>
        <p:sp>
          <p:nvSpPr>
            <p:cNvPr id="27" name="AutoShape 21"/>
            <p:cNvSpPr>
              <a:spLocks noChangeArrowheads="1"/>
            </p:cNvSpPr>
            <p:nvPr/>
          </p:nvSpPr>
          <p:spPr bwMode="auto">
            <a:xfrm>
              <a:off x="4847669" y="803910"/>
              <a:ext cx="4087434" cy="1425366"/>
            </a:xfrm>
            <a:prstGeom prst="roundRect">
              <a:avLst>
                <a:gd name="adj" fmla="val 2731"/>
              </a:avLst>
            </a:prstGeom>
            <a:solidFill>
              <a:srgbClr val="FFFFFF"/>
            </a:solidFill>
            <a:ln w="9525">
              <a:solidFill>
                <a:schemeClr val="tx1"/>
              </a:solidFill>
              <a:miter lim="800000"/>
            </a:ln>
          </p:spPr>
          <p:txBody>
            <a:bodyPr wrap="none" anchor="ctr"/>
            <a:lstStyle/>
            <a:p>
              <a:pPr algn="ctr"/>
              <a:endParaRPr lang="en-US" altLang="zh-CN" sz="2000">
                <a:solidFill>
                  <a:srgbClr val="000000"/>
                </a:solidFill>
              </a:endParaRPr>
            </a:p>
          </p:txBody>
        </p:sp>
        <p:pic>
          <p:nvPicPr>
            <p:cNvPr id="7" name="图片 6"/>
            <p:cNvPicPr>
              <a:picLocks noChangeAspect="1"/>
            </p:cNvPicPr>
            <p:nvPr/>
          </p:nvPicPr>
          <p:blipFill>
            <a:blip r:embed="rId4"/>
            <a:stretch>
              <a:fillRect/>
            </a:stretch>
          </p:blipFill>
          <p:spPr>
            <a:xfrm>
              <a:off x="4862398" y="822304"/>
              <a:ext cx="4036798" cy="1323826"/>
            </a:xfrm>
            <a:prstGeom prst="rect">
              <a:avLst/>
            </a:prstGeom>
          </p:spPr>
        </p:pic>
      </p:grpSp>
      <p:cxnSp>
        <p:nvCxnSpPr>
          <p:cNvPr id="12" name="直接连接符 11"/>
          <p:cNvCxnSpPr/>
          <p:nvPr/>
        </p:nvCxnSpPr>
        <p:spPr>
          <a:xfrm>
            <a:off x="5206694" y="1486665"/>
            <a:ext cx="504000" cy="0"/>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6327562" y="1210953"/>
            <a:ext cx="863032" cy="288000"/>
            <a:chOff x="1729740" y="2423160"/>
            <a:chExt cx="863032" cy="288000"/>
          </a:xfrm>
        </p:grpSpPr>
        <p:cxnSp>
          <p:nvCxnSpPr>
            <p:cNvPr id="13" name="直接连接符 12"/>
            <p:cNvCxnSpPr/>
            <p:nvPr/>
          </p:nvCxnSpPr>
          <p:spPr>
            <a:xfrm>
              <a:off x="1729740" y="2423160"/>
              <a:ext cx="396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124772" y="2696424"/>
              <a:ext cx="468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5400000">
              <a:off x="1980772" y="2567160"/>
              <a:ext cx="288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475298" y="3708400"/>
            <a:ext cx="2176922" cy="370230"/>
            <a:chOff x="475298" y="3586480"/>
            <a:chExt cx="2176922" cy="370230"/>
          </a:xfrm>
        </p:grpSpPr>
        <p:sp>
          <p:nvSpPr>
            <p:cNvPr id="43" name="Rectangle 9"/>
            <p:cNvSpPr>
              <a:spLocks noChangeArrowheads="1"/>
            </p:cNvSpPr>
            <p:nvPr/>
          </p:nvSpPr>
          <p:spPr bwMode="auto">
            <a:xfrm>
              <a:off x="475298" y="3586480"/>
              <a:ext cx="1476686" cy="370230"/>
            </a:xfrm>
            <a:prstGeom prst="rect">
              <a:avLst/>
            </a:prstGeom>
            <a:noFill/>
            <a:ln w="9525" algn="ctr">
              <a:noFill/>
              <a:miter lim="800000"/>
            </a:ln>
          </p:spPr>
          <p:txBody>
            <a:bodyPr wrap="none">
              <a:spAutoFit/>
            </a:bodyPr>
            <a:lstStyle/>
            <a:p>
              <a:pPr algn="ctr">
                <a:lnSpc>
                  <a:spcPct val="124000"/>
                </a:lnSpc>
                <a:spcBef>
                  <a:spcPts val="300"/>
                </a:spcBef>
                <a:spcAft>
                  <a:spcPts val="300"/>
                </a:spcAft>
              </a:pPr>
              <a:r>
                <a:rPr lang="en-US" altLang="zh-CN" sz="16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rPr>
                <a:t>② </a:t>
              </a:r>
              <a:r>
                <a:rPr lang="zh-CN" altLang="en-US" sz="16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rPr>
                <a:t>输出方程：</a:t>
              </a:r>
              <a:endParaRPr lang="zh-CN" altLang="en-US" sz="16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0" name="对象 9"/>
            <p:cNvGraphicFramePr>
              <a:graphicFrameLocks noChangeAspect="1"/>
            </p:cNvGraphicFramePr>
            <p:nvPr/>
          </p:nvGraphicFramePr>
          <p:xfrm>
            <a:off x="1814195" y="3602679"/>
            <a:ext cx="838025" cy="344189"/>
          </p:xfrm>
          <a:graphic>
            <a:graphicData uri="http://schemas.openxmlformats.org/presentationml/2006/ole">
              <mc:AlternateContent xmlns:mc="http://schemas.openxmlformats.org/markup-compatibility/2006">
                <mc:Choice xmlns:v="urn:schemas-microsoft-com:vml" Requires="v">
                  <p:oleObj spid="_x0000_s8271" name="公式" r:id="rId5" imgW="532765" imgH="215900" progId="Equation.3">
                    <p:embed/>
                  </p:oleObj>
                </mc:Choice>
                <mc:Fallback>
                  <p:oleObj name="公式" r:id="rId5" imgW="532765" imgH="215900" progId="Equation.3">
                    <p:embed/>
                    <p:pic>
                      <p:nvPicPr>
                        <p:cNvPr id="0" name="对象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4195" y="3602679"/>
                          <a:ext cx="838025" cy="344189"/>
                        </a:xfrm>
                        <a:prstGeom prst="rect">
                          <a:avLst/>
                        </a:prstGeom>
                        <a:noFill/>
                      </p:spPr>
                    </p:pic>
                  </p:oleObj>
                </mc:Fallback>
              </mc:AlternateContent>
            </a:graphicData>
          </a:graphic>
        </p:graphicFrame>
      </p:grpSp>
      <p:grpSp>
        <p:nvGrpSpPr>
          <p:cNvPr id="58" name="组合 57"/>
          <p:cNvGrpSpPr/>
          <p:nvPr/>
        </p:nvGrpSpPr>
        <p:grpSpPr>
          <a:xfrm>
            <a:off x="493078" y="4208780"/>
            <a:ext cx="2690618" cy="774061"/>
            <a:chOff x="493078" y="4086860"/>
            <a:chExt cx="2690618" cy="774061"/>
          </a:xfrm>
        </p:grpSpPr>
        <p:sp>
          <p:nvSpPr>
            <p:cNvPr id="45" name="Rectangle 12"/>
            <p:cNvSpPr>
              <a:spLocks noChangeArrowheads="1"/>
            </p:cNvSpPr>
            <p:nvPr/>
          </p:nvSpPr>
          <p:spPr bwMode="auto">
            <a:xfrm>
              <a:off x="493078" y="4086860"/>
              <a:ext cx="1476687" cy="397673"/>
            </a:xfrm>
            <a:prstGeom prst="rect">
              <a:avLst/>
            </a:prstGeom>
            <a:noFill/>
            <a:ln w="9525" algn="ctr">
              <a:noFill/>
              <a:miter lim="800000"/>
            </a:ln>
          </p:spPr>
          <p:txBody>
            <a:bodyPr wrap="none">
              <a:spAutoFit/>
            </a:bodyPr>
            <a:lstStyle/>
            <a:p>
              <a:pPr algn="ctr">
                <a:lnSpc>
                  <a:spcPct val="124000"/>
                </a:lnSpc>
                <a:spcBef>
                  <a:spcPts val="300"/>
                </a:spcBef>
                <a:spcAft>
                  <a:spcPts val="300"/>
                </a:spcAft>
              </a:pPr>
              <a:r>
                <a:rPr lang="en-US" altLang="zh-CN" sz="16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rPr>
                <a:t>③ </a:t>
              </a:r>
              <a:r>
                <a:rPr lang="zh-CN" altLang="en-US" sz="16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rPr>
                <a:t>激励方程：</a:t>
              </a:r>
              <a:endParaRPr lang="zh-CN" altLang="en-US" sz="16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7" name="对象 16"/>
            <p:cNvGraphicFramePr>
              <a:graphicFrameLocks noChangeAspect="1"/>
            </p:cNvGraphicFramePr>
            <p:nvPr/>
          </p:nvGraphicFramePr>
          <p:xfrm>
            <a:off x="1814194" y="4123914"/>
            <a:ext cx="676170" cy="324000"/>
          </p:xfrm>
          <a:graphic>
            <a:graphicData uri="http://schemas.openxmlformats.org/presentationml/2006/ole">
              <mc:AlternateContent xmlns:mc="http://schemas.openxmlformats.org/markup-compatibility/2006">
                <mc:Choice xmlns:v="urn:schemas-microsoft-com:vml" Requires="v">
                  <p:oleObj spid="_x0000_s8272" name="公式" r:id="rId7" imgW="456565" imgH="215900" progId="Equation.3">
                    <p:embed/>
                  </p:oleObj>
                </mc:Choice>
                <mc:Fallback>
                  <p:oleObj name="公式" r:id="rId7" imgW="456565" imgH="215900" progId="Equation.3">
                    <p:embed/>
                    <p:pic>
                      <p:nvPicPr>
                        <p:cNvPr id="0" name="对象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14194" y="4123914"/>
                          <a:ext cx="676170" cy="324000"/>
                        </a:xfrm>
                        <a:prstGeom prst="rect">
                          <a:avLst/>
                        </a:prstGeom>
                        <a:noFill/>
                      </p:spPr>
                    </p:pic>
                  </p:oleObj>
                </mc:Fallback>
              </mc:AlternateContent>
            </a:graphicData>
          </a:graphic>
        </p:graphicFrame>
        <p:graphicFrame>
          <p:nvGraphicFramePr>
            <p:cNvPr id="18" name="对象 17"/>
            <p:cNvGraphicFramePr>
              <a:graphicFrameLocks noChangeAspect="1"/>
            </p:cNvGraphicFramePr>
            <p:nvPr/>
          </p:nvGraphicFramePr>
          <p:xfrm>
            <a:off x="2551896" y="4123914"/>
            <a:ext cx="631800" cy="324000"/>
          </p:xfrm>
          <a:graphic>
            <a:graphicData uri="http://schemas.openxmlformats.org/presentationml/2006/ole">
              <mc:AlternateContent xmlns:mc="http://schemas.openxmlformats.org/markup-compatibility/2006">
                <mc:Choice xmlns:v="urn:schemas-microsoft-com:vml" Requires="v">
                  <p:oleObj spid="_x0000_s8273" name="公式" r:id="rId9" imgW="368300" imgH="190500" progId="Equation.3">
                    <p:embed/>
                  </p:oleObj>
                </mc:Choice>
                <mc:Fallback>
                  <p:oleObj name="公式" r:id="rId9" imgW="368300" imgH="190500" progId="Equation.3">
                    <p:embed/>
                    <p:pic>
                      <p:nvPicPr>
                        <p:cNvPr id="0" name="对象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51896" y="4123914"/>
                          <a:ext cx="631800" cy="3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nvGraphicFramePr>
          <p:xfrm>
            <a:off x="1783019" y="4536921"/>
            <a:ext cx="662085" cy="324000"/>
          </p:xfrm>
          <a:graphic>
            <a:graphicData uri="http://schemas.openxmlformats.org/presentationml/2006/ole">
              <mc:AlternateContent xmlns:mc="http://schemas.openxmlformats.org/markup-compatibility/2006">
                <mc:Choice xmlns:v="urn:schemas-microsoft-com:vml" Requires="v">
                  <p:oleObj spid="_x0000_s8274" name="公式" r:id="rId11" imgW="443865" imgH="215900" progId="Equation.3">
                    <p:embed/>
                  </p:oleObj>
                </mc:Choice>
                <mc:Fallback>
                  <p:oleObj name="公式" r:id="rId11" imgW="443865" imgH="215900" progId="Equation.3">
                    <p:embed/>
                    <p:pic>
                      <p:nvPicPr>
                        <p:cNvPr id="0" name="对象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83019" y="4536921"/>
                          <a:ext cx="662085" cy="3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对象 35"/>
            <p:cNvGraphicFramePr>
              <a:graphicFrameLocks noChangeAspect="1"/>
            </p:cNvGraphicFramePr>
            <p:nvPr/>
          </p:nvGraphicFramePr>
          <p:xfrm>
            <a:off x="2544276" y="4536921"/>
            <a:ext cx="599400" cy="324000"/>
          </p:xfrm>
          <a:graphic>
            <a:graphicData uri="http://schemas.openxmlformats.org/presentationml/2006/ole">
              <mc:AlternateContent xmlns:mc="http://schemas.openxmlformats.org/markup-compatibility/2006">
                <mc:Choice xmlns:v="urn:schemas-microsoft-com:vml" Requires="v">
                  <p:oleObj spid="_x0000_s8275" name="公式" r:id="rId13" imgW="355600" imgH="190500" progId="Equation.3">
                    <p:embed/>
                  </p:oleObj>
                </mc:Choice>
                <mc:Fallback>
                  <p:oleObj name="公式" r:id="rId13" imgW="355600" imgH="190500" progId="Equation.3">
                    <p:embed/>
                    <p:pic>
                      <p:nvPicPr>
                        <p:cNvPr id="0" name="对象 3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44276" y="4536921"/>
                          <a:ext cx="599400" cy="3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0" name="组合 59"/>
          <p:cNvGrpSpPr/>
          <p:nvPr/>
        </p:nvGrpSpPr>
        <p:grpSpPr>
          <a:xfrm>
            <a:off x="4234007" y="2877177"/>
            <a:ext cx="4233400" cy="1331603"/>
            <a:chOff x="4234007" y="2755257"/>
            <a:chExt cx="4233400" cy="1331603"/>
          </a:xfrm>
        </p:grpSpPr>
        <p:sp>
          <p:nvSpPr>
            <p:cNvPr id="35" name="Rectangle 12"/>
            <p:cNvSpPr>
              <a:spLocks noChangeArrowheads="1"/>
            </p:cNvSpPr>
            <p:nvPr/>
          </p:nvSpPr>
          <p:spPr bwMode="auto">
            <a:xfrm>
              <a:off x="4234007" y="2755257"/>
              <a:ext cx="1476687" cy="397673"/>
            </a:xfrm>
            <a:prstGeom prst="rect">
              <a:avLst/>
            </a:prstGeom>
            <a:noFill/>
            <a:ln w="9525" algn="ctr">
              <a:noFill/>
              <a:miter lim="800000"/>
            </a:ln>
          </p:spPr>
          <p:txBody>
            <a:bodyPr wrap="none">
              <a:spAutoFit/>
            </a:bodyPr>
            <a:lstStyle/>
            <a:p>
              <a:pPr algn="ctr">
                <a:lnSpc>
                  <a:spcPct val="124000"/>
                </a:lnSpc>
                <a:spcBef>
                  <a:spcPts val="300"/>
                </a:spcBef>
                <a:spcAft>
                  <a:spcPts val="300"/>
                </a:spcAft>
              </a:pPr>
              <a:r>
                <a:rPr lang="en-US" altLang="zh-CN" sz="16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rPr>
                <a:t>④ </a:t>
              </a:r>
              <a:r>
                <a:rPr lang="zh-CN" altLang="en-US" sz="16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rPr>
                <a:t>状态方程：</a:t>
              </a:r>
              <a:endParaRPr lang="zh-CN" altLang="en-US" sz="16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3" name="组合 52"/>
            <p:cNvGrpSpPr/>
            <p:nvPr/>
          </p:nvGrpSpPr>
          <p:grpSpPr>
            <a:xfrm>
              <a:off x="4378282" y="3227867"/>
              <a:ext cx="4089125" cy="858993"/>
              <a:chOff x="4378282" y="3227867"/>
              <a:chExt cx="4089125" cy="858993"/>
            </a:xfrm>
          </p:grpSpPr>
          <p:sp>
            <p:nvSpPr>
              <p:cNvPr id="52" name="Rectangle 16"/>
              <p:cNvSpPr>
                <a:spLocks noChangeArrowheads="1"/>
              </p:cNvSpPr>
              <p:nvPr/>
            </p:nvSpPr>
            <p:spPr bwMode="auto">
              <a:xfrm>
                <a:off x="6359138" y="3247926"/>
                <a:ext cx="2108269" cy="338554"/>
              </a:xfrm>
              <a:prstGeom prst="rect">
                <a:avLst/>
              </a:prstGeom>
              <a:noFill/>
              <a:ln w="9525" algn="ctr">
                <a:noFill/>
                <a:miter lim="800000"/>
              </a:ln>
            </p:spPr>
            <p:txBody>
              <a:bodyPr wrap="none">
                <a:spAutoFit/>
              </a:bodyPr>
              <a:lstStyle/>
              <a:p>
                <a:pPr algn="ctr" eaLnBrk="0" hangingPunct="0"/>
                <a:r>
                  <a:rPr lang="zh-CN" altLang="en-US" sz="1600" dirty="0">
                    <a:solidFill>
                      <a:srgbClr val="CC00CC"/>
                    </a:solidFill>
                    <a:latin typeface="Times New Roman" panose="02020603050405020304" pitchFamily="18" charset="0"/>
                    <a:cs typeface="Times New Roman" panose="02020603050405020304" pitchFamily="18" charset="0"/>
                  </a:rPr>
                  <a:t>（</a:t>
                </a:r>
                <a:r>
                  <a:rPr lang="en-US" altLang="zh-CN" sz="1600" i="1" dirty="0">
                    <a:solidFill>
                      <a:srgbClr val="CC00CC"/>
                    </a:solidFill>
                    <a:latin typeface="Times New Roman" panose="02020603050405020304" pitchFamily="18" charset="0"/>
                    <a:cs typeface="Times New Roman" panose="02020603050405020304" pitchFamily="18" charset="0"/>
                  </a:rPr>
                  <a:t>CP</a:t>
                </a:r>
                <a:r>
                  <a:rPr lang="zh-CN" altLang="en-US" sz="1600" dirty="0">
                    <a:solidFill>
                      <a:srgbClr val="CC00CC"/>
                    </a:solidFill>
                    <a:latin typeface="Times New Roman" panose="02020603050405020304" pitchFamily="18" charset="0"/>
                    <a:cs typeface="Times New Roman" panose="02020603050405020304" pitchFamily="18" charset="0"/>
                  </a:rPr>
                  <a:t>由</a:t>
                </a:r>
                <a:r>
                  <a:rPr lang="en-US" altLang="zh-CN" sz="1600" dirty="0">
                    <a:solidFill>
                      <a:srgbClr val="CC00CC"/>
                    </a:solidFill>
                    <a:latin typeface="Times New Roman" panose="02020603050405020304" pitchFamily="18" charset="0"/>
                    <a:cs typeface="Times New Roman" panose="02020603050405020304" pitchFamily="18" charset="0"/>
                  </a:rPr>
                  <a:t>0→1</a:t>
                </a:r>
                <a:r>
                  <a:rPr lang="zh-CN" altLang="en-US" sz="1600" dirty="0">
                    <a:solidFill>
                      <a:srgbClr val="CC00CC"/>
                    </a:solidFill>
                    <a:latin typeface="Times New Roman" panose="02020603050405020304" pitchFamily="18" charset="0"/>
                    <a:cs typeface="Times New Roman" panose="02020603050405020304" pitchFamily="18" charset="0"/>
                  </a:rPr>
                  <a:t>时有效）</a:t>
                </a:r>
                <a:endParaRPr lang="zh-CN" altLang="en-US" sz="1600" dirty="0">
                  <a:solidFill>
                    <a:srgbClr val="CC00CC"/>
                  </a:solidFill>
                  <a:latin typeface="Times New Roman" panose="02020603050405020304" pitchFamily="18" charset="0"/>
                  <a:cs typeface="Times New Roman" panose="02020603050405020304" pitchFamily="18" charset="0"/>
                </a:endParaRPr>
              </a:p>
            </p:txBody>
          </p:sp>
          <p:sp>
            <p:nvSpPr>
              <p:cNvPr id="55" name="Rectangle 19"/>
              <p:cNvSpPr>
                <a:spLocks noChangeArrowheads="1"/>
              </p:cNvSpPr>
              <p:nvPr/>
            </p:nvSpPr>
            <p:spPr bwMode="auto">
              <a:xfrm>
                <a:off x="6380777" y="3719900"/>
                <a:ext cx="2064989" cy="366960"/>
              </a:xfrm>
              <a:prstGeom prst="rect">
                <a:avLst/>
              </a:prstGeom>
              <a:noFill/>
              <a:ln w="9525" algn="ctr">
                <a:noFill/>
                <a:miter lim="800000"/>
              </a:ln>
            </p:spPr>
            <p:txBody>
              <a:bodyPr wrap="none">
                <a:spAutoFit/>
              </a:bodyPr>
              <a:lstStyle/>
              <a:p>
                <a:pPr algn="ctr">
                  <a:lnSpc>
                    <a:spcPct val="124000"/>
                  </a:lnSpc>
                  <a:spcBef>
                    <a:spcPts val="300"/>
                  </a:spcBef>
                  <a:spcAft>
                    <a:spcPts val="300"/>
                  </a:spcAft>
                </a:pPr>
                <a:r>
                  <a:rPr lang="zh-CN" altLang="en-US" sz="1600" dirty="0">
                    <a:solidFill>
                      <a:srgbClr val="CC00CC"/>
                    </a:solidFill>
                    <a:latin typeface="Times New Roman" panose="02020603050405020304" pitchFamily="18" charset="0"/>
                    <a:cs typeface="Times New Roman" panose="02020603050405020304" pitchFamily="18" charset="0"/>
                  </a:rPr>
                  <a:t>（</a:t>
                </a:r>
                <a:r>
                  <a:rPr lang="en-US" altLang="zh-CN" sz="1600" i="1" dirty="0">
                    <a:solidFill>
                      <a:srgbClr val="CC00CC"/>
                    </a:solidFill>
                    <a:latin typeface="Times New Roman" panose="02020603050405020304" pitchFamily="18" charset="0"/>
                    <a:cs typeface="Times New Roman" panose="02020603050405020304" pitchFamily="18" charset="0"/>
                  </a:rPr>
                  <a:t>Q</a:t>
                </a:r>
                <a:r>
                  <a:rPr lang="en-US" altLang="zh-CN" sz="1600" baseline="-25000" dirty="0">
                    <a:solidFill>
                      <a:srgbClr val="CC00CC"/>
                    </a:solidFill>
                    <a:latin typeface="Times New Roman" panose="02020603050405020304" pitchFamily="18" charset="0"/>
                    <a:cs typeface="Times New Roman" panose="02020603050405020304" pitchFamily="18" charset="0"/>
                  </a:rPr>
                  <a:t>0</a:t>
                </a:r>
                <a:r>
                  <a:rPr lang="zh-CN" altLang="en-US" sz="1600" dirty="0">
                    <a:solidFill>
                      <a:srgbClr val="CC00CC"/>
                    </a:solidFill>
                    <a:latin typeface="Times New Roman" panose="02020603050405020304" pitchFamily="18" charset="0"/>
                    <a:cs typeface="Times New Roman" panose="02020603050405020304" pitchFamily="18" charset="0"/>
                  </a:rPr>
                  <a:t>由</a:t>
                </a:r>
                <a:r>
                  <a:rPr lang="en-US" altLang="zh-CN" sz="1600" dirty="0">
                    <a:solidFill>
                      <a:srgbClr val="CC00CC"/>
                    </a:solidFill>
                    <a:latin typeface="Times New Roman" panose="02020603050405020304" pitchFamily="18" charset="0"/>
                    <a:cs typeface="Times New Roman" panose="02020603050405020304" pitchFamily="18" charset="0"/>
                  </a:rPr>
                  <a:t>0→1</a:t>
                </a:r>
                <a:r>
                  <a:rPr lang="zh-CN" altLang="en-US" sz="1600" dirty="0">
                    <a:solidFill>
                      <a:srgbClr val="CC00CC"/>
                    </a:solidFill>
                    <a:latin typeface="Times New Roman" panose="02020603050405020304" pitchFamily="18" charset="0"/>
                    <a:cs typeface="Times New Roman" panose="02020603050405020304" pitchFamily="18" charset="0"/>
                  </a:rPr>
                  <a:t>时有效）</a:t>
                </a:r>
                <a:endParaRPr lang="zh-CN" altLang="en-US" sz="1600" dirty="0">
                  <a:solidFill>
                    <a:srgbClr val="CC00CC"/>
                  </a:solidFill>
                  <a:latin typeface="Times New Roman" panose="02020603050405020304" pitchFamily="18" charset="0"/>
                  <a:cs typeface="Times New Roman" panose="02020603050405020304" pitchFamily="18" charset="0"/>
                </a:endParaRPr>
              </a:p>
            </p:txBody>
          </p:sp>
          <p:graphicFrame>
            <p:nvGraphicFramePr>
              <p:cNvPr id="46" name="对象 45"/>
              <p:cNvGraphicFramePr>
                <a:graphicFrameLocks noChangeAspect="1"/>
              </p:cNvGraphicFramePr>
              <p:nvPr/>
            </p:nvGraphicFramePr>
            <p:xfrm>
              <a:off x="4378282" y="3227867"/>
              <a:ext cx="2119642" cy="338554"/>
            </p:xfrm>
            <a:graphic>
              <a:graphicData uri="http://schemas.openxmlformats.org/presentationml/2006/ole">
                <mc:AlternateContent xmlns:mc="http://schemas.openxmlformats.org/markup-compatibility/2006">
                  <mc:Choice xmlns:v="urn:schemas-microsoft-com:vml" Requires="v">
                    <p:oleObj spid="_x0000_s8276" name="公式" r:id="rId15" imgW="1369695" imgH="215900" progId="Equation.3">
                      <p:embed/>
                    </p:oleObj>
                  </mc:Choice>
                  <mc:Fallback>
                    <p:oleObj name="公式" r:id="rId15" imgW="1369695" imgH="215900" progId="Equation.3">
                      <p:embed/>
                      <p:pic>
                        <p:nvPicPr>
                          <p:cNvPr id="0" name="对象 4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78282" y="3227867"/>
                            <a:ext cx="2119642" cy="338554"/>
                          </a:xfrm>
                          <a:prstGeom prst="rect">
                            <a:avLst/>
                          </a:prstGeom>
                          <a:noFill/>
                        </p:spPr>
                      </p:pic>
                    </p:oleObj>
                  </mc:Fallback>
                </mc:AlternateContent>
              </a:graphicData>
            </a:graphic>
          </p:graphicFrame>
          <p:graphicFrame>
            <p:nvGraphicFramePr>
              <p:cNvPr id="47" name="对象 46"/>
              <p:cNvGraphicFramePr>
                <a:graphicFrameLocks noChangeAspect="1"/>
              </p:cNvGraphicFramePr>
              <p:nvPr/>
            </p:nvGraphicFramePr>
            <p:xfrm>
              <a:off x="4381526" y="3748306"/>
              <a:ext cx="2090203" cy="338554"/>
            </p:xfrm>
            <a:graphic>
              <a:graphicData uri="http://schemas.openxmlformats.org/presentationml/2006/ole">
                <mc:AlternateContent xmlns:mc="http://schemas.openxmlformats.org/markup-compatibility/2006">
                  <mc:Choice xmlns:v="urn:schemas-microsoft-com:vml" Requires="v">
                    <p:oleObj spid="_x0000_s8277" name="公式" r:id="rId17" imgW="1344295" imgH="215900" progId="Equation.3">
                      <p:embed/>
                    </p:oleObj>
                  </mc:Choice>
                  <mc:Fallback>
                    <p:oleObj name="公式" r:id="rId17" imgW="1344295" imgH="215900" progId="Equation.3">
                      <p:embed/>
                      <p:pic>
                        <p:nvPicPr>
                          <p:cNvPr id="0" name="对象 4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81526" y="3748306"/>
                            <a:ext cx="2090203" cy="338554"/>
                          </a:xfrm>
                          <a:prstGeom prst="rect">
                            <a:avLst/>
                          </a:prstGeom>
                          <a:noFill/>
                        </p:spPr>
                      </p:pic>
                    </p:oleObj>
                  </mc:Fallback>
                </mc:AlternateContent>
              </a:graphicData>
            </a:graphic>
          </p:graphicFrame>
        </p:grpSp>
      </p:grpSp>
    </p:spTree>
  </p:cSld>
  <p:clrMapOvr>
    <a:masterClrMapping/>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1000"/>
                                        <p:tgtEl>
                                          <p:spTgt spid="59"/>
                                        </p:tgtEl>
                                      </p:cBhvr>
                                    </p:animEffect>
                                    <p:anim calcmode="lin" valueType="num">
                                      <p:cBhvr>
                                        <p:cTn id="14" dur="1000" fill="hold"/>
                                        <p:tgtEl>
                                          <p:spTgt spid="59"/>
                                        </p:tgtEl>
                                        <p:attrNameLst>
                                          <p:attrName>ppt_x</p:attrName>
                                        </p:attrNameLst>
                                      </p:cBhvr>
                                      <p:tavLst>
                                        <p:tav tm="0">
                                          <p:val>
                                            <p:strVal val="#ppt_x"/>
                                          </p:val>
                                        </p:tav>
                                        <p:tav tm="100000">
                                          <p:val>
                                            <p:strVal val="#ppt_x"/>
                                          </p:val>
                                        </p:tav>
                                      </p:tavLst>
                                    </p:anim>
                                    <p:anim calcmode="lin" valueType="num">
                                      <p:cBhvr>
                                        <p:cTn id="15" dur="1000" fill="hold"/>
                                        <p:tgtEl>
                                          <p:spTgt spid="59"/>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fade">
                                      <p:cBhvr>
                                        <p:cTn id="25" dur="1000"/>
                                        <p:tgtEl>
                                          <p:spTgt spid="58"/>
                                        </p:tgtEl>
                                      </p:cBhvr>
                                    </p:animEffect>
                                    <p:anim calcmode="lin" valueType="num">
                                      <p:cBhvr>
                                        <p:cTn id="26" dur="1000" fill="hold"/>
                                        <p:tgtEl>
                                          <p:spTgt spid="58"/>
                                        </p:tgtEl>
                                        <p:attrNameLst>
                                          <p:attrName>ppt_x</p:attrName>
                                        </p:attrNameLst>
                                      </p:cBhvr>
                                      <p:tavLst>
                                        <p:tav tm="0">
                                          <p:val>
                                            <p:strVal val="#ppt_x"/>
                                          </p:val>
                                        </p:tav>
                                        <p:tav tm="100000">
                                          <p:val>
                                            <p:strVal val="#ppt_x"/>
                                          </p:val>
                                        </p:tav>
                                      </p:tavLst>
                                    </p:anim>
                                    <p:anim calcmode="lin" valueType="num">
                                      <p:cBhvr>
                                        <p:cTn id="27" dur="1000" fill="hold"/>
                                        <p:tgtEl>
                                          <p:spTgt spid="58"/>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nodeType="afterEffect">
                                  <p:stCondLst>
                                    <p:cond delay="0"/>
                                  </p:stCondLst>
                                  <p:childTnLst>
                                    <p:set>
                                      <p:cBhvr>
                                        <p:cTn id="30" dur="1" fill="hold">
                                          <p:stCondLst>
                                            <p:cond delay="0"/>
                                          </p:stCondLst>
                                        </p:cTn>
                                        <p:tgtEl>
                                          <p:spTgt spid="60"/>
                                        </p:tgtEl>
                                        <p:attrNameLst>
                                          <p:attrName>style.visibility</p:attrName>
                                        </p:attrNameLst>
                                      </p:cBhvr>
                                      <p:to>
                                        <p:strVal val="visible"/>
                                      </p:to>
                                    </p:set>
                                    <p:animEffect transition="in" filter="fade">
                                      <p:cBhvr>
                                        <p:cTn id="31" dur="1000"/>
                                        <p:tgtEl>
                                          <p:spTgt spid="60"/>
                                        </p:tgtEl>
                                      </p:cBhvr>
                                    </p:animEffect>
                                    <p:anim calcmode="lin" valueType="num">
                                      <p:cBhvr>
                                        <p:cTn id="32" dur="1000" fill="hold"/>
                                        <p:tgtEl>
                                          <p:spTgt spid="60"/>
                                        </p:tgtEl>
                                        <p:attrNameLst>
                                          <p:attrName>ppt_x</p:attrName>
                                        </p:attrNameLst>
                                      </p:cBhvr>
                                      <p:tavLst>
                                        <p:tav tm="0">
                                          <p:val>
                                            <p:strVal val="#ppt_x"/>
                                          </p:val>
                                        </p:tav>
                                        <p:tav tm="100000">
                                          <p:val>
                                            <p:strVal val="#ppt_x"/>
                                          </p:val>
                                        </p:tav>
                                      </p:tavLst>
                                    </p:anim>
                                    <p:anim calcmode="lin" valueType="num">
                                      <p:cBhvr>
                                        <p:cTn id="33"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表格 40"/>
          <p:cNvGraphicFramePr>
            <a:graphicFrameLocks noGrp="1"/>
          </p:cNvGraphicFramePr>
          <p:nvPr/>
        </p:nvGraphicFramePr>
        <p:xfrm>
          <a:off x="300992" y="3271520"/>
          <a:ext cx="3515359" cy="1704341"/>
        </p:xfrm>
        <a:graphic>
          <a:graphicData uri="http://schemas.openxmlformats.org/drawingml/2006/table">
            <a:tbl>
              <a:tblPr firstRow="1" bandRow="1">
                <a:tableStyleId>{5C22544A-7EE6-4342-B048-85BDC9FD1C3A}</a:tableStyleId>
              </a:tblPr>
              <a:tblGrid>
                <a:gridCol w="651508"/>
                <a:gridCol w="746760"/>
                <a:gridCol w="388620"/>
                <a:gridCol w="426720"/>
                <a:gridCol w="480060"/>
                <a:gridCol w="472440"/>
                <a:gridCol w="349251"/>
              </a:tblGrid>
              <a:tr h="399749">
                <a:tc>
                  <a:txBody>
                    <a:bodyPr/>
                    <a:lstStyle/>
                    <a:p>
                      <a:pPr algn="ctr"/>
                      <a:r>
                        <a:rPr lang="en-US" altLang="zh-CN" sz="1600" i="1" dirty="0">
                          <a:solidFill>
                            <a:sysClr val="windowText" lastClr="000000"/>
                          </a:solidFill>
                          <a:latin typeface="Times New Roman" panose="02020603050405020304" pitchFamily="18" charset="0"/>
                          <a:cs typeface="Times New Roman" panose="02020603050405020304" pitchFamily="18" charset="0"/>
                        </a:rPr>
                        <a:t>CP</a:t>
                      </a:r>
                      <a:r>
                        <a:rPr lang="en-US" altLang="zh-CN" sz="1000" b="0" i="0" dirty="0">
                          <a:solidFill>
                            <a:sysClr val="windowText" lastClr="000000"/>
                          </a:solidFill>
                          <a:latin typeface="Times New Roman" panose="02020603050405020304" pitchFamily="18" charset="0"/>
                          <a:cs typeface="Times New Roman" panose="02020603050405020304" pitchFamily="18" charset="0"/>
                        </a:rPr>
                        <a:t>(</a:t>
                      </a:r>
                      <a:r>
                        <a:rPr lang="en-US" altLang="zh-CN" sz="1000" i="1" dirty="0">
                          <a:solidFill>
                            <a:sysClr val="windowText" lastClr="000000"/>
                          </a:solidFill>
                          <a:latin typeface="Times New Roman" panose="02020603050405020304" pitchFamily="18" charset="0"/>
                          <a:cs typeface="Times New Roman" panose="02020603050405020304" pitchFamily="18" charset="0"/>
                        </a:rPr>
                        <a:t>CP</a:t>
                      </a:r>
                      <a:r>
                        <a:rPr lang="en-US" altLang="zh-CN" sz="1000" baseline="-25000" dirty="0">
                          <a:solidFill>
                            <a:sysClr val="windowText" lastClr="000000"/>
                          </a:solidFill>
                          <a:latin typeface="Times New Roman" panose="02020603050405020304" pitchFamily="18" charset="0"/>
                          <a:cs typeface="Times New Roman" panose="02020603050405020304" pitchFamily="18" charset="0"/>
                        </a:rPr>
                        <a:t>0</a:t>
                      </a:r>
                      <a:r>
                        <a:rPr lang="en-US" altLang="zh-CN" sz="1000" baseline="0" dirty="0">
                          <a:solidFill>
                            <a:sysClr val="windowText" lastClr="000000"/>
                          </a:solidFill>
                          <a:latin typeface="Times New Roman" panose="02020603050405020304" pitchFamily="18" charset="0"/>
                          <a:cs typeface="Times New Roman" panose="02020603050405020304" pitchFamily="18" charset="0"/>
                        </a:rPr>
                        <a:t>)</a:t>
                      </a:r>
                      <a:endParaRPr lang="zh-CN" altLang="en-US" sz="1000" baseline="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defRPr/>
                      </a:pPr>
                      <a:r>
                        <a:rPr kumimoji="0" lang="en-US" altLang="zh-CN" sz="16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altLang="zh-CN" sz="1000" b="0" i="0" dirty="0">
                          <a:solidFill>
                            <a:sysClr val="windowText" lastClr="000000"/>
                          </a:solidFill>
                          <a:latin typeface="Times New Roman" panose="02020603050405020304" pitchFamily="18" charset="0"/>
                          <a:cs typeface="Times New Roman" panose="02020603050405020304" pitchFamily="18" charset="0"/>
                        </a:rPr>
                        <a:t>(</a:t>
                      </a:r>
                      <a:r>
                        <a:rPr lang="en-US" altLang="zh-CN" sz="1000" i="1" dirty="0">
                          <a:solidFill>
                            <a:sysClr val="windowText" lastClr="000000"/>
                          </a:solidFill>
                          <a:latin typeface="Times New Roman" panose="02020603050405020304" pitchFamily="18" charset="0"/>
                          <a:cs typeface="Times New Roman" panose="02020603050405020304" pitchFamily="18" charset="0"/>
                        </a:rPr>
                        <a:t>CP</a:t>
                      </a:r>
                      <a:r>
                        <a:rPr lang="en-US" altLang="zh-CN" sz="1000" baseline="-25000" dirty="0">
                          <a:solidFill>
                            <a:sysClr val="windowText" lastClr="000000"/>
                          </a:solidFill>
                          <a:latin typeface="Times New Roman" panose="02020603050405020304" pitchFamily="18" charset="0"/>
                          <a:cs typeface="Times New Roman" panose="02020603050405020304" pitchFamily="18" charset="0"/>
                        </a:rPr>
                        <a:t>1</a:t>
                      </a:r>
                      <a:r>
                        <a:rPr lang="en-US" altLang="zh-CN" sz="1000" baseline="0" dirty="0">
                          <a:solidFill>
                            <a:sysClr val="windowText" lastClr="000000"/>
                          </a:solidFill>
                          <a:latin typeface="Times New Roman" panose="02020603050405020304" pitchFamily="18" charset="0"/>
                          <a:cs typeface="Times New Roman" panose="02020603050405020304" pitchFamily="18" charset="0"/>
                        </a:rPr>
                        <a:t>)</a:t>
                      </a:r>
                      <a:endParaRPr kumimoji="0" lang="zh-CN" altLang="en-US" sz="10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defRPr/>
                      </a:pPr>
                      <a:r>
                        <a:rPr kumimoji="0" lang="en-US" altLang="zh-CN" sz="16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16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zh-CN" altLang="en-US" sz="16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defRPr/>
                      </a:pPr>
                      <a:r>
                        <a:rPr kumimoji="0" lang="en-US" altLang="zh-CN" sz="16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16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16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n+1</a:t>
                      </a:r>
                      <a:endParaRPr kumimoji="0" lang="en-US" altLang="zh-CN" sz="16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16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n+1</a:t>
                      </a:r>
                      <a:endParaRPr kumimoji="0" lang="zh-CN" altLang="en-US" sz="16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tx1"/>
                        </a:buClr>
                        <a:buSzTx/>
                        <a:buFontTx/>
                        <a:buNone/>
                      </a:pPr>
                      <a:r>
                        <a:rPr kumimoji="0" lang="en-US" altLang="zh-CN" sz="16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en-US" altLang="zh-CN" sz="16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26148">
                <a:tc>
                  <a:txBody>
                    <a:bodyPr/>
                    <a:lstStyle/>
                    <a:p>
                      <a:pPr algn="ctr">
                        <a:lnSpc>
                          <a:spcPts val="1200"/>
                        </a:lnSpc>
                      </a:pPr>
                      <a:endParaRPr lang="zh-CN" altLang="en-US" sz="16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zh-CN" altLang="en-US"/>
                    </a:p>
                  </a:txBody>
                  <a:tcPr marL="0" marR="0" marT="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zh-CN" altLang="en-US"/>
                    </a:p>
                  </a:txBody>
                  <a:tcPr marL="0" marR="0" marT="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r>
              <a:tr h="326148">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zh-CN" altLang="en-US"/>
                    </a:p>
                  </a:txBody>
                  <a:tcPr marL="0" marR="0" marT="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zh-CN" altLang="en-US"/>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r>
              <a:tr h="326148">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zh-CN" altLang="en-US"/>
                    </a:p>
                  </a:txBody>
                  <a:tcPr marL="0" marR="0" marT="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zh-CN" altLang="en-US"/>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r>
              <a:tr h="326148">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a:p>
                  </a:txBody>
                  <a:tcPr marL="0" marR="0" marT="0" marB="0" anchor="b">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dirty="0"/>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ts val="1200"/>
                        </a:lnSpc>
                      </a:pPr>
                      <a:endParaRPr lang="zh-CN" altLang="en-US" sz="160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graphicFrame>
        <p:nvGraphicFramePr>
          <p:cNvPr id="47" name="表格 46"/>
          <p:cNvGraphicFramePr>
            <a:graphicFrameLocks noGrp="1"/>
          </p:cNvGraphicFramePr>
          <p:nvPr/>
        </p:nvGraphicFramePr>
        <p:xfrm>
          <a:off x="2506980" y="4635500"/>
          <a:ext cx="937260" cy="326148"/>
        </p:xfrm>
        <a:graphic>
          <a:graphicData uri="http://schemas.openxmlformats.org/drawingml/2006/table">
            <a:tbl>
              <a:tblPr firstRow="1" bandRow="1">
                <a:tableStyleId>{5C22544A-7EE6-4342-B048-85BDC9FD1C3A}</a:tableStyleId>
              </a:tblPr>
              <a:tblGrid>
                <a:gridCol w="449580"/>
                <a:gridCol w="487680"/>
              </a:tblGrid>
              <a:tr h="326148">
                <a:tc>
                  <a:txBody>
                    <a:bodyPr/>
                    <a:lstStyle/>
                    <a:p>
                      <a:pPr algn="ctr">
                        <a:lnSpc>
                          <a:spcPts val="1200"/>
                        </a:lnSpc>
                      </a:pPr>
                      <a:r>
                        <a:rPr lang="en-US" altLang="zh-CN" sz="1600" b="0" dirty="0">
                          <a:solidFill>
                            <a:sysClr val="windowText" lastClr="000000"/>
                          </a:solidFill>
                          <a:latin typeface="Times New Roman" panose="02020603050405020304" pitchFamily="18" charset="0"/>
                          <a:cs typeface="Times New Roman" panose="02020603050405020304" pitchFamily="18" charset="0"/>
                        </a:rPr>
                        <a:t>1</a:t>
                      </a:r>
                      <a:endParaRPr lang="zh-CN" altLang="en-US" sz="1600" b="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200"/>
                        </a:lnSpc>
                      </a:pPr>
                      <a:r>
                        <a:rPr lang="en-US" altLang="zh-CN" sz="1600" b="0" dirty="0">
                          <a:solidFill>
                            <a:sysClr val="windowText" lastClr="000000"/>
                          </a:solidFill>
                          <a:latin typeface="Times New Roman" panose="02020603050405020304" pitchFamily="18" charset="0"/>
                          <a:cs typeface="Times New Roman" panose="02020603050405020304" pitchFamily="18" charset="0"/>
                        </a:rPr>
                        <a:t>0</a:t>
                      </a:r>
                      <a:endParaRPr lang="zh-CN" altLang="en-US" sz="1600" b="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2" name="组合 28"/>
          <p:cNvGrpSpPr/>
          <p:nvPr/>
        </p:nvGrpSpPr>
        <p:grpSpPr>
          <a:xfrm>
            <a:off x="400513" y="1331276"/>
            <a:ext cx="3792695" cy="374630"/>
            <a:chOff x="369777" y="1347760"/>
            <a:chExt cx="3792695" cy="374630"/>
          </a:xfrm>
        </p:grpSpPr>
        <p:sp>
          <p:nvSpPr>
            <p:cNvPr id="31" name="TextBox 30"/>
            <p:cNvSpPr txBox="1"/>
            <p:nvPr/>
          </p:nvSpPr>
          <p:spPr>
            <a:xfrm>
              <a:off x="723710" y="1350409"/>
              <a:ext cx="3438762" cy="369332"/>
            </a:xfrm>
            <a:prstGeom prst="rect">
              <a:avLst/>
            </a:prstGeom>
            <a:noFill/>
          </p:spPr>
          <p:txBody>
            <a:bodyPr wrap="none" rtlCol="0">
              <a:spAutoFit/>
            </a:bodyPr>
            <a:lstStyle/>
            <a:p>
              <a:r>
                <a:rPr lang="zh-CN" altLang="en-US" b="1" dirty="0">
                  <a:solidFill>
                    <a:srgbClr val="CC00CC"/>
                  </a:solidFill>
                  <a:latin typeface="黑体" panose="02010609060101010101" pitchFamily="49" charset="-122"/>
                  <a:ea typeface="黑体" panose="02010609060101010101" pitchFamily="49" charset="-122"/>
                </a:rPr>
                <a:t>例：</a:t>
              </a:r>
              <a:r>
                <a:rPr lang="zh-CN" altLang="en-US" b="1" dirty="0">
                  <a:solidFill>
                    <a:srgbClr val="6600FF"/>
                  </a:solidFill>
                  <a:latin typeface="黑体" panose="02010609060101010101" pitchFamily="49" charset="-122"/>
                  <a:ea typeface="黑体" panose="02010609060101010101" pitchFamily="49" charset="-122"/>
                </a:rPr>
                <a:t>分析图示异步时序逻辑电路</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32" name="Picture 4"/>
            <p:cNvPicPr>
              <a:picLocks noChangeAspect="1" noChangeArrowheads="1"/>
            </p:cNvPicPr>
            <p:nvPr/>
          </p:nvPicPr>
          <p:blipFill>
            <a:blip r:embed="rId1"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3" name="组合 18"/>
          <p:cNvGrpSpPr/>
          <p:nvPr/>
        </p:nvGrpSpPr>
        <p:grpSpPr>
          <a:xfrm>
            <a:off x="300992" y="801443"/>
            <a:ext cx="3627105" cy="420971"/>
            <a:chOff x="670560" y="892917"/>
            <a:chExt cx="3627105" cy="420971"/>
          </a:xfrm>
        </p:grpSpPr>
        <p:sp>
          <p:nvSpPr>
            <p:cNvPr id="21" name="矩形 20"/>
            <p:cNvSpPr/>
            <p:nvPr/>
          </p:nvSpPr>
          <p:spPr>
            <a:xfrm>
              <a:off x="1035233" y="913778"/>
              <a:ext cx="3262432"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异步时序逻辑电路分析举例</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4"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6" name="组合 29"/>
          <p:cNvGrpSpPr/>
          <p:nvPr/>
        </p:nvGrpSpPr>
        <p:grpSpPr>
          <a:xfrm>
            <a:off x="464175" y="1890724"/>
            <a:ext cx="1350247" cy="338554"/>
            <a:chOff x="4731375" y="1650857"/>
            <a:chExt cx="1350247" cy="338554"/>
          </a:xfrm>
        </p:grpSpPr>
        <p:sp>
          <p:nvSpPr>
            <p:cNvPr id="33" name="矩形 32"/>
            <p:cNvSpPr/>
            <p:nvPr/>
          </p:nvSpPr>
          <p:spPr>
            <a:xfrm>
              <a:off x="5076219" y="1650857"/>
              <a:ext cx="1005403"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列状态表</a:t>
              </a:r>
              <a:endParaRPr lang="zh-CN" altLang="en-US" sz="1600" dirty="0"/>
            </a:p>
          </p:txBody>
        </p:sp>
        <p:pic>
          <p:nvPicPr>
            <p:cNvPr id="34" name="Picture 5"/>
            <p:cNvPicPr>
              <a:picLocks noChangeAspect="1" noChangeArrowheads="1"/>
            </p:cNvPicPr>
            <p:nvPr/>
          </p:nvPicPr>
          <p:blipFill>
            <a:blip r:embed="rId3" cstate="print"/>
            <a:srcRect/>
            <a:stretch>
              <a:fillRect/>
            </a:stretch>
          </p:blipFill>
          <p:spPr bwMode="auto">
            <a:xfrm>
              <a:off x="4731375" y="1677030"/>
              <a:ext cx="360000" cy="286209"/>
            </a:xfrm>
            <a:prstGeom prst="rect">
              <a:avLst/>
            </a:prstGeom>
            <a:noFill/>
            <a:ln w="9525">
              <a:noFill/>
              <a:miter lim="800000"/>
              <a:headEnd/>
              <a:tailEnd/>
            </a:ln>
          </p:spPr>
        </p:pic>
      </p:grpSp>
      <p:sp>
        <p:nvSpPr>
          <p:cNvPr id="50" name="矩形 49"/>
          <p:cNvSpPr/>
          <p:nvPr/>
        </p:nvSpPr>
        <p:spPr>
          <a:xfrm>
            <a:off x="429078" y="3792379"/>
            <a:ext cx="300082" cy="246221"/>
          </a:xfrm>
          <a:prstGeom prst="rect">
            <a:avLst/>
          </a:prstGeom>
        </p:spPr>
        <p:txBody>
          <a:bodyPr wrap="none">
            <a:spAutoFit/>
          </a:bodyPr>
          <a:lstStyle/>
          <a:p>
            <a:pPr algn="ctr">
              <a:lnSpc>
                <a:spcPts val="1200"/>
              </a:lnSpc>
            </a:pPr>
            <a:r>
              <a:rPr lang="zh-CN" altLang="en-US" dirty="0">
                <a:solidFill>
                  <a:srgbClr val="CC00CC"/>
                </a:solidFill>
                <a:latin typeface="微软雅黑" panose="020B0503020204020204" pitchFamily="34" charset="-122"/>
                <a:ea typeface="微软雅黑" panose="020B0503020204020204" pitchFamily="34" charset="-122"/>
                <a:cs typeface="Times New Roman" panose="02020603050405020304"/>
              </a:rPr>
              <a:t>↑</a:t>
            </a:r>
            <a:endParaRPr lang="zh-CN" altLang="en-US"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6" name="TextBox 55"/>
          <p:cNvSpPr txBox="1"/>
          <p:nvPr/>
        </p:nvSpPr>
        <p:spPr>
          <a:xfrm>
            <a:off x="3078480" y="3703320"/>
            <a:ext cx="287258" cy="338554"/>
          </a:xfrm>
          <a:prstGeom prst="rect">
            <a:avLst/>
          </a:prstGeom>
          <a:noFill/>
        </p:spPr>
        <p:txBody>
          <a:bodyPr wrap="none" rtlCol="0">
            <a:spAutoFit/>
          </a:bodyPr>
          <a:lstStyle/>
          <a:p>
            <a:r>
              <a:rPr lang="en-US" altLang="zh-CN" sz="1600" dirty="0">
                <a:latin typeface="Times New Roman" panose="02020603050405020304" pitchFamily="18" charset="0"/>
                <a:cs typeface="Times New Roman" panose="02020603050405020304" pitchFamily="18" charset="0"/>
              </a:rPr>
              <a:t>1</a:t>
            </a:r>
            <a:endParaRPr lang="zh-CN" altLang="en-US" sz="1600" dirty="0">
              <a:latin typeface="Times New Roman" panose="02020603050405020304" pitchFamily="18" charset="0"/>
              <a:cs typeface="Times New Roman" panose="02020603050405020304" pitchFamily="18" charset="0"/>
            </a:endParaRPr>
          </a:p>
        </p:txBody>
      </p:sp>
      <p:sp>
        <p:nvSpPr>
          <p:cNvPr id="59" name="Freeform 13"/>
          <p:cNvSpPr/>
          <p:nvPr/>
        </p:nvSpPr>
        <p:spPr bwMode="auto">
          <a:xfrm>
            <a:off x="2315856" y="3620426"/>
            <a:ext cx="861060" cy="169254"/>
          </a:xfrm>
          <a:custGeom>
            <a:avLst/>
            <a:gdLst/>
            <a:ahLst/>
            <a:cxnLst>
              <a:cxn ang="0">
                <a:pos x="0" y="129"/>
              </a:cxn>
              <a:cxn ang="0">
                <a:pos x="1096" y="1"/>
              </a:cxn>
              <a:cxn ang="0">
                <a:pos x="2168" y="137"/>
              </a:cxn>
            </a:cxnLst>
            <a:rect l="0" t="0" r="r" b="b"/>
            <a:pathLst>
              <a:path w="2168" h="137">
                <a:moveTo>
                  <a:pt x="0" y="129"/>
                </a:moveTo>
                <a:cubicBezTo>
                  <a:pt x="367" y="64"/>
                  <a:pt x="735" y="0"/>
                  <a:pt x="1096" y="1"/>
                </a:cubicBezTo>
                <a:cubicBezTo>
                  <a:pt x="1457" y="2"/>
                  <a:pt x="1812" y="69"/>
                  <a:pt x="2168" y="137"/>
                </a:cubicBezTo>
              </a:path>
            </a:pathLst>
          </a:custGeom>
          <a:noFill/>
          <a:ln w="28575" cap="flat" cmpd="sng">
            <a:solidFill>
              <a:srgbClr val="FF0000"/>
            </a:solidFill>
            <a:prstDash val="solid"/>
            <a:round/>
            <a:headEnd type="none" w="med" len="med"/>
            <a:tailEnd type="stealth" w="lg" len="lg"/>
          </a:ln>
          <a:effectLst/>
        </p:spPr>
        <p:txBody>
          <a:bodyPr/>
          <a:lstStyle/>
          <a:p>
            <a:pPr>
              <a:defRPr/>
            </a:pPr>
            <a:endParaRPr lang="zh-CN" altLang="en-US" sz="1600">
              <a:solidFill>
                <a:srgbClr val="0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60" name="Freeform 13"/>
          <p:cNvSpPr/>
          <p:nvPr/>
        </p:nvSpPr>
        <p:spPr bwMode="auto">
          <a:xfrm rot="10800000">
            <a:off x="1277800" y="3962399"/>
            <a:ext cx="1861640" cy="131519"/>
          </a:xfrm>
          <a:custGeom>
            <a:avLst/>
            <a:gdLst/>
            <a:ahLst/>
            <a:cxnLst>
              <a:cxn ang="0">
                <a:pos x="0" y="129"/>
              </a:cxn>
              <a:cxn ang="0">
                <a:pos x="1096" y="1"/>
              </a:cxn>
              <a:cxn ang="0">
                <a:pos x="2168" y="137"/>
              </a:cxn>
            </a:cxnLst>
            <a:rect l="0" t="0" r="r" b="b"/>
            <a:pathLst>
              <a:path w="2168" h="137">
                <a:moveTo>
                  <a:pt x="0" y="129"/>
                </a:moveTo>
                <a:cubicBezTo>
                  <a:pt x="367" y="64"/>
                  <a:pt x="735" y="0"/>
                  <a:pt x="1096" y="1"/>
                </a:cubicBezTo>
                <a:cubicBezTo>
                  <a:pt x="1457" y="2"/>
                  <a:pt x="1812" y="69"/>
                  <a:pt x="2168" y="137"/>
                </a:cubicBezTo>
              </a:path>
            </a:pathLst>
          </a:custGeom>
          <a:noFill/>
          <a:ln w="28575" cap="flat" cmpd="sng">
            <a:solidFill>
              <a:srgbClr val="FF0000"/>
            </a:solidFill>
            <a:prstDash val="solid"/>
            <a:round/>
            <a:headEnd type="none" w="med" len="med"/>
            <a:tailEnd type="stealth" w="lg" len="lg"/>
          </a:ln>
          <a:effectLst/>
        </p:spPr>
        <p:txBody>
          <a:bodyPr/>
          <a:lstStyle/>
          <a:p>
            <a:pPr>
              <a:defRPr/>
            </a:pPr>
            <a:endParaRPr lang="zh-CN" altLang="en-US">
              <a:solidFill>
                <a:srgbClr val="000000"/>
              </a:solidFill>
              <a:effectLst>
                <a:outerShdw blurRad="38100" dist="38100" dir="2700000" algn="tl">
                  <a:srgbClr val="C0C0C0"/>
                </a:outerShdw>
              </a:effectLst>
            </a:endParaRPr>
          </a:p>
        </p:txBody>
      </p:sp>
      <p:sp>
        <p:nvSpPr>
          <p:cNvPr id="62" name="矩形 61"/>
          <p:cNvSpPr/>
          <p:nvPr/>
        </p:nvSpPr>
        <p:spPr>
          <a:xfrm>
            <a:off x="1122431" y="3792379"/>
            <a:ext cx="300082" cy="246221"/>
          </a:xfrm>
          <a:prstGeom prst="rect">
            <a:avLst/>
          </a:prstGeom>
        </p:spPr>
        <p:txBody>
          <a:bodyPr wrap="none">
            <a:spAutoFit/>
          </a:bodyPr>
          <a:lstStyle/>
          <a:p>
            <a:pPr algn="ctr">
              <a:lnSpc>
                <a:spcPts val="1200"/>
              </a:lnSpc>
            </a:pPr>
            <a:r>
              <a:rPr lang="zh-CN" altLang="en-US" dirty="0">
                <a:solidFill>
                  <a:srgbClr val="CC00CC"/>
                </a:solidFill>
                <a:latin typeface="微软雅黑" panose="020B0503020204020204" pitchFamily="34" charset="-122"/>
                <a:ea typeface="微软雅黑" panose="020B0503020204020204" pitchFamily="34" charset="-122"/>
                <a:cs typeface="Times New Roman" panose="02020603050405020304"/>
              </a:rPr>
              <a:t>↑</a:t>
            </a:r>
            <a:endParaRPr lang="zh-CN" altLang="en-US"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4" name="TextBox 63"/>
          <p:cNvSpPr txBox="1"/>
          <p:nvPr/>
        </p:nvSpPr>
        <p:spPr>
          <a:xfrm>
            <a:off x="2583180" y="3710940"/>
            <a:ext cx="287258" cy="338554"/>
          </a:xfrm>
          <a:prstGeom prst="rect">
            <a:avLst/>
          </a:prstGeom>
          <a:noFill/>
        </p:spPr>
        <p:txBody>
          <a:bodyPr wrap="none" rtlCol="0">
            <a:spAutoFit/>
          </a:bodyPr>
          <a:lstStyle/>
          <a:p>
            <a:r>
              <a:rPr lang="en-US" altLang="zh-CN" sz="1600" dirty="0">
                <a:latin typeface="Times New Roman" panose="02020603050405020304" pitchFamily="18" charset="0"/>
                <a:cs typeface="Times New Roman" panose="02020603050405020304" pitchFamily="18" charset="0"/>
              </a:rPr>
              <a:t>1</a:t>
            </a:r>
            <a:endParaRPr lang="zh-CN" altLang="en-US" sz="1600" dirty="0">
              <a:latin typeface="Times New Roman" panose="02020603050405020304" pitchFamily="18" charset="0"/>
              <a:cs typeface="Times New Roman" panose="02020603050405020304" pitchFamily="18" charset="0"/>
            </a:endParaRPr>
          </a:p>
        </p:txBody>
      </p:sp>
      <p:sp>
        <p:nvSpPr>
          <p:cNvPr id="65" name="Freeform 13"/>
          <p:cNvSpPr/>
          <p:nvPr/>
        </p:nvSpPr>
        <p:spPr bwMode="auto">
          <a:xfrm>
            <a:off x="1863713" y="3611161"/>
            <a:ext cx="836069" cy="201552"/>
          </a:xfrm>
          <a:custGeom>
            <a:avLst/>
            <a:gdLst/>
            <a:ahLst/>
            <a:cxnLst>
              <a:cxn ang="0">
                <a:pos x="0" y="129"/>
              </a:cxn>
              <a:cxn ang="0">
                <a:pos x="1096" y="1"/>
              </a:cxn>
              <a:cxn ang="0">
                <a:pos x="2168" y="137"/>
              </a:cxn>
            </a:cxnLst>
            <a:rect l="0" t="0" r="r" b="b"/>
            <a:pathLst>
              <a:path w="2168" h="137">
                <a:moveTo>
                  <a:pt x="0" y="129"/>
                </a:moveTo>
                <a:cubicBezTo>
                  <a:pt x="367" y="64"/>
                  <a:pt x="735" y="0"/>
                  <a:pt x="1096" y="1"/>
                </a:cubicBezTo>
                <a:cubicBezTo>
                  <a:pt x="1457" y="2"/>
                  <a:pt x="1812" y="69"/>
                  <a:pt x="2168" y="137"/>
                </a:cubicBezTo>
              </a:path>
            </a:pathLst>
          </a:custGeom>
          <a:noFill/>
          <a:ln w="28575" cap="flat" cmpd="sng">
            <a:solidFill>
              <a:srgbClr val="FF0000"/>
            </a:solidFill>
            <a:prstDash val="solid"/>
            <a:round/>
            <a:headEnd type="none" w="med" len="med"/>
            <a:tailEnd type="stealth" w="lg" len="lg"/>
          </a:ln>
          <a:effectLst/>
        </p:spPr>
        <p:txBody>
          <a:bodyPr/>
          <a:lstStyle/>
          <a:p>
            <a:pPr>
              <a:defRPr/>
            </a:pPr>
            <a:endParaRPr lang="zh-CN" altLang="en-US" sz="1600">
              <a:solidFill>
                <a:srgbClr val="0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66" name="矩形 65"/>
          <p:cNvSpPr/>
          <p:nvPr/>
        </p:nvSpPr>
        <p:spPr>
          <a:xfrm>
            <a:off x="429078" y="4140043"/>
            <a:ext cx="300082" cy="246221"/>
          </a:xfrm>
          <a:prstGeom prst="rect">
            <a:avLst/>
          </a:prstGeom>
        </p:spPr>
        <p:txBody>
          <a:bodyPr wrap="none">
            <a:spAutoFit/>
          </a:bodyPr>
          <a:lstStyle/>
          <a:p>
            <a:pPr algn="ctr">
              <a:lnSpc>
                <a:spcPts val="1200"/>
              </a:lnSpc>
            </a:pPr>
            <a:r>
              <a:rPr lang="zh-CN" altLang="en-US" dirty="0">
                <a:solidFill>
                  <a:srgbClr val="CC00CC"/>
                </a:solidFill>
                <a:latin typeface="微软雅黑" panose="020B0503020204020204" pitchFamily="34" charset="-122"/>
                <a:ea typeface="微软雅黑" panose="020B0503020204020204" pitchFamily="34" charset="-122"/>
                <a:cs typeface="Times New Roman" panose="02020603050405020304"/>
              </a:rPr>
              <a:t>↑</a:t>
            </a:r>
            <a:endParaRPr lang="zh-CN" altLang="en-US"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0" name="TextBox 69"/>
          <p:cNvSpPr txBox="1"/>
          <p:nvPr/>
        </p:nvSpPr>
        <p:spPr>
          <a:xfrm>
            <a:off x="3070860" y="4038600"/>
            <a:ext cx="287258" cy="338554"/>
          </a:xfrm>
          <a:prstGeom prst="rect">
            <a:avLst/>
          </a:prstGeom>
          <a:noFill/>
        </p:spPr>
        <p:txBody>
          <a:bodyPr wrap="none" rtlCol="0">
            <a:spAutoFit/>
          </a:bodyPr>
          <a:lstStyle/>
          <a:p>
            <a:r>
              <a:rPr lang="en-US" altLang="zh-CN" sz="1600" dirty="0">
                <a:latin typeface="Times New Roman" panose="02020603050405020304" pitchFamily="18" charset="0"/>
                <a:cs typeface="Times New Roman" panose="02020603050405020304" pitchFamily="18" charset="0"/>
              </a:rPr>
              <a:t>0</a:t>
            </a:r>
            <a:endParaRPr lang="zh-CN" altLang="en-US" sz="1600" dirty="0">
              <a:latin typeface="Times New Roman" panose="02020603050405020304" pitchFamily="18" charset="0"/>
              <a:cs typeface="Times New Roman" panose="02020603050405020304" pitchFamily="18" charset="0"/>
            </a:endParaRPr>
          </a:p>
        </p:txBody>
      </p:sp>
      <p:sp>
        <p:nvSpPr>
          <p:cNvPr id="72" name="矩形 71"/>
          <p:cNvSpPr/>
          <p:nvPr/>
        </p:nvSpPr>
        <p:spPr>
          <a:xfrm>
            <a:off x="1099399" y="4113179"/>
            <a:ext cx="356188" cy="262701"/>
          </a:xfrm>
          <a:prstGeom prst="rect">
            <a:avLst/>
          </a:prstGeom>
        </p:spPr>
        <p:txBody>
          <a:bodyPr wrap="none">
            <a:spAutoFit/>
          </a:bodyPr>
          <a:lstStyle/>
          <a:p>
            <a:pPr algn="ctr">
              <a:lnSpc>
                <a:spcPts val="1200"/>
              </a:lnSpc>
            </a:pPr>
            <a:r>
              <a:rPr lang="en-US" altLang="zh-CN" dirty="0">
                <a:solidFill>
                  <a:srgbClr val="CC00CC"/>
                </a:solidFill>
                <a:latin typeface="Times New Roman" panose="02020603050405020304"/>
                <a:ea typeface="微软雅黑" panose="020B0503020204020204" pitchFamily="34" charset="-122"/>
                <a:cs typeface="Times New Roman" panose="02020603050405020304"/>
              </a:rPr>
              <a:t>×</a:t>
            </a:r>
            <a:endParaRPr lang="zh-CN" altLang="en-US"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4" name="TextBox 73"/>
          <p:cNvSpPr txBox="1"/>
          <p:nvPr/>
        </p:nvSpPr>
        <p:spPr>
          <a:xfrm>
            <a:off x="2621280" y="4038600"/>
            <a:ext cx="287258" cy="338554"/>
          </a:xfrm>
          <a:prstGeom prst="rect">
            <a:avLst/>
          </a:prstGeom>
          <a:noFill/>
        </p:spPr>
        <p:txBody>
          <a:bodyPr wrap="none" rtlCol="0">
            <a:spAutoFit/>
          </a:bodyPr>
          <a:lstStyle/>
          <a:p>
            <a:r>
              <a:rPr lang="en-US" altLang="zh-CN" sz="1600" dirty="0">
                <a:latin typeface="Times New Roman" panose="02020603050405020304" pitchFamily="18" charset="0"/>
                <a:cs typeface="Times New Roman" panose="02020603050405020304" pitchFamily="18" charset="0"/>
              </a:rPr>
              <a:t>0</a:t>
            </a:r>
            <a:endParaRPr lang="zh-CN" altLang="en-US" sz="1600" dirty="0">
              <a:latin typeface="Times New Roman" panose="02020603050405020304" pitchFamily="18" charset="0"/>
              <a:cs typeface="Times New Roman" panose="02020603050405020304" pitchFamily="18" charset="0"/>
            </a:endParaRPr>
          </a:p>
        </p:txBody>
      </p:sp>
      <p:grpSp>
        <p:nvGrpSpPr>
          <p:cNvPr id="57" name="组合 56"/>
          <p:cNvGrpSpPr/>
          <p:nvPr/>
        </p:nvGrpSpPr>
        <p:grpSpPr>
          <a:xfrm>
            <a:off x="437306" y="4475180"/>
            <a:ext cx="995011" cy="249005"/>
            <a:chOff x="437306" y="4475180"/>
            <a:chExt cx="995011" cy="249005"/>
          </a:xfrm>
        </p:grpSpPr>
        <p:sp>
          <p:nvSpPr>
            <p:cNvPr id="67" name="矩形 66"/>
            <p:cNvSpPr/>
            <p:nvPr/>
          </p:nvSpPr>
          <p:spPr>
            <a:xfrm>
              <a:off x="437306" y="4477964"/>
              <a:ext cx="300082" cy="246221"/>
            </a:xfrm>
            <a:prstGeom prst="rect">
              <a:avLst/>
            </a:prstGeom>
          </p:spPr>
          <p:txBody>
            <a:bodyPr wrap="none">
              <a:spAutoFit/>
            </a:bodyPr>
            <a:lstStyle/>
            <a:p>
              <a:pPr algn="ctr">
                <a:lnSpc>
                  <a:spcPts val="1200"/>
                </a:lnSpc>
              </a:pPr>
              <a:r>
                <a:rPr lang="zh-CN" altLang="en-US" dirty="0">
                  <a:solidFill>
                    <a:srgbClr val="CC00CC"/>
                  </a:solidFill>
                  <a:latin typeface="微软雅黑" panose="020B0503020204020204" pitchFamily="34" charset="-122"/>
                  <a:ea typeface="微软雅黑" panose="020B0503020204020204" pitchFamily="34" charset="-122"/>
                  <a:cs typeface="Times New Roman" panose="02020603050405020304"/>
                </a:rPr>
                <a:t>↑</a:t>
              </a:r>
              <a:endParaRPr lang="zh-CN" altLang="en-US"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6" name="矩形 75"/>
            <p:cNvSpPr/>
            <p:nvPr/>
          </p:nvSpPr>
          <p:spPr>
            <a:xfrm>
              <a:off x="1132235" y="4475180"/>
              <a:ext cx="300082" cy="246221"/>
            </a:xfrm>
            <a:prstGeom prst="rect">
              <a:avLst/>
            </a:prstGeom>
          </p:spPr>
          <p:txBody>
            <a:bodyPr wrap="none">
              <a:spAutoFit/>
            </a:bodyPr>
            <a:lstStyle/>
            <a:p>
              <a:pPr algn="ctr">
                <a:lnSpc>
                  <a:spcPts val="1200"/>
                </a:lnSpc>
              </a:pPr>
              <a:r>
                <a:rPr lang="zh-CN" altLang="en-US" dirty="0">
                  <a:solidFill>
                    <a:srgbClr val="CC00CC"/>
                  </a:solidFill>
                  <a:latin typeface="微软雅黑" panose="020B0503020204020204" pitchFamily="34" charset="-122"/>
                  <a:ea typeface="微软雅黑" panose="020B0503020204020204" pitchFamily="34" charset="-122"/>
                  <a:cs typeface="Times New Roman" panose="02020603050405020304"/>
                </a:rPr>
                <a:t>↑</a:t>
              </a:r>
              <a:endParaRPr lang="zh-CN" altLang="en-US"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58" name="组合 57"/>
          <p:cNvGrpSpPr/>
          <p:nvPr/>
        </p:nvGrpSpPr>
        <p:grpSpPr>
          <a:xfrm>
            <a:off x="423818" y="4761308"/>
            <a:ext cx="1020465" cy="262701"/>
            <a:chOff x="423818" y="4761308"/>
            <a:chExt cx="1020465" cy="262701"/>
          </a:xfrm>
        </p:grpSpPr>
        <p:sp>
          <p:nvSpPr>
            <p:cNvPr id="68" name="矩形 67"/>
            <p:cNvSpPr/>
            <p:nvPr/>
          </p:nvSpPr>
          <p:spPr>
            <a:xfrm>
              <a:off x="423818" y="4769549"/>
              <a:ext cx="300082" cy="246221"/>
            </a:xfrm>
            <a:prstGeom prst="rect">
              <a:avLst/>
            </a:prstGeom>
          </p:spPr>
          <p:txBody>
            <a:bodyPr wrap="none">
              <a:spAutoFit/>
            </a:bodyPr>
            <a:lstStyle/>
            <a:p>
              <a:pPr algn="ctr">
                <a:lnSpc>
                  <a:spcPts val="1200"/>
                </a:lnSpc>
              </a:pPr>
              <a:r>
                <a:rPr lang="zh-CN" altLang="en-US" dirty="0">
                  <a:solidFill>
                    <a:srgbClr val="CC00CC"/>
                  </a:solidFill>
                  <a:latin typeface="微软雅黑" panose="020B0503020204020204" pitchFamily="34" charset="-122"/>
                  <a:ea typeface="微软雅黑" panose="020B0503020204020204" pitchFamily="34" charset="-122"/>
                  <a:cs typeface="Times New Roman" panose="02020603050405020304"/>
                </a:rPr>
                <a:t>↑</a:t>
              </a:r>
              <a:endParaRPr lang="zh-CN" altLang="en-US"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8" name="矩形 77"/>
            <p:cNvSpPr/>
            <p:nvPr/>
          </p:nvSpPr>
          <p:spPr>
            <a:xfrm>
              <a:off x="1088095" y="4761308"/>
              <a:ext cx="356188" cy="262701"/>
            </a:xfrm>
            <a:prstGeom prst="rect">
              <a:avLst/>
            </a:prstGeom>
          </p:spPr>
          <p:txBody>
            <a:bodyPr wrap="none">
              <a:spAutoFit/>
            </a:bodyPr>
            <a:lstStyle/>
            <a:p>
              <a:pPr algn="ctr">
                <a:lnSpc>
                  <a:spcPts val="1200"/>
                </a:lnSpc>
              </a:pPr>
              <a:r>
                <a:rPr lang="en-US" altLang="zh-CN" dirty="0">
                  <a:solidFill>
                    <a:srgbClr val="CC00CC"/>
                  </a:solidFill>
                  <a:latin typeface="Times New Roman" panose="02020603050405020304"/>
                  <a:ea typeface="微软雅黑" panose="020B0503020204020204" pitchFamily="34" charset="-122"/>
                  <a:cs typeface="Times New Roman" panose="02020603050405020304"/>
                </a:rPr>
                <a:t>×</a:t>
              </a:r>
              <a:endParaRPr lang="zh-CN" altLang="en-US"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aphicFrame>
        <p:nvGraphicFramePr>
          <p:cNvPr id="80" name="表格 79"/>
          <p:cNvGraphicFramePr>
            <a:graphicFrameLocks noGrp="1"/>
          </p:cNvGraphicFramePr>
          <p:nvPr/>
        </p:nvGraphicFramePr>
        <p:xfrm>
          <a:off x="3428474" y="3652520"/>
          <a:ext cx="349250" cy="1304592"/>
        </p:xfrm>
        <a:graphic>
          <a:graphicData uri="http://schemas.openxmlformats.org/drawingml/2006/table">
            <a:tbl>
              <a:tblPr firstRow="1" bandRow="1">
                <a:tableStyleId>{5C22544A-7EE6-4342-B048-85BDC9FD1C3A}</a:tableStyleId>
              </a:tblPr>
              <a:tblGrid>
                <a:gridCol w="349250"/>
              </a:tblGrid>
              <a:tr h="326148">
                <a:tc>
                  <a:txBody>
                    <a:bodyPr/>
                    <a:lstStyle/>
                    <a:p>
                      <a:pPr algn="ctr">
                        <a:lnSpc>
                          <a:spcPts val="1200"/>
                        </a:lnSpc>
                      </a:pPr>
                      <a:r>
                        <a:rPr lang="en-US" altLang="zh-CN" sz="1600" b="0" dirty="0">
                          <a:solidFill>
                            <a:sysClr val="windowText" lastClr="000000"/>
                          </a:solidFill>
                          <a:latin typeface="Times New Roman" panose="02020603050405020304" pitchFamily="18" charset="0"/>
                          <a:cs typeface="Times New Roman" panose="02020603050405020304" pitchFamily="18" charset="0"/>
                        </a:rPr>
                        <a:t>0</a:t>
                      </a:r>
                      <a:endParaRPr lang="zh-CN" altLang="en-US" sz="1600" b="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r>
              <a:tr h="326148">
                <a:tc>
                  <a:txBody>
                    <a:bodyPr/>
                    <a:lstStyle/>
                    <a:p>
                      <a:pPr algn="ctr">
                        <a:lnSpc>
                          <a:spcPts val="1200"/>
                        </a:lnSpc>
                      </a:pPr>
                      <a:r>
                        <a:rPr lang="en-US" altLang="zh-CN" sz="1600" b="0" dirty="0">
                          <a:solidFill>
                            <a:sysClr val="windowText" lastClr="000000"/>
                          </a:solidFill>
                          <a:latin typeface="Times New Roman" panose="02020603050405020304" pitchFamily="18" charset="0"/>
                          <a:cs typeface="Times New Roman" panose="02020603050405020304" pitchFamily="18" charset="0"/>
                        </a:rPr>
                        <a:t>0</a:t>
                      </a:r>
                      <a:endParaRPr lang="zh-CN" altLang="en-US" sz="1600" b="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r>
              <a:tr h="326148">
                <a:tc>
                  <a:txBody>
                    <a:bodyPr/>
                    <a:lstStyle/>
                    <a:p>
                      <a:pPr algn="ctr">
                        <a:lnSpc>
                          <a:spcPts val="1200"/>
                        </a:lnSpc>
                      </a:pPr>
                      <a:r>
                        <a:rPr lang="en-US" altLang="zh-CN" sz="1600" b="0" dirty="0">
                          <a:solidFill>
                            <a:sysClr val="windowText" lastClr="000000"/>
                          </a:solidFill>
                          <a:latin typeface="Times New Roman" panose="02020603050405020304" pitchFamily="18" charset="0"/>
                          <a:cs typeface="Times New Roman" panose="02020603050405020304" pitchFamily="18" charset="0"/>
                        </a:rPr>
                        <a:t>0</a:t>
                      </a:r>
                      <a:endParaRPr lang="zh-CN" altLang="en-US" sz="1600" b="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r>
              <a:tr h="326148">
                <a:tc>
                  <a:txBody>
                    <a:bodyPr/>
                    <a:lstStyle/>
                    <a:p>
                      <a:pPr algn="ctr">
                        <a:lnSpc>
                          <a:spcPts val="1200"/>
                        </a:lnSpc>
                      </a:pPr>
                      <a:r>
                        <a:rPr lang="en-US" altLang="zh-CN" sz="1600" b="0" dirty="0">
                          <a:solidFill>
                            <a:sysClr val="windowText" lastClr="000000"/>
                          </a:solidFill>
                          <a:latin typeface="Times New Roman" panose="02020603050405020304" pitchFamily="18" charset="0"/>
                          <a:cs typeface="Times New Roman" panose="02020603050405020304" pitchFamily="18" charset="0"/>
                        </a:rPr>
                        <a:t>1</a:t>
                      </a:r>
                      <a:endParaRPr lang="zh-CN" altLang="en-US" sz="1600" b="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9" name="组合 8"/>
          <p:cNvGrpSpPr/>
          <p:nvPr/>
        </p:nvGrpSpPr>
        <p:grpSpPr>
          <a:xfrm>
            <a:off x="4159875" y="3268663"/>
            <a:ext cx="4024640" cy="1790700"/>
            <a:chOff x="4159875" y="3268663"/>
            <a:chExt cx="4024640" cy="1790700"/>
          </a:xfrm>
        </p:grpSpPr>
        <p:graphicFrame>
          <p:nvGraphicFramePr>
            <p:cNvPr id="113668" name="Object 4"/>
            <p:cNvGraphicFramePr>
              <a:graphicFrameLocks noChangeAspect="1"/>
            </p:cNvGraphicFramePr>
            <p:nvPr/>
          </p:nvGraphicFramePr>
          <p:xfrm>
            <a:off x="5692140" y="3268663"/>
            <a:ext cx="2492375" cy="1790700"/>
          </p:xfrm>
          <a:graphic>
            <a:graphicData uri="http://schemas.openxmlformats.org/presentationml/2006/ole">
              <mc:AlternateContent xmlns:mc="http://schemas.openxmlformats.org/markup-compatibility/2006">
                <mc:Choice xmlns:v="urn:schemas-microsoft-com:vml" Requires="v">
                  <p:oleObj spid="_x0000_s9262" name="Visio" r:id="rId4" imgW="1314450" imgH="914400" progId="Visio.Drawing.11">
                    <p:embed/>
                  </p:oleObj>
                </mc:Choice>
                <mc:Fallback>
                  <p:oleObj name="Visio" r:id="rId4" imgW="1314450" imgH="914400" progId="Visio.Drawing.11">
                    <p:embed/>
                    <p:pic>
                      <p:nvPicPr>
                        <p:cNvPr id="0" name="Object 4"/>
                        <p:cNvPicPr>
                          <a:picLocks noChangeAspect="1" noChangeArrowheads="1"/>
                        </p:cNvPicPr>
                        <p:nvPr/>
                      </p:nvPicPr>
                      <p:blipFill>
                        <a:blip r:embed="rId5"/>
                        <a:srcRect/>
                        <a:stretch>
                          <a:fillRect/>
                        </a:stretch>
                      </p:blipFill>
                      <p:spPr bwMode="auto">
                        <a:xfrm>
                          <a:off x="5692140" y="3268663"/>
                          <a:ext cx="2492375" cy="1790700"/>
                        </a:xfrm>
                        <a:prstGeom prst="rect">
                          <a:avLst/>
                        </a:prstGeom>
                        <a:solidFill>
                          <a:srgbClr val="FFFFFF"/>
                        </a:solidFill>
                      </p:spPr>
                    </p:pic>
                  </p:oleObj>
                </mc:Fallback>
              </mc:AlternateContent>
            </a:graphicData>
          </a:graphic>
        </p:graphicFrame>
        <p:grpSp>
          <p:nvGrpSpPr>
            <p:cNvPr id="84" name="组合 29"/>
            <p:cNvGrpSpPr/>
            <p:nvPr/>
          </p:nvGrpSpPr>
          <p:grpSpPr>
            <a:xfrm>
              <a:off x="4159875" y="3308044"/>
              <a:ext cx="1350247" cy="338554"/>
              <a:chOff x="4731375" y="1650857"/>
              <a:chExt cx="1350247" cy="338554"/>
            </a:xfrm>
          </p:grpSpPr>
          <p:sp>
            <p:nvSpPr>
              <p:cNvPr id="85" name="矩形 84"/>
              <p:cNvSpPr/>
              <p:nvPr/>
            </p:nvSpPr>
            <p:spPr>
              <a:xfrm>
                <a:off x="5076219" y="1650857"/>
                <a:ext cx="1005403"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画状态图</a:t>
                </a:r>
                <a:endParaRPr lang="zh-CN" altLang="en-US" sz="1600" dirty="0"/>
              </a:p>
            </p:txBody>
          </p:sp>
          <p:pic>
            <p:nvPicPr>
              <p:cNvPr id="86" name="Picture 5"/>
              <p:cNvPicPr>
                <a:picLocks noChangeAspect="1" noChangeArrowheads="1"/>
              </p:cNvPicPr>
              <p:nvPr/>
            </p:nvPicPr>
            <p:blipFill>
              <a:blip r:embed="rId3" cstate="print"/>
              <a:srcRect/>
              <a:stretch>
                <a:fillRect/>
              </a:stretch>
            </p:blipFill>
            <p:spPr bwMode="auto">
              <a:xfrm>
                <a:off x="4731375" y="1677030"/>
                <a:ext cx="360000" cy="286209"/>
              </a:xfrm>
              <a:prstGeom prst="rect">
                <a:avLst/>
              </a:prstGeom>
              <a:noFill/>
              <a:ln w="9525">
                <a:noFill/>
                <a:miter lim="800000"/>
                <a:headEnd/>
                <a:tailEnd/>
              </a:ln>
            </p:spPr>
          </p:pic>
        </p:grpSp>
      </p:grpSp>
      <p:graphicFrame>
        <p:nvGraphicFramePr>
          <p:cNvPr id="48" name="表格 47"/>
          <p:cNvGraphicFramePr>
            <a:graphicFrameLocks noGrp="1"/>
          </p:cNvGraphicFramePr>
          <p:nvPr/>
        </p:nvGraphicFramePr>
        <p:xfrm>
          <a:off x="1638300" y="4627880"/>
          <a:ext cx="891540" cy="326148"/>
        </p:xfrm>
        <a:graphic>
          <a:graphicData uri="http://schemas.openxmlformats.org/drawingml/2006/table">
            <a:tbl>
              <a:tblPr firstRow="1" bandRow="1">
                <a:tableStyleId>{5C22544A-7EE6-4342-B048-85BDC9FD1C3A}</a:tableStyleId>
              </a:tblPr>
              <a:tblGrid>
                <a:gridCol w="445770"/>
                <a:gridCol w="445770"/>
              </a:tblGrid>
              <a:tr h="326148">
                <a:tc>
                  <a:txBody>
                    <a:bodyPr/>
                    <a:lstStyle/>
                    <a:p>
                      <a:pPr algn="ctr">
                        <a:lnSpc>
                          <a:spcPts val="1200"/>
                        </a:lnSpc>
                      </a:pPr>
                      <a:r>
                        <a:rPr lang="en-US" altLang="zh-CN" sz="1600" b="0" dirty="0">
                          <a:solidFill>
                            <a:sysClr val="windowText" lastClr="000000"/>
                          </a:solidFill>
                          <a:latin typeface="Times New Roman" panose="02020603050405020304" pitchFamily="18" charset="0"/>
                          <a:cs typeface="Times New Roman" panose="02020603050405020304" pitchFamily="18" charset="0"/>
                        </a:rPr>
                        <a:t>1</a:t>
                      </a:r>
                      <a:endParaRPr lang="zh-CN" altLang="en-US" sz="1600" b="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200"/>
                        </a:lnSpc>
                      </a:pPr>
                      <a:r>
                        <a:rPr lang="en-US" altLang="zh-CN" sz="1600" b="0" dirty="0">
                          <a:solidFill>
                            <a:sysClr val="windowText" lastClr="000000"/>
                          </a:solidFill>
                          <a:latin typeface="Times New Roman" panose="02020603050405020304" pitchFamily="18" charset="0"/>
                          <a:cs typeface="Times New Roman" panose="02020603050405020304" pitchFamily="18" charset="0"/>
                        </a:rPr>
                        <a:t>1</a:t>
                      </a:r>
                      <a:endParaRPr lang="zh-CN" altLang="en-US" sz="1600" b="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52" name="表格 51"/>
          <p:cNvGraphicFramePr>
            <a:graphicFrameLocks noGrp="1"/>
          </p:cNvGraphicFramePr>
          <p:nvPr/>
        </p:nvGraphicFramePr>
        <p:xfrm>
          <a:off x="1638300" y="3674719"/>
          <a:ext cx="891540" cy="326148"/>
        </p:xfrm>
        <a:graphic>
          <a:graphicData uri="http://schemas.openxmlformats.org/drawingml/2006/table">
            <a:tbl>
              <a:tblPr firstRow="1" bandRow="1">
                <a:tableStyleId>{5C22544A-7EE6-4342-B048-85BDC9FD1C3A}</a:tableStyleId>
              </a:tblPr>
              <a:tblGrid>
                <a:gridCol w="445770"/>
                <a:gridCol w="445770"/>
              </a:tblGrid>
              <a:tr h="326148">
                <a:tc>
                  <a:txBody>
                    <a:bodyPr/>
                    <a:lstStyle/>
                    <a:p>
                      <a:pPr algn="ctr">
                        <a:lnSpc>
                          <a:spcPts val="1200"/>
                        </a:lnSpc>
                      </a:pPr>
                      <a:r>
                        <a:rPr lang="en-US" altLang="zh-CN" sz="1600" b="0" dirty="0">
                          <a:solidFill>
                            <a:sysClr val="windowText" lastClr="000000"/>
                          </a:solidFill>
                          <a:latin typeface="Times New Roman" panose="02020603050405020304" pitchFamily="18" charset="0"/>
                          <a:cs typeface="Times New Roman" panose="02020603050405020304" pitchFamily="18" charset="0"/>
                        </a:rPr>
                        <a:t>0</a:t>
                      </a:r>
                      <a:endParaRPr lang="zh-CN" altLang="en-US" sz="1600" b="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lnSpc>
                          <a:spcPts val="1200"/>
                        </a:lnSpc>
                      </a:pPr>
                      <a:r>
                        <a:rPr lang="en-US" altLang="zh-CN" sz="1600" b="0" dirty="0">
                          <a:solidFill>
                            <a:sysClr val="windowText" lastClr="000000"/>
                          </a:solidFill>
                          <a:latin typeface="Times New Roman" panose="02020603050405020304" pitchFamily="18" charset="0"/>
                          <a:cs typeface="Times New Roman" panose="02020603050405020304" pitchFamily="18" charset="0"/>
                        </a:rPr>
                        <a:t>0</a:t>
                      </a:r>
                      <a:endParaRPr lang="zh-CN" altLang="en-US" sz="1600" b="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graphicFrame>
        <p:nvGraphicFramePr>
          <p:cNvPr id="53" name="表格 52"/>
          <p:cNvGraphicFramePr>
            <a:graphicFrameLocks noGrp="1"/>
          </p:cNvGraphicFramePr>
          <p:nvPr/>
        </p:nvGraphicFramePr>
        <p:xfrm>
          <a:off x="1638300" y="4010660"/>
          <a:ext cx="891540" cy="326148"/>
        </p:xfrm>
        <a:graphic>
          <a:graphicData uri="http://schemas.openxmlformats.org/drawingml/2006/table">
            <a:tbl>
              <a:tblPr firstRow="1" bandRow="1">
                <a:tableStyleId>{5C22544A-7EE6-4342-B048-85BDC9FD1C3A}</a:tableStyleId>
              </a:tblPr>
              <a:tblGrid>
                <a:gridCol w="445770"/>
                <a:gridCol w="445770"/>
              </a:tblGrid>
              <a:tr h="326148">
                <a:tc>
                  <a:txBody>
                    <a:bodyPr/>
                    <a:lstStyle/>
                    <a:p>
                      <a:pPr algn="ctr">
                        <a:lnSpc>
                          <a:spcPts val="1200"/>
                        </a:lnSpc>
                      </a:pPr>
                      <a:r>
                        <a:rPr lang="en-US" altLang="zh-CN" sz="1600" b="0" dirty="0">
                          <a:solidFill>
                            <a:sysClr val="windowText" lastClr="000000"/>
                          </a:solidFill>
                          <a:latin typeface="Times New Roman" panose="02020603050405020304" pitchFamily="18" charset="0"/>
                          <a:cs typeface="Times New Roman" panose="02020603050405020304" pitchFamily="18" charset="0"/>
                        </a:rPr>
                        <a:t>0</a:t>
                      </a:r>
                      <a:endParaRPr lang="zh-CN" altLang="en-US" sz="1600" b="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ts val="1200"/>
                        </a:lnSpc>
                      </a:pPr>
                      <a:r>
                        <a:rPr lang="en-US" altLang="zh-CN" sz="1600" b="0" dirty="0">
                          <a:solidFill>
                            <a:sysClr val="windowText" lastClr="000000"/>
                          </a:solidFill>
                          <a:latin typeface="Times New Roman" panose="02020603050405020304" pitchFamily="18" charset="0"/>
                          <a:cs typeface="Times New Roman" panose="02020603050405020304" pitchFamily="18" charset="0"/>
                        </a:rPr>
                        <a:t>1</a:t>
                      </a:r>
                      <a:endParaRPr lang="zh-CN" altLang="en-US" sz="1600" b="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r>
            </a:tbl>
          </a:graphicData>
        </a:graphic>
      </p:graphicFrame>
      <p:graphicFrame>
        <p:nvGraphicFramePr>
          <p:cNvPr id="54" name="表格 53"/>
          <p:cNvGraphicFramePr>
            <a:graphicFrameLocks noGrp="1"/>
          </p:cNvGraphicFramePr>
          <p:nvPr/>
        </p:nvGraphicFramePr>
        <p:xfrm>
          <a:off x="1638300" y="4330700"/>
          <a:ext cx="891540" cy="326148"/>
        </p:xfrm>
        <a:graphic>
          <a:graphicData uri="http://schemas.openxmlformats.org/drawingml/2006/table">
            <a:tbl>
              <a:tblPr firstRow="1" bandRow="1">
                <a:tableStyleId>{5C22544A-7EE6-4342-B048-85BDC9FD1C3A}</a:tableStyleId>
              </a:tblPr>
              <a:tblGrid>
                <a:gridCol w="445770"/>
                <a:gridCol w="445770"/>
              </a:tblGrid>
              <a:tr h="326148">
                <a:tc>
                  <a:txBody>
                    <a:bodyPr/>
                    <a:lstStyle/>
                    <a:p>
                      <a:pPr algn="ctr">
                        <a:lnSpc>
                          <a:spcPts val="1200"/>
                        </a:lnSpc>
                      </a:pPr>
                      <a:r>
                        <a:rPr lang="en-US" altLang="zh-CN" sz="1600" b="0" dirty="0">
                          <a:solidFill>
                            <a:sysClr val="windowText" lastClr="000000"/>
                          </a:solidFill>
                          <a:latin typeface="Times New Roman" panose="02020603050405020304" pitchFamily="18" charset="0"/>
                          <a:cs typeface="Times New Roman" panose="02020603050405020304" pitchFamily="18" charset="0"/>
                        </a:rPr>
                        <a:t>1</a:t>
                      </a:r>
                      <a:endParaRPr lang="zh-CN" altLang="en-US" sz="1600" b="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ts val="1200"/>
                        </a:lnSpc>
                      </a:pPr>
                      <a:r>
                        <a:rPr lang="en-US" altLang="zh-CN" sz="1600" b="0" dirty="0">
                          <a:solidFill>
                            <a:sysClr val="windowText" lastClr="000000"/>
                          </a:solidFill>
                          <a:latin typeface="Times New Roman" panose="02020603050405020304" pitchFamily="18" charset="0"/>
                          <a:cs typeface="Times New Roman" panose="02020603050405020304" pitchFamily="18" charset="0"/>
                        </a:rPr>
                        <a:t>0</a:t>
                      </a:r>
                      <a:endParaRPr lang="zh-CN" altLang="en-US" sz="1600" b="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r>
            </a:tbl>
          </a:graphicData>
        </a:graphic>
      </p:graphicFrame>
      <p:graphicFrame>
        <p:nvGraphicFramePr>
          <p:cNvPr id="55" name="表格 54"/>
          <p:cNvGraphicFramePr>
            <a:graphicFrameLocks noGrp="1"/>
          </p:cNvGraphicFramePr>
          <p:nvPr/>
        </p:nvGraphicFramePr>
        <p:xfrm>
          <a:off x="2522220" y="4330700"/>
          <a:ext cx="937260" cy="326148"/>
        </p:xfrm>
        <a:graphic>
          <a:graphicData uri="http://schemas.openxmlformats.org/drawingml/2006/table">
            <a:tbl>
              <a:tblPr firstRow="1" bandRow="1">
                <a:tableStyleId>{5C22544A-7EE6-4342-B048-85BDC9FD1C3A}</a:tableStyleId>
              </a:tblPr>
              <a:tblGrid>
                <a:gridCol w="449580"/>
                <a:gridCol w="487680"/>
              </a:tblGrid>
              <a:tr h="326148">
                <a:tc>
                  <a:txBody>
                    <a:bodyPr/>
                    <a:lstStyle/>
                    <a:p>
                      <a:pPr algn="ctr">
                        <a:lnSpc>
                          <a:spcPts val="1200"/>
                        </a:lnSpc>
                      </a:pPr>
                      <a:r>
                        <a:rPr lang="en-US" altLang="zh-CN" sz="1600" b="0" dirty="0">
                          <a:solidFill>
                            <a:sysClr val="windowText" lastClr="000000"/>
                          </a:solidFill>
                          <a:latin typeface="Times New Roman" panose="02020603050405020304" pitchFamily="18" charset="0"/>
                          <a:cs typeface="Times New Roman" panose="02020603050405020304" pitchFamily="18" charset="0"/>
                        </a:rPr>
                        <a:t>0</a:t>
                      </a:r>
                      <a:endParaRPr lang="zh-CN" altLang="en-US" sz="1600" b="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ts val="1200"/>
                        </a:lnSpc>
                      </a:pPr>
                      <a:r>
                        <a:rPr lang="en-US" altLang="zh-CN" sz="1600" b="0" dirty="0">
                          <a:solidFill>
                            <a:sysClr val="windowText" lastClr="000000"/>
                          </a:solidFill>
                          <a:latin typeface="Times New Roman" panose="02020603050405020304" pitchFamily="18" charset="0"/>
                          <a:cs typeface="Times New Roman" panose="02020603050405020304" pitchFamily="18" charset="0"/>
                        </a:rPr>
                        <a:t>1</a:t>
                      </a:r>
                      <a:endParaRPr lang="zh-CN" altLang="en-US" sz="1600" b="0" dirty="0">
                        <a:solidFill>
                          <a:sysClr val="windowText" lastClr="000000"/>
                        </a:solidFill>
                        <a:latin typeface="Times New Roman" panose="02020603050405020304" pitchFamily="18" charset="0"/>
                        <a:cs typeface="Times New Roman" panose="02020603050405020304" pitchFamily="18"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grpSp>
        <p:nvGrpSpPr>
          <p:cNvPr id="4" name="组合 3"/>
          <p:cNvGrpSpPr/>
          <p:nvPr/>
        </p:nvGrpSpPr>
        <p:grpSpPr>
          <a:xfrm>
            <a:off x="802958" y="2298700"/>
            <a:ext cx="1767982" cy="359457"/>
            <a:chOff x="802958" y="2298700"/>
            <a:chExt cx="1767982" cy="359457"/>
          </a:xfrm>
        </p:grpSpPr>
        <p:sp>
          <p:nvSpPr>
            <p:cNvPr id="43" name="Rectangle 9"/>
            <p:cNvSpPr>
              <a:spLocks noChangeArrowheads="1"/>
            </p:cNvSpPr>
            <p:nvPr/>
          </p:nvSpPr>
          <p:spPr bwMode="auto">
            <a:xfrm>
              <a:off x="802958" y="2298700"/>
              <a:ext cx="1082348" cy="359457"/>
            </a:xfrm>
            <a:prstGeom prst="rect">
              <a:avLst/>
            </a:prstGeom>
            <a:noFill/>
            <a:ln w="9525" algn="ctr">
              <a:noFill/>
              <a:miter lim="800000"/>
            </a:ln>
          </p:spPr>
          <p:txBody>
            <a:bodyPr wrap="none">
              <a:spAutoFit/>
            </a:bodyPr>
            <a:lstStyle/>
            <a:p>
              <a:pPr algn="ctr">
                <a:lnSpc>
                  <a:spcPct val="124000"/>
                </a:lnSpc>
                <a:spcBef>
                  <a:spcPts val="300"/>
                </a:spcBef>
                <a:spcAft>
                  <a:spcPts val="300"/>
                </a:spcAft>
              </a:pPr>
              <a:r>
                <a:rPr lang="zh-CN" altLang="en-US" sz="14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rPr>
                <a:t>输出方程：</a:t>
              </a:r>
              <a:endParaRPr lang="zh-CN" altLang="en-US" sz="14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61" name="对象 60"/>
            <p:cNvGraphicFramePr>
              <a:graphicFrameLocks noChangeAspect="1"/>
            </p:cNvGraphicFramePr>
            <p:nvPr/>
          </p:nvGraphicFramePr>
          <p:xfrm>
            <a:off x="1732915" y="2313968"/>
            <a:ext cx="838025" cy="344189"/>
          </p:xfrm>
          <a:graphic>
            <a:graphicData uri="http://schemas.openxmlformats.org/presentationml/2006/ole">
              <mc:AlternateContent xmlns:mc="http://schemas.openxmlformats.org/markup-compatibility/2006">
                <mc:Choice xmlns:v="urn:schemas-microsoft-com:vml" Requires="v">
                  <p:oleObj spid="_x0000_s9263" name="公式" r:id="rId6" imgW="532765" imgH="215900" progId="Equation.3">
                    <p:embed/>
                  </p:oleObj>
                </mc:Choice>
                <mc:Fallback>
                  <p:oleObj name="公式" r:id="rId6" imgW="532765" imgH="215900" progId="Equation.3">
                    <p:embed/>
                    <p:pic>
                      <p:nvPicPr>
                        <p:cNvPr id="0" name="对象 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32915" y="2313968"/>
                          <a:ext cx="838025" cy="344189"/>
                        </a:xfrm>
                        <a:prstGeom prst="rect">
                          <a:avLst/>
                        </a:prstGeom>
                        <a:noFill/>
                      </p:spPr>
                    </p:pic>
                  </p:oleObj>
                </mc:Fallback>
              </mc:AlternateContent>
            </a:graphicData>
          </a:graphic>
        </p:graphicFrame>
      </p:grpSp>
      <p:grpSp>
        <p:nvGrpSpPr>
          <p:cNvPr id="8" name="组合 7"/>
          <p:cNvGrpSpPr/>
          <p:nvPr/>
        </p:nvGrpSpPr>
        <p:grpSpPr>
          <a:xfrm>
            <a:off x="802958" y="2680055"/>
            <a:ext cx="6445715" cy="387417"/>
            <a:chOff x="802958" y="2680055"/>
            <a:chExt cx="6445715" cy="387417"/>
          </a:xfrm>
        </p:grpSpPr>
        <p:grpSp>
          <p:nvGrpSpPr>
            <p:cNvPr id="82" name="组合 81"/>
            <p:cNvGrpSpPr/>
            <p:nvPr/>
          </p:nvGrpSpPr>
          <p:grpSpPr>
            <a:xfrm>
              <a:off x="802958" y="2680055"/>
              <a:ext cx="6445715" cy="387417"/>
              <a:chOff x="802958" y="2680055"/>
              <a:chExt cx="6445715" cy="387417"/>
            </a:xfrm>
          </p:grpSpPr>
          <p:sp>
            <p:nvSpPr>
              <p:cNvPr id="45" name="Rectangle 12"/>
              <p:cNvSpPr>
                <a:spLocks noChangeArrowheads="1"/>
              </p:cNvSpPr>
              <p:nvPr/>
            </p:nvSpPr>
            <p:spPr bwMode="auto">
              <a:xfrm>
                <a:off x="802958" y="2708015"/>
                <a:ext cx="1082348" cy="359457"/>
              </a:xfrm>
              <a:prstGeom prst="rect">
                <a:avLst/>
              </a:prstGeom>
              <a:noFill/>
              <a:ln w="9525" algn="ctr">
                <a:noFill/>
                <a:miter lim="800000"/>
              </a:ln>
            </p:spPr>
            <p:txBody>
              <a:bodyPr wrap="none">
                <a:spAutoFit/>
              </a:bodyPr>
              <a:lstStyle/>
              <a:p>
                <a:pPr algn="ctr">
                  <a:lnSpc>
                    <a:spcPct val="124000"/>
                  </a:lnSpc>
                  <a:spcBef>
                    <a:spcPts val="300"/>
                  </a:spcBef>
                  <a:spcAft>
                    <a:spcPts val="300"/>
                  </a:spcAft>
                </a:pPr>
                <a:r>
                  <a:rPr lang="zh-CN" altLang="en-US" sz="14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rPr>
                  <a:t>状态方程：</a:t>
                </a:r>
                <a:endParaRPr lang="zh-CN" altLang="en-US" sz="14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7" name="Rectangle 16"/>
              <p:cNvSpPr>
                <a:spLocks noChangeArrowheads="1"/>
              </p:cNvSpPr>
              <p:nvPr/>
            </p:nvSpPr>
            <p:spPr bwMode="auto">
              <a:xfrm>
                <a:off x="2431118" y="2718155"/>
                <a:ext cx="2087431" cy="338554"/>
              </a:xfrm>
              <a:prstGeom prst="rect">
                <a:avLst/>
              </a:prstGeom>
              <a:noFill/>
              <a:ln w="9525" algn="ctr">
                <a:noFill/>
                <a:miter lim="800000"/>
              </a:ln>
            </p:spPr>
            <p:txBody>
              <a:bodyPr wrap="none">
                <a:spAutoFit/>
              </a:bodyPr>
              <a:lstStyle/>
              <a:p>
                <a:pPr algn="ctr" eaLnBrk="0" hangingPunct="0"/>
                <a:r>
                  <a:rPr lang="zh-CN" altLang="en-US" sz="1600" dirty="0">
                    <a:solidFill>
                      <a:srgbClr val="CC00CC"/>
                    </a:solidFill>
                    <a:latin typeface="Times New Roman" panose="02020603050405020304" pitchFamily="18" charset="0"/>
                    <a:cs typeface="Times New Roman" panose="02020603050405020304" pitchFamily="18" charset="0"/>
                  </a:rPr>
                  <a:t>（</a:t>
                </a:r>
                <a:r>
                  <a:rPr lang="en-US" altLang="zh-CN" sz="1600" i="1" dirty="0">
                    <a:solidFill>
                      <a:srgbClr val="CC00CC"/>
                    </a:solidFill>
                    <a:latin typeface="Times New Roman" panose="02020603050405020304" pitchFamily="18" charset="0"/>
                    <a:cs typeface="Times New Roman" panose="02020603050405020304" pitchFamily="18" charset="0"/>
                  </a:rPr>
                  <a:t>CP</a:t>
                </a:r>
                <a:r>
                  <a:rPr lang="zh-CN" altLang="en-US" sz="1600" dirty="0">
                    <a:solidFill>
                      <a:srgbClr val="CC00CC"/>
                    </a:solidFill>
                    <a:latin typeface="Times New Roman" panose="02020603050405020304" pitchFamily="18" charset="0"/>
                    <a:cs typeface="Times New Roman" panose="02020603050405020304" pitchFamily="18" charset="0"/>
                  </a:rPr>
                  <a:t>由</a:t>
                </a:r>
                <a:r>
                  <a:rPr lang="en-US" altLang="zh-CN" sz="1600" dirty="0">
                    <a:solidFill>
                      <a:srgbClr val="CC00CC"/>
                    </a:solidFill>
                    <a:latin typeface="Times New Roman" panose="02020603050405020304" pitchFamily="18" charset="0"/>
                    <a:cs typeface="Times New Roman" panose="02020603050405020304" pitchFamily="18" charset="0"/>
                  </a:rPr>
                  <a:t>0→1</a:t>
                </a:r>
                <a:r>
                  <a:rPr lang="zh-CN" altLang="en-US" sz="1600" dirty="0">
                    <a:solidFill>
                      <a:srgbClr val="CC00CC"/>
                    </a:solidFill>
                    <a:latin typeface="Times New Roman" panose="02020603050405020304" pitchFamily="18" charset="0"/>
                    <a:cs typeface="Times New Roman" panose="02020603050405020304" pitchFamily="18" charset="0"/>
                  </a:rPr>
                  <a:t>时有效）</a:t>
                </a:r>
                <a:endParaRPr lang="zh-CN" altLang="en-US" sz="1600" dirty="0">
                  <a:solidFill>
                    <a:srgbClr val="CC00CC"/>
                  </a:solidFill>
                  <a:latin typeface="Times New Roman" panose="02020603050405020304" pitchFamily="18" charset="0"/>
                  <a:cs typeface="Times New Roman" panose="02020603050405020304" pitchFamily="18" charset="0"/>
                </a:endParaRPr>
              </a:p>
            </p:txBody>
          </p:sp>
          <p:sp>
            <p:nvSpPr>
              <p:cNvPr id="40" name="Rectangle 19"/>
              <p:cNvSpPr>
                <a:spLocks noChangeArrowheads="1"/>
              </p:cNvSpPr>
              <p:nvPr/>
            </p:nvSpPr>
            <p:spPr bwMode="auto">
              <a:xfrm>
                <a:off x="5206126" y="2680055"/>
                <a:ext cx="2042547" cy="366960"/>
              </a:xfrm>
              <a:prstGeom prst="rect">
                <a:avLst/>
              </a:prstGeom>
              <a:noFill/>
              <a:ln w="9525" algn="ctr">
                <a:noFill/>
                <a:miter lim="800000"/>
              </a:ln>
            </p:spPr>
            <p:txBody>
              <a:bodyPr wrap="none">
                <a:spAutoFit/>
              </a:bodyPr>
              <a:lstStyle/>
              <a:p>
                <a:pPr algn="ctr">
                  <a:lnSpc>
                    <a:spcPct val="124000"/>
                  </a:lnSpc>
                  <a:spcBef>
                    <a:spcPts val="300"/>
                  </a:spcBef>
                  <a:spcAft>
                    <a:spcPts val="300"/>
                  </a:spcAft>
                </a:pPr>
                <a:r>
                  <a:rPr lang="zh-CN" altLang="en-US" sz="1600" dirty="0">
                    <a:solidFill>
                      <a:srgbClr val="CC00CC"/>
                    </a:solidFill>
                    <a:latin typeface="Times New Roman" panose="02020603050405020304" pitchFamily="18" charset="0"/>
                    <a:cs typeface="Times New Roman" panose="02020603050405020304" pitchFamily="18" charset="0"/>
                  </a:rPr>
                  <a:t>（</a:t>
                </a:r>
                <a:r>
                  <a:rPr lang="en-US" altLang="zh-CN" sz="1600" i="1" dirty="0">
                    <a:solidFill>
                      <a:srgbClr val="CC00CC"/>
                    </a:solidFill>
                    <a:latin typeface="Times New Roman" panose="02020603050405020304" pitchFamily="18" charset="0"/>
                    <a:cs typeface="Times New Roman" panose="02020603050405020304" pitchFamily="18" charset="0"/>
                  </a:rPr>
                  <a:t>Q</a:t>
                </a:r>
                <a:r>
                  <a:rPr lang="en-US" altLang="zh-CN" sz="1600" baseline="-25000" dirty="0">
                    <a:solidFill>
                      <a:srgbClr val="CC00CC"/>
                    </a:solidFill>
                    <a:latin typeface="Times New Roman" panose="02020603050405020304" pitchFamily="18" charset="0"/>
                    <a:cs typeface="Times New Roman" panose="02020603050405020304" pitchFamily="18" charset="0"/>
                  </a:rPr>
                  <a:t>0</a:t>
                </a:r>
                <a:r>
                  <a:rPr lang="zh-CN" altLang="en-US" sz="1600" dirty="0">
                    <a:solidFill>
                      <a:srgbClr val="CC00CC"/>
                    </a:solidFill>
                    <a:latin typeface="Times New Roman" panose="02020603050405020304" pitchFamily="18" charset="0"/>
                    <a:cs typeface="Times New Roman" panose="02020603050405020304" pitchFamily="18" charset="0"/>
                  </a:rPr>
                  <a:t>由</a:t>
                </a:r>
                <a:r>
                  <a:rPr lang="en-US" altLang="zh-CN" sz="1600" dirty="0">
                    <a:solidFill>
                      <a:srgbClr val="CC00CC"/>
                    </a:solidFill>
                    <a:latin typeface="Times New Roman" panose="02020603050405020304" pitchFamily="18" charset="0"/>
                    <a:cs typeface="Times New Roman" panose="02020603050405020304" pitchFamily="18" charset="0"/>
                  </a:rPr>
                  <a:t>0→1</a:t>
                </a:r>
                <a:r>
                  <a:rPr lang="zh-CN" altLang="en-US" sz="1600" dirty="0">
                    <a:solidFill>
                      <a:srgbClr val="CC00CC"/>
                    </a:solidFill>
                    <a:latin typeface="Times New Roman" panose="02020603050405020304" pitchFamily="18" charset="0"/>
                    <a:cs typeface="Times New Roman" panose="02020603050405020304" pitchFamily="18" charset="0"/>
                  </a:rPr>
                  <a:t>时有效）</a:t>
                </a:r>
                <a:endParaRPr lang="zh-CN" altLang="en-US" sz="1600" dirty="0">
                  <a:solidFill>
                    <a:srgbClr val="CC00CC"/>
                  </a:solidFill>
                  <a:latin typeface="Times New Roman" panose="02020603050405020304" pitchFamily="18" charset="0"/>
                  <a:cs typeface="Times New Roman" panose="02020603050405020304" pitchFamily="18" charset="0"/>
                </a:endParaRPr>
              </a:p>
            </p:txBody>
          </p:sp>
        </p:grpSp>
        <p:graphicFrame>
          <p:nvGraphicFramePr>
            <p:cNvPr id="5" name="对象 4"/>
            <p:cNvGraphicFramePr>
              <a:graphicFrameLocks noChangeAspect="1"/>
            </p:cNvGraphicFramePr>
            <p:nvPr/>
          </p:nvGraphicFramePr>
          <p:xfrm>
            <a:off x="1792780" y="2738268"/>
            <a:ext cx="790400" cy="306482"/>
          </p:xfrm>
          <a:graphic>
            <a:graphicData uri="http://schemas.openxmlformats.org/presentationml/2006/ole">
              <mc:AlternateContent xmlns:mc="http://schemas.openxmlformats.org/markup-compatibility/2006">
                <mc:Choice xmlns:v="urn:schemas-microsoft-com:vml" Requires="v">
                  <p:oleObj spid="_x0000_s9264" name="Equation" r:id="rId8" imgW="14935200" imgH="5791200" progId="Equation.DSMT4">
                    <p:embed/>
                  </p:oleObj>
                </mc:Choice>
                <mc:Fallback>
                  <p:oleObj name="Equation" r:id="rId8" imgW="14935200" imgH="5791200" progId="Equation.DSMT4">
                    <p:embed/>
                    <p:pic>
                      <p:nvPicPr>
                        <p:cNvPr id="0" name="对象 4"/>
                        <p:cNvPicPr/>
                        <p:nvPr/>
                      </p:nvPicPr>
                      <p:blipFill>
                        <a:blip r:embed="rId9"/>
                        <a:stretch>
                          <a:fillRect/>
                        </a:stretch>
                      </p:blipFill>
                      <p:spPr>
                        <a:xfrm>
                          <a:off x="1792780" y="2738268"/>
                          <a:ext cx="790400" cy="306482"/>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4528748" y="2730443"/>
            <a:ext cx="787773" cy="305463"/>
          </p:xfrm>
          <a:graphic>
            <a:graphicData uri="http://schemas.openxmlformats.org/presentationml/2006/ole">
              <mc:AlternateContent xmlns:mc="http://schemas.openxmlformats.org/markup-compatibility/2006">
                <mc:Choice xmlns:v="urn:schemas-microsoft-com:vml" Requires="v">
                  <p:oleObj spid="_x0000_s9265" name="Equation" r:id="rId10" imgW="14935200" imgH="5791200" progId="Equation.DSMT4">
                    <p:embed/>
                  </p:oleObj>
                </mc:Choice>
                <mc:Fallback>
                  <p:oleObj name="Equation" r:id="rId10" imgW="14935200" imgH="5791200" progId="Equation.DSMT4">
                    <p:embed/>
                    <p:pic>
                      <p:nvPicPr>
                        <p:cNvPr id="0" name="对象 6"/>
                        <p:cNvPicPr/>
                        <p:nvPr/>
                      </p:nvPicPr>
                      <p:blipFill>
                        <a:blip r:embed="rId11"/>
                        <a:stretch>
                          <a:fillRect/>
                        </a:stretch>
                      </p:blipFill>
                      <p:spPr>
                        <a:xfrm>
                          <a:off x="4528748" y="2730443"/>
                          <a:ext cx="787773" cy="305463"/>
                        </a:xfrm>
                        <a:prstGeom prst="rect">
                          <a:avLst/>
                        </a:prstGeom>
                      </p:spPr>
                    </p:pic>
                  </p:oleObj>
                </mc:Fallback>
              </mc:AlternateContent>
            </a:graphicData>
          </a:graphic>
        </p:graphicFrame>
      </p:grpSp>
      <p:grpSp>
        <p:nvGrpSpPr>
          <p:cNvPr id="63" name="组合 62"/>
          <p:cNvGrpSpPr/>
          <p:nvPr/>
        </p:nvGrpSpPr>
        <p:grpSpPr>
          <a:xfrm>
            <a:off x="4847669" y="803910"/>
            <a:ext cx="4087434" cy="1425366"/>
            <a:chOff x="4847669" y="803910"/>
            <a:chExt cx="4087434" cy="1425366"/>
          </a:xfrm>
        </p:grpSpPr>
        <p:sp>
          <p:nvSpPr>
            <p:cNvPr id="69" name="AutoShape 21"/>
            <p:cNvSpPr>
              <a:spLocks noChangeArrowheads="1"/>
            </p:cNvSpPr>
            <p:nvPr/>
          </p:nvSpPr>
          <p:spPr bwMode="auto">
            <a:xfrm>
              <a:off x="4847669" y="803910"/>
              <a:ext cx="4087434" cy="1425366"/>
            </a:xfrm>
            <a:prstGeom prst="roundRect">
              <a:avLst>
                <a:gd name="adj" fmla="val 2731"/>
              </a:avLst>
            </a:prstGeom>
            <a:solidFill>
              <a:srgbClr val="FFFFFF"/>
            </a:solidFill>
            <a:ln w="9525">
              <a:solidFill>
                <a:schemeClr val="tx1"/>
              </a:solidFill>
              <a:miter lim="800000"/>
            </a:ln>
          </p:spPr>
          <p:txBody>
            <a:bodyPr wrap="none" anchor="ctr"/>
            <a:lstStyle/>
            <a:p>
              <a:pPr algn="ctr"/>
              <a:endParaRPr lang="en-US" altLang="zh-CN" sz="2000">
                <a:solidFill>
                  <a:srgbClr val="000000"/>
                </a:solidFill>
              </a:endParaRPr>
            </a:p>
          </p:txBody>
        </p:sp>
        <p:pic>
          <p:nvPicPr>
            <p:cNvPr id="73" name="图片 72"/>
            <p:cNvPicPr>
              <a:picLocks noChangeAspect="1"/>
            </p:cNvPicPr>
            <p:nvPr/>
          </p:nvPicPr>
          <p:blipFill>
            <a:blip r:embed="rId12"/>
            <a:stretch>
              <a:fillRect/>
            </a:stretch>
          </p:blipFill>
          <p:spPr>
            <a:xfrm>
              <a:off x="4862398" y="822304"/>
              <a:ext cx="4036798" cy="1323826"/>
            </a:xfrm>
            <a:prstGeom prst="rect">
              <a:avLst/>
            </a:prstGeom>
          </p:spPr>
        </p:pic>
      </p:grpSp>
      <p:cxnSp>
        <p:nvCxnSpPr>
          <p:cNvPr id="77" name="直接连接符 76"/>
          <p:cNvCxnSpPr/>
          <p:nvPr/>
        </p:nvCxnSpPr>
        <p:spPr>
          <a:xfrm>
            <a:off x="5206694" y="1486665"/>
            <a:ext cx="504000" cy="0"/>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grpSp>
        <p:nvGrpSpPr>
          <p:cNvPr id="79" name="组合 78"/>
          <p:cNvGrpSpPr/>
          <p:nvPr/>
        </p:nvGrpSpPr>
        <p:grpSpPr>
          <a:xfrm>
            <a:off x="6327562" y="1210953"/>
            <a:ext cx="863032" cy="288000"/>
            <a:chOff x="1729740" y="2423160"/>
            <a:chExt cx="863032" cy="288000"/>
          </a:xfrm>
        </p:grpSpPr>
        <p:cxnSp>
          <p:nvCxnSpPr>
            <p:cNvPr id="87" name="直接连接符 86"/>
            <p:cNvCxnSpPr/>
            <p:nvPr/>
          </p:nvCxnSpPr>
          <p:spPr>
            <a:xfrm>
              <a:off x="1729740" y="2423160"/>
              <a:ext cx="396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2124772" y="2696424"/>
              <a:ext cx="468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rot="5400000">
              <a:off x="1980772" y="2567160"/>
              <a:ext cx="288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grpSp>
      <p:sp>
        <p:nvSpPr>
          <p:cNvPr id="83" name="Freeform 13"/>
          <p:cNvSpPr/>
          <p:nvPr/>
        </p:nvSpPr>
        <p:spPr bwMode="auto">
          <a:xfrm>
            <a:off x="2296279" y="3953973"/>
            <a:ext cx="861060" cy="169254"/>
          </a:xfrm>
          <a:custGeom>
            <a:avLst/>
            <a:gdLst/>
            <a:ahLst/>
            <a:cxnLst>
              <a:cxn ang="0">
                <a:pos x="0" y="129"/>
              </a:cxn>
              <a:cxn ang="0">
                <a:pos x="1096" y="1"/>
              </a:cxn>
              <a:cxn ang="0">
                <a:pos x="2168" y="137"/>
              </a:cxn>
            </a:cxnLst>
            <a:rect l="0" t="0" r="r" b="b"/>
            <a:pathLst>
              <a:path w="2168" h="137">
                <a:moveTo>
                  <a:pt x="0" y="129"/>
                </a:moveTo>
                <a:cubicBezTo>
                  <a:pt x="367" y="64"/>
                  <a:pt x="735" y="0"/>
                  <a:pt x="1096" y="1"/>
                </a:cubicBezTo>
                <a:cubicBezTo>
                  <a:pt x="1457" y="2"/>
                  <a:pt x="1812" y="69"/>
                  <a:pt x="2168" y="137"/>
                </a:cubicBezTo>
              </a:path>
            </a:pathLst>
          </a:custGeom>
          <a:noFill/>
          <a:ln w="28575" cap="flat" cmpd="sng">
            <a:solidFill>
              <a:srgbClr val="FF0000"/>
            </a:solidFill>
            <a:prstDash val="solid"/>
            <a:round/>
            <a:headEnd type="none" w="med" len="med"/>
            <a:tailEnd type="stealth" w="lg" len="lg"/>
          </a:ln>
          <a:effectLst/>
        </p:spPr>
        <p:txBody>
          <a:bodyPr/>
          <a:lstStyle/>
          <a:p>
            <a:pPr>
              <a:defRPr/>
            </a:pPr>
            <a:endParaRPr lang="zh-CN" altLang="en-US" sz="1600">
              <a:solidFill>
                <a:srgbClr val="0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90" name="Freeform 13"/>
          <p:cNvSpPr/>
          <p:nvPr/>
        </p:nvSpPr>
        <p:spPr bwMode="auto">
          <a:xfrm rot="10800000">
            <a:off x="1339247" y="4287520"/>
            <a:ext cx="1861640" cy="131519"/>
          </a:xfrm>
          <a:custGeom>
            <a:avLst/>
            <a:gdLst/>
            <a:ahLst/>
            <a:cxnLst>
              <a:cxn ang="0">
                <a:pos x="0" y="129"/>
              </a:cxn>
              <a:cxn ang="0">
                <a:pos x="1096" y="1"/>
              </a:cxn>
              <a:cxn ang="0">
                <a:pos x="2168" y="137"/>
              </a:cxn>
            </a:cxnLst>
            <a:rect l="0" t="0" r="r" b="b"/>
            <a:pathLst>
              <a:path w="2168" h="137">
                <a:moveTo>
                  <a:pt x="0" y="129"/>
                </a:moveTo>
                <a:cubicBezTo>
                  <a:pt x="367" y="64"/>
                  <a:pt x="735" y="0"/>
                  <a:pt x="1096" y="1"/>
                </a:cubicBezTo>
                <a:cubicBezTo>
                  <a:pt x="1457" y="2"/>
                  <a:pt x="1812" y="69"/>
                  <a:pt x="2168" y="137"/>
                </a:cubicBezTo>
              </a:path>
            </a:pathLst>
          </a:custGeom>
          <a:noFill/>
          <a:ln w="28575" cap="flat" cmpd="sng">
            <a:solidFill>
              <a:srgbClr val="FF0000"/>
            </a:solidFill>
            <a:prstDash val="solid"/>
            <a:round/>
            <a:headEnd type="none" w="med" len="med"/>
            <a:tailEnd type="stealth" w="lg" len="lg"/>
          </a:ln>
          <a:effectLst/>
        </p:spPr>
        <p:txBody>
          <a:bodyPr/>
          <a:lstStyle/>
          <a:p>
            <a:pPr>
              <a:defRPr/>
            </a:pPr>
            <a:endParaRPr lang="zh-CN" altLang="en-US">
              <a:solidFill>
                <a:srgbClr val="000000"/>
              </a:solidFill>
              <a:effectLst>
                <a:outerShdw blurRad="38100" dist="38100" dir="2700000" algn="tl">
                  <a:srgbClr val="C0C0C0"/>
                </a:outerShdw>
              </a:effectLst>
            </a:endParaRPr>
          </a:p>
        </p:txBody>
      </p:sp>
      <p:sp>
        <p:nvSpPr>
          <p:cNvPr id="91" name="Freeform 13"/>
          <p:cNvSpPr/>
          <p:nvPr/>
        </p:nvSpPr>
        <p:spPr bwMode="auto">
          <a:xfrm>
            <a:off x="1867266" y="3952528"/>
            <a:ext cx="836069" cy="201552"/>
          </a:xfrm>
          <a:custGeom>
            <a:avLst/>
            <a:gdLst/>
            <a:ahLst/>
            <a:cxnLst>
              <a:cxn ang="0">
                <a:pos x="0" y="129"/>
              </a:cxn>
              <a:cxn ang="0">
                <a:pos x="1096" y="1"/>
              </a:cxn>
              <a:cxn ang="0">
                <a:pos x="2168" y="137"/>
              </a:cxn>
            </a:cxnLst>
            <a:rect l="0" t="0" r="r" b="b"/>
            <a:pathLst>
              <a:path w="2168" h="137">
                <a:moveTo>
                  <a:pt x="0" y="129"/>
                </a:moveTo>
                <a:cubicBezTo>
                  <a:pt x="367" y="64"/>
                  <a:pt x="735" y="0"/>
                  <a:pt x="1096" y="1"/>
                </a:cubicBezTo>
                <a:cubicBezTo>
                  <a:pt x="1457" y="2"/>
                  <a:pt x="1812" y="69"/>
                  <a:pt x="2168" y="137"/>
                </a:cubicBezTo>
              </a:path>
            </a:pathLst>
          </a:custGeom>
          <a:noFill/>
          <a:ln w="28575" cap="flat" cmpd="sng">
            <a:solidFill>
              <a:srgbClr val="FF0000"/>
            </a:solidFill>
            <a:prstDash val="solid"/>
            <a:round/>
            <a:headEnd type="none" w="med" len="med"/>
            <a:tailEnd type="stealth" w="lg" len="lg"/>
          </a:ln>
          <a:effectLst/>
        </p:spPr>
        <p:txBody>
          <a:bodyPr/>
          <a:lstStyle/>
          <a:p>
            <a:pPr>
              <a:defRPr/>
            </a:pPr>
            <a:endParaRPr lang="zh-CN" altLang="en-US" sz="1600">
              <a:solidFill>
                <a:srgbClr val="0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prism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1000"/>
                                        <p:tgtEl>
                                          <p:spTgt spid="41"/>
                                        </p:tgtEl>
                                      </p:cBhvr>
                                    </p:animEffect>
                                    <p:anim calcmode="lin" valueType="num">
                                      <p:cBhvr>
                                        <p:cTn id="26" dur="1000" fill="hold"/>
                                        <p:tgtEl>
                                          <p:spTgt spid="41"/>
                                        </p:tgtEl>
                                        <p:attrNameLst>
                                          <p:attrName>ppt_x</p:attrName>
                                        </p:attrNameLst>
                                      </p:cBhvr>
                                      <p:tavLst>
                                        <p:tav tm="0">
                                          <p:val>
                                            <p:strVal val="#ppt_x"/>
                                          </p:val>
                                        </p:tav>
                                        <p:tav tm="100000">
                                          <p:val>
                                            <p:strVal val="#ppt_x"/>
                                          </p:val>
                                        </p:tav>
                                      </p:tavLst>
                                    </p:anim>
                                    <p:anim calcmode="lin" valueType="num">
                                      <p:cBhvr>
                                        <p:cTn id="27"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1000"/>
                                        <p:tgtEl>
                                          <p:spTgt spid="52"/>
                                        </p:tgtEl>
                                      </p:cBhvr>
                                    </p:animEffect>
                                    <p:anim calcmode="lin" valueType="num">
                                      <p:cBhvr>
                                        <p:cTn id="33" dur="1000" fill="hold"/>
                                        <p:tgtEl>
                                          <p:spTgt spid="52"/>
                                        </p:tgtEl>
                                        <p:attrNameLst>
                                          <p:attrName>ppt_x</p:attrName>
                                        </p:attrNameLst>
                                      </p:cBhvr>
                                      <p:tavLst>
                                        <p:tav tm="0">
                                          <p:val>
                                            <p:strVal val="#ppt_x"/>
                                          </p:val>
                                        </p:tav>
                                        <p:tav tm="100000">
                                          <p:val>
                                            <p:strVal val="#ppt_x"/>
                                          </p:val>
                                        </p:tav>
                                      </p:tavLst>
                                    </p:anim>
                                    <p:anim calcmode="lin" valueType="num">
                                      <p:cBhvr>
                                        <p:cTn id="34" dur="1000" fill="hold"/>
                                        <p:tgtEl>
                                          <p:spTgt spid="52"/>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42" presetClass="entr" presetSubtype="0" fill="hold" grpId="0" nodeType="afterEffect">
                                  <p:stCondLst>
                                    <p:cond delay="0"/>
                                  </p:stCondLst>
                                  <p:childTnLst>
                                    <p:set>
                                      <p:cBhvr>
                                        <p:cTn id="37" dur="1" fill="hold">
                                          <p:stCondLst>
                                            <p:cond delay="0"/>
                                          </p:stCondLst>
                                        </p:cTn>
                                        <p:tgtEl>
                                          <p:spTgt spid="50"/>
                                        </p:tgtEl>
                                        <p:attrNameLst>
                                          <p:attrName>style.visibility</p:attrName>
                                        </p:attrNameLst>
                                      </p:cBhvr>
                                      <p:to>
                                        <p:strVal val="visible"/>
                                      </p:to>
                                    </p:set>
                                    <p:animEffect transition="in" filter="fade">
                                      <p:cBhvr>
                                        <p:cTn id="38" dur="1000"/>
                                        <p:tgtEl>
                                          <p:spTgt spid="50"/>
                                        </p:tgtEl>
                                      </p:cBhvr>
                                    </p:animEffect>
                                    <p:anim calcmode="lin" valueType="num">
                                      <p:cBhvr>
                                        <p:cTn id="39" dur="1000" fill="hold"/>
                                        <p:tgtEl>
                                          <p:spTgt spid="50"/>
                                        </p:tgtEl>
                                        <p:attrNameLst>
                                          <p:attrName>ppt_x</p:attrName>
                                        </p:attrNameLst>
                                      </p:cBhvr>
                                      <p:tavLst>
                                        <p:tav tm="0">
                                          <p:val>
                                            <p:strVal val="#ppt_x"/>
                                          </p:val>
                                        </p:tav>
                                        <p:tav tm="100000">
                                          <p:val>
                                            <p:strVal val="#ppt_x"/>
                                          </p:val>
                                        </p:tav>
                                      </p:tavLst>
                                    </p:anim>
                                    <p:anim calcmode="lin" valueType="num">
                                      <p:cBhvr>
                                        <p:cTn id="40" dur="1000" fill="hold"/>
                                        <p:tgtEl>
                                          <p:spTgt spid="50"/>
                                        </p:tgtEl>
                                        <p:attrNameLst>
                                          <p:attrName>ppt_y</p:attrName>
                                        </p:attrNameLst>
                                      </p:cBhvr>
                                      <p:tavLst>
                                        <p:tav tm="0">
                                          <p:val>
                                            <p:strVal val="#ppt_y+.1"/>
                                          </p:val>
                                        </p:tav>
                                        <p:tav tm="100000">
                                          <p:val>
                                            <p:strVal val="#ppt_y"/>
                                          </p:val>
                                        </p:tav>
                                      </p:tavLst>
                                    </p:anim>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59"/>
                                        </p:tgtEl>
                                        <p:attrNameLst>
                                          <p:attrName>style.visibility</p:attrName>
                                        </p:attrNameLst>
                                      </p:cBhvr>
                                      <p:to>
                                        <p:strVal val="visible"/>
                                      </p:to>
                                    </p:set>
                                    <p:animEffect transition="in" filter="wipe(left)">
                                      <p:cBhvr>
                                        <p:cTn id="44" dur="1000"/>
                                        <p:tgtEl>
                                          <p:spTgt spid="59"/>
                                        </p:tgtEl>
                                      </p:cBhvr>
                                    </p:animEffect>
                                  </p:childTnLst>
                                </p:cTn>
                              </p:par>
                            </p:childTnLst>
                          </p:cTn>
                        </p:par>
                        <p:par>
                          <p:cTn id="45" fill="hold">
                            <p:stCondLst>
                              <p:cond delay="3000"/>
                            </p:stCondLst>
                            <p:childTnLst>
                              <p:par>
                                <p:cTn id="46" presetID="22" presetClass="entr" presetSubtype="8" fill="hold" grpId="0" nodeType="afterEffect">
                                  <p:stCondLst>
                                    <p:cond delay="0"/>
                                  </p:stCondLst>
                                  <p:childTnLst>
                                    <p:set>
                                      <p:cBhvr>
                                        <p:cTn id="47" dur="1" fill="hold">
                                          <p:stCondLst>
                                            <p:cond delay="0"/>
                                          </p:stCondLst>
                                        </p:cTn>
                                        <p:tgtEl>
                                          <p:spTgt spid="56"/>
                                        </p:tgtEl>
                                        <p:attrNameLst>
                                          <p:attrName>style.visibility</p:attrName>
                                        </p:attrNameLst>
                                      </p:cBhvr>
                                      <p:to>
                                        <p:strVal val="visible"/>
                                      </p:to>
                                    </p:set>
                                    <p:animEffect transition="in" filter="wipe(left)">
                                      <p:cBhvr>
                                        <p:cTn id="48" dur="1000"/>
                                        <p:tgtEl>
                                          <p:spTgt spid="5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grpId="0" nodeType="clickEffect">
                                  <p:stCondLst>
                                    <p:cond delay="0"/>
                                  </p:stCondLst>
                                  <p:childTnLst>
                                    <p:set>
                                      <p:cBhvr>
                                        <p:cTn id="52" dur="1" fill="hold">
                                          <p:stCondLst>
                                            <p:cond delay="0"/>
                                          </p:stCondLst>
                                        </p:cTn>
                                        <p:tgtEl>
                                          <p:spTgt spid="60"/>
                                        </p:tgtEl>
                                        <p:attrNameLst>
                                          <p:attrName>style.visibility</p:attrName>
                                        </p:attrNameLst>
                                      </p:cBhvr>
                                      <p:to>
                                        <p:strVal val="visible"/>
                                      </p:to>
                                    </p:set>
                                    <p:animEffect transition="in" filter="wipe(right)">
                                      <p:cBhvr>
                                        <p:cTn id="53" dur="1000"/>
                                        <p:tgtEl>
                                          <p:spTgt spid="60"/>
                                        </p:tgtEl>
                                      </p:cBhvr>
                                    </p:animEffect>
                                  </p:childTnLst>
                                </p:cTn>
                              </p:par>
                            </p:childTnLst>
                          </p:cTn>
                        </p:par>
                        <p:par>
                          <p:cTn id="54" fill="hold">
                            <p:stCondLst>
                              <p:cond delay="1000"/>
                            </p:stCondLst>
                            <p:childTnLst>
                              <p:par>
                                <p:cTn id="55" presetID="22" presetClass="entr" presetSubtype="4" fill="hold" grpId="0" nodeType="afterEffect">
                                  <p:stCondLst>
                                    <p:cond delay="0"/>
                                  </p:stCondLst>
                                  <p:childTnLst>
                                    <p:set>
                                      <p:cBhvr>
                                        <p:cTn id="56" dur="1" fill="hold">
                                          <p:stCondLst>
                                            <p:cond delay="0"/>
                                          </p:stCondLst>
                                        </p:cTn>
                                        <p:tgtEl>
                                          <p:spTgt spid="62"/>
                                        </p:tgtEl>
                                        <p:attrNameLst>
                                          <p:attrName>style.visibility</p:attrName>
                                        </p:attrNameLst>
                                      </p:cBhvr>
                                      <p:to>
                                        <p:strVal val="visible"/>
                                      </p:to>
                                    </p:set>
                                    <p:animEffect transition="in" filter="wipe(down)">
                                      <p:cBhvr>
                                        <p:cTn id="57" dur="1000"/>
                                        <p:tgtEl>
                                          <p:spTgt spid="62"/>
                                        </p:tgtEl>
                                      </p:cBhvr>
                                    </p:animEffect>
                                  </p:childTnLst>
                                </p:cTn>
                              </p:par>
                            </p:childTnLst>
                          </p:cTn>
                        </p:par>
                        <p:par>
                          <p:cTn id="58" fill="hold">
                            <p:stCondLst>
                              <p:cond delay="2000"/>
                            </p:stCondLst>
                            <p:childTnLst>
                              <p:par>
                                <p:cTn id="59" presetID="22" presetClass="entr" presetSubtype="8" fill="hold" grpId="0" nodeType="afterEffect">
                                  <p:stCondLst>
                                    <p:cond delay="0"/>
                                  </p:stCondLst>
                                  <p:childTnLst>
                                    <p:set>
                                      <p:cBhvr>
                                        <p:cTn id="60" dur="1" fill="hold">
                                          <p:stCondLst>
                                            <p:cond delay="0"/>
                                          </p:stCondLst>
                                        </p:cTn>
                                        <p:tgtEl>
                                          <p:spTgt spid="65"/>
                                        </p:tgtEl>
                                        <p:attrNameLst>
                                          <p:attrName>style.visibility</p:attrName>
                                        </p:attrNameLst>
                                      </p:cBhvr>
                                      <p:to>
                                        <p:strVal val="visible"/>
                                      </p:to>
                                    </p:set>
                                    <p:animEffect transition="in" filter="wipe(left)">
                                      <p:cBhvr>
                                        <p:cTn id="61" dur="1000"/>
                                        <p:tgtEl>
                                          <p:spTgt spid="65"/>
                                        </p:tgtEl>
                                      </p:cBhvr>
                                    </p:animEffect>
                                  </p:childTnLst>
                                </p:cTn>
                              </p:par>
                            </p:childTnLst>
                          </p:cTn>
                        </p:par>
                        <p:par>
                          <p:cTn id="62" fill="hold">
                            <p:stCondLst>
                              <p:cond delay="3000"/>
                            </p:stCondLst>
                            <p:childTnLst>
                              <p:par>
                                <p:cTn id="63" presetID="22" presetClass="entr" presetSubtype="8" fill="hold" grpId="0" nodeType="afterEffect">
                                  <p:stCondLst>
                                    <p:cond delay="0"/>
                                  </p:stCondLst>
                                  <p:childTnLst>
                                    <p:set>
                                      <p:cBhvr>
                                        <p:cTn id="64" dur="1" fill="hold">
                                          <p:stCondLst>
                                            <p:cond delay="0"/>
                                          </p:stCondLst>
                                        </p:cTn>
                                        <p:tgtEl>
                                          <p:spTgt spid="64"/>
                                        </p:tgtEl>
                                        <p:attrNameLst>
                                          <p:attrName>style.visibility</p:attrName>
                                        </p:attrNameLst>
                                      </p:cBhvr>
                                      <p:to>
                                        <p:strVal val="visible"/>
                                      </p:to>
                                    </p:set>
                                    <p:animEffect transition="in" filter="wipe(left)">
                                      <p:cBhvr>
                                        <p:cTn id="65" dur="1000"/>
                                        <p:tgtEl>
                                          <p:spTgt spid="64"/>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grpId="1" nodeType="clickEffect">
                                  <p:stCondLst>
                                    <p:cond delay="0"/>
                                  </p:stCondLst>
                                  <p:childTnLst>
                                    <p:animEffect transition="out" filter="fade">
                                      <p:cBhvr>
                                        <p:cTn id="69" dur="1000"/>
                                        <p:tgtEl>
                                          <p:spTgt spid="59"/>
                                        </p:tgtEl>
                                      </p:cBhvr>
                                    </p:animEffect>
                                    <p:set>
                                      <p:cBhvr>
                                        <p:cTn id="70" dur="1" fill="hold">
                                          <p:stCondLst>
                                            <p:cond delay="999"/>
                                          </p:stCondLst>
                                        </p:cTn>
                                        <p:tgtEl>
                                          <p:spTgt spid="59"/>
                                        </p:tgtEl>
                                        <p:attrNameLst>
                                          <p:attrName>style.visibility</p:attrName>
                                        </p:attrNameLst>
                                      </p:cBhvr>
                                      <p:to>
                                        <p:strVal val="hidden"/>
                                      </p:to>
                                    </p:set>
                                  </p:childTnLst>
                                </p:cTn>
                              </p:par>
                              <p:par>
                                <p:cTn id="71" presetID="10" presetClass="exit" presetSubtype="0" fill="hold" grpId="1" nodeType="withEffect">
                                  <p:stCondLst>
                                    <p:cond delay="0"/>
                                  </p:stCondLst>
                                  <p:childTnLst>
                                    <p:animEffect transition="out" filter="fade">
                                      <p:cBhvr>
                                        <p:cTn id="72" dur="1000"/>
                                        <p:tgtEl>
                                          <p:spTgt spid="60"/>
                                        </p:tgtEl>
                                      </p:cBhvr>
                                    </p:animEffect>
                                    <p:set>
                                      <p:cBhvr>
                                        <p:cTn id="73" dur="1" fill="hold">
                                          <p:stCondLst>
                                            <p:cond delay="999"/>
                                          </p:stCondLst>
                                        </p:cTn>
                                        <p:tgtEl>
                                          <p:spTgt spid="60"/>
                                        </p:tgtEl>
                                        <p:attrNameLst>
                                          <p:attrName>style.visibility</p:attrName>
                                        </p:attrNameLst>
                                      </p:cBhvr>
                                      <p:to>
                                        <p:strVal val="hidden"/>
                                      </p:to>
                                    </p:set>
                                  </p:childTnLst>
                                </p:cTn>
                              </p:par>
                              <p:par>
                                <p:cTn id="74" presetID="10" presetClass="exit" presetSubtype="0" fill="hold" grpId="1" nodeType="withEffect">
                                  <p:stCondLst>
                                    <p:cond delay="0"/>
                                  </p:stCondLst>
                                  <p:childTnLst>
                                    <p:animEffect transition="out" filter="fade">
                                      <p:cBhvr>
                                        <p:cTn id="75" dur="1000"/>
                                        <p:tgtEl>
                                          <p:spTgt spid="65"/>
                                        </p:tgtEl>
                                      </p:cBhvr>
                                    </p:animEffect>
                                    <p:set>
                                      <p:cBhvr>
                                        <p:cTn id="76" dur="1" fill="hold">
                                          <p:stCondLst>
                                            <p:cond delay="999"/>
                                          </p:stCondLst>
                                        </p:cTn>
                                        <p:tgtEl>
                                          <p:spTgt spid="65"/>
                                        </p:tgtEl>
                                        <p:attrNameLst>
                                          <p:attrName>style.visibility</p:attrName>
                                        </p:attrNameLst>
                                      </p:cBhvr>
                                      <p:to>
                                        <p:strVal val="hidden"/>
                                      </p:to>
                                    </p:set>
                                  </p:childTnLst>
                                </p:cTn>
                              </p:par>
                              <p:par>
                                <p:cTn id="77" presetID="42" presetClass="entr" presetSubtype="0" fill="hold" nodeType="withEffect">
                                  <p:stCondLst>
                                    <p:cond delay="0"/>
                                  </p:stCondLst>
                                  <p:childTnLst>
                                    <p:set>
                                      <p:cBhvr>
                                        <p:cTn id="78" dur="1" fill="hold">
                                          <p:stCondLst>
                                            <p:cond delay="0"/>
                                          </p:stCondLst>
                                        </p:cTn>
                                        <p:tgtEl>
                                          <p:spTgt spid="53"/>
                                        </p:tgtEl>
                                        <p:attrNameLst>
                                          <p:attrName>style.visibility</p:attrName>
                                        </p:attrNameLst>
                                      </p:cBhvr>
                                      <p:to>
                                        <p:strVal val="visible"/>
                                      </p:to>
                                    </p:set>
                                    <p:animEffect transition="in" filter="fade">
                                      <p:cBhvr>
                                        <p:cTn id="79" dur="1000"/>
                                        <p:tgtEl>
                                          <p:spTgt spid="53"/>
                                        </p:tgtEl>
                                      </p:cBhvr>
                                    </p:animEffect>
                                    <p:anim calcmode="lin" valueType="num">
                                      <p:cBhvr>
                                        <p:cTn id="80" dur="1000" fill="hold"/>
                                        <p:tgtEl>
                                          <p:spTgt spid="53"/>
                                        </p:tgtEl>
                                        <p:attrNameLst>
                                          <p:attrName>ppt_x</p:attrName>
                                        </p:attrNameLst>
                                      </p:cBhvr>
                                      <p:tavLst>
                                        <p:tav tm="0">
                                          <p:val>
                                            <p:strVal val="#ppt_x"/>
                                          </p:val>
                                        </p:tav>
                                        <p:tav tm="100000">
                                          <p:val>
                                            <p:strVal val="#ppt_x"/>
                                          </p:val>
                                        </p:tav>
                                      </p:tavLst>
                                    </p:anim>
                                    <p:anim calcmode="lin" valueType="num">
                                      <p:cBhvr>
                                        <p:cTn id="81" dur="1000" fill="hold"/>
                                        <p:tgtEl>
                                          <p:spTgt spid="53"/>
                                        </p:tgtEl>
                                        <p:attrNameLst>
                                          <p:attrName>ppt_y</p:attrName>
                                        </p:attrNameLst>
                                      </p:cBhvr>
                                      <p:tavLst>
                                        <p:tav tm="0">
                                          <p:val>
                                            <p:strVal val="#ppt_y+.1"/>
                                          </p:val>
                                        </p:tav>
                                        <p:tav tm="100000">
                                          <p:val>
                                            <p:strVal val="#ppt_y"/>
                                          </p:val>
                                        </p:tav>
                                      </p:tavLst>
                                    </p:anim>
                                  </p:childTnLst>
                                </p:cTn>
                              </p:par>
                            </p:childTnLst>
                          </p:cTn>
                        </p:par>
                        <p:par>
                          <p:cTn id="82" fill="hold">
                            <p:stCondLst>
                              <p:cond delay="1000"/>
                            </p:stCondLst>
                            <p:childTnLst>
                              <p:par>
                                <p:cTn id="83" presetID="42" presetClass="entr" presetSubtype="0" fill="hold" grpId="0" nodeType="afterEffect">
                                  <p:stCondLst>
                                    <p:cond delay="0"/>
                                  </p:stCondLst>
                                  <p:childTnLst>
                                    <p:set>
                                      <p:cBhvr>
                                        <p:cTn id="84" dur="1" fill="hold">
                                          <p:stCondLst>
                                            <p:cond delay="0"/>
                                          </p:stCondLst>
                                        </p:cTn>
                                        <p:tgtEl>
                                          <p:spTgt spid="66"/>
                                        </p:tgtEl>
                                        <p:attrNameLst>
                                          <p:attrName>style.visibility</p:attrName>
                                        </p:attrNameLst>
                                      </p:cBhvr>
                                      <p:to>
                                        <p:strVal val="visible"/>
                                      </p:to>
                                    </p:set>
                                    <p:animEffect transition="in" filter="fade">
                                      <p:cBhvr>
                                        <p:cTn id="85" dur="1000"/>
                                        <p:tgtEl>
                                          <p:spTgt spid="66"/>
                                        </p:tgtEl>
                                      </p:cBhvr>
                                    </p:animEffect>
                                    <p:anim calcmode="lin" valueType="num">
                                      <p:cBhvr>
                                        <p:cTn id="86" dur="1000" fill="hold"/>
                                        <p:tgtEl>
                                          <p:spTgt spid="66"/>
                                        </p:tgtEl>
                                        <p:attrNameLst>
                                          <p:attrName>ppt_x</p:attrName>
                                        </p:attrNameLst>
                                      </p:cBhvr>
                                      <p:tavLst>
                                        <p:tav tm="0">
                                          <p:val>
                                            <p:strVal val="#ppt_x"/>
                                          </p:val>
                                        </p:tav>
                                        <p:tav tm="100000">
                                          <p:val>
                                            <p:strVal val="#ppt_x"/>
                                          </p:val>
                                        </p:tav>
                                      </p:tavLst>
                                    </p:anim>
                                    <p:anim calcmode="lin" valueType="num">
                                      <p:cBhvr>
                                        <p:cTn id="87" dur="1000" fill="hold"/>
                                        <p:tgtEl>
                                          <p:spTgt spid="66"/>
                                        </p:tgtEl>
                                        <p:attrNameLst>
                                          <p:attrName>ppt_y</p:attrName>
                                        </p:attrNameLst>
                                      </p:cBhvr>
                                      <p:tavLst>
                                        <p:tav tm="0">
                                          <p:val>
                                            <p:strVal val="#ppt_y+.1"/>
                                          </p:val>
                                        </p:tav>
                                        <p:tav tm="100000">
                                          <p:val>
                                            <p:strVal val="#ppt_y"/>
                                          </p:val>
                                        </p:tav>
                                      </p:tavLst>
                                    </p:anim>
                                  </p:childTnLst>
                                </p:cTn>
                              </p:par>
                            </p:childTnLst>
                          </p:cTn>
                        </p:par>
                        <p:par>
                          <p:cTn id="88" fill="hold">
                            <p:stCondLst>
                              <p:cond delay="2000"/>
                            </p:stCondLst>
                            <p:childTnLst>
                              <p:par>
                                <p:cTn id="89" presetID="22" presetClass="entr" presetSubtype="8" fill="hold" grpId="0" nodeType="afterEffect">
                                  <p:stCondLst>
                                    <p:cond delay="0"/>
                                  </p:stCondLst>
                                  <p:childTnLst>
                                    <p:set>
                                      <p:cBhvr>
                                        <p:cTn id="90" dur="1" fill="hold">
                                          <p:stCondLst>
                                            <p:cond delay="0"/>
                                          </p:stCondLst>
                                        </p:cTn>
                                        <p:tgtEl>
                                          <p:spTgt spid="83"/>
                                        </p:tgtEl>
                                        <p:attrNameLst>
                                          <p:attrName>style.visibility</p:attrName>
                                        </p:attrNameLst>
                                      </p:cBhvr>
                                      <p:to>
                                        <p:strVal val="visible"/>
                                      </p:to>
                                    </p:set>
                                    <p:animEffect transition="in" filter="wipe(left)">
                                      <p:cBhvr>
                                        <p:cTn id="91" dur="1000"/>
                                        <p:tgtEl>
                                          <p:spTgt spid="83"/>
                                        </p:tgtEl>
                                      </p:cBhvr>
                                    </p:animEffect>
                                  </p:childTnLst>
                                </p:cTn>
                              </p:par>
                            </p:childTnLst>
                          </p:cTn>
                        </p:par>
                        <p:par>
                          <p:cTn id="92" fill="hold">
                            <p:stCondLst>
                              <p:cond delay="3000"/>
                            </p:stCondLst>
                            <p:childTnLst>
                              <p:par>
                                <p:cTn id="93" presetID="22" presetClass="entr" presetSubtype="8" fill="hold" grpId="0" nodeType="afterEffect">
                                  <p:stCondLst>
                                    <p:cond delay="0"/>
                                  </p:stCondLst>
                                  <p:childTnLst>
                                    <p:set>
                                      <p:cBhvr>
                                        <p:cTn id="94" dur="1" fill="hold">
                                          <p:stCondLst>
                                            <p:cond delay="0"/>
                                          </p:stCondLst>
                                        </p:cTn>
                                        <p:tgtEl>
                                          <p:spTgt spid="70"/>
                                        </p:tgtEl>
                                        <p:attrNameLst>
                                          <p:attrName>style.visibility</p:attrName>
                                        </p:attrNameLst>
                                      </p:cBhvr>
                                      <p:to>
                                        <p:strVal val="visible"/>
                                      </p:to>
                                    </p:set>
                                    <p:animEffect transition="in" filter="wipe(left)">
                                      <p:cBhvr>
                                        <p:cTn id="95" dur="1000"/>
                                        <p:tgtEl>
                                          <p:spTgt spid="70"/>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2" fill="hold" grpId="0" nodeType="clickEffect">
                                  <p:stCondLst>
                                    <p:cond delay="0"/>
                                  </p:stCondLst>
                                  <p:childTnLst>
                                    <p:set>
                                      <p:cBhvr>
                                        <p:cTn id="99" dur="1" fill="hold">
                                          <p:stCondLst>
                                            <p:cond delay="0"/>
                                          </p:stCondLst>
                                        </p:cTn>
                                        <p:tgtEl>
                                          <p:spTgt spid="90"/>
                                        </p:tgtEl>
                                        <p:attrNameLst>
                                          <p:attrName>style.visibility</p:attrName>
                                        </p:attrNameLst>
                                      </p:cBhvr>
                                      <p:to>
                                        <p:strVal val="visible"/>
                                      </p:to>
                                    </p:set>
                                    <p:animEffect transition="in" filter="wipe(right)">
                                      <p:cBhvr>
                                        <p:cTn id="100" dur="1000"/>
                                        <p:tgtEl>
                                          <p:spTgt spid="90"/>
                                        </p:tgtEl>
                                      </p:cBhvr>
                                    </p:animEffect>
                                  </p:childTnLst>
                                </p:cTn>
                              </p:par>
                            </p:childTnLst>
                          </p:cTn>
                        </p:par>
                        <p:par>
                          <p:cTn id="101" fill="hold">
                            <p:stCondLst>
                              <p:cond delay="1000"/>
                            </p:stCondLst>
                            <p:childTnLst>
                              <p:par>
                                <p:cTn id="102" presetID="22" presetClass="entr" presetSubtype="2" fill="hold" grpId="0" nodeType="afterEffect">
                                  <p:stCondLst>
                                    <p:cond delay="0"/>
                                  </p:stCondLst>
                                  <p:childTnLst>
                                    <p:set>
                                      <p:cBhvr>
                                        <p:cTn id="103" dur="1" fill="hold">
                                          <p:stCondLst>
                                            <p:cond delay="0"/>
                                          </p:stCondLst>
                                        </p:cTn>
                                        <p:tgtEl>
                                          <p:spTgt spid="72"/>
                                        </p:tgtEl>
                                        <p:attrNameLst>
                                          <p:attrName>style.visibility</p:attrName>
                                        </p:attrNameLst>
                                      </p:cBhvr>
                                      <p:to>
                                        <p:strVal val="visible"/>
                                      </p:to>
                                    </p:set>
                                    <p:animEffect transition="in" filter="wipe(right)">
                                      <p:cBhvr>
                                        <p:cTn id="104" dur="1000"/>
                                        <p:tgtEl>
                                          <p:spTgt spid="72"/>
                                        </p:tgtEl>
                                      </p:cBhvr>
                                    </p:animEffect>
                                  </p:childTnLst>
                                </p:cTn>
                              </p:par>
                            </p:childTnLst>
                          </p:cTn>
                        </p:par>
                        <p:par>
                          <p:cTn id="105" fill="hold">
                            <p:stCondLst>
                              <p:cond delay="2000"/>
                            </p:stCondLst>
                            <p:childTnLst>
                              <p:par>
                                <p:cTn id="106" presetID="22" presetClass="entr" presetSubtype="8" fill="hold" grpId="0" nodeType="afterEffect">
                                  <p:stCondLst>
                                    <p:cond delay="0"/>
                                  </p:stCondLst>
                                  <p:childTnLst>
                                    <p:set>
                                      <p:cBhvr>
                                        <p:cTn id="107" dur="1" fill="hold">
                                          <p:stCondLst>
                                            <p:cond delay="0"/>
                                          </p:stCondLst>
                                        </p:cTn>
                                        <p:tgtEl>
                                          <p:spTgt spid="91"/>
                                        </p:tgtEl>
                                        <p:attrNameLst>
                                          <p:attrName>style.visibility</p:attrName>
                                        </p:attrNameLst>
                                      </p:cBhvr>
                                      <p:to>
                                        <p:strVal val="visible"/>
                                      </p:to>
                                    </p:set>
                                    <p:animEffect transition="in" filter="wipe(left)">
                                      <p:cBhvr>
                                        <p:cTn id="108" dur="1000"/>
                                        <p:tgtEl>
                                          <p:spTgt spid="91"/>
                                        </p:tgtEl>
                                      </p:cBhvr>
                                    </p:animEffect>
                                  </p:childTnLst>
                                </p:cTn>
                              </p:par>
                            </p:childTnLst>
                          </p:cTn>
                        </p:par>
                        <p:par>
                          <p:cTn id="109" fill="hold">
                            <p:stCondLst>
                              <p:cond delay="3000"/>
                            </p:stCondLst>
                            <p:childTnLst>
                              <p:par>
                                <p:cTn id="110" presetID="22" presetClass="entr" presetSubtype="8" fill="hold" grpId="0" nodeType="afterEffect">
                                  <p:stCondLst>
                                    <p:cond delay="0"/>
                                  </p:stCondLst>
                                  <p:childTnLst>
                                    <p:set>
                                      <p:cBhvr>
                                        <p:cTn id="111" dur="1" fill="hold">
                                          <p:stCondLst>
                                            <p:cond delay="0"/>
                                          </p:stCondLst>
                                        </p:cTn>
                                        <p:tgtEl>
                                          <p:spTgt spid="74"/>
                                        </p:tgtEl>
                                        <p:attrNameLst>
                                          <p:attrName>style.visibility</p:attrName>
                                        </p:attrNameLst>
                                      </p:cBhvr>
                                      <p:to>
                                        <p:strVal val="visible"/>
                                      </p:to>
                                    </p:set>
                                    <p:animEffect transition="in" filter="wipe(left)">
                                      <p:cBhvr>
                                        <p:cTn id="112" dur="1000"/>
                                        <p:tgtEl>
                                          <p:spTgt spid="74"/>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xit" presetSubtype="0" fill="hold" grpId="1" nodeType="clickEffect">
                                  <p:stCondLst>
                                    <p:cond delay="0"/>
                                  </p:stCondLst>
                                  <p:childTnLst>
                                    <p:animEffect transition="out" filter="fade">
                                      <p:cBhvr>
                                        <p:cTn id="116" dur="1000"/>
                                        <p:tgtEl>
                                          <p:spTgt spid="83"/>
                                        </p:tgtEl>
                                      </p:cBhvr>
                                    </p:animEffect>
                                    <p:set>
                                      <p:cBhvr>
                                        <p:cTn id="117" dur="1" fill="hold">
                                          <p:stCondLst>
                                            <p:cond delay="999"/>
                                          </p:stCondLst>
                                        </p:cTn>
                                        <p:tgtEl>
                                          <p:spTgt spid="83"/>
                                        </p:tgtEl>
                                        <p:attrNameLst>
                                          <p:attrName>style.visibility</p:attrName>
                                        </p:attrNameLst>
                                      </p:cBhvr>
                                      <p:to>
                                        <p:strVal val="hidden"/>
                                      </p:to>
                                    </p:set>
                                  </p:childTnLst>
                                </p:cTn>
                              </p:par>
                              <p:par>
                                <p:cTn id="118" presetID="10" presetClass="exit" presetSubtype="0" fill="hold" grpId="1" nodeType="withEffect">
                                  <p:stCondLst>
                                    <p:cond delay="0"/>
                                  </p:stCondLst>
                                  <p:childTnLst>
                                    <p:animEffect transition="out" filter="fade">
                                      <p:cBhvr>
                                        <p:cTn id="119" dur="1000"/>
                                        <p:tgtEl>
                                          <p:spTgt spid="90"/>
                                        </p:tgtEl>
                                      </p:cBhvr>
                                    </p:animEffect>
                                    <p:set>
                                      <p:cBhvr>
                                        <p:cTn id="120" dur="1" fill="hold">
                                          <p:stCondLst>
                                            <p:cond delay="999"/>
                                          </p:stCondLst>
                                        </p:cTn>
                                        <p:tgtEl>
                                          <p:spTgt spid="90"/>
                                        </p:tgtEl>
                                        <p:attrNameLst>
                                          <p:attrName>style.visibility</p:attrName>
                                        </p:attrNameLst>
                                      </p:cBhvr>
                                      <p:to>
                                        <p:strVal val="hidden"/>
                                      </p:to>
                                    </p:set>
                                  </p:childTnLst>
                                </p:cTn>
                              </p:par>
                              <p:par>
                                <p:cTn id="121" presetID="10" presetClass="exit" presetSubtype="0" fill="hold" grpId="1" nodeType="withEffect">
                                  <p:stCondLst>
                                    <p:cond delay="0"/>
                                  </p:stCondLst>
                                  <p:childTnLst>
                                    <p:animEffect transition="out" filter="fade">
                                      <p:cBhvr>
                                        <p:cTn id="122" dur="1000"/>
                                        <p:tgtEl>
                                          <p:spTgt spid="91"/>
                                        </p:tgtEl>
                                      </p:cBhvr>
                                    </p:animEffect>
                                    <p:set>
                                      <p:cBhvr>
                                        <p:cTn id="123" dur="1" fill="hold">
                                          <p:stCondLst>
                                            <p:cond delay="999"/>
                                          </p:stCondLst>
                                        </p:cTn>
                                        <p:tgtEl>
                                          <p:spTgt spid="91"/>
                                        </p:tgtEl>
                                        <p:attrNameLst>
                                          <p:attrName>style.visibility</p:attrName>
                                        </p:attrNameLst>
                                      </p:cBhvr>
                                      <p:to>
                                        <p:strVal val="hidden"/>
                                      </p:to>
                                    </p:set>
                                  </p:childTnLst>
                                </p:cTn>
                              </p:par>
                              <p:par>
                                <p:cTn id="124" presetID="42" presetClass="entr" presetSubtype="0" fill="hold" nodeType="withEffect">
                                  <p:stCondLst>
                                    <p:cond delay="0"/>
                                  </p:stCondLst>
                                  <p:childTnLst>
                                    <p:set>
                                      <p:cBhvr>
                                        <p:cTn id="125" dur="1" fill="hold">
                                          <p:stCondLst>
                                            <p:cond delay="0"/>
                                          </p:stCondLst>
                                        </p:cTn>
                                        <p:tgtEl>
                                          <p:spTgt spid="57"/>
                                        </p:tgtEl>
                                        <p:attrNameLst>
                                          <p:attrName>style.visibility</p:attrName>
                                        </p:attrNameLst>
                                      </p:cBhvr>
                                      <p:to>
                                        <p:strVal val="visible"/>
                                      </p:to>
                                    </p:set>
                                    <p:animEffect transition="in" filter="fade">
                                      <p:cBhvr>
                                        <p:cTn id="126" dur="1000"/>
                                        <p:tgtEl>
                                          <p:spTgt spid="57"/>
                                        </p:tgtEl>
                                      </p:cBhvr>
                                    </p:animEffect>
                                    <p:anim calcmode="lin" valueType="num">
                                      <p:cBhvr>
                                        <p:cTn id="127" dur="1000" fill="hold"/>
                                        <p:tgtEl>
                                          <p:spTgt spid="57"/>
                                        </p:tgtEl>
                                        <p:attrNameLst>
                                          <p:attrName>ppt_x</p:attrName>
                                        </p:attrNameLst>
                                      </p:cBhvr>
                                      <p:tavLst>
                                        <p:tav tm="0">
                                          <p:val>
                                            <p:strVal val="#ppt_x"/>
                                          </p:val>
                                        </p:tav>
                                        <p:tav tm="100000">
                                          <p:val>
                                            <p:strVal val="#ppt_x"/>
                                          </p:val>
                                        </p:tav>
                                      </p:tavLst>
                                    </p:anim>
                                    <p:anim calcmode="lin" valueType="num">
                                      <p:cBhvr>
                                        <p:cTn id="128" dur="1000" fill="hold"/>
                                        <p:tgtEl>
                                          <p:spTgt spid="57"/>
                                        </p:tgtEl>
                                        <p:attrNameLst>
                                          <p:attrName>ppt_y</p:attrName>
                                        </p:attrNameLst>
                                      </p:cBhvr>
                                      <p:tavLst>
                                        <p:tav tm="0">
                                          <p:val>
                                            <p:strVal val="#ppt_y+.1"/>
                                          </p:val>
                                        </p:tav>
                                        <p:tav tm="100000">
                                          <p:val>
                                            <p:strVal val="#ppt_y"/>
                                          </p:val>
                                        </p:tav>
                                      </p:tavLst>
                                    </p:anim>
                                  </p:childTnLst>
                                </p:cTn>
                              </p:par>
                              <p:par>
                                <p:cTn id="129" presetID="42" presetClass="entr" presetSubtype="0" fill="hold" nodeType="withEffect">
                                  <p:stCondLst>
                                    <p:cond delay="0"/>
                                  </p:stCondLst>
                                  <p:childTnLst>
                                    <p:set>
                                      <p:cBhvr>
                                        <p:cTn id="130" dur="1" fill="hold">
                                          <p:stCondLst>
                                            <p:cond delay="0"/>
                                          </p:stCondLst>
                                        </p:cTn>
                                        <p:tgtEl>
                                          <p:spTgt spid="54"/>
                                        </p:tgtEl>
                                        <p:attrNameLst>
                                          <p:attrName>style.visibility</p:attrName>
                                        </p:attrNameLst>
                                      </p:cBhvr>
                                      <p:to>
                                        <p:strVal val="visible"/>
                                      </p:to>
                                    </p:set>
                                    <p:animEffect transition="in" filter="fade">
                                      <p:cBhvr>
                                        <p:cTn id="131" dur="1000"/>
                                        <p:tgtEl>
                                          <p:spTgt spid="54"/>
                                        </p:tgtEl>
                                      </p:cBhvr>
                                    </p:animEffect>
                                    <p:anim calcmode="lin" valueType="num">
                                      <p:cBhvr>
                                        <p:cTn id="132" dur="1000" fill="hold"/>
                                        <p:tgtEl>
                                          <p:spTgt spid="54"/>
                                        </p:tgtEl>
                                        <p:attrNameLst>
                                          <p:attrName>ppt_x</p:attrName>
                                        </p:attrNameLst>
                                      </p:cBhvr>
                                      <p:tavLst>
                                        <p:tav tm="0">
                                          <p:val>
                                            <p:strVal val="#ppt_x"/>
                                          </p:val>
                                        </p:tav>
                                        <p:tav tm="100000">
                                          <p:val>
                                            <p:strVal val="#ppt_x"/>
                                          </p:val>
                                        </p:tav>
                                      </p:tavLst>
                                    </p:anim>
                                    <p:anim calcmode="lin" valueType="num">
                                      <p:cBhvr>
                                        <p:cTn id="133" dur="1000" fill="hold"/>
                                        <p:tgtEl>
                                          <p:spTgt spid="54"/>
                                        </p:tgtEl>
                                        <p:attrNameLst>
                                          <p:attrName>ppt_y</p:attrName>
                                        </p:attrNameLst>
                                      </p:cBhvr>
                                      <p:tavLst>
                                        <p:tav tm="0">
                                          <p:val>
                                            <p:strVal val="#ppt_y+.1"/>
                                          </p:val>
                                        </p:tav>
                                        <p:tav tm="100000">
                                          <p:val>
                                            <p:strVal val="#ppt_y"/>
                                          </p:val>
                                        </p:tav>
                                      </p:tavLst>
                                    </p:anim>
                                  </p:childTnLst>
                                </p:cTn>
                              </p:par>
                              <p:par>
                                <p:cTn id="134" presetID="42" presetClass="entr" presetSubtype="0" fill="hold" nodeType="withEffect">
                                  <p:stCondLst>
                                    <p:cond delay="0"/>
                                  </p:stCondLst>
                                  <p:childTnLst>
                                    <p:set>
                                      <p:cBhvr>
                                        <p:cTn id="135" dur="1" fill="hold">
                                          <p:stCondLst>
                                            <p:cond delay="0"/>
                                          </p:stCondLst>
                                        </p:cTn>
                                        <p:tgtEl>
                                          <p:spTgt spid="55"/>
                                        </p:tgtEl>
                                        <p:attrNameLst>
                                          <p:attrName>style.visibility</p:attrName>
                                        </p:attrNameLst>
                                      </p:cBhvr>
                                      <p:to>
                                        <p:strVal val="visible"/>
                                      </p:to>
                                    </p:set>
                                    <p:animEffect transition="in" filter="fade">
                                      <p:cBhvr>
                                        <p:cTn id="136" dur="1000"/>
                                        <p:tgtEl>
                                          <p:spTgt spid="55"/>
                                        </p:tgtEl>
                                      </p:cBhvr>
                                    </p:animEffect>
                                    <p:anim calcmode="lin" valueType="num">
                                      <p:cBhvr>
                                        <p:cTn id="137" dur="1000" fill="hold"/>
                                        <p:tgtEl>
                                          <p:spTgt spid="55"/>
                                        </p:tgtEl>
                                        <p:attrNameLst>
                                          <p:attrName>ppt_x</p:attrName>
                                        </p:attrNameLst>
                                      </p:cBhvr>
                                      <p:tavLst>
                                        <p:tav tm="0">
                                          <p:val>
                                            <p:strVal val="#ppt_x"/>
                                          </p:val>
                                        </p:tav>
                                        <p:tav tm="100000">
                                          <p:val>
                                            <p:strVal val="#ppt_x"/>
                                          </p:val>
                                        </p:tav>
                                      </p:tavLst>
                                    </p:anim>
                                    <p:anim calcmode="lin" valueType="num">
                                      <p:cBhvr>
                                        <p:cTn id="138" dur="1000" fill="hold"/>
                                        <p:tgtEl>
                                          <p:spTgt spid="55"/>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0"/>
                                  </p:stCondLst>
                                  <p:childTnLst>
                                    <p:set>
                                      <p:cBhvr>
                                        <p:cTn id="140" dur="1" fill="hold">
                                          <p:stCondLst>
                                            <p:cond delay="0"/>
                                          </p:stCondLst>
                                        </p:cTn>
                                        <p:tgtEl>
                                          <p:spTgt spid="58"/>
                                        </p:tgtEl>
                                        <p:attrNameLst>
                                          <p:attrName>style.visibility</p:attrName>
                                        </p:attrNameLst>
                                      </p:cBhvr>
                                      <p:to>
                                        <p:strVal val="visible"/>
                                      </p:to>
                                    </p:set>
                                    <p:animEffect transition="in" filter="fade">
                                      <p:cBhvr>
                                        <p:cTn id="141" dur="1000"/>
                                        <p:tgtEl>
                                          <p:spTgt spid="58"/>
                                        </p:tgtEl>
                                      </p:cBhvr>
                                    </p:animEffect>
                                    <p:anim calcmode="lin" valueType="num">
                                      <p:cBhvr>
                                        <p:cTn id="142" dur="1000" fill="hold"/>
                                        <p:tgtEl>
                                          <p:spTgt spid="58"/>
                                        </p:tgtEl>
                                        <p:attrNameLst>
                                          <p:attrName>ppt_x</p:attrName>
                                        </p:attrNameLst>
                                      </p:cBhvr>
                                      <p:tavLst>
                                        <p:tav tm="0">
                                          <p:val>
                                            <p:strVal val="#ppt_x"/>
                                          </p:val>
                                        </p:tav>
                                        <p:tav tm="100000">
                                          <p:val>
                                            <p:strVal val="#ppt_x"/>
                                          </p:val>
                                        </p:tav>
                                      </p:tavLst>
                                    </p:anim>
                                    <p:anim calcmode="lin" valueType="num">
                                      <p:cBhvr>
                                        <p:cTn id="143" dur="1000" fill="hold"/>
                                        <p:tgtEl>
                                          <p:spTgt spid="58"/>
                                        </p:tgtEl>
                                        <p:attrNameLst>
                                          <p:attrName>ppt_y</p:attrName>
                                        </p:attrNameLst>
                                      </p:cBhvr>
                                      <p:tavLst>
                                        <p:tav tm="0">
                                          <p:val>
                                            <p:strVal val="#ppt_y+.1"/>
                                          </p:val>
                                        </p:tav>
                                        <p:tav tm="100000">
                                          <p:val>
                                            <p:strVal val="#ppt_y"/>
                                          </p:val>
                                        </p:tav>
                                      </p:tavLst>
                                    </p:anim>
                                  </p:childTnLst>
                                </p:cTn>
                              </p:par>
                              <p:par>
                                <p:cTn id="144" presetID="42" presetClass="entr" presetSubtype="0" fill="hold" nodeType="withEffect">
                                  <p:stCondLst>
                                    <p:cond delay="0"/>
                                  </p:stCondLst>
                                  <p:childTnLst>
                                    <p:set>
                                      <p:cBhvr>
                                        <p:cTn id="145" dur="1" fill="hold">
                                          <p:stCondLst>
                                            <p:cond delay="0"/>
                                          </p:stCondLst>
                                        </p:cTn>
                                        <p:tgtEl>
                                          <p:spTgt spid="48"/>
                                        </p:tgtEl>
                                        <p:attrNameLst>
                                          <p:attrName>style.visibility</p:attrName>
                                        </p:attrNameLst>
                                      </p:cBhvr>
                                      <p:to>
                                        <p:strVal val="visible"/>
                                      </p:to>
                                    </p:set>
                                    <p:animEffect transition="in" filter="fade">
                                      <p:cBhvr>
                                        <p:cTn id="146" dur="1000"/>
                                        <p:tgtEl>
                                          <p:spTgt spid="48"/>
                                        </p:tgtEl>
                                      </p:cBhvr>
                                    </p:animEffect>
                                    <p:anim calcmode="lin" valueType="num">
                                      <p:cBhvr>
                                        <p:cTn id="147" dur="1000" fill="hold"/>
                                        <p:tgtEl>
                                          <p:spTgt spid="48"/>
                                        </p:tgtEl>
                                        <p:attrNameLst>
                                          <p:attrName>ppt_x</p:attrName>
                                        </p:attrNameLst>
                                      </p:cBhvr>
                                      <p:tavLst>
                                        <p:tav tm="0">
                                          <p:val>
                                            <p:strVal val="#ppt_x"/>
                                          </p:val>
                                        </p:tav>
                                        <p:tav tm="100000">
                                          <p:val>
                                            <p:strVal val="#ppt_x"/>
                                          </p:val>
                                        </p:tav>
                                      </p:tavLst>
                                    </p:anim>
                                    <p:anim calcmode="lin" valueType="num">
                                      <p:cBhvr>
                                        <p:cTn id="148" dur="1000" fill="hold"/>
                                        <p:tgtEl>
                                          <p:spTgt spid="48"/>
                                        </p:tgtEl>
                                        <p:attrNameLst>
                                          <p:attrName>ppt_y</p:attrName>
                                        </p:attrNameLst>
                                      </p:cBhvr>
                                      <p:tavLst>
                                        <p:tav tm="0">
                                          <p:val>
                                            <p:strVal val="#ppt_y+.1"/>
                                          </p:val>
                                        </p:tav>
                                        <p:tav tm="100000">
                                          <p:val>
                                            <p:strVal val="#ppt_y"/>
                                          </p:val>
                                        </p:tav>
                                      </p:tavLst>
                                    </p:anim>
                                  </p:childTnLst>
                                </p:cTn>
                              </p:par>
                              <p:par>
                                <p:cTn id="149" presetID="42" presetClass="entr" presetSubtype="0" fill="hold" nodeType="withEffect">
                                  <p:stCondLst>
                                    <p:cond delay="0"/>
                                  </p:stCondLst>
                                  <p:childTnLst>
                                    <p:set>
                                      <p:cBhvr>
                                        <p:cTn id="150" dur="1" fill="hold">
                                          <p:stCondLst>
                                            <p:cond delay="0"/>
                                          </p:stCondLst>
                                        </p:cTn>
                                        <p:tgtEl>
                                          <p:spTgt spid="47"/>
                                        </p:tgtEl>
                                        <p:attrNameLst>
                                          <p:attrName>style.visibility</p:attrName>
                                        </p:attrNameLst>
                                      </p:cBhvr>
                                      <p:to>
                                        <p:strVal val="visible"/>
                                      </p:to>
                                    </p:set>
                                    <p:animEffect transition="in" filter="fade">
                                      <p:cBhvr>
                                        <p:cTn id="151" dur="1000"/>
                                        <p:tgtEl>
                                          <p:spTgt spid="47"/>
                                        </p:tgtEl>
                                      </p:cBhvr>
                                    </p:animEffect>
                                    <p:anim calcmode="lin" valueType="num">
                                      <p:cBhvr>
                                        <p:cTn id="152" dur="1000" fill="hold"/>
                                        <p:tgtEl>
                                          <p:spTgt spid="47"/>
                                        </p:tgtEl>
                                        <p:attrNameLst>
                                          <p:attrName>ppt_x</p:attrName>
                                        </p:attrNameLst>
                                      </p:cBhvr>
                                      <p:tavLst>
                                        <p:tav tm="0">
                                          <p:val>
                                            <p:strVal val="#ppt_x"/>
                                          </p:val>
                                        </p:tav>
                                        <p:tav tm="100000">
                                          <p:val>
                                            <p:strVal val="#ppt_x"/>
                                          </p:val>
                                        </p:tav>
                                      </p:tavLst>
                                    </p:anim>
                                    <p:anim calcmode="lin" valueType="num">
                                      <p:cBhvr>
                                        <p:cTn id="153" dur="1000" fill="hold"/>
                                        <p:tgtEl>
                                          <p:spTgt spid="47"/>
                                        </p:tgtEl>
                                        <p:attrNameLst>
                                          <p:attrName>ppt_y</p:attrName>
                                        </p:attrNameLst>
                                      </p:cBhvr>
                                      <p:tavLst>
                                        <p:tav tm="0">
                                          <p:val>
                                            <p:strVal val="#ppt_y+.1"/>
                                          </p:val>
                                        </p:tav>
                                        <p:tav tm="100000">
                                          <p:val>
                                            <p:strVal val="#ppt_y"/>
                                          </p:val>
                                        </p:tav>
                                      </p:tavLst>
                                    </p:anim>
                                  </p:childTnLst>
                                </p:cTn>
                              </p:par>
                            </p:childTnLst>
                          </p:cTn>
                        </p:par>
                        <p:par>
                          <p:cTn id="154" fill="hold">
                            <p:stCondLst>
                              <p:cond delay="1000"/>
                            </p:stCondLst>
                            <p:childTnLst>
                              <p:par>
                                <p:cTn id="155" presetID="12" presetClass="entr" presetSubtype="8" fill="hold" nodeType="afterEffect">
                                  <p:stCondLst>
                                    <p:cond delay="0"/>
                                  </p:stCondLst>
                                  <p:childTnLst>
                                    <p:set>
                                      <p:cBhvr>
                                        <p:cTn id="156" dur="1" fill="hold">
                                          <p:stCondLst>
                                            <p:cond delay="0"/>
                                          </p:stCondLst>
                                        </p:cTn>
                                        <p:tgtEl>
                                          <p:spTgt spid="80"/>
                                        </p:tgtEl>
                                        <p:attrNameLst>
                                          <p:attrName>style.visibility</p:attrName>
                                        </p:attrNameLst>
                                      </p:cBhvr>
                                      <p:to>
                                        <p:strVal val="visible"/>
                                      </p:to>
                                    </p:set>
                                    <p:anim calcmode="lin" valueType="num">
                                      <p:cBhvr additive="base">
                                        <p:cTn id="157" dur="1000"/>
                                        <p:tgtEl>
                                          <p:spTgt spid="80"/>
                                        </p:tgtEl>
                                        <p:attrNameLst>
                                          <p:attrName>ppt_x</p:attrName>
                                        </p:attrNameLst>
                                      </p:cBhvr>
                                      <p:tavLst>
                                        <p:tav tm="0">
                                          <p:val>
                                            <p:strVal val="#ppt_x-#ppt_w*1.125000"/>
                                          </p:val>
                                        </p:tav>
                                        <p:tav tm="100000">
                                          <p:val>
                                            <p:strVal val="#ppt_x"/>
                                          </p:val>
                                        </p:tav>
                                      </p:tavLst>
                                    </p:anim>
                                    <p:animEffect transition="in" filter="wipe(right)">
                                      <p:cBhvr>
                                        <p:cTn id="158" dur="1000"/>
                                        <p:tgtEl>
                                          <p:spTgt spid="80"/>
                                        </p:tgtEl>
                                      </p:cBhvr>
                                    </p:animEffect>
                                  </p:childTnLst>
                                </p:cTn>
                              </p:par>
                            </p:childTnLst>
                          </p:cTn>
                        </p:par>
                      </p:childTnLst>
                    </p:cTn>
                  </p:par>
                  <p:par>
                    <p:cTn id="159" fill="hold">
                      <p:stCondLst>
                        <p:cond delay="indefinite"/>
                      </p:stCondLst>
                      <p:childTnLst>
                        <p:par>
                          <p:cTn id="160" fill="hold">
                            <p:stCondLst>
                              <p:cond delay="0"/>
                            </p:stCondLst>
                            <p:childTnLst>
                              <p:par>
                                <p:cTn id="161" presetID="42" presetClass="entr" presetSubtype="0" fill="hold" nodeType="clickEffect">
                                  <p:stCondLst>
                                    <p:cond delay="0"/>
                                  </p:stCondLst>
                                  <p:childTnLst>
                                    <p:set>
                                      <p:cBhvr>
                                        <p:cTn id="162" dur="1" fill="hold">
                                          <p:stCondLst>
                                            <p:cond delay="0"/>
                                          </p:stCondLst>
                                        </p:cTn>
                                        <p:tgtEl>
                                          <p:spTgt spid="9"/>
                                        </p:tgtEl>
                                        <p:attrNameLst>
                                          <p:attrName>style.visibility</p:attrName>
                                        </p:attrNameLst>
                                      </p:cBhvr>
                                      <p:to>
                                        <p:strVal val="visible"/>
                                      </p:to>
                                    </p:set>
                                    <p:animEffect transition="in" filter="fade">
                                      <p:cBhvr>
                                        <p:cTn id="163" dur="1000"/>
                                        <p:tgtEl>
                                          <p:spTgt spid="9"/>
                                        </p:tgtEl>
                                      </p:cBhvr>
                                    </p:animEffect>
                                    <p:anim calcmode="lin" valueType="num">
                                      <p:cBhvr>
                                        <p:cTn id="164" dur="1000" fill="hold"/>
                                        <p:tgtEl>
                                          <p:spTgt spid="9"/>
                                        </p:tgtEl>
                                        <p:attrNameLst>
                                          <p:attrName>ppt_x</p:attrName>
                                        </p:attrNameLst>
                                      </p:cBhvr>
                                      <p:tavLst>
                                        <p:tav tm="0">
                                          <p:val>
                                            <p:strVal val="#ppt_x"/>
                                          </p:val>
                                        </p:tav>
                                        <p:tav tm="100000">
                                          <p:val>
                                            <p:strVal val="#ppt_x"/>
                                          </p:val>
                                        </p:tav>
                                      </p:tavLst>
                                    </p:anim>
                                    <p:anim calcmode="lin" valueType="num">
                                      <p:cBhvr>
                                        <p:cTn id="16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6" grpId="0"/>
      <p:bldP spid="59" grpId="0" animBg="1"/>
      <p:bldP spid="59" grpId="1" animBg="1"/>
      <p:bldP spid="60" grpId="0" animBg="1"/>
      <p:bldP spid="60" grpId="1" animBg="1"/>
      <p:bldP spid="62" grpId="0"/>
      <p:bldP spid="64" grpId="0"/>
      <p:bldP spid="65" grpId="0" animBg="1"/>
      <p:bldP spid="65" grpId="1" animBg="1"/>
      <p:bldP spid="66" grpId="0"/>
      <p:bldP spid="70" grpId="0"/>
      <p:bldP spid="72" grpId="0"/>
      <p:bldP spid="74" grpId="0"/>
      <p:bldP spid="83" grpId="0" animBg="1"/>
      <p:bldP spid="83" grpId="1" animBg="1"/>
      <p:bldP spid="90" grpId="0" animBg="1"/>
      <p:bldP spid="90" grpId="1" animBg="1"/>
      <p:bldP spid="91" grpId="0" animBg="1"/>
      <p:bldP spid="91"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8"/>
          <p:cNvGrpSpPr/>
          <p:nvPr/>
        </p:nvGrpSpPr>
        <p:grpSpPr>
          <a:xfrm>
            <a:off x="400513" y="1331276"/>
            <a:ext cx="3792695" cy="374630"/>
            <a:chOff x="369777" y="1347760"/>
            <a:chExt cx="3792695" cy="374630"/>
          </a:xfrm>
        </p:grpSpPr>
        <p:sp>
          <p:nvSpPr>
            <p:cNvPr id="22" name="TextBox 21"/>
            <p:cNvSpPr txBox="1"/>
            <p:nvPr/>
          </p:nvSpPr>
          <p:spPr>
            <a:xfrm>
              <a:off x="723710" y="1350409"/>
              <a:ext cx="3438762" cy="369332"/>
            </a:xfrm>
            <a:prstGeom prst="rect">
              <a:avLst/>
            </a:prstGeom>
            <a:noFill/>
          </p:spPr>
          <p:txBody>
            <a:bodyPr wrap="none" rtlCol="0">
              <a:spAutoFit/>
            </a:bodyPr>
            <a:lstStyle/>
            <a:p>
              <a:r>
                <a:rPr lang="zh-CN" altLang="en-US" b="1" dirty="0">
                  <a:solidFill>
                    <a:srgbClr val="CC00CC"/>
                  </a:solidFill>
                  <a:latin typeface="黑体" panose="02010609060101010101" pitchFamily="49" charset="-122"/>
                  <a:ea typeface="黑体" panose="02010609060101010101" pitchFamily="49" charset="-122"/>
                </a:rPr>
                <a:t>例：</a:t>
              </a:r>
              <a:r>
                <a:rPr lang="zh-CN" altLang="en-US" b="1" dirty="0">
                  <a:solidFill>
                    <a:srgbClr val="6600FF"/>
                  </a:solidFill>
                  <a:latin typeface="黑体" panose="02010609060101010101" pitchFamily="49" charset="-122"/>
                  <a:ea typeface="黑体" panose="02010609060101010101" pitchFamily="49" charset="-122"/>
                </a:rPr>
                <a:t>分析图示异步时序逻辑电路</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23" name="Picture 4"/>
            <p:cNvPicPr>
              <a:picLocks noChangeAspect="1" noChangeArrowheads="1"/>
            </p:cNvPicPr>
            <p:nvPr/>
          </p:nvPicPr>
          <p:blipFill>
            <a:blip r:embed="rId1"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24" name="组合 18"/>
          <p:cNvGrpSpPr/>
          <p:nvPr/>
        </p:nvGrpSpPr>
        <p:grpSpPr>
          <a:xfrm>
            <a:off x="300992" y="801443"/>
            <a:ext cx="3627105" cy="420971"/>
            <a:chOff x="670560" y="892917"/>
            <a:chExt cx="3627105" cy="420971"/>
          </a:xfrm>
        </p:grpSpPr>
        <p:sp>
          <p:nvSpPr>
            <p:cNvPr id="25" name="矩形 24"/>
            <p:cNvSpPr/>
            <p:nvPr/>
          </p:nvSpPr>
          <p:spPr>
            <a:xfrm>
              <a:off x="1035233" y="913778"/>
              <a:ext cx="3262432"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异步时序逻辑电路分析举例</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6"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39" name="组合 29"/>
          <p:cNvGrpSpPr/>
          <p:nvPr/>
        </p:nvGrpSpPr>
        <p:grpSpPr>
          <a:xfrm>
            <a:off x="441315" y="1951684"/>
            <a:ext cx="1350247" cy="338554"/>
            <a:chOff x="4731375" y="1650857"/>
            <a:chExt cx="1350247" cy="338554"/>
          </a:xfrm>
        </p:grpSpPr>
        <p:sp>
          <p:nvSpPr>
            <p:cNvPr id="42" name="矩形 41"/>
            <p:cNvSpPr/>
            <p:nvPr/>
          </p:nvSpPr>
          <p:spPr>
            <a:xfrm>
              <a:off x="5076219" y="1650857"/>
              <a:ext cx="1005403" cy="338554"/>
            </a:xfrm>
            <a:prstGeom prst="rect">
              <a:avLst/>
            </a:prstGeom>
          </p:spPr>
          <p:txBody>
            <a:bodyPr wrap="none">
              <a:spAutoFit/>
            </a:bodyPr>
            <a:lstStyle/>
            <a:p>
              <a:r>
                <a:rPr lang="zh-CN" altLang="en-US" sz="1600" dirty="0">
                  <a:latin typeface="黑体" panose="02010609060101010101" pitchFamily="49" charset="-122"/>
                  <a:ea typeface="黑体" panose="02010609060101010101" pitchFamily="49" charset="-122"/>
                </a:rPr>
                <a:t>画时序图</a:t>
              </a:r>
              <a:endParaRPr lang="zh-CN" altLang="en-US" sz="1600" dirty="0"/>
            </a:p>
          </p:txBody>
        </p:sp>
        <p:pic>
          <p:nvPicPr>
            <p:cNvPr id="44" name="Picture 5"/>
            <p:cNvPicPr>
              <a:picLocks noChangeAspect="1" noChangeArrowheads="1"/>
            </p:cNvPicPr>
            <p:nvPr/>
          </p:nvPicPr>
          <p:blipFill>
            <a:blip r:embed="rId3" cstate="print"/>
            <a:srcRect/>
            <a:stretch>
              <a:fillRect/>
            </a:stretch>
          </p:blipFill>
          <p:spPr bwMode="auto">
            <a:xfrm>
              <a:off x="4731375" y="1677030"/>
              <a:ext cx="360000" cy="286209"/>
            </a:xfrm>
            <a:prstGeom prst="rect">
              <a:avLst/>
            </a:prstGeom>
            <a:noFill/>
            <a:ln w="9525">
              <a:noFill/>
              <a:miter lim="800000"/>
              <a:headEnd/>
              <a:tailEnd/>
            </a:ln>
          </p:spPr>
        </p:pic>
      </p:grpSp>
      <p:graphicFrame>
        <p:nvGraphicFramePr>
          <p:cNvPr id="117765" name="Object 5"/>
          <p:cNvGraphicFramePr>
            <a:graphicFrameLocks noChangeAspect="1"/>
          </p:cNvGraphicFramePr>
          <p:nvPr/>
        </p:nvGraphicFramePr>
        <p:xfrm>
          <a:off x="3551238" y="2460816"/>
          <a:ext cx="4228782" cy="1808270"/>
        </p:xfrm>
        <a:graphic>
          <a:graphicData uri="http://schemas.openxmlformats.org/presentationml/2006/ole">
            <mc:AlternateContent xmlns:mc="http://schemas.openxmlformats.org/markup-compatibility/2006">
              <mc:Choice xmlns:v="urn:schemas-microsoft-com:vml" Requires="v">
                <p:oleObj spid="_x0000_s10264" name="Visio" r:id="rId4" imgW="2552700" imgH="1104900" progId="Visio.Drawing.11">
                  <p:embed/>
                </p:oleObj>
              </mc:Choice>
              <mc:Fallback>
                <p:oleObj name="Visio" r:id="rId4" imgW="2552700" imgH="1104900" progId="Visio.Drawing.11">
                  <p:embed/>
                  <p:pic>
                    <p:nvPicPr>
                      <p:cNvPr id="0" name="Object 5"/>
                      <p:cNvPicPr>
                        <a:picLocks noChangeAspect="1" noChangeArrowheads="1"/>
                      </p:cNvPicPr>
                      <p:nvPr/>
                    </p:nvPicPr>
                    <p:blipFill>
                      <a:blip r:embed="rId5"/>
                      <a:srcRect/>
                      <a:stretch>
                        <a:fillRect/>
                      </a:stretch>
                    </p:blipFill>
                    <p:spPr bwMode="auto">
                      <a:xfrm>
                        <a:off x="3551238" y="2460816"/>
                        <a:ext cx="4228782" cy="1808270"/>
                      </a:xfrm>
                      <a:prstGeom prst="rect">
                        <a:avLst/>
                      </a:prstGeom>
                      <a:solidFill>
                        <a:srgbClr val="FFFFFF"/>
                      </a:solidFill>
                    </p:spPr>
                  </p:pic>
                </p:oleObj>
              </mc:Fallback>
            </mc:AlternateContent>
          </a:graphicData>
        </a:graphic>
      </p:graphicFrame>
      <p:sp>
        <p:nvSpPr>
          <p:cNvPr id="46" name="圆角矩形 45"/>
          <p:cNvSpPr/>
          <p:nvPr/>
        </p:nvSpPr>
        <p:spPr>
          <a:xfrm>
            <a:off x="739140" y="4386482"/>
            <a:ext cx="7414260" cy="734158"/>
          </a:xfrm>
          <a:prstGeom prst="roundRect">
            <a:avLst/>
          </a:prstGeom>
          <a:solidFill>
            <a:srgbClr val="FFFF00"/>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该电路在时钟脉冲作用下，状态从</a:t>
            </a:r>
            <a:r>
              <a:rPr kumimoji="1"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11</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10</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01</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00</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按照减</a:t>
            </a:r>
            <a:r>
              <a:rPr kumimoji="1"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规律循环变化，当状态为</a:t>
            </a:r>
            <a:r>
              <a:rPr kumimoji="1"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11</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a:t>
            </a:r>
            <a:r>
              <a:rPr kumimoji="1"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Z</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输出逻辑</a:t>
            </a:r>
            <a:r>
              <a:rPr kumimoji="1"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，因此该电路是一个</a:t>
            </a:r>
            <a:r>
              <a:rPr kumimoji="1"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位二进制减法计数器，</a:t>
            </a:r>
            <a:r>
              <a:rPr kumimoji="1"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Z</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是借位信号。 </a:t>
            </a:r>
            <a:endParaRPr lang="zh-CN" altLang="en-US" sz="1600" dirty="0"/>
          </a:p>
        </p:txBody>
      </p:sp>
      <p:grpSp>
        <p:nvGrpSpPr>
          <p:cNvPr id="17" name="组合 16"/>
          <p:cNvGrpSpPr/>
          <p:nvPr/>
        </p:nvGrpSpPr>
        <p:grpSpPr>
          <a:xfrm>
            <a:off x="4847669" y="803910"/>
            <a:ext cx="4087434" cy="1425366"/>
            <a:chOff x="4847669" y="803910"/>
            <a:chExt cx="4087434" cy="1425366"/>
          </a:xfrm>
        </p:grpSpPr>
        <p:sp>
          <p:nvSpPr>
            <p:cNvPr id="18" name="AutoShape 21"/>
            <p:cNvSpPr>
              <a:spLocks noChangeArrowheads="1"/>
            </p:cNvSpPr>
            <p:nvPr/>
          </p:nvSpPr>
          <p:spPr bwMode="auto">
            <a:xfrm>
              <a:off x="4847669" y="803910"/>
              <a:ext cx="4087434" cy="1425366"/>
            </a:xfrm>
            <a:prstGeom prst="roundRect">
              <a:avLst>
                <a:gd name="adj" fmla="val 2731"/>
              </a:avLst>
            </a:prstGeom>
            <a:solidFill>
              <a:srgbClr val="FFFFFF"/>
            </a:solidFill>
            <a:ln w="9525">
              <a:solidFill>
                <a:schemeClr val="tx1"/>
              </a:solidFill>
              <a:miter lim="800000"/>
            </a:ln>
          </p:spPr>
          <p:txBody>
            <a:bodyPr wrap="none" anchor="ctr"/>
            <a:lstStyle/>
            <a:p>
              <a:pPr algn="ctr"/>
              <a:endParaRPr lang="en-US" altLang="zh-CN" sz="2000">
                <a:solidFill>
                  <a:srgbClr val="000000"/>
                </a:solidFill>
              </a:endParaRPr>
            </a:p>
          </p:txBody>
        </p:sp>
        <p:pic>
          <p:nvPicPr>
            <p:cNvPr id="19" name="图片 18"/>
            <p:cNvPicPr>
              <a:picLocks noChangeAspect="1"/>
            </p:cNvPicPr>
            <p:nvPr/>
          </p:nvPicPr>
          <p:blipFill>
            <a:blip r:embed="rId6"/>
            <a:stretch>
              <a:fillRect/>
            </a:stretch>
          </p:blipFill>
          <p:spPr>
            <a:xfrm>
              <a:off x="4862398" y="822304"/>
              <a:ext cx="4036798" cy="1323826"/>
            </a:xfrm>
            <a:prstGeom prst="rect">
              <a:avLst/>
            </a:prstGeom>
          </p:spPr>
        </p:pic>
      </p:grpSp>
      <p:cxnSp>
        <p:nvCxnSpPr>
          <p:cNvPr id="20" name="直接连接符 19"/>
          <p:cNvCxnSpPr/>
          <p:nvPr/>
        </p:nvCxnSpPr>
        <p:spPr>
          <a:xfrm>
            <a:off x="5206694" y="1486665"/>
            <a:ext cx="504000" cy="0"/>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grpSp>
        <p:nvGrpSpPr>
          <p:cNvPr id="31" name="组合 30"/>
          <p:cNvGrpSpPr/>
          <p:nvPr/>
        </p:nvGrpSpPr>
        <p:grpSpPr>
          <a:xfrm>
            <a:off x="6327562" y="1210953"/>
            <a:ext cx="863032" cy="288000"/>
            <a:chOff x="1729740" y="2423160"/>
            <a:chExt cx="863032" cy="288000"/>
          </a:xfrm>
        </p:grpSpPr>
        <p:cxnSp>
          <p:nvCxnSpPr>
            <p:cNvPr id="32" name="直接连接符 31"/>
            <p:cNvCxnSpPr/>
            <p:nvPr/>
          </p:nvCxnSpPr>
          <p:spPr>
            <a:xfrm>
              <a:off x="1729740" y="2423160"/>
              <a:ext cx="396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2124772" y="2696424"/>
              <a:ext cx="468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rot="5400000">
              <a:off x="1980772" y="2567160"/>
              <a:ext cx="288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grpSp>
      <p:graphicFrame>
        <p:nvGraphicFramePr>
          <p:cNvPr id="35" name="Object 4"/>
          <p:cNvGraphicFramePr>
            <a:graphicFrameLocks noChangeAspect="1"/>
          </p:cNvGraphicFramePr>
          <p:nvPr/>
        </p:nvGraphicFramePr>
        <p:xfrm>
          <a:off x="587347" y="2407634"/>
          <a:ext cx="2492375" cy="1790700"/>
        </p:xfrm>
        <a:graphic>
          <a:graphicData uri="http://schemas.openxmlformats.org/presentationml/2006/ole">
            <mc:AlternateContent xmlns:mc="http://schemas.openxmlformats.org/markup-compatibility/2006">
              <mc:Choice xmlns:v="urn:schemas-microsoft-com:vml" Requires="v">
                <p:oleObj spid="_x0000_s10265" name="Visio" r:id="rId7" imgW="1314450" imgH="914400" progId="Visio.Drawing.11">
                  <p:embed/>
                </p:oleObj>
              </mc:Choice>
              <mc:Fallback>
                <p:oleObj name="Visio" r:id="rId7" imgW="1314450" imgH="914400" progId="Visio.Drawing.11">
                  <p:embed/>
                  <p:pic>
                    <p:nvPicPr>
                      <p:cNvPr id="0" name="Object 4"/>
                      <p:cNvPicPr>
                        <a:picLocks noChangeAspect="1" noChangeArrowheads="1"/>
                      </p:cNvPicPr>
                      <p:nvPr/>
                    </p:nvPicPr>
                    <p:blipFill>
                      <a:blip r:embed="rId8"/>
                      <a:srcRect/>
                      <a:stretch>
                        <a:fillRect/>
                      </a:stretch>
                    </p:blipFill>
                    <p:spPr bwMode="auto">
                      <a:xfrm>
                        <a:off x="587347" y="2407634"/>
                        <a:ext cx="2492375" cy="1790700"/>
                      </a:xfrm>
                      <a:prstGeom prst="rect">
                        <a:avLst/>
                      </a:prstGeom>
                      <a:solidFill>
                        <a:srgbClr val="FFFFFF"/>
                      </a:solidFill>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di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1000"/>
                                        <p:tgtEl>
                                          <p:spTgt spid="39"/>
                                        </p:tgtEl>
                                      </p:cBhvr>
                                    </p:animEffect>
                                    <p:anim calcmode="lin" valueType="num">
                                      <p:cBhvr>
                                        <p:cTn id="8" dur="1000" fill="hold"/>
                                        <p:tgtEl>
                                          <p:spTgt spid="39"/>
                                        </p:tgtEl>
                                        <p:attrNameLst>
                                          <p:attrName>ppt_x</p:attrName>
                                        </p:attrNameLst>
                                      </p:cBhvr>
                                      <p:tavLst>
                                        <p:tav tm="0">
                                          <p:val>
                                            <p:strVal val="#ppt_x"/>
                                          </p:val>
                                        </p:tav>
                                        <p:tav tm="100000">
                                          <p:val>
                                            <p:strVal val="#ppt_x"/>
                                          </p:val>
                                        </p:tav>
                                      </p:tavLst>
                                    </p:anim>
                                    <p:anim calcmode="lin" valueType="num">
                                      <p:cBhvr>
                                        <p:cTn id="9" dur="1000" fill="hold"/>
                                        <p:tgtEl>
                                          <p:spTgt spid="3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1000"/>
                                        <p:tgtEl>
                                          <p:spTgt spid="35"/>
                                        </p:tgtEl>
                                      </p:cBhvr>
                                    </p:animEffect>
                                    <p:anim calcmode="lin" valueType="num">
                                      <p:cBhvr>
                                        <p:cTn id="13" dur="1000" fill="hold"/>
                                        <p:tgtEl>
                                          <p:spTgt spid="35"/>
                                        </p:tgtEl>
                                        <p:attrNameLst>
                                          <p:attrName>ppt_x</p:attrName>
                                        </p:attrNameLst>
                                      </p:cBhvr>
                                      <p:tavLst>
                                        <p:tav tm="0">
                                          <p:val>
                                            <p:strVal val="#ppt_x"/>
                                          </p:val>
                                        </p:tav>
                                        <p:tav tm="100000">
                                          <p:val>
                                            <p:strVal val="#ppt_x"/>
                                          </p:val>
                                        </p:tav>
                                      </p:tavLst>
                                    </p:anim>
                                    <p:anim calcmode="lin" valueType="num">
                                      <p:cBhvr>
                                        <p:cTn id="14" dur="1000" fill="hold"/>
                                        <p:tgtEl>
                                          <p:spTgt spid="3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7765"/>
                                        </p:tgtEl>
                                        <p:attrNameLst>
                                          <p:attrName>style.visibility</p:attrName>
                                        </p:attrNameLst>
                                      </p:cBhvr>
                                      <p:to>
                                        <p:strVal val="visible"/>
                                      </p:to>
                                    </p:set>
                                    <p:animEffect transition="in" filter="fade">
                                      <p:cBhvr>
                                        <p:cTn id="17" dur="1000"/>
                                        <p:tgtEl>
                                          <p:spTgt spid="117765"/>
                                        </p:tgtEl>
                                      </p:cBhvr>
                                    </p:animEffect>
                                    <p:anim calcmode="lin" valueType="num">
                                      <p:cBhvr>
                                        <p:cTn id="18" dur="1000" fill="hold"/>
                                        <p:tgtEl>
                                          <p:spTgt spid="117765"/>
                                        </p:tgtEl>
                                        <p:attrNameLst>
                                          <p:attrName>ppt_x</p:attrName>
                                        </p:attrNameLst>
                                      </p:cBhvr>
                                      <p:tavLst>
                                        <p:tav tm="0">
                                          <p:val>
                                            <p:strVal val="#ppt_x"/>
                                          </p:val>
                                        </p:tav>
                                        <p:tav tm="100000">
                                          <p:val>
                                            <p:strVal val="#ppt_x"/>
                                          </p:val>
                                        </p:tav>
                                      </p:tavLst>
                                    </p:anim>
                                    <p:anim calcmode="lin" valueType="num">
                                      <p:cBhvr>
                                        <p:cTn id="19" dur="1000" fill="hold"/>
                                        <p:tgtEl>
                                          <p:spTgt spid="117765"/>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42" presetClass="entr" presetSubtype="0" fill="hold" grpId="0" nodeType="afterEffect">
                                  <p:stCondLst>
                                    <p:cond delay="0"/>
                                  </p:stCondLst>
                                  <p:childTnLst>
                                    <p:set>
                                      <p:cBhvr>
                                        <p:cTn id="22" dur="1" fill="hold">
                                          <p:stCondLst>
                                            <p:cond delay="0"/>
                                          </p:stCondLst>
                                        </p:cTn>
                                        <p:tgtEl>
                                          <p:spTgt spid="46"/>
                                        </p:tgtEl>
                                        <p:attrNameLst>
                                          <p:attrName>style.visibility</p:attrName>
                                        </p:attrNameLst>
                                      </p:cBhvr>
                                      <p:to>
                                        <p:strVal val="visible"/>
                                      </p:to>
                                    </p:set>
                                    <p:animEffect transition="in" filter="fade">
                                      <p:cBhvr>
                                        <p:cTn id="23" dur="1000"/>
                                        <p:tgtEl>
                                          <p:spTgt spid="46"/>
                                        </p:tgtEl>
                                      </p:cBhvr>
                                    </p:animEffect>
                                    <p:anim calcmode="lin" valueType="num">
                                      <p:cBhvr>
                                        <p:cTn id="24" dur="1000" fill="hold"/>
                                        <p:tgtEl>
                                          <p:spTgt spid="46"/>
                                        </p:tgtEl>
                                        <p:attrNameLst>
                                          <p:attrName>ppt_x</p:attrName>
                                        </p:attrNameLst>
                                      </p:cBhvr>
                                      <p:tavLst>
                                        <p:tav tm="0">
                                          <p:val>
                                            <p:strVal val="#ppt_x"/>
                                          </p:val>
                                        </p:tav>
                                        <p:tav tm="100000">
                                          <p:val>
                                            <p:strVal val="#ppt_x"/>
                                          </p:val>
                                        </p:tav>
                                      </p:tavLst>
                                    </p:anim>
                                    <p:anim calcmode="lin" valueType="num">
                                      <p:cBhvr>
                                        <p:cTn id="25"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01090" y="1824567"/>
            <a:ext cx="6713220" cy="2490123"/>
            <a:chOff x="1101090" y="1824567"/>
            <a:chExt cx="6713220" cy="2490123"/>
          </a:xfrm>
        </p:grpSpPr>
        <p:grpSp>
          <p:nvGrpSpPr>
            <p:cNvPr id="43" name="组合 42"/>
            <p:cNvGrpSpPr/>
            <p:nvPr/>
          </p:nvGrpSpPr>
          <p:grpSpPr>
            <a:xfrm>
              <a:off x="1101090" y="1824567"/>
              <a:ext cx="1371600" cy="760000"/>
              <a:chOff x="910590" y="1565910"/>
              <a:chExt cx="1371600" cy="684000"/>
            </a:xfrm>
          </p:grpSpPr>
          <p:grpSp>
            <p:nvGrpSpPr>
              <p:cNvPr id="36" name="组合 35"/>
              <p:cNvGrpSpPr/>
              <p:nvPr/>
            </p:nvGrpSpPr>
            <p:grpSpPr>
              <a:xfrm>
                <a:off x="910590" y="1699260"/>
                <a:ext cx="1371600" cy="99060"/>
                <a:chOff x="910590" y="1699260"/>
                <a:chExt cx="1371600" cy="99060"/>
              </a:xfrm>
            </p:grpSpPr>
            <p:cxnSp>
              <p:nvCxnSpPr>
                <p:cNvPr id="29" name="直接连接符 2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5" name="直接连接符 34"/>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37" name="组合 36"/>
              <p:cNvGrpSpPr/>
              <p:nvPr/>
            </p:nvGrpSpPr>
            <p:grpSpPr>
              <a:xfrm rot="5400000">
                <a:off x="728610" y="1866000"/>
                <a:ext cx="684000" cy="83820"/>
                <a:chOff x="910590" y="1699260"/>
                <a:chExt cx="1371600" cy="99060"/>
              </a:xfrm>
            </p:grpSpPr>
            <p:cxnSp>
              <p:nvCxnSpPr>
                <p:cNvPr id="38" name="直接连接符 3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2" name="直接连接符 4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19" name="组合 18"/>
            <p:cNvGrpSpPr/>
            <p:nvPr/>
          </p:nvGrpSpPr>
          <p:grpSpPr>
            <a:xfrm>
              <a:off x="1101090" y="1824567"/>
              <a:ext cx="6713220" cy="2490123"/>
              <a:chOff x="1101090" y="1824567"/>
              <a:chExt cx="6713220" cy="2490123"/>
            </a:xfrm>
          </p:grpSpPr>
          <p:grpSp>
            <p:nvGrpSpPr>
              <p:cNvPr id="20" name="组合 19"/>
              <p:cNvGrpSpPr/>
              <p:nvPr/>
            </p:nvGrpSpPr>
            <p:grpSpPr>
              <a:xfrm>
                <a:off x="1101090" y="1824567"/>
                <a:ext cx="1371600" cy="760000"/>
                <a:chOff x="910590" y="1565910"/>
                <a:chExt cx="1371600" cy="684000"/>
              </a:xfrm>
            </p:grpSpPr>
            <p:grpSp>
              <p:nvGrpSpPr>
                <p:cNvPr id="32" name="组合 31"/>
                <p:cNvGrpSpPr/>
                <p:nvPr/>
              </p:nvGrpSpPr>
              <p:grpSpPr>
                <a:xfrm>
                  <a:off x="910590" y="1699260"/>
                  <a:ext cx="1371600" cy="99060"/>
                  <a:chOff x="910590" y="1699260"/>
                  <a:chExt cx="1371600" cy="99060"/>
                </a:xfrm>
              </p:grpSpPr>
              <p:cxnSp>
                <p:nvCxnSpPr>
                  <p:cNvPr id="40" name="直接连接符 3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1" name="直接连接符 4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33" name="组合 32"/>
                <p:cNvGrpSpPr/>
                <p:nvPr/>
              </p:nvGrpSpPr>
              <p:grpSpPr>
                <a:xfrm rot="5400000">
                  <a:off x="728610" y="1866000"/>
                  <a:ext cx="684000" cy="83820"/>
                  <a:chOff x="910590" y="1699260"/>
                  <a:chExt cx="1371600" cy="99060"/>
                </a:xfrm>
              </p:grpSpPr>
              <p:cxnSp>
                <p:nvCxnSpPr>
                  <p:cNvPr id="34" name="直接连接符 33"/>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9" name="直接连接符 38"/>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21" name="组合 20"/>
              <p:cNvGrpSpPr/>
              <p:nvPr/>
            </p:nvGrpSpPr>
            <p:grpSpPr>
              <a:xfrm rot="10800000">
                <a:off x="6442710" y="3554691"/>
                <a:ext cx="1371600" cy="759999"/>
                <a:chOff x="910590" y="1189901"/>
                <a:chExt cx="1371600" cy="683999"/>
              </a:xfrm>
            </p:grpSpPr>
            <p:grpSp>
              <p:nvGrpSpPr>
                <p:cNvPr id="24" name="组合 35"/>
                <p:cNvGrpSpPr/>
                <p:nvPr/>
              </p:nvGrpSpPr>
              <p:grpSpPr>
                <a:xfrm>
                  <a:off x="910590" y="1323246"/>
                  <a:ext cx="1371600" cy="99062"/>
                  <a:chOff x="910590" y="1323246"/>
                  <a:chExt cx="1371600" cy="99062"/>
                </a:xfrm>
              </p:grpSpPr>
              <p:cxnSp>
                <p:nvCxnSpPr>
                  <p:cNvPr id="30" name="直接连接符 29"/>
                  <p:cNvCxnSpPr/>
                  <p:nvPr/>
                </p:nvCxnSpPr>
                <p:spPr>
                  <a:xfrm>
                    <a:off x="910590" y="1323246"/>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1" name="直接连接符 30"/>
                  <p:cNvCxnSpPr/>
                  <p:nvPr/>
                </p:nvCxnSpPr>
                <p:spPr>
                  <a:xfrm>
                    <a:off x="910590" y="1422308"/>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6" name="组合 36"/>
                <p:cNvGrpSpPr/>
                <p:nvPr/>
              </p:nvGrpSpPr>
              <p:grpSpPr>
                <a:xfrm rot="5400000">
                  <a:off x="728612" y="1489991"/>
                  <a:ext cx="683999" cy="83819"/>
                  <a:chOff x="156592" y="1699253"/>
                  <a:chExt cx="1371604" cy="99058"/>
                </a:xfrm>
              </p:grpSpPr>
              <p:cxnSp>
                <p:nvCxnSpPr>
                  <p:cNvPr id="27" name="直接连接符 26"/>
                  <p:cNvCxnSpPr/>
                  <p:nvPr/>
                </p:nvCxnSpPr>
                <p:spPr>
                  <a:xfrm>
                    <a:off x="156595" y="1699253"/>
                    <a:ext cx="1371601"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8" name="直接连接符 27"/>
                  <p:cNvCxnSpPr/>
                  <p:nvPr/>
                </p:nvCxnSpPr>
                <p:spPr>
                  <a:xfrm>
                    <a:off x="156592" y="1798311"/>
                    <a:ext cx="1371598"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22" name="文本框 6"/>
              <p:cNvSpPr txBox="1"/>
              <p:nvPr/>
            </p:nvSpPr>
            <p:spPr>
              <a:xfrm>
                <a:off x="1393721" y="2085460"/>
                <a:ext cx="6150077" cy="708592"/>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6</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时序逻辑电路</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
            <p:nvSpPr>
              <p:cNvPr id="23" name="矩形 22"/>
              <p:cNvSpPr/>
              <p:nvPr/>
            </p:nvSpPr>
            <p:spPr>
              <a:xfrm>
                <a:off x="1896629" y="2883545"/>
                <a:ext cx="5144259" cy="461665"/>
              </a:xfrm>
              <a:prstGeom prst="rect">
                <a:avLst/>
              </a:prstGeom>
            </p:spPr>
            <p:txBody>
              <a:bodyPr wrap="square">
                <a:spAutoFit/>
              </a:bodyPr>
              <a:lstStyle/>
              <a:p>
                <a:pPr algn="ctr">
                  <a:spcBef>
                    <a:spcPts val="1200"/>
                  </a:spcBef>
                </a:pPr>
                <a:r>
                  <a:rPr lang="en-US" altLang="zh-CN"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6.3  </a:t>
                </a:r>
                <a:r>
                  <a:rPr lang="zh-CN" altLang="en-US"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同步时序逻辑电路设计</a:t>
                </a:r>
                <a:endParaRPr lang="en-US" altLang="zh-CN"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392432" y="699229"/>
            <a:ext cx="4653026" cy="420971"/>
            <a:chOff x="670560" y="892917"/>
            <a:chExt cx="4653026" cy="420971"/>
          </a:xfrm>
        </p:grpSpPr>
        <p:sp>
          <p:nvSpPr>
            <p:cNvPr id="22" name="矩形 21"/>
            <p:cNvSpPr/>
            <p:nvPr/>
          </p:nvSpPr>
          <p:spPr>
            <a:xfrm>
              <a:off x="1035233" y="913778"/>
              <a:ext cx="4288353"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同步时序逻辑电路设计的目的与步骤</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3"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9" name="组合 8"/>
          <p:cNvGrpSpPr/>
          <p:nvPr/>
        </p:nvGrpSpPr>
        <p:grpSpPr>
          <a:xfrm>
            <a:off x="647700" y="1281774"/>
            <a:ext cx="7620001" cy="652762"/>
            <a:chOff x="647700" y="1281774"/>
            <a:chExt cx="7620001" cy="652762"/>
          </a:xfrm>
        </p:grpSpPr>
        <p:sp>
          <p:nvSpPr>
            <p:cNvPr id="18" name="燕尾形 17"/>
            <p:cNvSpPr/>
            <p:nvPr/>
          </p:nvSpPr>
          <p:spPr>
            <a:xfrm>
              <a:off x="1633537" y="1281774"/>
              <a:ext cx="6634164" cy="648000"/>
            </a:xfrm>
            <a:prstGeom prst="chevron">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700" dirty="0">
                  <a:solidFill>
                    <a:schemeClr val="tx1"/>
                  </a:solidFill>
                  <a:latin typeface="黑体" panose="02010609060101010101" pitchFamily="49" charset="-122"/>
                  <a:ea typeface="黑体" panose="02010609060101010101" pitchFamily="49" charset="-122"/>
                </a:rPr>
                <a:t>同步时序逻辑电路的设计是</a:t>
              </a:r>
              <a:r>
                <a:rPr lang="zh-CN" altLang="en-US" sz="1700" dirty="0">
                  <a:solidFill>
                    <a:srgbClr val="FF00FF"/>
                  </a:solidFill>
                  <a:latin typeface="黑体" panose="02010609060101010101" pitchFamily="49" charset="-122"/>
                  <a:ea typeface="黑体" panose="02010609060101010101" pitchFamily="49" charset="-122"/>
                </a:rPr>
                <a:t>分析的逆过程</a:t>
              </a:r>
              <a:r>
                <a:rPr lang="en-US" altLang="zh-CN" sz="1700" dirty="0">
                  <a:solidFill>
                    <a:schemeClr val="tx1"/>
                  </a:solidFill>
                  <a:latin typeface="黑体" panose="02010609060101010101" pitchFamily="49" charset="-122"/>
                  <a:ea typeface="黑体" panose="02010609060101010101" pitchFamily="49" charset="-122"/>
                </a:rPr>
                <a:t>,</a:t>
              </a:r>
              <a:r>
                <a:rPr lang="zh-CN" altLang="en-US" sz="1700" dirty="0">
                  <a:solidFill>
                    <a:schemeClr val="tx1"/>
                  </a:solidFill>
                  <a:latin typeface="黑体" panose="02010609060101010101" pitchFamily="49" charset="-122"/>
                  <a:ea typeface="黑体" panose="02010609060101010101" pitchFamily="49" charset="-122"/>
                </a:rPr>
                <a:t>其目的是根据实际逻辑问题的要求，设计出能实现给定逻辑功能的电路。</a:t>
              </a:r>
              <a:endParaRPr lang="zh-CN" altLang="en-US" sz="1700" dirty="0">
                <a:solidFill>
                  <a:schemeClr val="tx1"/>
                </a:solidFill>
              </a:endParaRPr>
            </a:p>
          </p:txBody>
        </p:sp>
        <p:grpSp>
          <p:nvGrpSpPr>
            <p:cNvPr id="25" name="组合 24"/>
            <p:cNvGrpSpPr/>
            <p:nvPr/>
          </p:nvGrpSpPr>
          <p:grpSpPr>
            <a:xfrm>
              <a:off x="647700" y="1286536"/>
              <a:ext cx="1220063" cy="648000"/>
              <a:chOff x="647700" y="1785937"/>
              <a:chExt cx="1220063" cy="648000"/>
            </a:xfrm>
          </p:grpSpPr>
          <p:sp>
            <p:nvSpPr>
              <p:cNvPr id="30" name="五边形 29"/>
              <p:cNvSpPr/>
              <p:nvPr/>
            </p:nvSpPr>
            <p:spPr>
              <a:xfrm>
                <a:off x="647700" y="1785937"/>
                <a:ext cx="1220063" cy="648000"/>
              </a:xfrm>
              <a:prstGeom prst="homePlat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b="1" dirty="0">
                    <a:solidFill>
                      <a:srgbClr val="0000FF"/>
                    </a:solidFill>
                    <a:latin typeface="微软雅黑" panose="020B0503020204020204" pitchFamily="34" charset="-122"/>
                    <a:ea typeface="微软雅黑" panose="020B0503020204020204" pitchFamily="34" charset="-122"/>
                  </a:rPr>
                  <a:t>目</a:t>
                </a:r>
                <a:endParaRPr lang="en-US" altLang="zh-CN" b="1" dirty="0">
                  <a:solidFill>
                    <a:srgbClr val="0000FF"/>
                  </a:solidFill>
                  <a:latin typeface="微软雅黑" panose="020B0503020204020204" pitchFamily="34" charset="-122"/>
                  <a:ea typeface="微软雅黑" panose="020B0503020204020204" pitchFamily="34" charset="-122"/>
                </a:endParaRPr>
              </a:p>
              <a:p>
                <a:pPr algn="r"/>
                <a:r>
                  <a:rPr lang="zh-CN" altLang="en-US" b="1" dirty="0">
                    <a:solidFill>
                      <a:srgbClr val="0000FF"/>
                    </a:solidFill>
                    <a:latin typeface="微软雅黑" panose="020B0503020204020204" pitchFamily="34" charset="-122"/>
                    <a:ea typeface="微软雅黑" panose="020B0503020204020204" pitchFamily="34" charset="-122"/>
                  </a:rPr>
                  <a:t>的</a:t>
                </a:r>
                <a:endParaRPr lang="zh-CN" altLang="en-US" b="1" dirty="0">
                  <a:solidFill>
                    <a:srgbClr val="0000FF"/>
                  </a:solidFill>
                </a:endParaRPr>
              </a:p>
            </p:txBody>
          </p:sp>
          <p:pic>
            <p:nvPicPr>
              <p:cNvPr id="37" name="Picture 1"/>
              <p:cNvPicPr>
                <a:picLocks noChangeAspect="1" noChangeArrowheads="1"/>
              </p:cNvPicPr>
              <p:nvPr/>
            </p:nvPicPr>
            <p:blipFill>
              <a:blip r:embed="rId2" cstate="print"/>
              <a:srcRect/>
              <a:stretch>
                <a:fillRect/>
              </a:stretch>
            </p:blipFill>
            <p:spPr bwMode="auto">
              <a:xfrm>
                <a:off x="685824" y="1809754"/>
                <a:ext cx="633386" cy="590548"/>
              </a:xfrm>
              <a:prstGeom prst="rect">
                <a:avLst/>
              </a:prstGeom>
              <a:noFill/>
              <a:ln w="9525">
                <a:noFill/>
                <a:miter lim="800000"/>
                <a:headEnd/>
                <a:tailEnd/>
              </a:ln>
            </p:spPr>
          </p:pic>
        </p:grpSp>
      </p:grpSp>
      <p:grpSp>
        <p:nvGrpSpPr>
          <p:cNvPr id="38" name="组合 37"/>
          <p:cNvGrpSpPr/>
          <p:nvPr/>
        </p:nvGrpSpPr>
        <p:grpSpPr>
          <a:xfrm>
            <a:off x="647700" y="3094472"/>
            <a:ext cx="1220063" cy="648000"/>
            <a:chOff x="652463" y="2557463"/>
            <a:chExt cx="1220063" cy="648000"/>
          </a:xfrm>
        </p:grpSpPr>
        <p:sp>
          <p:nvSpPr>
            <p:cNvPr id="39" name="五边形 38"/>
            <p:cNvSpPr/>
            <p:nvPr/>
          </p:nvSpPr>
          <p:spPr>
            <a:xfrm>
              <a:off x="652463" y="2557463"/>
              <a:ext cx="1220063" cy="648000"/>
            </a:xfrm>
            <a:prstGeom prst="homePlat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b="1" dirty="0">
                  <a:solidFill>
                    <a:srgbClr val="0000FF"/>
                  </a:solidFill>
                  <a:latin typeface="微软雅黑" panose="020B0503020204020204" pitchFamily="34" charset="-122"/>
                  <a:ea typeface="微软雅黑" panose="020B0503020204020204" pitchFamily="34" charset="-122"/>
                </a:rPr>
                <a:t>步</a:t>
              </a:r>
              <a:endParaRPr lang="en-US" altLang="zh-CN" b="1" dirty="0">
                <a:solidFill>
                  <a:srgbClr val="0000FF"/>
                </a:solidFill>
                <a:latin typeface="微软雅黑" panose="020B0503020204020204" pitchFamily="34" charset="-122"/>
                <a:ea typeface="微软雅黑" panose="020B0503020204020204" pitchFamily="34" charset="-122"/>
              </a:endParaRPr>
            </a:p>
            <a:p>
              <a:pPr algn="r"/>
              <a:r>
                <a:rPr lang="zh-CN" altLang="en-US" b="1" dirty="0">
                  <a:solidFill>
                    <a:srgbClr val="0000FF"/>
                  </a:solidFill>
                  <a:latin typeface="微软雅黑" panose="020B0503020204020204" pitchFamily="34" charset="-122"/>
                  <a:ea typeface="微软雅黑" panose="020B0503020204020204" pitchFamily="34" charset="-122"/>
                </a:rPr>
                <a:t>骤</a:t>
              </a:r>
              <a:endParaRPr lang="zh-CN" altLang="en-US" b="1" dirty="0">
                <a:solidFill>
                  <a:srgbClr val="0000FF"/>
                </a:solidFill>
                <a:latin typeface="微软雅黑" panose="020B0503020204020204" pitchFamily="34" charset="-122"/>
                <a:ea typeface="微软雅黑" panose="020B0503020204020204" pitchFamily="34" charset="-122"/>
              </a:endParaRPr>
            </a:p>
          </p:txBody>
        </p:sp>
        <p:pic>
          <p:nvPicPr>
            <p:cNvPr id="40" name="Picture 4"/>
            <p:cNvPicPr>
              <a:picLocks noChangeAspect="1" noChangeArrowheads="1"/>
            </p:cNvPicPr>
            <p:nvPr/>
          </p:nvPicPr>
          <p:blipFill>
            <a:blip r:embed="rId3" cstate="print"/>
            <a:srcRect/>
            <a:stretch>
              <a:fillRect/>
            </a:stretch>
          </p:blipFill>
          <p:spPr bwMode="auto">
            <a:xfrm>
              <a:off x="714378" y="2581272"/>
              <a:ext cx="573639" cy="581025"/>
            </a:xfrm>
            <a:prstGeom prst="rect">
              <a:avLst/>
            </a:prstGeom>
            <a:noFill/>
            <a:ln w="9525">
              <a:noFill/>
              <a:miter lim="800000"/>
              <a:headEnd/>
              <a:tailEnd/>
            </a:ln>
          </p:spPr>
        </p:pic>
      </p:grpSp>
      <p:sp>
        <p:nvSpPr>
          <p:cNvPr id="24" name="五边形 23"/>
          <p:cNvSpPr/>
          <p:nvPr/>
        </p:nvSpPr>
        <p:spPr>
          <a:xfrm>
            <a:off x="647700" y="3894408"/>
            <a:ext cx="1150293" cy="1008000"/>
          </a:xfrm>
          <a:prstGeom prst="homePlate">
            <a:avLst>
              <a:gd name="adj" fmla="val 38022"/>
            </a:avLst>
          </a:prstGeom>
          <a:solidFill>
            <a:schemeClr val="accent4"/>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待设计</a:t>
            </a:r>
            <a:endParaRPr lang="en-US" altLang="zh-CN" sz="1400" dirty="0">
              <a:solidFill>
                <a:schemeClr val="tx1"/>
              </a:solidFill>
              <a:latin typeface="微软雅黑" panose="020B0503020204020204" pitchFamily="34" charset="-122"/>
              <a:ea typeface="微软雅黑" panose="020B0503020204020204" pitchFamily="34" charset="-122"/>
            </a:endParaRPr>
          </a:p>
          <a:p>
            <a:pPr algn="ctr"/>
            <a:r>
              <a:rPr lang="zh-CN" altLang="en-US" sz="1400" dirty="0">
                <a:solidFill>
                  <a:schemeClr val="tx1"/>
                </a:solidFill>
                <a:latin typeface="微软雅黑" panose="020B0503020204020204" pitchFamily="34" charset="-122"/>
                <a:ea typeface="微软雅黑" panose="020B0503020204020204" pitchFamily="34" charset="-122"/>
              </a:rPr>
              <a:t>电路的</a:t>
            </a:r>
            <a:r>
              <a:rPr lang="zh-CN" altLang="zh-CN" sz="1400" dirty="0">
                <a:solidFill>
                  <a:schemeClr val="tx1"/>
                </a:solidFill>
                <a:latin typeface="微软雅黑" panose="020B0503020204020204" pitchFamily="34" charset="-122"/>
                <a:ea typeface="微软雅黑" panose="020B0503020204020204" pitchFamily="34" charset="-122"/>
              </a:rPr>
              <a:t>逻</a:t>
            </a:r>
            <a:endParaRPr lang="en-US" altLang="zh-CN" sz="1400" dirty="0">
              <a:solidFill>
                <a:schemeClr val="tx1"/>
              </a:solidFill>
              <a:latin typeface="微软雅黑" panose="020B0503020204020204" pitchFamily="34" charset="-122"/>
              <a:ea typeface="微软雅黑" panose="020B0503020204020204" pitchFamily="34" charset="-122"/>
            </a:endParaRPr>
          </a:p>
          <a:p>
            <a:pPr algn="ctr"/>
            <a:r>
              <a:rPr lang="zh-CN" altLang="zh-CN" sz="1400" dirty="0">
                <a:solidFill>
                  <a:schemeClr val="tx1"/>
                </a:solidFill>
                <a:latin typeface="微软雅黑" panose="020B0503020204020204" pitchFamily="34" charset="-122"/>
                <a:ea typeface="微软雅黑" panose="020B0503020204020204" pitchFamily="34" charset="-122"/>
              </a:rPr>
              <a:t>辑功能</a:t>
            </a:r>
            <a:endParaRPr lang="zh-CN" altLang="en-US" sz="1400" b="1" dirty="0">
              <a:solidFill>
                <a:srgbClr val="0000FF"/>
              </a:solidFill>
            </a:endParaRPr>
          </a:p>
        </p:txBody>
      </p:sp>
      <p:sp>
        <p:nvSpPr>
          <p:cNvPr id="33" name="燕尾形 32"/>
          <p:cNvSpPr/>
          <p:nvPr/>
        </p:nvSpPr>
        <p:spPr>
          <a:xfrm>
            <a:off x="1437166" y="3894408"/>
            <a:ext cx="1326113" cy="1008000"/>
          </a:xfrm>
          <a:prstGeom prst="chevron">
            <a:avLst>
              <a:gd name="adj" fmla="val 37842"/>
            </a:avLst>
          </a:prstGeom>
          <a:solidFill>
            <a:srgbClr val="92D050"/>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dirty="0">
                <a:solidFill>
                  <a:schemeClr val="tx1"/>
                </a:solidFill>
                <a:latin typeface="微软雅黑" panose="020B0503020204020204" pitchFamily="34" charset="-122"/>
                <a:ea typeface="微软雅黑" panose="020B0503020204020204" pitchFamily="34" charset="-122"/>
              </a:rPr>
              <a:t>建立原始状态图</a:t>
            </a:r>
            <a:r>
              <a:rPr lang="en-US" altLang="zh-CN" sz="1400" dirty="0">
                <a:solidFill>
                  <a:schemeClr val="tx1"/>
                </a:solidFill>
                <a:latin typeface="微软雅黑" panose="020B0503020204020204" pitchFamily="34" charset="-122"/>
                <a:ea typeface="微软雅黑" panose="020B0503020204020204" pitchFamily="34" charset="-122"/>
              </a:rPr>
              <a:t>(</a:t>
            </a:r>
            <a:r>
              <a:rPr lang="zh-CN" altLang="zh-CN" sz="1400" dirty="0">
                <a:solidFill>
                  <a:schemeClr val="tx1"/>
                </a:solidFill>
                <a:latin typeface="微软雅黑" panose="020B0503020204020204" pitchFamily="34" charset="-122"/>
                <a:ea typeface="微软雅黑" panose="020B0503020204020204" pitchFamily="34" charset="-122"/>
              </a:rPr>
              <a:t>表</a:t>
            </a:r>
            <a:r>
              <a:rPr lang="en-US" altLang="zh-CN" sz="1400" dirty="0">
                <a:solidFill>
                  <a:schemeClr val="tx1"/>
                </a:solidFill>
                <a:latin typeface="微软雅黑" panose="020B0503020204020204" pitchFamily="34" charset="-122"/>
                <a:ea typeface="微软雅黑" panose="020B0503020204020204" pitchFamily="34" charset="-122"/>
              </a:rPr>
              <a:t>)</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34" name="燕尾形 33"/>
          <p:cNvSpPr/>
          <p:nvPr/>
        </p:nvSpPr>
        <p:spPr>
          <a:xfrm>
            <a:off x="2402452" y="3894408"/>
            <a:ext cx="1222908" cy="1008000"/>
          </a:xfrm>
          <a:prstGeom prst="chevron">
            <a:avLst>
              <a:gd name="adj" fmla="val 37668"/>
            </a:avLst>
          </a:prstGeom>
          <a:solidFill>
            <a:schemeClr val="accent1">
              <a:lumMod val="60000"/>
              <a:lumOff val="40000"/>
            </a:schemeClr>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状态</a:t>
            </a:r>
            <a:endParaRPr lang="en-US" altLang="zh-CN" sz="1400" dirty="0">
              <a:solidFill>
                <a:schemeClr val="tx1"/>
              </a:solidFill>
              <a:latin typeface="微软雅黑" panose="020B0503020204020204" pitchFamily="34" charset="-122"/>
              <a:ea typeface="微软雅黑" panose="020B0503020204020204" pitchFamily="34" charset="-122"/>
            </a:endParaRPr>
          </a:p>
          <a:p>
            <a:pPr algn="ctr"/>
            <a:r>
              <a:rPr lang="zh-CN" altLang="en-US" sz="1400" dirty="0">
                <a:solidFill>
                  <a:schemeClr val="tx1"/>
                </a:solidFill>
                <a:latin typeface="微软雅黑" panose="020B0503020204020204" pitchFamily="34" charset="-122"/>
                <a:ea typeface="微软雅黑" panose="020B0503020204020204" pitchFamily="34" charset="-122"/>
              </a:rPr>
              <a:t>化简</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35" name="燕尾形 34"/>
          <p:cNvSpPr/>
          <p:nvPr/>
        </p:nvSpPr>
        <p:spPr>
          <a:xfrm>
            <a:off x="3264533" y="3894408"/>
            <a:ext cx="1248296" cy="1008000"/>
          </a:xfrm>
          <a:prstGeom prst="chevron">
            <a:avLst>
              <a:gd name="adj" fmla="val 37243"/>
            </a:avLst>
          </a:prstGeom>
          <a:solidFill>
            <a:srgbClr val="FF66FF"/>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状态编码</a:t>
            </a:r>
            <a:r>
              <a:rPr lang="en-US" altLang="zh-CN" sz="1400" dirty="0">
                <a:solidFill>
                  <a:schemeClr val="tx1"/>
                </a:solidFill>
                <a:latin typeface="微软雅黑" panose="020B0503020204020204" pitchFamily="34" charset="-122"/>
                <a:ea typeface="微软雅黑" panose="020B0503020204020204" pitchFamily="34" charset="-122"/>
              </a:rPr>
              <a:t>/</a:t>
            </a:r>
            <a:r>
              <a:rPr lang="zh-CN" altLang="en-US" sz="1400" dirty="0">
                <a:solidFill>
                  <a:schemeClr val="tx1"/>
                </a:solidFill>
                <a:latin typeface="微软雅黑" panose="020B0503020204020204" pitchFamily="34" charset="-122"/>
                <a:ea typeface="微软雅黑" panose="020B0503020204020204" pitchFamily="34" charset="-122"/>
              </a:rPr>
              <a:t>分配</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36" name="燕尾形 35"/>
          <p:cNvSpPr/>
          <p:nvPr/>
        </p:nvSpPr>
        <p:spPr>
          <a:xfrm>
            <a:off x="4152002" y="3894408"/>
            <a:ext cx="1620000" cy="1008000"/>
          </a:xfrm>
          <a:prstGeom prst="chevron">
            <a:avLst>
              <a:gd name="adj" fmla="val 37243"/>
            </a:avLst>
          </a:prstGeom>
          <a:solidFill>
            <a:schemeClr val="accent2">
              <a:lumMod val="40000"/>
              <a:lumOff val="60000"/>
            </a:schemeClr>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选择触发器并确定数目</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41" name="燕尾形 40"/>
          <p:cNvSpPr/>
          <p:nvPr/>
        </p:nvSpPr>
        <p:spPr>
          <a:xfrm>
            <a:off x="5411175" y="3894408"/>
            <a:ext cx="1620000" cy="1008000"/>
          </a:xfrm>
          <a:prstGeom prst="chevron">
            <a:avLst>
              <a:gd name="adj" fmla="val 37243"/>
            </a:avLst>
          </a:prstGeom>
          <a:solidFill>
            <a:schemeClr val="accent6">
              <a:lumMod val="40000"/>
              <a:lumOff val="60000"/>
            </a:schemeClr>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dirty="0">
                <a:solidFill>
                  <a:schemeClr val="tx1"/>
                </a:solidFill>
                <a:latin typeface="微软雅黑" panose="020B0503020204020204" pitchFamily="34" charset="-122"/>
                <a:ea typeface="微软雅黑" panose="020B0503020204020204" pitchFamily="34" charset="-122"/>
              </a:rPr>
              <a:t>确定激励方程和输出方程</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42" name="燕尾形 41"/>
          <p:cNvSpPr/>
          <p:nvPr/>
        </p:nvSpPr>
        <p:spPr>
          <a:xfrm>
            <a:off x="6670347" y="3894408"/>
            <a:ext cx="1620000" cy="1008000"/>
          </a:xfrm>
          <a:prstGeom prst="chevron">
            <a:avLst>
              <a:gd name="adj" fmla="val 37086"/>
            </a:avLst>
          </a:prstGeom>
          <a:solidFill>
            <a:srgbClr val="66FFCC"/>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dirty="0">
                <a:solidFill>
                  <a:schemeClr val="tx1"/>
                </a:solidFill>
                <a:latin typeface="微软雅黑" panose="020B0503020204020204" pitchFamily="34" charset="-122"/>
                <a:ea typeface="微软雅黑" panose="020B0503020204020204" pitchFamily="34" charset="-122"/>
              </a:rPr>
              <a:t>画出逻辑图并检查自启动</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26" name="椭圆 25"/>
          <p:cNvSpPr/>
          <p:nvPr/>
        </p:nvSpPr>
        <p:spPr>
          <a:xfrm>
            <a:off x="1482356" y="4180085"/>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1</a:t>
            </a:r>
            <a:endParaRPr lang="zh-CN" altLang="en-US" sz="2000" b="1" dirty="0"/>
          </a:p>
        </p:txBody>
      </p:sp>
      <p:sp>
        <p:nvSpPr>
          <p:cNvPr id="27" name="椭圆 26"/>
          <p:cNvSpPr/>
          <p:nvPr/>
        </p:nvSpPr>
        <p:spPr>
          <a:xfrm>
            <a:off x="2466408" y="4180085"/>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2</a:t>
            </a:r>
            <a:endParaRPr lang="zh-CN" altLang="en-US" sz="2000" b="1" dirty="0"/>
          </a:p>
        </p:txBody>
      </p:sp>
      <p:sp>
        <p:nvSpPr>
          <p:cNvPr id="28" name="椭圆 27"/>
          <p:cNvSpPr/>
          <p:nvPr/>
        </p:nvSpPr>
        <p:spPr>
          <a:xfrm>
            <a:off x="3330463" y="4180085"/>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3</a:t>
            </a:r>
            <a:endParaRPr lang="zh-CN" altLang="en-US" sz="2000" b="1" dirty="0"/>
          </a:p>
        </p:txBody>
      </p:sp>
      <p:sp>
        <p:nvSpPr>
          <p:cNvPr id="29" name="椭圆 28"/>
          <p:cNvSpPr/>
          <p:nvPr/>
        </p:nvSpPr>
        <p:spPr>
          <a:xfrm>
            <a:off x="4277271" y="4180085"/>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4</a:t>
            </a:r>
            <a:endParaRPr lang="zh-CN" altLang="en-US" sz="2000" b="1" dirty="0"/>
          </a:p>
        </p:txBody>
      </p:sp>
      <p:sp>
        <p:nvSpPr>
          <p:cNvPr id="31" name="椭圆 30"/>
          <p:cNvSpPr/>
          <p:nvPr/>
        </p:nvSpPr>
        <p:spPr>
          <a:xfrm>
            <a:off x="5521986" y="4180085"/>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5</a:t>
            </a:r>
            <a:endParaRPr lang="zh-CN" altLang="en-US" sz="2000" b="1" dirty="0"/>
          </a:p>
        </p:txBody>
      </p:sp>
      <p:sp>
        <p:nvSpPr>
          <p:cNvPr id="32" name="椭圆 31"/>
          <p:cNvSpPr/>
          <p:nvPr/>
        </p:nvSpPr>
        <p:spPr>
          <a:xfrm>
            <a:off x="6738427" y="4180085"/>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6</a:t>
            </a:r>
            <a:endParaRPr lang="zh-CN" altLang="en-US" sz="2000" b="1" dirty="0"/>
          </a:p>
        </p:txBody>
      </p:sp>
      <p:grpSp>
        <p:nvGrpSpPr>
          <p:cNvPr id="10" name="组合 9"/>
          <p:cNvGrpSpPr/>
          <p:nvPr/>
        </p:nvGrpSpPr>
        <p:grpSpPr>
          <a:xfrm>
            <a:off x="2080349" y="2135897"/>
            <a:ext cx="4860135" cy="970495"/>
            <a:chOff x="2080349" y="2135897"/>
            <a:chExt cx="4860135" cy="970495"/>
          </a:xfrm>
        </p:grpSpPr>
        <p:sp>
          <p:nvSpPr>
            <p:cNvPr id="5" name="矩形: 圆角 4"/>
            <p:cNvSpPr/>
            <p:nvPr/>
          </p:nvSpPr>
          <p:spPr>
            <a:xfrm>
              <a:off x="5632664" y="2187325"/>
              <a:ext cx="1307820" cy="7820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输出方程</a:t>
              </a:r>
              <a:endParaRPr lang="en-US" altLang="zh-CN" dirty="0">
                <a:latin typeface="微软雅黑" panose="020B0503020204020204" pitchFamily="34" charset="-122"/>
                <a:ea typeface="微软雅黑" panose="020B0503020204020204" pitchFamily="34" charset="-122"/>
              </a:endParaRPr>
            </a:p>
            <a:p>
              <a:pPr algn="ctr"/>
              <a:r>
                <a:rPr lang="zh-CN" altLang="en-US" dirty="0">
                  <a:latin typeface="微软雅黑" panose="020B0503020204020204" pitchFamily="34" charset="-122"/>
                  <a:ea typeface="微软雅黑" panose="020B0503020204020204" pitchFamily="34" charset="-122"/>
                </a:rPr>
                <a:t>激励方程</a:t>
              </a:r>
              <a:endParaRPr lang="zh-CN" altLang="en-US" dirty="0"/>
            </a:p>
          </p:txBody>
        </p:sp>
        <p:sp>
          <p:nvSpPr>
            <p:cNvPr id="48" name="矩形: 圆角 47"/>
            <p:cNvSpPr/>
            <p:nvPr/>
          </p:nvSpPr>
          <p:spPr>
            <a:xfrm>
              <a:off x="2080349" y="2215451"/>
              <a:ext cx="1307820" cy="7820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逻辑</a:t>
              </a:r>
              <a:endParaRPr lang="en-US" altLang="zh-CN" dirty="0">
                <a:latin typeface="微软雅黑" panose="020B0503020204020204" pitchFamily="34" charset="-122"/>
                <a:ea typeface="微软雅黑" panose="020B0503020204020204" pitchFamily="34" charset="-122"/>
              </a:endParaRPr>
            </a:p>
            <a:p>
              <a:pPr algn="ctr"/>
              <a:r>
                <a:rPr lang="zh-CN" altLang="en-US" dirty="0">
                  <a:latin typeface="微软雅黑" panose="020B0503020204020204" pitchFamily="34" charset="-122"/>
                  <a:ea typeface="微软雅黑" panose="020B0503020204020204" pitchFamily="34" charset="-122"/>
                </a:rPr>
                <a:t>电路图</a:t>
              </a:r>
              <a:endParaRPr lang="zh-CN" altLang="en-US" dirty="0">
                <a:latin typeface="微软雅黑" panose="020B0503020204020204" pitchFamily="34" charset="-122"/>
                <a:ea typeface="微软雅黑" panose="020B0503020204020204" pitchFamily="34" charset="-122"/>
              </a:endParaRPr>
            </a:p>
          </p:txBody>
        </p:sp>
        <p:sp>
          <p:nvSpPr>
            <p:cNvPr id="8" name="箭头: 右 7"/>
            <p:cNvSpPr/>
            <p:nvPr/>
          </p:nvSpPr>
          <p:spPr>
            <a:xfrm>
              <a:off x="3571718" y="2135897"/>
              <a:ext cx="197323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分析</a:t>
              </a:r>
              <a:endParaRPr lang="zh-CN" altLang="en-US" sz="1600" dirty="0">
                <a:latin typeface="微软雅黑" panose="020B0503020204020204" pitchFamily="34" charset="-122"/>
                <a:ea typeface="微软雅黑" panose="020B0503020204020204" pitchFamily="34" charset="-122"/>
              </a:endParaRPr>
            </a:p>
          </p:txBody>
        </p:sp>
        <p:sp>
          <p:nvSpPr>
            <p:cNvPr id="50" name="箭头: 右 49"/>
            <p:cNvSpPr/>
            <p:nvPr/>
          </p:nvSpPr>
          <p:spPr>
            <a:xfrm flipH="1">
              <a:off x="3523798" y="2621760"/>
              <a:ext cx="197323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设计</a:t>
              </a:r>
              <a:endParaRPr lang="zh-CN" altLang="en-US" sz="1600"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1000" fill="hold"/>
                                        <p:tgtEl>
                                          <p:spTgt spid="10"/>
                                        </p:tgtEl>
                                        <p:attrNameLst>
                                          <p:attrName>ppt_w</p:attrName>
                                        </p:attrNameLst>
                                      </p:cBhvr>
                                      <p:tavLst>
                                        <p:tav tm="0">
                                          <p:val>
                                            <p:fltVal val="0"/>
                                          </p:val>
                                        </p:tav>
                                        <p:tav tm="100000">
                                          <p:val>
                                            <p:strVal val="#ppt_w"/>
                                          </p:val>
                                        </p:tav>
                                      </p:tavLst>
                                    </p:anim>
                                    <p:anim calcmode="lin" valueType="num">
                                      <p:cBhvr>
                                        <p:cTn id="13" dur="10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nodeType="click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slide(fromLeft)">
                                      <p:cBhvr>
                                        <p:cTn id="18" dur="1000"/>
                                        <p:tgtEl>
                                          <p:spTgt spid="38"/>
                                        </p:tgtEl>
                                      </p:cBhvr>
                                    </p:animEffect>
                                  </p:childTnLst>
                                </p:cTn>
                              </p:par>
                            </p:childTnLst>
                          </p:cTn>
                        </p:par>
                        <p:par>
                          <p:cTn id="19" fill="hold">
                            <p:stCondLst>
                              <p:cond delay="1000"/>
                            </p:stCondLst>
                            <p:childTnLst>
                              <p:par>
                                <p:cTn id="20" presetID="12" presetClass="entr" presetSubtype="8" fill="hold" grpId="0" nodeType="afterEffect">
                                  <p:stCondLst>
                                    <p:cond delay="0"/>
                                  </p:stCondLst>
                                  <p:childTnLst>
                                    <p:set>
                                      <p:cBhvr>
                                        <p:cTn id="21" dur="1" fill="hold">
                                          <p:stCondLst>
                                            <p:cond delay="0"/>
                                          </p:stCondLst>
                                        </p:cTn>
                                        <p:tgtEl>
                                          <p:spTgt spid="24"/>
                                        </p:tgtEl>
                                        <p:attrNameLst>
                                          <p:attrName>style.visibility</p:attrName>
                                        </p:attrNameLst>
                                      </p:cBhvr>
                                      <p:to>
                                        <p:strVal val="visible"/>
                                      </p:to>
                                    </p:set>
                                    <p:anim calcmode="lin" valueType="num">
                                      <p:cBhvr additive="base">
                                        <p:cTn id="22" dur="1000"/>
                                        <p:tgtEl>
                                          <p:spTgt spid="24"/>
                                        </p:tgtEl>
                                        <p:attrNameLst>
                                          <p:attrName>ppt_x</p:attrName>
                                        </p:attrNameLst>
                                      </p:cBhvr>
                                      <p:tavLst>
                                        <p:tav tm="0">
                                          <p:val>
                                            <p:strVal val="#ppt_x-#ppt_w*1.125000"/>
                                          </p:val>
                                        </p:tav>
                                        <p:tav tm="100000">
                                          <p:val>
                                            <p:strVal val="#ppt_x"/>
                                          </p:val>
                                        </p:tav>
                                      </p:tavLst>
                                    </p:anim>
                                    <p:animEffect transition="in" filter="wipe(right)">
                                      <p:cBhvr>
                                        <p:cTn id="23" dur="1000"/>
                                        <p:tgtEl>
                                          <p:spTgt spid="24"/>
                                        </p:tgtEl>
                                      </p:cBhvr>
                                    </p:animEffect>
                                  </p:childTnLst>
                                </p:cTn>
                              </p:par>
                            </p:childTnLst>
                          </p:cTn>
                        </p:par>
                        <p:par>
                          <p:cTn id="24" fill="hold">
                            <p:stCondLst>
                              <p:cond delay="2000"/>
                            </p:stCondLst>
                            <p:childTnLst>
                              <p:par>
                                <p:cTn id="25" presetID="12" presetClass="entr" presetSubtype="8"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additive="base">
                                        <p:cTn id="27" dur="1000"/>
                                        <p:tgtEl>
                                          <p:spTgt spid="26"/>
                                        </p:tgtEl>
                                        <p:attrNameLst>
                                          <p:attrName>ppt_x</p:attrName>
                                        </p:attrNameLst>
                                      </p:cBhvr>
                                      <p:tavLst>
                                        <p:tav tm="0">
                                          <p:val>
                                            <p:strVal val="#ppt_x-#ppt_w*1.125000"/>
                                          </p:val>
                                        </p:tav>
                                        <p:tav tm="100000">
                                          <p:val>
                                            <p:strVal val="#ppt_x"/>
                                          </p:val>
                                        </p:tav>
                                      </p:tavLst>
                                    </p:anim>
                                    <p:animEffect transition="in" filter="wipe(right)">
                                      <p:cBhvr>
                                        <p:cTn id="28" dur="1000"/>
                                        <p:tgtEl>
                                          <p:spTgt spid="26"/>
                                        </p:tgtEl>
                                      </p:cBhvr>
                                    </p:animEffect>
                                  </p:childTnLst>
                                </p:cTn>
                              </p:par>
                            </p:childTnLst>
                          </p:cTn>
                        </p:par>
                        <p:par>
                          <p:cTn id="29" fill="hold">
                            <p:stCondLst>
                              <p:cond delay="3000"/>
                            </p:stCondLst>
                            <p:childTnLst>
                              <p:par>
                                <p:cTn id="30" presetID="22" presetClass="entr" presetSubtype="8" fill="hold" grpId="0"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1000"/>
                                        <p:tgtEl>
                                          <p:spTgt spid="33"/>
                                        </p:tgtEl>
                                      </p:cBhvr>
                                    </p:animEffect>
                                  </p:childTnLst>
                                </p:cTn>
                              </p:par>
                            </p:childTnLst>
                          </p:cTn>
                        </p:par>
                        <p:par>
                          <p:cTn id="33" fill="hold">
                            <p:stCondLst>
                              <p:cond delay="4000"/>
                            </p:stCondLst>
                            <p:childTnLst>
                              <p:par>
                                <p:cTn id="34" presetID="12" presetClass="entr" presetSubtype="8" fill="hold" grpId="0" nodeType="afterEffect">
                                  <p:stCondLst>
                                    <p:cond delay="0"/>
                                  </p:stCondLst>
                                  <p:childTnLst>
                                    <p:set>
                                      <p:cBhvr>
                                        <p:cTn id="35" dur="1" fill="hold">
                                          <p:stCondLst>
                                            <p:cond delay="0"/>
                                          </p:stCondLst>
                                        </p:cTn>
                                        <p:tgtEl>
                                          <p:spTgt spid="27"/>
                                        </p:tgtEl>
                                        <p:attrNameLst>
                                          <p:attrName>style.visibility</p:attrName>
                                        </p:attrNameLst>
                                      </p:cBhvr>
                                      <p:to>
                                        <p:strVal val="visible"/>
                                      </p:to>
                                    </p:set>
                                    <p:anim calcmode="lin" valueType="num">
                                      <p:cBhvr additive="base">
                                        <p:cTn id="36" dur="1000"/>
                                        <p:tgtEl>
                                          <p:spTgt spid="27"/>
                                        </p:tgtEl>
                                        <p:attrNameLst>
                                          <p:attrName>ppt_x</p:attrName>
                                        </p:attrNameLst>
                                      </p:cBhvr>
                                      <p:tavLst>
                                        <p:tav tm="0">
                                          <p:val>
                                            <p:strVal val="#ppt_x-#ppt_w*1.125000"/>
                                          </p:val>
                                        </p:tav>
                                        <p:tav tm="100000">
                                          <p:val>
                                            <p:strVal val="#ppt_x"/>
                                          </p:val>
                                        </p:tav>
                                      </p:tavLst>
                                    </p:anim>
                                    <p:animEffect transition="in" filter="wipe(right)">
                                      <p:cBhvr>
                                        <p:cTn id="37" dur="1000"/>
                                        <p:tgtEl>
                                          <p:spTgt spid="27"/>
                                        </p:tgtEl>
                                      </p:cBhvr>
                                    </p:animEffect>
                                  </p:childTnLst>
                                </p:cTn>
                              </p:par>
                            </p:childTnLst>
                          </p:cTn>
                        </p:par>
                        <p:par>
                          <p:cTn id="38" fill="hold">
                            <p:stCondLst>
                              <p:cond delay="5000"/>
                            </p:stCondLst>
                            <p:childTnLst>
                              <p:par>
                                <p:cTn id="39" presetID="22" presetClass="entr" presetSubtype="8" fill="hold" grpId="0" nodeType="after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wipe(left)">
                                      <p:cBhvr>
                                        <p:cTn id="41" dur="1000"/>
                                        <p:tgtEl>
                                          <p:spTgt spid="34"/>
                                        </p:tgtEl>
                                      </p:cBhvr>
                                    </p:animEffect>
                                  </p:childTnLst>
                                </p:cTn>
                              </p:par>
                            </p:childTnLst>
                          </p:cTn>
                        </p:par>
                        <p:par>
                          <p:cTn id="42" fill="hold">
                            <p:stCondLst>
                              <p:cond delay="6000"/>
                            </p:stCondLst>
                            <p:childTnLst>
                              <p:par>
                                <p:cTn id="43" presetID="12" presetClass="entr" presetSubtype="8" fill="hold" grpId="0" nodeType="afterEffect">
                                  <p:stCondLst>
                                    <p:cond delay="0"/>
                                  </p:stCondLst>
                                  <p:childTnLst>
                                    <p:set>
                                      <p:cBhvr>
                                        <p:cTn id="44" dur="1" fill="hold">
                                          <p:stCondLst>
                                            <p:cond delay="0"/>
                                          </p:stCondLst>
                                        </p:cTn>
                                        <p:tgtEl>
                                          <p:spTgt spid="28"/>
                                        </p:tgtEl>
                                        <p:attrNameLst>
                                          <p:attrName>style.visibility</p:attrName>
                                        </p:attrNameLst>
                                      </p:cBhvr>
                                      <p:to>
                                        <p:strVal val="visible"/>
                                      </p:to>
                                    </p:set>
                                    <p:anim calcmode="lin" valueType="num">
                                      <p:cBhvr additive="base">
                                        <p:cTn id="45" dur="1000"/>
                                        <p:tgtEl>
                                          <p:spTgt spid="28"/>
                                        </p:tgtEl>
                                        <p:attrNameLst>
                                          <p:attrName>ppt_x</p:attrName>
                                        </p:attrNameLst>
                                      </p:cBhvr>
                                      <p:tavLst>
                                        <p:tav tm="0">
                                          <p:val>
                                            <p:strVal val="#ppt_x-#ppt_w*1.125000"/>
                                          </p:val>
                                        </p:tav>
                                        <p:tav tm="100000">
                                          <p:val>
                                            <p:strVal val="#ppt_x"/>
                                          </p:val>
                                        </p:tav>
                                      </p:tavLst>
                                    </p:anim>
                                    <p:animEffect transition="in" filter="wipe(right)">
                                      <p:cBhvr>
                                        <p:cTn id="46" dur="1000"/>
                                        <p:tgtEl>
                                          <p:spTgt spid="28"/>
                                        </p:tgtEl>
                                      </p:cBhvr>
                                    </p:animEffect>
                                  </p:childTnLst>
                                </p:cTn>
                              </p:par>
                            </p:childTnLst>
                          </p:cTn>
                        </p:par>
                        <p:par>
                          <p:cTn id="47" fill="hold">
                            <p:stCondLst>
                              <p:cond delay="7000"/>
                            </p:stCondLst>
                            <p:childTnLst>
                              <p:par>
                                <p:cTn id="48" presetID="22" presetClass="entr" presetSubtype="8" fill="hold" grpId="0" nodeType="after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wipe(left)">
                                      <p:cBhvr>
                                        <p:cTn id="50" dur="1000"/>
                                        <p:tgtEl>
                                          <p:spTgt spid="35"/>
                                        </p:tgtEl>
                                      </p:cBhvr>
                                    </p:animEffect>
                                  </p:childTnLst>
                                </p:cTn>
                              </p:par>
                            </p:childTnLst>
                          </p:cTn>
                        </p:par>
                        <p:par>
                          <p:cTn id="51" fill="hold">
                            <p:stCondLst>
                              <p:cond delay="8000"/>
                            </p:stCondLst>
                            <p:childTnLst>
                              <p:par>
                                <p:cTn id="52" presetID="12" presetClass="entr" presetSubtype="8" fill="hold" grpId="0" nodeType="afterEffect">
                                  <p:stCondLst>
                                    <p:cond delay="0"/>
                                  </p:stCondLst>
                                  <p:childTnLst>
                                    <p:set>
                                      <p:cBhvr>
                                        <p:cTn id="53" dur="1" fill="hold">
                                          <p:stCondLst>
                                            <p:cond delay="0"/>
                                          </p:stCondLst>
                                        </p:cTn>
                                        <p:tgtEl>
                                          <p:spTgt spid="29"/>
                                        </p:tgtEl>
                                        <p:attrNameLst>
                                          <p:attrName>style.visibility</p:attrName>
                                        </p:attrNameLst>
                                      </p:cBhvr>
                                      <p:to>
                                        <p:strVal val="visible"/>
                                      </p:to>
                                    </p:set>
                                    <p:anim calcmode="lin" valueType="num">
                                      <p:cBhvr additive="base">
                                        <p:cTn id="54" dur="1000"/>
                                        <p:tgtEl>
                                          <p:spTgt spid="29"/>
                                        </p:tgtEl>
                                        <p:attrNameLst>
                                          <p:attrName>ppt_x</p:attrName>
                                        </p:attrNameLst>
                                      </p:cBhvr>
                                      <p:tavLst>
                                        <p:tav tm="0">
                                          <p:val>
                                            <p:strVal val="#ppt_x-#ppt_w*1.125000"/>
                                          </p:val>
                                        </p:tav>
                                        <p:tav tm="100000">
                                          <p:val>
                                            <p:strVal val="#ppt_x"/>
                                          </p:val>
                                        </p:tav>
                                      </p:tavLst>
                                    </p:anim>
                                    <p:animEffect transition="in" filter="wipe(right)">
                                      <p:cBhvr>
                                        <p:cTn id="55" dur="1000"/>
                                        <p:tgtEl>
                                          <p:spTgt spid="29"/>
                                        </p:tgtEl>
                                      </p:cBhvr>
                                    </p:animEffect>
                                  </p:childTnLst>
                                </p:cTn>
                              </p:par>
                            </p:childTnLst>
                          </p:cTn>
                        </p:par>
                        <p:par>
                          <p:cTn id="56" fill="hold">
                            <p:stCondLst>
                              <p:cond delay="9000"/>
                            </p:stCondLst>
                            <p:childTnLst>
                              <p:par>
                                <p:cTn id="57" presetID="22" presetClass="entr" presetSubtype="8" fill="hold" grpId="0" nodeType="after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wipe(left)">
                                      <p:cBhvr>
                                        <p:cTn id="59" dur="1000"/>
                                        <p:tgtEl>
                                          <p:spTgt spid="36"/>
                                        </p:tgtEl>
                                      </p:cBhvr>
                                    </p:animEffect>
                                  </p:childTnLst>
                                </p:cTn>
                              </p:par>
                            </p:childTnLst>
                          </p:cTn>
                        </p:par>
                        <p:par>
                          <p:cTn id="60" fill="hold">
                            <p:stCondLst>
                              <p:cond delay="10000"/>
                            </p:stCondLst>
                            <p:childTnLst>
                              <p:par>
                                <p:cTn id="61" presetID="12" presetClass="entr" presetSubtype="8" fill="hold" grpId="0" nodeType="afterEffect">
                                  <p:stCondLst>
                                    <p:cond delay="0"/>
                                  </p:stCondLst>
                                  <p:childTnLst>
                                    <p:set>
                                      <p:cBhvr>
                                        <p:cTn id="62" dur="1" fill="hold">
                                          <p:stCondLst>
                                            <p:cond delay="0"/>
                                          </p:stCondLst>
                                        </p:cTn>
                                        <p:tgtEl>
                                          <p:spTgt spid="31"/>
                                        </p:tgtEl>
                                        <p:attrNameLst>
                                          <p:attrName>style.visibility</p:attrName>
                                        </p:attrNameLst>
                                      </p:cBhvr>
                                      <p:to>
                                        <p:strVal val="visible"/>
                                      </p:to>
                                    </p:set>
                                    <p:anim calcmode="lin" valueType="num">
                                      <p:cBhvr additive="base">
                                        <p:cTn id="63" dur="1000"/>
                                        <p:tgtEl>
                                          <p:spTgt spid="31"/>
                                        </p:tgtEl>
                                        <p:attrNameLst>
                                          <p:attrName>ppt_x</p:attrName>
                                        </p:attrNameLst>
                                      </p:cBhvr>
                                      <p:tavLst>
                                        <p:tav tm="0">
                                          <p:val>
                                            <p:strVal val="#ppt_x-#ppt_w*1.125000"/>
                                          </p:val>
                                        </p:tav>
                                        <p:tav tm="100000">
                                          <p:val>
                                            <p:strVal val="#ppt_x"/>
                                          </p:val>
                                        </p:tav>
                                      </p:tavLst>
                                    </p:anim>
                                    <p:animEffect transition="in" filter="wipe(right)">
                                      <p:cBhvr>
                                        <p:cTn id="64" dur="1000"/>
                                        <p:tgtEl>
                                          <p:spTgt spid="31"/>
                                        </p:tgtEl>
                                      </p:cBhvr>
                                    </p:animEffect>
                                  </p:childTnLst>
                                </p:cTn>
                              </p:par>
                            </p:childTnLst>
                          </p:cTn>
                        </p:par>
                        <p:par>
                          <p:cTn id="65" fill="hold">
                            <p:stCondLst>
                              <p:cond delay="11000"/>
                            </p:stCondLst>
                            <p:childTnLst>
                              <p:par>
                                <p:cTn id="66" presetID="22" presetClass="entr" presetSubtype="8" fill="hold" grpId="0" nodeType="after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wipe(left)">
                                      <p:cBhvr>
                                        <p:cTn id="68" dur="1000"/>
                                        <p:tgtEl>
                                          <p:spTgt spid="41"/>
                                        </p:tgtEl>
                                      </p:cBhvr>
                                    </p:animEffect>
                                  </p:childTnLst>
                                </p:cTn>
                              </p:par>
                            </p:childTnLst>
                          </p:cTn>
                        </p:par>
                        <p:par>
                          <p:cTn id="69" fill="hold">
                            <p:stCondLst>
                              <p:cond delay="12000"/>
                            </p:stCondLst>
                            <p:childTnLst>
                              <p:par>
                                <p:cTn id="70" presetID="12" presetClass="entr" presetSubtype="8" fill="hold" grpId="0" nodeType="afterEffect">
                                  <p:stCondLst>
                                    <p:cond delay="0"/>
                                  </p:stCondLst>
                                  <p:childTnLst>
                                    <p:set>
                                      <p:cBhvr>
                                        <p:cTn id="71" dur="1" fill="hold">
                                          <p:stCondLst>
                                            <p:cond delay="0"/>
                                          </p:stCondLst>
                                        </p:cTn>
                                        <p:tgtEl>
                                          <p:spTgt spid="32"/>
                                        </p:tgtEl>
                                        <p:attrNameLst>
                                          <p:attrName>style.visibility</p:attrName>
                                        </p:attrNameLst>
                                      </p:cBhvr>
                                      <p:to>
                                        <p:strVal val="visible"/>
                                      </p:to>
                                    </p:set>
                                    <p:anim calcmode="lin" valueType="num">
                                      <p:cBhvr additive="base">
                                        <p:cTn id="72" dur="1000"/>
                                        <p:tgtEl>
                                          <p:spTgt spid="32"/>
                                        </p:tgtEl>
                                        <p:attrNameLst>
                                          <p:attrName>ppt_x</p:attrName>
                                        </p:attrNameLst>
                                      </p:cBhvr>
                                      <p:tavLst>
                                        <p:tav tm="0">
                                          <p:val>
                                            <p:strVal val="#ppt_x-#ppt_w*1.125000"/>
                                          </p:val>
                                        </p:tav>
                                        <p:tav tm="100000">
                                          <p:val>
                                            <p:strVal val="#ppt_x"/>
                                          </p:val>
                                        </p:tav>
                                      </p:tavLst>
                                    </p:anim>
                                    <p:animEffect transition="in" filter="wipe(right)">
                                      <p:cBhvr>
                                        <p:cTn id="73" dur="1000"/>
                                        <p:tgtEl>
                                          <p:spTgt spid="32"/>
                                        </p:tgtEl>
                                      </p:cBhvr>
                                    </p:animEffect>
                                  </p:childTnLst>
                                </p:cTn>
                              </p:par>
                            </p:childTnLst>
                          </p:cTn>
                        </p:par>
                        <p:par>
                          <p:cTn id="74" fill="hold">
                            <p:stCondLst>
                              <p:cond delay="13000"/>
                            </p:stCondLst>
                            <p:childTnLst>
                              <p:par>
                                <p:cTn id="75" presetID="22" presetClass="entr" presetSubtype="8" fill="hold" grpId="0" nodeType="afterEffect">
                                  <p:stCondLst>
                                    <p:cond delay="0"/>
                                  </p:stCondLst>
                                  <p:childTnLst>
                                    <p:set>
                                      <p:cBhvr>
                                        <p:cTn id="76" dur="1" fill="hold">
                                          <p:stCondLst>
                                            <p:cond delay="0"/>
                                          </p:stCondLst>
                                        </p:cTn>
                                        <p:tgtEl>
                                          <p:spTgt spid="42"/>
                                        </p:tgtEl>
                                        <p:attrNameLst>
                                          <p:attrName>style.visibility</p:attrName>
                                        </p:attrNameLst>
                                      </p:cBhvr>
                                      <p:to>
                                        <p:strVal val="visible"/>
                                      </p:to>
                                    </p:set>
                                    <p:animEffect transition="in" filter="wipe(left)">
                                      <p:cBhvr>
                                        <p:cTn id="77" dur="10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3" grpId="0" animBg="1"/>
      <p:bldP spid="34" grpId="0" animBg="1"/>
      <p:bldP spid="35" grpId="0" animBg="1"/>
      <p:bldP spid="36" grpId="0" animBg="1"/>
      <p:bldP spid="41" grpId="0" animBg="1"/>
      <p:bldP spid="42" grpId="0" animBg="1"/>
      <p:bldP spid="26" grpId="0" animBg="1"/>
      <p:bldP spid="27" grpId="0" animBg="1"/>
      <p:bldP spid="28" grpId="0" animBg="1"/>
      <p:bldP spid="29" grpId="0" animBg="1"/>
      <p:bldP spid="31" grpId="0" animBg="1"/>
      <p:bldP spid="3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375881" y="754514"/>
            <a:ext cx="4653026" cy="420971"/>
            <a:chOff x="670560" y="892917"/>
            <a:chExt cx="4653026" cy="420971"/>
          </a:xfrm>
        </p:grpSpPr>
        <p:sp>
          <p:nvSpPr>
            <p:cNvPr id="28" name="矩形 27"/>
            <p:cNvSpPr/>
            <p:nvPr/>
          </p:nvSpPr>
          <p:spPr>
            <a:xfrm>
              <a:off x="1035233" y="913778"/>
              <a:ext cx="4288353"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同步时序逻辑电路设计的目的与步骤</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9"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44" name="五边形 43"/>
          <p:cNvSpPr/>
          <p:nvPr/>
        </p:nvSpPr>
        <p:spPr>
          <a:xfrm>
            <a:off x="863465" y="1252495"/>
            <a:ext cx="1019175" cy="783183"/>
          </a:xfrm>
          <a:prstGeom prst="homePlate">
            <a:avLst>
              <a:gd name="adj" fmla="val 38022"/>
            </a:avLst>
          </a:prstGeom>
          <a:solidFill>
            <a:schemeClr val="accent4"/>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待设计</a:t>
            </a:r>
            <a:endParaRPr lang="en-US" altLang="zh-CN" sz="1400" dirty="0">
              <a:solidFill>
                <a:schemeClr val="tx1"/>
              </a:solidFill>
              <a:latin typeface="微软雅黑" panose="020B0503020204020204" pitchFamily="34" charset="-122"/>
              <a:ea typeface="微软雅黑" panose="020B0503020204020204" pitchFamily="34" charset="-122"/>
            </a:endParaRPr>
          </a:p>
          <a:p>
            <a:pPr algn="ctr"/>
            <a:r>
              <a:rPr lang="zh-CN" altLang="en-US" sz="1400" dirty="0">
                <a:solidFill>
                  <a:schemeClr val="tx1"/>
                </a:solidFill>
                <a:latin typeface="微软雅黑" panose="020B0503020204020204" pitchFamily="34" charset="-122"/>
                <a:ea typeface="微软雅黑" panose="020B0503020204020204" pitchFamily="34" charset="-122"/>
              </a:rPr>
              <a:t>电路的</a:t>
            </a:r>
            <a:r>
              <a:rPr lang="zh-CN" altLang="zh-CN" sz="1400" dirty="0">
                <a:solidFill>
                  <a:schemeClr val="tx1"/>
                </a:solidFill>
                <a:latin typeface="微软雅黑" panose="020B0503020204020204" pitchFamily="34" charset="-122"/>
                <a:ea typeface="微软雅黑" panose="020B0503020204020204" pitchFamily="34" charset="-122"/>
              </a:rPr>
              <a:t>逻辑功能</a:t>
            </a:r>
            <a:endParaRPr lang="zh-CN" altLang="en-US" sz="1400" b="1" dirty="0">
              <a:solidFill>
                <a:srgbClr val="0000FF"/>
              </a:solidFill>
            </a:endParaRPr>
          </a:p>
        </p:txBody>
      </p:sp>
      <p:sp>
        <p:nvSpPr>
          <p:cNvPr id="45" name="燕尾形 44"/>
          <p:cNvSpPr/>
          <p:nvPr/>
        </p:nvSpPr>
        <p:spPr>
          <a:xfrm>
            <a:off x="1652017" y="1252495"/>
            <a:ext cx="1326113" cy="783183"/>
          </a:xfrm>
          <a:prstGeom prst="chevron">
            <a:avLst>
              <a:gd name="adj" fmla="val 37842"/>
            </a:avLst>
          </a:prstGeom>
          <a:solidFill>
            <a:srgbClr val="92D050"/>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dirty="0">
                <a:solidFill>
                  <a:schemeClr val="tx1"/>
                </a:solidFill>
                <a:latin typeface="微软雅黑" panose="020B0503020204020204" pitchFamily="34" charset="-122"/>
                <a:ea typeface="微软雅黑" panose="020B0503020204020204" pitchFamily="34" charset="-122"/>
              </a:rPr>
              <a:t>建立原始状态图</a:t>
            </a:r>
            <a:r>
              <a:rPr lang="en-US" altLang="zh-CN" sz="1400" dirty="0">
                <a:solidFill>
                  <a:schemeClr val="tx1"/>
                </a:solidFill>
                <a:latin typeface="微软雅黑" panose="020B0503020204020204" pitchFamily="34" charset="-122"/>
                <a:ea typeface="微软雅黑" panose="020B0503020204020204" pitchFamily="34" charset="-122"/>
              </a:rPr>
              <a:t>(</a:t>
            </a:r>
            <a:r>
              <a:rPr lang="zh-CN" altLang="zh-CN" sz="1400" dirty="0">
                <a:solidFill>
                  <a:schemeClr val="tx1"/>
                </a:solidFill>
                <a:latin typeface="微软雅黑" panose="020B0503020204020204" pitchFamily="34" charset="-122"/>
                <a:ea typeface="微软雅黑" panose="020B0503020204020204" pitchFamily="34" charset="-122"/>
              </a:rPr>
              <a:t>表</a:t>
            </a:r>
            <a:r>
              <a:rPr lang="en-US" altLang="zh-CN" sz="1400" dirty="0">
                <a:solidFill>
                  <a:schemeClr val="tx1"/>
                </a:solidFill>
                <a:latin typeface="微软雅黑" panose="020B0503020204020204" pitchFamily="34" charset="-122"/>
                <a:ea typeface="微软雅黑" panose="020B0503020204020204" pitchFamily="34" charset="-122"/>
              </a:rPr>
              <a:t>)</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46" name="燕尾形 45"/>
          <p:cNvSpPr/>
          <p:nvPr/>
        </p:nvSpPr>
        <p:spPr>
          <a:xfrm>
            <a:off x="2747507" y="1252495"/>
            <a:ext cx="1222908" cy="783183"/>
          </a:xfrm>
          <a:prstGeom prst="chevron">
            <a:avLst>
              <a:gd name="adj" fmla="val 37668"/>
            </a:avLst>
          </a:prstGeom>
          <a:solidFill>
            <a:schemeClr val="accent1">
              <a:lumMod val="60000"/>
              <a:lumOff val="40000"/>
            </a:schemeClr>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状态</a:t>
            </a:r>
            <a:endParaRPr lang="en-US" altLang="zh-CN" sz="1400" dirty="0">
              <a:solidFill>
                <a:schemeClr val="tx1"/>
              </a:solidFill>
              <a:latin typeface="微软雅黑" panose="020B0503020204020204" pitchFamily="34" charset="-122"/>
              <a:ea typeface="微软雅黑" panose="020B0503020204020204" pitchFamily="34" charset="-122"/>
            </a:endParaRPr>
          </a:p>
          <a:p>
            <a:pPr algn="ctr"/>
            <a:r>
              <a:rPr lang="zh-CN" altLang="en-US" sz="1400" dirty="0">
                <a:solidFill>
                  <a:schemeClr val="tx1"/>
                </a:solidFill>
                <a:latin typeface="微软雅黑" panose="020B0503020204020204" pitchFamily="34" charset="-122"/>
                <a:ea typeface="微软雅黑" panose="020B0503020204020204" pitchFamily="34" charset="-122"/>
              </a:rPr>
              <a:t>化简</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47" name="燕尾形 46"/>
          <p:cNvSpPr/>
          <p:nvPr/>
        </p:nvSpPr>
        <p:spPr>
          <a:xfrm>
            <a:off x="3739792" y="1252495"/>
            <a:ext cx="1248296" cy="783183"/>
          </a:xfrm>
          <a:prstGeom prst="chevron">
            <a:avLst>
              <a:gd name="adj" fmla="val 37243"/>
            </a:avLst>
          </a:prstGeom>
          <a:solidFill>
            <a:srgbClr val="FF66FF"/>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状态编码</a:t>
            </a:r>
            <a:r>
              <a:rPr lang="en-US" altLang="zh-CN" sz="1400" dirty="0">
                <a:solidFill>
                  <a:schemeClr val="tx1"/>
                </a:solidFill>
                <a:latin typeface="微软雅黑" panose="020B0503020204020204" pitchFamily="34" charset="-122"/>
                <a:ea typeface="微软雅黑" panose="020B0503020204020204" pitchFamily="34" charset="-122"/>
              </a:rPr>
              <a:t>/</a:t>
            </a:r>
            <a:r>
              <a:rPr lang="zh-CN" altLang="en-US" sz="1400" dirty="0">
                <a:solidFill>
                  <a:schemeClr val="tx1"/>
                </a:solidFill>
                <a:latin typeface="微软雅黑" panose="020B0503020204020204" pitchFamily="34" charset="-122"/>
                <a:ea typeface="微软雅黑" panose="020B0503020204020204" pitchFamily="34" charset="-122"/>
              </a:rPr>
              <a:t>分配</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48" name="燕尾形 47"/>
          <p:cNvSpPr/>
          <p:nvPr/>
        </p:nvSpPr>
        <p:spPr>
          <a:xfrm>
            <a:off x="4757465" y="1252495"/>
            <a:ext cx="1400068" cy="783183"/>
          </a:xfrm>
          <a:prstGeom prst="chevron">
            <a:avLst>
              <a:gd name="adj" fmla="val 37243"/>
            </a:avLst>
          </a:prstGeom>
          <a:solidFill>
            <a:schemeClr val="accent2">
              <a:lumMod val="40000"/>
              <a:lumOff val="60000"/>
            </a:schemeClr>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选择触发器并确定数目</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49" name="燕尾形 48"/>
          <p:cNvSpPr/>
          <p:nvPr/>
        </p:nvSpPr>
        <p:spPr>
          <a:xfrm>
            <a:off x="5926910" y="1252495"/>
            <a:ext cx="1356644" cy="783183"/>
          </a:xfrm>
          <a:prstGeom prst="chevron">
            <a:avLst>
              <a:gd name="adj" fmla="val 37243"/>
            </a:avLst>
          </a:prstGeom>
          <a:solidFill>
            <a:schemeClr val="accent6">
              <a:lumMod val="40000"/>
              <a:lumOff val="60000"/>
            </a:schemeClr>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dirty="0">
                <a:solidFill>
                  <a:schemeClr val="tx1"/>
                </a:solidFill>
                <a:latin typeface="微软雅黑" panose="020B0503020204020204" pitchFamily="34" charset="-122"/>
                <a:ea typeface="微软雅黑" panose="020B0503020204020204" pitchFamily="34" charset="-122"/>
              </a:rPr>
              <a:t>确定激励方程和输出方程</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50" name="燕尾形 49"/>
          <p:cNvSpPr/>
          <p:nvPr/>
        </p:nvSpPr>
        <p:spPr>
          <a:xfrm>
            <a:off x="7052930" y="1252495"/>
            <a:ext cx="1371148" cy="783183"/>
          </a:xfrm>
          <a:prstGeom prst="chevron">
            <a:avLst>
              <a:gd name="adj" fmla="val 37086"/>
            </a:avLst>
          </a:prstGeom>
          <a:solidFill>
            <a:srgbClr val="66FFCC"/>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dirty="0">
                <a:solidFill>
                  <a:schemeClr val="tx1"/>
                </a:solidFill>
                <a:latin typeface="微软雅黑" panose="020B0503020204020204" pitchFamily="34" charset="-122"/>
                <a:ea typeface="微软雅黑" panose="020B0503020204020204" pitchFamily="34" charset="-122"/>
              </a:rPr>
              <a:t>画出逻辑图并检查自启动</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51" name="Rectangle 11"/>
          <p:cNvSpPr>
            <a:spLocks noChangeArrowheads="1"/>
          </p:cNvSpPr>
          <p:nvPr/>
        </p:nvSpPr>
        <p:spPr bwMode="auto">
          <a:xfrm>
            <a:off x="306639" y="2144130"/>
            <a:ext cx="5682646" cy="493981"/>
          </a:xfrm>
          <a:prstGeom prst="rect">
            <a:avLst/>
          </a:prstGeom>
          <a:noFill/>
          <a:ln w="9525" algn="ctr">
            <a:noFill/>
            <a:miter lim="800000"/>
          </a:ln>
        </p:spPr>
        <p:txBody>
          <a:bodyPr wrap="none" lIns="0" rIns="0">
            <a:spAutoFit/>
          </a:bodyPr>
          <a:lstStyle/>
          <a:p>
            <a:pPr>
              <a:lnSpc>
                <a:spcPct val="145000"/>
              </a:lnSpc>
              <a:buClr>
                <a:schemeClr val="tx1"/>
              </a:buClr>
            </a:pPr>
            <a:r>
              <a:rPr kumimoji="1" lang="zh-CN" altLang="en-US" b="1" dirty="0">
                <a:solidFill>
                  <a:schemeClr val="tx2"/>
                </a:solidFill>
                <a:latin typeface="微软雅黑" panose="020B0503020204020204" pitchFamily="34" charset="-122"/>
                <a:ea typeface="微软雅黑" panose="020B0503020204020204" pitchFamily="34" charset="-122"/>
              </a:rPr>
              <a:t>（</a:t>
            </a:r>
            <a:r>
              <a:rPr kumimoji="1" lang="en-US" altLang="zh-CN" b="1" dirty="0">
                <a:solidFill>
                  <a:schemeClr val="tx2"/>
                </a:solidFill>
                <a:latin typeface="微软雅黑" panose="020B0503020204020204" pitchFamily="34" charset="-122"/>
                <a:ea typeface="微软雅黑" panose="020B0503020204020204" pitchFamily="34" charset="-122"/>
              </a:rPr>
              <a:t>1</a:t>
            </a:r>
            <a:r>
              <a:rPr kumimoji="1" lang="zh-CN" altLang="en-US" b="1" dirty="0">
                <a:solidFill>
                  <a:schemeClr val="tx2"/>
                </a:solidFill>
                <a:latin typeface="微软雅黑" panose="020B0503020204020204" pitchFamily="34" charset="-122"/>
                <a:ea typeface="微软雅黑" panose="020B0503020204020204" pitchFamily="34" charset="-122"/>
              </a:rPr>
              <a:t>）根据给定的逻辑功能建立原始状态图或原始状态表</a:t>
            </a:r>
            <a:endParaRPr kumimoji="1" lang="zh-CN" altLang="en-US" b="1" dirty="0">
              <a:solidFill>
                <a:schemeClr val="tx2"/>
              </a:solidFill>
              <a:latin typeface="微软雅黑" panose="020B0503020204020204" pitchFamily="34" charset="-122"/>
              <a:ea typeface="微软雅黑" panose="020B0503020204020204" pitchFamily="34" charset="-122"/>
            </a:endParaRPr>
          </a:p>
        </p:txBody>
      </p:sp>
      <p:sp>
        <p:nvSpPr>
          <p:cNvPr id="52" name="Rectangle 14"/>
          <p:cNvSpPr>
            <a:spLocks noChangeArrowheads="1"/>
          </p:cNvSpPr>
          <p:nvPr/>
        </p:nvSpPr>
        <p:spPr bwMode="auto">
          <a:xfrm>
            <a:off x="829065" y="2595585"/>
            <a:ext cx="8102772" cy="1077218"/>
          </a:xfrm>
          <a:prstGeom prst="rect">
            <a:avLst/>
          </a:prstGeom>
          <a:noFill/>
          <a:ln w="9525" algn="ctr">
            <a:noFill/>
            <a:miter lim="800000"/>
          </a:ln>
        </p:spPr>
        <p:txBody>
          <a:bodyPr wrap="square" lIns="0" rIns="0">
            <a:spAutoFit/>
          </a:bodyPr>
          <a:lstStyle/>
          <a:p>
            <a:pPr marL="444500" indent="-444500">
              <a:spcBef>
                <a:spcPct val="50000"/>
              </a:spcBef>
            </a:pPr>
            <a:r>
              <a:rPr kumimoji="1" lang="en-US" altLang="zh-CN" sz="1600" b="1" dirty="0">
                <a:solidFill>
                  <a:srgbClr val="000000"/>
                </a:solidFill>
                <a:latin typeface="楷体" panose="02010609060101010101" pitchFamily="49" charset="-122"/>
                <a:ea typeface="楷体" panose="02010609060101010101" pitchFamily="49" charset="-122"/>
              </a:rPr>
              <a:t>①  </a:t>
            </a:r>
            <a:r>
              <a:rPr kumimoji="1" lang="zh-CN" altLang="en-US" sz="1600" b="1" dirty="0">
                <a:solidFill>
                  <a:srgbClr val="000000"/>
                </a:solidFill>
                <a:latin typeface="楷体" panose="02010609060101010101" pitchFamily="49" charset="-122"/>
                <a:ea typeface="楷体" panose="02010609060101010101" pitchFamily="49" charset="-122"/>
              </a:rPr>
              <a:t>明确电路的输入条件和相应的输出要求，分别确定输入变量和输出变量的数目和符号；</a:t>
            </a:r>
            <a:endParaRPr kumimoji="1" lang="en-US" altLang="zh-CN" sz="1600" b="1" dirty="0">
              <a:solidFill>
                <a:srgbClr val="000000"/>
              </a:solidFill>
              <a:latin typeface="楷体" panose="02010609060101010101" pitchFamily="49" charset="-122"/>
              <a:ea typeface="楷体" panose="02010609060101010101" pitchFamily="49" charset="-122"/>
            </a:endParaRPr>
          </a:p>
          <a:p>
            <a:pPr marL="444500" indent="-444500">
              <a:spcBef>
                <a:spcPct val="50000"/>
              </a:spcBef>
            </a:pPr>
            <a:r>
              <a:rPr kumimoji="1" lang="en-US" altLang="zh-CN" sz="1600" b="1" dirty="0">
                <a:solidFill>
                  <a:srgbClr val="000000"/>
                </a:solidFill>
                <a:latin typeface="楷体" panose="02010609060101010101" pitchFamily="49" charset="-122"/>
                <a:ea typeface="楷体" panose="02010609060101010101" pitchFamily="49" charset="-122"/>
              </a:rPr>
              <a:t>②  </a:t>
            </a:r>
            <a:r>
              <a:rPr kumimoji="1" lang="zh-CN" altLang="en-US" sz="1600" b="1" dirty="0">
                <a:solidFill>
                  <a:srgbClr val="000000"/>
                </a:solidFill>
                <a:latin typeface="楷体" panose="02010609060101010101" pitchFamily="49" charset="-122"/>
                <a:ea typeface="楷体" panose="02010609060101010101" pitchFamily="49" charset="-122"/>
              </a:rPr>
              <a:t>找出所有可能的状态和状态转换之间的关系。</a:t>
            </a:r>
            <a:endParaRPr kumimoji="1" lang="zh-CN" altLang="en-US" sz="1600" b="1" dirty="0">
              <a:solidFill>
                <a:srgbClr val="000000"/>
              </a:solidFill>
              <a:latin typeface="楷体" panose="02010609060101010101" pitchFamily="49" charset="-122"/>
              <a:ea typeface="楷体" panose="02010609060101010101" pitchFamily="49" charset="-122"/>
            </a:endParaRPr>
          </a:p>
          <a:p>
            <a:pPr marL="444500" indent="-444500">
              <a:spcBef>
                <a:spcPct val="50000"/>
              </a:spcBef>
            </a:pPr>
            <a:r>
              <a:rPr kumimoji="1" lang="en-US" altLang="zh-CN" sz="1600" b="1" dirty="0">
                <a:solidFill>
                  <a:srgbClr val="000000"/>
                </a:solidFill>
                <a:latin typeface="楷体" panose="02010609060101010101" pitchFamily="49" charset="-122"/>
                <a:ea typeface="楷体" panose="02010609060101010101" pitchFamily="49" charset="-122"/>
              </a:rPr>
              <a:t>③  </a:t>
            </a:r>
            <a:r>
              <a:rPr kumimoji="1" lang="zh-CN" altLang="en-US" sz="1600" b="1" dirty="0">
                <a:solidFill>
                  <a:srgbClr val="000000"/>
                </a:solidFill>
                <a:latin typeface="楷体" panose="02010609060101010101" pitchFamily="49" charset="-122"/>
                <a:ea typeface="楷体" panose="02010609060101010101" pitchFamily="49" charset="-122"/>
              </a:rPr>
              <a:t>根据原始状态图建立原始状态表。</a:t>
            </a:r>
            <a:endParaRPr kumimoji="1" lang="zh-CN" altLang="en-US" sz="1600" b="1" dirty="0">
              <a:solidFill>
                <a:srgbClr val="000000"/>
              </a:solidFill>
              <a:latin typeface="楷体" panose="02010609060101010101" pitchFamily="49" charset="-122"/>
              <a:ea typeface="楷体" panose="02010609060101010101" pitchFamily="49" charset="-122"/>
            </a:endParaRPr>
          </a:p>
        </p:txBody>
      </p:sp>
      <p:sp>
        <p:nvSpPr>
          <p:cNvPr id="53" name="椭圆 52"/>
          <p:cNvSpPr/>
          <p:nvPr/>
        </p:nvSpPr>
        <p:spPr>
          <a:xfrm>
            <a:off x="1653898" y="1414738"/>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1</a:t>
            </a:r>
            <a:endParaRPr lang="zh-CN" altLang="en-US" sz="2000" b="1" dirty="0"/>
          </a:p>
        </p:txBody>
      </p:sp>
      <p:sp>
        <p:nvSpPr>
          <p:cNvPr id="54" name="椭圆 53"/>
          <p:cNvSpPr/>
          <p:nvPr/>
        </p:nvSpPr>
        <p:spPr>
          <a:xfrm>
            <a:off x="2766209" y="1405773"/>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2</a:t>
            </a:r>
            <a:endParaRPr lang="zh-CN" altLang="en-US" sz="2000" b="1" dirty="0"/>
          </a:p>
        </p:txBody>
      </p:sp>
      <p:sp>
        <p:nvSpPr>
          <p:cNvPr id="55" name="Rectangle 15"/>
          <p:cNvSpPr>
            <a:spLocks noChangeArrowheads="1"/>
          </p:cNvSpPr>
          <p:nvPr/>
        </p:nvSpPr>
        <p:spPr bwMode="auto">
          <a:xfrm>
            <a:off x="306639" y="3734110"/>
            <a:ext cx="3643626" cy="369332"/>
          </a:xfrm>
          <a:prstGeom prst="rect">
            <a:avLst/>
          </a:prstGeom>
          <a:noFill/>
          <a:ln w="9525" algn="ctr">
            <a:noFill/>
            <a:miter lim="800000"/>
          </a:ln>
        </p:spPr>
        <p:txBody>
          <a:bodyPr wrap="none" lIns="0" rIns="0">
            <a:spAutoFit/>
          </a:bodyPr>
          <a:lstStyle/>
          <a:p>
            <a:pPr>
              <a:buClr>
                <a:schemeClr val="tx1"/>
              </a:buClr>
            </a:pPr>
            <a:r>
              <a:rPr kumimoji="1" lang="zh-CN" altLang="en-US" b="1" dirty="0">
                <a:solidFill>
                  <a:schemeClr val="tx2"/>
                </a:solidFill>
                <a:latin typeface="微软雅黑" panose="020B0503020204020204" pitchFamily="34" charset="-122"/>
                <a:ea typeface="微软雅黑" panose="020B0503020204020204" pitchFamily="34" charset="-122"/>
              </a:rPr>
              <a:t>（</a:t>
            </a:r>
            <a:r>
              <a:rPr kumimoji="1" lang="en-US" altLang="zh-CN" b="1" dirty="0">
                <a:solidFill>
                  <a:schemeClr val="tx2"/>
                </a:solidFill>
                <a:latin typeface="微软雅黑" panose="020B0503020204020204" pitchFamily="34" charset="-122"/>
                <a:ea typeface="微软雅黑" panose="020B0503020204020204" pitchFamily="34" charset="-122"/>
              </a:rPr>
              <a:t>2</a:t>
            </a:r>
            <a:r>
              <a:rPr kumimoji="1" lang="zh-CN" altLang="en-US" b="1" dirty="0">
                <a:solidFill>
                  <a:schemeClr val="tx2"/>
                </a:solidFill>
                <a:latin typeface="微软雅黑" panose="020B0503020204020204" pitchFamily="34" charset="-122"/>
                <a:ea typeface="微软雅黑" panose="020B0503020204020204" pitchFamily="34" charset="-122"/>
              </a:rPr>
              <a:t>）状态化简</a:t>
            </a:r>
            <a:r>
              <a:rPr kumimoji="1" lang="en-US" altLang="zh-CN" b="1" dirty="0">
                <a:solidFill>
                  <a:schemeClr val="tx2"/>
                </a:solidFill>
                <a:latin typeface="微软雅黑" panose="020B0503020204020204" pitchFamily="34" charset="-122"/>
                <a:ea typeface="微软雅黑" panose="020B0503020204020204" pitchFamily="34" charset="-122"/>
              </a:rPr>
              <a:t>——</a:t>
            </a:r>
            <a:r>
              <a:rPr kumimoji="1" lang="zh-CN" altLang="en-US" b="1" dirty="0">
                <a:solidFill>
                  <a:schemeClr val="tx2"/>
                </a:solidFill>
                <a:latin typeface="微软雅黑" panose="020B0503020204020204" pitchFamily="34" charset="-122"/>
                <a:ea typeface="微软雅黑" panose="020B0503020204020204" pitchFamily="34" charset="-122"/>
              </a:rPr>
              <a:t>求出最简状态图</a:t>
            </a:r>
            <a:endParaRPr kumimoji="1" lang="zh-CN" altLang="en-US" b="1" dirty="0">
              <a:solidFill>
                <a:schemeClr val="tx2"/>
              </a:solidFill>
              <a:latin typeface="微软雅黑" panose="020B0503020204020204" pitchFamily="34" charset="-122"/>
              <a:ea typeface="微软雅黑" panose="020B0503020204020204" pitchFamily="34" charset="-122"/>
            </a:endParaRPr>
          </a:p>
        </p:txBody>
      </p:sp>
      <p:sp>
        <p:nvSpPr>
          <p:cNvPr id="57" name="Rectangle 16"/>
          <p:cNvSpPr>
            <a:spLocks noChangeArrowheads="1"/>
          </p:cNvSpPr>
          <p:nvPr/>
        </p:nvSpPr>
        <p:spPr bwMode="auto">
          <a:xfrm>
            <a:off x="829065" y="4238596"/>
            <a:ext cx="6146800" cy="338554"/>
          </a:xfrm>
          <a:prstGeom prst="rect">
            <a:avLst/>
          </a:prstGeom>
          <a:noFill/>
          <a:ln w="9525" algn="ctr">
            <a:noFill/>
            <a:miter lim="800000"/>
          </a:ln>
        </p:spPr>
        <p:txBody>
          <a:bodyPr lIns="0" rIns="0">
            <a:spAutoFit/>
          </a:bodyPr>
          <a:lstStyle/>
          <a:p>
            <a:pPr marL="1257300" indent="-1257300">
              <a:spcBef>
                <a:spcPct val="50000"/>
              </a:spcBef>
            </a:pPr>
            <a:r>
              <a:rPr kumimoji="1" lang="zh-CN" altLang="en-US" sz="1600" b="1" dirty="0">
                <a:solidFill>
                  <a:srgbClr val="000000"/>
                </a:solidFill>
                <a:latin typeface="楷体" panose="02010609060101010101" pitchFamily="49" charset="-122"/>
                <a:ea typeface="楷体" panose="02010609060101010101" pitchFamily="49" charset="-122"/>
              </a:rPr>
              <a:t>去除多余状态的过程称为状态化简。</a:t>
            </a:r>
            <a:endParaRPr kumimoji="1" lang="zh-CN" altLang="en-US" sz="1600" b="1" dirty="0">
              <a:solidFill>
                <a:srgbClr val="000000"/>
              </a:solidFill>
              <a:latin typeface="楷体" panose="02010609060101010101" pitchFamily="49" charset="-122"/>
              <a:ea typeface="楷体" panose="02010609060101010101" pitchFamily="49" charset="-122"/>
            </a:endParaRPr>
          </a:p>
        </p:txBody>
      </p:sp>
      <p:sp>
        <p:nvSpPr>
          <p:cNvPr id="58" name="Rectangle 17"/>
          <p:cNvSpPr>
            <a:spLocks noChangeArrowheads="1"/>
          </p:cNvSpPr>
          <p:nvPr/>
        </p:nvSpPr>
        <p:spPr bwMode="auto">
          <a:xfrm>
            <a:off x="829065" y="4664356"/>
            <a:ext cx="7855666" cy="338554"/>
          </a:xfrm>
          <a:prstGeom prst="rect">
            <a:avLst/>
          </a:prstGeom>
          <a:noFill/>
          <a:ln w="9525" algn="ctr">
            <a:noFill/>
            <a:miter lim="800000"/>
          </a:ln>
        </p:spPr>
        <p:txBody>
          <a:bodyPr wrap="square" lIns="0" rIns="0">
            <a:spAutoFit/>
          </a:bodyPr>
          <a:lstStyle/>
          <a:p>
            <a:pPr marL="984250" indent="-984250">
              <a:spcBef>
                <a:spcPct val="50000"/>
              </a:spcBef>
            </a:pPr>
            <a:r>
              <a:rPr kumimoji="1" lang="zh-CN" altLang="en-US" sz="1600" b="1" dirty="0">
                <a:solidFill>
                  <a:srgbClr val="CC00CC"/>
                </a:solidFill>
                <a:latin typeface="微软雅黑" panose="020B0503020204020204" pitchFamily="34" charset="-122"/>
                <a:ea typeface="微软雅黑" panose="020B0503020204020204" pitchFamily="34" charset="-122"/>
              </a:rPr>
              <a:t>等价状态</a:t>
            </a:r>
            <a:r>
              <a:rPr kumimoji="1" lang="zh-CN" altLang="en-US" sz="1600" b="1" dirty="0">
                <a:solidFill>
                  <a:srgbClr val="000000"/>
                </a:solidFill>
                <a:latin typeface="楷体" panose="02010609060101010101" pitchFamily="49" charset="-122"/>
                <a:ea typeface="楷体" panose="02010609060101010101" pitchFamily="49" charset="-122"/>
              </a:rPr>
              <a:t>：在相同的输入下有相同的输出，并转换到同一个次态去的两个状态。</a:t>
            </a:r>
            <a:endParaRPr kumimoji="1" lang="zh-CN" altLang="en-US" sz="1600" b="1" dirty="0">
              <a:solidFill>
                <a:srgbClr val="000000"/>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1000"/>
                                        <p:tgtEl>
                                          <p:spTgt spid="53"/>
                                        </p:tgtEl>
                                        <p:attrNameLst>
                                          <p:attrName>ppt_x</p:attrName>
                                        </p:attrNameLst>
                                      </p:cBhvr>
                                      <p:tavLst>
                                        <p:tav tm="0">
                                          <p:val>
                                            <p:strVal val="#ppt_x-#ppt_w*1.125000"/>
                                          </p:val>
                                        </p:tav>
                                        <p:tav tm="100000">
                                          <p:val>
                                            <p:strVal val="#ppt_x"/>
                                          </p:val>
                                        </p:tav>
                                      </p:tavLst>
                                    </p:anim>
                                    <p:animEffect transition="in" filter="wipe(right)">
                                      <p:cBhvr>
                                        <p:cTn id="8" dur="1000"/>
                                        <p:tgtEl>
                                          <p:spTgt spid="53"/>
                                        </p:tgtEl>
                                      </p:cBhvr>
                                    </p:animEffect>
                                  </p:childTnLst>
                                </p:cTn>
                              </p:par>
                            </p:childTnLst>
                          </p:cTn>
                        </p:par>
                        <p:par>
                          <p:cTn id="9" fill="hold">
                            <p:stCondLst>
                              <p:cond delay="1000"/>
                            </p:stCondLst>
                            <p:childTnLst>
                              <p:par>
                                <p:cTn id="10" presetID="22" presetClass="entr" presetSubtype="8" fill="hold" grpId="0" nodeType="after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1000"/>
                                        <p:tgtEl>
                                          <p:spTgt spid="51"/>
                                        </p:tgtEl>
                                      </p:cBhvr>
                                    </p:animEffect>
                                  </p:childTnLst>
                                </p:cTn>
                              </p:par>
                            </p:childTnLst>
                          </p:cTn>
                        </p:par>
                        <p:par>
                          <p:cTn id="13" fill="hold">
                            <p:stCondLst>
                              <p:cond delay="2000"/>
                            </p:stCondLst>
                            <p:childTnLst>
                              <p:par>
                                <p:cTn id="14" presetID="22" presetClass="entr" presetSubtype="8" fill="hold" grpId="0" nodeType="after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wipe(left)">
                                      <p:cBhvr>
                                        <p:cTn id="16" dur="1000"/>
                                        <p:tgtEl>
                                          <p:spTgt spid="52"/>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anim calcmode="lin" valueType="num">
                                      <p:cBhvr additive="base">
                                        <p:cTn id="21" dur="1000"/>
                                        <p:tgtEl>
                                          <p:spTgt spid="54"/>
                                        </p:tgtEl>
                                        <p:attrNameLst>
                                          <p:attrName>ppt_x</p:attrName>
                                        </p:attrNameLst>
                                      </p:cBhvr>
                                      <p:tavLst>
                                        <p:tav tm="0">
                                          <p:val>
                                            <p:strVal val="#ppt_x-#ppt_w*1.125000"/>
                                          </p:val>
                                        </p:tav>
                                        <p:tav tm="100000">
                                          <p:val>
                                            <p:strVal val="#ppt_x"/>
                                          </p:val>
                                        </p:tav>
                                      </p:tavLst>
                                    </p:anim>
                                    <p:animEffect transition="in" filter="wipe(right)">
                                      <p:cBhvr>
                                        <p:cTn id="22" dur="1000"/>
                                        <p:tgtEl>
                                          <p:spTgt spid="54"/>
                                        </p:tgtEl>
                                      </p:cBhvr>
                                    </p:animEffect>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55"/>
                                        </p:tgtEl>
                                        <p:attrNameLst>
                                          <p:attrName>style.visibility</p:attrName>
                                        </p:attrNameLst>
                                      </p:cBhvr>
                                      <p:to>
                                        <p:strVal val="visible"/>
                                      </p:to>
                                    </p:set>
                                    <p:animEffect transition="in" filter="wipe(left)">
                                      <p:cBhvr>
                                        <p:cTn id="26" dur="1000"/>
                                        <p:tgtEl>
                                          <p:spTgt spid="55"/>
                                        </p:tgtEl>
                                      </p:cBhvr>
                                    </p:animEffect>
                                  </p:childTnLst>
                                </p:cTn>
                              </p:par>
                            </p:childTnLst>
                          </p:cTn>
                        </p:par>
                        <p:par>
                          <p:cTn id="27" fill="hold">
                            <p:stCondLst>
                              <p:cond delay="2000"/>
                            </p:stCondLst>
                            <p:childTnLst>
                              <p:par>
                                <p:cTn id="28" presetID="22" presetClass="entr" presetSubtype="8" fill="hold" grpId="0" nodeType="afterEffect">
                                  <p:stCondLst>
                                    <p:cond delay="0"/>
                                  </p:stCondLst>
                                  <p:childTnLst>
                                    <p:set>
                                      <p:cBhvr>
                                        <p:cTn id="29" dur="1" fill="hold">
                                          <p:stCondLst>
                                            <p:cond delay="0"/>
                                          </p:stCondLst>
                                        </p:cTn>
                                        <p:tgtEl>
                                          <p:spTgt spid="57"/>
                                        </p:tgtEl>
                                        <p:attrNameLst>
                                          <p:attrName>style.visibility</p:attrName>
                                        </p:attrNameLst>
                                      </p:cBhvr>
                                      <p:to>
                                        <p:strVal val="visible"/>
                                      </p:to>
                                    </p:set>
                                    <p:animEffect transition="in" filter="wipe(left)">
                                      <p:cBhvr>
                                        <p:cTn id="30" dur="1000"/>
                                        <p:tgtEl>
                                          <p:spTgt spid="57"/>
                                        </p:tgtEl>
                                      </p:cBhvr>
                                    </p:animEffect>
                                  </p:childTnLst>
                                </p:cTn>
                              </p:par>
                            </p:childTnLst>
                          </p:cTn>
                        </p:par>
                        <p:par>
                          <p:cTn id="31" fill="hold">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wipe(left)">
                                      <p:cBhvr>
                                        <p:cTn id="34" dur="10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53" grpId="0" animBg="1"/>
      <p:bldP spid="54" grpId="0" animBg="1"/>
      <p:bldP spid="55" grpId="0"/>
      <p:bldP spid="57" grpId="0"/>
      <p:bldP spid="5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375881" y="754514"/>
            <a:ext cx="4653026" cy="420971"/>
            <a:chOff x="670560" y="892917"/>
            <a:chExt cx="4653026" cy="420971"/>
          </a:xfrm>
        </p:grpSpPr>
        <p:sp>
          <p:nvSpPr>
            <p:cNvPr id="28" name="矩形 27"/>
            <p:cNvSpPr/>
            <p:nvPr/>
          </p:nvSpPr>
          <p:spPr>
            <a:xfrm>
              <a:off x="1035233" y="913778"/>
              <a:ext cx="4288353"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同步时序逻辑电路设计的目的与步骤</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9"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44" name="五边形 43"/>
          <p:cNvSpPr/>
          <p:nvPr/>
        </p:nvSpPr>
        <p:spPr>
          <a:xfrm>
            <a:off x="863465" y="1252495"/>
            <a:ext cx="1019175" cy="783183"/>
          </a:xfrm>
          <a:prstGeom prst="homePlate">
            <a:avLst>
              <a:gd name="adj" fmla="val 38022"/>
            </a:avLst>
          </a:prstGeom>
          <a:solidFill>
            <a:schemeClr val="accent4"/>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待设计</a:t>
            </a:r>
            <a:endParaRPr lang="en-US" altLang="zh-CN" sz="1400" dirty="0">
              <a:solidFill>
                <a:schemeClr val="tx1"/>
              </a:solidFill>
              <a:latin typeface="微软雅黑" panose="020B0503020204020204" pitchFamily="34" charset="-122"/>
              <a:ea typeface="微软雅黑" panose="020B0503020204020204" pitchFamily="34" charset="-122"/>
            </a:endParaRPr>
          </a:p>
          <a:p>
            <a:pPr algn="ctr"/>
            <a:r>
              <a:rPr lang="zh-CN" altLang="en-US" sz="1400" dirty="0">
                <a:solidFill>
                  <a:schemeClr val="tx1"/>
                </a:solidFill>
                <a:latin typeface="微软雅黑" panose="020B0503020204020204" pitchFamily="34" charset="-122"/>
                <a:ea typeface="微软雅黑" panose="020B0503020204020204" pitchFamily="34" charset="-122"/>
              </a:rPr>
              <a:t>电路的</a:t>
            </a:r>
            <a:r>
              <a:rPr lang="zh-CN" altLang="zh-CN" sz="1400" dirty="0">
                <a:solidFill>
                  <a:schemeClr val="tx1"/>
                </a:solidFill>
                <a:latin typeface="微软雅黑" panose="020B0503020204020204" pitchFamily="34" charset="-122"/>
                <a:ea typeface="微软雅黑" panose="020B0503020204020204" pitchFamily="34" charset="-122"/>
              </a:rPr>
              <a:t>逻辑功能</a:t>
            </a:r>
            <a:endParaRPr lang="zh-CN" altLang="en-US" sz="1400" b="1" dirty="0">
              <a:solidFill>
                <a:srgbClr val="0000FF"/>
              </a:solidFill>
            </a:endParaRPr>
          </a:p>
        </p:txBody>
      </p:sp>
      <p:sp>
        <p:nvSpPr>
          <p:cNvPr id="45" name="燕尾形 44"/>
          <p:cNvSpPr/>
          <p:nvPr/>
        </p:nvSpPr>
        <p:spPr>
          <a:xfrm>
            <a:off x="1652017" y="1252495"/>
            <a:ext cx="1326113" cy="783183"/>
          </a:xfrm>
          <a:prstGeom prst="chevron">
            <a:avLst>
              <a:gd name="adj" fmla="val 37842"/>
            </a:avLst>
          </a:prstGeom>
          <a:solidFill>
            <a:srgbClr val="92D050"/>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dirty="0">
                <a:solidFill>
                  <a:schemeClr val="tx1"/>
                </a:solidFill>
                <a:latin typeface="微软雅黑" panose="020B0503020204020204" pitchFamily="34" charset="-122"/>
                <a:ea typeface="微软雅黑" panose="020B0503020204020204" pitchFamily="34" charset="-122"/>
              </a:rPr>
              <a:t>建立原始状态图</a:t>
            </a:r>
            <a:r>
              <a:rPr lang="en-US" altLang="zh-CN" sz="1400" dirty="0">
                <a:solidFill>
                  <a:schemeClr val="tx1"/>
                </a:solidFill>
                <a:latin typeface="微软雅黑" panose="020B0503020204020204" pitchFamily="34" charset="-122"/>
                <a:ea typeface="微软雅黑" panose="020B0503020204020204" pitchFamily="34" charset="-122"/>
              </a:rPr>
              <a:t>(</a:t>
            </a:r>
            <a:r>
              <a:rPr lang="zh-CN" altLang="zh-CN" sz="1400" dirty="0">
                <a:solidFill>
                  <a:schemeClr val="tx1"/>
                </a:solidFill>
                <a:latin typeface="微软雅黑" panose="020B0503020204020204" pitchFamily="34" charset="-122"/>
                <a:ea typeface="微软雅黑" panose="020B0503020204020204" pitchFamily="34" charset="-122"/>
              </a:rPr>
              <a:t>表</a:t>
            </a:r>
            <a:r>
              <a:rPr lang="en-US" altLang="zh-CN" sz="1400" dirty="0">
                <a:solidFill>
                  <a:schemeClr val="tx1"/>
                </a:solidFill>
                <a:latin typeface="微软雅黑" panose="020B0503020204020204" pitchFamily="34" charset="-122"/>
                <a:ea typeface="微软雅黑" panose="020B0503020204020204" pitchFamily="34" charset="-122"/>
              </a:rPr>
              <a:t>)</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46" name="燕尾形 45"/>
          <p:cNvSpPr/>
          <p:nvPr/>
        </p:nvSpPr>
        <p:spPr>
          <a:xfrm>
            <a:off x="2747507" y="1252495"/>
            <a:ext cx="1222908" cy="783183"/>
          </a:xfrm>
          <a:prstGeom prst="chevron">
            <a:avLst>
              <a:gd name="adj" fmla="val 37668"/>
            </a:avLst>
          </a:prstGeom>
          <a:solidFill>
            <a:schemeClr val="accent1">
              <a:lumMod val="60000"/>
              <a:lumOff val="40000"/>
            </a:schemeClr>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状态</a:t>
            </a:r>
            <a:endParaRPr lang="en-US" altLang="zh-CN" sz="1400" dirty="0">
              <a:solidFill>
                <a:schemeClr val="tx1"/>
              </a:solidFill>
              <a:latin typeface="微软雅黑" panose="020B0503020204020204" pitchFamily="34" charset="-122"/>
              <a:ea typeface="微软雅黑" panose="020B0503020204020204" pitchFamily="34" charset="-122"/>
            </a:endParaRPr>
          </a:p>
          <a:p>
            <a:pPr algn="ctr"/>
            <a:r>
              <a:rPr lang="zh-CN" altLang="en-US" sz="1400" dirty="0">
                <a:solidFill>
                  <a:schemeClr val="tx1"/>
                </a:solidFill>
                <a:latin typeface="微软雅黑" panose="020B0503020204020204" pitchFamily="34" charset="-122"/>
                <a:ea typeface="微软雅黑" panose="020B0503020204020204" pitchFamily="34" charset="-122"/>
              </a:rPr>
              <a:t>化简</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47" name="燕尾形 46"/>
          <p:cNvSpPr/>
          <p:nvPr/>
        </p:nvSpPr>
        <p:spPr>
          <a:xfrm>
            <a:off x="3739792" y="1252495"/>
            <a:ext cx="1248296" cy="783183"/>
          </a:xfrm>
          <a:prstGeom prst="chevron">
            <a:avLst>
              <a:gd name="adj" fmla="val 37243"/>
            </a:avLst>
          </a:prstGeom>
          <a:solidFill>
            <a:srgbClr val="FF66FF"/>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状态编码</a:t>
            </a:r>
            <a:r>
              <a:rPr lang="en-US" altLang="zh-CN" sz="1400" dirty="0">
                <a:solidFill>
                  <a:schemeClr val="tx1"/>
                </a:solidFill>
                <a:latin typeface="微软雅黑" panose="020B0503020204020204" pitchFamily="34" charset="-122"/>
                <a:ea typeface="微软雅黑" panose="020B0503020204020204" pitchFamily="34" charset="-122"/>
              </a:rPr>
              <a:t>/</a:t>
            </a:r>
            <a:r>
              <a:rPr lang="zh-CN" altLang="en-US" sz="1400" dirty="0">
                <a:solidFill>
                  <a:schemeClr val="tx1"/>
                </a:solidFill>
                <a:latin typeface="微软雅黑" panose="020B0503020204020204" pitchFamily="34" charset="-122"/>
                <a:ea typeface="微软雅黑" panose="020B0503020204020204" pitchFamily="34" charset="-122"/>
              </a:rPr>
              <a:t>分配</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48" name="燕尾形 47"/>
          <p:cNvSpPr/>
          <p:nvPr/>
        </p:nvSpPr>
        <p:spPr>
          <a:xfrm>
            <a:off x="4757465" y="1252495"/>
            <a:ext cx="1400068" cy="783183"/>
          </a:xfrm>
          <a:prstGeom prst="chevron">
            <a:avLst>
              <a:gd name="adj" fmla="val 37243"/>
            </a:avLst>
          </a:prstGeom>
          <a:solidFill>
            <a:schemeClr val="accent2">
              <a:lumMod val="40000"/>
              <a:lumOff val="60000"/>
            </a:schemeClr>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选择触发器并确定数目</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49" name="燕尾形 48"/>
          <p:cNvSpPr/>
          <p:nvPr/>
        </p:nvSpPr>
        <p:spPr>
          <a:xfrm>
            <a:off x="5926910" y="1252495"/>
            <a:ext cx="1356644" cy="783183"/>
          </a:xfrm>
          <a:prstGeom prst="chevron">
            <a:avLst>
              <a:gd name="adj" fmla="val 37243"/>
            </a:avLst>
          </a:prstGeom>
          <a:solidFill>
            <a:schemeClr val="accent6">
              <a:lumMod val="40000"/>
              <a:lumOff val="60000"/>
            </a:schemeClr>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dirty="0">
                <a:solidFill>
                  <a:schemeClr val="tx1"/>
                </a:solidFill>
                <a:latin typeface="微软雅黑" panose="020B0503020204020204" pitchFamily="34" charset="-122"/>
                <a:ea typeface="微软雅黑" panose="020B0503020204020204" pitchFamily="34" charset="-122"/>
              </a:rPr>
              <a:t>确定激励方程和输出方程</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50" name="燕尾形 49"/>
          <p:cNvSpPr/>
          <p:nvPr/>
        </p:nvSpPr>
        <p:spPr>
          <a:xfrm>
            <a:off x="7052930" y="1252495"/>
            <a:ext cx="1371148" cy="783183"/>
          </a:xfrm>
          <a:prstGeom prst="chevron">
            <a:avLst>
              <a:gd name="adj" fmla="val 37086"/>
            </a:avLst>
          </a:prstGeom>
          <a:solidFill>
            <a:srgbClr val="66FFCC"/>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dirty="0">
                <a:solidFill>
                  <a:schemeClr val="tx1"/>
                </a:solidFill>
                <a:latin typeface="微软雅黑" panose="020B0503020204020204" pitchFamily="34" charset="-122"/>
                <a:ea typeface="微软雅黑" panose="020B0503020204020204" pitchFamily="34" charset="-122"/>
              </a:rPr>
              <a:t>画出逻辑图并检查自启动</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53" name="椭圆 52"/>
          <p:cNvSpPr/>
          <p:nvPr/>
        </p:nvSpPr>
        <p:spPr>
          <a:xfrm>
            <a:off x="1653898" y="1414738"/>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1</a:t>
            </a:r>
            <a:endParaRPr lang="zh-CN" altLang="en-US" sz="2000" b="1" dirty="0"/>
          </a:p>
        </p:txBody>
      </p:sp>
      <p:sp>
        <p:nvSpPr>
          <p:cNvPr id="54" name="椭圆 53"/>
          <p:cNvSpPr/>
          <p:nvPr/>
        </p:nvSpPr>
        <p:spPr>
          <a:xfrm>
            <a:off x="2766209" y="1405773"/>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2</a:t>
            </a:r>
            <a:endParaRPr lang="zh-CN" altLang="en-US" sz="2000" b="1" dirty="0"/>
          </a:p>
        </p:txBody>
      </p:sp>
      <p:grpSp>
        <p:nvGrpSpPr>
          <p:cNvPr id="3" name="组合 2"/>
          <p:cNvGrpSpPr/>
          <p:nvPr/>
        </p:nvGrpSpPr>
        <p:grpSpPr>
          <a:xfrm>
            <a:off x="351373" y="3777753"/>
            <a:ext cx="7923009" cy="1045017"/>
            <a:chOff x="351265" y="3530384"/>
            <a:chExt cx="7923009" cy="1045017"/>
          </a:xfrm>
        </p:grpSpPr>
        <p:sp>
          <p:nvSpPr>
            <p:cNvPr id="20" name="Rectangle 15"/>
            <p:cNvSpPr>
              <a:spLocks noChangeArrowheads="1"/>
            </p:cNvSpPr>
            <p:nvPr/>
          </p:nvSpPr>
          <p:spPr bwMode="auto">
            <a:xfrm>
              <a:off x="351265" y="3530384"/>
              <a:ext cx="2912657" cy="369332"/>
            </a:xfrm>
            <a:prstGeom prst="rect">
              <a:avLst/>
            </a:prstGeom>
            <a:noFill/>
            <a:ln w="9525" algn="ctr">
              <a:noFill/>
              <a:miter lim="800000"/>
            </a:ln>
          </p:spPr>
          <p:txBody>
            <a:bodyPr wrap="none" lIns="0" rIns="0">
              <a:spAutoFit/>
            </a:bodyPr>
            <a:lstStyle/>
            <a:p>
              <a:pPr>
                <a:buClr>
                  <a:schemeClr val="tx1"/>
                </a:buClr>
              </a:pPr>
              <a:r>
                <a:rPr kumimoji="1" lang="zh-CN" altLang="en-US" b="1" dirty="0">
                  <a:solidFill>
                    <a:schemeClr val="tx2"/>
                  </a:solidFill>
                  <a:latin typeface="微软雅黑" panose="020B0503020204020204" pitchFamily="34" charset="-122"/>
                  <a:ea typeface="微软雅黑" panose="020B0503020204020204" pitchFamily="34" charset="-122"/>
                </a:rPr>
                <a:t>（</a:t>
              </a:r>
              <a:r>
                <a:rPr kumimoji="1" lang="en-US" altLang="zh-CN" b="1" dirty="0">
                  <a:solidFill>
                    <a:schemeClr val="tx2"/>
                  </a:solidFill>
                  <a:latin typeface="微软雅黑" panose="020B0503020204020204" pitchFamily="34" charset="-122"/>
                  <a:ea typeface="微软雅黑" panose="020B0503020204020204" pitchFamily="34" charset="-122"/>
                </a:rPr>
                <a:t>4</a:t>
              </a:r>
              <a:r>
                <a:rPr kumimoji="1" lang="zh-CN" altLang="en-US" b="1" dirty="0">
                  <a:solidFill>
                    <a:schemeClr val="tx2"/>
                  </a:solidFill>
                  <a:latin typeface="微软雅黑" panose="020B0503020204020204" pitchFamily="34" charset="-122"/>
                  <a:ea typeface="微软雅黑" panose="020B0503020204020204" pitchFamily="34" charset="-122"/>
                </a:rPr>
                <a:t>）选择触发器并确定数目</a:t>
              </a:r>
              <a:endParaRPr kumimoji="1" lang="zh-CN" altLang="en-US" b="1" dirty="0">
                <a:solidFill>
                  <a:schemeClr val="tx2"/>
                </a:solidFill>
                <a:latin typeface="微软雅黑" panose="020B0503020204020204" pitchFamily="34" charset="-122"/>
                <a:ea typeface="微软雅黑" panose="020B0503020204020204" pitchFamily="34" charset="-122"/>
              </a:endParaRPr>
            </a:p>
          </p:txBody>
        </p:sp>
        <p:sp>
          <p:nvSpPr>
            <p:cNvPr id="21" name="矩形 20"/>
            <p:cNvSpPr/>
            <p:nvPr/>
          </p:nvSpPr>
          <p:spPr>
            <a:xfrm>
              <a:off x="663238" y="3929070"/>
              <a:ext cx="7611036" cy="646331"/>
            </a:xfrm>
            <a:prstGeom prst="rect">
              <a:avLst/>
            </a:prstGeom>
          </p:spPr>
          <p:txBody>
            <a:bodyPr wrap="square">
              <a:spAutoFit/>
            </a:bodyPr>
            <a:lstStyle/>
            <a:p>
              <a:pPr indent="449580" eaLnBrk="0" hangingPunct="0"/>
              <a:r>
                <a:rPr kumimoji="1" lang="zh-CN" altLang="en-US" dirty="0">
                  <a:latin typeface="Times New Roman" panose="02020603050405020304" pitchFamily="18" charset="0"/>
                  <a:ea typeface="楷体" panose="02010609060101010101" pitchFamily="49" charset="-122"/>
                  <a:cs typeface="Times New Roman" panose="02020603050405020304" pitchFamily="18" charset="0"/>
                </a:rPr>
                <a:t>根据要求选择触发器（</a:t>
              </a:r>
              <a:r>
                <a:rPr kumimoji="1" lang="en-US" altLang="zh-CN" dirty="0">
                  <a:latin typeface="Times New Roman" panose="02020603050405020304" pitchFamily="18" charset="0"/>
                  <a:ea typeface="楷体" panose="02010609060101010101" pitchFamily="49" charset="-122"/>
                  <a:cs typeface="Times New Roman" panose="02020603050405020304" pitchFamily="18" charset="0"/>
                </a:rPr>
                <a:t>D</a:t>
              </a:r>
              <a:r>
                <a:rPr kumimoji="1"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dirty="0">
                  <a:latin typeface="Times New Roman" panose="02020603050405020304" pitchFamily="18" charset="0"/>
                  <a:ea typeface="楷体" panose="02010609060101010101" pitchFamily="49" charset="-122"/>
                  <a:cs typeface="Times New Roman" panose="02020603050405020304" pitchFamily="18" charset="0"/>
                </a:rPr>
                <a:t>JK</a:t>
              </a:r>
              <a:r>
                <a:rPr kumimoji="1" lang="zh-CN" altLang="en-US" dirty="0">
                  <a:latin typeface="Times New Roman" panose="02020603050405020304" pitchFamily="18" charset="0"/>
                  <a:ea typeface="楷体" panose="02010609060101010101" pitchFamily="49" charset="-122"/>
                  <a:cs typeface="Times New Roman" panose="02020603050405020304" pitchFamily="18" charset="0"/>
                </a:rPr>
                <a:t>等），由状态数或状态编码的位数确定触发器的个数，</a:t>
              </a:r>
              <a:endParaRPr kumimoji="1"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grpSp>
      <p:grpSp>
        <p:nvGrpSpPr>
          <p:cNvPr id="2" name="组合 1"/>
          <p:cNvGrpSpPr/>
          <p:nvPr/>
        </p:nvGrpSpPr>
        <p:grpSpPr>
          <a:xfrm>
            <a:off x="348009" y="2112688"/>
            <a:ext cx="7996160" cy="1398265"/>
            <a:chOff x="347741" y="2144130"/>
            <a:chExt cx="7996160" cy="1398265"/>
          </a:xfrm>
        </p:grpSpPr>
        <p:sp>
          <p:nvSpPr>
            <p:cNvPr id="19" name="Rectangle 11"/>
            <p:cNvSpPr>
              <a:spLocks noChangeArrowheads="1"/>
            </p:cNvSpPr>
            <p:nvPr/>
          </p:nvSpPr>
          <p:spPr bwMode="auto">
            <a:xfrm>
              <a:off x="347741" y="2144130"/>
              <a:ext cx="7996160" cy="850169"/>
            </a:xfrm>
            <a:prstGeom prst="rect">
              <a:avLst/>
            </a:prstGeom>
            <a:noFill/>
            <a:ln w="9525" algn="ctr">
              <a:noFill/>
              <a:miter lim="800000"/>
            </a:ln>
          </p:spPr>
          <p:txBody>
            <a:bodyPr wrap="square" lIns="0" rIns="0">
              <a:spAutoFit/>
            </a:bodyPr>
            <a:lstStyle/>
            <a:p>
              <a:pPr marL="542925" indent="-542925">
                <a:lnSpc>
                  <a:spcPct val="145000"/>
                </a:lnSpc>
                <a:buClr>
                  <a:schemeClr val="tx1"/>
                </a:buClr>
              </a:pPr>
              <a:r>
                <a:rPr kumimoji="1" lang="zh-CN" altLang="en-US" b="1" dirty="0">
                  <a:solidFill>
                    <a:schemeClr val="tx2"/>
                  </a:solidFill>
                  <a:latin typeface="微软雅黑" panose="020B0503020204020204" pitchFamily="34" charset="-122"/>
                  <a:ea typeface="微软雅黑" panose="020B0503020204020204" pitchFamily="34" charset="-122"/>
                </a:rPr>
                <a:t>（</a:t>
              </a:r>
              <a:r>
                <a:rPr kumimoji="1" lang="en-US" altLang="zh-CN" b="1" dirty="0">
                  <a:solidFill>
                    <a:schemeClr val="tx2"/>
                  </a:solidFill>
                  <a:latin typeface="微软雅黑" panose="020B0503020204020204" pitchFamily="34" charset="-122"/>
                  <a:ea typeface="微软雅黑" panose="020B0503020204020204" pitchFamily="34" charset="-122"/>
                </a:rPr>
                <a:t>3</a:t>
              </a:r>
              <a:r>
                <a:rPr kumimoji="1" lang="zh-CN" altLang="en-US" b="1" dirty="0">
                  <a:solidFill>
                    <a:schemeClr val="tx2"/>
                  </a:solidFill>
                  <a:latin typeface="微软雅黑" panose="020B0503020204020204" pitchFamily="34" charset="-122"/>
                  <a:ea typeface="微软雅黑" panose="020B0503020204020204" pitchFamily="34" charset="-122"/>
                </a:rPr>
                <a:t>）状态编码（状态分配）：</a:t>
              </a:r>
              <a:r>
                <a:rPr kumimoji="1" lang="zh-CN" altLang="zh-CN" b="1" dirty="0">
                  <a:solidFill>
                    <a:schemeClr val="tx2"/>
                  </a:solidFill>
                  <a:latin typeface="微软雅黑" panose="020B0503020204020204" pitchFamily="34" charset="-122"/>
                  <a:ea typeface="微软雅黑" panose="020B0503020204020204" pitchFamily="34" charset="-122"/>
                </a:rPr>
                <a:t>给每个状态指定一个特定的二进制代码</a:t>
              </a:r>
              <a:r>
                <a:rPr kumimoji="1" lang="zh-CN" altLang="en-US" b="1" dirty="0">
                  <a:solidFill>
                    <a:schemeClr val="tx2"/>
                  </a:solidFill>
                  <a:latin typeface="微软雅黑" panose="020B0503020204020204" pitchFamily="34" charset="-122"/>
                  <a:ea typeface="微软雅黑" panose="020B0503020204020204" pitchFamily="34" charset="-122"/>
                </a:rPr>
                <a:t>，得编码状态图及状态表。</a:t>
              </a:r>
              <a:endParaRPr kumimoji="1" lang="zh-CN" altLang="en-US" b="1" dirty="0">
                <a:solidFill>
                  <a:schemeClr val="tx2"/>
                </a:solidFill>
                <a:latin typeface="微软雅黑" panose="020B0503020204020204" pitchFamily="34" charset="-122"/>
                <a:ea typeface="微软雅黑" panose="020B0503020204020204" pitchFamily="34" charset="-122"/>
              </a:endParaRPr>
            </a:p>
          </p:txBody>
        </p:sp>
        <p:sp>
          <p:nvSpPr>
            <p:cNvPr id="22" name="Rectangle 13"/>
            <p:cNvSpPr>
              <a:spLocks noChangeArrowheads="1"/>
            </p:cNvSpPr>
            <p:nvPr/>
          </p:nvSpPr>
          <p:spPr bwMode="auto">
            <a:xfrm>
              <a:off x="1514104" y="3173063"/>
              <a:ext cx="6481230" cy="369332"/>
            </a:xfrm>
            <a:prstGeom prst="rect">
              <a:avLst/>
            </a:prstGeom>
          </p:spPr>
          <p:style>
            <a:lnRef idx="1">
              <a:schemeClr val="accent2"/>
            </a:lnRef>
            <a:fillRef idx="2">
              <a:schemeClr val="accent2"/>
            </a:fillRef>
            <a:effectRef idx="1">
              <a:schemeClr val="accent2"/>
            </a:effectRef>
            <a:fontRef idx="minor">
              <a:schemeClr val="dk1"/>
            </a:fontRef>
          </p:style>
          <p:txBody>
            <a:bodyPr wrap="square" anchor="ctr">
              <a:spAutoFit/>
            </a:bodyPr>
            <a:lstStyle/>
            <a:p>
              <a:pPr algn="ctr"/>
              <a:r>
                <a:rPr kumimoji="1"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2</a:t>
              </a:r>
              <a:r>
                <a:rPr kumimoji="1" lang="en-US" altLang="zh-CN" i="1" baseline="30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a:t>
              </a:r>
              <a:r>
                <a:rPr kumimoji="1" lang="en-US" altLang="zh-CN" baseline="30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  </a:t>
              </a:r>
              <a:r>
                <a:rPr kumimoji="1"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&lt;  </a:t>
              </a:r>
              <a:r>
                <a:rPr kumimoji="1" lang="en-US" altLang="zh-CN"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M  </a:t>
              </a:r>
              <a:r>
                <a:rPr kumimoji="1"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2</a:t>
              </a:r>
              <a:r>
                <a:rPr kumimoji="1" lang="en-US" altLang="zh-CN" i="1" baseline="30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a:t>
              </a:r>
              <a:r>
                <a:rPr kumimoji="1" lang="en-US" altLang="zh-CN" baseline="30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kumimoji="1"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M:</a:t>
              </a:r>
              <a:r>
                <a:rPr kumimoji="1"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状态数；</a:t>
              </a:r>
              <a:r>
                <a:rPr kumimoji="1"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n</a:t>
              </a:r>
              <a:r>
                <a:rPr kumimoji="1"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：编码位数即触发器的个数）</a:t>
              </a:r>
              <a:endParaRPr kumimoji="1" lang="en-US" altLang="zh-CN" baseline="30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23" name="椭圆 22"/>
          <p:cNvSpPr/>
          <p:nvPr/>
        </p:nvSpPr>
        <p:spPr>
          <a:xfrm>
            <a:off x="3725428" y="1396808"/>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3</a:t>
            </a:r>
            <a:endParaRPr lang="zh-CN" altLang="en-US" sz="2000" b="1" dirty="0"/>
          </a:p>
        </p:txBody>
      </p:sp>
      <p:sp>
        <p:nvSpPr>
          <p:cNvPr id="24" name="椭圆 23"/>
          <p:cNvSpPr/>
          <p:nvPr/>
        </p:nvSpPr>
        <p:spPr>
          <a:xfrm>
            <a:off x="4754987" y="1404393"/>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4</a:t>
            </a:r>
            <a:endParaRPr lang="zh-CN" altLang="en-US" sz="2000" b="1"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1000"/>
                                        <p:tgtEl>
                                          <p:spTgt spid="23"/>
                                        </p:tgtEl>
                                        <p:attrNameLst>
                                          <p:attrName>ppt_x</p:attrName>
                                        </p:attrNameLst>
                                      </p:cBhvr>
                                      <p:tavLst>
                                        <p:tav tm="0">
                                          <p:val>
                                            <p:strVal val="#ppt_x-#ppt_w*1.125000"/>
                                          </p:val>
                                        </p:tav>
                                        <p:tav tm="100000">
                                          <p:val>
                                            <p:strVal val="#ppt_x"/>
                                          </p:val>
                                        </p:tav>
                                      </p:tavLst>
                                    </p:anim>
                                    <p:animEffect transition="in" filter="wipe(right)">
                                      <p:cBhvr>
                                        <p:cTn id="8" dur="1000"/>
                                        <p:tgtEl>
                                          <p:spTgt spid="23"/>
                                        </p:tgtEl>
                                      </p:cBhvr>
                                    </p:animEffect>
                                  </p:childTnLst>
                                </p:cTn>
                              </p:par>
                            </p:childTnLst>
                          </p:cTn>
                        </p:par>
                        <p:par>
                          <p:cTn id="9" fill="hold">
                            <p:stCondLst>
                              <p:cond delay="1000"/>
                            </p:stCondLst>
                            <p:childTnLst>
                              <p:par>
                                <p:cTn id="10" presetID="42"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1000"/>
                                        <p:tgtEl>
                                          <p:spTgt spid="24"/>
                                        </p:tgtEl>
                                        <p:attrNameLst>
                                          <p:attrName>ppt_x</p:attrName>
                                        </p:attrNameLst>
                                      </p:cBhvr>
                                      <p:tavLst>
                                        <p:tav tm="0">
                                          <p:val>
                                            <p:strVal val="#ppt_x-#ppt_w*1.125000"/>
                                          </p:val>
                                        </p:tav>
                                        <p:tav tm="100000">
                                          <p:val>
                                            <p:strVal val="#ppt_x"/>
                                          </p:val>
                                        </p:tav>
                                      </p:tavLst>
                                    </p:anim>
                                    <p:animEffect transition="in" filter="wipe(right)">
                                      <p:cBhvr>
                                        <p:cTn id="20" dur="1000"/>
                                        <p:tgtEl>
                                          <p:spTgt spid="24"/>
                                        </p:tgtEl>
                                      </p:cBhvr>
                                    </p:animEffect>
                                  </p:childTnLst>
                                </p:cTn>
                              </p:par>
                            </p:childTnLst>
                          </p:cTn>
                        </p:par>
                        <p:par>
                          <p:cTn id="21" fill="hold">
                            <p:stCondLst>
                              <p:cond delay="1000"/>
                            </p:stCondLst>
                            <p:childTnLst>
                              <p:par>
                                <p:cTn id="22" presetID="42" presetClass="entr" presetSubtype="0"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anim calcmode="lin" valueType="num">
                                      <p:cBhvr>
                                        <p:cTn id="25" dur="1000" fill="hold"/>
                                        <p:tgtEl>
                                          <p:spTgt spid="3"/>
                                        </p:tgtEl>
                                        <p:attrNameLst>
                                          <p:attrName>ppt_x</p:attrName>
                                        </p:attrNameLst>
                                      </p:cBhvr>
                                      <p:tavLst>
                                        <p:tav tm="0">
                                          <p:val>
                                            <p:strVal val="#ppt_x"/>
                                          </p:val>
                                        </p:tav>
                                        <p:tav tm="100000">
                                          <p:val>
                                            <p:strVal val="#ppt_x"/>
                                          </p:val>
                                        </p:tav>
                                      </p:tavLst>
                                    </p:anim>
                                    <p:anim calcmode="lin" valueType="num">
                                      <p:cBhvr>
                                        <p:cTn id="2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375881" y="754514"/>
            <a:ext cx="4653026" cy="420971"/>
            <a:chOff x="670560" y="892917"/>
            <a:chExt cx="4653026" cy="420971"/>
          </a:xfrm>
        </p:grpSpPr>
        <p:sp>
          <p:nvSpPr>
            <p:cNvPr id="28" name="矩形 27"/>
            <p:cNvSpPr/>
            <p:nvPr/>
          </p:nvSpPr>
          <p:spPr>
            <a:xfrm>
              <a:off x="1035233" y="913778"/>
              <a:ext cx="4288353"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同步时序逻辑电路设计的目的与步骤</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9"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44" name="五边形 43"/>
          <p:cNvSpPr/>
          <p:nvPr/>
        </p:nvSpPr>
        <p:spPr>
          <a:xfrm>
            <a:off x="863465" y="1252495"/>
            <a:ext cx="1019175" cy="783183"/>
          </a:xfrm>
          <a:prstGeom prst="homePlate">
            <a:avLst>
              <a:gd name="adj" fmla="val 38022"/>
            </a:avLst>
          </a:prstGeom>
          <a:solidFill>
            <a:schemeClr val="accent4"/>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待设计</a:t>
            </a:r>
            <a:endParaRPr lang="en-US" altLang="zh-CN" sz="1400" dirty="0">
              <a:solidFill>
                <a:schemeClr val="tx1"/>
              </a:solidFill>
              <a:latin typeface="微软雅黑" panose="020B0503020204020204" pitchFamily="34" charset="-122"/>
              <a:ea typeface="微软雅黑" panose="020B0503020204020204" pitchFamily="34" charset="-122"/>
            </a:endParaRPr>
          </a:p>
          <a:p>
            <a:pPr algn="ctr"/>
            <a:r>
              <a:rPr lang="zh-CN" altLang="en-US" sz="1400" dirty="0">
                <a:solidFill>
                  <a:schemeClr val="tx1"/>
                </a:solidFill>
                <a:latin typeface="微软雅黑" panose="020B0503020204020204" pitchFamily="34" charset="-122"/>
                <a:ea typeface="微软雅黑" panose="020B0503020204020204" pitchFamily="34" charset="-122"/>
              </a:rPr>
              <a:t>电路的</a:t>
            </a:r>
            <a:r>
              <a:rPr lang="zh-CN" altLang="zh-CN" sz="1400" dirty="0">
                <a:solidFill>
                  <a:schemeClr val="tx1"/>
                </a:solidFill>
                <a:latin typeface="微软雅黑" panose="020B0503020204020204" pitchFamily="34" charset="-122"/>
                <a:ea typeface="微软雅黑" panose="020B0503020204020204" pitchFamily="34" charset="-122"/>
              </a:rPr>
              <a:t>逻辑功能</a:t>
            </a:r>
            <a:endParaRPr lang="zh-CN" altLang="en-US" sz="1400" b="1" dirty="0">
              <a:solidFill>
                <a:srgbClr val="0000FF"/>
              </a:solidFill>
            </a:endParaRPr>
          </a:p>
        </p:txBody>
      </p:sp>
      <p:sp>
        <p:nvSpPr>
          <p:cNvPr id="45" name="燕尾形 44"/>
          <p:cNvSpPr/>
          <p:nvPr/>
        </p:nvSpPr>
        <p:spPr>
          <a:xfrm>
            <a:off x="1652017" y="1252495"/>
            <a:ext cx="1326113" cy="783183"/>
          </a:xfrm>
          <a:prstGeom prst="chevron">
            <a:avLst>
              <a:gd name="adj" fmla="val 37842"/>
            </a:avLst>
          </a:prstGeom>
          <a:solidFill>
            <a:srgbClr val="92D050"/>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dirty="0">
                <a:solidFill>
                  <a:schemeClr val="tx1"/>
                </a:solidFill>
                <a:latin typeface="微软雅黑" panose="020B0503020204020204" pitchFamily="34" charset="-122"/>
                <a:ea typeface="微软雅黑" panose="020B0503020204020204" pitchFamily="34" charset="-122"/>
              </a:rPr>
              <a:t>建立原始状态图</a:t>
            </a:r>
            <a:r>
              <a:rPr lang="en-US" altLang="zh-CN" sz="1400" dirty="0">
                <a:solidFill>
                  <a:schemeClr val="tx1"/>
                </a:solidFill>
                <a:latin typeface="微软雅黑" panose="020B0503020204020204" pitchFamily="34" charset="-122"/>
                <a:ea typeface="微软雅黑" panose="020B0503020204020204" pitchFamily="34" charset="-122"/>
              </a:rPr>
              <a:t>(</a:t>
            </a:r>
            <a:r>
              <a:rPr lang="zh-CN" altLang="zh-CN" sz="1400" dirty="0">
                <a:solidFill>
                  <a:schemeClr val="tx1"/>
                </a:solidFill>
                <a:latin typeface="微软雅黑" panose="020B0503020204020204" pitchFamily="34" charset="-122"/>
                <a:ea typeface="微软雅黑" panose="020B0503020204020204" pitchFamily="34" charset="-122"/>
              </a:rPr>
              <a:t>表</a:t>
            </a:r>
            <a:r>
              <a:rPr lang="en-US" altLang="zh-CN" sz="1400" dirty="0">
                <a:solidFill>
                  <a:schemeClr val="tx1"/>
                </a:solidFill>
                <a:latin typeface="微软雅黑" panose="020B0503020204020204" pitchFamily="34" charset="-122"/>
                <a:ea typeface="微软雅黑" panose="020B0503020204020204" pitchFamily="34" charset="-122"/>
              </a:rPr>
              <a:t>)</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46" name="燕尾形 45"/>
          <p:cNvSpPr/>
          <p:nvPr/>
        </p:nvSpPr>
        <p:spPr>
          <a:xfrm>
            <a:off x="2747507" y="1252495"/>
            <a:ext cx="1222908" cy="783183"/>
          </a:xfrm>
          <a:prstGeom prst="chevron">
            <a:avLst>
              <a:gd name="adj" fmla="val 37668"/>
            </a:avLst>
          </a:prstGeom>
          <a:solidFill>
            <a:schemeClr val="accent1">
              <a:lumMod val="60000"/>
              <a:lumOff val="40000"/>
            </a:schemeClr>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状态</a:t>
            </a:r>
            <a:endParaRPr lang="en-US" altLang="zh-CN" sz="1400" dirty="0">
              <a:solidFill>
                <a:schemeClr val="tx1"/>
              </a:solidFill>
              <a:latin typeface="微软雅黑" panose="020B0503020204020204" pitchFamily="34" charset="-122"/>
              <a:ea typeface="微软雅黑" panose="020B0503020204020204" pitchFamily="34" charset="-122"/>
            </a:endParaRPr>
          </a:p>
          <a:p>
            <a:pPr algn="ctr"/>
            <a:r>
              <a:rPr lang="zh-CN" altLang="en-US" sz="1400" dirty="0">
                <a:solidFill>
                  <a:schemeClr val="tx1"/>
                </a:solidFill>
                <a:latin typeface="微软雅黑" panose="020B0503020204020204" pitchFamily="34" charset="-122"/>
                <a:ea typeface="微软雅黑" panose="020B0503020204020204" pitchFamily="34" charset="-122"/>
              </a:rPr>
              <a:t>化简</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47" name="燕尾形 46"/>
          <p:cNvSpPr/>
          <p:nvPr/>
        </p:nvSpPr>
        <p:spPr>
          <a:xfrm>
            <a:off x="3739792" y="1252495"/>
            <a:ext cx="1248296" cy="783183"/>
          </a:xfrm>
          <a:prstGeom prst="chevron">
            <a:avLst>
              <a:gd name="adj" fmla="val 37243"/>
            </a:avLst>
          </a:prstGeom>
          <a:solidFill>
            <a:srgbClr val="FF66FF"/>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状态编码</a:t>
            </a:r>
            <a:r>
              <a:rPr lang="en-US" altLang="zh-CN" sz="1400" dirty="0">
                <a:solidFill>
                  <a:schemeClr val="tx1"/>
                </a:solidFill>
                <a:latin typeface="微软雅黑" panose="020B0503020204020204" pitchFamily="34" charset="-122"/>
                <a:ea typeface="微软雅黑" panose="020B0503020204020204" pitchFamily="34" charset="-122"/>
              </a:rPr>
              <a:t>/</a:t>
            </a:r>
            <a:r>
              <a:rPr lang="zh-CN" altLang="en-US" sz="1400" dirty="0">
                <a:solidFill>
                  <a:schemeClr val="tx1"/>
                </a:solidFill>
                <a:latin typeface="微软雅黑" panose="020B0503020204020204" pitchFamily="34" charset="-122"/>
                <a:ea typeface="微软雅黑" panose="020B0503020204020204" pitchFamily="34" charset="-122"/>
              </a:rPr>
              <a:t>分配</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48" name="燕尾形 47"/>
          <p:cNvSpPr/>
          <p:nvPr/>
        </p:nvSpPr>
        <p:spPr>
          <a:xfrm>
            <a:off x="4757465" y="1252495"/>
            <a:ext cx="1400068" cy="783183"/>
          </a:xfrm>
          <a:prstGeom prst="chevron">
            <a:avLst>
              <a:gd name="adj" fmla="val 37243"/>
            </a:avLst>
          </a:prstGeom>
          <a:solidFill>
            <a:schemeClr val="accent2">
              <a:lumMod val="40000"/>
              <a:lumOff val="60000"/>
            </a:schemeClr>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选择触发器并确定数目</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49" name="燕尾形 48"/>
          <p:cNvSpPr/>
          <p:nvPr/>
        </p:nvSpPr>
        <p:spPr>
          <a:xfrm>
            <a:off x="5926910" y="1252495"/>
            <a:ext cx="1356644" cy="783183"/>
          </a:xfrm>
          <a:prstGeom prst="chevron">
            <a:avLst>
              <a:gd name="adj" fmla="val 37243"/>
            </a:avLst>
          </a:prstGeom>
          <a:solidFill>
            <a:schemeClr val="accent6">
              <a:lumMod val="40000"/>
              <a:lumOff val="60000"/>
            </a:schemeClr>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dirty="0">
                <a:solidFill>
                  <a:schemeClr val="tx1"/>
                </a:solidFill>
                <a:latin typeface="微软雅黑" panose="020B0503020204020204" pitchFamily="34" charset="-122"/>
                <a:ea typeface="微软雅黑" panose="020B0503020204020204" pitchFamily="34" charset="-122"/>
              </a:rPr>
              <a:t>确定激励方程和输出方程</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50" name="燕尾形 49"/>
          <p:cNvSpPr/>
          <p:nvPr/>
        </p:nvSpPr>
        <p:spPr>
          <a:xfrm>
            <a:off x="7052930" y="1252495"/>
            <a:ext cx="1371148" cy="783183"/>
          </a:xfrm>
          <a:prstGeom prst="chevron">
            <a:avLst>
              <a:gd name="adj" fmla="val 37086"/>
            </a:avLst>
          </a:prstGeom>
          <a:solidFill>
            <a:srgbClr val="66FFCC"/>
          </a:solidFill>
          <a:ln>
            <a:solidFill>
              <a:schemeClr val="accent1"/>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zh-CN" sz="1400" dirty="0">
                <a:solidFill>
                  <a:schemeClr val="tx1"/>
                </a:solidFill>
                <a:latin typeface="微软雅黑" panose="020B0503020204020204" pitchFamily="34" charset="-122"/>
                <a:ea typeface="微软雅黑" panose="020B0503020204020204" pitchFamily="34" charset="-122"/>
              </a:rPr>
              <a:t>画出逻辑图并检查自启动</a:t>
            </a:r>
            <a:endParaRPr lang="zh-CN" altLang="zh-CN" sz="1400" dirty="0">
              <a:solidFill>
                <a:schemeClr val="tx1"/>
              </a:solidFill>
              <a:latin typeface="微软雅黑" panose="020B0503020204020204" pitchFamily="34" charset="-122"/>
              <a:ea typeface="微软雅黑" panose="020B0503020204020204" pitchFamily="34" charset="-122"/>
            </a:endParaRPr>
          </a:p>
        </p:txBody>
      </p:sp>
      <p:sp>
        <p:nvSpPr>
          <p:cNvPr id="53" name="椭圆 52"/>
          <p:cNvSpPr/>
          <p:nvPr/>
        </p:nvSpPr>
        <p:spPr>
          <a:xfrm>
            <a:off x="1653898" y="1414738"/>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1</a:t>
            </a:r>
            <a:endParaRPr lang="zh-CN" altLang="en-US" sz="2000" b="1" dirty="0"/>
          </a:p>
        </p:txBody>
      </p:sp>
      <p:sp>
        <p:nvSpPr>
          <p:cNvPr id="54" name="椭圆 53"/>
          <p:cNvSpPr/>
          <p:nvPr/>
        </p:nvSpPr>
        <p:spPr>
          <a:xfrm>
            <a:off x="2766209" y="1405773"/>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2</a:t>
            </a:r>
            <a:endParaRPr lang="zh-CN" altLang="en-US" sz="2000" b="1" dirty="0"/>
          </a:p>
        </p:txBody>
      </p:sp>
      <p:sp>
        <p:nvSpPr>
          <p:cNvPr id="23" name="椭圆 22"/>
          <p:cNvSpPr/>
          <p:nvPr/>
        </p:nvSpPr>
        <p:spPr>
          <a:xfrm>
            <a:off x="3725428" y="1396808"/>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3</a:t>
            </a:r>
            <a:endParaRPr lang="zh-CN" altLang="en-US" sz="2000" b="1" dirty="0"/>
          </a:p>
        </p:txBody>
      </p:sp>
      <p:sp>
        <p:nvSpPr>
          <p:cNvPr id="24" name="椭圆 23"/>
          <p:cNvSpPr/>
          <p:nvPr/>
        </p:nvSpPr>
        <p:spPr>
          <a:xfrm>
            <a:off x="4754987" y="1404393"/>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4</a:t>
            </a:r>
            <a:endParaRPr lang="zh-CN" altLang="en-US" sz="2000" b="1" dirty="0"/>
          </a:p>
        </p:txBody>
      </p:sp>
      <p:sp>
        <p:nvSpPr>
          <p:cNvPr id="25" name="椭圆 24"/>
          <p:cNvSpPr/>
          <p:nvPr/>
        </p:nvSpPr>
        <p:spPr>
          <a:xfrm>
            <a:off x="5950051" y="1387153"/>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5</a:t>
            </a:r>
            <a:endParaRPr lang="zh-CN" altLang="en-US" sz="2000" b="1" dirty="0"/>
          </a:p>
        </p:txBody>
      </p:sp>
      <p:sp>
        <p:nvSpPr>
          <p:cNvPr id="26" name="椭圆 25"/>
          <p:cNvSpPr/>
          <p:nvPr/>
        </p:nvSpPr>
        <p:spPr>
          <a:xfrm>
            <a:off x="7058916" y="1395428"/>
            <a:ext cx="307609" cy="459575"/>
          </a:xfrm>
          <a:prstGeom prst="ellipse">
            <a:avLst/>
          </a:prstGeom>
          <a:solidFill>
            <a:srgbClr val="FF00FF"/>
          </a:solidFill>
          <a:ln>
            <a:solidFill>
              <a:srgbClr val="FFC000"/>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t>6</a:t>
            </a:r>
            <a:endParaRPr lang="zh-CN" altLang="en-US" sz="2000" b="1" dirty="0"/>
          </a:p>
        </p:txBody>
      </p:sp>
      <p:sp>
        <p:nvSpPr>
          <p:cNvPr id="30" name="Rectangle 19"/>
          <p:cNvSpPr>
            <a:spLocks noChangeArrowheads="1"/>
          </p:cNvSpPr>
          <p:nvPr/>
        </p:nvSpPr>
        <p:spPr bwMode="auto">
          <a:xfrm>
            <a:off x="360787" y="2412275"/>
            <a:ext cx="8063291" cy="1354217"/>
          </a:xfrm>
          <a:prstGeom prst="rect">
            <a:avLst/>
          </a:prstGeom>
          <a:noFill/>
          <a:ln w="9525" algn="ctr">
            <a:noFill/>
            <a:miter lim="800000"/>
          </a:ln>
        </p:spPr>
        <p:txBody>
          <a:bodyPr wrap="square" lIns="0" rIns="0">
            <a:spAutoFit/>
          </a:bodyPr>
          <a:lstStyle/>
          <a:p>
            <a:pPr marL="628650" indent="-628650">
              <a:buClr>
                <a:schemeClr val="tx1"/>
              </a:buClr>
            </a:pPr>
            <a:r>
              <a:rPr kumimoji="1" lang="zh-CN" altLang="en-US" b="1" dirty="0">
                <a:solidFill>
                  <a:schemeClr val="tx2"/>
                </a:solidFill>
                <a:latin typeface="微软雅黑" panose="020B0503020204020204" pitchFamily="34" charset="-122"/>
                <a:ea typeface="微软雅黑" panose="020B0503020204020204" pitchFamily="34" charset="-122"/>
              </a:rPr>
              <a:t>（</a:t>
            </a:r>
            <a:r>
              <a:rPr kumimoji="1" lang="en-US" altLang="zh-CN" b="1" dirty="0">
                <a:solidFill>
                  <a:schemeClr val="tx2"/>
                </a:solidFill>
                <a:latin typeface="微软雅黑" panose="020B0503020204020204" pitchFamily="34" charset="-122"/>
                <a:ea typeface="微软雅黑" panose="020B0503020204020204" pitchFamily="34" charset="-122"/>
              </a:rPr>
              <a:t>5</a:t>
            </a:r>
            <a:r>
              <a:rPr kumimoji="1" lang="zh-CN" altLang="en-US" b="1" dirty="0">
                <a:solidFill>
                  <a:schemeClr val="tx2"/>
                </a:solidFill>
                <a:latin typeface="微软雅黑" panose="020B0503020204020204" pitchFamily="34" charset="-122"/>
                <a:ea typeface="微软雅黑" panose="020B0503020204020204" pitchFamily="34" charset="-122"/>
              </a:rPr>
              <a:t>）</a:t>
            </a:r>
            <a:r>
              <a:rPr kumimoji="1" lang="zh-CN" altLang="zh-CN" b="1" dirty="0">
                <a:solidFill>
                  <a:schemeClr val="tx2"/>
                </a:solidFill>
                <a:latin typeface="微软雅黑" panose="020B0503020204020204" pitchFamily="34" charset="-122"/>
                <a:ea typeface="微软雅黑" panose="020B0503020204020204" pitchFamily="34" charset="-122"/>
              </a:rPr>
              <a:t>确定激励方程和输出方程</a:t>
            </a:r>
            <a:endParaRPr kumimoji="1" lang="zh-CN" altLang="zh-CN" b="1" dirty="0">
              <a:solidFill>
                <a:schemeClr val="tx2"/>
              </a:solidFill>
              <a:latin typeface="微软雅黑" panose="020B0503020204020204" pitchFamily="34" charset="-122"/>
              <a:ea typeface="微软雅黑" panose="020B0503020204020204" pitchFamily="34" charset="-122"/>
            </a:endParaRPr>
          </a:p>
          <a:p>
            <a:pPr marL="542925" indent="447675">
              <a:spcBef>
                <a:spcPts val="1200"/>
              </a:spcBef>
              <a:buClr>
                <a:schemeClr val="tx1"/>
              </a:buClr>
            </a:pPr>
            <a:r>
              <a:rPr kumimoji="1" lang="zh-CN" altLang="zh-CN" dirty="0">
                <a:latin typeface="Times New Roman" panose="02020603050405020304" pitchFamily="18" charset="0"/>
                <a:ea typeface="楷体" panose="02010609060101010101" pitchFamily="49" charset="-122"/>
                <a:cs typeface="Times New Roman" panose="02020603050405020304" pitchFamily="18" charset="0"/>
              </a:rPr>
              <a:t>根据编码后的状态表，利用所选择触发的激励表，得到状态转换及激励信号真值表。对激励信号和输出信号的逻辑函数进行化简，得到待设计电路的输出方程和激励方程。</a:t>
            </a:r>
            <a:endParaRPr kumimoji="1"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2" name="Rectangle 19"/>
          <p:cNvSpPr>
            <a:spLocks noChangeArrowheads="1"/>
          </p:cNvSpPr>
          <p:nvPr/>
        </p:nvSpPr>
        <p:spPr bwMode="auto">
          <a:xfrm>
            <a:off x="375881" y="3908665"/>
            <a:ext cx="8063291" cy="1354217"/>
          </a:xfrm>
          <a:prstGeom prst="rect">
            <a:avLst/>
          </a:prstGeom>
          <a:noFill/>
          <a:ln w="9525" algn="ctr">
            <a:noFill/>
            <a:miter lim="800000"/>
          </a:ln>
        </p:spPr>
        <p:txBody>
          <a:bodyPr wrap="square" lIns="0" rIns="0">
            <a:spAutoFit/>
          </a:bodyPr>
          <a:lstStyle/>
          <a:p>
            <a:pPr marL="628650" indent="-628650">
              <a:buClr>
                <a:schemeClr val="tx1"/>
              </a:buClr>
            </a:pPr>
            <a:r>
              <a:rPr kumimoji="1" lang="zh-CN" altLang="en-US" b="1" dirty="0">
                <a:solidFill>
                  <a:schemeClr val="tx2"/>
                </a:solidFill>
                <a:latin typeface="微软雅黑" panose="020B0503020204020204" pitchFamily="34" charset="-122"/>
                <a:ea typeface="微软雅黑" panose="020B0503020204020204" pitchFamily="34" charset="-122"/>
              </a:rPr>
              <a:t>（</a:t>
            </a:r>
            <a:r>
              <a:rPr kumimoji="1" lang="en-US" altLang="zh-CN" b="1" dirty="0">
                <a:solidFill>
                  <a:schemeClr val="tx2"/>
                </a:solidFill>
                <a:latin typeface="微软雅黑" panose="020B0503020204020204" pitchFamily="34" charset="-122"/>
                <a:ea typeface="微软雅黑" panose="020B0503020204020204" pitchFamily="34" charset="-122"/>
              </a:rPr>
              <a:t>6</a:t>
            </a:r>
            <a:r>
              <a:rPr kumimoji="1" lang="zh-CN" altLang="en-US" b="1" dirty="0">
                <a:solidFill>
                  <a:schemeClr val="tx2"/>
                </a:solidFill>
                <a:latin typeface="微软雅黑" panose="020B0503020204020204" pitchFamily="34" charset="-122"/>
                <a:ea typeface="微软雅黑" panose="020B0503020204020204" pitchFamily="34" charset="-122"/>
              </a:rPr>
              <a:t>）</a:t>
            </a:r>
            <a:r>
              <a:rPr kumimoji="1" lang="zh-CN" altLang="zh-CN" b="1" dirty="0">
                <a:solidFill>
                  <a:schemeClr val="tx2"/>
                </a:solidFill>
                <a:latin typeface="微软雅黑" panose="020B0503020204020204" pitchFamily="34" charset="-122"/>
                <a:ea typeface="微软雅黑" panose="020B0503020204020204" pitchFamily="34" charset="-122"/>
              </a:rPr>
              <a:t>画逻辑图并检查自启动能力</a:t>
            </a:r>
            <a:endParaRPr kumimoji="1" lang="zh-CN" altLang="zh-CN" b="1" dirty="0">
              <a:solidFill>
                <a:schemeClr val="tx2"/>
              </a:solidFill>
              <a:latin typeface="微软雅黑" panose="020B0503020204020204" pitchFamily="34" charset="-122"/>
              <a:ea typeface="微软雅黑" panose="020B0503020204020204" pitchFamily="34" charset="-122"/>
            </a:endParaRPr>
          </a:p>
          <a:p>
            <a:pPr marL="542925" indent="447675">
              <a:spcBef>
                <a:spcPts val="1200"/>
              </a:spcBef>
              <a:buClr>
                <a:schemeClr val="tx1"/>
              </a:buClr>
            </a:pPr>
            <a:r>
              <a:rPr kumimoji="1" lang="zh-CN" altLang="zh-CN" dirty="0">
                <a:latin typeface="Times New Roman" panose="02020603050405020304" pitchFamily="18" charset="0"/>
                <a:ea typeface="楷体" panose="02010609060101010101" pitchFamily="49" charset="-122"/>
                <a:cs typeface="Times New Roman" panose="02020603050405020304" pitchFamily="18" charset="0"/>
              </a:rPr>
              <a:t>由输出方程和激励方程画逻辑图，并检查电路的自启动。对于没有自启动能力而又没有专门复位功能的电路需要修改电路使其具有自启动的能力。</a:t>
            </a:r>
            <a:endParaRPr kumimoji="1"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1000"/>
                                        <p:tgtEl>
                                          <p:spTgt spid="25"/>
                                        </p:tgtEl>
                                        <p:attrNameLst>
                                          <p:attrName>ppt_x</p:attrName>
                                        </p:attrNameLst>
                                      </p:cBhvr>
                                      <p:tavLst>
                                        <p:tav tm="0">
                                          <p:val>
                                            <p:strVal val="#ppt_x-#ppt_w*1.125000"/>
                                          </p:val>
                                        </p:tav>
                                        <p:tav tm="100000">
                                          <p:val>
                                            <p:strVal val="#ppt_x"/>
                                          </p:val>
                                        </p:tav>
                                      </p:tavLst>
                                    </p:anim>
                                    <p:animEffect transition="in" filter="wipe(right)">
                                      <p:cBhvr>
                                        <p:cTn id="8" dur="1000"/>
                                        <p:tgtEl>
                                          <p:spTgt spid="25"/>
                                        </p:tgtEl>
                                      </p:cBhvr>
                                    </p:animEffect>
                                  </p:childTnLst>
                                </p:cTn>
                              </p:par>
                            </p:childTnLst>
                          </p:cTn>
                        </p:par>
                        <p:par>
                          <p:cTn id="9" fill="hold">
                            <p:stCondLst>
                              <p:cond delay="1000"/>
                            </p:stCondLst>
                            <p:childTnLst>
                              <p:par>
                                <p:cTn id="10" presetID="2" presetClass="entr" presetSubtype="4" fill="hold" grpId="0" nodeType="after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additive="base">
                                        <p:cTn id="12" dur="1000" fill="hold"/>
                                        <p:tgtEl>
                                          <p:spTgt spid="30"/>
                                        </p:tgtEl>
                                        <p:attrNameLst>
                                          <p:attrName>ppt_x</p:attrName>
                                        </p:attrNameLst>
                                      </p:cBhvr>
                                      <p:tavLst>
                                        <p:tav tm="0">
                                          <p:val>
                                            <p:strVal val="#ppt_x"/>
                                          </p:val>
                                        </p:tav>
                                        <p:tav tm="100000">
                                          <p:val>
                                            <p:strVal val="#ppt_x"/>
                                          </p:val>
                                        </p:tav>
                                      </p:tavLst>
                                    </p:anim>
                                    <p:anim calcmode="lin" valueType="num">
                                      <p:cBhvr additive="base">
                                        <p:cTn id="13" dur="10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additive="base">
                                        <p:cTn id="18" dur="1000"/>
                                        <p:tgtEl>
                                          <p:spTgt spid="26"/>
                                        </p:tgtEl>
                                        <p:attrNameLst>
                                          <p:attrName>ppt_x</p:attrName>
                                        </p:attrNameLst>
                                      </p:cBhvr>
                                      <p:tavLst>
                                        <p:tav tm="0">
                                          <p:val>
                                            <p:strVal val="#ppt_x-#ppt_w*1.125000"/>
                                          </p:val>
                                        </p:tav>
                                        <p:tav tm="100000">
                                          <p:val>
                                            <p:strVal val="#ppt_x"/>
                                          </p:val>
                                        </p:tav>
                                      </p:tavLst>
                                    </p:anim>
                                    <p:animEffect transition="in" filter="wipe(right)">
                                      <p:cBhvr>
                                        <p:cTn id="19" dur="1000"/>
                                        <p:tgtEl>
                                          <p:spTgt spid="26"/>
                                        </p:tgtEl>
                                      </p:cBhvr>
                                    </p:animEffect>
                                  </p:childTnLst>
                                </p:cTn>
                              </p:par>
                            </p:childTnLst>
                          </p:cTn>
                        </p:par>
                        <p:par>
                          <p:cTn id="20" fill="hold">
                            <p:stCondLst>
                              <p:cond delay="1000"/>
                            </p:stCondLst>
                            <p:childTnLst>
                              <p:par>
                                <p:cTn id="21" presetID="2" presetClass="entr" presetSubtype="4" fill="hold" grpId="0" nodeType="afterEffect">
                                  <p:stCondLst>
                                    <p:cond delay="0"/>
                                  </p:stCondLst>
                                  <p:childTnLst>
                                    <p:set>
                                      <p:cBhvr>
                                        <p:cTn id="22" dur="1" fill="hold">
                                          <p:stCondLst>
                                            <p:cond delay="0"/>
                                          </p:stCondLst>
                                        </p:cTn>
                                        <p:tgtEl>
                                          <p:spTgt spid="32"/>
                                        </p:tgtEl>
                                        <p:attrNameLst>
                                          <p:attrName>style.visibility</p:attrName>
                                        </p:attrNameLst>
                                      </p:cBhvr>
                                      <p:to>
                                        <p:strVal val="visible"/>
                                      </p:to>
                                    </p:set>
                                    <p:anim calcmode="lin" valueType="num">
                                      <p:cBhvr additive="base">
                                        <p:cTn id="23" dur="1000" fill="hold"/>
                                        <p:tgtEl>
                                          <p:spTgt spid="32"/>
                                        </p:tgtEl>
                                        <p:attrNameLst>
                                          <p:attrName>ppt_x</p:attrName>
                                        </p:attrNameLst>
                                      </p:cBhvr>
                                      <p:tavLst>
                                        <p:tav tm="0">
                                          <p:val>
                                            <p:strVal val="#ppt_x"/>
                                          </p:val>
                                        </p:tav>
                                        <p:tav tm="100000">
                                          <p:val>
                                            <p:strVal val="#ppt_x"/>
                                          </p:val>
                                        </p:tav>
                                      </p:tavLst>
                                    </p:anim>
                                    <p:anim calcmode="lin" valueType="num">
                                      <p:cBhvr additive="base">
                                        <p:cTn id="24" dur="10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30" grpId="0"/>
      <p:bldP spid="3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88"/>
          <p:cNvGrpSpPr/>
          <p:nvPr/>
        </p:nvGrpSpPr>
        <p:grpSpPr>
          <a:xfrm>
            <a:off x="392432" y="778617"/>
            <a:ext cx="3704049" cy="420971"/>
            <a:chOff x="670560" y="892917"/>
            <a:chExt cx="3704049" cy="420971"/>
          </a:xfrm>
        </p:grpSpPr>
        <p:sp>
          <p:nvSpPr>
            <p:cNvPr id="97" name="矩形 96"/>
            <p:cNvSpPr/>
            <p:nvPr/>
          </p:nvSpPr>
          <p:spPr>
            <a:xfrm>
              <a:off x="1035233" y="913778"/>
              <a:ext cx="3339376"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同步时序逻辑电路设计实例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11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3" name="组合 117"/>
          <p:cNvGrpSpPr/>
          <p:nvPr/>
        </p:nvGrpSpPr>
        <p:grpSpPr>
          <a:xfrm>
            <a:off x="400513" y="1289896"/>
            <a:ext cx="8623498" cy="374630"/>
            <a:chOff x="369777" y="1347760"/>
            <a:chExt cx="8623498" cy="374630"/>
          </a:xfrm>
        </p:grpSpPr>
        <p:sp>
          <p:nvSpPr>
            <p:cNvPr id="120" name="TextBox 119"/>
            <p:cNvSpPr txBox="1"/>
            <p:nvPr/>
          </p:nvSpPr>
          <p:spPr>
            <a:xfrm>
              <a:off x="723710" y="1350409"/>
              <a:ext cx="8269565" cy="369332"/>
            </a:xfrm>
            <a:prstGeom prst="rect">
              <a:avLst/>
            </a:prstGeom>
            <a:noFill/>
          </p:spPr>
          <p:txBody>
            <a:bodyPr wrap="square" rtlCol="0">
              <a:spAutoFit/>
            </a:bodyPr>
            <a:lstStyle/>
            <a:p>
              <a:r>
                <a:rPr lang="zh-CN" altLang="en-US"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例：</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用</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D</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触发器设计一序列脉冲检测器，要求连续输入</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110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，否则输出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34"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sp>
        <p:nvSpPr>
          <p:cNvPr id="53" name="Rectangle 5"/>
          <p:cNvSpPr>
            <a:spLocks noChangeArrowheads="1"/>
          </p:cNvSpPr>
          <p:nvPr/>
        </p:nvSpPr>
        <p:spPr bwMode="auto">
          <a:xfrm>
            <a:off x="436140" y="1786963"/>
            <a:ext cx="5827236" cy="338554"/>
          </a:xfrm>
          <a:prstGeom prst="rect">
            <a:avLst/>
          </a:prstGeom>
          <a:noFill/>
          <a:ln w="9525" algn="ctr">
            <a:noFill/>
            <a:miter lim="800000"/>
          </a:ln>
          <a:effectLst/>
        </p:spPr>
        <p:txBody>
          <a:bodyPr wrap="none" anchor="ctr">
            <a:spAutoFit/>
          </a:bodyPr>
          <a:lstStyle/>
          <a:p>
            <a:pPr eaLnBrk="0" hangingPunct="0">
              <a:defRPr/>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解</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根据给定的逻辑功能建立原始状态图或原始状态表</a:t>
            </a:r>
            <a:endPar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5" name="Rectangle 11"/>
          <p:cNvSpPr>
            <a:spLocks noChangeArrowheads="1"/>
          </p:cNvSpPr>
          <p:nvPr/>
        </p:nvSpPr>
        <p:spPr bwMode="auto">
          <a:xfrm>
            <a:off x="1033987" y="2150727"/>
            <a:ext cx="5229389" cy="369332"/>
          </a:xfrm>
          <a:prstGeom prst="rect">
            <a:avLst/>
          </a:prstGeom>
          <a:noFill/>
          <a:ln w="9525" algn="ctr">
            <a:noFill/>
            <a:miter lim="800000"/>
          </a:ln>
        </p:spPr>
        <p:txBody>
          <a:bodyPr wrap="square" lIns="0" rIns="0">
            <a:spAutoFit/>
          </a:bodyPr>
          <a:lstStyle/>
          <a:p>
            <a:r>
              <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该电路有一个</a:t>
            </a:r>
            <a:r>
              <a:rPr lang="zh-CN" altLang="en-US" b="1" dirty="0">
                <a:solidFill>
                  <a:srgbClr val="CC00CC"/>
                </a:solidFill>
                <a:latin typeface="Times New Roman" panose="02020603050405020304" pitchFamily="18" charset="0"/>
                <a:ea typeface="楷体" panose="02010609060101010101" pitchFamily="49" charset="-122"/>
                <a:cs typeface="Times New Roman" panose="02020603050405020304" pitchFamily="18" charset="0"/>
              </a:rPr>
              <a:t>输入（</a:t>
            </a:r>
            <a:r>
              <a:rPr lang="en-US" altLang="zh-CN" b="1" dirty="0">
                <a:solidFill>
                  <a:srgbClr val="CC00CC"/>
                </a:solidFill>
                <a:latin typeface="Times New Roman" panose="02020603050405020304" pitchFamily="18" charset="0"/>
                <a:ea typeface="楷体" panose="02010609060101010101" pitchFamily="49" charset="-122"/>
                <a:cs typeface="Times New Roman" panose="02020603050405020304" pitchFamily="18" charset="0"/>
              </a:rPr>
              <a:t>X</a:t>
            </a:r>
            <a:r>
              <a:rPr lang="zh-CN" altLang="en-US" b="1" dirty="0">
                <a:solidFill>
                  <a:srgbClr val="CC00CC"/>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、一个</a:t>
            </a:r>
            <a:r>
              <a:rPr lang="zh-CN" altLang="en-US" b="1" dirty="0">
                <a:solidFill>
                  <a:srgbClr val="CC00CC"/>
                </a:solidFill>
                <a:latin typeface="Times New Roman" panose="02020603050405020304" pitchFamily="18" charset="0"/>
                <a:ea typeface="楷体" panose="02010609060101010101" pitchFamily="49" charset="-122"/>
                <a:cs typeface="Times New Roman" panose="02020603050405020304" pitchFamily="18" charset="0"/>
              </a:rPr>
              <a:t>输出（</a:t>
            </a:r>
            <a:r>
              <a:rPr lang="en-US" altLang="zh-CN" b="1" dirty="0">
                <a:solidFill>
                  <a:srgbClr val="CC00CC"/>
                </a:solidFill>
                <a:latin typeface="Times New Roman" panose="02020603050405020304" pitchFamily="18" charset="0"/>
                <a:ea typeface="楷体" panose="02010609060101010101" pitchFamily="49" charset="-122"/>
                <a:cs typeface="Times New Roman" panose="02020603050405020304" pitchFamily="18" charset="0"/>
              </a:rPr>
              <a:t>Y</a:t>
            </a:r>
            <a:r>
              <a:rPr lang="zh-CN" altLang="en-US" b="1" dirty="0">
                <a:solidFill>
                  <a:srgbClr val="CC00CC"/>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4" name="组合 207"/>
          <p:cNvGrpSpPr/>
          <p:nvPr/>
        </p:nvGrpSpPr>
        <p:grpSpPr>
          <a:xfrm>
            <a:off x="718280" y="2749483"/>
            <a:ext cx="3496363" cy="504000"/>
            <a:chOff x="718280" y="2633619"/>
            <a:chExt cx="3496363" cy="504000"/>
          </a:xfrm>
        </p:grpSpPr>
        <p:sp>
          <p:nvSpPr>
            <p:cNvPr id="24" name="AutoShape 40"/>
            <p:cNvSpPr>
              <a:spLocks noChangeArrowheads="1"/>
            </p:cNvSpPr>
            <p:nvPr/>
          </p:nvSpPr>
          <p:spPr bwMode="auto">
            <a:xfrm>
              <a:off x="911382" y="2633619"/>
              <a:ext cx="3303261" cy="504000"/>
            </a:xfrm>
            <a:prstGeom prst="wedgeRoundRectCallout">
              <a:avLst>
                <a:gd name="adj1" fmla="val 50009"/>
                <a:gd name="adj2" fmla="val -18192"/>
                <a:gd name="adj3" fmla="val 16667"/>
              </a:avLst>
            </a:prstGeom>
            <a:solidFill>
              <a:schemeClr val="accent4"/>
            </a:solidFill>
            <a:ln w="28575" algn="ctr">
              <a:solidFill>
                <a:srgbClr val="6600FF"/>
              </a:solidFill>
              <a:miter lim="800000"/>
            </a:ln>
            <a:effectLst>
              <a:outerShdw blurRad="50800" dist="38100" dir="5400000" algn="t" rotWithShape="0">
                <a:prstClr val="black">
                  <a:alpha val="40000"/>
                </a:prstClr>
              </a:outerShdw>
            </a:effectLst>
          </p:spPr>
          <p:txBody>
            <a:bodyPr lIns="0" rIns="0" anchor="ctr"/>
            <a:lstStyle/>
            <a:p>
              <a:pPr marL="323850">
                <a:tabLst>
                  <a:tab pos="1254125" algn="l"/>
                  <a:tab pos="1257300" algn="l"/>
                  <a:tab pos="1346200" algn="l"/>
                </a:tabLst>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输入一个</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时电路状态</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初始状态</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2" name="椭圆 31"/>
            <p:cNvSpPr/>
            <p:nvPr/>
          </p:nvSpPr>
          <p:spPr>
            <a:xfrm>
              <a:off x="718280" y="2659739"/>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S</a:t>
              </a:r>
              <a:r>
                <a:rPr lang="en-US" altLang="zh-CN" b="1" baseline="-25000" dirty="0">
                  <a:solidFill>
                    <a:schemeClr val="tx1"/>
                  </a:solidFill>
                  <a:latin typeface="Times New Roman" panose="02020603050405020304" pitchFamily="18" charset="0"/>
                  <a:cs typeface="Times New Roman" panose="02020603050405020304" pitchFamily="18" charset="0"/>
                </a:rPr>
                <a:t>0</a:t>
              </a:r>
              <a:endParaRPr lang="zh-CN" altLang="en-US" b="1" baseline="-25000" dirty="0">
                <a:solidFill>
                  <a:schemeClr val="tx1"/>
                </a:solidFill>
                <a:latin typeface="Times New Roman" panose="02020603050405020304" pitchFamily="18" charset="0"/>
                <a:cs typeface="Times New Roman" panose="02020603050405020304" pitchFamily="18" charset="0"/>
              </a:endParaRPr>
            </a:p>
          </p:txBody>
        </p:sp>
      </p:grpSp>
      <p:grpSp>
        <p:nvGrpSpPr>
          <p:cNvPr id="5" name="组合 208"/>
          <p:cNvGrpSpPr/>
          <p:nvPr/>
        </p:nvGrpSpPr>
        <p:grpSpPr>
          <a:xfrm>
            <a:off x="718280" y="3389869"/>
            <a:ext cx="3496353" cy="504000"/>
            <a:chOff x="718280" y="3268683"/>
            <a:chExt cx="3496353" cy="504000"/>
          </a:xfrm>
        </p:grpSpPr>
        <p:sp>
          <p:nvSpPr>
            <p:cNvPr id="25" name="AutoShape 40"/>
            <p:cNvSpPr>
              <a:spLocks noChangeArrowheads="1"/>
            </p:cNvSpPr>
            <p:nvPr/>
          </p:nvSpPr>
          <p:spPr bwMode="auto">
            <a:xfrm>
              <a:off x="911382" y="3268683"/>
              <a:ext cx="3303251" cy="504000"/>
            </a:xfrm>
            <a:prstGeom prst="wedgeRoundRectCallout">
              <a:avLst>
                <a:gd name="adj1" fmla="val 50081"/>
                <a:gd name="adj2" fmla="val 21697"/>
                <a:gd name="adj3" fmla="val 16667"/>
              </a:avLst>
            </a:prstGeom>
            <a:solidFill>
              <a:srgbClr val="FFFF66"/>
            </a:solidFill>
            <a:ln w="28575" algn="ctr">
              <a:solidFill>
                <a:srgbClr val="6600FF"/>
              </a:solidFill>
              <a:miter lim="800000"/>
            </a:ln>
            <a:effectLst>
              <a:outerShdw blurRad="50800" dist="38100" dir="5400000" algn="t" rotWithShape="0">
                <a:prstClr val="black">
                  <a:alpha val="40000"/>
                </a:prstClr>
              </a:outerShdw>
            </a:effectLst>
          </p:spPr>
          <p:txBody>
            <a:bodyPr lIns="0" rIns="0" anchor="ctr"/>
            <a:lstStyle/>
            <a:p>
              <a:pPr marL="323850">
                <a:tabLst>
                  <a:tab pos="1257300" algn="l"/>
                  <a:tab pos="1346200" algn="l"/>
                </a:tabLst>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输入一个</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时的状态</a:t>
              </a:r>
              <a:endParaRPr lang="zh-CN" altLang="en-US" sz="16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7" name="椭圆 116"/>
            <p:cNvSpPr/>
            <p:nvPr/>
          </p:nvSpPr>
          <p:spPr>
            <a:xfrm>
              <a:off x="718280" y="3293577"/>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S</a:t>
              </a:r>
              <a:r>
                <a:rPr lang="en-US" altLang="zh-CN" b="1" baseline="-25000" dirty="0">
                  <a:solidFill>
                    <a:schemeClr val="tx1"/>
                  </a:solidFill>
                  <a:latin typeface="Times New Roman" panose="02020603050405020304" pitchFamily="18" charset="0"/>
                  <a:cs typeface="Times New Roman" panose="02020603050405020304" pitchFamily="18" charset="0"/>
                </a:rPr>
                <a:t>1</a:t>
              </a:r>
              <a:endParaRPr lang="zh-CN" altLang="en-US" b="1" baseline="-25000" dirty="0">
                <a:solidFill>
                  <a:schemeClr val="tx1"/>
                </a:solidFill>
                <a:latin typeface="Times New Roman" panose="02020603050405020304" pitchFamily="18" charset="0"/>
                <a:cs typeface="Times New Roman" panose="02020603050405020304" pitchFamily="18" charset="0"/>
              </a:endParaRPr>
            </a:p>
          </p:txBody>
        </p:sp>
      </p:grpSp>
      <p:grpSp>
        <p:nvGrpSpPr>
          <p:cNvPr id="6" name="组合 209"/>
          <p:cNvGrpSpPr/>
          <p:nvPr/>
        </p:nvGrpSpPr>
        <p:grpSpPr>
          <a:xfrm>
            <a:off x="718280" y="4030255"/>
            <a:ext cx="3496344" cy="504000"/>
            <a:chOff x="718280" y="3917593"/>
            <a:chExt cx="3289103" cy="504000"/>
          </a:xfrm>
        </p:grpSpPr>
        <p:sp>
          <p:nvSpPr>
            <p:cNvPr id="26" name="AutoShape 40"/>
            <p:cNvSpPr>
              <a:spLocks noChangeArrowheads="1"/>
            </p:cNvSpPr>
            <p:nvPr/>
          </p:nvSpPr>
          <p:spPr bwMode="auto">
            <a:xfrm>
              <a:off x="911383" y="3917593"/>
              <a:ext cx="3096000" cy="504000"/>
            </a:xfrm>
            <a:prstGeom prst="wedgeRoundRectCallout">
              <a:avLst>
                <a:gd name="adj1" fmla="val 50068"/>
                <a:gd name="adj2" fmla="val 13961"/>
                <a:gd name="adj3" fmla="val 16667"/>
              </a:avLst>
            </a:prstGeom>
            <a:solidFill>
              <a:srgbClr val="00B0F0"/>
            </a:solidFill>
            <a:ln w="28575" algn="ctr">
              <a:solidFill>
                <a:srgbClr val="6600FF"/>
              </a:solidFill>
              <a:miter lim="800000"/>
            </a:ln>
            <a:effectLst>
              <a:outerShdw blurRad="50800" dist="38100" dir="5400000" algn="t" rotWithShape="0">
                <a:prstClr val="black">
                  <a:alpha val="40000"/>
                </a:prstClr>
              </a:outerShdw>
            </a:effectLst>
          </p:spPr>
          <p:txBody>
            <a:bodyPr lIns="0" rIns="0" anchor="ctr"/>
            <a:lstStyle/>
            <a:p>
              <a:pPr marL="323850">
                <a:tabLst>
                  <a:tab pos="1257300" algn="l"/>
                  <a:tab pos="1346200" algn="l"/>
                </a:tabLst>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连续输入</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11</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时的状态</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5" name="椭圆 134"/>
            <p:cNvSpPr/>
            <p:nvPr/>
          </p:nvSpPr>
          <p:spPr>
            <a:xfrm>
              <a:off x="718280" y="3942487"/>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S</a:t>
              </a:r>
              <a:r>
                <a:rPr lang="en-US" altLang="zh-CN" b="1" baseline="-25000" dirty="0">
                  <a:solidFill>
                    <a:schemeClr val="tx1"/>
                  </a:solidFill>
                  <a:latin typeface="Times New Roman" panose="02020603050405020304" pitchFamily="18" charset="0"/>
                  <a:cs typeface="Times New Roman" panose="02020603050405020304" pitchFamily="18" charset="0"/>
                </a:rPr>
                <a:t>2</a:t>
              </a:r>
              <a:endParaRPr lang="zh-CN" altLang="en-US" b="1" baseline="-25000" dirty="0">
                <a:solidFill>
                  <a:schemeClr val="tx1"/>
                </a:solidFill>
                <a:latin typeface="Times New Roman" panose="02020603050405020304" pitchFamily="18" charset="0"/>
                <a:cs typeface="Times New Roman" panose="02020603050405020304" pitchFamily="18" charset="0"/>
              </a:endParaRPr>
            </a:p>
          </p:txBody>
        </p:sp>
      </p:grpSp>
      <p:grpSp>
        <p:nvGrpSpPr>
          <p:cNvPr id="7" name="组合 210"/>
          <p:cNvGrpSpPr/>
          <p:nvPr/>
        </p:nvGrpSpPr>
        <p:grpSpPr>
          <a:xfrm>
            <a:off x="718280" y="4670641"/>
            <a:ext cx="3496343" cy="504000"/>
            <a:chOff x="718280" y="4554777"/>
            <a:chExt cx="3496343" cy="504000"/>
          </a:xfrm>
        </p:grpSpPr>
        <p:sp>
          <p:nvSpPr>
            <p:cNvPr id="27" name="AutoShape 40"/>
            <p:cNvSpPr>
              <a:spLocks noChangeArrowheads="1"/>
            </p:cNvSpPr>
            <p:nvPr/>
          </p:nvSpPr>
          <p:spPr bwMode="auto">
            <a:xfrm>
              <a:off x="911382" y="4554777"/>
              <a:ext cx="3303241" cy="504000"/>
            </a:xfrm>
            <a:prstGeom prst="wedgeRoundRectCallout">
              <a:avLst>
                <a:gd name="adj1" fmla="val 50074"/>
                <a:gd name="adj2" fmla="val 16227"/>
                <a:gd name="adj3" fmla="val 16667"/>
              </a:avLst>
            </a:prstGeom>
            <a:solidFill>
              <a:srgbClr val="66FF66"/>
            </a:solidFill>
            <a:ln w="28575" algn="ctr">
              <a:solidFill>
                <a:srgbClr val="6600FF"/>
              </a:solidFill>
              <a:miter lim="800000"/>
            </a:ln>
            <a:effectLst>
              <a:outerShdw blurRad="50800" dist="38100" dir="5400000" algn="t" rotWithShape="0">
                <a:prstClr val="black">
                  <a:alpha val="40000"/>
                </a:prstClr>
              </a:outerShdw>
            </a:effectLst>
          </p:spPr>
          <p:txBody>
            <a:bodyPr lIns="0" rIns="0" anchor="ctr"/>
            <a:lstStyle/>
            <a:p>
              <a:pPr marL="323850">
                <a:tabLst>
                  <a:tab pos="1257300" algn="l"/>
                  <a:tab pos="1346200" algn="l"/>
                </a:tabLst>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连续输入</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110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时的状态</a:t>
              </a:r>
              <a:endParaRPr lang="zh-CN" altLang="en-US" sz="1600"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0" name="椭圆 149"/>
            <p:cNvSpPr/>
            <p:nvPr/>
          </p:nvSpPr>
          <p:spPr>
            <a:xfrm>
              <a:off x="718280" y="4579671"/>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S</a:t>
              </a:r>
              <a:r>
                <a:rPr lang="en-US" altLang="zh-CN" b="1" baseline="-25000" dirty="0">
                  <a:solidFill>
                    <a:schemeClr val="tx1"/>
                  </a:solidFill>
                  <a:latin typeface="Times New Roman" panose="02020603050405020304" pitchFamily="18" charset="0"/>
                  <a:cs typeface="Times New Roman" panose="02020603050405020304" pitchFamily="18" charset="0"/>
                </a:rPr>
                <a:t>3</a:t>
              </a:r>
              <a:endParaRPr lang="zh-CN" altLang="en-US" b="1" baseline="-25000" dirty="0">
                <a:solidFill>
                  <a:schemeClr val="tx1"/>
                </a:solidFill>
                <a:latin typeface="Times New Roman" panose="02020603050405020304" pitchFamily="18" charset="0"/>
                <a:cs typeface="Times New Roman" panose="02020603050405020304" pitchFamily="18" charset="0"/>
              </a:endParaRPr>
            </a:p>
          </p:txBody>
        </p:sp>
      </p:grpSp>
      <p:grpSp>
        <p:nvGrpSpPr>
          <p:cNvPr id="8" name="组合 22"/>
          <p:cNvGrpSpPr/>
          <p:nvPr/>
        </p:nvGrpSpPr>
        <p:grpSpPr>
          <a:xfrm>
            <a:off x="4532230" y="2791990"/>
            <a:ext cx="1175317" cy="590088"/>
            <a:chOff x="5172350" y="2842474"/>
            <a:chExt cx="1175317" cy="590088"/>
          </a:xfrm>
        </p:grpSpPr>
        <p:sp>
          <p:nvSpPr>
            <p:cNvPr id="168" name="椭圆 167"/>
            <p:cNvSpPr/>
            <p:nvPr/>
          </p:nvSpPr>
          <p:spPr>
            <a:xfrm>
              <a:off x="5172350" y="2892562"/>
              <a:ext cx="540000" cy="540000"/>
            </a:xfrm>
            <a:prstGeom prst="ellipse">
              <a:avLst/>
            </a:prstGeom>
            <a:solidFill>
              <a:srgbClr val="66FFCC"/>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i</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169" name="直接箭头连接符 168"/>
            <p:cNvCxnSpPr>
              <a:stCxn id="168" idx="6"/>
            </p:cNvCxnSpPr>
            <p:nvPr/>
          </p:nvCxnSpPr>
          <p:spPr>
            <a:xfrm flipV="1">
              <a:off x="5712350" y="3154295"/>
              <a:ext cx="635317" cy="0"/>
            </a:xfrm>
            <a:prstGeom prst="straightConnector1">
              <a:avLst/>
            </a:prstGeom>
            <a:ln w="28575">
              <a:solidFill>
                <a:srgbClr val="0000FF"/>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170" name="矩形 169"/>
            <p:cNvSpPr/>
            <p:nvPr/>
          </p:nvSpPr>
          <p:spPr>
            <a:xfrm>
              <a:off x="5732742" y="2842474"/>
              <a:ext cx="537327" cy="338554"/>
            </a:xfrm>
            <a:prstGeom prst="rect">
              <a:avLst/>
            </a:prstGeom>
          </p:spPr>
          <p:txBody>
            <a:bodyPr wrap="none">
              <a:spAutoFit/>
            </a:bodyPr>
            <a:lstStyle/>
            <a:p>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X/Y</a:t>
              </a:r>
              <a:endParaRPr lang="zh-CN" altLang="en-US" sz="1600" dirty="0"/>
            </a:p>
          </p:txBody>
        </p:sp>
      </p:grpSp>
      <p:sp>
        <p:nvSpPr>
          <p:cNvPr id="163" name="椭圆 162"/>
          <p:cNvSpPr/>
          <p:nvPr/>
        </p:nvSpPr>
        <p:spPr>
          <a:xfrm>
            <a:off x="6174771" y="3233792"/>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0</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sp>
        <p:nvSpPr>
          <p:cNvPr id="164" name="椭圆 163"/>
          <p:cNvSpPr/>
          <p:nvPr/>
        </p:nvSpPr>
        <p:spPr>
          <a:xfrm>
            <a:off x="7750281" y="3233792"/>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1</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sp>
        <p:nvSpPr>
          <p:cNvPr id="165" name="椭圆 164"/>
          <p:cNvSpPr/>
          <p:nvPr/>
        </p:nvSpPr>
        <p:spPr>
          <a:xfrm>
            <a:off x="6174771" y="4561756"/>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3</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sp>
        <p:nvSpPr>
          <p:cNvPr id="166" name="椭圆 165"/>
          <p:cNvSpPr/>
          <p:nvPr/>
        </p:nvSpPr>
        <p:spPr>
          <a:xfrm>
            <a:off x="7750281" y="4561756"/>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2</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grpSp>
        <p:nvGrpSpPr>
          <p:cNvPr id="9" name="组合 173"/>
          <p:cNvGrpSpPr/>
          <p:nvPr/>
        </p:nvGrpSpPr>
        <p:grpSpPr>
          <a:xfrm>
            <a:off x="5329517" y="3203454"/>
            <a:ext cx="938917" cy="468263"/>
            <a:chOff x="4662927" y="3014896"/>
            <a:chExt cx="938917" cy="468263"/>
          </a:xfrm>
        </p:grpSpPr>
        <p:sp>
          <p:nvSpPr>
            <p:cNvPr id="172" name="弧形 171"/>
            <p:cNvSpPr/>
            <p:nvPr/>
          </p:nvSpPr>
          <p:spPr>
            <a:xfrm rot="8219386">
              <a:off x="5127191" y="3014896"/>
              <a:ext cx="474653" cy="468263"/>
            </a:xfrm>
            <a:prstGeom prst="arc">
              <a:avLst>
                <a:gd name="adj1" fmla="val 16200000"/>
                <a:gd name="adj2" fmla="val 11123489"/>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3" name="TextBox 172"/>
            <p:cNvSpPr txBox="1"/>
            <p:nvPr/>
          </p:nvSpPr>
          <p:spPr>
            <a:xfrm>
              <a:off x="4662927" y="3069968"/>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0/0</a:t>
              </a:r>
              <a:endParaRPr lang="zh-CN" altLang="en-US" b="1" dirty="0">
                <a:latin typeface="Times New Roman" panose="02020603050405020304" pitchFamily="18" charset="0"/>
                <a:cs typeface="Times New Roman" panose="02020603050405020304" pitchFamily="18" charset="0"/>
              </a:endParaRPr>
            </a:p>
          </p:txBody>
        </p:sp>
      </p:grpSp>
      <p:grpSp>
        <p:nvGrpSpPr>
          <p:cNvPr id="10" name="组合 211"/>
          <p:cNvGrpSpPr/>
          <p:nvPr/>
        </p:nvGrpSpPr>
        <p:grpSpPr>
          <a:xfrm>
            <a:off x="6604192" y="2992935"/>
            <a:ext cx="1188000" cy="369332"/>
            <a:chOff x="5937602" y="2804377"/>
            <a:chExt cx="1188000" cy="369332"/>
          </a:xfrm>
        </p:grpSpPr>
        <p:cxnSp>
          <p:nvCxnSpPr>
            <p:cNvPr id="182" name="直接箭头连接符 181"/>
            <p:cNvCxnSpPr/>
            <p:nvPr/>
          </p:nvCxnSpPr>
          <p:spPr>
            <a:xfrm>
              <a:off x="5937602" y="3106148"/>
              <a:ext cx="1188000" cy="0"/>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85" name="TextBox 184"/>
            <p:cNvSpPr txBox="1"/>
            <p:nvPr/>
          </p:nvSpPr>
          <p:spPr>
            <a:xfrm>
              <a:off x="6294106" y="2804377"/>
              <a:ext cx="479618" cy="369332"/>
            </a:xfrm>
            <a:prstGeom prst="rect">
              <a:avLst/>
            </a:prstGeom>
            <a:noFill/>
          </p:spPr>
          <p:txBody>
            <a:bodyPr wrap="none" rtlCol="0">
              <a:spAutoFit/>
            </a:bodyPr>
            <a:lstStyle/>
            <a:p>
              <a:r>
                <a:rPr lang="en-US" altLang="zh-CN" b="1" dirty="0">
                  <a:solidFill>
                    <a:srgbClr val="CC00CC"/>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11" name="组合 191"/>
          <p:cNvGrpSpPr/>
          <p:nvPr/>
        </p:nvGrpSpPr>
        <p:grpSpPr>
          <a:xfrm>
            <a:off x="6599365" y="3505305"/>
            <a:ext cx="1188000" cy="369332"/>
            <a:chOff x="5932775" y="3316747"/>
            <a:chExt cx="1188000" cy="369332"/>
          </a:xfrm>
        </p:grpSpPr>
        <p:cxnSp>
          <p:nvCxnSpPr>
            <p:cNvPr id="190" name="直接箭头连接符 189"/>
            <p:cNvCxnSpPr/>
            <p:nvPr/>
          </p:nvCxnSpPr>
          <p:spPr>
            <a:xfrm flipH="1">
              <a:off x="5932775" y="3374400"/>
              <a:ext cx="1188000" cy="0"/>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91" name="TextBox 190"/>
            <p:cNvSpPr txBox="1"/>
            <p:nvPr/>
          </p:nvSpPr>
          <p:spPr>
            <a:xfrm>
              <a:off x="6305831" y="3316747"/>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12" name="组合 212"/>
          <p:cNvGrpSpPr/>
          <p:nvPr/>
        </p:nvGrpSpPr>
        <p:grpSpPr>
          <a:xfrm>
            <a:off x="7957808" y="3672595"/>
            <a:ext cx="479618" cy="889413"/>
            <a:chOff x="7291218" y="3604039"/>
            <a:chExt cx="479618" cy="889413"/>
          </a:xfrm>
        </p:grpSpPr>
        <p:cxnSp>
          <p:nvCxnSpPr>
            <p:cNvPr id="193" name="直接箭头连接符 192"/>
            <p:cNvCxnSpPr/>
            <p:nvPr/>
          </p:nvCxnSpPr>
          <p:spPr>
            <a:xfrm flipH="1">
              <a:off x="7319434" y="3604039"/>
              <a:ext cx="1752" cy="889413"/>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7291218" y="3825629"/>
              <a:ext cx="479618" cy="369332"/>
            </a:xfrm>
            <a:prstGeom prst="rect">
              <a:avLst/>
            </a:prstGeom>
            <a:noFill/>
          </p:spPr>
          <p:txBody>
            <a:bodyPr wrap="none" rtlCol="0">
              <a:spAutoFit/>
            </a:bodyPr>
            <a:lstStyle/>
            <a:p>
              <a:r>
                <a:rPr lang="en-US" altLang="zh-CN" b="1" dirty="0">
                  <a:solidFill>
                    <a:srgbClr val="CC00CC"/>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13" name="组合 195"/>
          <p:cNvGrpSpPr/>
          <p:nvPr/>
        </p:nvGrpSpPr>
        <p:grpSpPr>
          <a:xfrm rot="10800000">
            <a:off x="8092714" y="4568159"/>
            <a:ext cx="938917" cy="468263"/>
            <a:chOff x="4662927" y="3014896"/>
            <a:chExt cx="938917" cy="468263"/>
          </a:xfrm>
        </p:grpSpPr>
        <p:sp>
          <p:nvSpPr>
            <p:cNvPr id="197" name="弧形 196"/>
            <p:cNvSpPr/>
            <p:nvPr/>
          </p:nvSpPr>
          <p:spPr>
            <a:xfrm rot="8219386">
              <a:off x="5127191" y="3014896"/>
              <a:ext cx="474653" cy="468263"/>
            </a:xfrm>
            <a:prstGeom prst="arc">
              <a:avLst>
                <a:gd name="adj1" fmla="val 16200000"/>
                <a:gd name="adj2" fmla="val 11123489"/>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8" name="TextBox 197"/>
            <p:cNvSpPr txBox="1"/>
            <p:nvPr/>
          </p:nvSpPr>
          <p:spPr>
            <a:xfrm rot="10800000">
              <a:off x="4662927" y="3069968"/>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1/0</a:t>
              </a:r>
              <a:endParaRPr lang="zh-CN" altLang="en-US" b="1" dirty="0">
                <a:latin typeface="Times New Roman" panose="02020603050405020304" pitchFamily="18" charset="0"/>
                <a:cs typeface="Times New Roman" panose="02020603050405020304" pitchFamily="18" charset="0"/>
              </a:endParaRPr>
            </a:p>
          </p:txBody>
        </p:sp>
      </p:grpSp>
      <p:grpSp>
        <p:nvGrpSpPr>
          <p:cNvPr id="14" name="组合 198"/>
          <p:cNvGrpSpPr/>
          <p:nvPr/>
        </p:nvGrpSpPr>
        <p:grpSpPr>
          <a:xfrm>
            <a:off x="6660739" y="4716919"/>
            <a:ext cx="1068660" cy="369332"/>
            <a:chOff x="5932775" y="3316747"/>
            <a:chExt cx="1068660" cy="369332"/>
          </a:xfrm>
        </p:grpSpPr>
        <p:cxnSp>
          <p:nvCxnSpPr>
            <p:cNvPr id="200" name="直接箭头连接符 199"/>
            <p:cNvCxnSpPr/>
            <p:nvPr/>
          </p:nvCxnSpPr>
          <p:spPr>
            <a:xfrm flipH="1">
              <a:off x="5932775" y="3360386"/>
              <a:ext cx="1068660" cy="0"/>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6243761" y="3316747"/>
              <a:ext cx="492443"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a:t>
              </a:r>
              <a:r>
                <a:rPr lang="en-US" altLang="zh-CN" b="1" dirty="0">
                  <a:solidFill>
                    <a:srgbClr val="CC00CC"/>
                  </a:solidFill>
                  <a:latin typeface="Times New Roman" panose="02020603050405020304" pitchFamily="18" charset="0"/>
                  <a:cs typeface="Times New Roman" panose="02020603050405020304" pitchFamily="18" charset="0"/>
                </a:rPr>
                <a:t>1</a:t>
              </a:r>
              <a:endParaRPr lang="zh-CN" altLang="en-US" b="1" dirty="0">
                <a:solidFill>
                  <a:srgbClr val="CC00CC"/>
                </a:solidFill>
                <a:latin typeface="Times New Roman" panose="02020603050405020304" pitchFamily="18" charset="0"/>
                <a:cs typeface="Times New Roman" panose="02020603050405020304" pitchFamily="18" charset="0"/>
              </a:endParaRPr>
            </a:p>
          </p:txBody>
        </p:sp>
      </p:grpSp>
      <p:grpSp>
        <p:nvGrpSpPr>
          <p:cNvPr id="15" name="组合 213"/>
          <p:cNvGrpSpPr/>
          <p:nvPr/>
        </p:nvGrpSpPr>
        <p:grpSpPr>
          <a:xfrm>
            <a:off x="5961878" y="3681492"/>
            <a:ext cx="479618" cy="865276"/>
            <a:chOff x="5295288" y="3612936"/>
            <a:chExt cx="479618" cy="865276"/>
          </a:xfrm>
        </p:grpSpPr>
        <p:cxnSp>
          <p:nvCxnSpPr>
            <p:cNvPr id="203" name="直接箭头连接符 202"/>
            <p:cNvCxnSpPr/>
            <p:nvPr/>
          </p:nvCxnSpPr>
          <p:spPr>
            <a:xfrm flipV="1">
              <a:off x="5743924" y="3612936"/>
              <a:ext cx="0" cy="865276"/>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204" name="TextBox 203"/>
            <p:cNvSpPr txBox="1"/>
            <p:nvPr/>
          </p:nvSpPr>
          <p:spPr>
            <a:xfrm>
              <a:off x="5295288" y="3893065"/>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0/0</a:t>
              </a:r>
              <a:endParaRPr lang="zh-CN" altLang="en-US" b="1" dirty="0">
                <a:latin typeface="Times New Roman" panose="02020603050405020304" pitchFamily="18" charset="0"/>
                <a:cs typeface="Times New Roman" panose="02020603050405020304" pitchFamily="18" charset="0"/>
              </a:endParaRPr>
            </a:p>
          </p:txBody>
        </p:sp>
      </p:grpSp>
      <p:grpSp>
        <p:nvGrpSpPr>
          <p:cNvPr id="16" name="组合 215"/>
          <p:cNvGrpSpPr/>
          <p:nvPr/>
        </p:nvGrpSpPr>
        <p:grpSpPr>
          <a:xfrm>
            <a:off x="6629400" y="3680529"/>
            <a:ext cx="1235649" cy="967671"/>
            <a:chOff x="5962810" y="3591283"/>
            <a:chExt cx="1235649" cy="967671"/>
          </a:xfrm>
        </p:grpSpPr>
        <p:cxnSp>
          <p:nvCxnSpPr>
            <p:cNvPr id="205" name="直接箭头连接符 204"/>
            <p:cNvCxnSpPr/>
            <p:nvPr/>
          </p:nvCxnSpPr>
          <p:spPr>
            <a:xfrm flipV="1">
              <a:off x="5962810" y="3591283"/>
              <a:ext cx="1235649" cy="967671"/>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215" name="TextBox 214"/>
            <p:cNvSpPr txBox="1"/>
            <p:nvPr/>
          </p:nvSpPr>
          <p:spPr>
            <a:xfrm>
              <a:off x="6074127" y="3726362"/>
              <a:ext cx="479618" cy="369332"/>
            </a:xfrm>
            <a:prstGeom prst="rect">
              <a:avLst/>
            </a:prstGeom>
            <a:noFill/>
          </p:spPr>
          <p:txBody>
            <a:bodyPr wrap="none" rtlCol="0">
              <a:spAutoFit/>
            </a:bodyPr>
            <a:lstStyle/>
            <a:p>
              <a:r>
                <a:rPr lang="en-US" altLang="zh-CN" b="1" dirty="0">
                  <a:solidFill>
                    <a:srgbClr val="CC00CC"/>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aphicFrame>
        <p:nvGraphicFramePr>
          <p:cNvPr id="54" name="Group 118"/>
          <p:cNvGraphicFramePr>
            <a:graphicFrameLocks noGrp="1"/>
          </p:cNvGraphicFramePr>
          <p:nvPr/>
        </p:nvGraphicFramePr>
        <p:xfrm>
          <a:off x="569015" y="2658602"/>
          <a:ext cx="3649980" cy="2606038"/>
        </p:xfrm>
        <a:graphic>
          <a:graphicData uri="http://schemas.openxmlformats.org/drawingml/2006/table">
            <a:tbl>
              <a:tblPr>
                <a:effectLst>
                  <a:outerShdw blurRad="50800" dist="38100" dir="2700000" algn="tl" rotWithShape="0">
                    <a:prstClr val="black">
                      <a:alpha val="40000"/>
                    </a:prstClr>
                  </a:outerShdw>
                </a:effectLst>
              </a:tblPr>
              <a:tblGrid>
                <a:gridCol w="1125476"/>
                <a:gridCol w="1180186"/>
                <a:gridCol w="1344318"/>
              </a:tblGrid>
              <a:tr h="415998">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现态</a:t>
                      </a:r>
                      <a:r>
                        <a:rPr kumimoji="0" lang="en-US" altLang="zh-CN" sz="1800" b="1" i="0" u="none" strike="noStrike" cap="none" normalizeH="0" baseline="0" dirty="0" err="1">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err="1">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n</a:t>
                      </a:r>
                      <a:endPar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次态</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n+1</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输出</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Y</a:t>
                      </a:r>
                      <a:endPar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hMerge="1">
                  <a:tcPr/>
                </a:tc>
              </a:tr>
              <a:tr h="415998">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X=0</a:t>
                      </a:r>
                      <a:endPar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X=1</a:t>
                      </a:r>
                      <a:endPar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r>
              <a:tr h="415998">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0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1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r>
              <a:tr h="476665">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0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2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r>
              <a:tr h="415998">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2</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3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1</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2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r>
              <a:tr h="465381">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3</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0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1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1000"/>
                                        <p:tgtEl>
                                          <p:spTgt spid="53"/>
                                        </p:tgtEl>
                                      </p:cBhvr>
                                    </p:animEffect>
                                    <p:anim calcmode="lin" valueType="num">
                                      <p:cBhvr>
                                        <p:cTn id="8" dur="1000" fill="hold"/>
                                        <p:tgtEl>
                                          <p:spTgt spid="53"/>
                                        </p:tgtEl>
                                        <p:attrNameLst>
                                          <p:attrName>ppt_x</p:attrName>
                                        </p:attrNameLst>
                                      </p:cBhvr>
                                      <p:tavLst>
                                        <p:tav tm="0">
                                          <p:val>
                                            <p:strVal val="#ppt_x"/>
                                          </p:val>
                                        </p:tav>
                                        <p:tav tm="100000">
                                          <p:val>
                                            <p:strVal val="#ppt_x"/>
                                          </p:val>
                                        </p:tav>
                                      </p:tavLst>
                                    </p:anim>
                                    <p:anim calcmode="lin" valueType="num">
                                      <p:cBhvr>
                                        <p:cTn id="9" dur="1000" fill="hold"/>
                                        <p:tgtEl>
                                          <p:spTgt spid="5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55"/>
                                        </p:tgtEl>
                                        <p:attrNameLst>
                                          <p:attrName>style.visibility</p:attrName>
                                        </p:attrNameLst>
                                      </p:cBhvr>
                                      <p:to>
                                        <p:strVal val="visible"/>
                                      </p:to>
                                    </p:set>
                                    <p:animEffect transition="in" filter="fade">
                                      <p:cBhvr>
                                        <p:cTn id="13" dur="1000"/>
                                        <p:tgtEl>
                                          <p:spTgt spid="55"/>
                                        </p:tgtEl>
                                      </p:cBhvr>
                                    </p:animEffect>
                                    <p:anim calcmode="lin" valueType="num">
                                      <p:cBhvr>
                                        <p:cTn id="14" dur="1000" fill="hold"/>
                                        <p:tgtEl>
                                          <p:spTgt spid="55"/>
                                        </p:tgtEl>
                                        <p:attrNameLst>
                                          <p:attrName>ppt_x</p:attrName>
                                        </p:attrNameLst>
                                      </p:cBhvr>
                                      <p:tavLst>
                                        <p:tav tm="0">
                                          <p:val>
                                            <p:strVal val="#ppt_x"/>
                                          </p:val>
                                        </p:tav>
                                        <p:tav tm="100000">
                                          <p:val>
                                            <p:strVal val="#ppt_x"/>
                                          </p:val>
                                        </p:tav>
                                      </p:tavLst>
                                    </p:anim>
                                    <p:anim calcmode="lin" valueType="num">
                                      <p:cBhvr>
                                        <p:cTn id="15"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42" presetClass="entr" presetSubtype="0"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1000"/>
                                        <p:tgtEl>
                                          <p:spTgt spid="8"/>
                                        </p:tgtEl>
                                      </p:cBhvr>
                                    </p:animEffect>
                                    <p:anim calcmode="lin" valueType="num">
                                      <p:cBhvr>
                                        <p:cTn id="27" dur="1000" fill="hold"/>
                                        <p:tgtEl>
                                          <p:spTgt spid="8"/>
                                        </p:tgtEl>
                                        <p:attrNameLst>
                                          <p:attrName>ppt_x</p:attrName>
                                        </p:attrNameLst>
                                      </p:cBhvr>
                                      <p:tavLst>
                                        <p:tav tm="0">
                                          <p:val>
                                            <p:strVal val="#ppt_x"/>
                                          </p:val>
                                        </p:tav>
                                        <p:tav tm="100000">
                                          <p:val>
                                            <p:strVal val="#ppt_x"/>
                                          </p:val>
                                        </p:tav>
                                      </p:tavLst>
                                    </p:anim>
                                    <p:anim calcmode="lin" valueType="num">
                                      <p:cBhvr>
                                        <p:cTn id="28" dur="1000" fill="hold"/>
                                        <p:tgtEl>
                                          <p:spTgt spid="8"/>
                                        </p:tgtEl>
                                        <p:attrNameLst>
                                          <p:attrName>ppt_y</p:attrName>
                                        </p:attrNameLst>
                                      </p:cBhvr>
                                      <p:tavLst>
                                        <p:tav tm="0">
                                          <p:val>
                                            <p:strVal val="#ppt_y+.1"/>
                                          </p:val>
                                        </p:tav>
                                        <p:tav tm="100000">
                                          <p:val>
                                            <p:strVal val="#ppt_y"/>
                                          </p:val>
                                        </p:tav>
                                      </p:tavLst>
                                    </p:anim>
                                  </p:childTnLst>
                                </p:cTn>
                              </p:par>
                            </p:childTnLst>
                          </p:cTn>
                        </p:par>
                        <p:par>
                          <p:cTn id="29" fill="hold">
                            <p:stCondLst>
                              <p:cond delay="2000"/>
                            </p:stCondLst>
                            <p:childTnLst>
                              <p:par>
                                <p:cTn id="30" presetID="42" presetClass="entr" presetSubtype="0" fill="hold" grpId="0" nodeType="afterEffect">
                                  <p:stCondLst>
                                    <p:cond delay="0"/>
                                  </p:stCondLst>
                                  <p:childTnLst>
                                    <p:set>
                                      <p:cBhvr>
                                        <p:cTn id="31" dur="1" fill="hold">
                                          <p:stCondLst>
                                            <p:cond delay="0"/>
                                          </p:stCondLst>
                                        </p:cTn>
                                        <p:tgtEl>
                                          <p:spTgt spid="163"/>
                                        </p:tgtEl>
                                        <p:attrNameLst>
                                          <p:attrName>style.visibility</p:attrName>
                                        </p:attrNameLst>
                                      </p:cBhvr>
                                      <p:to>
                                        <p:strVal val="visible"/>
                                      </p:to>
                                    </p:set>
                                    <p:animEffect transition="in" filter="fade">
                                      <p:cBhvr>
                                        <p:cTn id="32" dur="1000"/>
                                        <p:tgtEl>
                                          <p:spTgt spid="163"/>
                                        </p:tgtEl>
                                      </p:cBhvr>
                                    </p:animEffect>
                                    <p:anim calcmode="lin" valueType="num">
                                      <p:cBhvr>
                                        <p:cTn id="33" dur="1000" fill="hold"/>
                                        <p:tgtEl>
                                          <p:spTgt spid="163"/>
                                        </p:tgtEl>
                                        <p:attrNameLst>
                                          <p:attrName>ppt_x</p:attrName>
                                        </p:attrNameLst>
                                      </p:cBhvr>
                                      <p:tavLst>
                                        <p:tav tm="0">
                                          <p:val>
                                            <p:strVal val="#ppt_x"/>
                                          </p:val>
                                        </p:tav>
                                        <p:tav tm="100000">
                                          <p:val>
                                            <p:strVal val="#ppt_x"/>
                                          </p:val>
                                        </p:tav>
                                      </p:tavLst>
                                    </p:anim>
                                    <p:anim calcmode="lin" valueType="num">
                                      <p:cBhvr>
                                        <p:cTn id="34" dur="1000" fill="hold"/>
                                        <p:tgtEl>
                                          <p:spTgt spid="163"/>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down)">
                                      <p:cBhvr>
                                        <p:cTn id="39" dur="10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fade">
                                      <p:cBhvr>
                                        <p:cTn id="44" dur="1000"/>
                                        <p:tgtEl>
                                          <p:spTgt spid="5"/>
                                        </p:tgtEl>
                                      </p:cBhvr>
                                    </p:animEffect>
                                    <p:anim calcmode="lin" valueType="num">
                                      <p:cBhvr>
                                        <p:cTn id="45" dur="1000" fill="hold"/>
                                        <p:tgtEl>
                                          <p:spTgt spid="5"/>
                                        </p:tgtEl>
                                        <p:attrNameLst>
                                          <p:attrName>ppt_x</p:attrName>
                                        </p:attrNameLst>
                                      </p:cBhvr>
                                      <p:tavLst>
                                        <p:tav tm="0">
                                          <p:val>
                                            <p:strVal val="#ppt_x"/>
                                          </p:val>
                                        </p:tav>
                                        <p:tav tm="100000">
                                          <p:val>
                                            <p:strVal val="#ppt_x"/>
                                          </p:val>
                                        </p:tav>
                                      </p:tavLst>
                                    </p:anim>
                                    <p:anim calcmode="lin" valueType="num">
                                      <p:cBhvr>
                                        <p:cTn id="46" dur="1000" fill="hold"/>
                                        <p:tgtEl>
                                          <p:spTgt spid="5"/>
                                        </p:tgtEl>
                                        <p:attrNameLst>
                                          <p:attrName>ppt_y</p:attrName>
                                        </p:attrNameLst>
                                      </p:cBhvr>
                                      <p:tavLst>
                                        <p:tav tm="0">
                                          <p:val>
                                            <p:strVal val="#ppt_y+.1"/>
                                          </p:val>
                                        </p:tav>
                                        <p:tav tm="100000">
                                          <p:val>
                                            <p:strVal val="#ppt_y"/>
                                          </p:val>
                                        </p:tav>
                                      </p:tavLst>
                                    </p:anim>
                                  </p:childTnLst>
                                </p:cTn>
                              </p:par>
                            </p:childTnLst>
                          </p:cTn>
                        </p:par>
                        <p:par>
                          <p:cTn id="47" fill="hold">
                            <p:stCondLst>
                              <p:cond delay="1000"/>
                            </p:stCondLst>
                            <p:childTnLst>
                              <p:par>
                                <p:cTn id="48" presetID="22" presetClass="entr" presetSubtype="8" fill="hold" nodeType="after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ipe(left)">
                                      <p:cBhvr>
                                        <p:cTn id="50" dur="1000"/>
                                        <p:tgtEl>
                                          <p:spTgt spid="10"/>
                                        </p:tgtEl>
                                      </p:cBhvr>
                                    </p:animEffect>
                                  </p:childTnLst>
                                </p:cTn>
                              </p:par>
                            </p:childTnLst>
                          </p:cTn>
                        </p:par>
                        <p:par>
                          <p:cTn id="51" fill="hold">
                            <p:stCondLst>
                              <p:cond delay="2000"/>
                            </p:stCondLst>
                            <p:childTnLst>
                              <p:par>
                                <p:cTn id="52" presetID="22" presetClass="entr" presetSubtype="8" fill="hold" grpId="0" nodeType="afterEffect">
                                  <p:stCondLst>
                                    <p:cond delay="0"/>
                                  </p:stCondLst>
                                  <p:childTnLst>
                                    <p:set>
                                      <p:cBhvr>
                                        <p:cTn id="53" dur="1" fill="hold">
                                          <p:stCondLst>
                                            <p:cond delay="0"/>
                                          </p:stCondLst>
                                        </p:cTn>
                                        <p:tgtEl>
                                          <p:spTgt spid="164"/>
                                        </p:tgtEl>
                                        <p:attrNameLst>
                                          <p:attrName>style.visibility</p:attrName>
                                        </p:attrNameLst>
                                      </p:cBhvr>
                                      <p:to>
                                        <p:strVal val="visible"/>
                                      </p:to>
                                    </p:set>
                                    <p:animEffect transition="in" filter="wipe(left)">
                                      <p:cBhvr>
                                        <p:cTn id="54" dur="1000"/>
                                        <p:tgtEl>
                                          <p:spTgt spid="16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nodeType="click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wipe(right)">
                                      <p:cBhvr>
                                        <p:cTn id="59" dur="1000"/>
                                        <p:tgtEl>
                                          <p:spTgt spid="11"/>
                                        </p:tgtEl>
                                      </p:cBhvr>
                                    </p:animEffect>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nodeType="click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fade">
                                      <p:cBhvr>
                                        <p:cTn id="64" dur="1000"/>
                                        <p:tgtEl>
                                          <p:spTgt spid="6"/>
                                        </p:tgtEl>
                                      </p:cBhvr>
                                    </p:animEffect>
                                    <p:anim calcmode="lin" valueType="num">
                                      <p:cBhvr>
                                        <p:cTn id="65" dur="1000" fill="hold"/>
                                        <p:tgtEl>
                                          <p:spTgt spid="6"/>
                                        </p:tgtEl>
                                        <p:attrNameLst>
                                          <p:attrName>ppt_x</p:attrName>
                                        </p:attrNameLst>
                                      </p:cBhvr>
                                      <p:tavLst>
                                        <p:tav tm="0">
                                          <p:val>
                                            <p:strVal val="#ppt_x"/>
                                          </p:val>
                                        </p:tav>
                                        <p:tav tm="100000">
                                          <p:val>
                                            <p:strVal val="#ppt_x"/>
                                          </p:val>
                                        </p:tav>
                                      </p:tavLst>
                                    </p:anim>
                                    <p:anim calcmode="lin" valueType="num">
                                      <p:cBhvr>
                                        <p:cTn id="66" dur="1000" fill="hold"/>
                                        <p:tgtEl>
                                          <p:spTgt spid="6"/>
                                        </p:tgtEl>
                                        <p:attrNameLst>
                                          <p:attrName>ppt_y</p:attrName>
                                        </p:attrNameLst>
                                      </p:cBhvr>
                                      <p:tavLst>
                                        <p:tav tm="0">
                                          <p:val>
                                            <p:strVal val="#ppt_y+.1"/>
                                          </p:val>
                                        </p:tav>
                                        <p:tav tm="100000">
                                          <p:val>
                                            <p:strVal val="#ppt_y"/>
                                          </p:val>
                                        </p:tav>
                                      </p:tavLst>
                                    </p:anim>
                                  </p:childTnLst>
                                </p:cTn>
                              </p:par>
                            </p:childTnLst>
                          </p:cTn>
                        </p:par>
                        <p:par>
                          <p:cTn id="67" fill="hold">
                            <p:stCondLst>
                              <p:cond delay="1000"/>
                            </p:stCondLst>
                            <p:childTnLst>
                              <p:par>
                                <p:cTn id="68" presetID="22" presetClass="entr" presetSubtype="1" fill="hold" nodeType="after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wipe(up)">
                                      <p:cBhvr>
                                        <p:cTn id="70" dur="1000"/>
                                        <p:tgtEl>
                                          <p:spTgt spid="12"/>
                                        </p:tgtEl>
                                      </p:cBhvr>
                                    </p:animEffect>
                                  </p:childTnLst>
                                </p:cTn>
                              </p:par>
                            </p:childTnLst>
                          </p:cTn>
                        </p:par>
                        <p:par>
                          <p:cTn id="71" fill="hold">
                            <p:stCondLst>
                              <p:cond delay="2000"/>
                            </p:stCondLst>
                            <p:childTnLst>
                              <p:par>
                                <p:cTn id="72" presetID="22" presetClass="entr" presetSubtype="1" fill="hold" grpId="0" nodeType="afterEffect">
                                  <p:stCondLst>
                                    <p:cond delay="0"/>
                                  </p:stCondLst>
                                  <p:childTnLst>
                                    <p:set>
                                      <p:cBhvr>
                                        <p:cTn id="73" dur="1" fill="hold">
                                          <p:stCondLst>
                                            <p:cond delay="0"/>
                                          </p:stCondLst>
                                        </p:cTn>
                                        <p:tgtEl>
                                          <p:spTgt spid="166"/>
                                        </p:tgtEl>
                                        <p:attrNameLst>
                                          <p:attrName>style.visibility</p:attrName>
                                        </p:attrNameLst>
                                      </p:cBhvr>
                                      <p:to>
                                        <p:strVal val="visible"/>
                                      </p:to>
                                    </p:set>
                                    <p:animEffect transition="in" filter="wipe(up)">
                                      <p:cBhvr>
                                        <p:cTn id="74" dur="1000"/>
                                        <p:tgtEl>
                                          <p:spTgt spid="166"/>
                                        </p:tgtEl>
                                      </p:cBhvr>
                                    </p:animEffect>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fade">
                                      <p:cBhvr>
                                        <p:cTn id="79" dur="1000"/>
                                        <p:tgtEl>
                                          <p:spTgt spid="7"/>
                                        </p:tgtEl>
                                      </p:cBhvr>
                                    </p:animEffect>
                                    <p:anim calcmode="lin" valueType="num">
                                      <p:cBhvr>
                                        <p:cTn id="80" dur="1000" fill="hold"/>
                                        <p:tgtEl>
                                          <p:spTgt spid="7"/>
                                        </p:tgtEl>
                                        <p:attrNameLst>
                                          <p:attrName>ppt_x</p:attrName>
                                        </p:attrNameLst>
                                      </p:cBhvr>
                                      <p:tavLst>
                                        <p:tav tm="0">
                                          <p:val>
                                            <p:strVal val="#ppt_x"/>
                                          </p:val>
                                        </p:tav>
                                        <p:tav tm="100000">
                                          <p:val>
                                            <p:strVal val="#ppt_x"/>
                                          </p:val>
                                        </p:tav>
                                      </p:tavLst>
                                    </p:anim>
                                    <p:anim calcmode="lin" valueType="num">
                                      <p:cBhvr>
                                        <p:cTn id="81" dur="1000" fill="hold"/>
                                        <p:tgtEl>
                                          <p:spTgt spid="7"/>
                                        </p:tgtEl>
                                        <p:attrNameLst>
                                          <p:attrName>ppt_y</p:attrName>
                                        </p:attrNameLst>
                                      </p:cBhvr>
                                      <p:tavLst>
                                        <p:tav tm="0">
                                          <p:val>
                                            <p:strVal val="#ppt_y+.1"/>
                                          </p:val>
                                        </p:tav>
                                        <p:tav tm="100000">
                                          <p:val>
                                            <p:strVal val="#ppt_y"/>
                                          </p:val>
                                        </p:tav>
                                      </p:tavLst>
                                    </p:anim>
                                  </p:childTnLst>
                                </p:cTn>
                              </p:par>
                            </p:childTnLst>
                          </p:cTn>
                        </p:par>
                        <p:par>
                          <p:cTn id="82" fill="hold">
                            <p:stCondLst>
                              <p:cond delay="1000"/>
                            </p:stCondLst>
                            <p:childTnLst>
                              <p:par>
                                <p:cTn id="83" presetID="22" presetClass="entr" presetSubtype="2" fill="hold" nodeType="afterEffect">
                                  <p:stCondLst>
                                    <p:cond delay="0"/>
                                  </p:stCondLst>
                                  <p:childTnLst>
                                    <p:set>
                                      <p:cBhvr>
                                        <p:cTn id="84" dur="1" fill="hold">
                                          <p:stCondLst>
                                            <p:cond delay="0"/>
                                          </p:stCondLst>
                                        </p:cTn>
                                        <p:tgtEl>
                                          <p:spTgt spid="14"/>
                                        </p:tgtEl>
                                        <p:attrNameLst>
                                          <p:attrName>style.visibility</p:attrName>
                                        </p:attrNameLst>
                                      </p:cBhvr>
                                      <p:to>
                                        <p:strVal val="visible"/>
                                      </p:to>
                                    </p:set>
                                    <p:animEffect transition="in" filter="wipe(right)">
                                      <p:cBhvr>
                                        <p:cTn id="85" dur="1000"/>
                                        <p:tgtEl>
                                          <p:spTgt spid="14"/>
                                        </p:tgtEl>
                                      </p:cBhvr>
                                    </p:animEffect>
                                  </p:childTnLst>
                                </p:cTn>
                              </p:par>
                            </p:childTnLst>
                          </p:cTn>
                        </p:par>
                        <p:par>
                          <p:cTn id="86" fill="hold">
                            <p:stCondLst>
                              <p:cond delay="2000"/>
                            </p:stCondLst>
                            <p:childTnLst>
                              <p:par>
                                <p:cTn id="87" presetID="22" presetClass="entr" presetSubtype="2" fill="hold" grpId="0" nodeType="afterEffect">
                                  <p:stCondLst>
                                    <p:cond delay="0"/>
                                  </p:stCondLst>
                                  <p:childTnLst>
                                    <p:set>
                                      <p:cBhvr>
                                        <p:cTn id="88" dur="1" fill="hold">
                                          <p:stCondLst>
                                            <p:cond delay="0"/>
                                          </p:stCondLst>
                                        </p:cTn>
                                        <p:tgtEl>
                                          <p:spTgt spid="165"/>
                                        </p:tgtEl>
                                        <p:attrNameLst>
                                          <p:attrName>style.visibility</p:attrName>
                                        </p:attrNameLst>
                                      </p:cBhvr>
                                      <p:to>
                                        <p:strVal val="visible"/>
                                      </p:to>
                                    </p:set>
                                    <p:animEffect transition="in" filter="wipe(right)">
                                      <p:cBhvr>
                                        <p:cTn id="89" dur="1000"/>
                                        <p:tgtEl>
                                          <p:spTgt spid="165"/>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nodeType="clickEffect">
                                  <p:stCondLst>
                                    <p:cond delay="0"/>
                                  </p:stCondLst>
                                  <p:childTnLst>
                                    <p:set>
                                      <p:cBhvr>
                                        <p:cTn id="93" dur="1" fill="hold">
                                          <p:stCondLst>
                                            <p:cond delay="0"/>
                                          </p:stCondLst>
                                        </p:cTn>
                                        <p:tgtEl>
                                          <p:spTgt spid="13"/>
                                        </p:tgtEl>
                                        <p:attrNameLst>
                                          <p:attrName>style.visibility</p:attrName>
                                        </p:attrNameLst>
                                      </p:cBhvr>
                                      <p:to>
                                        <p:strVal val="visible"/>
                                      </p:to>
                                    </p:set>
                                    <p:animEffect transition="in" filter="wipe(up)">
                                      <p:cBhvr>
                                        <p:cTn id="94" dur="1000"/>
                                        <p:tgtEl>
                                          <p:spTgt spid="13"/>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nodeType="clickEffect">
                                  <p:stCondLst>
                                    <p:cond delay="0"/>
                                  </p:stCondLst>
                                  <p:childTnLst>
                                    <p:set>
                                      <p:cBhvr>
                                        <p:cTn id="98" dur="1" fill="hold">
                                          <p:stCondLst>
                                            <p:cond delay="0"/>
                                          </p:stCondLst>
                                        </p:cTn>
                                        <p:tgtEl>
                                          <p:spTgt spid="15"/>
                                        </p:tgtEl>
                                        <p:attrNameLst>
                                          <p:attrName>style.visibility</p:attrName>
                                        </p:attrNameLst>
                                      </p:cBhvr>
                                      <p:to>
                                        <p:strVal val="visible"/>
                                      </p:to>
                                    </p:set>
                                    <p:animEffect transition="in" filter="wipe(down)">
                                      <p:cBhvr>
                                        <p:cTn id="99" dur="1000"/>
                                        <p:tgtEl>
                                          <p:spTgt spid="15"/>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4" fill="hold" nodeType="clickEffect">
                                  <p:stCondLst>
                                    <p:cond delay="0"/>
                                  </p:stCondLst>
                                  <p:childTnLst>
                                    <p:set>
                                      <p:cBhvr>
                                        <p:cTn id="103" dur="1" fill="hold">
                                          <p:stCondLst>
                                            <p:cond delay="0"/>
                                          </p:stCondLst>
                                        </p:cTn>
                                        <p:tgtEl>
                                          <p:spTgt spid="16"/>
                                        </p:tgtEl>
                                        <p:attrNameLst>
                                          <p:attrName>style.visibility</p:attrName>
                                        </p:attrNameLst>
                                      </p:cBhvr>
                                      <p:to>
                                        <p:strVal val="visible"/>
                                      </p:to>
                                    </p:set>
                                    <p:animEffect transition="in" filter="wipe(down)">
                                      <p:cBhvr>
                                        <p:cTn id="104" dur="1000"/>
                                        <p:tgtEl>
                                          <p:spTgt spid="16"/>
                                        </p:tgtEl>
                                      </p:cBhvr>
                                    </p:animEffect>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nodeType="clickEffect">
                                  <p:stCondLst>
                                    <p:cond delay="0"/>
                                  </p:stCondLst>
                                  <p:childTnLst>
                                    <p:set>
                                      <p:cBhvr>
                                        <p:cTn id="108" dur="1" fill="hold">
                                          <p:stCondLst>
                                            <p:cond delay="0"/>
                                          </p:stCondLst>
                                        </p:cTn>
                                        <p:tgtEl>
                                          <p:spTgt spid="54"/>
                                        </p:tgtEl>
                                        <p:attrNameLst>
                                          <p:attrName>style.visibility</p:attrName>
                                        </p:attrNameLst>
                                      </p:cBhvr>
                                      <p:to>
                                        <p:strVal val="visible"/>
                                      </p:to>
                                    </p:set>
                                    <p:animEffect transition="in" filter="fade">
                                      <p:cBhvr>
                                        <p:cTn id="109" dur="1000"/>
                                        <p:tgtEl>
                                          <p:spTgt spid="54"/>
                                        </p:tgtEl>
                                      </p:cBhvr>
                                    </p:animEffect>
                                    <p:anim calcmode="lin" valueType="num">
                                      <p:cBhvr>
                                        <p:cTn id="110" dur="1000" fill="hold"/>
                                        <p:tgtEl>
                                          <p:spTgt spid="54"/>
                                        </p:tgtEl>
                                        <p:attrNameLst>
                                          <p:attrName>ppt_x</p:attrName>
                                        </p:attrNameLst>
                                      </p:cBhvr>
                                      <p:tavLst>
                                        <p:tav tm="0">
                                          <p:val>
                                            <p:strVal val="#ppt_x"/>
                                          </p:val>
                                        </p:tav>
                                        <p:tav tm="100000">
                                          <p:val>
                                            <p:strVal val="#ppt_x"/>
                                          </p:val>
                                        </p:tav>
                                      </p:tavLst>
                                    </p:anim>
                                    <p:anim calcmode="lin" valueType="num">
                                      <p:cBhvr>
                                        <p:cTn id="111"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5" grpId="0"/>
      <p:bldP spid="163" grpId="0" animBg="1"/>
      <p:bldP spid="164" grpId="0" animBg="1"/>
      <p:bldP spid="165" grpId="0" animBg="1"/>
      <p:bldP spid="16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8" name="Group 118"/>
          <p:cNvGraphicFramePr>
            <a:graphicFrameLocks noGrp="1"/>
          </p:cNvGraphicFramePr>
          <p:nvPr/>
        </p:nvGraphicFramePr>
        <p:xfrm>
          <a:off x="624963" y="2590850"/>
          <a:ext cx="3649980" cy="2606038"/>
        </p:xfrm>
        <a:graphic>
          <a:graphicData uri="http://schemas.openxmlformats.org/drawingml/2006/table">
            <a:tbl>
              <a:tblPr>
                <a:effectLst>
                  <a:outerShdw blurRad="50800" dist="38100" dir="2700000" algn="tl" rotWithShape="0">
                    <a:prstClr val="black">
                      <a:alpha val="40000"/>
                    </a:prstClr>
                  </a:outerShdw>
                </a:effectLst>
              </a:tblPr>
              <a:tblGrid>
                <a:gridCol w="1125476"/>
                <a:gridCol w="1180186"/>
                <a:gridCol w="1344318"/>
              </a:tblGrid>
              <a:tr h="415998">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现态</a:t>
                      </a:r>
                      <a:r>
                        <a:rPr kumimoji="0" lang="en-US" altLang="zh-CN" sz="1800" b="1" i="0" u="none" strike="noStrike" cap="none" normalizeH="0" baseline="0" dirty="0" err="1">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err="1">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n</a:t>
                      </a:r>
                      <a:endPar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次态</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n+1</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输出</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Y</a:t>
                      </a:r>
                      <a:endPar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hMerge="1">
                  <a:tcPr/>
                </a:tc>
              </a:tr>
              <a:tr h="415998">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X=0</a:t>
                      </a:r>
                      <a:endPar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X=1</a:t>
                      </a:r>
                      <a:endPar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r>
              <a:tr h="415998">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0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1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r>
              <a:tr h="476665">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0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2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r>
              <a:tr h="415998">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2</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3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1</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2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r>
              <a:tr h="465381">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3</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0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1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r>
            </a:tbl>
          </a:graphicData>
        </a:graphic>
      </p:graphicFrame>
      <p:grpSp>
        <p:nvGrpSpPr>
          <p:cNvPr id="2" name="组合 1"/>
          <p:cNvGrpSpPr/>
          <p:nvPr/>
        </p:nvGrpSpPr>
        <p:grpSpPr>
          <a:xfrm>
            <a:off x="4532230" y="2791990"/>
            <a:ext cx="4499401" cy="2294261"/>
            <a:chOff x="4532230" y="2791990"/>
            <a:chExt cx="4499401" cy="2294261"/>
          </a:xfrm>
        </p:grpSpPr>
        <p:grpSp>
          <p:nvGrpSpPr>
            <p:cNvPr id="155" name="组合 22"/>
            <p:cNvGrpSpPr/>
            <p:nvPr/>
          </p:nvGrpSpPr>
          <p:grpSpPr>
            <a:xfrm>
              <a:off x="4532230" y="2791990"/>
              <a:ext cx="1175317" cy="590088"/>
              <a:chOff x="5172350" y="2842474"/>
              <a:chExt cx="1175317" cy="590088"/>
            </a:xfrm>
          </p:grpSpPr>
          <p:sp>
            <p:nvSpPr>
              <p:cNvPr id="163" name="椭圆 162"/>
              <p:cNvSpPr/>
              <p:nvPr/>
            </p:nvSpPr>
            <p:spPr>
              <a:xfrm>
                <a:off x="5172350" y="2892562"/>
                <a:ext cx="540000" cy="540000"/>
              </a:xfrm>
              <a:prstGeom prst="ellipse">
                <a:avLst/>
              </a:prstGeom>
              <a:solidFill>
                <a:srgbClr val="66FFCC"/>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i</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164" name="直接箭头连接符 163"/>
              <p:cNvCxnSpPr>
                <a:stCxn id="163" idx="6"/>
              </p:cNvCxnSpPr>
              <p:nvPr/>
            </p:nvCxnSpPr>
            <p:spPr>
              <a:xfrm flipV="1">
                <a:off x="5712350" y="3154295"/>
                <a:ext cx="635317" cy="0"/>
              </a:xfrm>
              <a:prstGeom prst="straightConnector1">
                <a:avLst/>
              </a:prstGeom>
              <a:ln w="28575">
                <a:solidFill>
                  <a:srgbClr val="0000FF"/>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165" name="矩形 164"/>
              <p:cNvSpPr/>
              <p:nvPr/>
            </p:nvSpPr>
            <p:spPr>
              <a:xfrm>
                <a:off x="5732742" y="2842474"/>
                <a:ext cx="537327" cy="338554"/>
              </a:xfrm>
              <a:prstGeom prst="rect">
                <a:avLst/>
              </a:prstGeom>
            </p:spPr>
            <p:txBody>
              <a:bodyPr wrap="none">
                <a:spAutoFit/>
              </a:bodyPr>
              <a:lstStyle/>
              <a:p>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X/Y</a:t>
                </a:r>
                <a:endParaRPr lang="zh-CN" altLang="en-US" sz="1600" dirty="0"/>
              </a:p>
            </p:txBody>
          </p:sp>
        </p:grpSp>
        <p:sp>
          <p:nvSpPr>
            <p:cNvPr id="166" name="椭圆 165"/>
            <p:cNvSpPr/>
            <p:nvPr/>
          </p:nvSpPr>
          <p:spPr>
            <a:xfrm>
              <a:off x="6174771" y="3233792"/>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0</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sp>
          <p:nvSpPr>
            <p:cNvPr id="168" name="椭圆 167"/>
            <p:cNvSpPr/>
            <p:nvPr/>
          </p:nvSpPr>
          <p:spPr>
            <a:xfrm>
              <a:off x="7750281" y="3233792"/>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1</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sp>
          <p:nvSpPr>
            <p:cNvPr id="169" name="椭圆 168"/>
            <p:cNvSpPr/>
            <p:nvPr/>
          </p:nvSpPr>
          <p:spPr>
            <a:xfrm>
              <a:off x="6174771" y="4561756"/>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3</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sp>
          <p:nvSpPr>
            <p:cNvPr id="170" name="椭圆 169"/>
            <p:cNvSpPr/>
            <p:nvPr/>
          </p:nvSpPr>
          <p:spPr>
            <a:xfrm>
              <a:off x="7750281" y="4561756"/>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2</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grpSp>
          <p:nvGrpSpPr>
            <p:cNvPr id="172" name="组合 173"/>
            <p:cNvGrpSpPr/>
            <p:nvPr/>
          </p:nvGrpSpPr>
          <p:grpSpPr>
            <a:xfrm>
              <a:off x="5329517" y="3203454"/>
              <a:ext cx="938917" cy="468263"/>
              <a:chOff x="4662927" y="3014896"/>
              <a:chExt cx="938917" cy="468263"/>
            </a:xfrm>
          </p:grpSpPr>
          <p:sp>
            <p:nvSpPr>
              <p:cNvPr id="173" name="弧形 172"/>
              <p:cNvSpPr/>
              <p:nvPr/>
            </p:nvSpPr>
            <p:spPr>
              <a:xfrm rot="8219386">
                <a:off x="5127191" y="3014896"/>
                <a:ext cx="474653" cy="468263"/>
              </a:xfrm>
              <a:prstGeom prst="arc">
                <a:avLst>
                  <a:gd name="adj1" fmla="val 16200000"/>
                  <a:gd name="adj2" fmla="val 11123489"/>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2" name="TextBox 172"/>
              <p:cNvSpPr txBox="1"/>
              <p:nvPr/>
            </p:nvSpPr>
            <p:spPr>
              <a:xfrm>
                <a:off x="4662927" y="3069968"/>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0/0</a:t>
                </a:r>
                <a:endParaRPr lang="zh-CN" altLang="en-US" b="1" dirty="0">
                  <a:latin typeface="Times New Roman" panose="02020603050405020304" pitchFamily="18" charset="0"/>
                  <a:cs typeface="Times New Roman" panose="02020603050405020304" pitchFamily="18" charset="0"/>
                </a:endParaRPr>
              </a:p>
            </p:txBody>
          </p:sp>
        </p:grpSp>
        <p:grpSp>
          <p:nvGrpSpPr>
            <p:cNvPr id="185" name="组合 211"/>
            <p:cNvGrpSpPr/>
            <p:nvPr/>
          </p:nvGrpSpPr>
          <p:grpSpPr>
            <a:xfrm>
              <a:off x="6604192" y="2992935"/>
              <a:ext cx="1188000" cy="369332"/>
              <a:chOff x="5937602" y="2804377"/>
              <a:chExt cx="1188000" cy="369332"/>
            </a:xfrm>
          </p:grpSpPr>
          <p:cxnSp>
            <p:nvCxnSpPr>
              <p:cNvPr id="186" name="直接箭头连接符 185"/>
              <p:cNvCxnSpPr/>
              <p:nvPr/>
            </p:nvCxnSpPr>
            <p:spPr>
              <a:xfrm>
                <a:off x="5937602" y="3106148"/>
                <a:ext cx="1188000" cy="0"/>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87" name="TextBox 184"/>
              <p:cNvSpPr txBox="1"/>
              <p:nvPr/>
            </p:nvSpPr>
            <p:spPr>
              <a:xfrm>
                <a:off x="6294106" y="2804377"/>
                <a:ext cx="479618" cy="369332"/>
              </a:xfrm>
              <a:prstGeom prst="rect">
                <a:avLst/>
              </a:prstGeom>
              <a:noFill/>
            </p:spPr>
            <p:txBody>
              <a:bodyPr wrap="none" rtlCol="0">
                <a:spAutoFit/>
              </a:bodyPr>
              <a:lstStyle/>
              <a:p>
                <a:r>
                  <a:rPr lang="en-US" altLang="zh-CN" b="1" dirty="0">
                    <a:solidFill>
                      <a:srgbClr val="CC00CC"/>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188" name="组合 191"/>
            <p:cNvGrpSpPr/>
            <p:nvPr/>
          </p:nvGrpSpPr>
          <p:grpSpPr>
            <a:xfrm>
              <a:off x="6599365" y="3505305"/>
              <a:ext cx="1188000" cy="369332"/>
              <a:chOff x="5932775" y="3316747"/>
              <a:chExt cx="1188000" cy="369332"/>
            </a:xfrm>
          </p:grpSpPr>
          <p:cxnSp>
            <p:nvCxnSpPr>
              <p:cNvPr id="189" name="直接箭头连接符 188"/>
              <p:cNvCxnSpPr/>
              <p:nvPr/>
            </p:nvCxnSpPr>
            <p:spPr>
              <a:xfrm flipH="1">
                <a:off x="5932775" y="3374400"/>
                <a:ext cx="1188000" cy="0"/>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90" name="TextBox 190"/>
              <p:cNvSpPr txBox="1"/>
              <p:nvPr/>
            </p:nvSpPr>
            <p:spPr>
              <a:xfrm>
                <a:off x="6305831" y="3316747"/>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191" name="组合 212"/>
            <p:cNvGrpSpPr/>
            <p:nvPr/>
          </p:nvGrpSpPr>
          <p:grpSpPr>
            <a:xfrm>
              <a:off x="7957808" y="3672595"/>
              <a:ext cx="479618" cy="889413"/>
              <a:chOff x="7291218" y="3604039"/>
              <a:chExt cx="479618" cy="889413"/>
            </a:xfrm>
          </p:grpSpPr>
          <p:cxnSp>
            <p:nvCxnSpPr>
              <p:cNvPr id="192" name="直接箭头连接符 191"/>
              <p:cNvCxnSpPr/>
              <p:nvPr/>
            </p:nvCxnSpPr>
            <p:spPr>
              <a:xfrm flipH="1">
                <a:off x="7319434" y="3604039"/>
                <a:ext cx="1752" cy="889413"/>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93" name="TextBox 194"/>
              <p:cNvSpPr txBox="1"/>
              <p:nvPr/>
            </p:nvSpPr>
            <p:spPr>
              <a:xfrm>
                <a:off x="7291218" y="3825629"/>
                <a:ext cx="479618" cy="369332"/>
              </a:xfrm>
              <a:prstGeom prst="rect">
                <a:avLst/>
              </a:prstGeom>
              <a:noFill/>
            </p:spPr>
            <p:txBody>
              <a:bodyPr wrap="none" rtlCol="0">
                <a:spAutoFit/>
              </a:bodyPr>
              <a:lstStyle/>
              <a:p>
                <a:r>
                  <a:rPr lang="en-US" altLang="zh-CN" b="1" dirty="0">
                    <a:solidFill>
                      <a:srgbClr val="CC00CC"/>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194" name="组合 195"/>
            <p:cNvGrpSpPr/>
            <p:nvPr/>
          </p:nvGrpSpPr>
          <p:grpSpPr>
            <a:xfrm rot="10800000">
              <a:off x="8092714" y="4568159"/>
              <a:ext cx="938917" cy="468263"/>
              <a:chOff x="4662927" y="3014896"/>
              <a:chExt cx="938917" cy="468263"/>
            </a:xfrm>
          </p:grpSpPr>
          <p:sp>
            <p:nvSpPr>
              <p:cNvPr id="195" name="弧形 194"/>
              <p:cNvSpPr/>
              <p:nvPr/>
            </p:nvSpPr>
            <p:spPr>
              <a:xfrm rot="8219386">
                <a:off x="5127191" y="3014896"/>
                <a:ext cx="474653" cy="468263"/>
              </a:xfrm>
              <a:prstGeom prst="arc">
                <a:avLst>
                  <a:gd name="adj1" fmla="val 16200000"/>
                  <a:gd name="adj2" fmla="val 11123489"/>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6" name="TextBox 197"/>
              <p:cNvSpPr txBox="1"/>
              <p:nvPr/>
            </p:nvSpPr>
            <p:spPr>
              <a:xfrm rot="10800000">
                <a:off x="4662927" y="3069968"/>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1/0</a:t>
                </a:r>
                <a:endParaRPr lang="zh-CN" altLang="en-US" b="1" dirty="0">
                  <a:latin typeface="Times New Roman" panose="02020603050405020304" pitchFamily="18" charset="0"/>
                  <a:cs typeface="Times New Roman" panose="02020603050405020304" pitchFamily="18" charset="0"/>
                </a:endParaRPr>
              </a:p>
            </p:txBody>
          </p:sp>
        </p:grpSp>
        <p:grpSp>
          <p:nvGrpSpPr>
            <p:cNvPr id="197" name="组合 198"/>
            <p:cNvGrpSpPr/>
            <p:nvPr/>
          </p:nvGrpSpPr>
          <p:grpSpPr>
            <a:xfrm>
              <a:off x="6660739" y="4716919"/>
              <a:ext cx="1068660" cy="369332"/>
              <a:chOff x="5932775" y="3316747"/>
              <a:chExt cx="1068660" cy="369332"/>
            </a:xfrm>
          </p:grpSpPr>
          <p:cxnSp>
            <p:nvCxnSpPr>
              <p:cNvPr id="198" name="直接箭头连接符 197"/>
              <p:cNvCxnSpPr/>
              <p:nvPr/>
            </p:nvCxnSpPr>
            <p:spPr>
              <a:xfrm flipH="1">
                <a:off x="5932775" y="3360386"/>
                <a:ext cx="1068660" cy="0"/>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99" name="TextBox 200"/>
              <p:cNvSpPr txBox="1"/>
              <p:nvPr/>
            </p:nvSpPr>
            <p:spPr>
              <a:xfrm>
                <a:off x="6243761" y="3316747"/>
                <a:ext cx="492443"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a:t>
                </a:r>
                <a:r>
                  <a:rPr lang="en-US" altLang="zh-CN" b="1" dirty="0">
                    <a:solidFill>
                      <a:srgbClr val="CC00CC"/>
                    </a:solidFill>
                    <a:latin typeface="Times New Roman" panose="02020603050405020304" pitchFamily="18" charset="0"/>
                    <a:cs typeface="Times New Roman" panose="02020603050405020304" pitchFamily="18" charset="0"/>
                  </a:rPr>
                  <a:t>1</a:t>
                </a:r>
                <a:endParaRPr lang="zh-CN" altLang="en-US" b="1" dirty="0">
                  <a:solidFill>
                    <a:srgbClr val="CC00CC"/>
                  </a:solidFill>
                  <a:latin typeface="Times New Roman" panose="02020603050405020304" pitchFamily="18" charset="0"/>
                  <a:cs typeface="Times New Roman" panose="02020603050405020304" pitchFamily="18" charset="0"/>
                </a:endParaRPr>
              </a:p>
            </p:txBody>
          </p:sp>
        </p:grpSp>
        <p:grpSp>
          <p:nvGrpSpPr>
            <p:cNvPr id="200" name="组合 213"/>
            <p:cNvGrpSpPr/>
            <p:nvPr/>
          </p:nvGrpSpPr>
          <p:grpSpPr>
            <a:xfrm>
              <a:off x="5961878" y="3681492"/>
              <a:ext cx="479618" cy="865276"/>
              <a:chOff x="5295288" y="3612936"/>
              <a:chExt cx="479618" cy="865276"/>
            </a:xfrm>
          </p:grpSpPr>
          <p:cxnSp>
            <p:nvCxnSpPr>
              <p:cNvPr id="201" name="直接箭头连接符 200"/>
              <p:cNvCxnSpPr/>
              <p:nvPr/>
            </p:nvCxnSpPr>
            <p:spPr>
              <a:xfrm flipV="1">
                <a:off x="5743924" y="3612936"/>
                <a:ext cx="0" cy="865276"/>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202" name="TextBox 203"/>
              <p:cNvSpPr txBox="1"/>
              <p:nvPr/>
            </p:nvSpPr>
            <p:spPr>
              <a:xfrm>
                <a:off x="5295288" y="3893065"/>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0/0</a:t>
                </a:r>
                <a:endParaRPr lang="zh-CN" altLang="en-US" b="1" dirty="0">
                  <a:latin typeface="Times New Roman" panose="02020603050405020304" pitchFamily="18" charset="0"/>
                  <a:cs typeface="Times New Roman" panose="02020603050405020304" pitchFamily="18" charset="0"/>
                </a:endParaRPr>
              </a:p>
            </p:txBody>
          </p:sp>
        </p:grpSp>
        <p:grpSp>
          <p:nvGrpSpPr>
            <p:cNvPr id="203" name="组合 215"/>
            <p:cNvGrpSpPr/>
            <p:nvPr/>
          </p:nvGrpSpPr>
          <p:grpSpPr>
            <a:xfrm>
              <a:off x="6629400" y="3680529"/>
              <a:ext cx="1235649" cy="967671"/>
              <a:chOff x="5962810" y="3591283"/>
              <a:chExt cx="1235649" cy="967671"/>
            </a:xfrm>
          </p:grpSpPr>
          <p:cxnSp>
            <p:nvCxnSpPr>
              <p:cNvPr id="204" name="直接箭头连接符 203"/>
              <p:cNvCxnSpPr/>
              <p:nvPr/>
            </p:nvCxnSpPr>
            <p:spPr>
              <a:xfrm flipV="1">
                <a:off x="5962810" y="3591283"/>
                <a:ext cx="1235649" cy="967671"/>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205" name="TextBox 214"/>
              <p:cNvSpPr txBox="1"/>
              <p:nvPr/>
            </p:nvSpPr>
            <p:spPr>
              <a:xfrm>
                <a:off x="6074127" y="3726362"/>
                <a:ext cx="479618" cy="369332"/>
              </a:xfrm>
              <a:prstGeom prst="rect">
                <a:avLst/>
              </a:prstGeom>
              <a:noFill/>
            </p:spPr>
            <p:txBody>
              <a:bodyPr wrap="none" rtlCol="0">
                <a:spAutoFit/>
              </a:bodyPr>
              <a:lstStyle/>
              <a:p>
                <a:r>
                  <a:rPr lang="en-US" altLang="zh-CN" b="1" dirty="0">
                    <a:solidFill>
                      <a:srgbClr val="CC00CC"/>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sp>
        <p:nvSpPr>
          <p:cNvPr id="66" name="Rectangle 5"/>
          <p:cNvSpPr>
            <a:spLocks noChangeArrowheads="1"/>
          </p:cNvSpPr>
          <p:nvPr/>
        </p:nvSpPr>
        <p:spPr bwMode="auto">
          <a:xfrm>
            <a:off x="400513" y="1866285"/>
            <a:ext cx="2716678" cy="338554"/>
          </a:xfrm>
          <a:prstGeom prst="rect">
            <a:avLst/>
          </a:prstGeom>
          <a:noFill/>
          <a:ln w="9525" algn="ctr">
            <a:noFill/>
            <a:miter lim="800000"/>
          </a:ln>
          <a:effectLst/>
        </p:spPr>
        <p:txBody>
          <a:bodyPr wrap="square" anchor="ctr">
            <a:spAutoFit/>
          </a:bodyPr>
          <a:lstStyle/>
          <a:p>
            <a:pPr eaLnBrk="0" hangingPunct="0">
              <a:defRPr/>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解</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 （</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2</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状态化简</a:t>
            </a:r>
            <a:endPar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39" name="组合 138"/>
          <p:cNvGrpSpPr/>
          <p:nvPr/>
        </p:nvGrpSpPr>
        <p:grpSpPr>
          <a:xfrm>
            <a:off x="6174728" y="3226890"/>
            <a:ext cx="471486" cy="1774480"/>
            <a:chOff x="6167151" y="3012888"/>
            <a:chExt cx="471486" cy="1774480"/>
          </a:xfrm>
        </p:grpSpPr>
        <p:sp>
          <p:nvSpPr>
            <p:cNvPr id="136" name="椭圆 135"/>
            <p:cNvSpPr/>
            <p:nvPr/>
          </p:nvSpPr>
          <p:spPr>
            <a:xfrm>
              <a:off x="6167151" y="3012888"/>
              <a:ext cx="471486" cy="454212"/>
            </a:xfrm>
            <a:prstGeom prst="ellipse">
              <a:avLst/>
            </a:prstGeom>
            <a:solidFill>
              <a:srgbClr val="FFFF00"/>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0</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sp>
          <p:nvSpPr>
            <p:cNvPr id="137" name="椭圆 136"/>
            <p:cNvSpPr/>
            <p:nvPr/>
          </p:nvSpPr>
          <p:spPr>
            <a:xfrm>
              <a:off x="6167151" y="4333156"/>
              <a:ext cx="471486" cy="454212"/>
            </a:xfrm>
            <a:prstGeom prst="ellipse">
              <a:avLst/>
            </a:prstGeom>
            <a:solidFill>
              <a:srgbClr val="FFFF00"/>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3</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grpSp>
      <p:grpSp>
        <p:nvGrpSpPr>
          <p:cNvPr id="145" name="组合 144"/>
          <p:cNvGrpSpPr/>
          <p:nvPr/>
        </p:nvGrpSpPr>
        <p:grpSpPr>
          <a:xfrm>
            <a:off x="628948" y="3418489"/>
            <a:ext cx="3649980" cy="1773702"/>
            <a:chOff x="502920" y="3535680"/>
            <a:chExt cx="3649980" cy="1773702"/>
          </a:xfrm>
        </p:grpSpPr>
        <p:sp>
          <p:nvSpPr>
            <p:cNvPr id="142" name="圆角矩形 141"/>
            <p:cNvSpPr/>
            <p:nvPr/>
          </p:nvSpPr>
          <p:spPr>
            <a:xfrm>
              <a:off x="502920" y="3535680"/>
              <a:ext cx="3649980" cy="411480"/>
            </a:xfrm>
            <a:prstGeom prst="roundRect">
              <a:avLst>
                <a:gd name="adj" fmla="val 0"/>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圆角矩形 143"/>
            <p:cNvSpPr/>
            <p:nvPr/>
          </p:nvSpPr>
          <p:spPr>
            <a:xfrm>
              <a:off x="502920" y="4859802"/>
              <a:ext cx="3649980" cy="449580"/>
            </a:xfrm>
            <a:prstGeom prst="roundRect">
              <a:avLst>
                <a:gd name="adj" fmla="val 0"/>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148" name="Group 118"/>
          <p:cNvGraphicFramePr>
            <a:graphicFrameLocks noGrp="1"/>
          </p:cNvGraphicFramePr>
          <p:nvPr/>
        </p:nvGraphicFramePr>
        <p:xfrm>
          <a:off x="633043" y="2594522"/>
          <a:ext cx="3649980" cy="2598693"/>
        </p:xfrm>
        <a:graphic>
          <a:graphicData uri="http://schemas.openxmlformats.org/drawingml/2006/table">
            <a:tbl>
              <a:tblPr>
                <a:effectLst>
                  <a:outerShdw blurRad="50800" dist="38100" dir="2700000" algn="tl" rotWithShape="0">
                    <a:prstClr val="black">
                      <a:alpha val="40000"/>
                    </a:prstClr>
                  </a:outerShdw>
                </a:effectLst>
              </a:tblPr>
              <a:tblGrid>
                <a:gridCol w="1125476"/>
                <a:gridCol w="1180186"/>
                <a:gridCol w="1344318"/>
              </a:tblGrid>
              <a:tr h="505009">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现态</a:t>
                      </a:r>
                      <a:r>
                        <a:rPr kumimoji="0" lang="en-US" altLang="zh-CN" sz="1800" b="1" i="0" u="none" strike="noStrike" cap="none" normalizeH="0" baseline="0" dirty="0" err="1">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err="1">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n</a:t>
                      </a:r>
                      <a:endPar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次态</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n+1</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输出</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Y</a:t>
                      </a:r>
                      <a:endPar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hMerge="1">
                  <a:tcPr/>
                </a:tc>
              </a:tr>
              <a:tr h="505009">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X=0</a:t>
                      </a:r>
                      <a:endPar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X=1</a:t>
                      </a:r>
                      <a:endPar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r>
              <a:tr h="50500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0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1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r>
              <a:tr h="578657">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0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2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r>
              <a:tr h="50500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2</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0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1</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1800" b="1" i="0" u="none" strike="noStrike" cap="none" normalizeH="0" baseline="-3000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2  </a:t>
                      </a:r>
                      <a:r>
                        <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rPr>
                        <a:t>/ 0</a:t>
                      </a:r>
                      <a:endParaRPr kumimoji="0" lang="en-US" altLang="zh-CN" sz="1800" b="1" i="0" u="none" strike="noStrike" cap="none" normalizeH="0" baseline="0" dirty="0">
                        <a:ln>
                          <a:noFill/>
                        </a:ln>
                        <a:solidFill>
                          <a:srgbClr val="000000"/>
                        </a:solidFill>
                        <a:effectLst>
                          <a:outerShdw blurRad="60007" dist="200025" dir="15000000" sy="30000" kx="-1800000" algn="bl" rotWithShape="0">
                            <a:prstClr val="black">
                              <a:alpha val="32000"/>
                            </a:prstClr>
                          </a:outerShdw>
                        </a:effectLst>
                        <a:latin typeface="Times New Roman" panose="02020603050405020304" pitchFamily="18" charset="0"/>
                        <a:ea typeface="微软雅黑" panose="020B0503020204020204" pitchFamily="34"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r>
            </a:tbl>
          </a:graphicData>
        </a:graphic>
      </p:graphicFrame>
      <p:grpSp>
        <p:nvGrpSpPr>
          <p:cNvPr id="87" name="组合 88"/>
          <p:cNvGrpSpPr/>
          <p:nvPr/>
        </p:nvGrpSpPr>
        <p:grpSpPr>
          <a:xfrm>
            <a:off x="392432" y="778617"/>
            <a:ext cx="3704049" cy="420971"/>
            <a:chOff x="670560" y="892917"/>
            <a:chExt cx="3704049" cy="420971"/>
          </a:xfrm>
        </p:grpSpPr>
        <p:sp>
          <p:nvSpPr>
            <p:cNvPr id="88" name="矩形 87"/>
            <p:cNvSpPr/>
            <p:nvPr/>
          </p:nvSpPr>
          <p:spPr>
            <a:xfrm>
              <a:off x="1035233" y="913778"/>
              <a:ext cx="3339376"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同步时序逻辑电路设计实例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89"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90" name="组合 117"/>
          <p:cNvGrpSpPr/>
          <p:nvPr/>
        </p:nvGrpSpPr>
        <p:grpSpPr>
          <a:xfrm>
            <a:off x="400513" y="1289896"/>
            <a:ext cx="8623498" cy="374630"/>
            <a:chOff x="369777" y="1347760"/>
            <a:chExt cx="8623498" cy="374630"/>
          </a:xfrm>
        </p:grpSpPr>
        <p:sp>
          <p:nvSpPr>
            <p:cNvPr id="91" name="TextBox 119"/>
            <p:cNvSpPr txBox="1"/>
            <p:nvPr/>
          </p:nvSpPr>
          <p:spPr>
            <a:xfrm>
              <a:off x="723710" y="1350409"/>
              <a:ext cx="8269565" cy="369332"/>
            </a:xfrm>
            <a:prstGeom prst="rect">
              <a:avLst/>
            </a:prstGeom>
            <a:noFill/>
          </p:spPr>
          <p:txBody>
            <a:bodyPr wrap="square" rtlCol="0">
              <a:spAutoFit/>
            </a:bodyPr>
            <a:lstStyle/>
            <a:p>
              <a:r>
                <a:rPr lang="zh-CN" altLang="en-US"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例：</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用</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D</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触发器设计一序列脉冲检测器，要求连续输入</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110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，否则输出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92"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3" name="组合 2"/>
          <p:cNvGrpSpPr/>
          <p:nvPr/>
        </p:nvGrpSpPr>
        <p:grpSpPr>
          <a:xfrm>
            <a:off x="4532230" y="2792293"/>
            <a:ext cx="4389825" cy="2707987"/>
            <a:chOff x="4528128" y="2786056"/>
            <a:chExt cx="4389825" cy="2707987"/>
          </a:xfrm>
        </p:grpSpPr>
        <p:grpSp>
          <p:nvGrpSpPr>
            <p:cNvPr id="141" name="组合 140"/>
            <p:cNvGrpSpPr/>
            <p:nvPr/>
          </p:nvGrpSpPr>
          <p:grpSpPr>
            <a:xfrm>
              <a:off x="5321313" y="2955333"/>
              <a:ext cx="3596640" cy="2538710"/>
              <a:chOff x="5356860" y="2823800"/>
              <a:chExt cx="3596640" cy="2538710"/>
            </a:xfrm>
          </p:grpSpPr>
          <p:sp>
            <p:nvSpPr>
              <p:cNvPr id="140" name="圆角矩形 139"/>
              <p:cNvSpPr/>
              <p:nvPr/>
            </p:nvSpPr>
            <p:spPr>
              <a:xfrm>
                <a:off x="5356860" y="2865120"/>
                <a:ext cx="3596640" cy="2438400"/>
              </a:xfrm>
              <a:prstGeom prst="roundRect">
                <a:avLst>
                  <a:gd name="adj" fmla="val 11992"/>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7" name="组合 206"/>
              <p:cNvGrpSpPr/>
              <p:nvPr/>
            </p:nvGrpSpPr>
            <p:grpSpPr>
              <a:xfrm>
                <a:off x="5524292" y="2823800"/>
                <a:ext cx="2892250" cy="2538710"/>
                <a:chOff x="571292" y="2191340"/>
                <a:chExt cx="2892250" cy="2538710"/>
              </a:xfrm>
            </p:grpSpPr>
            <p:sp>
              <p:nvSpPr>
                <p:cNvPr id="153" name="椭圆 152"/>
                <p:cNvSpPr/>
                <p:nvPr/>
              </p:nvSpPr>
              <p:spPr>
                <a:xfrm>
                  <a:off x="1416546" y="2432197"/>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S</a:t>
                  </a:r>
                  <a:r>
                    <a:rPr lang="en-US" altLang="zh-CN" b="1" baseline="-25000" dirty="0">
                      <a:solidFill>
                        <a:schemeClr val="tx1"/>
                      </a:solidFill>
                      <a:latin typeface="Times New Roman" panose="02020603050405020304" pitchFamily="18" charset="0"/>
                      <a:cs typeface="Times New Roman" panose="02020603050405020304" pitchFamily="18" charset="0"/>
                    </a:rPr>
                    <a:t>0</a:t>
                  </a:r>
                  <a:endParaRPr lang="zh-CN" altLang="en-US" b="1" baseline="-25000" dirty="0">
                    <a:solidFill>
                      <a:schemeClr val="tx1"/>
                    </a:solidFill>
                    <a:latin typeface="Times New Roman" panose="02020603050405020304" pitchFamily="18" charset="0"/>
                    <a:cs typeface="Times New Roman" panose="02020603050405020304" pitchFamily="18" charset="0"/>
                  </a:endParaRPr>
                </a:p>
              </p:txBody>
            </p:sp>
            <p:sp>
              <p:nvSpPr>
                <p:cNvPr id="154" name="椭圆 153"/>
                <p:cNvSpPr/>
                <p:nvPr/>
              </p:nvSpPr>
              <p:spPr>
                <a:xfrm>
                  <a:off x="2992056" y="2432197"/>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S</a:t>
                  </a:r>
                  <a:r>
                    <a:rPr lang="en-US" altLang="zh-CN" b="1" baseline="-25000" dirty="0">
                      <a:solidFill>
                        <a:schemeClr val="tx1"/>
                      </a:solidFill>
                      <a:latin typeface="Times New Roman" panose="02020603050405020304" pitchFamily="18" charset="0"/>
                      <a:cs typeface="Times New Roman" panose="02020603050405020304" pitchFamily="18" charset="0"/>
                    </a:rPr>
                    <a:t>1</a:t>
                  </a:r>
                  <a:endParaRPr lang="zh-CN" altLang="en-US" b="1" baseline="-25000" dirty="0">
                    <a:solidFill>
                      <a:schemeClr val="tx1"/>
                    </a:solidFill>
                    <a:latin typeface="Times New Roman" panose="02020603050405020304" pitchFamily="18" charset="0"/>
                    <a:cs typeface="Times New Roman" panose="02020603050405020304" pitchFamily="18" charset="0"/>
                  </a:endParaRPr>
                </a:p>
              </p:txBody>
            </p:sp>
            <p:sp>
              <p:nvSpPr>
                <p:cNvPr id="156" name="椭圆 155"/>
                <p:cNvSpPr/>
                <p:nvPr/>
              </p:nvSpPr>
              <p:spPr>
                <a:xfrm>
                  <a:off x="2172820" y="3582247"/>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S</a:t>
                  </a:r>
                  <a:r>
                    <a:rPr lang="en-US" altLang="zh-CN" b="1" baseline="-25000" dirty="0">
                      <a:solidFill>
                        <a:schemeClr val="tx1"/>
                      </a:solidFill>
                      <a:latin typeface="Times New Roman" panose="02020603050405020304" pitchFamily="18" charset="0"/>
                      <a:cs typeface="Times New Roman" panose="02020603050405020304" pitchFamily="18" charset="0"/>
                    </a:rPr>
                    <a:t>2</a:t>
                  </a:r>
                  <a:endParaRPr lang="zh-CN" altLang="en-US" b="1" baseline="-25000" dirty="0">
                    <a:solidFill>
                      <a:schemeClr val="tx1"/>
                    </a:solidFill>
                    <a:latin typeface="Times New Roman" panose="02020603050405020304" pitchFamily="18" charset="0"/>
                    <a:cs typeface="Times New Roman" panose="02020603050405020304" pitchFamily="18" charset="0"/>
                  </a:endParaRPr>
                </a:p>
              </p:txBody>
            </p:sp>
            <p:grpSp>
              <p:nvGrpSpPr>
                <p:cNvPr id="157" name="组合 173"/>
                <p:cNvGrpSpPr/>
                <p:nvPr/>
              </p:nvGrpSpPr>
              <p:grpSpPr>
                <a:xfrm>
                  <a:off x="571292" y="2401859"/>
                  <a:ext cx="938917" cy="468263"/>
                  <a:chOff x="4662927" y="3014896"/>
                  <a:chExt cx="938917" cy="468263"/>
                </a:xfrm>
              </p:grpSpPr>
              <p:sp>
                <p:nvSpPr>
                  <p:cNvPr id="158" name="弧形 157"/>
                  <p:cNvSpPr/>
                  <p:nvPr/>
                </p:nvSpPr>
                <p:spPr>
                  <a:xfrm rot="8219386">
                    <a:off x="5127191" y="3014896"/>
                    <a:ext cx="474653" cy="468263"/>
                  </a:xfrm>
                  <a:prstGeom prst="arc">
                    <a:avLst>
                      <a:gd name="adj1" fmla="val 16200000"/>
                      <a:gd name="adj2" fmla="val 11123489"/>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9" name="TextBox 158"/>
                  <p:cNvSpPr txBox="1"/>
                  <p:nvPr/>
                </p:nvSpPr>
                <p:spPr>
                  <a:xfrm>
                    <a:off x="4662927" y="3069968"/>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0/0</a:t>
                    </a:r>
                    <a:endParaRPr lang="zh-CN" altLang="en-US" b="1" dirty="0">
                      <a:latin typeface="Times New Roman" panose="02020603050405020304" pitchFamily="18" charset="0"/>
                      <a:cs typeface="Times New Roman" panose="02020603050405020304" pitchFamily="18" charset="0"/>
                    </a:endParaRPr>
                  </a:p>
                </p:txBody>
              </p:sp>
            </p:grpSp>
            <p:grpSp>
              <p:nvGrpSpPr>
                <p:cNvPr id="160" name="组合 211"/>
                <p:cNvGrpSpPr/>
                <p:nvPr/>
              </p:nvGrpSpPr>
              <p:grpSpPr>
                <a:xfrm>
                  <a:off x="1845967" y="2191340"/>
                  <a:ext cx="1188000" cy="369332"/>
                  <a:chOff x="5937602" y="2804377"/>
                  <a:chExt cx="1188000" cy="369332"/>
                </a:xfrm>
              </p:grpSpPr>
              <p:cxnSp>
                <p:nvCxnSpPr>
                  <p:cNvPr id="161" name="直接箭头连接符 160"/>
                  <p:cNvCxnSpPr/>
                  <p:nvPr/>
                </p:nvCxnSpPr>
                <p:spPr>
                  <a:xfrm>
                    <a:off x="5937602" y="3106148"/>
                    <a:ext cx="1188000" cy="0"/>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62" name="TextBox 161"/>
                  <p:cNvSpPr txBox="1"/>
                  <p:nvPr/>
                </p:nvSpPr>
                <p:spPr>
                  <a:xfrm>
                    <a:off x="6294106" y="2804377"/>
                    <a:ext cx="479618" cy="369332"/>
                  </a:xfrm>
                  <a:prstGeom prst="rect">
                    <a:avLst/>
                  </a:prstGeom>
                  <a:noFill/>
                </p:spPr>
                <p:txBody>
                  <a:bodyPr wrap="none" rtlCol="0">
                    <a:spAutoFit/>
                  </a:bodyPr>
                  <a:lstStyle/>
                  <a:p>
                    <a:r>
                      <a:rPr lang="en-US" altLang="zh-CN" b="1" dirty="0">
                        <a:solidFill>
                          <a:srgbClr val="CC00CC"/>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167" name="组合 191"/>
                <p:cNvGrpSpPr/>
                <p:nvPr/>
              </p:nvGrpSpPr>
              <p:grpSpPr>
                <a:xfrm>
                  <a:off x="1841140" y="2703710"/>
                  <a:ext cx="1188000" cy="369332"/>
                  <a:chOff x="5932775" y="3316747"/>
                  <a:chExt cx="1188000" cy="369332"/>
                </a:xfrm>
              </p:grpSpPr>
              <p:cxnSp>
                <p:nvCxnSpPr>
                  <p:cNvPr id="171" name="直接箭头连接符 170"/>
                  <p:cNvCxnSpPr/>
                  <p:nvPr/>
                </p:nvCxnSpPr>
                <p:spPr>
                  <a:xfrm flipH="1">
                    <a:off x="5932775" y="3374400"/>
                    <a:ext cx="1188000" cy="0"/>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74" name="TextBox 173"/>
                  <p:cNvSpPr txBox="1"/>
                  <p:nvPr/>
                </p:nvSpPr>
                <p:spPr>
                  <a:xfrm>
                    <a:off x="6305831" y="3316747"/>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175" name="组合 212"/>
                <p:cNvGrpSpPr/>
                <p:nvPr/>
              </p:nvGrpSpPr>
              <p:grpSpPr>
                <a:xfrm>
                  <a:off x="2575258" y="2860761"/>
                  <a:ext cx="733679" cy="788004"/>
                  <a:chOff x="6829624" y="3532255"/>
                  <a:chExt cx="733679" cy="788004"/>
                </a:xfrm>
              </p:grpSpPr>
              <p:cxnSp>
                <p:nvCxnSpPr>
                  <p:cNvPr id="176" name="直接箭头连接符 175"/>
                  <p:cNvCxnSpPr>
                    <a:endCxn id="156" idx="7"/>
                  </p:cNvCxnSpPr>
                  <p:nvPr/>
                </p:nvCxnSpPr>
                <p:spPr>
                  <a:xfrm flipH="1">
                    <a:off x="6829624" y="3532255"/>
                    <a:ext cx="539307" cy="788004"/>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77" name="TextBox 176"/>
                  <p:cNvSpPr txBox="1"/>
                  <p:nvPr/>
                </p:nvSpPr>
                <p:spPr>
                  <a:xfrm>
                    <a:off x="7083685" y="3763600"/>
                    <a:ext cx="479618" cy="369332"/>
                  </a:xfrm>
                  <a:prstGeom prst="rect">
                    <a:avLst/>
                  </a:prstGeom>
                  <a:noFill/>
                </p:spPr>
                <p:txBody>
                  <a:bodyPr wrap="none" rtlCol="0">
                    <a:spAutoFit/>
                  </a:bodyPr>
                  <a:lstStyle/>
                  <a:p>
                    <a:r>
                      <a:rPr lang="en-US" altLang="zh-CN" b="1" dirty="0">
                        <a:solidFill>
                          <a:srgbClr val="CC00CC"/>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178" name="组合 195"/>
                <p:cNvGrpSpPr/>
                <p:nvPr/>
              </p:nvGrpSpPr>
              <p:grpSpPr>
                <a:xfrm rot="10800000">
                  <a:off x="2134628" y="3944480"/>
                  <a:ext cx="499449" cy="785570"/>
                  <a:chOff x="6302256" y="2519673"/>
                  <a:chExt cx="499449" cy="785570"/>
                </a:xfrm>
              </p:grpSpPr>
              <p:sp>
                <p:nvSpPr>
                  <p:cNvPr id="179" name="弧形 178"/>
                  <p:cNvSpPr/>
                  <p:nvPr/>
                </p:nvSpPr>
                <p:spPr>
                  <a:xfrm rot="13372216">
                    <a:off x="6302256" y="2836980"/>
                    <a:ext cx="474653" cy="468263"/>
                  </a:xfrm>
                  <a:prstGeom prst="arc">
                    <a:avLst>
                      <a:gd name="adj1" fmla="val 16200000"/>
                      <a:gd name="adj2" fmla="val 11123489"/>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0" name="TextBox 179"/>
                  <p:cNvSpPr txBox="1"/>
                  <p:nvPr/>
                </p:nvSpPr>
                <p:spPr>
                  <a:xfrm rot="10800000">
                    <a:off x="6322087" y="2519673"/>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1/0</a:t>
                    </a:r>
                    <a:endParaRPr lang="zh-CN" altLang="en-US" b="1" dirty="0">
                      <a:latin typeface="Times New Roman" panose="02020603050405020304" pitchFamily="18" charset="0"/>
                      <a:cs typeface="Times New Roman" panose="02020603050405020304" pitchFamily="18" charset="0"/>
                    </a:endParaRPr>
                  </a:p>
                </p:txBody>
              </p:sp>
            </p:grpSp>
            <p:grpSp>
              <p:nvGrpSpPr>
                <p:cNvPr id="181" name="组合 198"/>
                <p:cNvGrpSpPr/>
                <p:nvPr/>
              </p:nvGrpSpPr>
              <p:grpSpPr>
                <a:xfrm>
                  <a:off x="1534940" y="2892152"/>
                  <a:ext cx="708024" cy="719256"/>
                  <a:chOff x="6243761" y="2686643"/>
                  <a:chExt cx="708024" cy="719256"/>
                </a:xfrm>
              </p:grpSpPr>
              <p:cxnSp>
                <p:nvCxnSpPr>
                  <p:cNvPr id="183" name="直接箭头连接符 182"/>
                  <p:cNvCxnSpPr/>
                  <p:nvPr/>
                </p:nvCxnSpPr>
                <p:spPr>
                  <a:xfrm flipH="1" flipV="1">
                    <a:off x="6454870" y="2686643"/>
                    <a:ext cx="496915" cy="719256"/>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84" name="TextBox 183"/>
                  <p:cNvSpPr txBox="1"/>
                  <p:nvPr/>
                </p:nvSpPr>
                <p:spPr>
                  <a:xfrm>
                    <a:off x="6243761" y="2998155"/>
                    <a:ext cx="492443"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a:t>
                    </a:r>
                    <a:r>
                      <a:rPr lang="en-US" altLang="zh-CN" b="1" dirty="0">
                        <a:solidFill>
                          <a:srgbClr val="CC00CC"/>
                        </a:solidFill>
                        <a:latin typeface="Times New Roman" panose="02020603050405020304" pitchFamily="18" charset="0"/>
                        <a:cs typeface="Times New Roman" panose="02020603050405020304" pitchFamily="18" charset="0"/>
                      </a:rPr>
                      <a:t>1</a:t>
                    </a:r>
                    <a:endParaRPr lang="zh-CN" altLang="en-US" b="1" dirty="0">
                      <a:solidFill>
                        <a:srgbClr val="CC00CC"/>
                      </a:solidFill>
                      <a:latin typeface="Times New Roman" panose="02020603050405020304" pitchFamily="18" charset="0"/>
                      <a:cs typeface="Times New Roman" panose="02020603050405020304" pitchFamily="18" charset="0"/>
                    </a:endParaRPr>
                  </a:p>
                </p:txBody>
              </p:sp>
            </p:grpSp>
          </p:grpSp>
        </p:grpSp>
        <p:sp>
          <p:nvSpPr>
            <p:cNvPr id="209" name="椭圆 208"/>
            <p:cNvSpPr/>
            <p:nvPr/>
          </p:nvSpPr>
          <p:spPr>
            <a:xfrm>
              <a:off x="4528128" y="2836144"/>
              <a:ext cx="540000" cy="540000"/>
            </a:xfrm>
            <a:prstGeom prst="ellipse">
              <a:avLst/>
            </a:prstGeom>
            <a:solidFill>
              <a:srgbClr val="66FFCC"/>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i</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210" name="直接箭头连接符 209"/>
            <p:cNvCxnSpPr>
              <a:stCxn id="209" idx="6"/>
            </p:cNvCxnSpPr>
            <p:nvPr/>
          </p:nvCxnSpPr>
          <p:spPr>
            <a:xfrm flipV="1">
              <a:off x="5068128" y="3097877"/>
              <a:ext cx="635317" cy="0"/>
            </a:xfrm>
            <a:prstGeom prst="straightConnector1">
              <a:avLst/>
            </a:prstGeom>
            <a:ln w="28575">
              <a:solidFill>
                <a:srgbClr val="0000FF"/>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211" name="矩形 210"/>
            <p:cNvSpPr/>
            <p:nvPr/>
          </p:nvSpPr>
          <p:spPr>
            <a:xfrm>
              <a:off x="5088520" y="2786056"/>
              <a:ext cx="537327" cy="338554"/>
            </a:xfrm>
            <a:prstGeom prst="rect">
              <a:avLst/>
            </a:prstGeom>
          </p:spPr>
          <p:txBody>
            <a:bodyPr wrap="none">
              <a:spAutoFit/>
            </a:bodyPr>
            <a:lstStyle/>
            <a:p>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X/Y</a:t>
              </a:r>
              <a:endParaRPr lang="zh-CN" altLang="en-US" sz="1600" dirty="0"/>
            </a:p>
          </p:txBody>
        </p:sp>
      </p:gr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1000"/>
                                        <p:tgtEl>
                                          <p:spTgt spid="66"/>
                                        </p:tgtEl>
                                      </p:cBhvr>
                                    </p:animEffect>
                                    <p:anim calcmode="lin" valueType="num">
                                      <p:cBhvr>
                                        <p:cTn id="8" dur="1000" fill="hold"/>
                                        <p:tgtEl>
                                          <p:spTgt spid="66"/>
                                        </p:tgtEl>
                                        <p:attrNameLst>
                                          <p:attrName>ppt_x</p:attrName>
                                        </p:attrNameLst>
                                      </p:cBhvr>
                                      <p:tavLst>
                                        <p:tav tm="0">
                                          <p:val>
                                            <p:strVal val="#ppt_x"/>
                                          </p:val>
                                        </p:tav>
                                        <p:tav tm="100000">
                                          <p:val>
                                            <p:strVal val="#ppt_x"/>
                                          </p:val>
                                        </p:tav>
                                      </p:tavLst>
                                    </p:anim>
                                    <p:anim calcmode="lin" valueType="num">
                                      <p:cBhvr>
                                        <p:cTn id="9" dur="1000" fill="hold"/>
                                        <p:tgtEl>
                                          <p:spTgt spid="6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08"/>
                                        </p:tgtEl>
                                        <p:attrNameLst>
                                          <p:attrName>style.visibility</p:attrName>
                                        </p:attrNameLst>
                                      </p:cBhvr>
                                      <p:to>
                                        <p:strVal val="visible"/>
                                      </p:to>
                                    </p:set>
                                    <p:animEffect transition="in" filter="fade">
                                      <p:cBhvr>
                                        <p:cTn id="12" dur="1000"/>
                                        <p:tgtEl>
                                          <p:spTgt spid="208"/>
                                        </p:tgtEl>
                                      </p:cBhvr>
                                    </p:animEffect>
                                    <p:anim calcmode="lin" valueType="num">
                                      <p:cBhvr>
                                        <p:cTn id="13" dur="1000" fill="hold"/>
                                        <p:tgtEl>
                                          <p:spTgt spid="208"/>
                                        </p:tgtEl>
                                        <p:attrNameLst>
                                          <p:attrName>ppt_x</p:attrName>
                                        </p:attrNameLst>
                                      </p:cBhvr>
                                      <p:tavLst>
                                        <p:tav tm="0">
                                          <p:val>
                                            <p:strVal val="#ppt_x"/>
                                          </p:val>
                                        </p:tav>
                                        <p:tav tm="100000">
                                          <p:val>
                                            <p:strVal val="#ppt_x"/>
                                          </p:val>
                                        </p:tav>
                                      </p:tavLst>
                                    </p:anim>
                                    <p:anim calcmode="lin" valueType="num">
                                      <p:cBhvr>
                                        <p:cTn id="14" dur="1000" fill="hold"/>
                                        <p:tgtEl>
                                          <p:spTgt spid="20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139"/>
                                        </p:tgtEl>
                                        <p:attrNameLst>
                                          <p:attrName>style.visibility</p:attrName>
                                        </p:attrNameLst>
                                      </p:cBhvr>
                                      <p:to>
                                        <p:strVal val="visible"/>
                                      </p:to>
                                    </p:set>
                                    <p:anim calcmode="lin" valueType="num">
                                      <p:cBhvr>
                                        <p:cTn id="24" dur="1000" fill="hold"/>
                                        <p:tgtEl>
                                          <p:spTgt spid="139"/>
                                        </p:tgtEl>
                                        <p:attrNameLst>
                                          <p:attrName>ppt_w</p:attrName>
                                        </p:attrNameLst>
                                      </p:cBhvr>
                                      <p:tavLst>
                                        <p:tav tm="0">
                                          <p:val>
                                            <p:fltVal val="0"/>
                                          </p:val>
                                        </p:tav>
                                        <p:tav tm="100000">
                                          <p:val>
                                            <p:strVal val="#ppt_w"/>
                                          </p:val>
                                        </p:tav>
                                      </p:tavLst>
                                    </p:anim>
                                    <p:anim calcmode="lin" valueType="num">
                                      <p:cBhvr>
                                        <p:cTn id="25" dur="1000" fill="hold"/>
                                        <p:tgtEl>
                                          <p:spTgt spid="139"/>
                                        </p:tgtEl>
                                        <p:attrNameLst>
                                          <p:attrName>ppt_h</p:attrName>
                                        </p:attrNameLst>
                                      </p:cBhvr>
                                      <p:tavLst>
                                        <p:tav tm="0">
                                          <p:val>
                                            <p:fltVal val="0"/>
                                          </p:val>
                                        </p:tav>
                                        <p:tav tm="100000">
                                          <p:val>
                                            <p:strVal val="#ppt_h"/>
                                          </p:val>
                                        </p:tav>
                                      </p:tavLst>
                                    </p:anim>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145"/>
                                        </p:tgtEl>
                                        <p:attrNameLst>
                                          <p:attrName>style.visibility</p:attrName>
                                        </p:attrNameLst>
                                      </p:cBhvr>
                                      <p:to>
                                        <p:strVal val="visible"/>
                                      </p:to>
                                    </p:set>
                                    <p:animEffect transition="in" filter="wipe(left)">
                                      <p:cBhvr>
                                        <p:cTn id="29" dur="1000"/>
                                        <p:tgtEl>
                                          <p:spTgt spid="145"/>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nodeType="clickEffect">
                                  <p:stCondLst>
                                    <p:cond delay="0"/>
                                  </p:stCondLst>
                                  <p:childTnLst>
                                    <p:set>
                                      <p:cBhvr>
                                        <p:cTn id="33" dur="1" fill="hold">
                                          <p:stCondLst>
                                            <p:cond delay="0"/>
                                          </p:stCondLst>
                                        </p:cTn>
                                        <p:tgtEl>
                                          <p:spTgt spid="148"/>
                                        </p:tgtEl>
                                        <p:attrNameLst>
                                          <p:attrName>style.visibility</p:attrName>
                                        </p:attrNameLst>
                                      </p:cBhvr>
                                      <p:to>
                                        <p:strVal val="visible"/>
                                      </p:to>
                                    </p:set>
                                    <p:animEffect transition="in" filter="slide(fromBottom)">
                                      <p:cBhvr>
                                        <p:cTn id="34" dur="1000"/>
                                        <p:tgtEl>
                                          <p:spTgt spid="148"/>
                                        </p:tgtEl>
                                      </p:cBhvr>
                                    </p:animEffect>
                                  </p:childTnLst>
                                </p:cTn>
                              </p:par>
                            </p:childTnLst>
                          </p:cTn>
                        </p:par>
                        <p:par>
                          <p:cTn id="35" fill="hold">
                            <p:stCondLst>
                              <p:cond delay="1000"/>
                            </p:stCondLst>
                            <p:childTnLst>
                              <p:par>
                                <p:cTn id="36" presetID="53" presetClass="entr" presetSubtype="16" fill="hold" nodeType="afterEffect">
                                  <p:stCondLst>
                                    <p:cond delay="0"/>
                                  </p:stCondLst>
                                  <p:childTnLst>
                                    <p:set>
                                      <p:cBhvr>
                                        <p:cTn id="37" dur="1" fill="hold">
                                          <p:stCondLst>
                                            <p:cond delay="0"/>
                                          </p:stCondLst>
                                        </p:cTn>
                                        <p:tgtEl>
                                          <p:spTgt spid="3"/>
                                        </p:tgtEl>
                                        <p:attrNameLst>
                                          <p:attrName>style.visibility</p:attrName>
                                        </p:attrNameLst>
                                      </p:cBhvr>
                                      <p:to>
                                        <p:strVal val="visible"/>
                                      </p:to>
                                    </p:set>
                                    <p:anim calcmode="lin" valueType="num">
                                      <p:cBhvr>
                                        <p:cTn id="38" dur="1000" fill="hold"/>
                                        <p:tgtEl>
                                          <p:spTgt spid="3"/>
                                        </p:tgtEl>
                                        <p:attrNameLst>
                                          <p:attrName>ppt_w</p:attrName>
                                        </p:attrNameLst>
                                      </p:cBhvr>
                                      <p:tavLst>
                                        <p:tav tm="0">
                                          <p:val>
                                            <p:fltVal val="0"/>
                                          </p:val>
                                        </p:tav>
                                        <p:tav tm="100000">
                                          <p:val>
                                            <p:strVal val="#ppt_w"/>
                                          </p:val>
                                        </p:tav>
                                      </p:tavLst>
                                    </p:anim>
                                    <p:anim calcmode="lin" valueType="num">
                                      <p:cBhvr>
                                        <p:cTn id="39" dur="1000" fill="hold"/>
                                        <p:tgtEl>
                                          <p:spTgt spid="3"/>
                                        </p:tgtEl>
                                        <p:attrNameLst>
                                          <p:attrName>ppt_h</p:attrName>
                                        </p:attrNameLst>
                                      </p:cBhvr>
                                      <p:tavLst>
                                        <p:tav tm="0">
                                          <p:val>
                                            <p:fltVal val="0"/>
                                          </p:val>
                                        </p:tav>
                                        <p:tav tm="100000">
                                          <p:val>
                                            <p:strVal val="#ppt_h"/>
                                          </p:val>
                                        </p:tav>
                                      </p:tavLst>
                                    </p:anim>
                                    <p:animEffect transition="in" filter="fade">
                                      <p:cBhvr>
                                        <p:cTn id="4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tangle 5"/>
          <p:cNvSpPr>
            <a:spLocks noChangeArrowheads="1"/>
          </p:cNvSpPr>
          <p:nvPr/>
        </p:nvSpPr>
        <p:spPr bwMode="auto">
          <a:xfrm>
            <a:off x="436140" y="1786963"/>
            <a:ext cx="2716678" cy="338554"/>
          </a:xfrm>
          <a:prstGeom prst="rect">
            <a:avLst/>
          </a:prstGeom>
          <a:noFill/>
          <a:ln w="9525" algn="ctr">
            <a:noFill/>
            <a:miter lim="800000"/>
          </a:ln>
          <a:effectLst/>
        </p:spPr>
        <p:txBody>
          <a:bodyPr wrap="square" anchor="ctr">
            <a:spAutoFit/>
          </a:bodyPr>
          <a:lstStyle/>
          <a:p>
            <a:pPr eaLnBrk="0" hangingPunct="0">
              <a:defRPr/>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解</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3</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状态分配</a:t>
            </a:r>
            <a:r>
              <a:rPr kumimoji="1"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编码</a:t>
            </a:r>
            <a:endPar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1" name="组合 88"/>
          <p:cNvGrpSpPr/>
          <p:nvPr/>
        </p:nvGrpSpPr>
        <p:grpSpPr>
          <a:xfrm>
            <a:off x="392432" y="778617"/>
            <a:ext cx="3704049" cy="420971"/>
            <a:chOff x="670560" y="892917"/>
            <a:chExt cx="3704049" cy="420971"/>
          </a:xfrm>
        </p:grpSpPr>
        <p:sp>
          <p:nvSpPr>
            <p:cNvPr id="97" name="矩形 96"/>
            <p:cNvSpPr/>
            <p:nvPr/>
          </p:nvSpPr>
          <p:spPr>
            <a:xfrm>
              <a:off x="1035233" y="913778"/>
              <a:ext cx="3339376"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同步时序逻辑电路设计实例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11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172" name="组合 171"/>
          <p:cNvGrpSpPr/>
          <p:nvPr/>
        </p:nvGrpSpPr>
        <p:grpSpPr>
          <a:xfrm>
            <a:off x="792481" y="2159086"/>
            <a:ext cx="3519950" cy="2103227"/>
            <a:chOff x="449581" y="2509606"/>
            <a:chExt cx="3519950" cy="2103227"/>
          </a:xfrm>
        </p:grpSpPr>
        <p:grpSp>
          <p:nvGrpSpPr>
            <p:cNvPr id="78" name="组合 206"/>
            <p:cNvGrpSpPr/>
            <p:nvPr/>
          </p:nvGrpSpPr>
          <p:grpSpPr>
            <a:xfrm>
              <a:off x="1473521" y="2658130"/>
              <a:ext cx="2496010" cy="1954703"/>
              <a:chOff x="967532" y="2191340"/>
              <a:chExt cx="2496010" cy="1954703"/>
            </a:xfrm>
          </p:grpSpPr>
          <p:sp>
            <p:nvSpPr>
              <p:cNvPr id="79" name="椭圆 78"/>
              <p:cNvSpPr/>
              <p:nvPr/>
            </p:nvSpPr>
            <p:spPr>
              <a:xfrm>
                <a:off x="1416546" y="2432197"/>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00</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sp>
            <p:nvSpPr>
              <p:cNvPr id="80" name="椭圆 79"/>
              <p:cNvSpPr/>
              <p:nvPr/>
            </p:nvSpPr>
            <p:spPr>
              <a:xfrm>
                <a:off x="2992056" y="2432197"/>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01</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sp>
            <p:nvSpPr>
              <p:cNvPr id="81" name="椭圆 80"/>
              <p:cNvSpPr/>
              <p:nvPr/>
            </p:nvSpPr>
            <p:spPr>
              <a:xfrm>
                <a:off x="2172820" y="3315547"/>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11</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grpSp>
            <p:nvGrpSpPr>
              <p:cNvPr id="82" name="组合 173"/>
              <p:cNvGrpSpPr/>
              <p:nvPr/>
            </p:nvGrpSpPr>
            <p:grpSpPr>
              <a:xfrm>
                <a:off x="967532" y="2401859"/>
                <a:ext cx="542677" cy="767304"/>
                <a:chOff x="5059167" y="3014896"/>
                <a:chExt cx="542677" cy="767304"/>
              </a:xfrm>
            </p:grpSpPr>
            <p:sp>
              <p:nvSpPr>
                <p:cNvPr id="122" name="弧形 121"/>
                <p:cNvSpPr/>
                <p:nvPr/>
              </p:nvSpPr>
              <p:spPr>
                <a:xfrm rot="8219386">
                  <a:off x="5127191" y="3014896"/>
                  <a:ext cx="474653" cy="468263"/>
                </a:xfrm>
                <a:prstGeom prst="arc">
                  <a:avLst>
                    <a:gd name="adj1" fmla="val 16200000"/>
                    <a:gd name="adj2" fmla="val 11123489"/>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3" name="TextBox 122"/>
                <p:cNvSpPr txBox="1"/>
                <p:nvPr/>
              </p:nvSpPr>
              <p:spPr>
                <a:xfrm>
                  <a:off x="5059167" y="3412868"/>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0/0</a:t>
                  </a:r>
                  <a:endParaRPr lang="zh-CN" altLang="en-US" b="1" dirty="0">
                    <a:latin typeface="Times New Roman" panose="02020603050405020304" pitchFamily="18" charset="0"/>
                    <a:cs typeface="Times New Roman" panose="02020603050405020304" pitchFamily="18" charset="0"/>
                  </a:endParaRPr>
                </a:p>
              </p:txBody>
            </p:sp>
          </p:grpSp>
          <p:grpSp>
            <p:nvGrpSpPr>
              <p:cNvPr id="83" name="组合 211"/>
              <p:cNvGrpSpPr/>
              <p:nvPr/>
            </p:nvGrpSpPr>
            <p:grpSpPr>
              <a:xfrm>
                <a:off x="1845967" y="2191340"/>
                <a:ext cx="1188000" cy="369332"/>
                <a:chOff x="5937602" y="2804377"/>
                <a:chExt cx="1188000" cy="369332"/>
              </a:xfrm>
            </p:grpSpPr>
            <p:cxnSp>
              <p:nvCxnSpPr>
                <p:cNvPr id="119" name="直接箭头连接符 118"/>
                <p:cNvCxnSpPr/>
                <p:nvPr/>
              </p:nvCxnSpPr>
              <p:spPr>
                <a:xfrm>
                  <a:off x="5937602" y="3106148"/>
                  <a:ext cx="1188000" cy="0"/>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21" name="TextBox 120"/>
                <p:cNvSpPr txBox="1"/>
                <p:nvPr/>
              </p:nvSpPr>
              <p:spPr>
                <a:xfrm>
                  <a:off x="6294106" y="2804377"/>
                  <a:ext cx="479618" cy="369332"/>
                </a:xfrm>
                <a:prstGeom prst="rect">
                  <a:avLst/>
                </a:prstGeom>
                <a:noFill/>
              </p:spPr>
              <p:txBody>
                <a:bodyPr wrap="none" rtlCol="0">
                  <a:spAutoFit/>
                </a:bodyPr>
                <a:lstStyle/>
                <a:p>
                  <a:r>
                    <a:rPr lang="en-US" altLang="zh-CN" b="1" dirty="0">
                      <a:solidFill>
                        <a:srgbClr val="CC00CC"/>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84" name="组合 191"/>
              <p:cNvGrpSpPr/>
              <p:nvPr/>
            </p:nvGrpSpPr>
            <p:grpSpPr>
              <a:xfrm>
                <a:off x="1841140" y="2703710"/>
                <a:ext cx="1188000" cy="369332"/>
                <a:chOff x="5932775" y="3316747"/>
                <a:chExt cx="1188000" cy="369332"/>
              </a:xfrm>
            </p:grpSpPr>
            <p:cxnSp>
              <p:nvCxnSpPr>
                <p:cNvPr id="99" name="直接箭头连接符 98"/>
                <p:cNvCxnSpPr/>
                <p:nvPr/>
              </p:nvCxnSpPr>
              <p:spPr>
                <a:xfrm flipH="1">
                  <a:off x="5932775" y="3374400"/>
                  <a:ext cx="1188000" cy="0"/>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17" name="TextBox 116"/>
                <p:cNvSpPr txBox="1"/>
                <p:nvPr/>
              </p:nvSpPr>
              <p:spPr>
                <a:xfrm>
                  <a:off x="6305831" y="3316747"/>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85" name="组合 212"/>
              <p:cNvGrpSpPr/>
              <p:nvPr/>
            </p:nvGrpSpPr>
            <p:grpSpPr>
              <a:xfrm>
                <a:off x="2575259" y="2878389"/>
                <a:ext cx="733678" cy="583049"/>
                <a:chOff x="6829625" y="3549883"/>
                <a:chExt cx="733678" cy="583049"/>
              </a:xfrm>
            </p:grpSpPr>
            <p:cxnSp>
              <p:nvCxnSpPr>
                <p:cNvPr id="96" name="直接箭头连接符 95"/>
                <p:cNvCxnSpPr>
                  <a:endCxn id="81" idx="7"/>
                </p:cNvCxnSpPr>
                <p:nvPr/>
              </p:nvCxnSpPr>
              <p:spPr>
                <a:xfrm rot="10800000" flipV="1">
                  <a:off x="6829625" y="3549883"/>
                  <a:ext cx="530633" cy="503675"/>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7083685" y="3763600"/>
                  <a:ext cx="479618" cy="369332"/>
                </a:xfrm>
                <a:prstGeom prst="rect">
                  <a:avLst/>
                </a:prstGeom>
                <a:noFill/>
              </p:spPr>
              <p:txBody>
                <a:bodyPr wrap="none" rtlCol="0">
                  <a:spAutoFit/>
                </a:bodyPr>
                <a:lstStyle/>
                <a:p>
                  <a:r>
                    <a:rPr lang="en-US" altLang="zh-CN" b="1" dirty="0">
                      <a:solidFill>
                        <a:srgbClr val="CC00CC"/>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86" name="组合 195"/>
              <p:cNvGrpSpPr/>
              <p:nvPr/>
            </p:nvGrpSpPr>
            <p:grpSpPr>
              <a:xfrm rot="10800000">
                <a:off x="2159424" y="3677780"/>
                <a:ext cx="881542" cy="468263"/>
                <a:chOff x="5895367" y="3103680"/>
                <a:chExt cx="881542" cy="468263"/>
              </a:xfrm>
            </p:grpSpPr>
            <p:sp>
              <p:nvSpPr>
                <p:cNvPr id="94" name="弧形 93"/>
                <p:cNvSpPr/>
                <p:nvPr/>
              </p:nvSpPr>
              <p:spPr>
                <a:xfrm rot="13372216">
                  <a:off x="6302256" y="3103680"/>
                  <a:ext cx="474653" cy="468263"/>
                </a:xfrm>
                <a:prstGeom prst="arc">
                  <a:avLst>
                    <a:gd name="adj1" fmla="val 16200000"/>
                    <a:gd name="adj2" fmla="val 11123489"/>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5" name="TextBox 94"/>
                <p:cNvSpPr txBox="1"/>
                <p:nvPr/>
              </p:nvSpPr>
              <p:spPr>
                <a:xfrm rot="10800000">
                  <a:off x="5895367" y="3136893"/>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1/0</a:t>
                  </a:r>
                  <a:endParaRPr lang="zh-CN" altLang="en-US" b="1" dirty="0">
                    <a:latin typeface="Times New Roman" panose="02020603050405020304" pitchFamily="18" charset="0"/>
                    <a:cs typeface="Times New Roman" panose="02020603050405020304" pitchFamily="18" charset="0"/>
                  </a:endParaRPr>
                </a:p>
              </p:txBody>
            </p:sp>
          </p:grpSp>
          <p:grpSp>
            <p:nvGrpSpPr>
              <p:cNvPr id="91" name="组合 198"/>
              <p:cNvGrpSpPr/>
              <p:nvPr/>
            </p:nvGrpSpPr>
            <p:grpSpPr>
              <a:xfrm>
                <a:off x="1664480" y="2892152"/>
                <a:ext cx="577389" cy="612264"/>
                <a:chOff x="6373301" y="2686643"/>
                <a:chExt cx="577389" cy="612264"/>
              </a:xfrm>
            </p:grpSpPr>
            <p:cxnSp>
              <p:nvCxnSpPr>
                <p:cNvPr id="92" name="直接箭头连接符 91"/>
                <p:cNvCxnSpPr>
                  <a:stCxn id="81" idx="1"/>
                </p:cNvCxnSpPr>
                <p:nvPr/>
              </p:nvCxnSpPr>
              <p:spPr>
                <a:xfrm rot="16200000" flipV="1">
                  <a:off x="6457824" y="2683691"/>
                  <a:ext cx="489913" cy="495818"/>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a:off x="6373301" y="2929575"/>
                  <a:ext cx="492443"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a:t>
                  </a:r>
                  <a:r>
                    <a:rPr lang="en-US" altLang="zh-CN" b="1" dirty="0">
                      <a:solidFill>
                        <a:srgbClr val="CC00CC"/>
                      </a:solidFill>
                      <a:latin typeface="Times New Roman" panose="02020603050405020304" pitchFamily="18" charset="0"/>
                      <a:cs typeface="Times New Roman" panose="02020603050405020304" pitchFamily="18" charset="0"/>
                    </a:rPr>
                    <a:t>1</a:t>
                  </a:r>
                  <a:endParaRPr lang="zh-CN" altLang="en-US" b="1" dirty="0">
                    <a:solidFill>
                      <a:srgbClr val="CC00CC"/>
                    </a:solidFill>
                    <a:latin typeface="Times New Roman" panose="02020603050405020304" pitchFamily="18" charset="0"/>
                    <a:cs typeface="Times New Roman" panose="02020603050405020304" pitchFamily="18" charset="0"/>
                  </a:endParaRPr>
                </a:p>
              </p:txBody>
            </p:sp>
          </p:grpSp>
        </p:grpSp>
        <p:grpSp>
          <p:nvGrpSpPr>
            <p:cNvPr id="124" name="组合 22"/>
            <p:cNvGrpSpPr/>
            <p:nvPr/>
          </p:nvGrpSpPr>
          <p:grpSpPr>
            <a:xfrm>
              <a:off x="449581" y="2509606"/>
              <a:ext cx="1048819" cy="599354"/>
              <a:chOff x="5052015" y="3055834"/>
              <a:chExt cx="1063236" cy="599354"/>
            </a:xfrm>
          </p:grpSpPr>
          <p:sp>
            <p:nvSpPr>
              <p:cNvPr id="125" name="椭圆 124"/>
              <p:cNvSpPr/>
              <p:nvPr/>
            </p:nvSpPr>
            <p:spPr>
              <a:xfrm>
                <a:off x="5052015" y="3199786"/>
                <a:ext cx="498132" cy="455402"/>
              </a:xfrm>
              <a:prstGeom prst="ellipse">
                <a:avLst/>
              </a:prstGeom>
              <a:solidFill>
                <a:srgbClr val="66FFCC"/>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1400" b="1" dirty="0">
                    <a:solidFill>
                      <a:schemeClr val="tx1"/>
                    </a:solidFill>
                    <a:latin typeface="Times New Roman" panose="02020603050405020304" pitchFamily="18" charset="0"/>
                    <a:cs typeface="Times New Roman" panose="02020603050405020304" pitchFamily="18" charset="0"/>
                  </a:rPr>
                  <a:t>Q</a:t>
                </a:r>
                <a:r>
                  <a:rPr lang="en-US" altLang="zh-CN" sz="1400" b="1" baseline="-25000" dirty="0">
                    <a:solidFill>
                      <a:schemeClr val="tx1"/>
                    </a:solidFill>
                    <a:latin typeface="Times New Roman" panose="02020603050405020304" pitchFamily="18" charset="0"/>
                    <a:cs typeface="Times New Roman" panose="02020603050405020304" pitchFamily="18" charset="0"/>
                  </a:rPr>
                  <a:t>1</a:t>
                </a:r>
                <a:r>
                  <a:rPr lang="en-US" altLang="zh-CN" sz="1400" b="1" dirty="0">
                    <a:solidFill>
                      <a:schemeClr val="tx1"/>
                    </a:solidFill>
                    <a:latin typeface="Times New Roman" panose="02020603050405020304" pitchFamily="18" charset="0"/>
                    <a:cs typeface="Times New Roman" panose="02020603050405020304" pitchFamily="18" charset="0"/>
                  </a:rPr>
                  <a:t>Q</a:t>
                </a:r>
                <a:r>
                  <a:rPr lang="en-US" altLang="zh-CN" sz="1400" b="1" baseline="-25000" dirty="0">
                    <a:solidFill>
                      <a:schemeClr val="tx1"/>
                    </a:solidFill>
                    <a:latin typeface="Times New Roman" panose="02020603050405020304" pitchFamily="18" charset="0"/>
                    <a:cs typeface="Times New Roman" panose="02020603050405020304" pitchFamily="18" charset="0"/>
                  </a:rPr>
                  <a:t>0</a:t>
                </a:r>
                <a:endParaRPr lang="zh-CN" altLang="en-US" sz="14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126" name="直接箭头连接符 125"/>
              <p:cNvCxnSpPr>
                <a:stCxn id="125" idx="6"/>
              </p:cNvCxnSpPr>
              <p:nvPr/>
            </p:nvCxnSpPr>
            <p:spPr>
              <a:xfrm>
                <a:off x="5550147" y="3427487"/>
                <a:ext cx="536984" cy="0"/>
              </a:xfrm>
              <a:prstGeom prst="straightConnector1">
                <a:avLst/>
              </a:prstGeom>
              <a:ln w="28575">
                <a:solidFill>
                  <a:srgbClr val="0000FF"/>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127" name="矩形 126"/>
              <p:cNvSpPr/>
              <p:nvPr/>
            </p:nvSpPr>
            <p:spPr>
              <a:xfrm>
                <a:off x="5570538" y="3055834"/>
                <a:ext cx="544713" cy="338554"/>
              </a:xfrm>
              <a:prstGeom prst="rect">
                <a:avLst/>
              </a:prstGeom>
            </p:spPr>
            <p:txBody>
              <a:bodyPr wrap="none">
                <a:spAutoFit/>
              </a:bodyPr>
              <a:lstStyle/>
              <a:p>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X/Y</a:t>
                </a:r>
                <a:endParaRPr lang="zh-CN" altLang="en-US" sz="1600" dirty="0"/>
              </a:p>
            </p:txBody>
          </p:sp>
        </p:grpSp>
      </p:grpSp>
      <p:grpSp>
        <p:nvGrpSpPr>
          <p:cNvPr id="166" name="组合 165"/>
          <p:cNvGrpSpPr/>
          <p:nvPr/>
        </p:nvGrpSpPr>
        <p:grpSpPr>
          <a:xfrm>
            <a:off x="5318760" y="2004659"/>
            <a:ext cx="3705251" cy="3281651"/>
            <a:chOff x="5318760" y="2004659"/>
            <a:chExt cx="3705251" cy="3281651"/>
          </a:xfrm>
        </p:grpSpPr>
        <p:grpSp>
          <p:nvGrpSpPr>
            <p:cNvPr id="73" name="组合 72"/>
            <p:cNvGrpSpPr/>
            <p:nvPr/>
          </p:nvGrpSpPr>
          <p:grpSpPr>
            <a:xfrm>
              <a:off x="5321897" y="2004659"/>
              <a:ext cx="3702114" cy="2868232"/>
              <a:chOff x="5321897" y="2004659"/>
              <a:chExt cx="3702114" cy="2868232"/>
            </a:xfrm>
          </p:grpSpPr>
          <p:grpSp>
            <p:nvGrpSpPr>
              <p:cNvPr id="74" name="组合 22"/>
              <p:cNvGrpSpPr/>
              <p:nvPr/>
            </p:nvGrpSpPr>
            <p:grpSpPr>
              <a:xfrm>
                <a:off x="5431223" y="2004659"/>
                <a:ext cx="1175317" cy="681528"/>
                <a:chOff x="6300110" y="2240494"/>
                <a:chExt cx="1175317" cy="681528"/>
              </a:xfrm>
            </p:grpSpPr>
            <p:sp>
              <p:nvSpPr>
                <p:cNvPr id="132" name="椭圆 131"/>
                <p:cNvSpPr/>
                <p:nvPr/>
              </p:nvSpPr>
              <p:spPr>
                <a:xfrm>
                  <a:off x="6300110" y="2382022"/>
                  <a:ext cx="540000" cy="540000"/>
                </a:xfrm>
                <a:prstGeom prst="ellipse">
                  <a:avLst/>
                </a:prstGeom>
                <a:solidFill>
                  <a:srgbClr val="66FFCC"/>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i</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133" name="直接箭头连接符 132"/>
                <p:cNvCxnSpPr>
                  <a:stCxn id="132" idx="6"/>
                </p:cNvCxnSpPr>
                <p:nvPr/>
              </p:nvCxnSpPr>
              <p:spPr>
                <a:xfrm flipV="1">
                  <a:off x="6840110" y="2643755"/>
                  <a:ext cx="635317" cy="0"/>
                </a:xfrm>
                <a:prstGeom prst="straightConnector1">
                  <a:avLst/>
                </a:prstGeom>
                <a:ln w="28575">
                  <a:solidFill>
                    <a:srgbClr val="0000FF"/>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134" name="矩形 133"/>
                <p:cNvSpPr/>
                <p:nvPr/>
              </p:nvSpPr>
              <p:spPr>
                <a:xfrm>
                  <a:off x="6890982" y="2240494"/>
                  <a:ext cx="526106" cy="338554"/>
                </a:xfrm>
                <a:prstGeom prst="rect">
                  <a:avLst/>
                </a:prstGeom>
              </p:spPr>
              <p:txBody>
                <a:bodyPr wrap="none">
                  <a:spAutoFit/>
                </a:bodyPr>
                <a:lstStyle/>
                <a:p>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X/Z</a:t>
                  </a:r>
                  <a:endParaRPr lang="zh-CN" altLang="en-US" sz="1600" dirty="0"/>
                </a:p>
              </p:txBody>
            </p:sp>
          </p:grpSp>
          <p:sp>
            <p:nvSpPr>
              <p:cNvPr id="75" name="椭圆 74"/>
              <p:cNvSpPr/>
              <p:nvPr/>
            </p:nvSpPr>
            <p:spPr>
              <a:xfrm>
                <a:off x="6167151" y="3020432"/>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0</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sp>
            <p:nvSpPr>
              <p:cNvPr id="77" name="椭圆 76"/>
              <p:cNvSpPr/>
              <p:nvPr/>
            </p:nvSpPr>
            <p:spPr>
              <a:xfrm>
                <a:off x="7742661" y="3020432"/>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1</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sp>
            <p:nvSpPr>
              <p:cNvPr id="87" name="椭圆 86"/>
              <p:cNvSpPr/>
              <p:nvPr/>
            </p:nvSpPr>
            <p:spPr>
              <a:xfrm>
                <a:off x="6167151" y="4348396"/>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3</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sp>
            <p:nvSpPr>
              <p:cNvPr id="88" name="椭圆 87"/>
              <p:cNvSpPr/>
              <p:nvPr/>
            </p:nvSpPr>
            <p:spPr>
              <a:xfrm>
                <a:off x="7742661" y="4348396"/>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S</a:t>
                </a:r>
                <a:r>
                  <a:rPr lang="en-US" altLang="zh-CN" sz="2000" b="1" baseline="-25000" dirty="0">
                    <a:solidFill>
                      <a:schemeClr val="tx1"/>
                    </a:solidFill>
                    <a:latin typeface="Times New Roman" panose="02020603050405020304" pitchFamily="18" charset="0"/>
                    <a:cs typeface="Times New Roman" panose="02020603050405020304" pitchFamily="18" charset="0"/>
                  </a:rPr>
                  <a:t>2</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grpSp>
            <p:nvGrpSpPr>
              <p:cNvPr id="89" name="组合 173"/>
              <p:cNvGrpSpPr/>
              <p:nvPr/>
            </p:nvGrpSpPr>
            <p:grpSpPr>
              <a:xfrm>
                <a:off x="5321897" y="2990094"/>
                <a:ext cx="938917" cy="468263"/>
                <a:chOff x="4662927" y="3014896"/>
                <a:chExt cx="938917" cy="468263"/>
              </a:xfrm>
            </p:grpSpPr>
            <p:sp>
              <p:nvSpPr>
                <p:cNvPr id="130" name="弧形 129"/>
                <p:cNvSpPr/>
                <p:nvPr/>
              </p:nvSpPr>
              <p:spPr>
                <a:xfrm rot="8219386">
                  <a:off x="5127191" y="3014896"/>
                  <a:ext cx="474653" cy="468263"/>
                </a:xfrm>
                <a:prstGeom prst="arc">
                  <a:avLst>
                    <a:gd name="adj1" fmla="val 16200000"/>
                    <a:gd name="adj2" fmla="val 11123489"/>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1" name="TextBox 130"/>
                <p:cNvSpPr txBox="1"/>
                <p:nvPr/>
              </p:nvSpPr>
              <p:spPr>
                <a:xfrm>
                  <a:off x="4662927" y="3069968"/>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0/0</a:t>
                  </a:r>
                  <a:endParaRPr lang="zh-CN" altLang="en-US" b="1" dirty="0">
                    <a:latin typeface="Times New Roman" panose="02020603050405020304" pitchFamily="18" charset="0"/>
                    <a:cs typeface="Times New Roman" panose="02020603050405020304" pitchFamily="18" charset="0"/>
                  </a:endParaRPr>
                </a:p>
              </p:txBody>
            </p:sp>
          </p:grpSp>
          <p:grpSp>
            <p:nvGrpSpPr>
              <p:cNvPr id="90" name="组合 211"/>
              <p:cNvGrpSpPr/>
              <p:nvPr/>
            </p:nvGrpSpPr>
            <p:grpSpPr>
              <a:xfrm>
                <a:off x="6596572" y="2779575"/>
                <a:ext cx="1188000" cy="369332"/>
                <a:chOff x="5937602" y="2804377"/>
                <a:chExt cx="1188000" cy="369332"/>
              </a:xfrm>
            </p:grpSpPr>
            <p:cxnSp>
              <p:nvCxnSpPr>
                <p:cNvPr id="128" name="直接箭头连接符 127"/>
                <p:cNvCxnSpPr/>
                <p:nvPr/>
              </p:nvCxnSpPr>
              <p:spPr>
                <a:xfrm>
                  <a:off x="5937602" y="3106148"/>
                  <a:ext cx="1188000" cy="0"/>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29" name="TextBox 128"/>
                <p:cNvSpPr txBox="1"/>
                <p:nvPr/>
              </p:nvSpPr>
              <p:spPr>
                <a:xfrm>
                  <a:off x="6294106" y="2804377"/>
                  <a:ext cx="479618" cy="369332"/>
                </a:xfrm>
                <a:prstGeom prst="rect">
                  <a:avLst/>
                </a:prstGeom>
                <a:noFill/>
              </p:spPr>
              <p:txBody>
                <a:bodyPr wrap="none" rtlCol="0">
                  <a:spAutoFit/>
                </a:bodyPr>
                <a:lstStyle/>
                <a:p>
                  <a:r>
                    <a:rPr lang="en-US" altLang="zh-CN" b="1" dirty="0">
                      <a:solidFill>
                        <a:srgbClr val="CC00CC"/>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100" name="组合 191"/>
              <p:cNvGrpSpPr/>
              <p:nvPr/>
            </p:nvGrpSpPr>
            <p:grpSpPr>
              <a:xfrm>
                <a:off x="6591745" y="3291945"/>
                <a:ext cx="1188000" cy="369332"/>
                <a:chOff x="5932775" y="3316747"/>
                <a:chExt cx="1188000" cy="369332"/>
              </a:xfrm>
            </p:grpSpPr>
            <p:cxnSp>
              <p:nvCxnSpPr>
                <p:cNvPr id="118" name="直接箭头连接符 117"/>
                <p:cNvCxnSpPr/>
                <p:nvPr/>
              </p:nvCxnSpPr>
              <p:spPr>
                <a:xfrm flipH="1">
                  <a:off x="5932775" y="3374400"/>
                  <a:ext cx="1188000" cy="0"/>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6305831" y="3316747"/>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101" name="组合 212"/>
              <p:cNvGrpSpPr/>
              <p:nvPr/>
            </p:nvGrpSpPr>
            <p:grpSpPr>
              <a:xfrm>
                <a:off x="7950188" y="3459235"/>
                <a:ext cx="479618" cy="889413"/>
                <a:chOff x="7291218" y="3604039"/>
                <a:chExt cx="479618" cy="889413"/>
              </a:xfrm>
            </p:grpSpPr>
            <p:cxnSp>
              <p:nvCxnSpPr>
                <p:cNvPr id="115" name="直接箭头连接符 114"/>
                <p:cNvCxnSpPr/>
                <p:nvPr/>
              </p:nvCxnSpPr>
              <p:spPr>
                <a:xfrm flipH="1">
                  <a:off x="7319434" y="3604039"/>
                  <a:ext cx="1752" cy="889413"/>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7291218" y="3825629"/>
                  <a:ext cx="479618" cy="369332"/>
                </a:xfrm>
                <a:prstGeom prst="rect">
                  <a:avLst/>
                </a:prstGeom>
                <a:noFill/>
              </p:spPr>
              <p:txBody>
                <a:bodyPr wrap="none" rtlCol="0">
                  <a:spAutoFit/>
                </a:bodyPr>
                <a:lstStyle/>
                <a:p>
                  <a:r>
                    <a:rPr lang="en-US" altLang="zh-CN" b="1" dirty="0">
                      <a:solidFill>
                        <a:srgbClr val="CC00CC"/>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102" name="组合 195"/>
              <p:cNvGrpSpPr/>
              <p:nvPr/>
            </p:nvGrpSpPr>
            <p:grpSpPr>
              <a:xfrm rot="10800000">
                <a:off x="8085094" y="4354799"/>
                <a:ext cx="938917" cy="468263"/>
                <a:chOff x="4662927" y="3014896"/>
                <a:chExt cx="938917" cy="468263"/>
              </a:xfrm>
            </p:grpSpPr>
            <p:sp>
              <p:nvSpPr>
                <p:cNvPr id="113" name="弧形 112"/>
                <p:cNvSpPr/>
                <p:nvPr/>
              </p:nvSpPr>
              <p:spPr>
                <a:xfrm rot="8219386">
                  <a:off x="5127191" y="3014896"/>
                  <a:ext cx="474653" cy="468263"/>
                </a:xfrm>
                <a:prstGeom prst="arc">
                  <a:avLst>
                    <a:gd name="adj1" fmla="val 16200000"/>
                    <a:gd name="adj2" fmla="val 11123489"/>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4" name="TextBox 113"/>
                <p:cNvSpPr txBox="1"/>
                <p:nvPr/>
              </p:nvSpPr>
              <p:spPr>
                <a:xfrm rot="10800000">
                  <a:off x="4662927" y="3069968"/>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1/0</a:t>
                  </a:r>
                  <a:endParaRPr lang="zh-CN" altLang="en-US" b="1" dirty="0">
                    <a:latin typeface="Times New Roman" panose="02020603050405020304" pitchFamily="18" charset="0"/>
                    <a:cs typeface="Times New Roman" panose="02020603050405020304" pitchFamily="18" charset="0"/>
                  </a:endParaRPr>
                </a:p>
              </p:txBody>
            </p:sp>
          </p:grpSp>
          <p:grpSp>
            <p:nvGrpSpPr>
              <p:cNvPr id="103" name="组合 198"/>
              <p:cNvGrpSpPr/>
              <p:nvPr/>
            </p:nvGrpSpPr>
            <p:grpSpPr>
              <a:xfrm>
                <a:off x="6653119" y="4503559"/>
                <a:ext cx="1068660" cy="369332"/>
                <a:chOff x="5932775" y="3316747"/>
                <a:chExt cx="1068660" cy="369332"/>
              </a:xfrm>
            </p:grpSpPr>
            <p:cxnSp>
              <p:nvCxnSpPr>
                <p:cNvPr id="110" name="直接箭头连接符 109"/>
                <p:cNvCxnSpPr/>
                <p:nvPr/>
              </p:nvCxnSpPr>
              <p:spPr>
                <a:xfrm flipH="1">
                  <a:off x="5932775" y="3360386"/>
                  <a:ext cx="1068660" cy="0"/>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12" name="TextBox 111"/>
                <p:cNvSpPr txBox="1"/>
                <p:nvPr/>
              </p:nvSpPr>
              <p:spPr>
                <a:xfrm>
                  <a:off x="6243761" y="3316747"/>
                  <a:ext cx="492443"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a:t>
                  </a:r>
                  <a:r>
                    <a:rPr lang="en-US" altLang="zh-CN" b="1" dirty="0">
                      <a:solidFill>
                        <a:srgbClr val="CC00CC"/>
                      </a:solidFill>
                      <a:latin typeface="Times New Roman" panose="02020603050405020304" pitchFamily="18" charset="0"/>
                      <a:cs typeface="Times New Roman" panose="02020603050405020304" pitchFamily="18" charset="0"/>
                    </a:rPr>
                    <a:t>1</a:t>
                  </a:r>
                  <a:endParaRPr lang="zh-CN" altLang="en-US" b="1" dirty="0">
                    <a:solidFill>
                      <a:srgbClr val="CC00CC"/>
                    </a:solidFill>
                    <a:latin typeface="Times New Roman" panose="02020603050405020304" pitchFamily="18" charset="0"/>
                    <a:cs typeface="Times New Roman" panose="02020603050405020304" pitchFamily="18" charset="0"/>
                  </a:endParaRPr>
                </a:p>
              </p:txBody>
            </p:sp>
          </p:grpSp>
          <p:grpSp>
            <p:nvGrpSpPr>
              <p:cNvPr id="104" name="组合 213"/>
              <p:cNvGrpSpPr/>
              <p:nvPr/>
            </p:nvGrpSpPr>
            <p:grpSpPr>
              <a:xfrm>
                <a:off x="5954258" y="3468132"/>
                <a:ext cx="479618" cy="865276"/>
                <a:chOff x="5295288" y="3612936"/>
                <a:chExt cx="479618" cy="865276"/>
              </a:xfrm>
            </p:grpSpPr>
            <p:cxnSp>
              <p:nvCxnSpPr>
                <p:cNvPr id="108" name="直接箭头连接符 107"/>
                <p:cNvCxnSpPr/>
                <p:nvPr/>
              </p:nvCxnSpPr>
              <p:spPr>
                <a:xfrm flipV="1">
                  <a:off x="5743924" y="3612936"/>
                  <a:ext cx="0" cy="865276"/>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5295288" y="3893065"/>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0/0</a:t>
                  </a:r>
                  <a:endParaRPr lang="zh-CN" altLang="en-US" b="1" dirty="0">
                    <a:latin typeface="Times New Roman" panose="02020603050405020304" pitchFamily="18" charset="0"/>
                    <a:cs typeface="Times New Roman" panose="02020603050405020304" pitchFamily="18" charset="0"/>
                  </a:endParaRPr>
                </a:p>
              </p:txBody>
            </p:sp>
          </p:grpSp>
          <p:grpSp>
            <p:nvGrpSpPr>
              <p:cNvPr id="105" name="组合 215"/>
              <p:cNvGrpSpPr/>
              <p:nvPr/>
            </p:nvGrpSpPr>
            <p:grpSpPr>
              <a:xfrm>
                <a:off x="6621780" y="3467169"/>
                <a:ext cx="1235649" cy="967671"/>
                <a:chOff x="5962810" y="3591283"/>
                <a:chExt cx="1235649" cy="967671"/>
              </a:xfrm>
            </p:grpSpPr>
            <p:cxnSp>
              <p:nvCxnSpPr>
                <p:cNvPr id="106" name="直接箭头连接符 105"/>
                <p:cNvCxnSpPr/>
                <p:nvPr/>
              </p:nvCxnSpPr>
              <p:spPr>
                <a:xfrm flipV="1">
                  <a:off x="5962810" y="3591283"/>
                  <a:ext cx="1235649" cy="967671"/>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07" name="TextBox 106"/>
                <p:cNvSpPr txBox="1"/>
                <p:nvPr/>
              </p:nvSpPr>
              <p:spPr>
                <a:xfrm>
                  <a:off x="6074127" y="3726362"/>
                  <a:ext cx="479618" cy="369332"/>
                </a:xfrm>
                <a:prstGeom prst="rect">
                  <a:avLst/>
                </a:prstGeom>
                <a:noFill/>
              </p:spPr>
              <p:txBody>
                <a:bodyPr wrap="none" rtlCol="0">
                  <a:spAutoFit/>
                </a:bodyPr>
                <a:lstStyle/>
                <a:p>
                  <a:r>
                    <a:rPr lang="en-US" altLang="zh-CN" b="1" dirty="0">
                      <a:solidFill>
                        <a:srgbClr val="CC00CC"/>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grpSp>
          <p:nvGrpSpPr>
            <p:cNvPr id="135" name="组合 134"/>
            <p:cNvGrpSpPr/>
            <p:nvPr/>
          </p:nvGrpSpPr>
          <p:grpSpPr>
            <a:xfrm>
              <a:off x="5318760" y="2747600"/>
              <a:ext cx="3596640" cy="2538710"/>
              <a:chOff x="5356860" y="2823800"/>
              <a:chExt cx="3596640" cy="2538710"/>
            </a:xfrm>
          </p:grpSpPr>
          <p:sp>
            <p:nvSpPr>
              <p:cNvPr id="136" name="圆角矩形 135"/>
              <p:cNvSpPr/>
              <p:nvPr/>
            </p:nvSpPr>
            <p:spPr>
              <a:xfrm>
                <a:off x="5356860" y="2865120"/>
                <a:ext cx="3596640" cy="2438400"/>
              </a:xfrm>
              <a:prstGeom prst="roundRect">
                <a:avLst>
                  <a:gd name="adj" fmla="val 21015"/>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7" name="组合 206"/>
              <p:cNvGrpSpPr/>
              <p:nvPr/>
            </p:nvGrpSpPr>
            <p:grpSpPr>
              <a:xfrm>
                <a:off x="5524292" y="2823800"/>
                <a:ext cx="2892250" cy="2538710"/>
                <a:chOff x="571292" y="2191340"/>
                <a:chExt cx="2892250" cy="2538710"/>
              </a:xfrm>
            </p:grpSpPr>
            <p:sp>
              <p:nvSpPr>
                <p:cNvPr id="138" name="椭圆 137"/>
                <p:cNvSpPr/>
                <p:nvPr/>
              </p:nvSpPr>
              <p:spPr>
                <a:xfrm>
                  <a:off x="1416546" y="2432197"/>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S</a:t>
                  </a:r>
                  <a:r>
                    <a:rPr lang="en-US" altLang="zh-CN" b="1" baseline="-25000" dirty="0">
                      <a:solidFill>
                        <a:schemeClr val="tx1"/>
                      </a:solidFill>
                      <a:latin typeface="Times New Roman" panose="02020603050405020304" pitchFamily="18" charset="0"/>
                      <a:cs typeface="Times New Roman" panose="02020603050405020304" pitchFamily="18" charset="0"/>
                    </a:rPr>
                    <a:t>0</a:t>
                  </a:r>
                  <a:endParaRPr lang="zh-CN" altLang="en-US" b="1" baseline="-25000" dirty="0">
                    <a:solidFill>
                      <a:schemeClr val="tx1"/>
                    </a:solidFill>
                    <a:latin typeface="Times New Roman" panose="02020603050405020304" pitchFamily="18" charset="0"/>
                    <a:cs typeface="Times New Roman" panose="02020603050405020304" pitchFamily="18" charset="0"/>
                  </a:endParaRPr>
                </a:p>
              </p:txBody>
            </p:sp>
            <p:sp>
              <p:nvSpPr>
                <p:cNvPr id="139" name="椭圆 138"/>
                <p:cNvSpPr/>
                <p:nvPr/>
              </p:nvSpPr>
              <p:spPr>
                <a:xfrm>
                  <a:off x="2992056" y="2432197"/>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S</a:t>
                  </a:r>
                  <a:r>
                    <a:rPr lang="en-US" altLang="zh-CN" b="1" baseline="-25000" dirty="0">
                      <a:solidFill>
                        <a:schemeClr val="tx1"/>
                      </a:solidFill>
                      <a:latin typeface="Times New Roman" panose="02020603050405020304" pitchFamily="18" charset="0"/>
                      <a:cs typeface="Times New Roman" panose="02020603050405020304" pitchFamily="18" charset="0"/>
                    </a:rPr>
                    <a:t>1</a:t>
                  </a:r>
                  <a:endParaRPr lang="zh-CN" altLang="en-US" b="1" baseline="-25000" dirty="0">
                    <a:solidFill>
                      <a:schemeClr val="tx1"/>
                    </a:solidFill>
                    <a:latin typeface="Times New Roman" panose="02020603050405020304" pitchFamily="18" charset="0"/>
                    <a:cs typeface="Times New Roman" panose="02020603050405020304" pitchFamily="18" charset="0"/>
                  </a:endParaRPr>
                </a:p>
              </p:txBody>
            </p:sp>
            <p:sp>
              <p:nvSpPr>
                <p:cNvPr id="140" name="椭圆 139"/>
                <p:cNvSpPr/>
                <p:nvPr/>
              </p:nvSpPr>
              <p:spPr>
                <a:xfrm>
                  <a:off x="2172820" y="3582247"/>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S</a:t>
                  </a:r>
                  <a:r>
                    <a:rPr lang="en-US" altLang="zh-CN" b="1" baseline="-25000" dirty="0">
                      <a:solidFill>
                        <a:schemeClr val="tx1"/>
                      </a:solidFill>
                      <a:latin typeface="Times New Roman" panose="02020603050405020304" pitchFamily="18" charset="0"/>
                      <a:cs typeface="Times New Roman" panose="02020603050405020304" pitchFamily="18" charset="0"/>
                    </a:rPr>
                    <a:t>2</a:t>
                  </a:r>
                  <a:endParaRPr lang="zh-CN" altLang="en-US" b="1" baseline="-25000" dirty="0">
                    <a:solidFill>
                      <a:schemeClr val="tx1"/>
                    </a:solidFill>
                    <a:latin typeface="Times New Roman" panose="02020603050405020304" pitchFamily="18" charset="0"/>
                    <a:cs typeface="Times New Roman" panose="02020603050405020304" pitchFamily="18" charset="0"/>
                  </a:endParaRPr>
                </a:p>
              </p:txBody>
            </p:sp>
            <p:grpSp>
              <p:nvGrpSpPr>
                <p:cNvPr id="141" name="组合 173"/>
                <p:cNvGrpSpPr/>
                <p:nvPr/>
              </p:nvGrpSpPr>
              <p:grpSpPr>
                <a:xfrm>
                  <a:off x="571292" y="2401859"/>
                  <a:ext cx="938917" cy="468263"/>
                  <a:chOff x="4662927" y="3014896"/>
                  <a:chExt cx="938917" cy="468263"/>
                </a:xfrm>
              </p:grpSpPr>
              <p:sp>
                <p:nvSpPr>
                  <p:cNvPr id="164" name="弧形 163"/>
                  <p:cNvSpPr/>
                  <p:nvPr/>
                </p:nvSpPr>
                <p:spPr>
                  <a:xfrm rot="8219386">
                    <a:off x="5127191" y="3014896"/>
                    <a:ext cx="474653" cy="468263"/>
                  </a:xfrm>
                  <a:prstGeom prst="arc">
                    <a:avLst>
                      <a:gd name="adj1" fmla="val 16200000"/>
                      <a:gd name="adj2" fmla="val 11123489"/>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5" name="TextBox 164"/>
                  <p:cNvSpPr txBox="1"/>
                  <p:nvPr/>
                </p:nvSpPr>
                <p:spPr>
                  <a:xfrm>
                    <a:off x="4662927" y="3069968"/>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0/0</a:t>
                    </a:r>
                    <a:endParaRPr lang="zh-CN" altLang="en-US" b="1" dirty="0">
                      <a:latin typeface="Times New Roman" panose="02020603050405020304" pitchFamily="18" charset="0"/>
                      <a:cs typeface="Times New Roman" panose="02020603050405020304" pitchFamily="18" charset="0"/>
                    </a:endParaRPr>
                  </a:p>
                </p:txBody>
              </p:sp>
            </p:grpSp>
            <p:grpSp>
              <p:nvGrpSpPr>
                <p:cNvPr id="142" name="组合 211"/>
                <p:cNvGrpSpPr/>
                <p:nvPr/>
              </p:nvGrpSpPr>
              <p:grpSpPr>
                <a:xfrm>
                  <a:off x="1845967" y="2191340"/>
                  <a:ext cx="1188000" cy="369332"/>
                  <a:chOff x="5937602" y="2804377"/>
                  <a:chExt cx="1188000" cy="369332"/>
                </a:xfrm>
              </p:grpSpPr>
              <p:cxnSp>
                <p:nvCxnSpPr>
                  <p:cNvPr id="160" name="直接箭头连接符 159"/>
                  <p:cNvCxnSpPr/>
                  <p:nvPr/>
                </p:nvCxnSpPr>
                <p:spPr>
                  <a:xfrm>
                    <a:off x="5937602" y="3106148"/>
                    <a:ext cx="1188000" cy="0"/>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63" name="TextBox 162"/>
                  <p:cNvSpPr txBox="1"/>
                  <p:nvPr/>
                </p:nvSpPr>
                <p:spPr>
                  <a:xfrm>
                    <a:off x="6294106" y="2804377"/>
                    <a:ext cx="479618" cy="369332"/>
                  </a:xfrm>
                  <a:prstGeom prst="rect">
                    <a:avLst/>
                  </a:prstGeom>
                  <a:noFill/>
                </p:spPr>
                <p:txBody>
                  <a:bodyPr wrap="none" rtlCol="0">
                    <a:spAutoFit/>
                  </a:bodyPr>
                  <a:lstStyle/>
                  <a:p>
                    <a:r>
                      <a:rPr lang="en-US" altLang="zh-CN" b="1" dirty="0">
                        <a:solidFill>
                          <a:srgbClr val="CC00CC"/>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143" name="组合 191"/>
                <p:cNvGrpSpPr/>
                <p:nvPr/>
              </p:nvGrpSpPr>
              <p:grpSpPr>
                <a:xfrm>
                  <a:off x="1841140" y="2703710"/>
                  <a:ext cx="1188000" cy="369332"/>
                  <a:chOff x="5932775" y="3316747"/>
                  <a:chExt cx="1188000" cy="369332"/>
                </a:xfrm>
              </p:grpSpPr>
              <p:cxnSp>
                <p:nvCxnSpPr>
                  <p:cNvPr id="155" name="直接箭头连接符 154"/>
                  <p:cNvCxnSpPr/>
                  <p:nvPr/>
                </p:nvCxnSpPr>
                <p:spPr>
                  <a:xfrm flipH="1">
                    <a:off x="5932775" y="3374400"/>
                    <a:ext cx="1188000" cy="0"/>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57" name="TextBox 156"/>
                  <p:cNvSpPr txBox="1"/>
                  <p:nvPr/>
                </p:nvSpPr>
                <p:spPr>
                  <a:xfrm>
                    <a:off x="6305831" y="3316747"/>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144" name="组合 212"/>
                <p:cNvGrpSpPr/>
                <p:nvPr/>
              </p:nvGrpSpPr>
              <p:grpSpPr>
                <a:xfrm>
                  <a:off x="2575258" y="2860761"/>
                  <a:ext cx="733679" cy="788004"/>
                  <a:chOff x="6829624" y="3532255"/>
                  <a:chExt cx="733679" cy="788004"/>
                </a:xfrm>
              </p:grpSpPr>
              <p:cxnSp>
                <p:nvCxnSpPr>
                  <p:cNvPr id="151" name="直接箭头连接符 150"/>
                  <p:cNvCxnSpPr>
                    <a:endCxn id="140" idx="7"/>
                  </p:cNvCxnSpPr>
                  <p:nvPr/>
                </p:nvCxnSpPr>
                <p:spPr>
                  <a:xfrm flipH="1">
                    <a:off x="6829624" y="3532255"/>
                    <a:ext cx="539307" cy="788004"/>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52" name="TextBox 151"/>
                  <p:cNvSpPr txBox="1"/>
                  <p:nvPr/>
                </p:nvSpPr>
                <p:spPr>
                  <a:xfrm>
                    <a:off x="7083685" y="3763600"/>
                    <a:ext cx="479618" cy="369332"/>
                  </a:xfrm>
                  <a:prstGeom prst="rect">
                    <a:avLst/>
                  </a:prstGeom>
                  <a:noFill/>
                </p:spPr>
                <p:txBody>
                  <a:bodyPr wrap="none" rtlCol="0">
                    <a:spAutoFit/>
                  </a:bodyPr>
                  <a:lstStyle/>
                  <a:p>
                    <a:r>
                      <a:rPr lang="en-US" altLang="zh-CN" b="1" dirty="0">
                        <a:solidFill>
                          <a:srgbClr val="CC00CC"/>
                        </a:solidFill>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/0</a:t>
                    </a:r>
                    <a:endParaRPr lang="zh-CN" altLang="en-US" b="1" dirty="0">
                      <a:solidFill>
                        <a:srgbClr val="FF00FF"/>
                      </a:solidFill>
                      <a:latin typeface="Times New Roman" panose="02020603050405020304" pitchFamily="18" charset="0"/>
                      <a:cs typeface="Times New Roman" panose="02020603050405020304" pitchFamily="18" charset="0"/>
                    </a:endParaRPr>
                  </a:p>
                </p:txBody>
              </p:sp>
            </p:grpSp>
            <p:grpSp>
              <p:nvGrpSpPr>
                <p:cNvPr id="145" name="组合 195"/>
                <p:cNvGrpSpPr/>
                <p:nvPr/>
              </p:nvGrpSpPr>
              <p:grpSpPr>
                <a:xfrm rot="10800000">
                  <a:off x="2134628" y="3944480"/>
                  <a:ext cx="499449" cy="785570"/>
                  <a:chOff x="6302256" y="2519673"/>
                  <a:chExt cx="499449" cy="785570"/>
                </a:xfrm>
              </p:grpSpPr>
              <p:sp>
                <p:nvSpPr>
                  <p:cNvPr id="149" name="弧形 148"/>
                  <p:cNvSpPr/>
                  <p:nvPr/>
                </p:nvSpPr>
                <p:spPr>
                  <a:xfrm rot="13372216">
                    <a:off x="6302256" y="2836980"/>
                    <a:ext cx="474653" cy="468263"/>
                  </a:xfrm>
                  <a:prstGeom prst="arc">
                    <a:avLst>
                      <a:gd name="adj1" fmla="val 16200000"/>
                      <a:gd name="adj2" fmla="val 11123489"/>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0" name="TextBox 149"/>
                  <p:cNvSpPr txBox="1"/>
                  <p:nvPr/>
                </p:nvSpPr>
                <p:spPr>
                  <a:xfrm rot="10800000">
                    <a:off x="6322087" y="2519673"/>
                    <a:ext cx="47961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1/0</a:t>
                    </a:r>
                    <a:endParaRPr lang="zh-CN" altLang="en-US" b="1" dirty="0">
                      <a:latin typeface="Times New Roman" panose="02020603050405020304" pitchFamily="18" charset="0"/>
                      <a:cs typeface="Times New Roman" panose="02020603050405020304" pitchFamily="18" charset="0"/>
                    </a:endParaRPr>
                  </a:p>
                </p:txBody>
              </p:sp>
            </p:grpSp>
            <p:grpSp>
              <p:nvGrpSpPr>
                <p:cNvPr id="146" name="组合 198"/>
                <p:cNvGrpSpPr/>
                <p:nvPr/>
              </p:nvGrpSpPr>
              <p:grpSpPr>
                <a:xfrm>
                  <a:off x="1534940" y="2892152"/>
                  <a:ext cx="708024" cy="719256"/>
                  <a:chOff x="6243761" y="2686643"/>
                  <a:chExt cx="708024" cy="719256"/>
                </a:xfrm>
              </p:grpSpPr>
              <p:cxnSp>
                <p:nvCxnSpPr>
                  <p:cNvPr id="147" name="直接箭头连接符 146"/>
                  <p:cNvCxnSpPr/>
                  <p:nvPr/>
                </p:nvCxnSpPr>
                <p:spPr>
                  <a:xfrm flipH="1" flipV="1">
                    <a:off x="6454870" y="2686643"/>
                    <a:ext cx="496915" cy="719256"/>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48" name="TextBox 147"/>
                  <p:cNvSpPr txBox="1"/>
                  <p:nvPr/>
                </p:nvSpPr>
                <p:spPr>
                  <a:xfrm>
                    <a:off x="6243761" y="2998155"/>
                    <a:ext cx="492443"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a:t>
                    </a:r>
                    <a:r>
                      <a:rPr lang="en-US" altLang="zh-CN" b="1" dirty="0">
                        <a:solidFill>
                          <a:srgbClr val="CC00CC"/>
                        </a:solidFill>
                        <a:latin typeface="Times New Roman" panose="02020603050405020304" pitchFamily="18" charset="0"/>
                        <a:cs typeface="Times New Roman" panose="02020603050405020304" pitchFamily="18" charset="0"/>
                      </a:rPr>
                      <a:t>1</a:t>
                    </a:r>
                    <a:endParaRPr lang="zh-CN" altLang="en-US" b="1" dirty="0">
                      <a:solidFill>
                        <a:srgbClr val="CC00CC"/>
                      </a:solidFill>
                      <a:latin typeface="Times New Roman" panose="02020603050405020304" pitchFamily="18" charset="0"/>
                      <a:cs typeface="Times New Roman" panose="02020603050405020304" pitchFamily="18" charset="0"/>
                    </a:endParaRPr>
                  </a:p>
                </p:txBody>
              </p:sp>
            </p:grpSp>
          </p:grpSp>
        </p:grpSp>
      </p:grpSp>
      <p:grpSp>
        <p:nvGrpSpPr>
          <p:cNvPr id="2" name="组合 1"/>
          <p:cNvGrpSpPr/>
          <p:nvPr/>
        </p:nvGrpSpPr>
        <p:grpSpPr>
          <a:xfrm>
            <a:off x="4920023" y="2812975"/>
            <a:ext cx="471486" cy="2094754"/>
            <a:chOff x="4920023" y="2812975"/>
            <a:chExt cx="471486" cy="2094754"/>
          </a:xfrm>
        </p:grpSpPr>
        <p:sp>
          <p:nvSpPr>
            <p:cNvPr id="63" name="椭圆 62"/>
            <p:cNvSpPr/>
            <p:nvPr/>
          </p:nvSpPr>
          <p:spPr>
            <a:xfrm>
              <a:off x="4920023" y="2812975"/>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00</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sp>
          <p:nvSpPr>
            <p:cNvPr id="64" name="椭圆 63"/>
            <p:cNvSpPr/>
            <p:nvPr/>
          </p:nvSpPr>
          <p:spPr>
            <a:xfrm>
              <a:off x="4920023" y="3359822"/>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01</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sp>
          <p:nvSpPr>
            <p:cNvPr id="65" name="椭圆 64"/>
            <p:cNvSpPr/>
            <p:nvPr/>
          </p:nvSpPr>
          <p:spPr>
            <a:xfrm>
              <a:off x="4920023" y="3906669"/>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10</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sp>
          <p:nvSpPr>
            <p:cNvPr id="66" name="椭圆 65"/>
            <p:cNvSpPr/>
            <p:nvPr/>
          </p:nvSpPr>
          <p:spPr>
            <a:xfrm>
              <a:off x="4920023" y="4453517"/>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11</a:t>
              </a:r>
              <a:endParaRPr lang="zh-CN" altLang="en-US" sz="2000" b="1" dirty="0">
                <a:solidFill>
                  <a:schemeClr val="tx1"/>
                </a:solidFill>
                <a:latin typeface="Times New Roman" panose="02020603050405020304" pitchFamily="18" charset="0"/>
                <a:cs typeface="Times New Roman" panose="02020603050405020304" pitchFamily="18" charset="0"/>
              </a:endParaRPr>
            </a:p>
          </p:txBody>
        </p:sp>
      </p:grpSp>
      <p:sp>
        <p:nvSpPr>
          <p:cNvPr id="70" name="任意多边形 69"/>
          <p:cNvSpPr/>
          <p:nvPr/>
        </p:nvSpPr>
        <p:spPr>
          <a:xfrm rot="10379941">
            <a:off x="5372424" y="3497543"/>
            <a:ext cx="2568079" cy="501394"/>
          </a:xfrm>
          <a:custGeom>
            <a:avLst/>
            <a:gdLst>
              <a:gd name="connsiteX0" fmla="*/ 2312894 w 2312894"/>
              <a:gd name="connsiteY0" fmla="*/ 244806 h 315144"/>
              <a:gd name="connsiteX1" fmla="*/ 1952927 w 2312894"/>
              <a:gd name="connsiteY1" fmla="*/ 75166 h 315144"/>
              <a:gd name="connsiteX2" fmla="*/ 1158516 w 2312894"/>
              <a:gd name="connsiteY2" fmla="*/ 13102 h 315144"/>
              <a:gd name="connsiteX3" fmla="*/ 450994 w 2312894"/>
              <a:gd name="connsiteY3" fmla="*/ 50340 h 315144"/>
              <a:gd name="connsiteX4" fmla="*/ 0 w 2312894"/>
              <a:gd name="connsiteY4" fmla="*/ 315144 h 315144"/>
              <a:gd name="connsiteX5" fmla="*/ 0 w 2312894"/>
              <a:gd name="connsiteY5" fmla="*/ 315144 h 315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12894" h="315144">
                <a:moveTo>
                  <a:pt x="2312894" y="244806"/>
                </a:moveTo>
                <a:cubicBezTo>
                  <a:pt x="2229108" y="179294"/>
                  <a:pt x="2145323" y="113783"/>
                  <a:pt x="1952927" y="75166"/>
                </a:cubicBezTo>
                <a:cubicBezTo>
                  <a:pt x="1760531" y="36549"/>
                  <a:pt x="1408838" y="17240"/>
                  <a:pt x="1158516" y="13102"/>
                </a:cubicBezTo>
                <a:cubicBezTo>
                  <a:pt x="908194" y="8964"/>
                  <a:pt x="644080" y="0"/>
                  <a:pt x="450994" y="50340"/>
                </a:cubicBezTo>
                <a:cubicBezTo>
                  <a:pt x="257908" y="100680"/>
                  <a:pt x="0" y="315144"/>
                  <a:pt x="0" y="315144"/>
                </a:cubicBezTo>
                <a:lnTo>
                  <a:pt x="0" y="315144"/>
                </a:lnTo>
              </a:path>
            </a:pathLst>
          </a:custGeom>
          <a:ln w="25400">
            <a:solidFill>
              <a:srgbClr val="FF0000"/>
            </a:solidFill>
            <a:headEnd type="none" w="med" len="med"/>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1" name="直接箭头连接符 70"/>
          <p:cNvCxnSpPr/>
          <p:nvPr/>
        </p:nvCxnSpPr>
        <p:spPr>
          <a:xfrm>
            <a:off x="5417820" y="3009900"/>
            <a:ext cx="868680" cy="114300"/>
          </a:xfrm>
          <a:prstGeom prst="straightConnector1">
            <a:avLst/>
          </a:prstGeom>
          <a:ln w="28575">
            <a:solidFill>
              <a:srgbClr val="FF0000"/>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a:endCxn id="140" idx="2"/>
          </p:cNvCxnSpPr>
          <p:nvPr/>
        </p:nvCxnSpPr>
        <p:spPr>
          <a:xfrm flipV="1">
            <a:off x="5410200" y="4365613"/>
            <a:ext cx="1677520" cy="320687"/>
          </a:xfrm>
          <a:prstGeom prst="straightConnector1">
            <a:avLst/>
          </a:prstGeom>
          <a:ln w="28575">
            <a:solidFill>
              <a:srgbClr val="FF0000"/>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graphicFrame>
        <p:nvGraphicFramePr>
          <p:cNvPr id="178" name="Group 86"/>
          <p:cNvGraphicFramePr>
            <a:graphicFrameLocks noGrp="1"/>
          </p:cNvGraphicFramePr>
          <p:nvPr/>
        </p:nvGraphicFramePr>
        <p:xfrm>
          <a:off x="4714303" y="2097064"/>
          <a:ext cx="4085006" cy="3138472"/>
        </p:xfrm>
        <a:graphic>
          <a:graphicData uri="http://schemas.openxmlformats.org/drawingml/2006/table">
            <a:tbl>
              <a:tblPr/>
              <a:tblGrid>
                <a:gridCol w="603401"/>
                <a:gridCol w="647740"/>
                <a:gridCol w="566773"/>
                <a:gridCol w="786542"/>
                <a:gridCol w="763409"/>
                <a:gridCol w="717141"/>
              </a:tblGrid>
              <a:tr h="485168">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20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20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zh-CN" altLang="en-US"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20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20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zh-CN" altLang="en-US"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20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20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n+1</a:t>
                      </a:r>
                      <a:endParaRPr kumimoji="0" lang="en-US" altLang="zh-CN" sz="20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20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20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n+1</a:t>
                      </a:r>
                      <a:endParaRPr kumimoji="0" lang="zh-CN" altLang="en-US"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zh-CN" altLang="en-US"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457704">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r>
              <a:tr h="43912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43912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43912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43912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43912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3" name="组合 2"/>
          <p:cNvGrpSpPr/>
          <p:nvPr/>
        </p:nvGrpSpPr>
        <p:grpSpPr>
          <a:xfrm>
            <a:off x="756470" y="4383172"/>
            <a:ext cx="3666578" cy="852364"/>
            <a:chOff x="756470" y="4383172"/>
            <a:chExt cx="3666578" cy="852364"/>
          </a:xfrm>
        </p:grpSpPr>
        <p:sp>
          <p:nvSpPr>
            <p:cNvPr id="187" name="圆角矩形 186"/>
            <p:cNvSpPr/>
            <p:nvPr/>
          </p:nvSpPr>
          <p:spPr>
            <a:xfrm>
              <a:off x="1191616" y="4751442"/>
              <a:ext cx="3231432" cy="484094"/>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6600FF"/>
                  </a:solidFill>
                  <a:latin typeface="微软雅黑" panose="020B0503020204020204" pitchFamily="34" charset="-122"/>
                  <a:ea typeface="微软雅黑" panose="020B0503020204020204" pitchFamily="34" charset="-122"/>
                </a:rPr>
                <a:t>选用</a:t>
              </a:r>
              <a:r>
                <a:rPr lang="en-US" altLang="zh-CN" dirty="0">
                  <a:solidFill>
                    <a:srgbClr val="6600FF"/>
                  </a:solidFill>
                  <a:latin typeface="微软雅黑" panose="020B0503020204020204" pitchFamily="34" charset="-122"/>
                  <a:ea typeface="微软雅黑" panose="020B0503020204020204" pitchFamily="34" charset="-122"/>
                </a:rPr>
                <a:t>D</a:t>
              </a:r>
              <a:r>
                <a:rPr lang="zh-CN" altLang="en-US" dirty="0">
                  <a:solidFill>
                    <a:srgbClr val="6600FF"/>
                  </a:solidFill>
                  <a:latin typeface="微软雅黑" panose="020B0503020204020204" pitchFamily="34" charset="-122"/>
                  <a:ea typeface="微软雅黑" panose="020B0503020204020204" pitchFamily="34" charset="-122"/>
                </a:rPr>
                <a:t>触发器，个数为</a:t>
              </a:r>
              <a:r>
                <a:rPr lang="en-US" altLang="zh-CN" dirty="0">
                  <a:solidFill>
                    <a:srgbClr val="6600FF"/>
                  </a:solidFill>
                  <a:latin typeface="微软雅黑" panose="020B0503020204020204" pitchFamily="34" charset="-122"/>
                  <a:ea typeface="微软雅黑" panose="020B0503020204020204" pitchFamily="34" charset="-122"/>
                </a:rPr>
                <a:t>2</a:t>
              </a:r>
              <a:r>
                <a:rPr lang="zh-CN" altLang="en-US" dirty="0">
                  <a:solidFill>
                    <a:srgbClr val="6600FF"/>
                  </a:solidFill>
                  <a:latin typeface="微软雅黑" panose="020B0503020204020204" pitchFamily="34" charset="-122"/>
                  <a:ea typeface="微软雅黑" panose="020B0503020204020204" pitchFamily="34" charset="-122"/>
                </a:rPr>
                <a:t>个。</a:t>
              </a:r>
              <a:endParaRPr lang="zh-CN" altLang="en-US" dirty="0">
                <a:solidFill>
                  <a:srgbClr val="6600FF"/>
                </a:solidFill>
                <a:latin typeface="微软雅黑" panose="020B0503020204020204" pitchFamily="34" charset="-122"/>
                <a:ea typeface="微软雅黑" panose="020B0503020204020204" pitchFamily="34" charset="-122"/>
              </a:endParaRPr>
            </a:p>
          </p:txBody>
        </p:sp>
        <p:sp>
          <p:nvSpPr>
            <p:cNvPr id="188" name="矩形 187"/>
            <p:cNvSpPr/>
            <p:nvPr/>
          </p:nvSpPr>
          <p:spPr>
            <a:xfrm>
              <a:off x="756470" y="4383172"/>
              <a:ext cx="274947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4</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）选择触发器并确定数目</a:t>
              </a:r>
              <a:endParaRPr lang="zh-CN" altLang="en-US" sz="1600" dirty="0"/>
            </a:p>
          </p:txBody>
        </p:sp>
      </p:grpSp>
      <p:grpSp>
        <p:nvGrpSpPr>
          <p:cNvPr id="153" name="组合 117"/>
          <p:cNvGrpSpPr/>
          <p:nvPr/>
        </p:nvGrpSpPr>
        <p:grpSpPr>
          <a:xfrm>
            <a:off x="400513" y="1289896"/>
            <a:ext cx="8623498" cy="374630"/>
            <a:chOff x="369777" y="1347760"/>
            <a:chExt cx="8623498" cy="374630"/>
          </a:xfrm>
        </p:grpSpPr>
        <p:sp>
          <p:nvSpPr>
            <p:cNvPr id="154" name="TextBox 119"/>
            <p:cNvSpPr txBox="1"/>
            <p:nvPr/>
          </p:nvSpPr>
          <p:spPr>
            <a:xfrm>
              <a:off x="723710" y="1350409"/>
              <a:ext cx="8269565" cy="369332"/>
            </a:xfrm>
            <a:prstGeom prst="rect">
              <a:avLst/>
            </a:prstGeom>
            <a:noFill/>
          </p:spPr>
          <p:txBody>
            <a:bodyPr wrap="square" rtlCol="0">
              <a:spAutoFit/>
            </a:bodyPr>
            <a:lstStyle/>
            <a:p>
              <a:r>
                <a:rPr lang="zh-CN" altLang="en-US"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例：</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用</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D</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触发器设计一序列脉冲检测器，要求连续输入</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110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，否则输出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56"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spTree>
  </p:cSld>
  <p:clrMapOvr>
    <a:masterClrMapping/>
  </p:clrMapOvr>
  <mc:AlternateContent xmlns:mc="http://schemas.openxmlformats.org/markup-compatibility/2006">
    <mc:Choice xmlns:p14="http://schemas.microsoft.com/office/powerpoint/2010/main" Requires="p14">
      <p:transition spd="slow" p14:dur="1600">
        <p14:prism dir="u"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1000"/>
                                        <p:tgtEl>
                                          <p:spTgt spid="72"/>
                                        </p:tgtEl>
                                      </p:cBhvr>
                                    </p:animEffect>
                                    <p:anim calcmode="lin" valueType="num">
                                      <p:cBhvr>
                                        <p:cTn id="8" dur="1000" fill="hold"/>
                                        <p:tgtEl>
                                          <p:spTgt spid="72"/>
                                        </p:tgtEl>
                                        <p:attrNameLst>
                                          <p:attrName>ppt_x</p:attrName>
                                        </p:attrNameLst>
                                      </p:cBhvr>
                                      <p:tavLst>
                                        <p:tav tm="0">
                                          <p:val>
                                            <p:strVal val="#ppt_x"/>
                                          </p:val>
                                        </p:tav>
                                        <p:tav tm="100000">
                                          <p:val>
                                            <p:strVal val="#ppt_x"/>
                                          </p:val>
                                        </p:tav>
                                      </p:tavLst>
                                    </p:anim>
                                    <p:anim calcmode="lin" valueType="num">
                                      <p:cBhvr>
                                        <p:cTn id="9" dur="1000" fill="hold"/>
                                        <p:tgtEl>
                                          <p:spTgt spid="7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66"/>
                                        </p:tgtEl>
                                        <p:attrNameLst>
                                          <p:attrName>style.visibility</p:attrName>
                                        </p:attrNameLst>
                                      </p:cBhvr>
                                      <p:to>
                                        <p:strVal val="visible"/>
                                      </p:to>
                                    </p:set>
                                    <p:animEffect transition="in" filter="fade">
                                      <p:cBhvr>
                                        <p:cTn id="13" dur="1000"/>
                                        <p:tgtEl>
                                          <p:spTgt spid="166"/>
                                        </p:tgtEl>
                                      </p:cBhvr>
                                    </p:animEffect>
                                    <p:anim calcmode="lin" valueType="num">
                                      <p:cBhvr>
                                        <p:cTn id="14" dur="1000" fill="hold"/>
                                        <p:tgtEl>
                                          <p:spTgt spid="166"/>
                                        </p:tgtEl>
                                        <p:attrNameLst>
                                          <p:attrName>ppt_x</p:attrName>
                                        </p:attrNameLst>
                                      </p:cBhvr>
                                      <p:tavLst>
                                        <p:tav tm="0">
                                          <p:val>
                                            <p:strVal val="#ppt_x"/>
                                          </p:val>
                                        </p:tav>
                                        <p:tav tm="100000">
                                          <p:val>
                                            <p:strVal val="#ppt_x"/>
                                          </p:val>
                                        </p:tav>
                                      </p:tavLst>
                                    </p:anim>
                                    <p:anim calcmode="lin" valueType="num">
                                      <p:cBhvr>
                                        <p:cTn id="15" dur="1000" fill="hold"/>
                                        <p:tgtEl>
                                          <p:spTgt spid="16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2" presetClass="entr" presetSubtype="8"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1000"/>
                                        <p:tgtEl>
                                          <p:spTgt spid="2"/>
                                        </p:tgtEl>
                                        <p:attrNameLst>
                                          <p:attrName>ppt_x</p:attrName>
                                        </p:attrNameLst>
                                      </p:cBhvr>
                                      <p:tavLst>
                                        <p:tav tm="0">
                                          <p:val>
                                            <p:strVal val="#ppt_x-#ppt_w*1.125000"/>
                                          </p:val>
                                        </p:tav>
                                        <p:tav tm="100000">
                                          <p:val>
                                            <p:strVal val="#ppt_x"/>
                                          </p:val>
                                        </p:tav>
                                      </p:tavLst>
                                    </p:anim>
                                    <p:animEffect transition="in" filter="wipe(right)">
                                      <p:cBhvr>
                                        <p:cTn id="21" dur="1000"/>
                                        <p:tgtEl>
                                          <p:spTgt spid="2"/>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71"/>
                                        </p:tgtEl>
                                        <p:attrNameLst>
                                          <p:attrName>style.visibility</p:attrName>
                                        </p:attrNameLst>
                                      </p:cBhvr>
                                      <p:to>
                                        <p:strVal val="visible"/>
                                      </p:to>
                                    </p:set>
                                    <p:animEffect transition="in" filter="wipe(left)">
                                      <p:cBhvr>
                                        <p:cTn id="25" dur="1000"/>
                                        <p:tgtEl>
                                          <p:spTgt spid="71"/>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70"/>
                                        </p:tgtEl>
                                        <p:attrNameLst>
                                          <p:attrName>style.visibility</p:attrName>
                                        </p:attrNameLst>
                                      </p:cBhvr>
                                      <p:to>
                                        <p:strVal val="visible"/>
                                      </p:to>
                                    </p:set>
                                    <p:animEffect transition="in" filter="wipe(left)">
                                      <p:cBhvr>
                                        <p:cTn id="29" dur="1000"/>
                                        <p:tgtEl>
                                          <p:spTgt spid="70"/>
                                        </p:tgtEl>
                                      </p:cBhvr>
                                    </p:animEffect>
                                  </p:childTnLst>
                                </p:cTn>
                              </p:par>
                            </p:childTnLst>
                          </p:cTn>
                        </p:par>
                        <p:par>
                          <p:cTn id="30" fill="hold">
                            <p:stCondLst>
                              <p:cond delay="3000"/>
                            </p:stCondLst>
                            <p:childTnLst>
                              <p:par>
                                <p:cTn id="31" presetID="22" presetClass="entr" presetSubtype="8" fill="hold" nodeType="afterEffect">
                                  <p:stCondLst>
                                    <p:cond delay="0"/>
                                  </p:stCondLst>
                                  <p:childTnLst>
                                    <p:set>
                                      <p:cBhvr>
                                        <p:cTn id="32" dur="1" fill="hold">
                                          <p:stCondLst>
                                            <p:cond delay="0"/>
                                          </p:stCondLst>
                                        </p:cTn>
                                        <p:tgtEl>
                                          <p:spTgt spid="76"/>
                                        </p:tgtEl>
                                        <p:attrNameLst>
                                          <p:attrName>style.visibility</p:attrName>
                                        </p:attrNameLst>
                                      </p:cBhvr>
                                      <p:to>
                                        <p:strVal val="visible"/>
                                      </p:to>
                                    </p:set>
                                    <p:animEffect transition="in" filter="wipe(left)">
                                      <p:cBhvr>
                                        <p:cTn id="33" dur="1000"/>
                                        <p:tgtEl>
                                          <p:spTgt spid="76"/>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72"/>
                                        </p:tgtEl>
                                        <p:attrNameLst>
                                          <p:attrName>style.visibility</p:attrName>
                                        </p:attrNameLst>
                                      </p:cBhvr>
                                      <p:to>
                                        <p:strVal val="visible"/>
                                      </p:to>
                                    </p:set>
                                    <p:animEffect transition="in" filter="fade">
                                      <p:cBhvr>
                                        <p:cTn id="38" dur="1000"/>
                                        <p:tgtEl>
                                          <p:spTgt spid="172"/>
                                        </p:tgtEl>
                                      </p:cBhvr>
                                    </p:animEffect>
                                    <p:anim calcmode="lin" valueType="num">
                                      <p:cBhvr>
                                        <p:cTn id="39" dur="1000" fill="hold"/>
                                        <p:tgtEl>
                                          <p:spTgt spid="172"/>
                                        </p:tgtEl>
                                        <p:attrNameLst>
                                          <p:attrName>ppt_x</p:attrName>
                                        </p:attrNameLst>
                                      </p:cBhvr>
                                      <p:tavLst>
                                        <p:tav tm="0">
                                          <p:val>
                                            <p:strVal val="#ppt_x"/>
                                          </p:val>
                                        </p:tav>
                                        <p:tav tm="100000">
                                          <p:val>
                                            <p:strVal val="#ppt_x"/>
                                          </p:val>
                                        </p:tav>
                                      </p:tavLst>
                                    </p:anim>
                                    <p:anim calcmode="lin" valueType="num">
                                      <p:cBhvr>
                                        <p:cTn id="40" dur="1000" fill="hold"/>
                                        <p:tgtEl>
                                          <p:spTgt spid="172"/>
                                        </p:tgtEl>
                                        <p:attrNameLst>
                                          <p:attrName>ppt_y</p:attrName>
                                        </p:attrNameLst>
                                      </p:cBhvr>
                                      <p:tavLst>
                                        <p:tav tm="0">
                                          <p:val>
                                            <p:strVal val="#ppt_y+.1"/>
                                          </p:val>
                                        </p:tav>
                                        <p:tav tm="100000">
                                          <p:val>
                                            <p:strVal val="#ppt_y"/>
                                          </p:val>
                                        </p:tav>
                                      </p:tavLst>
                                    </p:anim>
                                  </p:childTnLst>
                                </p:cTn>
                              </p:par>
                            </p:childTnLst>
                          </p:cTn>
                        </p:par>
                        <p:par>
                          <p:cTn id="41" fill="hold">
                            <p:stCondLst>
                              <p:cond delay="1000"/>
                            </p:stCondLst>
                            <p:childTnLst>
                              <p:par>
                                <p:cTn id="42" presetID="42" presetClass="entr" presetSubtype="0" fill="hold" nodeType="afterEffect">
                                  <p:stCondLst>
                                    <p:cond delay="0"/>
                                  </p:stCondLst>
                                  <p:childTnLst>
                                    <p:set>
                                      <p:cBhvr>
                                        <p:cTn id="43" dur="1" fill="hold">
                                          <p:stCondLst>
                                            <p:cond delay="0"/>
                                          </p:stCondLst>
                                        </p:cTn>
                                        <p:tgtEl>
                                          <p:spTgt spid="178"/>
                                        </p:tgtEl>
                                        <p:attrNameLst>
                                          <p:attrName>style.visibility</p:attrName>
                                        </p:attrNameLst>
                                      </p:cBhvr>
                                      <p:to>
                                        <p:strVal val="visible"/>
                                      </p:to>
                                    </p:set>
                                    <p:animEffect transition="in" filter="fade">
                                      <p:cBhvr>
                                        <p:cTn id="44" dur="1000"/>
                                        <p:tgtEl>
                                          <p:spTgt spid="178"/>
                                        </p:tgtEl>
                                      </p:cBhvr>
                                    </p:animEffect>
                                    <p:anim calcmode="lin" valueType="num">
                                      <p:cBhvr>
                                        <p:cTn id="45" dur="1000" fill="hold"/>
                                        <p:tgtEl>
                                          <p:spTgt spid="178"/>
                                        </p:tgtEl>
                                        <p:attrNameLst>
                                          <p:attrName>ppt_x</p:attrName>
                                        </p:attrNameLst>
                                      </p:cBhvr>
                                      <p:tavLst>
                                        <p:tav tm="0">
                                          <p:val>
                                            <p:strVal val="#ppt_x"/>
                                          </p:val>
                                        </p:tav>
                                        <p:tav tm="100000">
                                          <p:val>
                                            <p:strVal val="#ppt_x"/>
                                          </p:val>
                                        </p:tav>
                                      </p:tavLst>
                                    </p:anim>
                                    <p:anim calcmode="lin" valueType="num">
                                      <p:cBhvr>
                                        <p:cTn id="46" dur="1000" fill="hold"/>
                                        <p:tgtEl>
                                          <p:spTgt spid="178"/>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fade">
                                      <p:cBhvr>
                                        <p:cTn id="51" dur="1000"/>
                                        <p:tgtEl>
                                          <p:spTgt spid="3"/>
                                        </p:tgtEl>
                                      </p:cBhvr>
                                    </p:animEffect>
                                    <p:anim calcmode="lin" valueType="num">
                                      <p:cBhvr>
                                        <p:cTn id="52" dur="1000" fill="hold"/>
                                        <p:tgtEl>
                                          <p:spTgt spid="3"/>
                                        </p:tgtEl>
                                        <p:attrNameLst>
                                          <p:attrName>ppt_x</p:attrName>
                                        </p:attrNameLst>
                                      </p:cBhvr>
                                      <p:tavLst>
                                        <p:tav tm="0">
                                          <p:val>
                                            <p:strVal val="#ppt_x"/>
                                          </p:val>
                                        </p:tav>
                                        <p:tav tm="100000">
                                          <p:val>
                                            <p:strVal val="#ppt_x"/>
                                          </p:val>
                                        </p:tav>
                                      </p:tavLst>
                                    </p:anim>
                                    <p:anim calcmode="lin" valueType="num">
                                      <p:cBhvr>
                                        <p:cTn id="5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4"/>
          <p:cNvSpPr>
            <a:spLocks noChangeArrowheads="1"/>
          </p:cNvSpPr>
          <p:nvPr/>
        </p:nvSpPr>
        <p:spPr bwMode="auto">
          <a:xfrm>
            <a:off x="1023599" y="2193783"/>
            <a:ext cx="5808000" cy="369332"/>
          </a:xfrm>
          <a:prstGeom prst="rect">
            <a:avLst/>
          </a:prstGeom>
          <a:noFill/>
          <a:ln w="9525" algn="ctr">
            <a:noFill/>
            <a:miter lim="800000"/>
          </a:ln>
        </p:spPr>
        <p:txBody>
          <a:bodyPr wrap="none" anchor="ctr">
            <a:spAutoFit/>
          </a:bodyPr>
          <a:lstStyle/>
          <a:p>
            <a:pPr eaLnBrk="0" hangingPunct="0"/>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① </a:t>
            </a:r>
            <a:r>
              <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a:t>
            </a:r>
            <a:r>
              <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触发器状态转换图求触发器的激励表（驱动表）</a:t>
            </a:r>
            <a:endPar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 name="Rectangle 5"/>
          <p:cNvSpPr>
            <a:spLocks noChangeArrowheads="1"/>
          </p:cNvSpPr>
          <p:nvPr/>
        </p:nvSpPr>
        <p:spPr bwMode="auto">
          <a:xfrm>
            <a:off x="436140" y="1786963"/>
            <a:ext cx="8405818" cy="338554"/>
          </a:xfrm>
          <a:prstGeom prst="rect">
            <a:avLst/>
          </a:prstGeom>
          <a:noFill/>
          <a:ln w="9525" algn="ctr">
            <a:noFill/>
            <a:miter lim="800000"/>
          </a:ln>
          <a:effectLst/>
        </p:spPr>
        <p:txBody>
          <a:bodyPr wrap="square" anchor="ctr">
            <a:spAutoFit/>
          </a:bodyPr>
          <a:lstStyle/>
          <a:p>
            <a:pPr eaLnBrk="0" hangingPunct="0">
              <a:defRPr/>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解</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5</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）根据编码状态表及所采用的触发器的逻辑功能，求电路的输出方程和激励方程</a:t>
            </a:r>
            <a:endPar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6" name="Group 78"/>
          <p:cNvGraphicFramePr>
            <a:graphicFrameLocks noGrp="1"/>
          </p:cNvGraphicFramePr>
          <p:nvPr/>
        </p:nvGraphicFramePr>
        <p:xfrm>
          <a:off x="5854642" y="2657423"/>
          <a:ext cx="2499085" cy="2394546"/>
        </p:xfrm>
        <a:graphic>
          <a:graphicData uri="http://schemas.openxmlformats.org/drawingml/2006/table">
            <a:tbl>
              <a:tblPr/>
              <a:tblGrid>
                <a:gridCol w="459129"/>
                <a:gridCol w="910403"/>
                <a:gridCol w="1129553"/>
              </a:tblGrid>
              <a:tr h="399091">
                <a:tc grid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rgbClr val="CC00CC"/>
                          </a:solidFill>
                          <a:effectLst/>
                          <a:latin typeface="微软雅黑" panose="020B0503020204020204" pitchFamily="34" charset="-122"/>
                          <a:ea typeface="微软雅黑" panose="020B0503020204020204" pitchFamily="34" charset="-122"/>
                          <a:cs typeface="Times New Roman" panose="02020603050405020304" pitchFamily="18" charset="0"/>
                        </a:rPr>
                        <a:t>激 励 表</a:t>
                      </a:r>
                      <a:endParaRPr kumimoji="0" lang="zh-CN" altLang="en-US" sz="1800" b="0" i="0" u="none" strike="noStrike" cap="none" normalizeH="0" baseline="0" dirty="0">
                        <a:ln>
                          <a:noFill/>
                        </a:ln>
                        <a:solidFill>
                          <a:srgbClr val="CC00CC"/>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cPr/>
                </a:tc>
                <a:tc hMerge="1">
                  <a:tcPr/>
                </a:tc>
              </a:tr>
              <a:tr h="39909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err="1">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Q</a:t>
                      </a:r>
                      <a:r>
                        <a:rPr kumimoji="0" lang="en-US" altLang="zh-CN" sz="1800" b="1" i="0" u="none" strike="noStrike" cap="none" normalizeH="0" baseline="30000" dirty="0" err="1">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n</a:t>
                      </a: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Q</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n+1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D</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39909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r>
              <a:tr h="39909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r>
              <a:tr h="39909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r>
              <a:tr h="39909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bl>
          </a:graphicData>
        </a:graphic>
      </p:graphicFrame>
      <p:grpSp>
        <p:nvGrpSpPr>
          <p:cNvPr id="17" name="组合 88"/>
          <p:cNvGrpSpPr/>
          <p:nvPr/>
        </p:nvGrpSpPr>
        <p:grpSpPr>
          <a:xfrm>
            <a:off x="392432" y="778617"/>
            <a:ext cx="3704049" cy="420971"/>
            <a:chOff x="670560" y="892917"/>
            <a:chExt cx="3704049" cy="420971"/>
          </a:xfrm>
        </p:grpSpPr>
        <p:sp>
          <p:nvSpPr>
            <p:cNvPr id="18" name="矩形 17"/>
            <p:cNvSpPr/>
            <p:nvPr/>
          </p:nvSpPr>
          <p:spPr>
            <a:xfrm>
              <a:off x="1035233" y="913778"/>
              <a:ext cx="3339376"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同步时序逻辑电路设计实例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19"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0" name="组合 117"/>
          <p:cNvGrpSpPr/>
          <p:nvPr/>
        </p:nvGrpSpPr>
        <p:grpSpPr>
          <a:xfrm>
            <a:off x="400513" y="1289896"/>
            <a:ext cx="8623498" cy="374630"/>
            <a:chOff x="369777" y="1347760"/>
            <a:chExt cx="8623498" cy="374630"/>
          </a:xfrm>
        </p:grpSpPr>
        <p:sp>
          <p:nvSpPr>
            <p:cNvPr id="21" name="TextBox 119"/>
            <p:cNvSpPr txBox="1"/>
            <p:nvPr/>
          </p:nvSpPr>
          <p:spPr>
            <a:xfrm>
              <a:off x="723710" y="1350409"/>
              <a:ext cx="8269565" cy="369332"/>
            </a:xfrm>
            <a:prstGeom prst="rect">
              <a:avLst/>
            </a:prstGeom>
            <a:noFill/>
          </p:spPr>
          <p:txBody>
            <a:bodyPr wrap="square" rtlCol="0">
              <a:spAutoFit/>
            </a:bodyPr>
            <a:lstStyle/>
            <a:p>
              <a:r>
                <a:rPr lang="zh-CN" altLang="en-US"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例：</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用</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D</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触发器设计一序列脉冲检测器，要求连续输入</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110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，否则输出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2"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pic>
        <p:nvPicPr>
          <p:cNvPr id="23" name="Picture 1"/>
          <p:cNvPicPr>
            <a:picLocks noChangeAspect="1" noChangeArrowheads="1"/>
          </p:cNvPicPr>
          <p:nvPr/>
        </p:nvPicPr>
        <p:blipFill>
          <a:blip r:embed="rId3" cstate="print"/>
          <a:srcRect/>
          <a:stretch>
            <a:fillRect/>
          </a:stretch>
        </p:blipFill>
        <p:spPr bwMode="auto">
          <a:xfrm>
            <a:off x="1512888" y="3269125"/>
            <a:ext cx="3412421" cy="1083800"/>
          </a:xfrm>
          <a:prstGeom prst="rect">
            <a:avLst/>
          </a:prstGeom>
          <a:noFill/>
          <a:ln w="9525">
            <a:noFill/>
            <a:miter lim="800000"/>
            <a:headEnd/>
            <a:tailEnd/>
          </a:ln>
          <a:effectLst/>
        </p:spPr>
      </p:pic>
      <p:sp>
        <p:nvSpPr>
          <p:cNvPr id="2" name="矩形: 圆角 1"/>
          <p:cNvSpPr/>
          <p:nvPr/>
        </p:nvSpPr>
        <p:spPr>
          <a:xfrm>
            <a:off x="5854641" y="3471196"/>
            <a:ext cx="2499085" cy="374411"/>
          </a:xfrm>
          <a:prstGeom prst="roundRect">
            <a:avLst>
              <a:gd name="adj" fmla="val 0"/>
            </a:avLst>
          </a:prstGeom>
          <a:solidFill>
            <a:schemeClr val="accent1">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p:cNvSpPr/>
          <p:nvPr/>
        </p:nvSpPr>
        <p:spPr>
          <a:xfrm>
            <a:off x="5854641" y="3862177"/>
            <a:ext cx="2499085" cy="374411"/>
          </a:xfrm>
          <a:prstGeom prst="roundRect">
            <a:avLst>
              <a:gd name="adj" fmla="val 0"/>
            </a:avLst>
          </a:prstGeom>
          <a:solidFill>
            <a:schemeClr val="accent2">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p:nvSpPr>
        <p:spPr>
          <a:xfrm>
            <a:off x="5854641" y="4253158"/>
            <a:ext cx="2499085" cy="374411"/>
          </a:xfrm>
          <a:prstGeom prst="roundRect">
            <a:avLst>
              <a:gd name="adj" fmla="val 0"/>
            </a:avLst>
          </a:prstGeom>
          <a:solidFill>
            <a:srgbClr val="F900F9">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5854641" y="4644139"/>
            <a:ext cx="2499085" cy="374411"/>
          </a:xfrm>
          <a:prstGeom prst="roundRect">
            <a:avLst>
              <a:gd name="adj" fmla="val 0"/>
            </a:avLst>
          </a:prstGeom>
          <a:solidFill>
            <a:srgbClr val="00B05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dir="r"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nodeType="after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1000"/>
                                        <p:tgtEl>
                                          <p:spTgt spid="23"/>
                                        </p:tgtEl>
                                      </p:cBhvr>
                                    </p:animEffect>
                                    <p:anim calcmode="lin" valueType="num">
                                      <p:cBhvr>
                                        <p:cTn id="21" dur="1000" fill="hold"/>
                                        <p:tgtEl>
                                          <p:spTgt spid="23"/>
                                        </p:tgtEl>
                                        <p:attrNameLst>
                                          <p:attrName>ppt_x</p:attrName>
                                        </p:attrNameLst>
                                      </p:cBhvr>
                                      <p:tavLst>
                                        <p:tav tm="0">
                                          <p:val>
                                            <p:strVal val="#ppt_x"/>
                                          </p:val>
                                        </p:tav>
                                        <p:tav tm="100000">
                                          <p:val>
                                            <p:strVal val="#ppt_x"/>
                                          </p:val>
                                        </p:tav>
                                      </p:tavLst>
                                    </p:anim>
                                    <p:anim calcmode="lin" valueType="num">
                                      <p:cBhvr>
                                        <p:cTn id="22" dur="1000" fill="hold"/>
                                        <p:tgtEl>
                                          <p:spTgt spid="23"/>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42" presetClass="entr" presetSubtype="0" fill="hold"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1000"/>
                                        <p:tgtEl>
                                          <p:spTgt spid="16"/>
                                        </p:tgtEl>
                                      </p:cBhvr>
                                    </p:animEffect>
                                    <p:anim calcmode="lin" valueType="num">
                                      <p:cBhvr>
                                        <p:cTn id="27" dur="1000" fill="hold"/>
                                        <p:tgtEl>
                                          <p:spTgt spid="16"/>
                                        </p:tgtEl>
                                        <p:attrNameLst>
                                          <p:attrName>ppt_x</p:attrName>
                                        </p:attrNameLst>
                                      </p:cBhvr>
                                      <p:tavLst>
                                        <p:tav tm="0">
                                          <p:val>
                                            <p:strVal val="#ppt_x"/>
                                          </p:val>
                                        </p:tav>
                                        <p:tav tm="100000">
                                          <p:val>
                                            <p:strVal val="#ppt_x"/>
                                          </p:val>
                                        </p:tav>
                                      </p:tavLst>
                                    </p:anim>
                                    <p:anim calcmode="lin" valueType="num">
                                      <p:cBhvr>
                                        <p:cTn id="2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left)">
                                      <p:cBhvr>
                                        <p:cTn id="33" dur="1000"/>
                                        <p:tgtEl>
                                          <p:spTgt spid="2"/>
                                        </p:tgtEl>
                                      </p:cBhvr>
                                    </p:animEffect>
                                  </p:childTnLst>
                                </p:cTn>
                              </p:par>
                            </p:childTnLst>
                          </p:cTn>
                        </p:par>
                        <p:par>
                          <p:cTn id="34" fill="hold">
                            <p:stCondLst>
                              <p:cond delay="1000"/>
                            </p:stCondLst>
                            <p:childTnLst>
                              <p:par>
                                <p:cTn id="35" presetID="22" presetClass="entr" presetSubtype="8"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1000"/>
                                        <p:tgtEl>
                                          <p:spTgt spid="13"/>
                                        </p:tgtEl>
                                      </p:cBhvr>
                                    </p:animEffect>
                                  </p:childTnLst>
                                </p:cTn>
                              </p:par>
                            </p:childTnLst>
                          </p:cTn>
                        </p:par>
                        <p:par>
                          <p:cTn id="38" fill="hold">
                            <p:stCondLst>
                              <p:cond delay="2000"/>
                            </p:stCondLst>
                            <p:childTnLst>
                              <p:par>
                                <p:cTn id="39" presetID="22" presetClass="entr" presetSubtype="8"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1000"/>
                                        <p:tgtEl>
                                          <p:spTgt spid="14"/>
                                        </p:tgtEl>
                                      </p:cBhvr>
                                    </p:animEffect>
                                  </p:childTnLst>
                                </p:cTn>
                              </p:par>
                            </p:childTnLst>
                          </p:cTn>
                        </p:par>
                        <p:par>
                          <p:cTn id="42" fill="hold">
                            <p:stCondLst>
                              <p:cond delay="3000"/>
                            </p:stCondLst>
                            <p:childTnLst>
                              <p:par>
                                <p:cTn id="43" presetID="22" presetClass="entr" presetSubtype="8" fill="hold" grpId="0" nodeType="after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wipe(left)">
                                      <p:cBhvr>
                                        <p:cTn id="45"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P spid="2" grpId="0" animBg="1"/>
      <p:bldP spid="13" grpId="0" animBg="1"/>
      <p:bldP spid="14" grpId="0" animBg="1"/>
      <p:bldP spid="2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表格 21"/>
          <p:cNvGraphicFramePr>
            <a:graphicFrameLocks noGrp="1"/>
          </p:cNvGraphicFramePr>
          <p:nvPr/>
        </p:nvGraphicFramePr>
        <p:xfrm>
          <a:off x="3828591" y="2651708"/>
          <a:ext cx="493452" cy="2244073"/>
        </p:xfrm>
        <a:graphic>
          <a:graphicData uri="http://schemas.openxmlformats.org/drawingml/2006/table">
            <a:tbl>
              <a:tblPr/>
              <a:tblGrid>
                <a:gridCol w="493452"/>
              </a:tblGrid>
              <a:tr h="346905">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27268">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FCCFF"/>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FCCFF"/>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FCCFF"/>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FCCFF"/>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FCCFF"/>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bl>
          </a:graphicData>
        </a:graphic>
      </p:graphicFrame>
      <p:graphicFrame>
        <p:nvGraphicFramePr>
          <p:cNvPr id="58" name="Group 86"/>
          <p:cNvGraphicFramePr>
            <a:graphicFrameLocks noGrp="1"/>
          </p:cNvGraphicFramePr>
          <p:nvPr/>
        </p:nvGraphicFramePr>
        <p:xfrm>
          <a:off x="972314" y="2651708"/>
          <a:ext cx="2854774" cy="2244073"/>
        </p:xfrm>
        <a:graphic>
          <a:graphicData uri="http://schemas.openxmlformats.org/drawingml/2006/table">
            <a:tbl>
              <a:tblPr/>
              <a:tblGrid>
                <a:gridCol w="399524"/>
                <a:gridCol w="399524"/>
                <a:gridCol w="399524"/>
                <a:gridCol w="621463"/>
                <a:gridCol w="640322"/>
                <a:gridCol w="394417"/>
              </a:tblGrid>
              <a:tr h="346905">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800" b="1" i="0" u="none" strike="noStrike" cap="none" normalizeH="0" baseline="-25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18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800" b="1" i="0" u="none" strike="noStrike" cap="none" normalizeH="0" baseline="-25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18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n+1</a:t>
                      </a:r>
                      <a:endPar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n+1</a:t>
                      </a:r>
                      <a:endParaRPr kumimoji="0" lang="zh-CN" altLang="en-US"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zh-CN" altLang="en-US"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27268">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8" name="Rectangle 5"/>
          <p:cNvSpPr>
            <a:spLocks noChangeArrowheads="1"/>
          </p:cNvSpPr>
          <p:nvPr/>
        </p:nvSpPr>
        <p:spPr bwMode="auto">
          <a:xfrm>
            <a:off x="436140" y="1786963"/>
            <a:ext cx="8405818" cy="338554"/>
          </a:xfrm>
          <a:prstGeom prst="rect">
            <a:avLst/>
          </a:prstGeom>
          <a:noFill/>
          <a:ln w="9525" algn="ctr">
            <a:noFill/>
            <a:miter lim="800000"/>
          </a:ln>
          <a:effectLst/>
        </p:spPr>
        <p:txBody>
          <a:bodyPr wrap="square" anchor="ctr">
            <a:spAutoFit/>
          </a:bodyPr>
          <a:lstStyle/>
          <a:p>
            <a:pPr eaLnBrk="0" hangingPunct="0">
              <a:defRPr/>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解</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5</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）根据编码状态表及所采用的触发器的逻辑功能，求电路的输出方程和激励方程</a:t>
            </a:r>
            <a:endPar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Rectangle 4"/>
          <p:cNvSpPr>
            <a:spLocks noChangeArrowheads="1"/>
          </p:cNvSpPr>
          <p:nvPr/>
        </p:nvSpPr>
        <p:spPr bwMode="auto">
          <a:xfrm>
            <a:off x="972314" y="2140757"/>
            <a:ext cx="5285611" cy="369332"/>
          </a:xfrm>
          <a:prstGeom prst="rect">
            <a:avLst/>
          </a:prstGeom>
          <a:noFill/>
          <a:ln w="9525" algn="ctr">
            <a:noFill/>
            <a:miter lim="800000"/>
          </a:ln>
        </p:spPr>
        <p:txBody>
          <a:bodyPr wrap="square" anchor="t">
            <a:spAutoFit/>
          </a:bodyPr>
          <a:lstStyle/>
          <a:p>
            <a:pPr marL="268605" indent="-268605" eaLnBrk="0" hangingPunct="0"/>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② </a:t>
            </a:r>
            <a:r>
              <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列各触发器激励信号和输出信号真值表。 </a:t>
            </a:r>
            <a:endPar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 name="圆角矩形 13"/>
          <p:cNvSpPr/>
          <p:nvPr/>
        </p:nvSpPr>
        <p:spPr>
          <a:xfrm>
            <a:off x="1385354" y="2651708"/>
            <a:ext cx="405345" cy="2244073"/>
          </a:xfrm>
          <a:prstGeom prst="roundRect">
            <a:avLst>
              <a:gd name="adj" fmla="val 0"/>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23"/>
          <p:cNvSpPr/>
          <p:nvPr/>
        </p:nvSpPr>
        <p:spPr>
          <a:xfrm>
            <a:off x="2177758" y="2651708"/>
            <a:ext cx="622591" cy="2244073"/>
          </a:xfrm>
          <a:prstGeom prst="roundRect">
            <a:avLst>
              <a:gd name="adj" fmla="val 0"/>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24"/>
          <p:cNvSpPr/>
          <p:nvPr/>
        </p:nvSpPr>
        <p:spPr>
          <a:xfrm>
            <a:off x="1801727" y="2651708"/>
            <a:ext cx="372221" cy="2244073"/>
          </a:xfrm>
          <a:prstGeom prst="roundRect">
            <a:avLst>
              <a:gd name="adj" fmla="val 0"/>
            </a:avLst>
          </a:prstGeom>
          <a:solidFill>
            <a:srgbClr val="00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88"/>
          <p:cNvGrpSpPr/>
          <p:nvPr/>
        </p:nvGrpSpPr>
        <p:grpSpPr>
          <a:xfrm>
            <a:off x="392432" y="778617"/>
            <a:ext cx="3704049" cy="420971"/>
            <a:chOff x="670560" y="892917"/>
            <a:chExt cx="3704049" cy="420971"/>
          </a:xfrm>
        </p:grpSpPr>
        <p:sp>
          <p:nvSpPr>
            <p:cNvPr id="27" name="矩形 26"/>
            <p:cNvSpPr/>
            <p:nvPr/>
          </p:nvSpPr>
          <p:spPr>
            <a:xfrm>
              <a:off x="1035233" y="913778"/>
              <a:ext cx="3339376"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同步时序逻辑电路设计实例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8"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9" name="组合 117"/>
          <p:cNvGrpSpPr/>
          <p:nvPr/>
        </p:nvGrpSpPr>
        <p:grpSpPr>
          <a:xfrm>
            <a:off x="400513" y="1289896"/>
            <a:ext cx="8623498" cy="374630"/>
            <a:chOff x="369777" y="1347760"/>
            <a:chExt cx="8623498" cy="374630"/>
          </a:xfrm>
        </p:grpSpPr>
        <p:sp>
          <p:nvSpPr>
            <p:cNvPr id="30" name="TextBox 119"/>
            <p:cNvSpPr txBox="1"/>
            <p:nvPr/>
          </p:nvSpPr>
          <p:spPr>
            <a:xfrm>
              <a:off x="723710" y="1350409"/>
              <a:ext cx="8269565" cy="369332"/>
            </a:xfrm>
            <a:prstGeom prst="rect">
              <a:avLst/>
            </a:prstGeom>
            <a:noFill/>
          </p:spPr>
          <p:txBody>
            <a:bodyPr wrap="square" rtlCol="0">
              <a:spAutoFit/>
            </a:bodyPr>
            <a:lstStyle/>
            <a:p>
              <a:r>
                <a:rPr lang="zh-CN" altLang="en-US"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例：</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用</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D</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触发器设计一序列脉冲检测器，要求连续输入</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110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，否则输出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1"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graphicFrame>
        <p:nvGraphicFramePr>
          <p:cNvPr id="32" name="Group 78"/>
          <p:cNvGraphicFramePr>
            <a:graphicFrameLocks noGrp="1"/>
          </p:cNvGraphicFramePr>
          <p:nvPr/>
        </p:nvGraphicFramePr>
        <p:xfrm>
          <a:off x="5854642" y="2657423"/>
          <a:ext cx="2499085" cy="2394546"/>
        </p:xfrm>
        <a:graphic>
          <a:graphicData uri="http://schemas.openxmlformats.org/drawingml/2006/table">
            <a:tbl>
              <a:tblPr/>
              <a:tblGrid>
                <a:gridCol w="459129"/>
                <a:gridCol w="910403"/>
                <a:gridCol w="1129553"/>
              </a:tblGrid>
              <a:tr h="399091">
                <a:tc grid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rgbClr val="CC00CC"/>
                          </a:solidFill>
                          <a:effectLst/>
                          <a:latin typeface="微软雅黑" panose="020B0503020204020204" pitchFamily="34" charset="-122"/>
                          <a:ea typeface="微软雅黑" panose="020B0503020204020204" pitchFamily="34" charset="-122"/>
                          <a:cs typeface="Times New Roman" panose="02020603050405020304" pitchFamily="18" charset="0"/>
                        </a:rPr>
                        <a:t>激 励 表</a:t>
                      </a:r>
                      <a:endParaRPr kumimoji="0" lang="zh-CN" altLang="en-US" sz="1800" b="0" i="0" u="none" strike="noStrike" cap="none" normalizeH="0" baseline="0" dirty="0">
                        <a:ln>
                          <a:noFill/>
                        </a:ln>
                        <a:solidFill>
                          <a:srgbClr val="CC00CC"/>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cPr/>
                </a:tc>
                <a:tc hMerge="1">
                  <a:tcPr/>
                </a:tc>
              </a:tr>
              <a:tr h="39909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err="1">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Q</a:t>
                      </a:r>
                      <a:r>
                        <a:rPr kumimoji="0" lang="en-US" altLang="zh-CN" sz="1800" b="1" i="0" u="none" strike="noStrike" cap="none" normalizeH="0" baseline="30000" dirty="0" err="1">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n</a:t>
                      </a: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Q</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n+1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D</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39909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r>
              <a:tr h="39909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r>
              <a:tr h="39909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r>
              <a:tr h="39909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bl>
          </a:graphicData>
        </a:graphic>
      </p:graphicFrame>
      <p:sp>
        <p:nvSpPr>
          <p:cNvPr id="33" name="圆角矩形 32"/>
          <p:cNvSpPr/>
          <p:nvPr/>
        </p:nvSpPr>
        <p:spPr>
          <a:xfrm>
            <a:off x="2800349" y="2651708"/>
            <a:ext cx="622591" cy="2244073"/>
          </a:xfrm>
          <a:prstGeom prst="roundRect">
            <a:avLst>
              <a:gd name="adj" fmla="val 0"/>
            </a:avLst>
          </a:prstGeom>
          <a:solidFill>
            <a:srgbClr val="00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6" name="表格 35"/>
          <p:cNvGraphicFramePr>
            <a:graphicFrameLocks noGrp="1"/>
          </p:cNvGraphicFramePr>
          <p:nvPr/>
        </p:nvGraphicFramePr>
        <p:xfrm>
          <a:off x="4328117" y="2651708"/>
          <a:ext cx="493452" cy="2244073"/>
        </p:xfrm>
        <a:graphic>
          <a:graphicData uri="http://schemas.openxmlformats.org/drawingml/2006/table">
            <a:tbl>
              <a:tblPr/>
              <a:tblGrid>
                <a:gridCol w="493452"/>
              </a:tblGrid>
              <a:tr h="346905">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r>
              <a:tr h="327268">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CCCCFF"/>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CCCCFF"/>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CCCCFF"/>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CCCCFF"/>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CCCCFF"/>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CC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600">
        <p14:prism dir="d"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1000"/>
                                        <p:tgtEl>
                                          <p:spTgt spid="32"/>
                                        </p:tgtEl>
                                      </p:cBhvr>
                                    </p:animEffect>
                                    <p:anim calcmode="lin" valueType="num">
                                      <p:cBhvr>
                                        <p:cTn id="14" dur="1000" fill="hold"/>
                                        <p:tgtEl>
                                          <p:spTgt spid="32"/>
                                        </p:tgtEl>
                                        <p:attrNameLst>
                                          <p:attrName>ppt_x</p:attrName>
                                        </p:attrNameLst>
                                      </p:cBhvr>
                                      <p:tavLst>
                                        <p:tav tm="0">
                                          <p:val>
                                            <p:strVal val="#ppt_x"/>
                                          </p:val>
                                        </p:tav>
                                        <p:tav tm="100000">
                                          <p:val>
                                            <p:strVal val="#ppt_x"/>
                                          </p:val>
                                        </p:tav>
                                      </p:tavLst>
                                    </p:anim>
                                    <p:anim calcmode="lin" valueType="num">
                                      <p:cBhvr>
                                        <p:cTn id="15" dur="1000" fill="hold"/>
                                        <p:tgtEl>
                                          <p:spTgt spid="32"/>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fade">
                                      <p:cBhvr>
                                        <p:cTn id="19" dur="1000"/>
                                        <p:tgtEl>
                                          <p:spTgt spid="58"/>
                                        </p:tgtEl>
                                      </p:cBhvr>
                                    </p:animEffect>
                                    <p:anim calcmode="lin" valueType="num">
                                      <p:cBhvr>
                                        <p:cTn id="20" dur="1000" fill="hold"/>
                                        <p:tgtEl>
                                          <p:spTgt spid="58"/>
                                        </p:tgtEl>
                                        <p:attrNameLst>
                                          <p:attrName>ppt_x</p:attrName>
                                        </p:attrNameLst>
                                      </p:cBhvr>
                                      <p:tavLst>
                                        <p:tav tm="0">
                                          <p:val>
                                            <p:strVal val="#ppt_x"/>
                                          </p:val>
                                        </p:tav>
                                        <p:tav tm="100000">
                                          <p:val>
                                            <p:strVal val="#ppt_x"/>
                                          </p:val>
                                        </p:tav>
                                      </p:tavLst>
                                    </p:anim>
                                    <p:anim calcmode="lin" valueType="num">
                                      <p:cBhvr>
                                        <p:cTn id="21"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up)">
                                      <p:cBhvr>
                                        <p:cTn id="26" dur="1000"/>
                                        <p:tgtEl>
                                          <p:spTgt spid="14"/>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wipe(up)">
                                      <p:cBhvr>
                                        <p:cTn id="29" dur="1000"/>
                                        <p:tgtEl>
                                          <p:spTgt spid="24"/>
                                        </p:tgtEl>
                                      </p:cBhvr>
                                    </p:animEffect>
                                  </p:childTnLst>
                                </p:cTn>
                              </p:par>
                            </p:childTnLst>
                          </p:cTn>
                        </p:par>
                        <p:par>
                          <p:cTn id="30" fill="hold">
                            <p:stCondLst>
                              <p:cond delay="1000"/>
                            </p:stCondLst>
                            <p:childTnLst>
                              <p:par>
                                <p:cTn id="31" presetID="12" presetClass="entr" presetSubtype="8" fill="hold" nodeType="afterEffect">
                                  <p:stCondLst>
                                    <p:cond delay="0"/>
                                  </p:stCondLst>
                                  <p:childTnLst>
                                    <p:set>
                                      <p:cBhvr>
                                        <p:cTn id="32" dur="1" fill="hold">
                                          <p:stCondLst>
                                            <p:cond delay="0"/>
                                          </p:stCondLst>
                                        </p:cTn>
                                        <p:tgtEl>
                                          <p:spTgt spid="22"/>
                                        </p:tgtEl>
                                        <p:attrNameLst>
                                          <p:attrName>style.visibility</p:attrName>
                                        </p:attrNameLst>
                                      </p:cBhvr>
                                      <p:to>
                                        <p:strVal val="visible"/>
                                      </p:to>
                                    </p:set>
                                    <p:anim calcmode="lin" valueType="num">
                                      <p:cBhvr additive="base">
                                        <p:cTn id="33" dur="1000"/>
                                        <p:tgtEl>
                                          <p:spTgt spid="22"/>
                                        </p:tgtEl>
                                        <p:attrNameLst>
                                          <p:attrName>ppt_x</p:attrName>
                                        </p:attrNameLst>
                                      </p:cBhvr>
                                      <p:tavLst>
                                        <p:tav tm="0">
                                          <p:val>
                                            <p:strVal val="#ppt_x-#ppt_w*1.125000"/>
                                          </p:val>
                                        </p:tav>
                                        <p:tav tm="100000">
                                          <p:val>
                                            <p:strVal val="#ppt_x"/>
                                          </p:val>
                                        </p:tav>
                                      </p:tavLst>
                                    </p:anim>
                                    <p:animEffect transition="in" filter="wipe(right)">
                                      <p:cBhvr>
                                        <p:cTn id="34" dur="10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wipe(up)">
                                      <p:cBhvr>
                                        <p:cTn id="39" dur="1000"/>
                                        <p:tgtEl>
                                          <p:spTgt spid="25"/>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wipe(up)">
                                      <p:cBhvr>
                                        <p:cTn id="42" dur="1000"/>
                                        <p:tgtEl>
                                          <p:spTgt spid="33"/>
                                        </p:tgtEl>
                                      </p:cBhvr>
                                    </p:animEffect>
                                  </p:childTnLst>
                                </p:cTn>
                              </p:par>
                            </p:childTnLst>
                          </p:cTn>
                        </p:par>
                        <p:par>
                          <p:cTn id="43" fill="hold">
                            <p:stCondLst>
                              <p:cond delay="1000"/>
                            </p:stCondLst>
                            <p:childTnLst>
                              <p:par>
                                <p:cTn id="44" presetID="12" presetClass="entr" presetSubtype="8" fill="hold" nodeType="afterEffect">
                                  <p:stCondLst>
                                    <p:cond delay="0"/>
                                  </p:stCondLst>
                                  <p:childTnLst>
                                    <p:set>
                                      <p:cBhvr>
                                        <p:cTn id="45" dur="1" fill="hold">
                                          <p:stCondLst>
                                            <p:cond delay="0"/>
                                          </p:stCondLst>
                                        </p:cTn>
                                        <p:tgtEl>
                                          <p:spTgt spid="36"/>
                                        </p:tgtEl>
                                        <p:attrNameLst>
                                          <p:attrName>style.visibility</p:attrName>
                                        </p:attrNameLst>
                                      </p:cBhvr>
                                      <p:to>
                                        <p:strVal val="visible"/>
                                      </p:to>
                                    </p:set>
                                    <p:anim calcmode="lin" valueType="num">
                                      <p:cBhvr additive="base">
                                        <p:cTn id="46" dur="1000"/>
                                        <p:tgtEl>
                                          <p:spTgt spid="36"/>
                                        </p:tgtEl>
                                        <p:attrNameLst>
                                          <p:attrName>ppt_x</p:attrName>
                                        </p:attrNameLst>
                                      </p:cBhvr>
                                      <p:tavLst>
                                        <p:tav tm="0">
                                          <p:val>
                                            <p:strVal val="#ppt_x-#ppt_w*1.125000"/>
                                          </p:val>
                                        </p:tav>
                                        <p:tav tm="100000">
                                          <p:val>
                                            <p:strVal val="#ppt_x"/>
                                          </p:val>
                                        </p:tav>
                                      </p:tavLst>
                                    </p:anim>
                                    <p:animEffect transition="in" filter="wipe(right)">
                                      <p:cBhvr>
                                        <p:cTn id="47"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4" grpId="0" animBg="1"/>
      <p:bldP spid="24" grpId="0" animBg="1"/>
      <p:bldP spid="25" grpId="0" animBg="1"/>
      <p:bldP spid="3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表格 21"/>
          <p:cNvGraphicFramePr>
            <a:graphicFrameLocks noGrp="1"/>
          </p:cNvGraphicFramePr>
          <p:nvPr/>
        </p:nvGraphicFramePr>
        <p:xfrm>
          <a:off x="3828591" y="2651708"/>
          <a:ext cx="493452" cy="2244073"/>
        </p:xfrm>
        <a:graphic>
          <a:graphicData uri="http://schemas.openxmlformats.org/drawingml/2006/table">
            <a:tbl>
              <a:tblPr/>
              <a:tblGrid>
                <a:gridCol w="493452"/>
              </a:tblGrid>
              <a:tr h="346905">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27268">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58" name="Group 86"/>
          <p:cNvGraphicFramePr>
            <a:graphicFrameLocks noGrp="1"/>
          </p:cNvGraphicFramePr>
          <p:nvPr/>
        </p:nvGraphicFramePr>
        <p:xfrm>
          <a:off x="972314" y="2651708"/>
          <a:ext cx="2854774" cy="2244073"/>
        </p:xfrm>
        <a:graphic>
          <a:graphicData uri="http://schemas.openxmlformats.org/drawingml/2006/table">
            <a:tbl>
              <a:tblPr/>
              <a:tblGrid>
                <a:gridCol w="399524"/>
                <a:gridCol w="399524"/>
                <a:gridCol w="399524"/>
                <a:gridCol w="621463"/>
                <a:gridCol w="640322"/>
                <a:gridCol w="394417"/>
              </a:tblGrid>
              <a:tr h="346905">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800" b="1" i="0" u="none" strike="noStrike" cap="none" normalizeH="0" baseline="-25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18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800" b="1" i="0" u="none" strike="noStrike" cap="none" normalizeH="0" baseline="-25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18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n+1</a:t>
                      </a:r>
                      <a:endPar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n+1</a:t>
                      </a:r>
                      <a:endParaRPr kumimoji="0" lang="zh-CN" altLang="en-US"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zh-CN" altLang="en-US"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27268">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18" name="Rectangle 5"/>
          <p:cNvSpPr>
            <a:spLocks noChangeArrowheads="1"/>
          </p:cNvSpPr>
          <p:nvPr/>
        </p:nvSpPr>
        <p:spPr bwMode="auto">
          <a:xfrm>
            <a:off x="436140" y="1786963"/>
            <a:ext cx="8405818" cy="338554"/>
          </a:xfrm>
          <a:prstGeom prst="rect">
            <a:avLst/>
          </a:prstGeom>
          <a:noFill/>
          <a:ln w="9525" algn="ctr">
            <a:noFill/>
            <a:miter lim="800000"/>
          </a:ln>
          <a:effectLst/>
        </p:spPr>
        <p:txBody>
          <a:bodyPr wrap="square" anchor="ctr">
            <a:spAutoFit/>
          </a:bodyPr>
          <a:lstStyle/>
          <a:p>
            <a:pPr eaLnBrk="0" hangingPunct="0">
              <a:defRPr/>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解</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5</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）根据编码状态表及所采用的触发器的逻辑功能，求电路的输出方程和激励方程</a:t>
            </a:r>
            <a:endPar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 name="圆角矩形 23"/>
          <p:cNvSpPr/>
          <p:nvPr/>
        </p:nvSpPr>
        <p:spPr>
          <a:xfrm>
            <a:off x="966240" y="2651708"/>
            <a:ext cx="1205460" cy="2244073"/>
          </a:xfrm>
          <a:prstGeom prst="roundRect">
            <a:avLst>
              <a:gd name="adj" fmla="val 0"/>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88"/>
          <p:cNvGrpSpPr/>
          <p:nvPr/>
        </p:nvGrpSpPr>
        <p:grpSpPr>
          <a:xfrm>
            <a:off x="392432" y="778617"/>
            <a:ext cx="3704049" cy="420971"/>
            <a:chOff x="670560" y="892917"/>
            <a:chExt cx="3704049" cy="420971"/>
          </a:xfrm>
        </p:grpSpPr>
        <p:sp>
          <p:nvSpPr>
            <p:cNvPr id="27" name="矩形 26"/>
            <p:cNvSpPr/>
            <p:nvPr/>
          </p:nvSpPr>
          <p:spPr>
            <a:xfrm>
              <a:off x="1035233" y="913778"/>
              <a:ext cx="3339376"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同步时序逻辑电路设计实例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8"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9" name="组合 117"/>
          <p:cNvGrpSpPr/>
          <p:nvPr/>
        </p:nvGrpSpPr>
        <p:grpSpPr>
          <a:xfrm>
            <a:off x="400513" y="1289896"/>
            <a:ext cx="8623498" cy="374630"/>
            <a:chOff x="369777" y="1347760"/>
            <a:chExt cx="8623498" cy="374630"/>
          </a:xfrm>
        </p:grpSpPr>
        <p:sp>
          <p:nvSpPr>
            <p:cNvPr id="30" name="TextBox 119"/>
            <p:cNvSpPr txBox="1"/>
            <p:nvPr/>
          </p:nvSpPr>
          <p:spPr>
            <a:xfrm>
              <a:off x="723710" y="1350409"/>
              <a:ext cx="8269565" cy="369332"/>
            </a:xfrm>
            <a:prstGeom prst="rect">
              <a:avLst/>
            </a:prstGeom>
            <a:noFill/>
          </p:spPr>
          <p:txBody>
            <a:bodyPr wrap="square" rtlCol="0">
              <a:spAutoFit/>
            </a:bodyPr>
            <a:lstStyle/>
            <a:p>
              <a:r>
                <a:rPr lang="zh-CN" altLang="en-US"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例：</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用</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D</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触发器设计一序列脉冲检测器，要求连续输入</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110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，否则输出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1"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graphicFrame>
        <p:nvGraphicFramePr>
          <p:cNvPr id="32" name="Group 78"/>
          <p:cNvGraphicFramePr>
            <a:graphicFrameLocks noGrp="1"/>
          </p:cNvGraphicFramePr>
          <p:nvPr/>
        </p:nvGraphicFramePr>
        <p:xfrm>
          <a:off x="5854642" y="2657423"/>
          <a:ext cx="2499085" cy="2394546"/>
        </p:xfrm>
        <a:graphic>
          <a:graphicData uri="http://schemas.openxmlformats.org/drawingml/2006/table">
            <a:tbl>
              <a:tblPr/>
              <a:tblGrid>
                <a:gridCol w="459129"/>
                <a:gridCol w="910403"/>
                <a:gridCol w="1129553"/>
              </a:tblGrid>
              <a:tr h="399091">
                <a:tc grid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dirty="0">
                          <a:ln>
                            <a:noFill/>
                          </a:ln>
                          <a:solidFill>
                            <a:srgbClr val="CC00CC"/>
                          </a:solidFill>
                          <a:effectLst/>
                          <a:latin typeface="微软雅黑" panose="020B0503020204020204" pitchFamily="34" charset="-122"/>
                          <a:ea typeface="微软雅黑" panose="020B0503020204020204" pitchFamily="34" charset="-122"/>
                          <a:cs typeface="Times New Roman" panose="02020603050405020304" pitchFamily="18" charset="0"/>
                        </a:rPr>
                        <a:t>激 励 表</a:t>
                      </a:r>
                      <a:endParaRPr kumimoji="0" lang="zh-CN" altLang="en-US" sz="1800" b="0" i="0" u="none" strike="noStrike" cap="none" normalizeH="0" baseline="0" dirty="0">
                        <a:ln>
                          <a:noFill/>
                        </a:ln>
                        <a:solidFill>
                          <a:srgbClr val="CC00CC"/>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cPr/>
                </a:tc>
                <a:tc hMerge="1">
                  <a:tcPr/>
                </a:tc>
              </a:tr>
              <a:tr h="39909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err="1">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Q</a:t>
                      </a:r>
                      <a:r>
                        <a:rPr kumimoji="0" lang="en-US" altLang="zh-CN" sz="1800" b="1" i="0" u="none" strike="noStrike" cap="none" normalizeH="0" baseline="30000" dirty="0" err="1">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n</a:t>
                      </a: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Q</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n+1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D</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39909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r>
              <a:tr h="39909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r>
              <a:tr h="39909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r>
              <a:tr h="39909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r>
            </a:tbl>
          </a:graphicData>
        </a:graphic>
      </p:graphicFrame>
      <p:graphicFrame>
        <p:nvGraphicFramePr>
          <p:cNvPr id="36" name="表格 35"/>
          <p:cNvGraphicFramePr>
            <a:graphicFrameLocks noGrp="1"/>
          </p:cNvGraphicFramePr>
          <p:nvPr/>
        </p:nvGraphicFramePr>
        <p:xfrm>
          <a:off x="4328117" y="2651708"/>
          <a:ext cx="493452" cy="2244073"/>
        </p:xfrm>
        <a:graphic>
          <a:graphicData uri="http://schemas.openxmlformats.org/drawingml/2006/table">
            <a:tbl>
              <a:tblPr/>
              <a:tblGrid>
                <a:gridCol w="493452"/>
              </a:tblGrid>
              <a:tr h="346905">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27268">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3" name="圆角矩形 32"/>
          <p:cNvSpPr/>
          <p:nvPr/>
        </p:nvSpPr>
        <p:spPr>
          <a:xfrm>
            <a:off x="3383280" y="2651708"/>
            <a:ext cx="1438289" cy="2244073"/>
          </a:xfrm>
          <a:prstGeom prst="roundRect">
            <a:avLst>
              <a:gd name="adj" fmla="val 0"/>
            </a:avLst>
          </a:prstGeom>
          <a:solidFill>
            <a:srgbClr val="00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ctangle 4"/>
          <p:cNvSpPr>
            <a:spLocks noChangeArrowheads="1"/>
          </p:cNvSpPr>
          <p:nvPr/>
        </p:nvSpPr>
        <p:spPr bwMode="auto">
          <a:xfrm>
            <a:off x="972314" y="2140757"/>
            <a:ext cx="5285611" cy="369332"/>
          </a:xfrm>
          <a:prstGeom prst="rect">
            <a:avLst/>
          </a:prstGeom>
          <a:noFill/>
          <a:ln w="9525" algn="ctr">
            <a:noFill/>
            <a:miter lim="800000"/>
          </a:ln>
        </p:spPr>
        <p:txBody>
          <a:bodyPr wrap="square" anchor="t">
            <a:spAutoFit/>
          </a:bodyPr>
          <a:lstStyle/>
          <a:p>
            <a:pPr marL="268605" indent="-268605" eaLnBrk="0" hangingPunct="0"/>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② </a:t>
            </a:r>
            <a:r>
              <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列各触发器激励信号和输出信号真值表。 </a:t>
            </a:r>
            <a:endPar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up)">
                                      <p:cBhvr>
                                        <p:cTn id="7" dur="1000"/>
                                        <p:tgtEl>
                                          <p:spTgt spid="3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up)">
                                      <p:cBhvr>
                                        <p:cTn id="10"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5"/>
          <p:cNvSpPr>
            <a:spLocks noChangeArrowheads="1"/>
          </p:cNvSpPr>
          <p:nvPr/>
        </p:nvSpPr>
        <p:spPr bwMode="auto">
          <a:xfrm>
            <a:off x="436140" y="1786963"/>
            <a:ext cx="8405818" cy="338554"/>
          </a:xfrm>
          <a:prstGeom prst="rect">
            <a:avLst/>
          </a:prstGeom>
          <a:noFill/>
          <a:ln w="9525" algn="ctr">
            <a:noFill/>
            <a:miter lim="800000"/>
          </a:ln>
          <a:effectLst/>
        </p:spPr>
        <p:txBody>
          <a:bodyPr wrap="square" anchor="ctr">
            <a:spAutoFit/>
          </a:bodyPr>
          <a:lstStyle/>
          <a:p>
            <a:pPr eaLnBrk="0" hangingPunct="0">
              <a:defRPr/>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解</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5</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）根据编码状态表及所采用的触发器的逻辑功能，求电路的输出方程和激励方程</a:t>
            </a:r>
            <a:endPar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Rectangle 4"/>
          <p:cNvSpPr>
            <a:spLocks noChangeArrowheads="1"/>
          </p:cNvSpPr>
          <p:nvPr/>
        </p:nvSpPr>
        <p:spPr bwMode="auto">
          <a:xfrm>
            <a:off x="966240" y="2182236"/>
            <a:ext cx="7507388" cy="369332"/>
          </a:xfrm>
          <a:prstGeom prst="rect">
            <a:avLst/>
          </a:prstGeom>
          <a:noFill/>
          <a:ln w="9525" algn="ctr">
            <a:noFill/>
            <a:miter lim="800000"/>
          </a:ln>
        </p:spPr>
        <p:txBody>
          <a:bodyPr wrap="square" anchor="t">
            <a:spAutoFit/>
          </a:bodyPr>
          <a:lstStyle/>
          <a:p>
            <a:pPr marL="268605" indent="-268605" eaLnBrk="0" hangingPunct="0"/>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③ </a:t>
            </a:r>
            <a:r>
              <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求各触发器的驱动方程及电路的输出方程。 </a:t>
            </a:r>
            <a:endPar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28" name="组合 88"/>
          <p:cNvGrpSpPr/>
          <p:nvPr/>
        </p:nvGrpSpPr>
        <p:grpSpPr>
          <a:xfrm>
            <a:off x="392432" y="778617"/>
            <a:ext cx="3704049" cy="420971"/>
            <a:chOff x="670560" y="892917"/>
            <a:chExt cx="3704049" cy="420971"/>
          </a:xfrm>
        </p:grpSpPr>
        <p:sp>
          <p:nvSpPr>
            <p:cNvPr id="29" name="矩形 28"/>
            <p:cNvSpPr/>
            <p:nvPr/>
          </p:nvSpPr>
          <p:spPr>
            <a:xfrm>
              <a:off x="1035233" y="913778"/>
              <a:ext cx="3339376"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同步时序逻辑电路设计实例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0"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31" name="组合 117"/>
          <p:cNvGrpSpPr/>
          <p:nvPr/>
        </p:nvGrpSpPr>
        <p:grpSpPr>
          <a:xfrm>
            <a:off x="400513" y="1289896"/>
            <a:ext cx="8623498" cy="374630"/>
            <a:chOff x="369777" y="1347760"/>
            <a:chExt cx="8623498" cy="374630"/>
          </a:xfrm>
        </p:grpSpPr>
        <p:sp>
          <p:nvSpPr>
            <p:cNvPr id="32" name="TextBox 119"/>
            <p:cNvSpPr txBox="1"/>
            <p:nvPr/>
          </p:nvSpPr>
          <p:spPr>
            <a:xfrm>
              <a:off x="723710" y="1350409"/>
              <a:ext cx="8269565" cy="369332"/>
            </a:xfrm>
            <a:prstGeom prst="rect">
              <a:avLst/>
            </a:prstGeom>
            <a:noFill/>
          </p:spPr>
          <p:txBody>
            <a:bodyPr wrap="square" rtlCol="0">
              <a:spAutoFit/>
            </a:bodyPr>
            <a:lstStyle/>
            <a:p>
              <a:r>
                <a:rPr lang="zh-CN" altLang="en-US"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例：</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用</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D</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触发器设计一序列脉冲检测器，要求连续输入</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110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，否则输出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3"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graphicFrame>
        <p:nvGraphicFramePr>
          <p:cNvPr id="51" name="表格 50"/>
          <p:cNvGraphicFramePr>
            <a:graphicFrameLocks noGrp="1"/>
          </p:cNvGraphicFramePr>
          <p:nvPr/>
        </p:nvGraphicFramePr>
        <p:xfrm>
          <a:off x="3828591" y="2651708"/>
          <a:ext cx="493452" cy="2244073"/>
        </p:xfrm>
        <a:graphic>
          <a:graphicData uri="http://schemas.openxmlformats.org/drawingml/2006/table">
            <a:tbl>
              <a:tblPr/>
              <a:tblGrid>
                <a:gridCol w="493452"/>
              </a:tblGrid>
              <a:tr h="346905">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27268">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52" name="Group 86"/>
          <p:cNvGraphicFramePr>
            <a:graphicFrameLocks noGrp="1"/>
          </p:cNvGraphicFramePr>
          <p:nvPr/>
        </p:nvGraphicFramePr>
        <p:xfrm>
          <a:off x="972314" y="2651708"/>
          <a:ext cx="2854774" cy="2244073"/>
        </p:xfrm>
        <a:graphic>
          <a:graphicData uri="http://schemas.openxmlformats.org/drawingml/2006/table">
            <a:tbl>
              <a:tblPr/>
              <a:tblGrid>
                <a:gridCol w="399524"/>
                <a:gridCol w="399524"/>
                <a:gridCol w="399524"/>
                <a:gridCol w="621463"/>
                <a:gridCol w="640322"/>
                <a:gridCol w="394417"/>
              </a:tblGrid>
              <a:tr h="346905">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800" b="1" i="0" u="none" strike="noStrike" cap="none" normalizeH="0" baseline="-25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18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800" b="1" i="0" u="none" strike="noStrike" cap="none" normalizeH="0" baseline="-25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18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zh-CN" altLang="en-US"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n+1</a:t>
                      </a:r>
                      <a:endPar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n+1</a:t>
                      </a:r>
                      <a:endParaRPr kumimoji="0" lang="zh-CN" altLang="en-US"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zh-CN" altLang="en-US"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27268">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53" name="圆角矩形 52"/>
          <p:cNvSpPr/>
          <p:nvPr/>
        </p:nvSpPr>
        <p:spPr>
          <a:xfrm>
            <a:off x="966240" y="2651708"/>
            <a:ext cx="1205460" cy="2244073"/>
          </a:xfrm>
          <a:prstGeom prst="roundRect">
            <a:avLst>
              <a:gd name="adj" fmla="val 0"/>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4" name="表格 53"/>
          <p:cNvGraphicFramePr>
            <a:graphicFrameLocks noGrp="1"/>
          </p:cNvGraphicFramePr>
          <p:nvPr/>
        </p:nvGraphicFramePr>
        <p:xfrm>
          <a:off x="4328117" y="2651708"/>
          <a:ext cx="493452" cy="2244073"/>
        </p:xfrm>
        <a:graphic>
          <a:graphicData uri="http://schemas.openxmlformats.org/drawingml/2006/table">
            <a:tbl>
              <a:tblPr/>
              <a:tblGrid>
                <a:gridCol w="493452"/>
              </a:tblGrid>
              <a:tr h="346905">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25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27268">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r>
              <a:tr h="313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050925" algn="l"/>
                        </a:tabLst>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55" name="圆角矩形 54"/>
          <p:cNvSpPr/>
          <p:nvPr/>
        </p:nvSpPr>
        <p:spPr>
          <a:xfrm>
            <a:off x="3383280" y="2651708"/>
            <a:ext cx="1438289" cy="2244073"/>
          </a:xfrm>
          <a:prstGeom prst="roundRect">
            <a:avLst>
              <a:gd name="adj" fmla="val 0"/>
            </a:avLst>
          </a:prstGeom>
          <a:solidFill>
            <a:srgbClr val="00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cstate="print"/>
          <a:stretch>
            <a:fillRect/>
          </a:stretch>
        </p:blipFill>
        <p:spPr>
          <a:xfrm>
            <a:off x="5038668" y="2561069"/>
            <a:ext cx="3803290" cy="2307143"/>
          </a:xfrm>
          <a:prstGeom prst="rect">
            <a:avLst/>
          </a:prstGeom>
        </p:spPr>
      </p:pic>
      <p:sp>
        <p:nvSpPr>
          <p:cNvPr id="6" name="Rectangle 183"/>
          <p:cNvSpPr>
            <a:spLocks noChangeArrowheads="1"/>
          </p:cNvSpPr>
          <p:nvPr/>
        </p:nvSpPr>
        <p:spPr bwMode="auto">
          <a:xfrm>
            <a:off x="1534428" y="5039793"/>
            <a:ext cx="1359382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pSp>
        <p:nvGrpSpPr>
          <p:cNvPr id="14" name="组合 13"/>
          <p:cNvGrpSpPr/>
          <p:nvPr/>
        </p:nvGrpSpPr>
        <p:grpSpPr>
          <a:xfrm>
            <a:off x="5149635" y="4986420"/>
            <a:ext cx="3436214" cy="478871"/>
            <a:chOff x="5149635" y="4986420"/>
            <a:chExt cx="3436214" cy="478871"/>
          </a:xfrm>
        </p:grpSpPr>
        <p:sp>
          <p:nvSpPr>
            <p:cNvPr id="27" name="圆角矩形 26"/>
            <p:cNvSpPr/>
            <p:nvPr/>
          </p:nvSpPr>
          <p:spPr>
            <a:xfrm>
              <a:off x="5149635" y="4986420"/>
              <a:ext cx="3436214" cy="478871"/>
            </a:xfrm>
            <a:prstGeom prst="roundRect">
              <a:avLst>
                <a:gd name="adj" fmla="val 11715"/>
              </a:avLst>
            </a:prstGeom>
            <a:solidFill>
              <a:srgbClr val="CCFFFF"/>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endParaRPr lang="zh-CN" altLang="en-US" sz="1600" dirty="0">
                <a:solidFill>
                  <a:srgbClr val="FF0000"/>
                </a:solidFill>
                <a:latin typeface="微软雅黑" panose="020B0503020204020204" pitchFamily="34" charset="-122"/>
                <a:ea typeface="微软雅黑" panose="020B0503020204020204" pitchFamily="34" charset="-122"/>
              </a:endParaRPr>
            </a:p>
          </p:txBody>
        </p:sp>
        <p:graphicFrame>
          <p:nvGraphicFramePr>
            <p:cNvPr id="7" name="对象 6"/>
            <p:cNvGraphicFramePr>
              <a:graphicFrameLocks noChangeAspect="1"/>
            </p:cNvGraphicFramePr>
            <p:nvPr/>
          </p:nvGraphicFramePr>
          <p:xfrm>
            <a:off x="5298707" y="5039794"/>
            <a:ext cx="813913" cy="360000"/>
          </p:xfrm>
          <a:graphic>
            <a:graphicData uri="http://schemas.openxmlformats.org/presentationml/2006/ole">
              <mc:AlternateContent xmlns:mc="http://schemas.openxmlformats.org/markup-compatibility/2006">
                <mc:Choice xmlns:v="urn:schemas-microsoft-com:vml" Requires="v">
                  <p:oleObj spid="_x0000_s11299" name="公式" r:id="rId4" imgW="11887200" imgH="5181600" progId="Equation.3">
                    <p:embed/>
                  </p:oleObj>
                </mc:Choice>
                <mc:Fallback>
                  <p:oleObj name="公式" r:id="rId4" imgW="11887200" imgH="5181600" progId="Equation.3">
                    <p:embed/>
                    <p:pic>
                      <p:nvPicPr>
                        <p:cNvPr id="0"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8707" y="5039794"/>
                          <a:ext cx="813913" cy="360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nvGraphicFramePr>
          <p:xfrm>
            <a:off x="6316980" y="5039794"/>
            <a:ext cx="825709" cy="333181"/>
          </p:xfrm>
          <a:graphic>
            <a:graphicData uri="http://schemas.openxmlformats.org/presentationml/2006/ole">
              <mc:AlternateContent xmlns:mc="http://schemas.openxmlformats.org/markup-compatibility/2006">
                <mc:Choice xmlns:v="urn:schemas-microsoft-com:vml" Requires="v">
                  <p:oleObj spid="_x0000_s11300" name="公式" r:id="rId6" imgW="13106400" imgH="5181600" progId="Equation.3">
                    <p:embed/>
                  </p:oleObj>
                </mc:Choice>
                <mc:Fallback>
                  <p:oleObj name="公式" r:id="rId6" imgW="13106400" imgH="5181600" progId="Equation.3">
                    <p:embed/>
                    <p:pic>
                      <p:nvPicPr>
                        <p:cNvPr id="0" name="对象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16980" y="5039794"/>
                          <a:ext cx="825709" cy="3331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nvGraphicFramePr>
          <p:xfrm>
            <a:off x="7509088" y="5079190"/>
            <a:ext cx="661017" cy="293785"/>
          </p:xfrm>
          <a:graphic>
            <a:graphicData uri="http://schemas.openxmlformats.org/presentationml/2006/ole">
              <mc:AlternateContent xmlns:mc="http://schemas.openxmlformats.org/markup-compatibility/2006">
                <mc:Choice xmlns:v="urn:schemas-microsoft-com:vml" Requires="v">
                  <p:oleObj spid="_x0000_s11301" name="公式" r:id="rId8" imgW="10363200" imgH="4572000" progId="Equation.3">
                    <p:embed/>
                  </p:oleObj>
                </mc:Choice>
                <mc:Fallback>
                  <p:oleObj name="公式" r:id="rId8" imgW="10363200" imgH="4572000" progId="Equation.3">
                    <p:embed/>
                    <p:pic>
                      <p:nvPicPr>
                        <p:cNvPr id="0" name="对象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09088" y="5079190"/>
                          <a:ext cx="661017" cy="2937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1400">
        <p14:doors/>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1000"/>
                                        <p:tgtEl>
                                          <p:spTgt spid="14"/>
                                        </p:tgtEl>
                                      </p:cBhvr>
                                    </p:animEffect>
                                    <p:anim calcmode="lin" valueType="num">
                                      <p:cBhvr>
                                        <p:cTn id="21" dur="1000" fill="hold"/>
                                        <p:tgtEl>
                                          <p:spTgt spid="14"/>
                                        </p:tgtEl>
                                        <p:attrNameLst>
                                          <p:attrName>ppt_x</p:attrName>
                                        </p:attrNameLst>
                                      </p:cBhvr>
                                      <p:tavLst>
                                        <p:tav tm="0">
                                          <p:val>
                                            <p:strVal val="#ppt_x"/>
                                          </p:val>
                                        </p:tav>
                                        <p:tav tm="100000">
                                          <p:val>
                                            <p:strVal val="#ppt_x"/>
                                          </p:val>
                                        </p:tav>
                                      </p:tavLst>
                                    </p:anim>
                                    <p:anim calcmode="lin" valueType="num">
                                      <p:cBhvr>
                                        <p:cTn id="22"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5"/>
          <p:cNvSpPr>
            <a:spLocks noChangeArrowheads="1"/>
          </p:cNvSpPr>
          <p:nvPr/>
        </p:nvSpPr>
        <p:spPr bwMode="auto">
          <a:xfrm>
            <a:off x="415753" y="1766757"/>
            <a:ext cx="8405818" cy="338554"/>
          </a:xfrm>
          <a:prstGeom prst="rect">
            <a:avLst/>
          </a:prstGeom>
          <a:noFill/>
          <a:ln w="9525" algn="ctr">
            <a:noFill/>
            <a:miter lim="800000"/>
          </a:ln>
          <a:effectLst/>
        </p:spPr>
        <p:txBody>
          <a:bodyPr wrap="square" anchor="ctr">
            <a:spAutoFit/>
          </a:bodyPr>
          <a:lstStyle/>
          <a:p>
            <a:pPr eaLnBrk="0" hangingPunct="0">
              <a:defRPr/>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解</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endPar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9" name="组合 88"/>
          <p:cNvGrpSpPr/>
          <p:nvPr/>
        </p:nvGrpSpPr>
        <p:grpSpPr>
          <a:xfrm>
            <a:off x="392432" y="778617"/>
            <a:ext cx="3704049" cy="420971"/>
            <a:chOff x="670560" y="892917"/>
            <a:chExt cx="3704049" cy="420971"/>
          </a:xfrm>
        </p:grpSpPr>
        <p:sp>
          <p:nvSpPr>
            <p:cNvPr id="20" name="矩形 19"/>
            <p:cNvSpPr/>
            <p:nvPr/>
          </p:nvSpPr>
          <p:spPr>
            <a:xfrm>
              <a:off x="1035233" y="913778"/>
              <a:ext cx="3339376"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同步时序逻辑电路设计实例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2" name="组合 117"/>
          <p:cNvGrpSpPr/>
          <p:nvPr/>
        </p:nvGrpSpPr>
        <p:grpSpPr>
          <a:xfrm>
            <a:off x="400513" y="1289896"/>
            <a:ext cx="8623498" cy="374630"/>
            <a:chOff x="369777" y="1347760"/>
            <a:chExt cx="8623498" cy="374630"/>
          </a:xfrm>
        </p:grpSpPr>
        <p:sp>
          <p:nvSpPr>
            <p:cNvPr id="23" name="TextBox 119"/>
            <p:cNvSpPr txBox="1"/>
            <p:nvPr/>
          </p:nvSpPr>
          <p:spPr>
            <a:xfrm>
              <a:off x="723710" y="1350409"/>
              <a:ext cx="8269565" cy="369332"/>
            </a:xfrm>
            <a:prstGeom prst="rect">
              <a:avLst/>
            </a:prstGeom>
            <a:noFill/>
          </p:spPr>
          <p:txBody>
            <a:bodyPr wrap="square" rtlCol="0">
              <a:spAutoFit/>
            </a:bodyPr>
            <a:lstStyle/>
            <a:p>
              <a:r>
                <a:rPr lang="zh-CN" altLang="en-US"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例：</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用</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D</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触发器设计一序列脉冲检测器，要求连续输入</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110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，否则输出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4"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sp>
        <p:nvSpPr>
          <p:cNvPr id="2" name="矩形 1"/>
          <p:cNvSpPr/>
          <p:nvPr/>
        </p:nvSpPr>
        <p:spPr>
          <a:xfrm>
            <a:off x="774182" y="1743599"/>
            <a:ext cx="3531736" cy="369332"/>
          </a:xfrm>
          <a:prstGeom prst="rect">
            <a:avLst/>
          </a:prstGeom>
        </p:spPr>
        <p:txBody>
          <a:bodyPr wrap="none">
            <a:spAutoFit/>
          </a:bodyPr>
          <a:lstStyle/>
          <a:p>
            <a:pPr eaLnBrk="0" hangingPunct="0">
              <a:defRPr/>
            </a:pPr>
            <a:r>
              <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6</a:t>
            </a:r>
            <a:r>
              <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）画逻辑电路图并检查自启动</a:t>
            </a:r>
            <a:endPar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6" name="组合 25"/>
          <p:cNvGrpSpPr/>
          <p:nvPr/>
        </p:nvGrpSpPr>
        <p:grpSpPr>
          <a:xfrm>
            <a:off x="1445394" y="2271151"/>
            <a:ext cx="3436214" cy="478871"/>
            <a:chOff x="5149635" y="4986420"/>
            <a:chExt cx="3436214" cy="478871"/>
          </a:xfrm>
        </p:grpSpPr>
        <p:sp>
          <p:nvSpPr>
            <p:cNvPr id="27" name="圆角矩形 26"/>
            <p:cNvSpPr/>
            <p:nvPr/>
          </p:nvSpPr>
          <p:spPr>
            <a:xfrm>
              <a:off x="5149635" y="4986420"/>
              <a:ext cx="3436214" cy="478871"/>
            </a:xfrm>
            <a:prstGeom prst="roundRect">
              <a:avLst>
                <a:gd name="adj" fmla="val 11715"/>
              </a:avLst>
            </a:prstGeom>
            <a:solidFill>
              <a:srgbClr val="CCFFFF"/>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endParaRPr lang="zh-CN" altLang="en-US" sz="1600" dirty="0">
                <a:solidFill>
                  <a:srgbClr val="FF0000"/>
                </a:solidFill>
                <a:latin typeface="微软雅黑" panose="020B0503020204020204" pitchFamily="34" charset="-122"/>
                <a:ea typeface="微软雅黑" panose="020B0503020204020204" pitchFamily="34" charset="-122"/>
              </a:endParaRPr>
            </a:p>
          </p:txBody>
        </p:sp>
        <p:graphicFrame>
          <p:nvGraphicFramePr>
            <p:cNvPr id="28" name="对象 27"/>
            <p:cNvGraphicFramePr>
              <a:graphicFrameLocks noChangeAspect="1"/>
            </p:cNvGraphicFramePr>
            <p:nvPr/>
          </p:nvGraphicFramePr>
          <p:xfrm>
            <a:off x="5298707" y="5039794"/>
            <a:ext cx="813913" cy="360000"/>
          </p:xfrm>
          <a:graphic>
            <a:graphicData uri="http://schemas.openxmlformats.org/presentationml/2006/ole">
              <mc:AlternateContent xmlns:mc="http://schemas.openxmlformats.org/markup-compatibility/2006">
                <mc:Choice xmlns:v="urn:schemas-microsoft-com:vml" Requires="v">
                  <p:oleObj spid="_x0000_s12334" name="公式" r:id="rId3" imgW="494665" imgH="215900" progId="Equation.3">
                    <p:embed/>
                  </p:oleObj>
                </mc:Choice>
                <mc:Fallback>
                  <p:oleObj name="公式" r:id="rId3" imgW="494665" imgH="215900" progId="Equation.3">
                    <p:embed/>
                    <p:pic>
                      <p:nvPicPr>
                        <p:cNvPr id="0" name="对象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8707" y="5039794"/>
                          <a:ext cx="813913" cy="360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对象 28"/>
            <p:cNvGraphicFramePr>
              <a:graphicFrameLocks noChangeAspect="1"/>
            </p:cNvGraphicFramePr>
            <p:nvPr/>
          </p:nvGraphicFramePr>
          <p:xfrm>
            <a:off x="6316980" y="5039794"/>
            <a:ext cx="825709" cy="333181"/>
          </p:xfrm>
          <a:graphic>
            <a:graphicData uri="http://schemas.openxmlformats.org/presentationml/2006/ole">
              <mc:AlternateContent xmlns:mc="http://schemas.openxmlformats.org/markup-compatibility/2006">
                <mc:Choice xmlns:v="urn:schemas-microsoft-com:vml" Requires="v">
                  <p:oleObj spid="_x0000_s12335" name="公式" r:id="rId5" imgW="545465" imgH="215900" progId="Equation.3">
                    <p:embed/>
                  </p:oleObj>
                </mc:Choice>
                <mc:Fallback>
                  <p:oleObj name="公式" r:id="rId5" imgW="545465" imgH="215900" progId="Equation.3">
                    <p:embed/>
                    <p:pic>
                      <p:nvPicPr>
                        <p:cNvPr id="0" name="对象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16980" y="5039794"/>
                          <a:ext cx="825709" cy="3331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对象 29"/>
            <p:cNvGraphicFramePr>
              <a:graphicFrameLocks noChangeAspect="1"/>
            </p:cNvGraphicFramePr>
            <p:nvPr/>
          </p:nvGraphicFramePr>
          <p:xfrm>
            <a:off x="7509088" y="5079190"/>
            <a:ext cx="661017" cy="293785"/>
          </p:xfrm>
          <a:graphic>
            <a:graphicData uri="http://schemas.openxmlformats.org/presentationml/2006/ole">
              <mc:AlternateContent xmlns:mc="http://schemas.openxmlformats.org/markup-compatibility/2006">
                <mc:Choice xmlns:v="urn:schemas-microsoft-com:vml" Requires="v">
                  <p:oleObj spid="_x0000_s12336" name="公式" r:id="rId7" imgW="431800" imgH="190500" progId="Equation.3">
                    <p:embed/>
                  </p:oleObj>
                </mc:Choice>
                <mc:Fallback>
                  <p:oleObj name="公式" r:id="rId7" imgW="431800" imgH="190500" progId="Equation.3">
                    <p:embed/>
                    <p:pic>
                      <p:nvPicPr>
                        <p:cNvPr id="0" name="对象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09088" y="5079190"/>
                          <a:ext cx="661017" cy="2937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 name="组合 5"/>
          <p:cNvGrpSpPr/>
          <p:nvPr/>
        </p:nvGrpSpPr>
        <p:grpSpPr>
          <a:xfrm>
            <a:off x="2270999" y="3105708"/>
            <a:ext cx="4460232" cy="1724958"/>
            <a:chOff x="2270999" y="3105708"/>
            <a:chExt cx="4460232" cy="1724958"/>
          </a:xfrm>
        </p:grpSpPr>
        <p:sp>
          <p:nvSpPr>
            <p:cNvPr id="49" name="圆角矩形 48"/>
            <p:cNvSpPr/>
            <p:nvPr/>
          </p:nvSpPr>
          <p:spPr>
            <a:xfrm>
              <a:off x="2270999" y="3105708"/>
              <a:ext cx="4460232" cy="1724958"/>
            </a:xfrm>
            <a:prstGeom prst="roundRect">
              <a:avLst>
                <a:gd name="adj" fmla="val 11715"/>
              </a:avLst>
            </a:prstGeom>
            <a:solidFill>
              <a:schemeClr val="bg1"/>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endParaRPr lang="zh-CN" altLang="en-US" sz="1600" dirty="0">
                <a:solidFill>
                  <a:srgbClr val="FF0000"/>
                </a:solidFill>
                <a:latin typeface="微软雅黑" panose="020B0503020204020204" pitchFamily="34" charset="-122"/>
                <a:ea typeface="微软雅黑" panose="020B0503020204020204" pitchFamily="34" charset="-122"/>
              </a:endParaRPr>
            </a:p>
          </p:txBody>
        </p:sp>
        <p:graphicFrame>
          <p:nvGraphicFramePr>
            <p:cNvPr id="4" name="对象 3"/>
            <p:cNvGraphicFramePr>
              <a:graphicFrameLocks noChangeAspect="1"/>
            </p:cNvGraphicFramePr>
            <p:nvPr/>
          </p:nvGraphicFramePr>
          <p:xfrm>
            <a:off x="2408379" y="3113328"/>
            <a:ext cx="4204605" cy="1618692"/>
          </p:xfrm>
          <a:graphic>
            <a:graphicData uri="http://schemas.openxmlformats.org/presentationml/2006/ole">
              <mc:AlternateContent xmlns:mc="http://schemas.openxmlformats.org/markup-compatibility/2006">
                <mc:Choice xmlns:v="urn:schemas-microsoft-com:vml" Requires="v">
                  <p:oleObj spid="_x0000_s12337" name="Visio" r:id="rId9" imgW="2120900" imgH="855980" progId="Visio.Drawing.11">
                    <p:embed/>
                  </p:oleObj>
                </mc:Choice>
                <mc:Fallback>
                  <p:oleObj name="Visio" r:id="rId9" imgW="2120900" imgH="855980" progId="Visio.Drawing.11">
                    <p:embed/>
                    <p:pic>
                      <p:nvPicPr>
                        <p:cNvPr id="0" name="对象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08379" y="3113328"/>
                          <a:ext cx="4204605" cy="16186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1000"/>
                                        <p:tgtEl>
                                          <p:spTgt spid="26"/>
                                        </p:tgtEl>
                                      </p:cBhvr>
                                    </p:animEffect>
                                    <p:anim calcmode="lin" valueType="num">
                                      <p:cBhvr>
                                        <p:cTn id="14" dur="1000" fill="hold"/>
                                        <p:tgtEl>
                                          <p:spTgt spid="26"/>
                                        </p:tgtEl>
                                        <p:attrNameLst>
                                          <p:attrName>ppt_x</p:attrName>
                                        </p:attrNameLst>
                                      </p:cBhvr>
                                      <p:tavLst>
                                        <p:tav tm="0">
                                          <p:val>
                                            <p:strVal val="#ppt_x"/>
                                          </p:val>
                                        </p:tav>
                                        <p:tav tm="100000">
                                          <p:val>
                                            <p:strVal val="#ppt_x"/>
                                          </p:val>
                                        </p:tav>
                                      </p:tavLst>
                                    </p:anim>
                                    <p:anim calcmode="lin" valueType="num">
                                      <p:cBhvr>
                                        <p:cTn id="15" dur="1000" fill="hold"/>
                                        <p:tgtEl>
                                          <p:spTgt spid="26"/>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0" name="组合 109"/>
          <p:cNvGrpSpPr/>
          <p:nvPr/>
        </p:nvGrpSpPr>
        <p:grpSpPr>
          <a:xfrm>
            <a:off x="4265548" y="2515968"/>
            <a:ext cx="4460232" cy="1724958"/>
            <a:chOff x="2270999" y="3105708"/>
            <a:chExt cx="4460232" cy="1724958"/>
          </a:xfrm>
        </p:grpSpPr>
        <p:sp>
          <p:nvSpPr>
            <p:cNvPr id="111" name="圆角矩形 110"/>
            <p:cNvSpPr/>
            <p:nvPr/>
          </p:nvSpPr>
          <p:spPr>
            <a:xfrm>
              <a:off x="2270999" y="3105708"/>
              <a:ext cx="4460232" cy="1724958"/>
            </a:xfrm>
            <a:prstGeom prst="roundRect">
              <a:avLst>
                <a:gd name="adj" fmla="val 11715"/>
              </a:avLst>
            </a:prstGeom>
            <a:solidFill>
              <a:schemeClr val="bg1"/>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endParaRPr lang="zh-CN" altLang="en-US" sz="1600" dirty="0">
                <a:solidFill>
                  <a:srgbClr val="FF0000"/>
                </a:solidFill>
                <a:latin typeface="微软雅黑" panose="020B0503020204020204" pitchFamily="34" charset="-122"/>
                <a:ea typeface="微软雅黑" panose="020B0503020204020204" pitchFamily="34" charset="-122"/>
              </a:endParaRPr>
            </a:p>
          </p:txBody>
        </p:sp>
        <p:graphicFrame>
          <p:nvGraphicFramePr>
            <p:cNvPr id="112" name="对象 111"/>
            <p:cNvGraphicFramePr>
              <a:graphicFrameLocks noChangeAspect="1"/>
            </p:cNvGraphicFramePr>
            <p:nvPr/>
          </p:nvGraphicFramePr>
          <p:xfrm>
            <a:off x="2408379" y="3113328"/>
            <a:ext cx="4204605" cy="1618692"/>
          </p:xfrm>
          <a:graphic>
            <a:graphicData uri="http://schemas.openxmlformats.org/presentationml/2006/ole">
              <mc:AlternateContent xmlns:mc="http://schemas.openxmlformats.org/markup-compatibility/2006">
                <mc:Choice xmlns:v="urn:schemas-microsoft-com:vml" Requires="v">
                  <p:oleObj spid="_x0000_s13369" name="Visio" r:id="rId1" imgW="2120900" imgH="855980" progId="Visio.Drawing.11">
                    <p:embed/>
                  </p:oleObj>
                </mc:Choice>
                <mc:Fallback>
                  <p:oleObj name="Visio" r:id="rId1" imgW="2120900" imgH="855980" progId="Visio.Drawing.11">
                    <p:embed/>
                    <p:pic>
                      <p:nvPicPr>
                        <p:cNvPr id="0" name="对象 1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8379" y="3113328"/>
                          <a:ext cx="4204605" cy="16186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 name="组合 1"/>
          <p:cNvGrpSpPr/>
          <p:nvPr/>
        </p:nvGrpSpPr>
        <p:grpSpPr>
          <a:xfrm>
            <a:off x="492370" y="2345980"/>
            <a:ext cx="2929388" cy="2782808"/>
            <a:chOff x="492370" y="2345980"/>
            <a:chExt cx="2929388" cy="2782808"/>
          </a:xfrm>
        </p:grpSpPr>
        <p:grpSp>
          <p:nvGrpSpPr>
            <p:cNvPr id="66" name="组合 206"/>
            <p:cNvGrpSpPr/>
            <p:nvPr/>
          </p:nvGrpSpPr>
          <p:grpSpPr>
            <a:xfrm>
              <a:off x="831266" y="2809401"/>
              <a:ext cx="2590492" cy="2319387"/>
              <a:chOff x="571292" y="2191340"/>
              <a:chExt cx="2892249" cy="2540156"/>
            </a:xfrm>
          </p:grpSpPr>
          <p:sp>
            <p:nvSpPr>
              <p:cNvPr id="67" name="椭圆 66"/>
              <p:cNvSpPr/>
              <p:nvPr/>
            </p:nvSpPr>
            <p:spPr>
              <a:xfrm>
                <a:off x="1416546" y="2432197"/>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1600" b="1" dirty="0">
                    <a:solidFill>
                      <a:schemeClr val="tx1"/>
                    </a:solidFill>
                    <a:latin typeface="Times New Roman" panose="02020603050405020304" pitchFamily="18" charset="0"/>
                    <a:cs typeface="Times New Roman" panose="02020603050405020304" pitchFamily="18" charset="0"/>
                  </a:rPr>
                  <a:t>00</a:t>
                </a:r>
                <a:endParaRPr lang="zh-CN" altLang="en-US" sz="1600" b="1" dirty="0">
                  <a:solidFill>
                    <a:schemeClr val="tx1"/>
                  </a:solidFill>
                  <a:latin typeface="Times New Roman" panose="02020603050405020304" pitchFamily="18" charset="0"/>
                  <a:cs typeface="Times New Roman" panose="02020603050405020304" pitchFamily="18" charset="0"/>
                </a:endParaRPr>
              </a:p>
            </p:txBody>
          </p:sp>
          <p:sp>
            <p:nvSpPr>
              <p:cNvPr id="68" name="椭圆 67"/>
              <p:cNvSpPr/>
              <p:nvPr/>
            </p:nvSpPr>
            <p:spPr>
              <a:xfrm>
                <a:off x="2992056" y="2432197"/>
                <a:ext cx="471485"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1600" b="1" dirty="0">
                    <a:solidFill>
                      <a:schemeClr val="tx1"/>
                    </a:solidFill>
                    <a:latin typeface="Times New Roman" panose="02020603050405020304" pitchFamily="18" charset="0"/>
                    <a:cs typeface="Times New Roman" panose="02020603050405020304" pitchFamily="18" charset="0"/>
                  </a:rPr>
                  <a:t>01</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sp>
            <p:nvSpPr>
              <p:cNvPr id="69" name="椭圆 68"/>
              <p:cNvSpPr/>
              <p:nvPr/>
            </p:nvSpPr>
            <p:spPr>
              <a:xfrm>
                <a:off x="2172820" y="3582247"/>
                <a:ext cx="471486" cy="454212"/>
              </a:xfrm>
              <a:prstGeom prst="ellipse">
                <a:avLst/>
              </a:prstGeom>
              <a:solidFill>
                <a:schemeClr val="bg1"/>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1600" b="1" dirty="0">
                    <a:solidFill>
                      <a:schemeClr val="tx1"/>
                    </a:solidFill>
                    <a:latin typeface="Times New Roman" panose="02020603050405020304" pitchFamily="18" charset="0"/>
                    <a:cs typeface="Times New Roman" panose="02020603050405020304" pitchFamily="18" charset="0"/>
                  </a:rPr>
                  <a:t>11</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grpSp>
            <p:nvGrpSpPr>
              <p:cNvPr id="70" name="组合 173"/>
              <p:cNvGrpSpPr/>
              <p:nvPr/>
            </p:nvGrpSpPr>
            <p:grpSpPr>
              <a:xfrm>
                <a:off x="571292" y="2401859"/>
                <a:ext cx="938917" cy="468263"/>
                <a:chOff x="4662927" y="3014896"/>
                <a:chExt cx="938917" cy="468263"/>
              </a:xfrm>
            </p:grpSpPr>
            <p:sp>
              <p:nvSpPr>
                <p:cNvPr id="86" name="弧形 85"/>
                <p:cNvSpPr/>
                <p:nvPr/>
              </p:nvSpPr>
              <p:spPr>
                <a:xfrm rot="8219386">
                  <a:off x="5127191" y="3014896"/>
                  <a:ext cx="474653" cy="468263"/>
                </a:xfrm>
                <a:prstGeom prst="arc">
                  <a:avLst>
                    <a:gd name="adj1" fmla="val 16200000"/>
                    <a:gd name="adj2" fmla="val 11123489"/>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p>
              </p:txBody>
            </p:sp>
            <p:sp>
              <p:nvSpPr>
                <p:cNvPr id="87" name="TextBox 86"/>
                <p:cNvSpPr txBox="1"/>
                <p:nvPr/>
              </p:nvSpPr>
              <p:spPr>
                <a:xfrm>
                  <a:off x="4662927" y="3069968"/>
                  <a:ext cx="499692" cy="370779"/>
                </a:xfrm>
                <a:prstGeom prst="rect">
                  <a:avLst/>
                </a:prstGeom>
                <a:noFill/>
              </p:spPr>
              <p:txBody>
                <a:bodyPr wrap="none" rtlCol="0">
                  <a:spAutoFit/>
                </a:bodyPr>
                <a:lstStyle/>
                <a:p>
                  <a:r>
                    <a:rPr lang="en-US" altLang="zh-CN" sz="1600" b="1" dirty="0">
                      <a:latin typeface="Times New Roman" panose="02020603050405020304" pitchFamily="18" charset="0"/>
                      <a:cs typeface="Times New Roman" panose="02020603050405020304" pitchFamily="18" charset="0"/>
                    </a:rPr>
                    <a:t>0/0</a:t>
                  </a:r>
                  <a:endParaRPr lang="zh-CN" altLang="en-US" sz="1600" b="1" dirty="0">
                    <a:latin typeface="Times New Roman" panose="02020603050405020304" pitchFamily="18" charset="0"/>
                    <a:cs typeface="Times New Roman" panose="02020603050405020304" pitchFamily="18" charset="0"/>
                  </a:endParaRPr>
                </a:p>
              </p:txBody>
            </p:sp>
          </p:grpSp>
          <p:grpSp>
            <p:nvGrpSpPr>
              <p:cNvPr id="71" name="组合 211"/>
              <p:cNvGrpSpPr/>
              <p:nvPr/>
            </p:nvGrpSpPr>
            <p:grpSpPr>
              <a:xfrm>
                <a:off x="1845967" y="2191340"/>
                <a:ext cx="1188000" cy="370779"/>
                <a:chOff x="5937602" y="2804377"/>
                <a:chExt cx="1188000" cy="370779"/>
              </a:xfrm>
            </p:grpSpPr>
            <p:cxnSp>
              <p:nvCxnSpPr>
                <p:cNvPr id="84" name="直接箭头连接符 83"/>
                <p:cNvCxnSpPr/>
                <p:nvPr/>
              </p:nvCxnSpPr>
              <p:spPr>
                <a:xfrm>
                  <a:off x="5937602" y="3106148"/>
                  <a:ext cx="1188000" cy="0"/>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6294106" y="2804377"/>
                  <a:ext cx="499693" cy="370779"/>
                </a:xfrm>
                <a:prstGeom prst="rect">
                  <a:avLst/>
                </a:prstGeom>
                <a:noFill/>
              </p:spPr>
              <p:txBody>
                <a:bodyPr wrap="none" rtlCol="0">
                  <a:spAutoFit/>
                </a:bodyPr>
                <a:lstStyle/>
                <a:p>
                  <a:r>
                    <a:rPr lang="en-US" altLang="zh-CN" sz="1600" b="1" dirty="0">
                      <a:solidFill>
                        <a:srgbClr val="CC00CC"/>
                      </a:solidFill>
                      <a:latin typeface="Times New Roman" panose="02020603050405020304" pitchFamily="18" charset="0"/>
                      <a:cs typeface="Times New Roman" panose="02020603050405020304" pitchFamily="18" charset="0"/>
                    </a:rPr>
                    <a:t>1</a:t>
                  </a:r>
                  <a:r>
                    <a:rPr lang="en-US" altLang="zh-CN" sz="1600" b="1" dirty="0">
                      <a:latin typeface="Times New Roman" panose="02020603050405020304" pitchFamily="18" charset="0"/>
                      <a:cs typeface="Times New Roman" panose="02020603050405020304" pitchFamily="18" charset="0"/>
                    </a:rPr>
                    <a:t>/0</a:t>
                  </a:r>
                  <a:endParaRPr lang="zh-CN" altLang="en-US" sz="1600" b="1" dirty="0">
                    <a:solidFill>
                      <a:srgbClr val="FF00FF"/>
                    </a:solidFill>
                    <a:latin typeface="Times New Roman" panose="02020603050405020304" pitchFamily="18" charset="0"/>
                    <a:cs typeface="Times New Roman" panose="02020603050405020304" pitchFamily="18" charset="0"/>
                  </a:endParaRPr>
                </a:p>
              </p:txBody>
            </p:sp>
          </p:grpSp>
          <p:grpSp>
            <p:nvGrpSpPr>
              <p:cNvPr id="72" name="组合 191"/>
              <p:cNvGrpSpPr/>
              <p:nvPr/>
            </p:nvGrpSpPr>
            <p:grpSpPr>
              <a:xfrm>
                <a:off x="1841140" y="2703710"/>
                <a:ext cx="1188000" cy="370779"/>
                <a:chOff x="5932775" y="3316747"/>
                <a:chExt cx="1188000" cy="370779"/>
              </a:xfrm>
            </p:grpSpPr>
            <p:cxnSp>
              <p:nvCxnSpPr>
                <p:cNvPr id="82" name="直接箭头连接符 81"/>
                <p:cNvCxnSpPr/>
                <p:nvPr/>
              </p:nvCxnSpPr>
              <p:spPr>
                <a:xfrm flipH="1">
                  <a:off x="5932775" y="3374400"/>
                  <a:ext cx="1188000" cy="0"/>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6305831" y="3316747"/>
                  <a:ext cx="499693" cy="370779"/>
                </a:xfrm>
                <a:prstGeom prst="rect">
                  <a:avLst/>
                </a:prstGeom>
                <a:noFill/>
              </p:spPr>
              <p:txBody>
                <a:bodyPr wrap="none" rtlCol="0">
                  <a:spAutoFit/>
                </a:bodyPr>
                <a:lstStyle/>
                <a:p>
                  <a:r>
                    <a:rPr lang="en-US" altLang="zh-CN" sz="1600" b="1" dirty="0">
                      <a:latin typeface="Times New Roman" panose="02020603050405020304" pitchFamily="18" charset="0"/>
                      <a:cs typeface="Times New Roman" panose="02020603050405020304" pitchFamily="18" charset="0"/>
                    </a:rPr>
                    <a:t>0/0</a:t>
                  </a:r>
                  <a:endParaRPr lang="zh-CN" altLang="en-US" sz="1600" b="1" dirty="0">
                    <a:solidFill>
                      <a:srgbClr val="FF00FF"/>
                    </a:solidFill>
                    <a:latin typeface="Times New Roman" panose="02020603050405020304" pitchFamily="18" charset="0"/>
                    <a:cs typeface="Times New Roman" panose="02020603050405020304" pitchFamily="18" charset="0"/>
                  </a:endParaRPr>
                </a:p>
              </p:txBody>
            </p:sp>
          </p:grpSp>
          <p:grpSp>
            <p:nvGrpSpPr>
              <p:cNvPr id="73" name="组合 212"/>
              <p:cNvGrpSpPr/>
              <p:nvPr/>
            </p:nvGrpSpPr>
            <p:grpSpPr>
              <a:xfrm>
                <a:off x="2575258" y="2860761"/>
                <a:ext cx="753753" cy="788004"/>
                <a:chOff x="6829624" y="3532255"/>
                <a:chExt cx="753753" cy="788004"/>
              </a:xfrm>
            </p:grpSpPr>
            <p:cxnSp>
              <p:nvCxnSpPr>
                <p:cNvPr id="80" name="直接箭头连接符 79"/>
                <p:cNvCxnSpPr>
                  <a:endCxn id="69" idx="7"/>
                </p:cNvCxnSpPr>
                <p:nvPr/>
              </p:nvCxnSpPr>
              <p:spPr>
                <a:xfrm flipH="1">
                  <a:off x="6829624" y="3532255"/>
                  <a:ext cx="539307" cy="788004"/>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7083685" y="3763600"/>
                  <a:ext cx="499692" cy="370779"/>
                </a:xfrm>
                <a:prstGeom prst="rect">
                  <a:avLst/>
                </a:prstGeom>
                <a:noFill/>
              </p:spPr>
              <p:txBody>
                <a:bodyPr wrap="none" rtlCol="0">
                  <a:spAutoFit/>
                </a:bodyPr>
                <a:lstStyle/>
                <a:p>
                  <a:r>
                    <a:rPr lang="en-US" altLang="zh-CN" sz="1600" b="1" dirty="0">
                      <a:solidFill>
                        <a:srgbClr val="CC00CC"/>
                      </a:solidFill>
                      <a:latin typeface="Times New Roman" panose="02020603050405020304" pitchFamily="18" charset="0"/>
                      <a:cs typeface="Times New Roman" panose="02020603050405020304" pitchFamily="18" charset="0"/>
                    </a:rPr>
                    <a:t>1</a:t>
                  </a:r>
                  <a:r>
                    <a:rPr lang="en-US" altLang="zh-CN" sz="1600" b="1" dirty="0">
                      <a:latin typeface="Times New Roman" panose="02020603050405020304" pitchFamily="18" charset="0"/>
                      <a:cs typeface="Times New Roman" panose="02020603050405020304" pitchFamily="18" charset="0"/>
                    </a:rPr>
                    <a:t>/0</a:t>
                  </a:r>
                  <a:endParaRPr lang="zh-CN" altLang="en-US" sz="1600" b="1" dirty="0">
                    <a:solidFill>
                      <a:srgbClr val="FF00FF"/>
                    </a:solidFill>
                    <a:latin typeface="Times New Roman" panose="02020603050405020304" pitchFamily="18" charset="0"/>
                    <a:cs typeface="Times New Roman" panose="02020603050405020304" pitchFamily="18" charset="0"/>
                  </a:endParaRPr>
                </a:p>
              </p:txBody>
            </p:sp>
          </p:grpSp>
          <p:grpSp>
            <p:nvGrpSpPr>
              <p:cNvPr id="74" name="组合 195"/>
              <p:cNvGrpSpPr/>
              <p:nvPr/>
            </p:nvGrpSpPr>
            <p:grpSpPr>
              <a:xfrm rot="10800000">
                <a:off x="2134629" y="3944480"/>
                <a:ext cx="499692" cy="787016"/>
                <a:chOff x="6302012" y="2518227"/>
                <a:chExt cx="499692" cy="787016"/>
              </a:xfrm>
            </p:grpSpPr>
            <p:sp>
              <p:nvSpPr>
                <p:cNvPr id="78" name="弧形 77"/>
                <p:cNvSpPr/>
                <p:nvPr/>
              </p:nvSpPr>
              <p:spPr>
                <a:xfrm rot="13372216">
                  <a:off x="6302256" y="2836980"/>
                  <a:ext cx="474653" cy="468263"/>
                </a:xfrm>
                <a:prstGeom prst="arc">
                  <a:avLst>
                    <a:gd name="adj1" fmla="val 16200000"/>
                    <a:gd name="adj2" fmla="val 11123489"/>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p>
              </p:txBody>
            </p:sp>
            <p:sp>
              <p:nvSpPr>
                <p:cNvPr id="79" name="TextBox 78"/>
                <p:cNvSpPr txBox="1"/>
                <p:nvPr/>
              </p:nvSpPr>
              <p:spPr>
                <a:xfrm rot="10800000">
                  <a:off x="6302012" y="2518227"/>
                  <a:ext cx="499692" cy="370779"/>
                </a:xfrm>
                <a:prstGeom prst="rect">
                  <a:avLst/>
                </a:prstGeom>
                <a:noFill/>
              </p:spPr>
              <p:txBody>
                <a:bodyPr wrap="none" rtlCol="0">
                  <a:spAutoFit/>
                </a:bodyPr>
                <a:lstStyle/>
                <a:p>
                  <a:r>
                    <a:rPr lang="en-US" altLang="zh-CN" sz="1600" b="1" dirty="0">
                      <a:latin typeface="Times New Roman" panose="02020603050405020304" pitchFamily="18" charset="0"/>
                      <a:cs typeface="Times New Roman" panose="02020603050405020304" pitchFamily="18" charset="0"/>
                    </a:rPr>
                    <a:t>1/0</a:t>
                  </a:r>
                  <a:endParaRPr lang="zh-CN" altLang="en-US" sz="1600" b="1" dirty="0">
                    <a:latin typeface="Times New Roman" panose="02020603050405020304" pitchFamily="18" charset="0"/>
                    <a:cs typeface="Times New Roman" panose="02020603050405020304" pitchFamily="18" charset="0"/>
                  </a:endParaRPr>
                </a:p>
              </p:txBody>
            </p:sp>
          </p:grpSp>
          <p:grpSp>
            <p:nvGrpSpPr>
              <p:cNvPr id="75" name="组合 198"/>
              <p:cNvGrpSpPr/>
              <p:nvPr/>
            </p:nvGrpSpPr>
            <p:grpSpPr>
              <a:xfrm>
                <a:off x="1746049" y="2892152"/>
                <a:ext cx="645955" cy="719256"/>
                <a:chOff x="6454870" y="2686643"/>
                <a:chExt cx="645955" cy="719256"/>
              </a:xfrm>
            </p:grpSpPr>
            <p:cxnSp>
              <p:nvCxnSpPr>
                <p:cNvPr id="76" name="直接箭头连接符 75"/>
                <p:cNvCxnSpPr/>
                <p:nvPr/>
              </p:nvCxnSpPr>
              <p:spPr>
                <a:xfrm flipH="1" flipV="1">
                  <a:off x="6454870" y="2686643"/>
                  <a:ext cx="496915" cy="719256"/>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6601133" y="2729092"/>
                  <a:ext cx="499692" cy="370779"/>
                </a:xfrm>
                <a:prstGeom prst="rect">
                  <a:avLst/>
                </a:prstGeom>
                <a:noFill/>
              </p:spPr>
              <p:txBody>
                <a:bodyPr wrap="none" rtlCol="0">
                  <a:spAutoFit/>
                </a:bodyPr>
                <a:lstStyle/>
                <a:p>
                  <a:r>
                    <a:rPr lang="en-US" altLang="zh-CN" sz="1600" b="1" dirty="0">
                      <a:latin typeface="Times New Roman" panose="02020603050405020304" pitchFamily="18" charset="0"/>
                      <a:cs typeface="Times New Roman" panose="02020603050405020304" pitchFamily="18" charset="0"/>
                    </a:rPr>
                    <a:t>0/</a:t>
                  </a:r>
                  <a:r>
                    <a:rPr lang="en-US" altLang="zh-CN" sz="1600" b="1" dirty="0">
                      <a:solidFill>
                        <a:srgbClr val="CC00CC"/>
                      </a:solidFill>
                      <a:latin typeface="Times New Roman" panose="02020603050405020304" pitchFamily="18" charset="0"/>
                      <a:cs typeface="Times New Roman" panose="02020603050405020304" pitchFamily="18" charset="0"/>
                    </a:rPr>
                    <a:t>1</a:t>
                  </a:r>
                  <a:endParaRPr lang="zh-CN" altLang="en-US" sz="1600" b="1" dirty="0">
                    <a:solidFill>
                      <a:srgbClr val="CC00CC"/>
                    </a:solidFill>
                    <a:latin typeface="Times New Roman" panose="02020603050405020304" pitchFamily="18" charset="0"/>
                    <a:cs typeface="Times New Roman" panose="02020603050405020304" pitchFamily="18" charset="0"/>
                  </a:endParaRPr>
                </a:p>
              </p:txBody>
            </p:sp>
          </p:grpSp>
        </p:grpSp>
        <p:grpSp>
          <p:nvGrpSpPr>
            <p:cNvPr id="88" name="组合 22"/>
            <p:cNvGrpSpPr/>
            <p:nvPr/>
          </p:nvGrpSpPr>
          <p:grpSpPr>
            <a:xfrm>
              <a:off x="492370" y="2345980"/>
              <a:ext cx="1158515" cy="590088"/>
              <a:chOff x="5156021" y="2842474"/>
              <a:chExt cx="1174439" cy="590088"/>
            </a:xfrm>
          </p:grpSpPr>
          <p:sp>
            <p:nvSpPr>
              <p:cNvPr id="89" name="椭圆 88"/>
              <p:cNvSpPr/>
              <p:nvPr/>
            </p:nvSpPr>
            <p:spPr>
              <a:xfrm>
                <a:off x="5156021" y="2879746"/>
                <a:ext cx="556328" cy="552816"/>
              </a:xfrm>
              <a:prstGeom prst="ellipse">
                <a:avLst/>
              </a:prstGeom>
              <a:solidFill>
                <a:srgbClr val="66FFCC"/>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1400" b="1" dirty="0">
                    <a:solidFill>
                      <a:schemeClr val="tx1"/>
                    </a:solidFill>
                    <a:latin typeface="Times New Roman" panose="02020603050405020304" pitchFamily="18" charset="0"/>
                    <a:cs typeface="Times New Roman" panose="02020603050405020304" pitchFamily="18" charset="0"/>
                  </a:rPr>
                  <a:t>Q</a:t>
                </a:r>
                <a:r>
                  <a:rPr lang="en-US" altLang="zh-CN" sz="1400" b="1" baseline="-25000" dirty="0">
                    <a:solidFill>
                      <a:schemeClr val="tx1"/>
                    </a:solidFill>
                    <a:latin typeface="Times New Roman" panose="02020603050405020304" pitchFamily="18" charset="0"/>
                    <a:cs typeface="Times New Roman" panose="02020603050405020304" pitchFamily="18" charset="0"/>
                  </a:rPr>
                  <a:t>1</a:t>
                </a:r>
                <a:r>
                  <a:rPr lang="en-US" altLang="zh-CN" sz="1400" b="1" dirty="0">
                    <a:solidFill>
                      <a:schemeClr val="tx1"/>
                    </a:solidFill>
                    <a:latin typeface="Times New Roman" panose="02020603050405020304" pitchFamily="18" charset="0"/>
                    <a:cs typeface="Times New Roman" panose="02020603050405020304" pitchFamily="18" charset="0"/>
                  </a:rPr>
                  <a:t>Q</a:t>
                </a:r>
                <a:r>
                  <a:rPr lang="en-US" altLang="zh-CN" sz="1400" b="1" baseline="-25000" dirty="0">
                    <a:solidFill>
                      <a:schemeClr val="tx1"/>
                    </a:solidFill>
                    <a:latin typeface="Times New Roman" panose="02020603050405020304" pitchFamily="18" charset="0"/>
                    <a:cs typeface="Times New Roman" panose="02020603050405020304" pitchFamily="18" charset="0"/>
                  </a:rPr>
                  <a:t>0</a:t>
                </a:r>
                <a:endParaRPr lang="zh-CN" altLang="en-US" sz="14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90" name="直接箭头连接符 89"/>
              <p:cNvCxnSpPr>
                <a:stCxn id="89" idx="6"/>
              </p:cNvCxnSpPr>
              <p:nvPr/>
            </p:nvCxnSpPr>
            <p:spPr>
              <a:xfrm flipV="1">
                <a:off x="5712347" y="3152818"/>
                <a:ext cx="618113" cy="3336"/>
              </a:xfrm>
              <a:prstGeom prst="straightConnector1">
                <a:avLst/>
              </a:prstGeom>
              <a:ln w="28575">
                <a:solidFill>
                  <a:srgbClr val="0000FF"/>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91" name="矩形 90"/>
              <p:cNvSpPr/>
              <p:nvPr/>
            </p:nvSpPr>
            <p:spPr>
              <a:xfrm>
                <a:off x="5732742" y="2842474"/>
                <a:ext cx="526106" cy="338554"/>
              </a:xfrm>
              <a:prstGeom prst="rect">
                <a:avLst/>
              </a:prstGeom>
            </p:spPr>
            <p:txBody>
              <a:bodyPr wrap="none">
                <a:spAutoFit/>
              </a:bodyPr>
              <a:lstStyle/>
              <a:p>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X/Z</a:t>
                </a:r>
                <a:endParaRPr lang="zh-CN" altLang="en-US" sz="1600" dirty="0"/>
              </a:p>
            </p:txBody>
          </p:sp>
        </p:grpSp>
      </p:grpSp>
      <p:sp>
        <p:nvSpPr>
          <p:cNvPr id="93" name="椭圆 92"/>
          <p:cNvSpPr/>
          <p:nvPr/>
        </p:nvSpPr>
        <p:spPr>
          <a:xfrm>
            <a:off x="703695" y="4337446"/>
            <a:ext cx="422294" cy="414736"/>
          </a:xfrm>
          <a:prstGeom prst="ellipse">
            <a:avLst/>
          </a:prstGeom>
          <a:solidFill>
            <a:srgbClr val="FF00FF"/>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1600" b="1" dirty="0">
                <a:solidFill>
                  <a:srgbClr val="FFFF00"/>
                </a:solidFill>
                <a:latin typeface="Times New Roman" panose="02020603050405020304" pitchFamily="18" charset="0"/>
                <a:cs typeface="Times New Roman" panose="02020603050405020304" pitchFamily="18" charset="0"/>
              </a:rPr>
              <a:t>10</a:t>
            </a:r>
            <a:endParaRPr lang="zh-CN" altLang="en-US" sz="1600" b="1" baseline="-25000" dirty="0">
              <a:solidFill>
                <a:srgbClr val="FFFF00"/>
              </a:solidFill>
              <a:latin typeface="Times New Roman" panose="02020603050405020304" pitchFamily="18" charset="0"/>
              <a:cs typeface="Times New Roman" panose="02020603050405020304" pitchFamily="18" charset="0"/>
            </a:endParaRPr>
          </a:p>
        </p:txBody>
      </p:sp>
      <p:grpSp>
        <p:nvGrpSpPr>
          <p:cNvPr id="5" name="组合 4"/>
          <p:cNvGrpSpPr/>
          <p:nvPr/>
        </p:nvGrpSpPr>
        <p:grpSpPr>
          <a:xfrm>
            <a:off x="842975" y="3438312"/>
            <a:ext cx="853423" cy="939223"/>
            <a:chOff x="842975" y="3438312"/>
            <a:chExt cx="853423" cy="939223"/>
          </a:xfrm>
        </p:grpSpPr>
        <p:cxnSp>
          <p:nvCxnSpPr>
            <p:cNvPr id="94" name="直接箭头连接符 93"/>
            <p:cNvCxnSpPr/>
            <p:nvPr/>
          </p:nvCxnSpPr>
          <p:spPr>
            <a:xfrm flipV="1">
              <a:off x="1059214" y="3438312"/>
              <a:ext cx="637184" cy="939223"/>
            </a:xfrm>
            <a:prstGeom prst="straightConnector1">
              <a:avLst/>
            </a:prstGeom>
            <a:ln w="2857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842975" y="3701451"/>
              <a:ext cx="596945" cy="338554"/>
            </a:xfrm>
            <a:prstGeom prst="rect">
              <a:avLst/>
            </a:prstGeom>
            <a:noFill/>
          </p:spPr>
          <p:txBody>
            <a:bodyPr wrap="square" rtlCol="0">
              <a:spAutoFit/>
            </a:bodyPr>
            <a:lstStyle/>
            <a:p>
              <a:r>
                <a:rPr lang="en-US" altLang="zh-CN" sz="1600" b="1" dirty="0">
                  <a:latin typeface="Times New Roman" panose="02020603050405020304" pitchFamily="18" charset="0"/>
                  <a:cs typeface="Times New Roman" panose="02020603050405020304" pitchFamily="18" charset="0"/>
                </a:rPr>
                <a:t>0 / </a:t>
              </a:r>
              <a:r>
                <a:rPr lang="en-US" altLang="zh-CN" sz="1600" b="1" dirty="0">
                  <a:solidFill>
                    <a:srgbClr val="FF00FF"/>
                  </a:solidFill>
                  <a:latin typeface="Times New Roman" panose="02020603050405020304" pitchFamily="18" charset="0"/>
                  <a:cs typeface="Times New Roman" panose="02020603050405020304" pitchFamily="18" charset="0"/>
                </a:rPr>
                <a:t>1</a:t>
              </a:r>
              <a:endParaRPr lang="zh-CN" altLang="en-US" sz="1600" b="1" dirty="0">
                <a:solidFill>
                  <a:srgbClr val="FF00FF"/>
                </a:solidFill>
                <a:latin typeface="Times New Roman" panose="02020603050405020304" pitchFamily="18" charset="0"/>
                <a:cs typeface="Times New Roman" panose="02020603050405020304" pitchFamily="18" charset="0"/>
              </a:endParaRPr>
            </a:p>
          </p:txBody>
        </p:sp>
      </p:grpSp>
      <p:grpSp>
        <p:nvGrpSpPr>
          <p:cNvPr id="7" name="组合 6"/>
          <p:cNvGrpSpPr/>
          <p:nvPr/>
        </p:nvGrpSpPr>
        <p:grpSpPr>
          <a:xfrm>
            <a:off x="1149118" y="3336808"/>
            <a:ext cx="1916559" cy="1161490"/>
            <a:chOff x="1144749" y="3383324"/>
            <a:chExt cx="1916559" cy="1161490"/>
          </a:xfrm>
        </p:grpSpPr>
        <p:cxnSp>
          <p:nvCxnSpPr>
            <p:cNvPr id="97" name="直接箭头连接符 96"/>
            <p:cNvCxnSpPr>
              <a:endCxn id="68" idx="3"/>
            </p:cNvCxnSpPr>
            <p:nvPr/>
          </p:nvCxnSpPr>
          <p:spPr>
            <a:xfrm flipV="1">
              <a:off x="1144749" y="3383324"/>
              <a:ext cx="1916559" cy="1161490"/>
            </a:xfrm>
            <a:prstGeom prst="straightConnector1">
              <a:avLst/>
            </a:prstGeom>
            <a:ln w="28575">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02" name="TextBox 101"/>
            <p:cNvSpPr txBox="1"/>
            <p:nvPr/>
          </p:nvSpPr>
          <p:spPr>
            <a:xfrm>
              <a:off x="1695293" y="4071649"/>
              <a:ext cx="672182" cy="338554"/>
            </a:xfrm>
            <a:prstGeom prst="rect">
              <a:avLst/>
            </a:prstGeom>
            <a:noFill/>
          </p:spPr>
          <p:txBody>
            <a:bodyPr wrap="square" rtlCol="0">
              <a:spAutoFit/>
            </a:bodyPr>
            <a:lstStyle/>
            <a:p>
              <a:r>
                <a:rPr lang="en-US" altLang="zh-CN" sz="1600" b="1" dirty="0">
                  <a:solidFill>
                    <a:srgbClr val="CC00CC"/>
                  </a:solidFill>
                  <a:latin typeface="Times New Roman" panose="02020603050405020304" pitchFamily="18" charset="0"/>
                  <a:cs typeface="Times New Roman" panose="02020603050405020304" pitchFamily="18" charset="0"/>
                </a:rPr>
                <a:t>1</a:t>
              </a:r>
              <a:r>
                <a:rPr lang="en-US" altLang="zh-CN" sz="1600" b="1" dirty="0">
                  <a:latin typeface="Times New Roman" panose="02020603050405020304" pitchFamily="18" charset="0"/>
                  <a:cs typeface="Times New Roman" panose="02020603050405020304" pitchFamily="18" charset="0"/>
                </a:rPr>
                <a:t>/ 0</a:t>
              </a:r>
              <a:endParaRPr lang="zh-CN" altLang="en-US" sz="1600" b="1" dirty="0">
                <a:latin typeface="Times New Roman" panose="02020603050405020304" pitchFamily="18" charset="0"/>
                <a:cs typeface="Times New Roman" panose="02020603050405020304" pitchFamily="18" charset="0"/>
              </a:endParaRPr>
            </a:p>
          </p:txBody>
        </p:sp>
      </p:grpSp>
      <p:sp>
        <p:nvSpPr>
          <p:cNvPr id="103" name="椭圆 102"/>
          <p:cNvSpPr/>
          <p:nvPr/>
        </p:nvSpPr>
        <p:spPr>
          <a:xfrm>
            <a:off x="1122869" y="3754549"/>
            <a:ext cx="206878" cy="239978"/>
          </a:xfrm>
          <a:prstGeom prst="ellipse">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Rectangle 5"/>
          <p:cNvSpPr>
            <a:spLocks noChangeArrowheads="1"/>
          </p:cNvSpPr>
          <p:nvPr/>
        </p:nvSpPr>
        <p:spPr bwMode="auto">
          <a:xfrm>
            <a:off x="415753" y="1766757"/>
            <a:ext cx="8405818" cy="338554"/>
          </a:xfrm>
          <a:prstGeom prst="rect">
            <a:avLst/>
          </a:prstGeom>
          <a:noFill/>
          <a:ln w="9525" algn="ctr">
            <a:noFill/>
            <a:miter lim="800000"/>
          </a:ln>
          <a:effectLst/>
        </p:spPr>
        <p:txBody>
          <a:bodyPr wrap="square" anchor="ctr">
            <a:spAutoFit/>
          </a:bodyPr>
          <a:lstStyle/>
          <a:p>
            <a:pPr eaLnBrk="0" hangingPunct="0">
              <a:defRPr/>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解</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endPar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00" name="组合 88"/>
          <p:cNvGrpSpPr/>
          <p:nvPr/>
        </p:nvGrpSpPr>
        <p:grpSpPr>
          <a:xfrm>
            <a:off x="392432" y="778617"/>
            <a:ext cx="3704049" cy="420971"/>
            <a:chOff x="670560" y="892917"/>
            <a:chExt cx="3704049" cy="420971"/>
          </a:xfrm>
        </p:grpSpPr>
        <p:sp>
          <p:nvSpPr>
            <p:cNvPr id="104" name="矩形 103"/>
            <p:cNvSpPr/>
            <p:nvPr/>
          </p:nvSpPr>
          <p:spPr>
            <a:xfrm>
              <a:off x="1035233" y="913778"/>
              <a:ext cx="3339376"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同步时序逻辑电路设计实例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105"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106" name="组合 117"/>
          <p:cNvGrpSpPr/>
          <p:nvPr/>
        </p:nvGrpSpPr>
        <p:grpSpPr>
          <a:xfrm>
            <a:off x="400513" y="1289896"/>
            <a:ext cx="8623498" cy="374630"/>
            <a:chOff x="369777" y="1347760"/>
            <a:chExt cx="8623498" cy="374630"/>
          </a:xfrm>
        </p:grpSpPr>
        <p:sp>
          <p:nvSpPr>
            <p:cNvPr id="107" name="TextBox 119"/>
            <p:cNvSpPr txBox="1"/>
            <p:nvPr/>
          </p:nvSpPr>
          <p:spPr>
            <a:xfrm>
              <a:off x="723710" y="1350409"/>
              <a:ext cx="8269565" cy="369332"/>
            </a:xfrm>
            <a:prstGeom prst="rect">
              <a:avLst/>
            </a:prstGeom>
            <a:noFill/>
          </p:spPr>
          <p:txBody>
            <a:bodyPr wrap="square" rtlCol="0">
              <a:spAutoFit/>
            </a:bodyPr>
            <a:lstStyle/>
            <a:p>
              <a:r>
                <a:rPr lang="zh-CN" altLang="en-US"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例：</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用</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D</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触发器设计一序列脉冲检测器，要求连续输入</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110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，否则输出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08" name="Picture 4"/>
            <p:cNvPicPr>
              <a:picLocks noChangeAspect="1" noChangeArrowheads="1"/>
            </p:cNvPicPr>
            <p:nvPr/>
          </p:nvPicPr>
          <p:blipFill>
            <a:blip r:embed="rId4" cstate="print"/>
            <a:srcRect/>
            <a:stretch>
              <a:fillRect/>
            </a:stretch>
          </p:blipFill>
          <p:spPr bwMode="auto">
            <a:xfrm>
              <a:off x="369777" y="1347760"/>
              <a:ext cx="373669" cy="374630"/>
            </a:xfrm>
            <a:prstGeom prst="rect">
              <a:avLst/>
            </a:prstGeom>
            <a:noFill/>
            <a:ln w="9525">
              <a:noFill/>
              <a:miter lim="800000"/>
              <a:headEnd/>
              <a:tailEnd/>
            </a:ln>
          </p:spPr>
        </p:pic>
      </p:grpSp>
      <p:sp>
        <p:nvSpPr>
          <p:cNvPr id="109" name="矩形 108"/>
          <p:cNvSpPr/>
          <p:nvPr/>
        </p:nvSpPr>
        <p:spPr>
          <a:xfrm>
            <a:off x="774182" y="1743599"/>
            <a:ext cx="3531736" cy="369332"/>
          </a:xfrm>
          <a:prstGeom prst="rect">
            <a:avLst/>
          </a:prstGeom>
        </p:spPr>
        <p:txBody>
          <a:bodyPr wrap="none">
            <a:spAutoFit/>
          </a:bodyPr>
          <a:lstStyle/>
          <a:p>
            <a:pPr eaLnBrk="0" hangingPunct="0">
              <a:defRPr/>
            </a:pPr>
            <a:r>
              <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6</a:t>
            </a:r>
            <a:r>
              <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）画逻辑电路图并检查自启动</a:t>
            </a:r>
            <a:endPar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20" name="图片 119"/>
          <p:cNvPicPr>
            <a:picLocks noChangeAspect="1"/>
          </p:cNvPicPr>
          <p:nvPr/>
        </p:nvPicPr>
        <p:blipFill rotWithShape="1">
          <a:blip r:embed="rId5" cstate="print"/>
          <a:srcRect r="50231" b="48624"/>
          <a:stretch>
            <a:fillRect/>
          </a:stretch>
        </p:blipFill>
        <p:spPr>
          <a:xfrm>
            <a:off x="4463414" y="4332591"/>
            <a:ext cx="1892839" cy="1185323"/>
          </a:xfrm>
          <a:prstGeom prst="rect">
            <a:avLst/>
          </a:prstGeom>
        </p:spPr>
      </p:pic>
      <p:sp>
        <p:nvSpPr>
          <p:cNvPr id="121" name="圆角矩形 120"/>
          <p:cNvSpPr/>
          <p:nvPr/>
        </p:nvSpPr>
        <p:spPr>
          <a:xfrm>
            <a:off x="5540689" y="4703110"/>
            <a:ext cx="309304" cy="274800"/>
          </a:xfrm>
          <a:prstGeom prst="roundRect">
            <a:avLst>
              <a:gd name="adj" fmla="val 17483"/>
            </a:avLst>
          </a:prstGeom>
          <a:solidFill>
            <a:srgbClr val="00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对象 5"/>
          <p:cNvGraphicFramePr>
            <a:graphicFrameLocks noChangeAspect="1"/>
          </p:cNvGraphicFramePr>
          <p:nvPr/>
        </p:nvGraphicFramePr>
        <p:xfrm>
          <a:off x="6756883" y="4789628"/>
          <a:ext cx="1202210" cy="412699"/>
        </p:xfrm>
        <a:graphic>
          <a:graphicData uri="http://schemas.openxmlformats.org/presentationml/2006/ole">
            <mc:AlternateContent xmlns:mc="http://schemas.openxmlformats.org/markup-compatibility/2006">
              <mc:Choice xmlns:v="urn:schemas-microsoft-com:vml" Requires="v">
                <p:oleObj spid="_x0000_s13370" name="公式" r:id="rId6" imgW="15240000" imgH="5181600" progId="Equation.3">
                  <p:embed/>
                </p:oleObj>
              </mc:Choice>
              <mc:Fallback>
                <p:oleObj name="公式" r:id="rId6" imgW="15240000" imgH="5181600" progId="Equation.3">
                  <p:embed/>
                  <p:pic>
                    <p:nvPicPr>
                      <p:cNvPr id="0" name="对象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56883" y="4789628"/>
                        <a:ext cx="1202210" cy="4126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3" name="组合 122"/>
          <p:cNvGrpSpPr/>
          <p:nvPr/>
        </p:nvGrpSpPr>
        <p:grpSpPr>
          <a:xfrm>
            <a:off x="4787123" y="1867109"/>
            <a:ext cx="3436214" cy="478871"/>
            <a:chOff x="5149635" y="4986420"/>
            <a:chExt cx="3436214" cy="478871"/>
          </a:xfrm>
        </p:grpSpPr>
        <p:sp>
          <p:nvSpPr>
            <p:cNvPr id="124" name="圆角矩形 123"/>
            <p:cNvSpPr/>
            <p:nvPr/>
          </p:nvSpPr>
          <p:spPr>
            <a:xfrm>
              <a:off x="5149635" y="4986420"/>
              <a:ext cx="3436214" cy="478871"/>
            </a:xfrm>
            <a:prstGeom prst="roundRect">
              <a:avLst>
                <a:gd name="adj" fmla="val 11715"/>
              </a:avLst>
            </a:prstGeom>
            <a:solidFill>
              <a:srgbClr val="CCFFFF"/>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endParaRPr lang="zh-CN" altLang="en-US" sz="1600" dirty="0">
                <a:solidFill>
                  <a:srgbClr val="FF0000"/>
                </a:solidFill>
                <a:latin typeface="微软雅黑" panose="020B0503020204020204" pitchFamily="34" charset="-122"/>
                <a:ea typeface="微软雅黑" panose="020B0503020204020204" pitchFamily="34" charset="-122"/>
              </a:endParaRPr>
            </a:p>
          </p:txBody>
        </p:sp>
        <p:graphicFrame>
          <p:nvGraphicFramePr>
            <p:cNvPr id="125" name="对象 124"/>
            <p:cNvGraphicFramePr>
              <a:graphicFrameLocks noChangeAspect="1"/>
            </p:cNvGraphicFramePr>
            <p:nvPr/>
          </p:nvGraphicFramePr>
          <p:xfrm>
            <a:off x="5298707" y="5039794"/>
            <a:ext cx="813913" cy="360000"/>
          </p:xfrm>
          <a:graphic>
            <a:graphicData uri="http://schemas.openxmlformats.org/presentationml/2006/ole">
              <mc:AlternateContent xmlns:mc="http://schemas.openxmlformats.org/markup-compatibility/2006">
                <mc:Choice xmlns:v="urn:schemas-microsoft-com:vml" Requires="v">
                  <p:oleObj spid="_x0000_s13371" name="公式" r:id="rId8" imgW="494665" imgH="215900" progId="Equation.3">
                    <p:embed/>
                  </p:oleObj>
                </mc:Choice>
                <mc:Fallback>
                  <p:oleObj name="公式" r:id="rId8" imgW="494665" imgH="215900" progId="Equation.3">
                    <p:embed/>
                    <p:pic>
                      <p:nvPicPr>
                        <p:cNvPr id="0" name="对象 1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98707" y="5039794"/>
                          <a:ext cx="813913" cy="360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6" name="对象 125"/>
            <p:cNvGraphicFramePr>
              <a:graphicFrameLocks noChangeAspect="1"/>
            </p:cNvGraphicFramePr>
            <p:nvPr/>
          </p:nvGraphicFramePr>
          <p:xfrm>
            <a:off x="6316980" y="5039794"/>
            <a:ext cx="825709" cy="333181"/>
          </p:xfrm>
          <a:graphic>
            <a:graphicData uri="http://schemas.openxmlformats.org/presentationml/2006/ole">
              <mc:AlternateContent xmlns:mc="http://schemas.openxmlformats.org/markup-compatibility/2006">
                <mc:Choice xmlns:v="urn:schemas-microsoft-com:vml" Requires="v">
                  <p:oleObj spid="_x0000_s13372" name="公式" r:id="rId10" imgW="545465" imgH="215900" progId="Equation.3">
                    <p:embed/>
                  </p:oleObj>
                </mc:Choice>
                <mc:Fallback>
                  <p:oleObj name="公式" r:id="rId10" imgW="545465" imgH="215900" progId="Equation.3">
                    <p:embed/>
                    <p:pic>
                      <p:nvPicPr>
                        <p:cNvPr id="0" name="对象 1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16980" y="5039794"/>
                          <a:ext cx="825709" cy="3331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7" name="对象 126"/>
            <p:cNvGraphicFramePr>
              <a:graphicFrameLocks noChangeAspect="1"/>
            </p:cNvGraphicFramePr>
            <p:nvPr/>
          </p:nvGraphicFramePr>
          <p:xfrm>
            <a:off x="7509088" y="5079190"/>
            <a:ext cx="661017" cy="293785"/>
          </p:xfrm>
          <a:graphic>
            <a:graphicData uri="http://schemas.openxmlformats.org/presentationml/2006/ole">
              <mc:AlternateContent xmlns:mc="http://schemas.openxmlformats.org/markup-compatibility/2006">
                <mc:Choice xmlns:v="urn:schemas-microsoft-com:vml" Requires="v">
                  <p:oleObj spid="_x0000_s13373" name="公式" r:id="rId12" imgW="431800" imgH="190500" progId="Equation.3">
                    <p:embed/>
                  </p:oleObj>
                </mc:Choice>
                <mc:Fallback>
                  <p:oleObj name="公式" r:id="rId12" imgW="431800" imgH="190500" progId="Equation.3">
                    <p:embed/>
                    <p:pic>
                      <p:nvPicPr>
                        <p:cNvPr id="0" name="对象 12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09088" y="5079190"/>
                          <a:ext cx="661017" cy="2937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1000"/>
                                        <p:tgtEl>
                                          <p:spTgt spid="123"/>
                                        </p:tgtEl>
                                      </p:cBhvr>
                                    </p:animEffect>
                                    <p:anim calcmode="lin" valueType="num">
                                      <p:cBhvr>
                                        <p:cTn id="8" dur="1000" fill="hold"/>
                                        <p:tgtEl>
                                          <p:spTgt spid="123"/>
                                        </p:tgtEl>
                                        <p:attrNameLst>
                                          <p:attrName>ppt_x</p:attrName>
                                        </p:attrNameLst>
                                      </p:cBhvr>
                                      <p:tavLst>
                                        <p:tav tm="0">
                                          <p:val>
                                            <p:strVal val="#ppt_x"/>
                                          </p:val>
                                        </p:tav>
                                        <p:tav tm="100000">
                                          <p:val>
                                            <p:strVal val="#ppt_x"/>
                                          </p:val>
                                        </p:tav>
                                      </p:tavLst>
                                    </p:anim>
                                    <p:anim calcmode="lin" valueType="num">
                                      <p:cBhvr>
                                        <p:cTn id="9" dur="1000" fill="hold"/>
                                        <p:tgtEl>
                                          <p:spTgt spid="12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10"/>
                                        </p:tgtEl>
                                        <p:attrNameLst>
                                          <p:attrName>style.visibility</p:attrName>
                                        </p:attrNameLst>
                                      </p:cBhvr>
                                      <p:to>
                                        <p:strVal val="visible"/>
                                      </p:to>
                                    </p:set>
                                    <p:animEffect transition="in" filter="fade">
                                      <p:cBhvr>
                                        <p:cTn id="13" dur="1000"/>
                                        <p:tgtEl>
                                          <p:spTgt spid="110"/>
                                        </p:tgtEl>
                                      </p:cBhvr>
                                    </p:animEffect>
                                    <p:anim calcmode="lin" valueType="num">
                                      <p:cBhvr>
                                        <p:cTn id="14" dur="1000" fill="hold"/>
                                        <p:tgtEl>
                                          <p:spTgt spid="110"/>
                                        </p:tgtEl>
                                        <p:attrNameLst>
                                          <p:attrName>ppt_x</p:attrName>
                                        </p:attrNameLst>
                                      </p:cBhvr>
                                      <p:tavLst>
                                        <p:tav tm="0">
                                          <p:val>
                                            <p:strVal val="#ppt_x"/>
                                          </p:val>
                                        </p:tav>
                                        <p:tav tm="100000">
                                          <p:val>
                                            <p:strVal val="#ppt_x"/>
                                          </p:val>
                                        </p:tav>
                                      </p:tavLst>
                                    </p:anim>
                                    <p:anim calcmode="lin" valueType="num">
                                      <p:cBhvr>
                                        <p:cTn id="15" dur="1000" fill="hold"/>
                                        <p:tgtEl>
                                          <p:spTgt spid="110"/>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93"/>
                                        </p:tgtEl>
                                        <p:attrNameLst>
                                          <p:attrName>style.visibility</p:attrName>
                                        </p:attrNameLst>
                                      </p:cBhvr>
                                      <p:to>
                                        <p:strVal val="visible"/>
                                      </p:to>
                                    </p:set>
                                    <p:anim calcmode="lin" valueType="num">
                                      <p:cBhvr>
                                        <p:cTn id="26" dur="1000" fill="hold"/>
                                        <p:tgtEl>
                                          <p:spTgt spid="93"/>
                                        </p:tgtEl>
                                        <p:attrNameLst>
                                          <p:attrName>ppt_w</p:attrName>
                                        </p:attrNameLst>
                                      </p:cBhvr>
                                      <p:tavLst>
                                        <p:tav tm="0">
                                          <p:val>
                                            <p:fltVal val="0"/>
                                          </p:val>
                                        </p:tav>
                                        <p:tav tm="100000">
                                          <p:val>
                                            <p:strVal val="#ppt_w"/>
                                          </p:val>
                                        </p:tav>
                                      </p:tavLst>
                                    </p:anim>
                                    <p:anim calcmode="lin" valueType="num">
                                      <p:cBhvr>
                                        <p:cTn id="27" dur="1000" fill="hold"/>
                                        <p:tgtEl>
                                          <p:spTgt spid="93"/>
                                        </p:tgtEl>
                                        <p:attrNameLst>
                                          <p:attrName>ppt_h</p:attrName>
                                        </p:attrNameLst>
                                      </p:cBhvr>
                                      <p:tavLst>
                                        <p:tav tm="0">
                                          <p:val>
                                            <p:fltVal val="0"/>
                                          </p:val>
                                        </p:tav>
                                        <p:tav tm="100000">
                                          <p:val>
                                            <p:strVal val="#ppt_h"/>
                                          </p:val>
                                        </p:tav>
                                      </p:tavLst>
                                    </p:anim>
                                    <p:animEffect transition="in" filter="fade">
                                      <p:cBhvr>
                                        <p:cTn id="28" dur="1000"/>
                                        <p:tgtEl>
                                          <p:spTgt spid="9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down)">
                                      <p:cBhvr>
                                        <p:cTn id="33" dur="1000"/>
                                        <p:tgtEl>
                                          <p:spTgt spid="5"/>
                                        </p:tgtEl>
                                      </p:cBhvr>
                                    </p:animEffect>
                                  </p:childTnLst>
                                </p:cTn>
                              </p:par>
                            </p:childTnLst>
                          </p:cTn>
                        </p:par>
                        <p:par>
                          <p:cTn id="34" fill="hold">
                            <p:stCondLst>
                              <p:cond delay="1000"/>
                            </p:stCondLst>
                            <p:childTnLst>
                              <p:par>
                                <p:cTn id="35" presetID="22" presetClass="entr" presetSubtype="4" fill="hold"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down)">
                                      <p:cBhvr>
                                        <p:cTn id="37" dur="10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3"/>
                                        </p:tgtEl>
                                        <p:attrNameLst>
                                          <p:attrName>style.visibility</p:attrName>
                                        </p:attrNameLst>
                                      </p:cBhvr>
                                      <p:to>
                                        <p:strVal val="visible"/>
                                      </p:to>
                                    </p:set>
                                    <p:anim calcmode="lin" valueType="num">
                                      <p:cBhvr>
                                        <p:cTn id="42" dur="1000" fill="hold"/>
                                        <p:tgtEl>
                                          <p:spTgt spid="103"/>
                                        </p:tgtEl>
                                        <p:attrNameLst>
                                          <p:attrName>ppt_w</p:attrName>
                                        </p:attrNameLst>
                                      </p:cBhvr>
                                      <p:tavLst>
                                        <p:tav tm="0">
                                          <p:val>
                                            <p:fltVal val="0"/>
                                          </p:val>
                                        </p:tav>
                                        <p:tav tm="100000">
                                          <p:val>
                                            <p:strVal val="#ppt_w"/>
                                          </p:val>
                                        </p:tav>
                                      </p:tavLst>
                                    </p:anim>
                                    <p:anim calcmode="lin" valueType="num">
                                      <p:cBhvr>
                                        <p:cTn id="43" dur="1000" fill="hold"/>
                                        <p:tgtEl>
                                          <p:spTgt spid="103"/>
                                        </p:tgtEl>
                                        <p:attrNameLst>
                                          <p:attrName>ppt_h</p:attrName>
                                        </p:attrNameLst>
                                      </p:cBhvr>
                                      <p:tavLst>
                                        <p:tav tm="0">
                                          <p:val>
                                            <p:fltVal val="0"/>
                                          </p:val>
                                        </p:tav>
                                        <p:tav tm="100000">
                                          <p:val>
                                            <p:strVal val="#ppt_h"/>
                                          </p:val>
                                        </p:tav>
                                      </p:tavLst>
                                    </p:anim>
                                    <p:animEffect transition="in" filter="fade">
                                      <p:cBhvr>
                                        <p:cTn id="44" dur="1000"/>
                                        <p:tgtEl>
                                          <p:spTgt spid="103"/>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20"/>
                                        </p:tgtEl>
                                        <p:attrNameLst>
                                          <p:attrName>style.visibility</p:attrName>
                                        </p:attrNameLst>
                                      </p:cBhvr>
                                      <p:to>
                                        <p:strVal val="visible"/>
                                      </p:to>
                                    </p:set>
                                    <p:animEffect transition="in" filter="fade">
                                      <p:cBhvr>
                                        <p:cTn id="49" dur="1000"/>
                                        <p:tgtEl>
                                          <p:spTgt spid="120"/>
                                        </p:tgtEl>
                                      </p:cBhvr>
                                    </p:animEffect>
                                    <p:anim calcmode="lin" valueType="num">
                                      <p:cBhvr>
                                        <p:cTn id="50" dur="1000" fill="hold"/>
                                        <p:tgtEl>
                                          <p:spTgt spid="120"/>
                                        </p:tgtEl>
                                        <p:attrNameLst>
                                          <p:attrName>ppt_x</p:attrName>
                                        </p:attrNameLst>
                                      </p:cBhvr>
                                      <p:tavLst>
                                        <p:tav tm="0">
                                          <p:val>
                                            <p:strVal val="#ppt_x"/>
                                          </p:val>
                                        </p:tav>
                                        <p:tav tm="100000">
                                          <p:val>
                                            <p:strVal val="#ppt_x"/>
                                          </p:val>
                                        </p:tav>
                                      </p:tavLst>
                                    </p:anim>
                                    <p:anim calcmode="lin" valueType="num">
                                      <p:cBhvr>
                                        <p:cTn id="51" dur="1000" fill="hold"/>
                                        <p:tgtEl>
                                          <p:spTgt spid="120"/>
                                        </p:tgtEl>
                                        <p:attrNameLst>
                                          <p:attrName>ppt_y</p:attrName>
                                        </p:attrNameLst>
                                      </p:cBhvr>
                                      <p:tavLst>
                                        <p:tav tm="0">
                                          <p:val>
                                            <p:strVal val="#ppt_y+.1"/>
                                          </p:val>
                                        </p:tav>
                                        <p:tav tm="100000">
                                          <p:val>
                                            <p:strVal val="#ppt_y"/>
                                          </p:val>
                                        </p:tav>
                                      </p:tavLst>
                                    </p:anim>
                                  </p:childTnLst>
                                </p:cTn>
                              </p:par>
                            </p:childTnLst>
                          </p:cTn>
                        </p:par>
                        <p:par>
                          <p:cTn id="52" fill="hold">
                            <p:stCondLst>
                              <p:cond delay="1000"/>
                            </p:stCondLst>
                            <p:childTnLst>
                              <p:par>
                                <p:cTn id="53" presetID="53" presetClass="entr" presetSubtype="16" fill="hold" grpId="0" nodeType="afterEffect">
                                  <p:stCondLst>
                                    <p:cond delay="0"/>
                                  </p:stCondLst>
                                  <p:childTnLst>
                                    <p:set>
                                      <p:cBhvr>
                                        <p:cTn id="54" dur="1" fill="hold">
                                          <p:stCondLst>
                                            <p:cond delay="0"/>
                                          </p:stCondLst>
                                        </p:cTn>
                                        <p:tgtEl>
                                          <p:spTgt spid="121"/>
                                        </p:tgtEl>
                                        <p:attrNameLst>
                                          <p:attrName>style.visibility</p:attrName>
                                        </p:attrNameLst>
                                      </p:cBhvr>
                                      <p:to>
                                        <p:strVal val="visible"/>
                                      </p:to>
                                    </p:set>
                                    <p:anim calcmode="lin" valueType="num">
                                      <p:cBhvr>
                                        <p:cTn id="55" dur="1000" fill="hold"/>
                                        <p:tgtEl>
                                          <p:spTgt spid="121"/>
                                        </p:tgtEl>
                                        <p:attrNameLst>
                                          <p:attrName>ppt_w</p:attrName>
                                        </p:attrNameLst>
                                      </p:cBhvr>
                                      <p:tavLst>
                                        <p:tav tm="0">
                                          <p:val>
                                            <p:fltVal val="0"/>
                                          </p:val>
                                        </p:tav>
                                        <p:tav tm="100000">
                                          <p:val>
                                            <p:strVal val="#ppt_w"/>
                                          </p:val>
                                        </p:tav>
                                      </p:tavLst>
                                    </p:anim>
                                    <p:anim calcmode="lin" valueType="num">
                                      <p:cBhvr>
                                        <p:cTn id="56" dur="1000" fill="hold"/>
                                        <p:tgtEl>
                                          <p:spTgt spid="121"/>
                                        </p:tgtEl>
                                        <p:attrNameLst>
                                          <p:attrName>ppt_h</p:attrName>
                                        </p:attrNameLst>
                                      </p:cBhvr>
                                      <p:tavLst>
                                        <p:tav tm="0">
                                          <p:val>
                                            <p:fltVal val="0"/>
                                          </p:val>
                                        </p:tav>
                                        <p:tav tm="100000">
                                          <p:val>
                                            <p:strVal val="#ppt_h"/>
                                          </p:val>
                                        </p:tav>
                                      </p:tavLst>
                                    </p:anim>
                                    <p:animEffect transition="in" filter="fade">
                                      <p:cBhvr>
                                        <p:cTn id="57" dur="1000"/>
                                        <p:tgtEl>
                                          <p:spTgt spid="121"/>
                                        </p:tgtEl>
                                      </p:cBhvr>
                                    </p:animEffect>
                                  </p:childTnLst>
                                </p:cTn>
                              </p:par>
                            </p:childTnLst>
                          </p:cTn>
                        </p:par>
                        <p:par>
                          <p:cTn id="58" fill="hold">
                            <p:stCondLst>
                              <p:cond delay="2000"/>
                            </p:stCondLst>
                            <p:childTnLst>
                              <p:par>
                                <p:cTn id="59" presetID="42" presetClass="entr" presetSubtype="0" fill="hold" nodeType="afterEffect">
                                  <p:stCondLst>
                                    <p:cond delay="0"/>
                                  </p:stCondLst>
                                  <p:childTnLst>
                                    <p:set>
                                      <p:cBhvr>
                                        <p:cTn id="60" dur="1" fill="hold">
                                          <p:stCondLst>
                                            <p:cond delay="0"/>
                                          </p:stCondLst>
                                        </p:cTn>
                                        <p:tgtEl>
                                          <p:spTgt spid="6"/>
                                        </p:tgtEl>
                                        <p:attrNameLst>
                                          <p:attrName>style.visibility</p:attrName>
                                        </p:attrNameLst>
                                      </p:cBhvr>
                                      <p:to>
                                        <p:strVal val="visible"/>
                                      </p:to>
                                    </p:set>
                                    <p:animEffect transition="in" filter="fade">
                                      <p:cBhvr>
                                        <p:cTn id="61" dur="1000"/>
                                        <p:tgtEl>
                                          <p:spTgt spid="6"/>
                                        </p:tgtEl>
                                      </p:cBhvr>
                                    </p:animEffect>
                                    <p:anim calcmode="lin" valueType="num">
                                      <p:cBhvr>
                                        <p:cTn id="62" dur="1000" fill="hold"/>
                                        <p:tgtEl>
                                          <p:spTgt spid="6"/>
                                        </p:tgtEl>
                                        <p:attrNameLst>
                                          <p:attrName>ppt_x</p:attrName>
                                        </p:attrNameLst>
                                      </p:cBhvr>
                                      <p:tavLst>
                                        <p:tav tm="0">
                                          <p:val>
                                            <p:strVal val="#ppt_x"/>
                                          </p:val>
                                        </p:tav>
                                        <p:tav tm="100000">
                                          <p:val>
                                            <p:strVal val="#ppt_x"/>
                                          </p:val>
                                        </p:tav>
                                      </p:tavLst>
                                    </p:anim>
                                    <p:anim calcmode="lin" valueType="num">
                                      <p:cBhvr>
                                        <p:cTn id="6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103" grpId="0" animBg="1"/>
      <p:bldP spid="12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88"/>
          <p:cNvGrpSpPr/>
          <p:nvPr/>
        </p:nvGrpSpPr>
        <p:grpSpPr>
          <a:xfrm>
            <a:off x="392432" y="778617"/>
            <a:ext cx="3704049" cy="420971"/>
            <a:chOff x="670560" y="892917"/>
            <a:chExt cx="3704049" cy="420971"/>
          </a:xfrm>
        </p:grpSpPr>
        <p:sp>
          <p:nvSpPr>
            <p:cNvPr id="3" name="矩形 2"/>
            <p:cNvSpPr/>
            <p:nvPr/>
          </p:nvSpPr>
          <p:spPr>
            <a:xfrm>
              <a:off x="1035233" y="913778"/>
              <a:ext cx="3339376"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同步时序逻辑电路设计实例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6" name="组合 14"/>
          <p:cNvGrpSpPr/>
          <p:nvPr/>
        </p:nvGrpSpPr>
        <p:grpSpPr>
          <a:xfrm>
            <a:off x="400513" y="1289896"/>
            <a:ext cx="4724040" cy="374630"/>
            <a:chOff x="369777" y="1347760"/>
            <a:chExt cx="4724040" cy="374630"/>
          </a:xfrm>
        </p:grpSpPr>
        <p:sp>
          <p:nvSpPr>
            <p:cNvPr id="7" name="TextBox 6"/>
            <p:cNvSpPr txBox="1"/>
            <p:nvPr/>
          </p:nvSpPr>
          <p:spPr>
            <a:xfrm>
              <a:off x="723710" y="1350409"/>
              <a:ext cx="4370107" cy="369332"/>
            </a:xfrm>
            <a:prstGeom prst="rect">
              <a:avLst/>
            </a:prstGeom>
            <a:noFill/>
          </p:spPr>
          <p:txBody>
            <a:bodyPr wrap="none" rtlCol="0">
              <a:spAutoFit/>
            </a:bodyPr>
            <a:lstStyle/>
            <a:p>
              <a:r>
                <a:rPr lang="zh-CN" altLang="en-US" b="1" dirty="0">
                  <a:solidFill>
                    <a:srgbClr val="CC00CC"/>
                  </a:solidFill>
                  <a:latin typeface="黑体" panose="02010609060101010101" pitchFamily="49" charset="-122"/>
                  <a:ea typeface="黑体" panose="02010609060101010101" pitchFamily="49" charset="-122"/>
                </a:rPr>
                <a:t>例：</a:t>
              </a:r>
              <a:r>
                <a:rPr lang="zh-CN" altLang="en-US" b="1" dirty="0">
                  <a:solidFill>
                    <a:srgbClr val="6600FF"/>
                  </a:solidFill>
                  <a:latin typeface="黑体" panose="02010609060101010101" pitchFamily="49" charset="-122"/>
                  <a:ea typeface="黑体" panose="02010609060101010101" pitchFamily="49" charset="-122"/>
                </a:rPr>
                <a:t>用</a:t>
              </a:r>
              <a:r>
                <a:rPr lang="en-US" altLang="zh-CN" b="1" dirty="0">
                  <a:solidFill>
                    <a:srgbClr val="6600FF"/>
                  </a:solidFill>
                  <a:latin typeface="黑体" panose="02010609060101010101" pitchFamily="49" charset="-122"/>
                  <a:ea typeface="黑体" panose="02010609060101010101" pitchFamily="49" charset="-122"/>
                </a:rPr>
                <a:t>JK</a:t>
              </a:r>
              <a:r>
                <a:rPr lang="zh-CN" altLang="en-US" b="1" dirty="0">
                  <a:solidFill>
                    <a:srgbClr val="6600FF"/>
                  </a:solidFill>
                  <a:latin typeface="黑体" panose="02010609060101010101" pitchFamily="49" charset="-122"/>
                  <a:ea typeface="黑体" panose="02010609060101010101" pitchFamily="49" charset="-122"/>
                </a:rPr>
                <a:t>触发器设计一个六进制计数器。</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8"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graphicFrame>
        <p:nvGraphicFramePr>
          <p:cNvPr id="48" name="表格 47"/>
          <p:cNvGraphicFramePr>
            <a:graphicFrameLocks noGrp="1"/>
          </p:cNvGraphicFramePr>
          <p:nvPr/>
        </p:nvGraphicFramePr>
        <p:xfrm>
          <a:off x="893712" y="2836563"/>
          <a:ext cx="3491998" cy="2037202"/>
        </p:xfrm>
        <a:graphic>
          <a:graphicData uri="http://schemas.openxmlformats.org/drawingml/2006/table">
            <a:tbl>
              <a:tblPr/>
              <a:tblGrid>
                <a:gridCol w="449714"/>
                <a:gridCol w="449714"/>
                <a:gridCol w="449714"/>
                <a:gridCol w="535714"/>
                <a:gridCol w="535714"/>
                <a:gridCol w="535714"/>
                <a:gridCol w="535714"/>
              </a:tblGrid>
              <a:tr h="396067">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Q</a:t>
                      </a:r>
                      <a:r>
                        <a:rPr kumimoji="0" lang="en-US" altLang="zh-CN" sz="1600" b="1" i="0" u="none" strike="noStrike" cap="none" normalizeH="0" baseline="-25000" dirty="0">
                          <a:ln>
                            <a:noFill/>
                          </a:ln>
                          <a:solidFill>
                            <a:srgbClr val="000000"/>
                          </a:solidFill>
                          <a:effectLst/>
                          <a:latin typeface="Arial" panose="020B0604020202020204" pitchFamily="34" charset="0"/>
                          <a:ea typeface="楷体_GB2312" pitchFamily="49" charset="-122"/>
                        </a:rPr>
                        <a:t>2</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n</a:t>
                      </a:r>
                      <a:endPar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Q</a:t>
                      </a:r>
                      <a:r>
                        <a:rPr kumimoji="0" lang="en-US" altLang="zh-CN" sz="1600" b="1" i="0" u="none" strike="noStrike" cap="none" normalizeH="0" baseline="-25000" dirty="0">
                          <a:ln>
                            <a:noFill/>
                          </a:ln>
                          <a:solidFill>
                            <a:srgbClr val="000000"/>
                          </a:solidFill>
                          <a:effectLst/>
                          <a:latin typeface="Arial" panose="020B0604020202020204" pitchFamily="34" charset="0"/>
                          <a:ea typeface="楷体_GB2312" pitchFamily="49" charset="-122"/>
                        </a:rPr>
                        <a:t>1</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n</a:t>
                      </a:r>
                      <a:endParaRPr kumimoji="0" lang="zh-CN" altLang="en-US" sz="1600" b="1" i="0" u="none" strike="noStrike" cap="none" normalizeH="0" baseline="3000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Q</a:t>
                      </a:r>
                      <a:r>
                        <a:rPr kumimoji="0" lang="en-US" altLang="zh-CN" sz="1600" b="1" i="0" u="none" strike="noStrike" cap="none" normalizeH="0" baseline="-25000" dirty="0">
                          <a:ln>
                            <a:noFill/>
                          </a:ln>
                          <a:solidFill>
                            <a:srgbClr val="000000"/>
                          </a:solidFill>
                          <a:effectLst/>
                          <a:latin typeface="Arial" panose="020B0604020202020204" pitchFamily="34" charset="0"/>
                          <a:ea typeface="楷体_GB2312" pitchFamily="49" charset="-122"/>
                        </a:rPr>
                        <a:t>0</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n</a:t>
                      </a:r>
                      <a:endParaRPr kumimoji="0" lang="zh-CN" altLang="en-US" sz="1600" b="1" i="0" u="none" strike="noStrike" cap="none" normalizeH="0" baseline="3000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Q</a:t>
                      </a:r>
                      <a:r>
                        <a:rPr kumimoji="0" lang="en-US" altLang="zh-CN" sz="1600" b="1" i="0" u="none" strike="noStrike" cap="none" normalizeH="0" baseline="-25000" dirty="0">
                          <a:ln>
                            <a:noFill/>
                          </a:ln>
                          <a:solidFill>
                            <a:srgbClr val="000000"/>
                          </a:solidFill>
                          <a:effectLst/>
                          <a:latin typeface="Arial" panose="020B0604020202020204" pitchFamily="34" charset="0"/>
                          <a:ea typeface="楷体_GB2312" pitchFamily="49" charset="-122"/>
                        </a:rPr>
                        <a:t>2</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n+1</a:t>
                      </a:r>
                      <a:endParaRPr kumimoji="0" lang="zh-CN" altLang="en-US" sz="1600" b="1" i="0" u="none" strike="noStrike" cap="none" normalizeH="0" baseline="3000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Q</a:t>
                      </a:r>
                      <a:r>
                        <a:rPr kumimoji="0" lang="en-US" altLang="zh-CN" sz="1600" b="1" i="0" u="none" strike="noStrike" cap="none" normalizeH="0" baseline="-25000" dirty="0">
                          <a:ln>
                            <a:noFill/>
                          </a:ln>
                          <a:solidFill>
                            <a:srgbClr val="000000"/>
                          </a:solidFill>
                          <a:effectLst/>
                          <a:latin typeface="Arial" panose="020B0604020202020204" pitchFamily="34" charset="0"/>
                          <a:ea typeface="楷体_GB2312" pitchFamily="49" charset="-122"/>
                        </a:rPr>
                        <a:t>1</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n+1</a:t>
                      </a:r>
                      <a:endParaRPr kumimoji="0" lang="zh-CN" altLang="en-US" sz="1600" b="1" i="0" u="none" strike="noStrike" cap="none" normalizeH="0" baseline="3000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Q</a:t>
                      </a:r>
                      <a:r>
                        <a:rPr kumimoji="0" lang="en-US" altLang="zh-CN" sz="1600" b="1" i="0" u="none" strike="noStrike" cap="none" normalizeH="0" baseline="-25000" dirty="0">
                          <a:ln>
                            <a:noFill/>
                          </a:ln>
                          <a:solidFill>
                            <a:srgbClr val="000000"/>
                          </a:solidFill>
                          <a:effectLst/>
                          <a:latin typeface="Arial" panose="020B0604020202020204" pitchFamily="34" charset="0"/>
                          <a:ea typeface="楷体_GB2312" pitchFamily="49" charset="-122"/>
                        </a:rPr>
                        <a:t>0</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n+1</a:t>
                      </a:r>
                      <a:endParaRPr kumimoji="0" lang="zh-CN" altLang="en-US" sz="1600" b="1" i="0" u="none" strike="noStrike" cap="none" normalizeH="0" baseline="3000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600" b="1" i="1" u="none" strike="noStrike" cap="none" normalizeH="0" baseline="0" dirty="0">
                          <a:ln>
                            <a:noFill/>
                          </a:ln>
                          <a:solidFill>
                            <a:srgbClr val="000000"/>
                          </a:solidFill>
                          <a:effectLst/>
                          <a:latin typeface="Arial" panose="020B0604020202020204" pitchFamily="34" charset="0"/>
                          <a:ea typeface="楷体_GB2312" pitchFamily="49" charset="-122"/>
                        </a:rPr>
                        <a:t>Z</a:t>
                      </a:r>
                      <a:endParaRPr kumimoji="0" lang="zh-CN" altLang="en-US" sz="1600" b="1" i="1"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27300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r>
              <a:tr h="27403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r>
              <a:tr h="27403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r>
              <a:tr h="27403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r>
              <a:tr h="27300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r>
              <a:tr h="27300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pic>
        <p:nvPicPr>
          <p:cNvPr id="93186" name="Picture 2"/>
          <p:cNvPicPr>
            <a:picLocks noChangeAspect="1" noChangeArrowheads="1"/>
          </p:cNvPicPr>
          <p:nvPr/>
        </p:nvPicPr>
        <p:blipFill>
          <a:blip r:embed="rId3" cstate="print"/>
          <a:srcRect/>
          <a:stretch>
            <a:fillRect/>
          </a:stretch>
        </p:blipFill>
        <p:spPr bwMode="auto">
          <a:xfrm>
            <a:off x="7033845" y="707523"/>
            <a:ext cx="2019863" cy="1864729"/>
          </a:xfrm>
          <a:prstGeom prst="rect">
            <a:avLst/>
          </a:prstGeom>
          <a:noFill/>
          <a:ln w="9525">
            <a:noFill/>
            <a:miter lim="800000"/>
            <a:headEnd/>
            <a:tailEnd/>
          </a:ln>
        </p:spPr>
      </p:pic>
      <p:graphicFrame>
        <p:nvGraphicFramePr>
          <p:cNvPr id="52" name="表格 51"/>
          <p:cNvGraphicFramePr>
            <a:graphicFrameLocks noGrp="1"/>
          </p:cNvGraphicFramePr>
          <p:nvPr/>
        </p:nvGraphicFramePr>
        <p:xfrm>
          <a:off x="4394924" y="2836563"/>
          <a:ext cx="900000" cy="2037202"/>
        </p:xfrm>
        <a:graphic>
          <a:graphicData uri="http://schemas.openxmlformats.org/drawingml/2006/table">
            <a:tbl>
              <a:tblPr/>
              <a:tblGrid>
                <a:gridCol w="426850"/>
                <a:gridCol w="473150"/>
              </a:tblGrid>
              <a:tr h="396067">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J</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2</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K</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2</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27300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CCFF"/>
                    </a:solidFill>
                  </a:tcPr>
                </a:tc>
              </a:tr>
              <a:tr h="27403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CCFF"/>
                    </a:solidFill>
                  </a:tcPr>
                </a:tc>
              </a:tr>
              <a:tr h="27403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CCFF"/>
                    </a:solidFill>
                  </a:tcPr>
                </a:tc>
              </a:tr>
              <a:tr h="27403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CCFF"/>
                    </a:solidFill>
                  </a:tcPr>
                </a:tc>
              </a:tr>
              <a:tr h="27300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CCFF"/>
                    </a:solidFill>
                  </a:tcPr>
                </a:tc>
              </a:tr>
              <a:tr h="27300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CCFF"/>
                    </a:solidFill>
                  </a:tcPr>
                </a:tc>
              </a:tr>
            </a:tbl>
          </a:graphicData>
        </a:graphic>
      </p:graphicFrame>
      <p:graphicFrame>
        <p:nvGraphicFramePr>
          <p:cNvPr id="53" name="表格 52"/>
          <p:cNvGraphicFramePr>
            <a:graphicFrameLocks noGrp="1"/>
          </p:cNvGraphicFramePr>
          <p:nvPr/>
        </p:nvGraphicFramePr>
        <p:xfrm>
          <a:off x="5299667" y="2836563"/>
          <a:ext cx="900000" cy="2037202"/>
        </p:xfrm>
        <a:graphic>
          <a:graphicData uri="http://schemas.openxmlformats.org/drawingml/2006/table">
            <a:tbl>
              <a:tblPr/>
              <a:tblGrid>
                <a:gridCol w="426850"/>
                <a:gridCol w="473150"/>
              </a:tblGrid>
              <a:tr h="396067">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J</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K</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27300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r>
              <a:tr h="27403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r>
              <a:tr h="27403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r>
              <a:tr h="27403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r>
              <a:tr h="27300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r>
              <a:tr h="27300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CCFFFF"/>
                    </a:solidFill>
                  </a:tcPr>
                </a:tc>
              </a:tr>
            </a:tbl>
          </a:graphicData>
        </a:graphic>
      </p:graphicFrame>
      <p:graphicFrame>
        <p:nvGraphicFramePr>
          <p:cNvPr id="54" name="表格 53"/>
          <p:cNvGraphicFramePr>
            <a:graphicFrameLocks noGrp="1"/>
          </p:cNvGraphicFramePr>
          <p:nvPr/>
        </p:nvGraphicFramePr>
        <p:xfrm>
          <a:off x="6200599" y="2836563"/>
          <a:ext cx="900000" cy="2037202"/>
        </p:xfrm>
        <a:graphic>
          <a:graphicData uri="http://schemas.openxmlformats.org/drawingml/2006/table">
            <a:tbl>
              <a:tblPr/>
              <a:tblGrid>
                <a:gridCol w="426850"/>
                <a:gridCol w="473150"/>
              </a:tblGrid>
              <a:tr h="396067">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J</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K</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27300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99CCFF"/>
                    </a:solidFill>
                  </a:tcPr>
                </a:tc>
              </a:tr>
              <a:tr h="27403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99CCFF"/>
                    </a:solidFill>
                  </a:tcPr>
                </a:tc>
              </a:tr>
              <a:tr h="27403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99CCFF"/>
                    </a:solidFill>
                  </a:tcPr>
                </a:tc>
              </a:tr>
              <a:tr h="27403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99CCFF"/>
                    </a:solidFill>
                  </a:tcPr>
                </a:tc>
              </a:tr>
              <a:tr h="27300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99CCFF"/>
                    </a:solidFill>
                  </a:tcPr>
                </a:tc>
              </a:tr>
              <a:tr h="27300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99CCFF"/>
                    </a:solidFill>
                  </a:tcPr>
                </a:tc>
              </a:tr>
            </a:tbl>
          </a:graphicData>
        </a:graphic>
      </p:graphicFrame>
      <p:grpSp>
        <p:nvGrpSpPr>
          <p:cNvPr id="18" name="组合 17"/>
          <p:cNvGrpSpPr/>
          <p:nvPr/>
        </p:nvGrpSpPr>
        <p:grpSpPr>
          <a:xfrm>
            <a:off x="893135" y="3232803"/>
            <a:ext cx="2951832" cy="1640962"/>
            <a:chOff x="893135" y="3232803"/>
            <a:chExt cx="2951832" cy="1640962"/>
          </a:xfrm>
        </p:grpSpPr>
        <p:sp>
          <p:nvSpPr>
            <p:cNvPr id="55" name="圆角矩形 54"/>
            <p:cNvSpPr/>
            <p:nvPr/>
          </p:nvSpPr>
          <p:spPr>
            <a:xfrm>
              <a:off x="893135" y="3232803"/>
              <a:ext cx="448454" cy="1640962"/>
            </a:xfrm>
            <a:prstGeom prst="roundRect">
              <a:avLst>
                <a:gd name="adj" fmla="val 0"/>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圆角矩形 55"/>
            <p:cNvSpPr/>
            <p:nvPr/>
          </p:nvSpPr>
          <p:spPr>
            <a:xfrm>
              <a:off x="2253191" y="3232803"/>
              <a:ext cx="517356" cy="1640962"/>
            </a:xfrm>
            <a:prstGeom prst="roundRect">
              <a:avLst>
                <a:gd name="adj" fmla="val 0"/>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圆角矩形 59"/>
            <p:cNvSpPr/>
            <p:nvPr/>
          </p:nvSpPr>
          <p:spPr>
            <a:xfrm>
              <a:off x="1339372" y="3232803"/>
              <a:ext cx="455815" cy="1640962"/>
            </a:xfrm>
            <a:prstGeom prst="roundRect">
              <a:avLst>
                <a:gd name="adj" fmla="val 0"/>
              </a:avLst>
            </a:prstGeom>
            <a:solidFill>
              <a:srgbClr val="66FF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圆角矩形 60"/>
            <p:cNvSpPr/>
            <p:nvPr/>
          </p:nvSpPr>
          <p:spPr>
            <a:xfrm>
              <a:off x="1799397" y="3232803"/>
              <a:ext cx="449051" cy="1640962"/>
            </a:xfrm>
            <a:prstGeom prst="roundRect">
              <a:avLst>
                <a:gd name="adj" fmla="val 0"/>
              </a:avLst>
            </a:prstGeom>
            <a:solidFill>
              <a:srgbClr val="00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圆角矩形 61"/>
            <p:cNvSpPr/>
            <p:nvPr/>
          </p:nvSpPr>
          <p:spPr>
            <a:xfrm>
              <a:off x="2779761" y="3232803"/>
              <a:ext cx="516566" cy="1640962"/>
            </a:xfrm>
            <a:prstGeom prst="roundRect">
              <a:avLst>
                <a:gd name="adj" fmla="val 0"/>
              </a:avLst>
            </a:prstGeom>
            <a:solidFill>
              <a:srgbClr val="66FF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圆角矩形 62"/>
            <p:cNvSpPr/>
            <p:nvPr/>
          </p:nvSpPr>
          <p:spPr>
            <a:xfrm>
              <a:off x="3305541" y="3232803"/>
              <a:ext cx="539426" cy="1640962"/>
            </a:xfrm>
            <a:prstGeom prst="roundRect">
              <a:avLst>
                <a:gd name="adj" fmla="val 0"/>
              </a:avLst>
            </a:prstGeom>
            <a:solidFill>
              <a:srgbClr val="00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16" name="对象 15"/>
          <p:cNvGraphicFramePr>
            <a:graphicFrameLocks noChangeAspect="1"/>
          </p:cNvGraphicFramePr>
          <p:nvPr/>
        </p:nvGraphicFramePr>
        <p:xfrm>
          <a:off x="1128115" y="1661877"/>
          <a:ext cx="4246316" cy="1046014"/>
        </p:xfrm>
        <a:graphic>
          <a:graphicData uri="http://schemas.openxmlformats.org/presentationml/2006/ole">
            <mc:AlternateContent xmlns:mc="http://schemas.openxmlformats.org/markup-compatibility/2006">
              <mc:Choice xmlns:v="urn:schemas-microsoft-com:vml" Requires="v">
                <p:oleObj spid="_x0000_s14349" name="Visio" r:id="rId4" imgW="2514600" imgH="628650" progId="Visio.Drawing.11">
                  <p:embed/>
                </p:oleObj>
              </mc:Choice>
              <mc:Fallback>
                <p:oleObj name="Visio" r:id="rId4" imgW="2514600" imgH="628650" progId="Visio.Drawing.11">
                  <p:embed/>
                  <p:pic>
                    <p:nvPicPr>
                      <p:cNvPr id="0" name="对象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8115" y="1661877"/>
                        <a:ext cx="4246316" cy="10460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矩形: 圆角 20"/>
          <p:cNvSpPr/>
          <p:nvPr/>
        </p:nvSpPr>
        <p:spPr>
          <a:xfrm>
            <a:off x="7140012" y="1394568"/>
            <a:ext cx="1790344" cy="248813"/>
          </a:xfrm>
          <a:prstGeom prst="roundRect">
            <a:avLst>
              <a:gd name="adj" fmla="val 0"/>
            </a:avLst>
          </a:prstGeom>
          <a:solidFill>
            <a:schemeClr val="accent1">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p:cNvSpPr/>
          <p:nvPr/>
        </p:nvSpPr>
        <p:spPr>
          <a:xfrm>
            <a:off x="7140012" y="1667171"/>
            <a:ext cx="1790344" cy="248813"/>
          </a:xfrm>
          <a:prstGeom prst="roundRect">
            <a:avLst>
              <a:gd name="adj" fmla="val 0"/>
            </a:avLst>
          </a:prstGeom>
          <a:solidFill>
            <a:schemeClr val="accent2">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p:cNvSpPr/>
          <p:nvPr/>
        </p:nvSpPr>
        <p:spPr>
          <a:xfrm>
            <a:off x="7140012" y="1939774"/>
            <a:ext cx="1790344" cy="248813"/>
          </a:xfrm>
          <a:prstGeom prst="roundRect">
            <a:avLst>
              <a:gd name="adj" fmla="val 0"/>
            </a:avLst>
          </a:prstGeom>
          <a:solidFill>
            <a:srgbClr val="F900F9">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7140012" y="2212376"/>
            <a:ext cx="1790344" cy="248813"/>
          </a:xfrm>
          <a:prstGeom prst="roundRect">
            <a:avLst>
              <a:gd name="adj" fmla="val 0"/>
            </a:avLst>
          </a:prstGeom>
          <a:solidFill>
            <a:srgbClr val="00B05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1000"/>
                                        <p:tgtEl>
                                          <p:spTgt spid="48"/>
                                        </p:tgtEl>
                                      </p:cBhvr>
                                    </p:animEffect>
                                    <p:anim calcmode="lin" valueType="num">
                                      <p:cBhvr>
                                        <p:cTn id="8" dur="1000" fill="hold"/>
                                        <p:tgtEl>
                                          <p:spTgt spid="48"/>
                                        </p:tgtEl>
                                        <p:attrNameLst>
                                          <p:attrName>ppt_x</p:attrName>
                                        </p:attrNameLst>
                                      </p:cBhvr>
                                      <p:tavLst>
                                        <p:tav tm="0">
                                          <p:val>
                                            <p:strVal val="#ppt_x"/>
                                          </p:val>
                                        </p:tav>
                                        <p:tav tm="100000">
                                          <p:val>
                                            <p:strVal val="#ppt_x"/>
                                          </p:val>
                                        </p:tav>
                                      </p:tavLst>
                                    </p:anim>
                                    <p:anim calcmode="lin" valueType="num">
                                      <p:cBhvr>
                                        <p:cTn id="9"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3186"/>
                                        </p:tgtEl>
                                        <p:attrNameLst>
                                          <p:attrName>style.visibility</p:attrName>
                                        </p:attrNameLst>
                                      </p:cBhvr>
                                      <p:to>
                                        <p:strVal val="visible"/>
                                      </p:to>
                                    </p:set>
                                    <p:animEffect transition="in" filter="fade">
                                      <p:cBhvr>
                                        <p:cTn id="14" dur="1000"/>
                                        <p:tgtEl>
                                          <p:spTgt spid="93186"/>
                                        </p:tgtEl>
                                      </p:cBhvr>
                                    </p:animEffect>
                                    <p:anim calcmode="lin" valueType="num">
                                      <p:cBhvr>
                                        <p:cTn id="15" dur="1000" fill="hold"/>
                                        <p:tgtEl>
                                          <p:spTgt spid="93186"/>
                                        </p:tgtEl>
                                        <p:attrNameLst>
                                          <p:attrName>ppt_x</p:attrName>
                                        </p:attrNameLst>
                                      </p:cBhvr>
                                      <p:tavLst>
                                        <p:tav tm="0">
                                          <p:val>
                                            <p:strVal val="#ppt_x"/>
                                          </p:val>
                                        </p:tav>
                                        <p:tav tm="100000">
                                          <p:val>
                                            <p:strVal val="#ppt_x"/>
                                          </p:val>
                                        </p:tav>
                                      </p:tavLst>
                                    </p:anim>
                                    <p:anim calcmode="lin" valueType="num">
                                      <p:cBhvr>
                                        <p:cTn id="16" dur="1000" fill="hold"/>
                                        <p:tgtEl>
                                          <p:spTgt spid="9318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1000"/>
                                        <p:tgtEl>
                                          <p:spTgt spid="21"/>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1000"/>
                                        <p:tgtEl>
                                          <p:spTgt spid="22"/>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wipe(left)">
                                      <p:cBhvr>
                                        <p:cTn id="29" dur="1000"/>
                                        <p:tgtEl>
                                          <p:spTgt spid="23"/>
                                        </p:tgtEl>
                                      </p:cBhvr>
                                    </p:animEffect>
                                  </p:childTnLst>
                                </p:cTn>
                              </p:par>
                            </p:childTnLst>
                          </p:cTn>
                        </p:par>
                        <p:par>
                          <p:cTn id="30" fill="hold">
                            <p:stCondLst>
                              <p:cond delay="3000"/>
                            </p:stCondLst>
                            <p:childTnLst>
                              <p:par>
                                <p:cTn id="31" presetID="22" presetClass="entr" presetSubtype="8" fill="hold" grpId="0" nodeType="after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wipe(left)">
                                      <p:cBhvr>
                                        <p:cTn id="33" dur="1000"/>
                                        <p:tgtEl>
                                          <p:spTgt spid="2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up)">
                                      <p:cBhvr>
                                        <p:cTn id="38" dur="1000"/>
                                        <p:tgtEl>
                                          <p:spTgt spid="18"/>
                                        </p:tgtEl>
                                      </p:cBhvr>
                                    </p:animEffect>
                                  </p:childTnLst>
                                </p:cTn>
                              </p:par>
                            </p:childTnLst>
                          </p:cTn>
                        </p:par>
                        <p:par>
                          <p:cTn id="39" fill="hold">
                            <p:stCondLst>
                              <p:cond delay="1000"/>
                            </p:stCondLst>
                            <p:childTnLst>
                              <p:par>
                                <p:cTn id="40" presetID="42" presetClass="entr" presetSubtype="0" fill="hold" nodeType="afterEffect">
                                  <p:stCondLst>
                                    <p:cond delay="0"/>
                                  </p:stCondLst>
                                  <p:childTnLst>
                                    <p:set>
                                      <p:cBhvr>
                                        <p:cTn id="41" dur="1" fill="hold">
                                          <p:stCondLst>
                                            <p:cond delay="0"/>
                                          </p:stCondLst>
                                        </p:cTn>
                                        <p:tgtEl>
                                          <p:spTgt spid="52"/>
                                        </p:tgtEl>
                                        <p:attrNameLst>
                                          <p:attrName>style.visibility</p:attrName>
                                        </p:attrNameLst>
                                      </p:cBhvr>
                                      <p:to>
                                        <p:strVal val="visible"/>
                                      </p:to>
                                    </p:set>
                                    <p:animEffect transition="in" filter="fade">
                                      <p:cBhvr>
                                        <p:cTn id="42" dur="1000"/>
                                        <p:tgtEl>
                                          <p:spTgt spid="52"/>
                                        </p:tgtEl>
                                      </p:cBhvr>
                                    </p:animEffect>
                                    <p:anim calcmode="lin" valueType="num">
                                      <p:cBhvr>
                                        <p:cTn id="43" dur="1000" fill="hold"/>
                                        <p:tgtEl>
                                          <p:spTgt spid="52"/>
                                        </p:tgtEl>
                                        <p:attrNameLst>
                                          <p:attrName>ppt_x</p:attrName>
                                        </p:attrNameLst>
                                      </p:cBhvr>
                                      <p:tavLst>
                                        <p:tav tm="0">
                                          <p:val>
                                            <p:strVal val="#ppt_x"/>
                                          </p:val>
                                        </p:tav>
                                        <p:tav tm="100000">
                                          <p:val>
                                            <p:strVal val="#ppt_x"/>
                                          </p:val>
                                        </p:tav>
                                      </p:tavLst>
                                    </p:anim>
                                    <p:anim calcmode="lin" valueType="num">
                                      <p:cBhvr>
                                        <p:cTn id="44" dur="1000" fill="hold"/>
                                        <p:tgtEl>
                                          <p:spTgt spid="52"/>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1000"/>
                                        <p:tgtEl>
                                          <p:spTgt spid="53"/>
                                        </p:tgtEl>
                                      </p:cBhvr>
                                    </p:animEffect>
                                    <p:anim calcmode="lin" valueType="num">
                                      <p:cBhvr>
                                        <p:cTn id="48" dur="1000" fill="hold"/>
                                        <p:tgtEl>
                                          <p:spTgt spid="53"/>
                                        </p:tgtEl>
                                        <p:attrNameLst>
                                          <p:attrName>ppt_x</p:attrName>
                                        </p:attrNameLst>
                                      </p:cBhvr>
                                      <p:tavLst>
                                        <p:tav tm="0">
                                          <p:val>
                                            <p:strVal val="#ppt_x"/>
                                          </p:val>
                                        </p:tav>
                                        <p:tav tm="100000">
                                          <p:val>
                                            <p:strVal val="#ppt_x"/>
                                          </p:val>
                                        </p:tav>
                                      </p:tavLst>
                                    </p:anim>
                                    <p:anim calcmode="lin" valueType="num">
                                      <p:cBhvr>
                                        <p:cTn id="49" dur="1000" fill="hold"/>
                                        <p:tgtEl>
                                          <p:spTgt spid="53"/>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54"/>
                                        </p:tgtEl>
                                        <p:attrNameLst>
                                          <p:attrName>style.visibility</p:attrName>
                                        </p:attrNameLst>
                                      </p:cBhvr>
                                      <p:to>
                                        <p:strVal val="visible"/>
                                      </p:to>
                                    </p:set>
                                    <p:animEffect transition="in" filter="fade">
                                      <p:cBhvr>
                                        <p:cTn id="52" dur="1000"/>
                                        <p:tgtEl>
                                          <p:spTgt spid="54"/>
                                        </p:tgtEl>
                                      </p:cBhvr>
                                    </p:animEffect>
                                    <p:anim calcmode="lin" valueType="num">
                                      <p:cBhvr>
                                        <p:cTn id="53" dur="1000" fill="hold"/>
                                        <p:tgtEl>
                                          <p:spTgt spid="54"/>
                                        </p:tgtEl>
                                        <p:attrNameLst>
                                          <p:attrName>ppt_x</p:attrName>
                                        </p:attrNameLst>
                                      </p:cBhvr>
                                      <p:tavLst>
                                        <p:tav tm="0">
                                          <p:val>
                                            <p:strVal val="#ppt_x"/>
                                          </p:val>
                                        </p:tav>
                                        <p:tav tm="100000">
                                          <p:val>
                                            <p:strVal val="#ppt_x"/>
                                          </p:val>
                                        </p:tav>
                                      </p:tavLst>
                                    </p:anim>
                                    <p:anim calcmode="lin" valueType="num">
                                      <p:cBhvr>
                                        <p:cTn id="54"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 name="表格 47"/>
          <p:cNvGraphicFramePr>
            <a:graphicFrameLocks noGrp="1"/>
          </p:cNvGraphicFramePr>
          <p:nvPr/>
        </p:nvGraphicFramePr>
        <p:xfrm>
          <a:off x="975203" y="1853482"/>
          <a:ext cx="5528286" cy="2008036"/>
        </p:xfrm>
        <a:graphic>
          <a:graphicData uri="http://schemas.openxmlformats.org/drawingml/2006/table">
            <a:tbl>
              <a:tblPr/>
              <a:tblGrid>
                <a:gridCol w="408113"/>
                <a:gridCol w="416916"/>
                <a:gridCol w="417883"/>
                <a:gridCol w="484621"/>
                <a:gridCol w="498205"/>
                <a:gridCol w="497725"/>
                <a:gridCol w="400689"/>
                <a:gridCol w="400689"/>
                <a:gridCol w="400689"/>
                <a:gridCol w="400689"/>
                <a:gridCol w="400689"/>
                <a:gridCol w="400689"/>
                <a:gridCol w="400689"/>
              </a:tblGrid>
              <a:tr h="396067">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Q</a:t>
                      </a:r>
                      <a:r>
                        <a:rPr kumimoji="0" lang="en-US" altLang="zh-CN" sz="1600" b="1" i="0" u="none" strike="noStrike" cap="none" normalizeH="0" baseline="-25000" dirty="0">
                          <a:ln>
                            <a:noFill/>
                          </a:ln>
                          <a:solidFill>
                            <a:srgbClr val="000000"/>
                          </a:solidFill>
                          <a:effectLst/>
                          <a:latin typeface="Arial" panose="020B0604020202020204" pitchFamily="34" charset="0"/>
                          <a:ea typeface="楷体_GB2312" pitchFamily="49" charset="-122"/>
                        </a:rPr>
                        <a:t>2</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n</a:t>
                      </a:r>
                      <a:endPar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Q</a:t>
                      </a:r>
                      <a:r>
                        <a:rPr kumimoji="0" lang="en-US" altLang="zh-CN" sz="1600" b="1" i="0" u="none" strike="noStrike" cap="none" normalizeH="0" baseline="-25000" dirty="0">
                          <a:ln>
                            <a:noFill/>
                          </a:ln>
                          <a:solidFill>
                            <a:srgbClr val="000000"/>
                          </a:solidFill>
                          <a:effectLst/>
                          <a:latin typeface="Arial" panose="020B0604020202020204" pitchFamily="34" charset="0"/>
                          <a:ea typeface="楷体_GB2312" pitchFamily="49" charset="-122"/>
                        </a:rPr>
                        <a:t>1</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n</a:t>
                      </a:r>
                      <a:endParaRPr kumimoji="0" lang="zh-CN" altLang="en-US" sz="1600" b="1" i="0" u="none" strike="noStrike" cap="none" normalizeH="0" baseline="3000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Q</a:t>
                      </a:r>
                      <a:r>
                        <a:rPr kumimoji="0" lang="en-US" altLang="zh-CN" sz="1600" b="1" i="0" u="none" strike="noStrike" cap="none" normalizeH="0" baseline="-25000" dirty="0">
                          <a:ln>
                            <a:noFill/>
                          </a:ln>
                          <a:solidFill>
                            <a:srgbClr val="000000"/>
                          </a:solidFill>
                          <a:effectLst/>
                          <a:latin typeface="Arial" panose="020B0604020202020204" pitchFamily="34" charset="0"/>
                          <a:ea typeface="楷体_GB2312" pitchFamily="49" charset="-122"/>
                        </a:rPr>
                        <a:t>0</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n</a:t>
                      </a:r>
                      <a:endParaRPr kumimoji="0" lang="zh-CN" altLang="en-US" sz="1600" b="1" i="0" u="none" strike="noStrike" cap="none" normalizeH="0" baseline="3000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Q</a:t>
                      </a:r>
                      <a:r>
                        <a:rPr kumimoji="0" lang="en-US" altLang="zh-CN" sz="1600" b="1" i="0" u="none" strike="noStrike" cap="none" normalizeH="0" baseline="-25000" dirty="0">
                          <a:ln>
                            <a:noFill/>
                          </a:ln>
                          <a:solidFill>
                            <a:srgbClr val="000000"/>
                          </a:solidFill>
                          <a:effectLst/>
                          <a:latin typeface="Arial" panose="020B0604020202020204" pitchFamily="34" charset="0"/>
                          <a:ea typeface="楷体_GB2312" pitchFamily="49" charset="-122"/>
                        </a:rPr>
                        <a:t>2</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n+1</a:t>
                      </a:r>
                      <a:endParaRPr kumimoji="0" lang="zh-CN" altLang="en-US" sz="1600" b="1" i="0" u="none" strike="noStrike" cap="none" normalizeH="0" baseline="3000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Q</a:t>
                      </a:r>
                      <a:r>
                        <a:rPr kumimoji="0" lang="en-US" altLang="zh-CN" sz="1600" b="1" i="0" u="none" strike="noStrike" cap="none" normalizeH="0" baseline="-25000">
                          <a:ln>
                            <a:noFill/>
                          </a:ln>
                          <a:solidFill>
                            <a:srgbClr val="000000"/>
                          </a:solidFill>
                          <a:effectLst/>
                          <a:latin typeface="Arial" panose="020B0604020202020204" pitchFamily="34" charset="0"/>
                          <a:ea typeface="楷体_GB2312" pitchFamily="49" charset="-122"/>
                        </a:rPr>
                        <a:t>1</a:t>
                      </a:r>
                      <a:r>
                        <a:rPr kumimoji="0" lang="en-US" altLang="zh-CN" sz="1600" b="1" i="0" u="none" strike="noStrike" cap="none" normalizeH="0" baseline="30000">
                          <a:ln>
                            <a:noFill/>
                          </a:ln>
                          <a:solidFill>
                            <a:srgbClr val="000000"/>
                          </a:solidFill>
                          <a:effectLst/>
                          <a:latin typeface="Arial" panose="020B0604020202020204" pitchFamily="34" charset="0"/>
                          <a:ea typeface="楷体_GB2312" pitchFamily="49" charset="-122"/>
                        </a:rPr>
                        <a:t>n+1</a:t>
                      </a:r>
                      <a:endParaRPr kumimoji="0" lang="zh-CN" altLang="en-US" sz="1600" b="1" i="0" u="none" strike="noStrike" cap="none" normalizeH="0" baseline="3000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Q</a:t>
                      </a:r>
                      <a:r>
                        <a:rPr kumimoji="0" lang="en-US" altLang="zh-CN" sz="1600" b="1" i="0" u="none" strike="noStrike" cap="none" normalizeH="0" baseline="-25000" dirty="0">
                          <a:ln>
                            <a:noFill/>
                          </a:ln>
                          <a:solidFill>
                            <a:srgbClr val="000000"/>
                          </a:solidFill>
                          <a:effectLst/>
                          <a:latin typeface="Arial" panose="020B0604020202020204" pitchFamily="34" charset="0"/>
                          <a:ea typeface="楷体_GB2312" pitchFamily="49" charset="-122"/>
                        </a:rPr>
                        <a:t>0</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n+1</a:t>
                      </a:r>
                      <a:endParaRPr kumimoji="0" lang="zh-CN" altLang="en-US" sz="1600" b="1" i="0" u="none" strike="noStrike" cap="none" normalizeH="0" baseline="3000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600" b="1" i="1" u="none" strike="noStrike" cap="none" normalizeH="0" baseline="0" dirty="0">
                          <a:ln>
                            <a:noFill/>
                          </a:ln>
                          <a:solidFill>
                            <a:srgbClr val="000000"/>
                          </a:solidFill>
                          <a:effectLst/>
                          <a:latin typeface="Arial" panose="020B0604020202020204" pitchFamily="34" charset="0"/>
                          <a:ea typeface="楷体_GB2312" pitchFamily="49" charset="-122"/>
                        </a:rPr>
                        <a:t>Z</a:t>
                      </a:r>
                      <a:endParaRPr kumimoji="0" lang="en-US" altLang="zh-CN" sz="1600" b="1" i="1"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315595" algn="l"/>
                          <a:tab pos="1020445" algn="l"/>
                        </a:tabLst>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J</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2</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K</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2</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J</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K</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J</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K</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r h="27300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r h="27403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r h="27403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r h="27403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r h="27300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r h="225278">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grpSp>
        <p:nvGrpSpPr>
          <p:cNvPr id="22" name="组合 88"/>
          <p:cNvGrpSpPr/>
          <p:nvPr/>
        </p:nvGrpSpPr>
        <p:grpSpPr>
          <a:xfrm>
            <a:off x="392432" y="778617"/>
            <a:ext cx="3704049" cy="420971"/>
            <a:chOff x="670560" y="892917"/>
            <a:chExt cx="3704049" cy="420971"/>
          </a:xfrm>
        </p:grpSpPr>
        <p:sp>
          <p:nvSpPr>
            <p:cNvPr id="23" name="矩形 22"/>
            <p:cNvSpPr/>
            <p:nvPr/>
          </p:nvSpPr>
          <p:spPr>
            <a:xfrm>
              <a:off x="1035233" y="913778"/>
              <a:ext cx="3339376"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同步时序逻辑电路设计实例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5" name="组合 14"/>
          <p:cNvGrpSpPr/>
          <p:nvPr/>
        </p:nvGrpSpPr>
        <p:grpSpPr>
          <a:xfrm>
            <a:off x="400513" y="1289896"/>
            <a:ext cx="4724040" cy="374630"/>
            <a:chOff x="369777" y="1347760"/>
            <a:chExt cx="4724040" cy="374630"/>
          </a:xfrm>
        </p:grpSpPr>
        <p:sp>
          <p:nvSpPr>
            <p:cNvPr id="26" name="TextBox 6"/>
            <p:cNvSpPr txBox="1"/>
            <p:nvPr/>
          </p:nvSpPr>
          <p:spPr>
            <a:xfrm>
              <a:off x="723710" y="1350409"/>
              <a:ext cx="4370107" cy="369332"/>
            </a:xfrm>
            <a:prstGeom prst="rect">
              <a:avLst/>
            </a:prstGeom>
            <a:noFill/>
          </p:spPr>
          <p:txBody>
            <a:bodyPr wrap="none" rtlCol="0">
              <a:spAutoFit/>
            </a:bodyPr>
            <a:lstStyle/>
            <a:p>
              <a:r>
                <a:rPr lang="zh-CN" altLang="en-US" b="1" dirty="0">
                  <a:solidFill>
                    <a:srgbClr val="CC00CC"/>
                  </a:solidFill>
                  <a:latin typeface="黑体" panose="02010609060101010101" pitchFamily="49" charset="-122"/>
                  <a:ea typeface="黑体" panose="02010609060101010101" pitchFamily="49" charset="-122"/>
                </a:rPr>
                <a:t>例：</a:t>
              </a:r>
              <a:r>
                <a:rPr lang="zh-CN" altLang="en-US" b="1" dirty="0">
                  <a:solidFill>
                    <a:srgbClr val="6600FF"/>
                  </a:solidFill>
                  <a:latin typeface="黑体" panose="02010609060101010101" pitchFamily="49" charset="-122"/>
                  <a:ea typeface="黑体" panose="02010609060101010101" pitchFamily="49" charset="-122"/>
                </a:rPr>
                <a:t>用</a:t>
              </a:r>
              <a:r>
                <a:rPr lang="en-US" altLang="zh-CN" b="1" dirty="0">
                  <a:solidFill>
                    <a:srgbClr val="6600FF"/>
                  </a:solidFill>
                  <a:latin typeface="黑体" panose="02010609060101010101" pitchFamily="49" charset="-122"/>
                  <a:ea typeface="黑体" panose="02010609060101010101" pitchFamily="49" charset="-122"/>
                </a:rPr>
                <a:t>JK</a:t>
              </a:r>
              <a:r>
                <a:rPr lang="zh-CN" altLang="en-US" b="1" dirty="0">
                  <a:solidFill>
                    <a:srgbClr val="6600FF"/>
                  </a:solidFill>
                  <a:latin typeface="黑体" panose="02010609060101010101" pitchFamily="49" charset="-122"/>
                  <a:ea typeface="黑体" panose="02010609060101010101" pitchFamily="49" charset="-122"/>
                </a:rPr>
                <a:t>触发器设计一个六进制计数器。</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27"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28" name="组合 27"/>
          <p:cNvGrpSpPr/>
          <p:nvPr/>
        </p:nvGrpSpPr>
        <p:grpSpPr>
          <a:xfrm>
            <a:off x="735332" y="4174006"/>
            <a:ext cx="7659368" cy="496897"/>
            <a:chOff x="904729" y="4250363"/>
            <a:chExt cx="7659368" cy="496897"/>
          </a:xfrm>
        </p:grpSpPr>
        <p:sp>
          <p:nvSpPr>
            <p:cNvPr id="50" name="圆角矩形 49"/>
            <p:cNvSpPr/>
            <p:nvPr/>
          </p:nvSpPr>
          <p:spPr>
            <a:xfrm>
              <a:off x="904729" y="4250363"/>
              <a:ext cx="7659368" cy="496897"/>
            </a:xfrm>
            <a:prstGeom prst="roundRect">
              <a:avLst>
                <a:gd name="adj" fmla="val 11715"/>
              </a:avLst>
            </a:prstGeom>
            <a:solidFill>
              <a:srgbClr val="CCFFFF"/>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endParaRPr lang="zh-CN" altLang="en-US" sz="1600" dirty="0">
                <a:solidFill>
                  <a:srgbClr val="FF0000"/>
                </a:solidFill>
                <a:latin typeface="微软雅黑" panose="020B0503020204020204" pitchFamily="34" charset="-122"/>
                <a:ea typeface="微软雅黑" panose="020B0503020204020204" pitchFamily="34" charset="-122"/>
              </a:endParaRPr>
            </a:p>
          </p:txBody>
        </p:sp>
        <p:graphicFrame>
          <p:nvGraphicFramePr>
            <p:cNvPr id="9" name="对象 8"/>
            <p:cNvGraphicFramePr>
              <a:graphicFrameLocks noChangeAspect="1"/>
            </p:cNvGraphicFramePr>
            <p:nvPr/>
          </p:nvGraphicFramePr>
          <p:xfrm>
            <a:off x="998220" y="4317682"/>
            <a:ext cx="961515" cy="351029"/>
          </p:xfrm>
          <a:graphic>
            <a:graphicData uri="http://schemas.openxmlformats.org/presentationml/2006/ole">
              <mc:AlternateContent xmlns:mc="http://schemas.openxmlformats.org/markup-compatibility/2006">
                <mc:Choice xmlns:v="urn:schemas-microsoft-com:vml" Requires="v">
                  <p:oleObj spid="_x0000_s15428" name="公式" r:id="rId3" imgW="14325600" imgH="5181600" progId="Equation.3">
                    <p:embed/>
                  </p:oleObj>
                </mc:Choice>
                <mc:Fallback>
                  <p:oleObj name="公式" r:id="rId3" imgW="14325600" imgH="5181600" progId="Equation.3">
                    <p:embed/>
                    <p:pic>
                      <p:nvPicPr>
                        <p:cNvPr id="0"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8220" y="4317682"/>
                          <a:ext cx="961515" cy="3510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nvGraphicFramePr>
          <p:xfrm>
            <a:off x="2346318" y="4317682"/>
            <a:ext cx="778369" cy="351029"/>
          </p:xfrm>
          <a:graphic>
            <a:graphicData uri="http://schemas.openxmlformats.org/presentationml/2006/ole">
              <mc:AlternateContent xmlns:mc="http://schemas.openxmlformats.org/markup-compatibility/2006">
                <mc:Choice xmlns:v="urn:schemas-microsoft-com:vml" Requires="v">
                  <p:oleObj spid="_x0000_s15429" name="公式" r:id="rId5" imgW="11582400" imgH="5181600" progId="Equation.3">
                    <p:embed/>
                  </p:oleObj>
                </mc:Choice>
                <mc:Fallback>
                  <p:oleObj name="公式" r:id="rId5" imgW="11582400" imgH="5181600" progId="Equation.3">
                    <p:embed/>
                    <p:pic>
                      <p:nvPicPr>
                        <p:cNvPr id="0" name="对象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46318" y="4317682"/>
                          <a:ext cx="778369" cy="3510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nvGraphicFramePr>
          <p:xfrm>
            <a:off x="3580116" y="4317682"/>
            <a:ext cx="961515" cy="351029"/>
          </p:xfrm>
          <a:graphic>
            <a:graphicData uri="http://schemas.openxmlformats.org/presentationml/2006/ole">
              <mc:AlternateContent xmlns:mc="http://schemas.openxmlformats.org/markup-compatibility/2006">
                <mc:Choice xmlns:v="urn:schemas-microsoft-com:vml" Requires="v">
                  <p:oleObj spid="_x0000_s15430" name="公式" r:id="rId7" imgW="14325600" imgH="5181600" progId="Equation.3">
                    <p:embed/>
                  </p:oleObj>
                </mc:Choice>
                <mc:Fallback>
                  <p:oleObj name="公式" r:id="rId7" imgW="14325600" imgH="5181600" progId="Equation.3">
                    <p:embed/>
                    <p:pic>
                      <p:nvPicPr>
                        <p:cNvPr id="0" name="对象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0116" y="4317682"/>
                          <a:ext cx="961515" cy="3510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p:cNvGraphicFramePr>
              <a:graphicFrameLocks noChangeAspect="1"/>
            </p:cNvGraphicFramePr>
            <p:nvPr/>
          </p:nvGraphicFramePr>
          <p:xfrm>
            <a:off x="4928213" y="4317682"/>
            <a:ext cx="732583" cy="351029"/>
          </p:xfrm>
          <a:graphic>
            <a:graphicData uri="http://schemas.openxmlformats.org/presentationml/2006/ole">
              <mc:AlternateContent xmlns:mc="http://schemas.openxmlformats.org/markup-compatibility/2006">
                <mc:Choice xmlns:v="urn:schemas-microsoft-com:vml" Requires="v">
                  <p:oleObj spid="_x0000_s15431" name="公式" r:id="rId9" imgW="10972800" imgH="5181600" progId="Equation.3">
                    <p:embed/>
                  </p:oleObj>
                </mc:Choice>
                <mc:Fallback>
                  <p:oleObj name="公式" r:id="rId9" imgW="10972800" imgH="5181600" progId="Equation.3">
                    <p:embed/>
                    <p:pic>
                      <p:nvPicPr>
                        <p:cNvPr id="0" name="对象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28213" y="4317682"/>
                          <a:ext cx="732583" cy="3510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对象 18"/>
            <p:cNvGraphicFramePr>
              <a:graphicFrameLocks noChangeAspect="1"/>
            </p:cNvGraphicFramePr>
            <p:nvPr/>
          </p:nvGraphicFramePr>
          <p:xfrm>
            <a:off x="6133437" y="4331968"/>
            <a:ext cx="1022563" cy="305243"/>
          </p:xfrm>
          <a:graphic>
            <a:graphicData uri="http://schemas.openxmlformats.org/presentationml/2006/ole">
              <mc:AlternateContent xmlns:mc="http://schemas.openxmlformats.org/markup-compatibility/2006">
                <mc:Choice xmlns:v="urn:schemas-microsoft-com:vml" Requires="v">
                  <p:oleObj spid="_x0000_s15432" name="公式" r:id="rId11" imgW="15240000" imgH="4572000" progId="Equation.3">
                    <p:embed/>
                  </p:oleObj>
                </mc:Choice>
                <mc:Fallback>
                  <p:oleObj name="公式" r:id="rId11" imgW="15240000" imgH="4572000" progId="Equation.3">
                    <p:embed/>
                    <p:pic>
                      <p:nvPicPr>
                        <p:cNvPr id="0" name="对象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33437" y="4331968"/>
                          <a:ext cx="1022563" cy="3052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对象 20"/>
            <p:cNvGraphicFramePr>
              <a:graphicFrameLocks noChangeAspect="1"/>
            </p:cNvGraphicFramePr>
            <p:nvPr/>
          </p:nvGraphicFramePr>
          <p:xfrm>
            <a:off x="7519634" y="4317682"/>
            <a:ext cx="900466" cy="351029"/>
          </p:xfrm>
          <a:graphic>
            <a:graphicData uri="http://schemas.openxmlformats.org/presentationml/2006/ole">
              <mc:AlternateContent xmlns:mc="http://schemas.openxmlformats.org/markup-compatibility/2006">
                <mc:Choice xmlns:v="urn:schemas-microsoft-com:vml" Requires="v">
                  <p:oleObj spid="_x0000_s15433" name="公式" r:id="rId13" imgW="13411200" imgH="5181600" progId="Equation.3">
                    <p:embed/>
                  </p:oleObj>
                </mc:Choice>
                <mc:Fallback>
                  <p:oleObj name="公式" r:id="rId13" imgW="13411200" imgH="5181600" progId="Equation.3">
                    <p:embed/>
                    <p:pic>
                      <p:nvPicPr>
                        <p:cNvPr id="0" name="对象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19634" y="4317682"/>
                          <a:ext cx="900466" cy="3510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1200">
        <p14:prism di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1000"/>
                                        <p:tgtEl>
                                          <p:spTgt spid="48"/>
                                        </p:tgtEl>
                                      </p:cBhvr>
                                    </p:animEffect>
                                    <p:anim calcmode="lin" valueType="num">
                                      <p:cBhvr>
                                        <p:cTn id="8" dur="1000" fill="hold"/>
                                        <p:tgtEl>
                                          <p:spTgt spid="48"/>
                                        </p:tgtEl>
                                        <p:attrNameLst>
                                          <p:attrName>ppt_x</p:attrName>
                                        </p:attrNameLst>
                                      </p:cBhvr>
                                      <p:tavLst>
                                        <p:tav tm="0">
                                          <p:val>
                                            <p:strVal val="#ppt_x"/>
                                          </p:val>
                                        </p:tav>
                                        <p:tav tm="100000">
                                          <p:val>
                                            <p:strVal val="#ppt_x"/>
                                          </p:val>
                                        </p:tav>
                                      </p:tavLst>
                                    </p:anim>
                                    <p:anim calcmode="lin" valueType="num">
                                      <p:cBhvr>
                                        <p:cTn id="9" dur="1000" fill="hold"/>
                                        <p:tgtEl>
                                          <p:spTgt spid="4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1000"/>
                                        <p:tgtEl>
                                          <p:spTgt spid="28"/>
                                        </p:tgtEl>
                                      </p:cBhvr>
                                    </p:animEffect>
                                    <p:anim calcmode="lin" valueType="num">
                                      <p:cBhvr>
                                        <p:cTn id="14" dur="1000" fill="hold"/>
                                        <p:tgtEl>
                                          <p:spTgt spid="28"/>
                                        </p:tgtEl>
                                        <p:attrNameLst>
                                          <p:attrName>ppt_x</p:attrName>
                                        </p:attrNameLst>
                                      </p:cBhvr>
                                      <p:tavLst>
                                        <p:tav tm="0">
                                          <p:val>
                                            <p:strVal val="#ppt_x"/>
                                          </p:val>
                                        </p:tav>
                                        <p:tav tm="100000">
                                          <p:val>
                                            <p:strVal val="#ppt_x"/>
                                          </p:val>
                                        </p:tav>
                                      </p:tavLst>
                                    </p:anim>
                                    <p:anim calcmode="lin" valueType="num">
                                      <p:cBhvr>
                                        <p:cTn id="15"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组合 88"/>
          <p:cNvGrpSpPr/>
          <p:nvPr/>
        </p:nvGrpSpPr>
        <p:grpSpPr>
          <a:xfrm>
            <a:off x="392432" y="778617"/>
            <a:ext cx="3704049" cy="420971"/>
            <a:chOff x="670560" y="892917"/>
            <a:chExt cx="3704049" cy="420971"/>
          </a:xfrm>
        </p:grpSpPr>
        <p:sp>
          <p:nvSpPr>
            <p:cNvPr id="71" name="矩形 70"/>
            <p:cNvSpPr/>
            <p:nvPr/>
          </p:nvSpPr>
          <p:spPr>
            <a:xfrm>
              <a:off x="1035233" y="913778"/>
              <a:ext cx="3339376"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同步时序逻辑电路设计实例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2"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73" name="组合 14"/>
          <p:cNvGrpSpPr/>
          <p:nvPr/>
        </p:nvGrpSpPr>
        <p:grpSpPr>
          <a:xfrm>
            <a:off x="400513" y="1289896"/>
            <a:ext cx="4724040" cy="374630"/>
            <a:chOff x="369777" y="1347760"/>
            <a:chExt cx="4724040" cy="374630"/>
          </a:xfrm>
        </p:grpSpPr>
        <p:sp>
          <p:nvSpPr>
            <p:cNvPr id="74" name="TextBox 6"/>
            <p:cNvSpPr txBox="1"/>
            <p:nvPr/>
          </p:nvSpPr>
          <p:spPr>
            <a:xfrm>
              <a:off x="723710" y="1350409"/>
              <a:ext cx="4370107" cy="369332"/>
            </a:xfrm>
            <a:prstGeom prst="rect">
              <a:avLst/>
            </a:prstGeom>
            <a:noFill/>
          </p:spPr>
          <p:txBody>
            <a:bodyPr wrap="none" rtlCol="0">
              <a:spAutoFit/>
            </a:bodyPr>
            <a:lstStyle/>
            <a:p>
              <a:r>
                <a:rPr lang="zh-CN" altLang="en-US" b="1" dirty="0">
                  <a:solidFill>
                    <a:srgbClr val="CC00CC"/>
                  </a:solidFill>
                  <a:latin typeface="黑体" panose="02010609060101010101" pitchFamily="49" charset="-122"/>
                  <a:ea typeface="黑体" panose="02010609060101010101" pitchFamily="49" charset="-122"/>
                </a:rPr>
                <a:t>例：</a:t>
              </a:r>
              <a:r>
                <a:rPr lang="zh-CN" altLang="en-US" b="1" dirty="0">
                  <a:solidFill>
                    <a:srgbClr val="6600FF"/>
                  </a:solidFill>
                  <a:latin typeface="黑体" panose="02010609060101010101" pitchFamily="49" charset="-122"/>
                  <a:ea typeface="黑体" panose="02010609060101010101" pitchFamily="49" charset="-122"/>
                </a:rPr>
                <a:t>用</a:t>
              </a:r>
              <a:r>
                <a:rPr lang="en-US" altLang="zh-CN" b="1" dirty="0">
                  <a:solidFill>
                    <a:srgbClr val="6600FF"/>
                  </a:solidFill>
                  <a:latin typeface="黑体" panose="02010609060101010101" pitchFamily="49" charset="-122"/>
                  <a:ea typeface="黑体" panose="02010609060101010101" pitchFamily="49" charset="-122"/>
                </a:rPr>
                <a:t>JK</a:t>
              </a:r>
              <a:r>
                <a:rPr lang="zh-CN" altLang="en-US" b="1" dirty="0">
                  <a:solidFill>
                    <a:srgbClr val="6600FF"/>
                  </a:solidFill>
                  <a:latin typeface="黑体" panose="02010609060101010101" pitchFamily="49" charset="-122"/>
                  <a:ea typeface="黑体" panose="02010609060101010101" pitchFamily="49" charset="-122"/>
                </a:rPr>
                <a:t>触发器设计一个六进制计数器。</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75"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2" name="组合 1"/>
          <p:cNvGrpSpPr/>
          <p:nvPr/>
        </p:nvGrpSpPr>
        <p:grpSpPr>
          <a:xfrm>
            <a:off x="1670695" y="2497701"/>
            <a:ext cx="5785423" cy="1585349"/>
            <a:chOff x="1670695" y="2497701"/>
            <a:chExt cx="5785423" cy="1585349"/>
          </a:xfrm>
        </p:grpSpPr>
        <p:sp>
          <p:nvSpPr>
            <p:cNvPr id="26" name="圆角矩形 25"/>
            <p:cNvSpPr/>
            <p:nvPr/>
          </p:nvSpPr>
          <p:spPr>
            <a:xfrm>
              <a:off x="1670695" y="2497701"/>
              <a:ext cx="5785423" cy="1585349"/>
            </a:xfrm>
            <a:prstGeom prst="roundRect">
              <a:avLst>
                <a:gd name="adj" fmla="val 11715"/>
              </a:avLst>
            </a:prstGeom>
            <a:solidFill>
              <a:schemeClr val="bg1"/>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endParaRPr lang="zh-CN" altLang="en-US" sz="1600" dirty="0">
                <a:solidFill>
                  <a:srgbClr val="FF0000"/>
                </a:solidFill>
                <a:latin typeface="微软雅黑" panose="020B0503020204020204" pitchFamily="34" charset="-122"/>
                <a:ea typeface="微软雅黑" panose="020B0503020204020204" pitchFamily="34" charset="-122"/>
              </a:endParaRPr>
            </a:p>
          </p:txBody>
        </p:sp>
        <p:graphicFrame>
          <p:nvGraphicFramePr>
            <p:cNvPr id="9" name="对象 8"/>
            <p:cNvGraphicFramePr>
              <a:graphicFrameLocks noChangeAspect="1"/>
            </p:cNvGraphicFramePr>
            <p:nvPr/>
          </p:nvGraphicFramePr>
          <p:xfrm>
            <a:off x="2018937" y="2594070"/>
            <a:ext cx="5106126" cy="1388972"/>
          </p:xfrm>
          <a:graphic>
            <a:graphicData uri="http://schemas.openxmlformats.org/presentationml/2006/ole">
              <mc:AlternateContent xmlns:mc="http://schemas.openxmlformats.org/markup-compatibility/2006">
                <mc:Choice xmlns:v="urn:schemas-microsoft-com:vml" Requires="v">
                  <p:oleObj spid="_x0000_s16485" name="Visio" r:id="rId3" imgW="3067050" imgH="847725" progId="Visio.Drawing.11">
                    <p:embed/>
                  </p:oleObj>
                </mc:Choice>
                <mc:Fallback>
                  <p:oleObj name="Visio" r:id="rId3" imgW="3067050" imgH="847725" progId="Visio.Drawing.11">
                    <p:embed/>
                    <p:pic>
                      <p:nvPicPr>
                        <p:cNvPr id="0"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8937" y="2594070"/>
                          <a:ext cx="5106126" cy="13889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76" name="组合 75"/>
          <p:cNvGrpSpPr/>
          <p:nvPr/>
        </p:nvGrpSpPr>
        <p:grpSpPr>
          <a:xfrm>
            <a:off x="735332" y="1808448"/>
            <a:ext cx="7456168" cy="496897"/>
            <a:chOff x="932280" y="4250363"/>
            <a:chExt cx="7633864" cy="496897"/>
          </a:xfrm>
        </p:grpSpPr>
        <p:sp>
          <p:nvSpPr>
            <p:cNvPr id="77" name="圆角矩形 76"/>
            <p:cNvSpPr/>
            <p:nvPr/>
          </p:nvSpPr>
          <p:spPr>
            <a:xfrm>
              <a:off x="932280" y="4250363"/>
              <a:ext cx="7633864" cy="496897"/>
            </a:xfrm>
            <a:prstGeom prst="roundRect">
              <a:avLst>
                <a:gd name="adj" fmla="val 11715"/>
              </a:avLst>
            </a:prstGeom>
            <a:solidFill>
              <a:srgbClr val="CCFFFF"/>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endParaRPr lang="zh-CN" altLang="en-US" sz="1600" dirty="0">
                <a:solidFill>
                  <a:srgbClr val="FF0000"/>
                </a:solidFill>
                <a:latin typeface="微软雅黑" panose="020B0503020204020204" pitchFamily="34" charset="-122"/>
                <a:ea typeface="微软雅黑" panose="020B0503020204020204" pitchFamily="34" charset="-122"/>
              </a:endParaRPr>
            </a:p>
          </p:txBody>
        </p:sp>
        <p:graphicFrame>
          <p:nvGraphicFramePr>
            <p:cNvPr id="78" name="对象 77"/>
            <p:cNvGraphicFramePr>
              <a:graphicFrameLocks noChangeAspect="1"/>
            </p:cNvGraphicFramePr>
            <p:nvPr/>
          </p:nvGraphicFramePr>
          <p:xfrm>
            <a:off x="998220" y="4317682"/>
            <a:ext cx="961515" cy="351029"/>
          </p:xfrm>
          <a:graphic>
            <a:graphicData uri="http://schemas.openxmlformats.org/presentationml/2006/ole">
              <mc:AlternateContent xmlns:mc="http://schemas.openxmlformats.org/markup-compatibility/2006">
                <mc:Choice xmlns:v="urn:schemas-microsoft-com:vml" Requires="v">
                  <p:oleObj spid="_x0000_s16486" name="公式" r:id="rId5" imgW="596265" imgH="215900" progId="Equation.3">
                    <p:embed/>
                  </p:oleObj>
                </mc:Choice>
                <mc:Fallback>
                  <p:oleObj name="公式" r:id="rId5" imgW="596265" imgH="215900" progId="Equation.3">
                    <p:embed/>
                    <p:pic>
                      <p:nvPicPr>
                        <p:cNvPr id="0" name="对象 7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8220" y="4317682"/>
                          <a:ext cx="961515" cy="3510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9" name="对象 78"/>
            <p:cNvGraphicFramePr>
              <a:graphicFrameLocks noChangeAspect="1"/>
            </p:cNvGraphicFramePr>
            <p:nvPr/>
          </p:nvGraphicFramePr>
          <p:xfrm>
            <a:off x="2346318" y="4317682"/>
            <a:ext cx="778369" cy="351029"/>
          </p:xfrm>
          <a:graphic>
            <a:graphicData uri="http://schemas.openxmlformats.org/presentationml/2006/ole">
              <mc:AlternateContent xmlns:mc="http://schemas.openxmlformats.org/markup-compatibility/2006">
                <mc:Choice xmlns:v="urn:schemas-microsoft-com:vml" Requires="v">
                  <p:oleObj spid="_x0000_s16487" name="公式" r:id="rId7" imgW="481965" imgH="215900" progId="Equation.3">
                    <p:embed/>
                  </p:oleObj>
                </mc:Choice>
                <mc:Fallback>
                  <p:oleObj name="公式" r:id="rId7" imgW="481965" imgH="215900" progId="Equation.3">
                    <p:embed/>
                    <p:pic>
                      <p:nvPicPr>
                        <p:cNvPr id="0" name="对象 7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46318" y="4317682"/>
                          <a:ext cx="778369" cy="3510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 name="对象 79"/>
            <p:cNvGraphicFramePr>
              <a:graphicFrameLocks noChangeAspect="1"/>
            </p:cNvGraphicFramePr>
            <p:nvPr/>
          </p:nvGraphicFramePr>
          <p:xfrm>
            <a:off x="3580116" y="4317682"/>
            <a:ext cx="961515" cy="351029"/>
          </p:xfrm>
          <a:graphic>
            <a:graphicData uri="http://schemas.openxmlformats.org/presentationml/2006/ole">
              <mc:AlternateContent xmlns:mc="http://schemas.openxmlformats.org/markup-compatibility/2006">
                <mc:Choice xmlns:v="urn:schemas-microsoft-com:vml" Requires="v">
                  <p:oleObj spid="_x0000_s16488" name="公式" r:id="rId9" imgW="596265" imgH="215900" progId="Equation.3">
                    <p:embed/>
                  </p:oleObj>
                </mc:Choice>
                <mc:Fallback>
                  <p:oleObj name="公式" r:id="rId9" imgW="596265" imgH="215900" progId="Equation.3">
                    <p:embed/>
                    <p:pic>
                      <p:nvPicPr>
                        <p:cNvPr id="0" name="对象 7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80116" y="4317682"/>
                          <a:ext cx="961515" cy="3510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 name="对象 80"/>
            <p:cNvGraphicFramePr>
              <a:graphicFrameLocks noChangeAspect="1"/>
            </p:cNvGraphicFramePr>
            <p:nvPr/>
          </p:nvGraphicFramePr>
          <p:xfrm>
            <a:off x="4928213" y="4317682"/>
            <a:ext cx="732583" cy="351029"/>
          </p:xfrm>
          <a:graphic>
            <a:graphicData uri="http://schemas.openxmlformats.org/presentationml/2006/ole">
              <mc:AlternateContent xmlns:mc="http://schemas.openxmlformats.org/markup-compatibility/2006">
                <mc:Choice xmlns:v="urn:schemas-microsoft-com:vml" Requires="v">
                  <p:oleObj spid="_x0000_s16489" name="公式" r:id="rId11" imgW="456565" imgH="215900" progId="Equation.3">
                    <p:embed/>
                  </p:oleObj>
                </mc:Choice>
                <mc:Fallback>
                  <p:oleObj name="公式" r:id="rId11" imgW="456565" imgH="215900" progId="Equation.3">
                    <p:embed/>
                    <p:pic>
                      <p:nvPicPr>
                        <p:cNvPr id="0" name="对象 8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28213" y="4317682"/>
                          <a:ext cx="732583" cy="3510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 name="对象 81"/>
            <p:cNvGraphicFramePr>
              <a:graphicFrameLocks noChangeAspect="1"/>
            </p:cNvGraphicFramePr>
            <p:nvPr/>
          </p:nvGraphicFramePr>
          <p:xfrm>
            <a:off x="6133437" y="4331968"/>
            <a:ext cx="1022563" cy="305243"/>
          </p:xfrm>
          <a:graphic>
            <a:graphicData uri="http://schemas.openxmlformats.org/presentationml/2006/ole">
              <mc:AlternateContent xmlns:mc="http://schemas.openxmlformats.org/markup-compatibility/2006">
                <mc:Choice xmlns:v="urn:schemas-microsoft-com:vml" Requires="v">
                  <p:oleObj spid="_x0000_s16490" name="公式" r:id="rId13" imgW="635000" imgH="190500" progId="Equation.3">
                    <p:embed/>
                  </p:oleObj>
                </mc:Choice>
                <mc:Fallback>
                  <p:oleObj name="公式" r:id="rId13" imgW="635000" imgH="190500" progId="Equation.3">
                    <p:embed/>
                    <p:pic>
                      <p:nvPicPr>
                        <p:cNvPr id="0" name="对象 8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33437" y="4331968"/>
                          <a:ext cx="1022563" cy="3052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 name="对象 82"/>
            <p:cNvGraphicFramePr>
              <a:graphicFrameLocks noChangeAspect="1"/>
            </p:cNvGraphicFramePr>
            <p:nvPr/>
          </p:nvGraphicFramePr>
          <p:xfrm>
            <a:off x="7519634" y="4317682"/>
            <a:ext cx="900466" cy="351029"/>
          </p:xfrm>
          <a:graphic>
            <a:graphicData uri="http://schemas.openxmlformats.org/presentationml/2006/ole">
              <mc:AlternateContent xmlns:mc="http://schemas.openxmlformats.org/markup-compatibility/2006">
                <mc:Choice xmlns:v="urn:schemas-microsoft-com:vml" Requires="v">
                  <p:oleObj spid="_x0000_s16491" name="公式" r:id="rId15" imgW="558165" imgH="215900" progId="Equation.3">
                    <p:embed/>
                  </p:oleObj>
                </mc:Choice>
                <mc:Fallback>
                  <p:oleObj name="公式" r:id="rId15" imgW="558165" imgH="215900" progId="Equation.3">
                    <p:embed/>
                    <p:pic>
                      <p:nvPicPr>
                        <p:cNvPr id="0" name="对象 8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519634" y="4317682"/>
                          <a:ext cx="900466" cy="3510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84" name="对象 83"/>
          <p:cNvGraphicFramePr>
            <a:graphicFrameLocks noChangeAspect="1"/>
          </p:cNvGraphicFramePr>
          <p:nvPr/>
        </p:nvGraphicFramePr>
        <p:xfrm>
          <a:off x="2301811" y="4275406"/>
          <a:ext cx="4246316" cy="1046014"/>
        </p:xfrm>
        <a:graphic>
          <a:graphicData uri="http://schemas.openxmlformats.org/presentationml/2006/ole">
            <mc:AlternateContent xmlns:mc="http://schemas.openxmlformats.org/markup-compatibility/2006">
              <mc:Choice xmlns:v="urn:schemas-microsoft-com:vml" Requires="v">
                <p:oleObj spid="_x0000_s16492" name="Visio" r:id="rId17" imgW="2514600" imgH="628650" progId="Visio.Drawing.11">
                  <p:embed/>
                </p:oleObj>
              </mc:Choice>
              <mc:Fallback>
                <p:oleObj name="Visio" r:id="rId17" imgW="2514600" imgH="628650" progId="Visio.Drawing.11">
                  <p:embed/>
                  <p:pic>
                    <p:nvPicPr>
                      <p:cNvPr id="0" name="对象 8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01811" y="4275406"/>
                        <a:ext cx="4246316" cy="10460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椭圆 19"/>
          <p:cNvSpPr/>
          <p:nvPr/>
        </p:nvSpPr>
        <p:spPr>
          <a:xfrm>
            <a:off x="1536715" y="4905473"/>
            <a:ext cx="311941" cy="323649"/>
          </a:xfrm>
          <a:prstGeom prst="ellipse">
            <a:avLst/>
          </a:prstGeom>
          <a:solidFill>
            <a:srgbClr val="FF00FF"/>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1400" b="1" dirty="0">
                <a:solidFill>
                  <a:srgbClr val="FFFF00"/>
                </a:solidFill>
                <a:latin typeface="Times New Roman" panose="02020603050405020304" pitchFamily="18" charset="0"/>
                <a:cs typeface="Times New Roman" panose="02020603050405020304" pitchFamily="18" charset="0"/>
              </a:rPr>
              <a:t>110</a:t>
            </a:r>
            <a:endParaRPr lang="zh-CN" altLang="en-US" sz="1400" b="1" baseline="-25000" dirty="0">
              <a:solidFill>
                <a:srgbClr val="FFFF00"/>
              </a:solidFill>
              <a:latin typeface="Times New Roman" panose="02020603050405020304" pitchFamily="18" charset="0"/>
              <a:cs typeface="Times New Roman" panose="02020603050405020304" pitchFamily="18" charset="0"/>
            </a:endParaRPr>
          </a:p>
        </p:txBody>
      </p:sp>
      <p:sp>
        <p:nvSpPr>
          <p:cNvPr id="21" name="椭圆 20"/>
          <p:cNvSpPr/>
          <p:nvPr/>
        </p:nvSpPr>
        <p:spPr>
          <a:xfrm>
            <a:off x="2266773" y="4905474"/>
            <a:ext cx="311941" cy="323649"/>
          </a:xfrm>
          <a:prstGeom prst="ellipse">
            <a:avLst/>
          </a:prstGeom>
          <a:solidFill>
            <a:srgbClr val="FF00FF"/>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1400" b="1" dirty="0">
                <a:solidFill>
                  <a:srgbClr val="FFFF00"/>
                </a:solidFill>
                <a:latin typeface="Times New Roman" panose="02020603050405020304" pitchFamily="18" charset="0"/>
                <a:cs typeface="Times New Roman" panose="02020603050405020304" pitchFamily="18" charset="0"/>
              </a:rPr>
              <a:t>111</a:t>
            </a:r>
            <a:endParaRPr lang="zh-CN" altLang="en-US" sz="1400" b="1" baseline="-25000" dirty="0">
              <a:solidFill>
                <a:srgbClr val="FFFF00"/>
              </a:solidFill>
              <a:latin typeface="Times New Roman" panose="02020603050405020304" pitchFamily="18" charset="0"/>
              <a:cs typeface="Times New Roman" panose="02020603050405020304" pitchFamily="18" charset="0"/>
            </a:endParaRPr>
          </a:p>
        </p:txBody>
      </p:sp>
      <p:grpSp>
        <p:nvGrpSpPr>
          <p:cNvPr id="33" name="组合 32"/>
          <p:cNvGrpSpPr/>
          <p:nvPr/>
        </p:nvGrpSpPr>
        <p:grpSpPr>
          <a:xfrm>
            <a:off x="1848656" y="4796790"/>
            <a:ext cx="418117" cy="307777"/>
            <a:chOff x="1848656" y="4796790"/>
            <a:chExt cx="418117" cy="307777"/>
          </a:xfrm>
        </p:grpSpPr>
        <p:cxnSp>
          <p:nvCxnSpPr>
            <p:cNvPr id="4" name="直接箭头连接符 3"/>
            <p:cNvCxnSpPr>
              <a:stCxn id="20" idx="6"/>
              <a:endCxn id="21" idx="2"/>
            </p:cNvCxnSpPr>
            <p:nvPr/>
          </p:nvCxnSpPr>
          <p:spPr>
            <a:xfrm>
              <a:off x="1848656" y="5067298"/>
              <a:ext cx="418117"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885950" y="4796790"/>
              <a:ext cx="324128" cy="307777"/>
            </a:xfrm>
            <a:prstGeom prst="rect">
              <a:avLst/>
            </a:prstGeom>
            <a:noFill/>
          </p:spPr>
          <p:txBody>
            <a:bodyPr wrap="none" rtlCol="0">
              <a:spAutoFit/>
            </a:bodyPr>
            <a:lstStyle/>
            <a:p>
              <a:r>
                <a:rPr lang="en-US" altLang="zh-CN" sz="1400" dirty="0">
                  <a:latin typeface="Times New Roman" panose="02020603050405020304" pitchFamily="18" charset="0"/>
                  <a:cs typeface="Times New Roman" panose="02020603050405020304" pitchFamily="18" charset="0"/>
                </a:rPr>
                <a:t>/0</a:t>
              </a:r>
              <a:endParaRPr lang="zh-CN" altLang="en-US" sz="1400" dirty="0">
                <a:latin typeface="Times New Roman" panose="02020603050405020304" pitchFamily="18" charset="0"/>
                <a:cs typeface="Times New Roman" panose="02020603050405020304" pitchFamily="18" charset="0"/>
              </a:endParaRPr>
            </a:p>
          </p:txBody>
        </p:sp>
      </p:grpSp>
      <p:grpSp>
        <p:nvGrpSpPr>
          <p:cNvPr id="34" name="组合 33"/>
          <p:cNvGrpSpPr/>
          <p:nvPr/>
        </p:nvGrpSpPr>
        <p:grpSpPr>
          <a:xfrm>
            <a:off x="2578714" y="4922520"/>
            <a:ext cx="381934" cy="326827"/>
            <a:chOff x="2578714" y="4922520"/>
            <a:chExt cx="381934" cy="326827"/>
          </a:xfrm>
        </p:grpSpPr>
        <p:cxnSp>
          <p:nvCxnSpPr>
            <p:cNvPr id="25" name="直接箭头连接符 24"/>
            <p:cNvCxnSpPr/>
            <p:nvPr/>
          </p:nvCxnSpPr>
          <p:spPr>
            <a:xfrm flipV="1">
              <a:off x="2578714" y="4922520"/>
              <a:ext cx="374036" cy="13715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636520" y="4941570"/>
              <a:ext cx="324128" cy="307777"/>
            </a:xfrm>
            <a:prstGeom prst="rect">
              <a:avLst/>
            </a:prstGeom>
            <a:noFill/>
          </p:spPr>
          <p:txBody>
            <a:bodyPr wrap="none" rtlCol="0">
              <a:spAutoFit/>
            </a:bodyPr>
            <a:lstStyle/>
            <a:p>
              <a:r>
                <a:rPr lang="en-US" altLang="zh-CN" sz="1400" dirty="0">
                  <a:latin typeface="Times New Roman" panose="02020603050405020304" pitchFamily="18" charset="0"/>
                  <a:cs typeface="Times New Roman" panose="02020603050405020304" pitchFamily="18" charset="0"/>
                </a:rPr>
                <a:t>/1</a:t>
              </a:r>
              <a:endParaRPr lang="zh-CN" altLang="en-US" sz="1400" dirty="0">
                <a:latin typeface="Times New Roman" panose="02020603050405020304" pitchFamily="18" charset="0"/>
                <a:cs typeface="Times New Roman" panose="02020603050405020304" pitchFamily="18" charset="0"/>
              </a:endParaRPr>
            </a:p>
          </p:txBody>
        </p:sp>
      </p:grpSp>
      <p:sp>
        <p:nvSpPr>
          <p:cNvPr id="32" name="椭圆 31"/>
          <p:cNvSpPr/>
          <p:nvPr/>
        </p:nvSpPr>
        <p:spPr>
          <a:xfrm>
            <a:off x="2692589" y="4969939"/>
            <a:ext cx="206878" cy="239978"/>
          </a:xfrm>
          <a:prstGeom prst="ellipse">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441" name="Rectangle 20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44" name="组合 43"/>
          <p:cNvGrpSpPr/>
          <p:nvPr/>
        </p:nvGrpSpPr>
        <p:grpSpPr>
          <a:xfrm>
            <a:off x="6922770" y="4627848"/>
            <a:ext cx="1207770" cy="496897"/>
            <a:chOff x="7006590" y="4540218"/>
            <a:chExt cx="1207770" cy="496897"/>
          </a:xfrm>
        </p:grpSpPr>
        <p:sp>
          <p:nvSpPr>
            <p:cNvPr id="43" name="圆角矩形 42"/>
            <p:cNvSpPr/>
            <p:nvPr/>
          </p:nvSpPr>
          <p:spPr>
            <a:xfrm>
              <a:off x="7006590" y="4540218"/>
              <a:ext cx="1207770" cy="496897"/>
            </a:xfrm>
            <a:prstGeom prst="roundRect">
              <a:avLst>
                <a:gd name="adj" fmla="val 11715"/>
              </a:avLst>
            </a:prstGeom>
            <a:solidFill>
              <a:srgbClr val="CCFFFF"/>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endParaRPr lang="zh-CN" altLang="en-US" sz="1600" dirty="0">
                <a:solidFill>
                  <a:srgbClr val="FF0000"/>
                </a:solidFill>
                <a:latin typeface="微软雅黑" panose="020B0503020204020204" pitchFamily="34" charset="-122"/>
                <a:ea typeface="微软雅黑" panose="020B0503020204020204" pitchFamily="34" charset="-122"/>
              </a:endParaRPr>
            </a:p>
          </p:txBody>
        </p:sp>
        <p:graphicFrame>
          <p:nvGraphicFramePr>
            <p:cNvPr id="95440" name="Object 126"/>
            <p:cNvGraphicFramePr>
              <a:graphicFrameLocks noChangeAspect="1"/>
            </p:cNvGraphicFramePr>
            <p:nvPr/>
          </p:nvGraphicFramePr>
          <p:xfrm>
            <a:off x="7071361" y="4621530"/>
            <a:ext cx="1097280" cy="343815"/>
          </p:xfrm>
          <a:graphic>
            <a:graphicData uri="http://schemas.openxmlformats.org/presentationml/2006/ole">
              <mc:AlternateContent xmlns:mc="http://schemas.openxmlformats.org/markup-compatibility/2006">
                <mc:Choice xmlns:v="urn:schemas-microsoft-com:vml" Requires="v">
                  <p:oleObj spid="_x0000_s16493" name="公式" r:id="rId19" imgW="17068800" imgH="5181600" progId="Equation.3">
                    <p:embed/>
                  </p:oleObj>
                </mc:Choice>
                <mc:Fallback>
                  <p:oleObj name="公式" r:id="rId19" imgW="17068800" imgH="5181600" progId="Equation.3">
                    <p:embed/>
                    <p:pic>
                      <p:nvPicPr>
                        <p:cNvPr id="0" name="Object 12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071361" y="4621530"/>
                          <a:ext cx="1097280" cy="3438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1000"/>
                                        <p:tgtEl>
                                          <p:spTgt spid="76"/>
                                        </p:tgtEl>
                                      </p:cBhvr>
                                    </p:animEffect>
                                    <p:anim calcmode="lin" valueType="num">
                                      <p:cBhvr>
                                        <p:cTn id="8" dur="1000" fill="hold"/>
                                        <p:tgtEl>
                                          <p:spTgt spid="76"/>
                                        </p:tgtEl>
                                        <p:attrNameLst>
                                          <p:attrName>ppt_x</p:attrName>
                                        </p:attrNameLst>
                                      </p:cBhvr>
                                      <p:tavLst>
                                        <p:tav tm="0">
                                          <p:val>
                                            <p:strVal val="#ppt_x"/>
                                          </p:val>
                                        </p:tav>
                                        <p:tav tm="100000">
                                          <p:val>
                                            <p:strVal val="#ppt_x"/>
                                          </p:val>
                                        </p:tav>
                                      </p:tavLst>
                                    </p:anim>
                                    <p:anim calcmode="lin" valueType="num">
                                      <p:cBhvr>
                                        <p:cTn id="9" dur="1000" fill="hold"/>
                                        <p:tgtEl>
                                          <p:spTgt spid="7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84"/>
                                        </p:tgtEl>
                                        <p:attrNameLst>
                                          <p:attrName>style.visibility</p:attrName>
                                        </p:attrNameLst>
                                      </p:cBhvr>
                                      <p:to>
                                        <p:strVal val="visible"/>
                                      </p:to>
                                    </p:set>
                                    <p:animEffect transition="in" filter="fade">
                                      <p:cBhvr>
                                        <p:cTn id="20" dur="1000"/>
                                        <p:tgtEl>
                                          <p:spTgt spid="84"/>
                                        </p:tgtEl>
                                      </p:cBhvr>
                                    </p:animEffect>
                                    <p:anim calcmode="lin" valueType="num">
                                      <p:cBhvr>
                                        <p:cTn id="21" dur="1000" fill="hold"/>
                                        <p:tgtEl>
                                          <p:spTgt spid="84"/>
                                        </p:tgtEl>
                                        <p:attrNameLst>
                                          <p:attrName>ppt_x</p:attrName>
                                        </p:attrNameLst>
                                      </p:cBhvr>
                                      <p:tavLst>
                                        <p:tav tm="0">
                                          <p:val>
                                            <p:strVal val="#ppt_x"/>
                                          </p:val>
                                        </p:tav>
                                        <p:tav tm="100000">
                                          <p:val>
                                            <p:strVal val="#ppt_x"/>
                                          </p:val>
                                        </p:tav>
                                      </p:tavLst>
                                    </p:anim>
                                    <p:anim calcmode="lin" valueType="num">
                                      <p:cBhvr>
                                        <p:cTn id="22" dur="1000" fill="hold"/>
                                        <p:tgtEl>
                                          <p:spTgt spid="84"/>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ipe(left)">
                                      <p:cBhvr>
                                        <p:cTn id="26" dur="1000"/>
                                        <p:tgtEl>
                                          <p:spTgt spid="20"/>
                                        </p:tgtEl>
                                      </p:cBhvr>
                                    </p:animEffect>
                                  </p:childTnLst>
                                </p:cTn>
                              </p:par>
                            </p:childTnLst>
                          </p:cTn>
                        </p:par>
                        <p:par>
                          <p:cTn id="27" fill="hold">
                            <p:stCondLst>
                              <p:cond delay="2000"/>
                            </p:stCondLst>
                            <p:childTnLst>
                              <p:par>
                                <p:cTn id="28" presetID="22" presetClass="entr" presetSubtype="8" fill="hold" nodeType="after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wipe(left)">
                                      <p:cBhvr>
                                        <p:cTn id="30" dur="1000"/>
                                        <p:tgtEl>
                                          <p:spTgt spid="33"/>
                                        </p:tgtEl>
                                      </p:cBhvr>
                                    </p:animEffect>
                                  </p:childTnLst>
                                </p:cTn>
                              </p:par>
                            </p:childTnLst>
                          </p:cTn>
                        </p:par>
                        <p:par>
                          <p:cTn id="31" fill="hold">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left)">
                                      <p:cBhvr>
                                        <p:cTn id="34" dur="1000"/>
                                        <p:tgtEl>
                                          <p:spTgt spid="21"/>
                                        </p:tgtEl>
                                      </p:cBhvr>
                                    </p:animEffect>
                                  </p:childTnLst>
                                </p:cTn>
                              </p:par>
                            </p:childTnLst>
                          </p:cTn>
                        </p:par>
                        <p:par>
                          <p:cTn id="35" fill="hold">
                            <p:stCondLst>
                              <p:cond delay="4000"/>
                            </p:stCondLst>
                            <p:childTnLst>
                              <p:par>
                                <p:cTn id="36" presetID="22" presetClass="entr" presetSubtype="8" fill="hold" nodeType="after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wipe(left)">
                                      <p:cBhvr>
                                        <p:cTn id="38" dur="1000"/>
                                        <p:tgtEl>
                                          <p:spTgt spid="34"/>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999"/>
                                          </p:stCondLst>
                                        </p:cTn>
                                        <p:tgtEl>
                                          <p:spTgt spid="32"/>
                                        </p:tgtEl>
                                        <p:attrNameLst>
                                          <p:attrName>style.visibility</p:attrName>
                                        </p:attrNameLst>
                                      </p:cBhvr>
                                      <p:to>
                                        <p:strVal val="visible"/>
                                      </p:to>
                                    </p:set>
                                  </p:childTnLst>
                                </p:cTn>
                              </p:par>
                            </p:childTnLst>
                          </p:cTn>
                        </p:par>
                        <p:par>
                          <p:cTn id="43" fill="hold">
                            <p:stCondLst>
                              <p:cond delay="1000"/>
                            </p:stCondLst>
                            <p:childTnLst>
                              <p:par>
                                <p:cTn id="44" presetID="12" presetClass="entr" presetSubtype="4" fill="hold" nodeType="after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slide(fromBottom)">
                                      <p:cBhvr>
                                        <p:cTn id="46"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autoUpdateAnimBg="0"/>
      <p:bldP spid="21" grpId="0" animBg="1" autoUpdateAnimBg="0"/>
      <p:bldP spid="32"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1101090" y="1824567"/>
            <a:ext cx="1371600" cy="760000"/>
            <a:chOff x="910590" y="1565910"/>
            <a:chExt cx="1371600" cy="684000"/>
          </a:xfrm>
        </p:grpSpPr>
        <p:grpSp>
          <p:nvGrpSpPr>
            <p:cNvPr id="18" name="组合 17"/>
            <p:cNvGrpSpPr/>
            <p:nvPr/>
          </p:nvGrpSpPr>
          <p:grpSpPr>
            <a:xfrm>
              <a:off x="910590" y="1699260"/>
              <a:ext cx="1371600" cy="99060"/>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19" name="组合 18"/>
            <p:cNvGrpSpPr/>
            <p:nvPr/>
          </p:nvGrpSpPr>
          <p:grpSpPr>
            <a:xfrm rot="5400000">
              <a:off x="728610" y="1866000"/>
              <a:ext cx="684000" cy="83820"/>
              <a:chOff x="910590" y="1699260"/>
              <a:chExt cx="1371600" cy="99060"/>
            </a:xfrm>
          </p:grpSpPr>
          <p:cxnSp>
            <p:nvCxnSpPr>
              <p:cNvPr id="20" name="直接连接符 1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24" name="组合 23"/>
          <p:cNvGrpSpPr/>
          <p:nvPr/>
        </p:nvGrpSpPr>
        <p:grpSpPr>
          <a:xfrm rot="10800000">
            <a:off x="6442710" y="3136900"/>
            <a:ext cx="1371600" cy="760000"/>
            <a:chOff x="910590" y="1565910"/>
            <a:chExt cx="1371600" cy="684000"/>
          </a:xfrm>
        </p:grpSpPr>
        <p:grpSp>
          <p:nvGrpSpPr>
            <p:cNvPr id="26" name="组合 35"/>
            <p:cNvGrpSpPr/>
            <p:nvPr/>
          </p:nvGrpSpPr>
          <p:grpSpPr>
            <a:xfrm>
              <a:off x="910590" y="1699260"/>
              <a:ext cx="1371600" cy="99060"/>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7" name="组合 36"/>
            <p:cNvGrpSpPr/>
            <p:nvPr/>
          </p:nvGrpSpPr>
          <p:grpSpPr>
            <a:xfrm rot="5400000">
              <a:off x="728610" y="1866000"/>
              <a:ext cx="684000" cy="83820"/>
              <a:chOff x="910590" y="1699260"/>
              <a:chExt cx="1371600" cy="99060"/>
            </a:xfrm>
          </p:grpSpPr>
          <p:cxnSp>
            <p:nvCxnSpPr>
              <p:cNvPr id="28" name="直接连接符 2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0" name="直接连接符 2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33" name="文本框 6"/>
          <p:cNvSpPr txBox="1"/>
          <p:nvPr/>
        </p:nvSpPr>
        <p:spPr>
          <a:xfrm>
            <a:off x="1393722" y="2157416"/>
            <a:ext cx="6150077" cy="708592"/>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6</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时序逻辑电路</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
        <p:nvSpPr>
          <p:cNvPr id="34" name="矩形 33"/>
          <p:cNvSpPr/>
          <p:nvPr/>
        </p:nvSpPr>
        <p:spPr>
          <a:xfrm>
            <a:off x="2286198" y="3020253"/>
            <a:ext cx="4365123" cy="461665"/>
          </a:xfrm>
          <a:prstGeom prst="rect">
            <a:avLst/>
          </a:prstGeom>
        </p:spPr>
        <p:txBody>
          <a:bodyPr wrap="square">
            <a:spAutoFit/>
          </a:bodyPr>
          <a:lstStyle/>
          <a:p>
            <a:pPr algn="ctr">
              <a:spcBef>
                <a:spcPts val="600"/>
              </a:spcBef>
            </a:pPr>
            <a:r>
              <a:rPr lang="en-US" altLang="zh-CN"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6.4 </a:t>
            </a:r>
            <a:r>
              <a:rPr lang="zh-CN" altLang="en-US"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寄存器和移位寄存器</a:t>
            </a:r>
            <a:endParaRPr lang="zh-CN" altLang="en-US"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392432" y="712860"/>
            <a:ext cx="1318780" cy="420971"/>
            <a:chOff x="670560" y="892917"/>
            <a:chExt cx="1318780" cy="420971"/>
          </a:xfrm>
        </p:grpSpPr>
        <p:sp>
          <p:nvSpPr>
            <p:cNvPr id="20" name="矩形 19"/>
            <p:cNvSpPr/>
            <p:nvPr/>
          </p:nvSpPr>
          <p:spPr>
            <a:xfrm>
              <a:off x="1035233" y="913778"/>
              <a:ext cx="954107"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寄存器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22" name="Rectangle 7"/>
          <p:cNvSpPr>
            <a:spLocks noChangeArrowheads="1"/>
          </p:cNvSpPr>
          <p:nvPr/>
        </p:nvSpPr>
        <p:spPr bwMode="auto">
          <a:xfrm>
            <a:off x="814386" y="1076506"/>
            <a:ext cx="7347903" cy="507831"/>
          </a:xfrm>
          <a:prstGeom prst="rect">
            <a:avLst/>
          </a:prstGeom>
          <a:noFill/>
          <a:ln w="9525" algn="ctr">
            <a:noFill/>
            <a:miter lim="800000"/>
          </a:ln>
        </p:spPr>
        <p:txBody>
          <a:bodyPr wrap="square" lIns="0" rIns="0">
            <a:spAutoFit/>
          </a:bodyPr>
          <a:lstStyle/>
          <a:p>
            <a:pPr marL="895350" indent="-895350">
              <a:lnSpc>
                <a:spcPct val="150000"/>
              </a:lnSpc>
            </a:pPr>
            <a:r>
              <a:rPr lang="zh-CN" altLang="en-US" dirty="0">
                <a:solidFill>
                  <a:srgbClr val="FF00FF"/>
                </a:solidFill>
                <a:latin typeface="微软雅黑" panose="020B0503020204020204" pitchFamily="34" charset="-122"/>
                <a:ea typeface="微软雅黑" panose="020B0503020204020204" pitchFamily="34" charset="-122"/>
              </a:rPr>
              <a:t>寄存器</a:t>
            </a:r>
            <a:r>
              <a:rPr lang="zh-CN" altLang="en-US" dirty="0">
                <a:solidFill>
                  <a:srgbClr val="000000"/>
                </a:solidFill>
                <a:latin typeface="微软雅黑" panose="020B0503020204020204" pitchFamily="34" charset="-122"/>
                <a:ea typeface="微软雅黑" panose="020B0503020204020204" pitchFamily="34" charset="-122"/>
              </a:rPr>
              <a:t>：用来存储二进制代码或数据的逻辑部件。主要组成部分是</a:t>
            </a:r>
            <a:r>
              <a:rPr lang="zh-CN" altLang="en-US" dirty="0">
                <a:solidFill>
                  <a:srgbClr val="FF00FF"/>
                </a:solidFill>
                <a:latin typeface="微软雅黑" panose="020B0503020204020204" pitchFamily="34" charset="-122"/>
                <a:ea typeface="微软雅黑" panose="020B0503020204020204" pitchFamily="34" charset="-122"/>
              </a:rPr>
              <a:t>触发器</a:t>
            </a:r>
            <a:r>
              <a:rPr lang="zh-CN" altLang="en-US" dirty="0">
                <a:solidFill>
                  <a:srgbClr val="000000"/>
                </a:solidFill>
                <a:latin typeface="微软雅黑" panose="020B0503020204020204" pitchFamily="34" charset="-122"/>
                <a:ea typeface="微软雅黑" panose="020B0503020204020204" pitchFamily="34" charset="-122"/>
              </a:rPr>
              <a:t>。</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30" name="剪去对角的矩形 29"/>
          <p:cNvSpPr/>
          <p:nvPr/>
        </p:nvSpPr>
        <p:spPr>
          <a:xfrm>
            <a:off x="814386" y="1569652"/>
            <a:ext cx="7410452" cy="914400"/>
          </a:xfrm>
          <a:prstGeom prst="snip2Diag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一个触发器能存储</a:t>
            </a:r>
            <a:r>
              <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位二进制代码或数据，存储 </a:t>
            </a:r>
            <a:r>
              <a:rPr lang="en-US" altLang="zh-CN"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n </a:t>
            </a: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位二进制代码或数据的寄存器需要用 </a:t>
            </a:r>
            <a:r>
              <a:rPr lang="en-US" altLang="zh-CN"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n </a:t>
            </a: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个触发器组成。寄存器实际上是若干触发器的集合。</a:t>
            </a:r>
            <a:endPar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9" name="组合 8"/>
          <p:cNvGrpSpPr/>
          <p:nvPr/>
        </p:nvGrpSpPr>
        <p:grpSpPr>
          <a:xfrm>
            <a:off x="968208" y="2645959"/>
            <a:ext cx="7253384" cy="1520235"/>
            <a:chOff x="971454" y="2604577"/>
            <a:chExt cx="7253384" cy="1520235"/>
          </a:xfrm>
        </p:grpSpPr>
        <p:grpSp>
          <p:nvGrpSpPr>
            <p:cNvPr id="36" name="组合 34"/>
            <p:cNvGrpSpPr/>
            <p:nvPr/>
          </p:nvGrpSpPr>
          <p:grpSpPr>
            <a:xfrm>
              <a:off x="971454" y="2604577"/>
              <a:ext cx="7253384" cy="1520235"/>
              <a:chOff x="924157" y="2733676"/>
              <a:chExt cx="7164473" cy="1520235"/>
            </a:xfrm>
          </p:grpSpPr>
          <p:sp>
            <p:nvSpPr>
              <p:cNvPr id="43" name="圆角矩形 42"/>
              <p:cNvSpPr/>
              <p:nvPr/>
            </p:nvSpPr>
            <p:spPr>
              <a:xfrm>
                <a:off x="3059430" y="2733676"/>
                <a:ext cx="5029200" cy="1520235"/>
              </a:xfrm>
              <a:prstGeom prst="roundRect">
                <a:avLst>
                  <a:gd name="adj" fmla="val 3901"/>
                </a:avLst>
              </a:prstGeom>
              <a:solidFill>
                <a:schemeClr val="bg1"/>
              </a:solidFill>
              <a:ln w="28575">
                <a:solidFill>
                  <a:srgbClr val="0070C0"/>
                </a:solidFill>
              </a:ln>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五边形 37"/>
              <p:cNvSpPr/>
              <p:nvPr/>
            </p:nvSpPr>
            <p:spPr>
              <a:xfrm>
                <a:off x="924157" y="3014631"/>
                <a:ext cx="1704975" cy="952501"/>
              </a:xfrm>
              <a:prstGeom prst="homePlate">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4</a:t>
                </a:r>
                <a:r>
                  <a:rPr lang="zh-CN" altLang="en-US" dirty="0">
                    <a:solidFill>
                      <a:schemeClr val="bg1"/>
                    </a:solidFill>
                    <a:latin typeface="微软雅黑" panose="020B0503020204020204" pitchFamily="34" charset="-122"/>
                    <a:ea typeface="微软雅黑" panose="020B0503020204020204" pitchFamily="34" charset="-122"/>
                  </a:rPr>
                  <a:t>位寄存器</a:t>
                </a:r>
                <a:r>
                  <a:rPr lang="en-US" altLang="zh-CN" dirty="0">
                    <a:solidFill>
                      <a:schemeClr val="bg1"/>
                    </a:solidFill>
                    <a:latin typeface="微软雅黑" panose="020B0503020204020204" pitchFamily="34" charset="-122"/>
                    <a:ea typeface="微软雅黑" panose="020B0503020204020204" pitchFamily="34" charset="-122"/>
                  </a:rPr>
                  <a:t>74LS175</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aphicFrame>
          <p:nvGraphicFramePr>
            <p:cNvPr id="3" name="对象 2"/>
            <p:cNvGraphicFramePr>
              <a:graphicFrameLocks noChangeAspect="1"/>
            </p:cNvGraphicFramePr>
            <p:nvPr/>
          </p:nvGraphicFramePr>
          <p:xfrm>
            <a:off x="3266371" y="2686650"/>
            <a:ext cx="4895918" cy="1350263"/>
          </p:xfrm>
          <a:graphic>
            <a:graphicData uri="http://schemas.openxmlformats.org/presentationml/2006/ole">
              <mc:AlternateContent xmlns:mc="http://schemas.openxmlformats.org/markup-compatibility/2006">
                <mc:Choice xmlns:v="urn:schemas-microsoft-com:vml" Requires="v">
                  <p:oleObj spid="_x0000_s20492" name="Visio" r:id="rId2" imgW="4010025" imgH="1114425" progId="Visio.Drawing.11">
                    <p:embed/>
                  </p:oleObj>
                </mc:Choice>
                <mc:Fallback>
                  <p:oleObj name="Visio" r:id="rId2" imgW="4010025" imgH="1114425" progId="Visio.Drawing.11">
                    <p:embed/>
                    <p:pic>
                      <p:nvPicPr>
                        <p:cNvPr id="0" name="对象 2"/>
                        <p:cNvPicPr>
                          <a:picLocks noChangeAspect="1" noChangeArrowheads="1"/>
                        </p:cNvPicPr>
                        <p:nvPr/>
                      </p:nvPicPr>
                      <p:blipFill>
                        <a:blip r:embed="rId3"/>
                        <a:srcRect/>
                        <a:stretch>
                          <a:fillRect/>
                        </a:stretch>
                      </p:blipFill>
                      <p:spPr bwMode="auto">
                        <a:xfrm>
                          <a:off x="3266371" y="2686650"/>
                          <a:ext cx="4895918" cy="1350263"/>
                        </a:xfrm>
                        <a:prstGeom prst="rect">
                          <a:avLst/>
                        </a:prstGeom>
                        <a:noFill/>
                      </p:spPr>
                    </p:pic>
                  </p:oleObj>
                </mc:Fallback>
              </mc:AlternateContent>
            </a:graphicData>
          </a:graphic>
        </p:graphicFrame>
      </p:grpSp>
      <p:grpSp>
        <p:nvGrpSpPr>
          <p:cNvPr id="12" name="组合 11"/>
          <p:cNvGrpSpPr/>
          <p:nvPr/>
        </p:nvGrpSpPr>
        <p:grpSpPr>
          <a:xfrm>
            <a:off x="1549312" y="3380515"/>
            <a:ext cx="5894495" cy="1571358"/>
            <a:chOff x="1549312" y="3380515"/>
            <a:chExt cx="5894495" cy="1571358"/>
          </a:xfrm>
        </p:grpSpPr>
        <p:sp>
          <p:nvSpPr>
            <p:cNvPr id="7" name="圆角矩形 6"/>
            <p:cNvSpPr/>
            <p:nvPr/>
          </p:nvSpPr>
          <p:spPr>
            <a:xfrm>
              <a:off x="1549312" y="3380515"/>
              <a:ext cx="5894495" cy="1571358"/>
            </a:xfrm>
            <a:prstGeom prst="roundRect">
              <a:avLst>
                <a:gd name="adj" fmla="val 487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28370" y="3403162"/>
              <a:ext cx="5762922" cy="1497587"/>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1000"/>
                                        <p:tgtEl>
                                          <p:spTgt spid="30"/>
                                        </p:tgtEl>
                                      </p:cBhvr>
                                    </p:animEffect>
                                    <p:anim calcmode="lin" valueType="num">
                                      <p:cBhvr>
                                        <p:cTn id="14" dur="1000" fill="hold"/>
                                        <p:tgtEl>
                                          <p:spTgt spid="30"/>
                                        </p:tgtEl>
                                        <p:attrNameLst>
                                          <p:attrName>ppt_x</p:attrName>
                                        </p:attrNameLst>
                                      </p:cBhvr>
                                      <p:tavLst>
                                        <p:tav tm="0">
                                          <p:val>
                                            <p:strVal val="#ppt_x"/>
                                          </p:val>
                                        </p:tav>
                                        <p:tav tm="100000">
                                          <p:val>
                                            <p:strVal val="#ppt_x"/>
                                          </p:val>
                                        </p:tav>
                                      </p:tavLst>
                                    </p:anim>
                                    <p:anim calcmode="lin" valueType="num">
                                      <p:cBhvr>
                                        <p:cTn id="15"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5"/>
          <p:cNvGrpSpPr/>
          <p:nvPr/>
        </p:nvGrpSpPr>
        <p:grpSpPr>
          <a:xfrm>
            <a:off x="392432" y="712860"/>
            <a:ext cx="1916427" cy="420971"/>
            <a:chOff x="670560" y="892917"/>
            <a:chExt cx="1916427" cy="420971"/>
          </a:xfrm>
        </p:grpSpPr>
        <p:sp>
          <p:nvSpPr>
            <p:cNvPr id="37" name="矩形 36"/>
            <p:cNvSpPr/>
            <p:nvPr/>
          </p:nvSpPr>
          <p:spPr>
            <a:xfrm>
              <a:off x="1035232" y="913778"/>
              <a:ext cx="1551755"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移位寄存器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8"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5" name="Rectangle 5"/>
          <p:cNvSpPr>
            <a:spLocks noChangeArrowheads="1"/>
          </p:cNvSpPr>
          <p:nvPr/>
        </p:nvSpPr>
        <p:spPr bwMode="auto">
          <a:xfrm>
            <a:off x="444500" y="1362393"/>
            <a:ext cx="8455025" cy="1128712"/>
          </a:xfrm>
          <a:prstGeom prst="rect">
            <a:avLst/>
          </a:prstGeom>
          <a:noFill/>
          <a:ln w="9525">
            <a:noFill/>
            <a:miter lim="800000"/>
          </a:ln>
        </p:spPr>
        <p:txBody>
          <a:bodyPr/>
          <a:lstStyle/>
          <a:p>
            <a:pPr indent="533400">
              <a:lnSpc>
                <a:spcPct val="125000"/>
              </a:lnSpc>
              <a:buClr>
                <a:schemeClr val="tx1"/>
              </a:buClr>
            </a:pPr>
            <a:endParaRPr lang="en-GB" dirty="0">
              <a:solidFill>
                <a:srgbClr val="000000"/>
              </a:solidFill>
              <a:latin typeface="楷体_GB2312" pitchFamily="49" charset="-122"/>
            </a:endParaRPr>
          </a:p>
        </p:txBody>
      </p:sp>
      <p:sp>
        <p:nvSpPr>
          <p:cNvPr id="51" name="矩形 50"/>
          <p:cNvSpPr/>
          <p:nvPr/>
        </p:nvSpPr>
        <p:spPr>
          <a:xfrm>
            <a:off x="480060" y="1245215"/>
            <a:ext cx="7909560" cy="784830"/>
          </a:xfrm>
          <a:prstGeom prst="rect">
            <a:avLst/>
          </a:prstGeom>
        </p:spPr>
        <p:txBody>
          <a:bodyPr wrap="square">
            <a:spAutoFit/>
          </a:bodyPr>
          <a:lstStyle/>
          <a:p>
            <a:pPr marL="1341755" indent="-1341755">
              <a:lnSpc>
                <a:spcPct val="125000"/>
              </a:lnSpc>
            </a:pPr>
            <a:r>
              <a:rPr lang="zh-CN" altLang="en-US" b="1" dirty="0">
                <a:solidFill>
                  <a:srgbClr val="FF00FF"/>
                </a:solidFill>
                <a:latin typeface="微软雅黑" panose="020B0503020204020204" pitchFamily="34" charset="-122"/>
                <a:ea typeface="微软雅黑" panose="020B0503020204020204" pitchFamily="34" charset="-122"/>
              </a:rPr>
              <a:t>移位寄存器</a:t>
            </a:r>
            <a:r>
              <a:rPr lang="zh-CN" altLang="en-US" dirty="0">
                <a:solidFill>
                  <a:srgbClr val="FF00FF"/>
                </a:solidFill>
                <a:latin typeface="微软雅黑" panose="020B0503020204020204" pitchFamily="34" charset="-122"/>
                <a:ea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rPr>
              <a:t>既能</a:t>
            </a:r>
            <a:r>
              <a:rPr lang="zh-CN" altLang="en-US" b="1" dirty="0">
                <a:latin typeface="微软雅黑" panose="020B0503020204020204" pitchFamily="34" charset="-122"/>
                <a:ea typeface="微软雅黑" panose="020B0503020204020204" pitchFamily="34" charset="-122"/>
              </a:rPr>
              <a:t>寄存数码</a:t>
            </a:r>
            <a:r>
              <a:rPr lang="zh-CN" altLang="en-US" dirty="0">
                <a:solidFill>
                  <a:srgbClr val="000000"/>
                </a:solidFill>
                <a:latin typeface="微软雅黑" panose="020B0503020204020204" pitchFamily="34" charset="-122"/>
                <a:ea typeface="微软雅黑" panose="020B0503020204020204" pitchFamily="34" charset="-122"/>
              </a:rPr>
              <a:t>，又能在时钟脉冲的作用下</a:t>
            </a:r>
            <a:r>
              <a:rPr lang="zh-CN" altLang="en-US" b="1" dirty="0">
                <a:latin typeface="微软雅黑" panose="020B0503020204020204" pitchFamily="34" charset="-122"/>
                <a:ea typeface="微软雅黑" panose="020B0503020204020204" pitchFamily="34" charset="-122"/>
              </a:rPr>
              <a:t>使数码由低位向高位或由高位向低位移动</a:t>
            </a:r>
            <a:r>
              <a:rPr lang="zh-CN" altLang="en-US" dirty="0">
                <a:solidFill>
                  <a:srgbClr val="000000"/>
                </a:solidFill>
                <a:latin typeface="微软雅黑" panose="020B0503020204020204" pitchFamily="34" charset="-122"/>
                <a:ea typeface="微软雅黑" panose="020B0503020204020204" pitchFamily="34" charset="-122"/>
              </a:rPr>
              <a:t>的逻辑功能部件。</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52" name="矩形 51"/>
          <p:cNvSpPr/>
          <p:nvPr/>
        </p:nvSpPr>
        <p:spPr>
          <a:xfrm>
            <a:off x="480090" y="2162294"/>
            <a:ext cx="7597110" cy="369332"/>
          </a:xfrm>
          <a:prstGeom prst="rect">
            <a:avLst/>
          </a:prstGeom>
        </p:spPr>
        <p:txBody>
          <a:bodyPr wrap="square">
            <a:spAutoFit/>
          </a:bodyPr>
          <a:lstStyle/>
          <a:p>
            <a:pPr>
              <a:spcBef>
                <a:spcPct val="50000"/>
              </a:spcBef>
            </a:pPr>
            <a:r>
              <a:rPr lang="zh-CN" altLang="en-US" b="1" dirty="0">
                <a:solidFill>
                  <a:srgbClr val="CC00CC"/>
                </a:solidFill>
                <a:latin typeface="微软雅黑" panose="020B0503020204020204" pitchFamily="34" charset="-122"/>
                <a:ea typeface="微软雅黑" panose="020B0503020204020204" pitchFamily="34" charset="-122"/>
              </a:rPr>
              <a:t>移位寄存器分类</a:t>
            </a:r>
            <a:r>
              <a:rPr lang="zh-CN" altLang="en-US" dirty="0">
                <a:solidFill>
                  <a:srgbClr val="000000"/>
                </a:solidFill>
                <a:latin typeface="微软雅黑" panose="020B0503020204020204" pitchFamily="34" charset="-122"/>
                <a:ea typeface="微软雅黑" panose="020B0503020204020204" pitchFamily="34" charset="-122"/>
              </a:rPr>
              <a:t>：</a:t>
            </a:r>
            <a:r>
              <a:rPr lang="zh-CN" altLang="en-US" dirty="0">
                <a:solidFill>
                  <a:srgbClr val="0000FF"/>
                </a:solidFill>
                <a:latin typeface="微软雅黑" panose="020B0503020204020204" pitchFamily="34" charset="-122"/>
                <a:ea typeface="微软雅黑" panose="020B0503020204020204" pitchFamily="34" charset="-122"/>
              </a:rPr>
              <a:t>单向移位寄存器</a:t>
            </a:r>
            <a:r>
              <a:rPr lang="zh-CN" altLang="en-US" dirty="0">
                <a:solidFill>
                  <a:srgbClr val="000000"/>
                </a:solidFill>
                <a:latin typeface="微软雅黑" panose="020B0503020204020204" pitchFamily="34" charset="-122"/>
                <a:ea typeface="微软雅黑" panose="020B0503020204020204" pitchFamily="34" charset="-122"/>
              </a:rPr>
              <a:t>（</a:t>
            </a:r>
            <a:r>
              <a:rPr lang="zh-CN" altLang="en-US" b="1" dirty="0">
                <a:solidFill>
                  <a:srgbClr val="CC00CC"/>
                </a:solidFill>
                <a:latin typeface="微软雅黑" panose="020B0503020204020204" pitchFamily="34" charset="-122"/>
                <a:ea typeface="微软雅黑" panose="020B0503020204020204" pitchFamily="34" charset="-122"/>
              </a:rPr>
              <a:t>左移</a:t>
            </a:r>
            <a:r>
              <a:rPr lang="en-US" altLang="zh-CN" b="1" dirty="0">
                <a:solidFill>
                  <a:srgbClr val="CC00CC"/>
                </a:solidFill>
                <a:latin typeface="微软雅黑" panose="020B0503020204020204" pitchFamily="34" charset="-122"/>
                <a:ea typeface="微软雅黑" panose="020B0503020204020204" pitchFamily="34" charset="-122"/>
              </a:rPr>
              <a:t>/</a:t>
            </a:r>
            <a:r>
              <a:rPr lang="zh-CN" altLang="en-US" b="1" dirty="0">
                <a:solidFill>
                  <a:srgbClr val="CC00CC"/>
                </a:solidFill>
                <a:latin typeface="微软雅黑" panose="020B0503020204020204" pitchFamily="34" charset="-122"/>
                <a:ea typeface="微软雅黑" panose="020B0503020204020204" pitchFamily="34" charset="-122"/>
              </a:rPr>
              <a:t>右移</a:t>
            </a:r>
            <a:r>
              <a:rPr lang="zh-CN" altLang="en-US" dirty="0">
                <a:solidFill>
                  <a:srgbClr val="000000"/>
                </a:solidFill>
                <a:latin typeface="微软雅黑" panose="020B0503020204020204" pitchFamily="34" charset="-122"/>
                <a:ea typeface="微软雅黑" panose="020B0503020204020204" pitchFamily="34" charset="-122"/>
              </a:rPr>
              <a:t>）、</a:t>
            </a:r>
            <a:r>
              <a:rPr lang="zh-CN" altLang="en-US" dirty="0">
                <a:solidFill>
                  <a:srgbClr val="0000FF"/>
                </a:solidFill>
                <a:latin typeface="微软雅黑" panose="020B0503020204020204" pitchFamily="34" charset="-122"/>
                <a:ea typeface="微软雅黑" panose="020B0503020204020204" pitchFamily="34" charset="-122"/>
              </a:rPr>
              <a:t>双向移位寄存器。</a:t>
            </a:r>
            <a:endParaRPr lang="zh-CN" altLang="en-US" dirty="0">
              <a:solidFill>
                <a:srgbClr val="0000FF"/>
              </a:solidFill>
              <a:latin typeface="微软雅黑" panose="020B0503020204020204" pitchFamily="34" charset="-122"/>
              <a:ea typeface="微软雅黑" panose="020B0503020204020204" pitchFamily="34" charset="-122"/>
            </a:endParaRPr>
          </a:p>
        </p:txBody>
      </p:sp>
      <p:sp>
        <p:nvSpPr>
          <p:cNvPr id="10" name="泪滴形 9"/>
          <p:cNvSpPr/>
          <p:nvPr/>
        </p:nvSpPr>
        <p:spPr>
          <a:xfrm flipH="1">
            <a:off x="7059730" y="2598020"/>
            <a:ext cx="1813560" cy="845820"/>
          </a:xfrm>
          <a:prstGeom prst="teardrop">
            <a:avLst>
              <a:gd name="adj" fmla="val 111274"/>
            </a:avLst>
          </a:prstGeom>
          <a:solidFill>
            <a:srgbClr val="0070C0"/>
          </a:solidFill>
          <a:ln>
            <a:noFill/>
          </a:ln>
          <a:effectLst>
            <a:glow rad="63500">
              <a:schemeClr val="accent2">
                <a:satMod val="175000"/>
                <a:alpha val="40000"/>
              </a:schemeClr>
            </a:glow>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dirty="0">
                <a:latin typeface="微软雅黑" panose="020B0503020204020204" pitchFamily="34" charset="-122"/>
                <a:ea typeface="微软雅黑" panose="020B0503020204020204" pitchFamily="34" charset="-122"/>
              </a:rPr>
              <a:t>能同时实现左移和右移</a:t>
            </a:r>
            <a:endParaRPr lang="zh-CN" altLang="en-US" dirty="0">
              <a:latin typeface="微软雅黑" panose="020B0503020204020204" pitchFamily="34" charset="-122"/>
              <a:ea typeface="微软雅黑" panose="020B0503020204020204" pitchFamily="34" charset="-122"/>
            </a:endParaRPr>
          </a:p>
        </p:txBody>
      </p:sp>
      <p:grpSp>
        <p:nvGrpSpPr>
          <p:cNvPr id="4" name="组合 3"/>
          <p:cNvGrpSpPr/>
          <p:nvPr/>
        </p:nvGrpSpPr>
        <p:grpSpPr>
          <a:xfrm>
            <a:off x="5002329" y="2606040"/>
            <a:ext cx="1813560" cy="1262049"/>
            <a:chOff x="5002329" y="2606040"/>
            <a:chExt cx="1813560" cy="1262049"/>
          </a:xfrm>
        </p:grpSpPr>
        <p:sp>
          <p:nvSpPr>
            <p:cNvPr id="55" name="泪滴形 54"/>
            <p:cNvSpPr/>
            <p:nvPr/>
          </p:nvSpPr>
          <p:spPr>
            <a:xfrm flipH="1">
              <a:off x="5002329" y="2606040"/>
              <a:ext cx="1813560" cy="845820"/>
            </a:xfrm>
            <a:prstGeom prst="teardrop">
              <a:avLst>
                <a:gd name="adj" fmla="val 111274"/>
              </a:avLst>
            </a:prstGeom>
            <a:solidFill>
              <a:srgbClr val="0070C0"/>
            </a:solidFill>
            <a:ln>
              <a:noFill/>
            </a:ln>
            <a:effectLst>
              <a:glow rad="63500">
                <a:schemeClr val="accent2">
                  <a:satMod val="175000"/>
                  <a:alpha val="40000"/>
                </a:schemeClr>
              </a:glow>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dirty="0">
                  <a:latin typeface="微软雅黑" panose="020B0503020204020204" pitchFamily="34" charset="-122"/>
                  <a:ea typeface="微软雅黑" panose="020B0503020204020204" pitchFamily="34" charset="-122"/>
                </a:rPr>
                <a:t>低位</a:t>
              </a:r>
              <a:r>
                <a:rPr lang="zh-CN" altLang="en-US" dirty="0">
                  <a:latin typeface="微软雅黑" panose="020B0503020204020204" pitchFamily="34" charset="-122"/>
                  <a:ea typeface="微软雅黑" panose="020B0503020204020204" pitchFamily="34" charset="-122"/>
                  <a:cs typeface="Times New Roman" panose="02020603050405020304"/>
                </a:rPr>
                <a:t>→</a:t>
              </a:r>
              <a:r>
                <a:rPr lang="zh-CN" altLang="en-US" dirty="0">
                  <a:latin typeface="微软雅黑" panose="020B0503020204020204" pitchFamily="34" charset="-122"/>
                  <a:ea typeface="微软雅黑" panose="020B0503020204020204" pitchFamily="34" charset="-122"/>
                </a:rPr>
                <a:t>高位</a:t>
              </a:r>
              <a:endParaRPr lang="en-US" altLang="zh-CN" dirty="0">
                <a:latin typeface="微软雅黑" panose="020B0503020204020204" pitchFamily="34" charset="-122"/>
                <a:ea typeface="微软雅黑" panose="020B0503020204020204" pitchFamily="34" charset="-122"/>
              </a:endParaRPr>
            </a:p>
          </p:txBody>
        </p:sp>
        <p:graphicFrame>
          <p:nvGraphicFramePr>
            <p:cNvPr id="11" name="Object 3"/>
            <p:cNvGraphicFramePr>
              <a:graphicFrameLocks noChangeAspect="1"/>
            </p:cNvGraphicFramePr>
            <p:nvPr/>
          </p:nvGraphicFramePr>
          <p:xfrm>
            <a:off x="5413124" y="3526274"/>
            <a:ext cx="991969" cy="341815"/>
          </p:xfrm>
          <a:graphic>
            <a:graphicData uri="http://schemas.openxmlformats.org/presentationml/2006/ole">
              <mc:AlternateContent xmlns:mc="http://schemas.openxmlformats.org/markup-compatibility/2006">
                <mc:Choice xmlns:v="urn:schemas-microsoft-com:vml" Requires="v">
                  <p:oleObj spid="_x0000_s21526" name="公式" r:id="rId2" imgW="15849600" imgH="5486400" progId="Equation.3">
                    <p:embed/>
                  </p:oleObj>
                </mc:Choice>
                <mc:Fallback>
                  <p:oleObj name="公式" r:id="rId2" imgW="15849600" imgH="5486400" progId="Equation.3">
                    <p:embed/>
                    <p:pic>
                      <p:nvPicPr>
                        <p:cNvPr id="0" name="Object 3"/>
                        <p:cNvPicPr>
                          <a:picLocks noChangeAspect="1" noChangeArrowheads="1"/>
                        </p:cNvPicPr>
                        <p:nvPr/>
                      </p:nvPicPr>
                      <p:blipFill>
                        <a:blip r:embed="rId3"/>
                        <a:srcRect/>
                        <a:stretch>
                          <a:fillRect/>
                        </a:stretch>
                      </p:blipFill>
                      <p:spPr bwMode="auto">
                        <a:xfrm>
                          <a:off x="5413124" y="3526274"/>
                          <a:ext cx="991969" cy="341815"/>
                        </a:xfrm>
                        <a:prstGeom prst="rect">
                          <a:avLst/>
                        </a:prstGeom>
                        <a:noFill/>
                      </p:spPr>
                    </p:pic>
                  </p:oleObj>
                </mc:Fallback>
              </mc:AlternateContent>
            </a:graphicData>
          </a:graphic>
        </p:graphicFrame>
      </p:grpSp>
      <p:grpSp>
        <p:nvGrpSpPr>
          <p:cNvPr id="3" name="组合 2"/>
          <p:cNvGrpSpPr/>
          <p:nvPr/>
        </p:nvGrpSpPr>
        <p:grpSpPr>
          <a:xfrm>
            <a:off x="2465085" y="2598020"/>
            <a:ext cx="1813560" cy="1280577"/>
            <a:chOff x="2465085" y="2598020"/>
            <a:chExt cx="1813560" cy="1280577"/>
          </a:xfrm>
        </p:grpSpPr>
        <p:sp>
          <p:nvSpPr>
            <p:cNvPr id="54" name="泪滴形 53"/>
            <p:cNvSpPr/>
            <p:nvPr/>
          </p:nvSpPr>
          <p:spPr>
            <a:xfrm>
              <a:off x="2465085" y="2598020"/>
              <a:ext cx="1813560" cy="845820"/>
            </a:xfrm>
            <a:prstGeom prst="teardrop">
              <a:avLst>
                <a:gd name="adj" fmla="val 111274"/>
              </a:avLst>
            </a:prstGeom>
            <a:solidFill>
              <a:srgbClr val="0070C0"/>
            </a:solidFill>
            <a:ln>
              <a:noFill/>
            </a:ln>
            <a:effectLst>
              <a:glow rad="63500">
                <a:schemeClr val="accent2">
                  <a:satMod val="175000"/>
                  <a:alpha val="40000"/>
                </a:schemeClr>
              </a:glow>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高位→低位</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2" name="Object 3"/>
            <p:cNvGraphicFramePr>
              <a:graphicFrameLocks noChangeAspect="1"/>
            </p:cNvGraphicFramePr>
            <p:nvPr/>
          </p:nvGraphicFramePr>
          <p:xfrm>
            <a:off x="2913318" y="3512251"/>
            <a:ext cx="1104702" cy="366346"/>
          </p:xfrm>
          <a:graphic>
            <a:graphicData uri="http://schemas.openxmlformats.org/presentationml/2006/ole">
              <mc:AlternateContent xmlns:mc="http://schemas.openxmlformats.org/markup-compatibility/2006">
                <mc:Choice xmlns:v="urn:schemas-microsoft-com:vml" Requires="v">
                  <p:oleObj spid="_x0000_s21527" name="公式" r:id="rId4" imgW="16459200" imgH="5486400" progId="Equation.3">
                    <p:embed/>
                  </p:oleObj>
                </mc:Choice>
                <mc:Fallback>
                  <p:oleObj name="公式" r:id="rId4" imgW="16459200" imgH="5486400" progId="Equation.3">
                    <p:embed/>
                    <p:pic>
                      <p:nvPicPr>
                        <p:cNvPr id="0" name="Object 3"/>
                        <p:cNvPicPr>
                          <a:picLocks noChangeAspect="1" noChangeArrowheads="1"/>
                        </p:cNvPicPr>
                        <p:nvPr/>
                      </p:nvPicPr>
                      <p:blipFill>
                        <a:blip r:embed="rId5"/>
                        <a:srcRect/>
                        <a:stretch>
                          <a:fillRect/>
                        </a:stretch>
                      </p:blipFill>
                      <p:spPr bwMode="auto">
                        <a:xfrm>
                          <a:off x="2913318" y="3512251"/>
                          <a:ext cx="1104702" cy="366346"/>
                        </a:xfrm>
                        <a:prstGeom prst="rect">
                          <a:avLst/>
                        </a:prstGeom>
                        <a:noFill/>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1000"/>
                                        <p:tgtEl>
                                          <p:spTgt spid="51"/>
                                        </p:tgtEl>
                                      </p:cBhvr>
                                    </p:animEffect>
                                    <p:anim calcmode="lin" valueType="num">
                                      <p:cBhvr>
                                        <p:cTn id="8" dur="1000" fill="hold"/>
                                        <p:tgtEl>
                                          <p:spTgt spid="51"/>
                                        </p:tgtEl>
                                        <p:attrNameLst>
                                          <p:attrName>ppt_x</p:attrName>
                                        </p:attrNameLst>
                                      </p:cBhvr>
                                      <p:tavLst>
                                        <p:tav tm="0">
                                          <p:val>
                                            <p:strVal val="#ppt_x"/>
                                          </p:val>
                                        </p:tav>
                                        <p:tav tm="100000">
                                          <p:val>
                                            <p:strVal val="#ppt_x"/>
                                          </p:val>
                                        </p:tav>
                                      </p:tavLst>
                                    </p:anim>
                                    <p:anim calcmode="lin" valueType="num">
                                      <p:cBhvr>
                                        <p:cTn id="9" dur="1000" fill="hold"/>
                                        <p:tgtEl>
                                          <p:spTgt spid="5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52"/>
                                        </p:tgtEl>
                                        <p:attrNameLst>
                                          <p:attrName>style.visibility</p:attrName>
                                        </p:attrNameLst>
                                      </p:cBhvr>
                                      <p:to>
                                        <p:strVal val="visible"/>
                                      </p:to>
                                    </p:set>
                                    <p:animEffect transition="in" filter="fade">
                                      <p:cBhvr>
                                        <p:cTn id="13" dur="1000"/>
                                        <p:tgtEl>
                                          <p:spTgt spid="52"/>
                                        </p:tgtEl>
                                      </p:cBhvr>
                                    </p:animEffect>
                                    <p:anim calcmode="lin" valueType="num">
                                      <p:cBhvr>
                                        <p:cTn id="14" dur="1000" fill="hold"/>
                                        <p:tgtEl>
                                          <p:spTgt spid="52"/>
                                        </p:tgtEl>
                                        <p:attrNameLst>
                                          <p:attrName>ppt_x</p:attrName>
                                        </p:attrNameLst>
                                      </p:cBhvr>
                                      <p:tavLst>
                                        <p:tav tm="0">
                                          <p:val>
                                            <p:strVal val="#ppt_x"/>
                                          </p:val>
                                        </p:tav>
                                        <p:tav tm="100000">
                                          <p:val>
                                            <p:strVal val="#ppt_x"/>
                                          </p:val>
                                        </p:tav>
                                      </p:tavLst>
                                    </p:anim>
                                    <p:anim calcmode="lin" valueType="num">
                                      <p:cBhvr>
                                        <p:cTn id="15" dur="1000" fill="hold"/>
                                        <p:tgtEl>
                                          <p:spTgt spid="52"/>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1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35"/>
          <p:cNvGrpSpPr/>
          <p:nvPr/>
        </p:nvGrpSpPr>
        <p:grpSpPr>
          <a:xfrm>
            <a:off x="392432" y="712860"/>
            <a:ext cx="1916427" cy="420971"/>
            <a:chOff x="670560" y="892917"/>
            <a:chExt cx="1916427" cy="420971"/>
          </a:xfrm>
        </p:grpSpPr>
        <p:sp>
          <p:nvSpPr>
            <p:cNvPr id="28" name="矩形 27"/>
            <p:cNvSpPr/>
            <p:nvPr/>
          </p:nvSpPr>
          <p:spPr>
            <a:xfrm>
              <a:off x="1035232" y="913778"/>
              <a:ext cx="1551755"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移位寄存器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9"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0" name="Rectangle 5"/>
          <p:cNvSpPr>
            <a:spLocks noChangeArrowheads="1"/>
          </p:cNvSpPr>
          <p:nvPr/>
        </p:nvSpPr>
        <p:spPr bwMode="auto">
          <a:xfrm>
            <a:off x="278130" y="1135247"/>
            <a:ext cx="2426970" cy="369332"/>
          </a:xfrm>
          <a:prstGeom prst="rect">
            <a:avLst/>
          </a:prstGeom>
          <a:noFill/>
          <a:ln w="9525">
            <a:noFill/>
            <a:miter lim="800000"/>
          </a:ln>
        </p:spPr>
        <p:txBody>
          <a:bodyPr wrap="square" anchor="ctr">
            <a:spAutoFit/>
          </a:bodyPr>
          <a:lstStyle/>
          <a:p>
            <a:r>
              <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）单向移位寄存器</a:t>
            </a:r>
            <a:endPar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1" name="Picture 1"/>
          <p:cNvPicPr>
            <a:picLocks noChangeAspect="1" noChangeArrowheads="1"/>
          </p:cNvPicPr>
          <p:nvPr/>
        </p:nvPicPr>
        <p:blipFill>
          <a:blip r:embed="rId2" cstate="print"/>
          <a:srcRect t="6409" b="9985"/>
          <a:stretch>
            <a:fillRect/>
          </a:stretch>
        </p:blipFill>
        <p:spPr bwMode="auto">
          <a:xfrm>
            <a:off x="1373280" y="1782697"/>
            <a:ext cx="5765187" cy="1529122"/>
          </a:xfrm>
          <a:prstGeom prst="snip2DiagRect">
            <a:avLst>
              <a:gd name="adj1" fmla="val 18066"/>
              <a:gd name="adj2" fmla="val 0"/>
            </a:avLst>
          </a:prstGeom>
          <a:solidFill>
            <a:srgbClr val="FFFFFF">
              <a:shade val="85000"/>
            </a:srgbClr>
          </a:solidFill>
          <a:ln w="88900" cap="sq">
            <a:solidFill>
              <a:schemeClr val="bg2"/>
            </a:solidFill>
            <a:miter lim="800000"/>
            <a:headEnd/>
            <a:tailEnd/>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37" name="圆角矩形标注 36"/>
          <p:cNvSpPr/>
          <p:nvPr/>
        </p:nvSpPr>
        <p:spPr>
          <a:xfrm>
            <a:off x="716408" y="1673071"/>
            <a:ext cx="914400" cy="548640"/>
          </a:xfrm>
          <a:prstGeom prst="wedgeRoundRectCallout">
            <a:avLst>
              <a:gd name="adj1" fmla="val 64167"/>
              <a:gd name="adj2" fmla="val 69167"/>
              <a:gd name="adj3" fmla="val 16667"/>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coolSlant"/>
            <a:contourClr>
              <a:srgbClr val="FFFFFF"/>
            </a:contourClr>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400" dirty="0">
                <a:latin typeface="微软雅黑" panose="020B0503020204020204" pitchFamily="34" charset="-122"/>
                <a:ea typeface="微软雅黑" panose="020B0503020204020204" pitchFamily="34" charset="-122"/>
              </a:rPr>
              <a:t>数据串行输入端</a:t>
            </a:r>
            <a:endParaRPr lang="zh-CN" altLang="en-US" sz="1400" dirty="0"/>
          </a:p>
        </p:txBody>
      </p:sp>
      <p:sp>
        <p:nvSpPr>
          <p:cNvPr id="38" name="圆角矩形标注 37"/>
          <p:cNvSpPr/>
          <p:nvPr/>
        </p:nvSpPr>
        <p:spPr>
          <a:xfrm>
            <a:off x="7094028" y="1710402"/>
            <a:ext cx="914400" cy="548640"/>
          </a:xfrm>
          <a:prstGeom prst="wedgeRoundRectCallout">
            <a:avLst>
              <a:gd name="adj1" fmla="val -70000"/>
              <a:gd name="adj2" fmla="val 71945"/>
              <a:gd name="adj3" fmla="val 16667"/>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coolSlant"/>
            <a:contourClr>
              <a:srgbClr val="FFFFFF"/>
            </a:contourClr>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400" dirty="0">
                <a:latin typeface="微软雅黑" panose="020B0503020204020204" pitchFamily="34" charset="-122"/>
                <a:ea typeface="微软雅黑" panose="020B0503020204020204" pitchFamily="34" charset="-122"/>
              </a:rPr>
              <a:t>数据串行输出端</a:t>
            </a:r>
            <a:endParaRPr lang="zh-CN" altLang="en-US" sz="1400" dirty="0"/>
          </a:p>
        </p:txBody>
      </p:sp>
      <p:grpSp>
        <p:nvGrpSpPr>
          <p:cNvPr id="39" name="组合 15"/>
          <p:cNvGrpSpPr/>
          <p:nvPr/>
        </p:nvGrpSpPr>
        <p:grpSpPr>
          <a:xfrm>
            <a:off x="3065930" y="1068081"/>
            <a:ext cx="3380976" cy="776087"/>
            <a:chOff x="3065930" y="1068081"/>
            <a:chExt cx="3380976" cy="776087"/>
          </a:xfrm>
        </p:grpSpPr>
        <p:sp>
          <p:nvSpPr>
            <p:cNvPr id="40" name="右大括号 39"/>
            <p:cNvSpPr/>
            <p:nvPr/>
          </p:nvSpPr>
          <p:spPr>
            <a:xfrm rot="16200000">
              <a:off x="4560475" y="-42263"/>
              <a:ext cx="391886" cy="3380976"/>
            </a:xfrm>
            <a:prstGeom prst="rightBrace">
              <a:avLst>
                <a:gd name="adj1" fmla="val 38492"/>
                <a:gd name="adj2" fmla="val 50000"/>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圆角矩形 40"/>
            <p:cNvSpPr/>
            <p:nvPr/>
          </p:nvSpPr>
          <p:spPr>
            <a:xfrm>
              <a:off x="3688336" y="1068081"/>
              <a:ext cx="2128477" cy="407254"/>
            </a:xfrm>
            <a:prstGeom prst="roundRect">
              <a:avLst/>
            </a:prstGeom>
            <a:solidFill>
              <a:srgbClr val="00B0F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coolSlant"/>
              <a:contourClr>
                <a:srgbClr val="FFFFFF"/>
              </a:contourClr>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400" dirty="0">
                  <a:latin typeface="微软雅黑" panose="020B0503020204020204" pitchFamily="34" charset="-122"/>
                  <a:ea typeface="微软雅黑" panose="020B0503020204020204" pitchFamily="34" charset="-122"/>
                </a:rPr>
                <a:t>数据并行输出端</a:t>
              </a:r>
              <a:endParaRPr lang="zh-CN" altLang="en-US" sz="1400" dirty="0">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906717" y="3441167"/>
            <a:ext cx="6854158" cy="516110"/>
            <a:chOff x="906717" y="3441167"/>
            <a:chExt cx="6854158" cy="516110"/>
          </a:xfrm>
        </p:grpSpPr>
        <p:sp>
          <p:nvSpPr>
            <p:cNvPr id="42" name="圆角矩形 41"/>
            <p:cNvSpPr/>
            <p:nvPr/>
          </p:nvSpPr>
          <p:spPr>
            <a:xfrm>
              <a:off x="906717" y="3441167"/>
              <a:ext cx="6854158" cy="516110"/>
            </a:xfrm>
            <a:prstGeom prst="roundRect">
              <a:avLst/>
            </a:prstGeom>
            <a:solidFill>
              <a:srgbClr val="66FF6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coolSlant"/>
              <a:contourClr>
                <a:srgbClr val="FFFFFF"/>
              </a:contourClr>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zh-CN" altLang="en-US" sz="1400" dirty="0">
                <a:latin typeface="微软雅黑" panose="020B0503020204020204" pitchFamily="34" charset="-122"/>
                <a:ea typeface="微软雅黑" panose="020B0503020204020204" pitchFamily="34" charset="-122"/>
              </a:endParaRPr>
            </a:p>
          </p:txBody>
        </p:sp>
        <p:graphicFrame>
          <p:nvGraphicFramePr>
            <p:cNvPr id="43" name="Object 2"/>
            <p:cNvGraphicFramePr>
              <a:graphicFrameLocks noChangeAspect="1"/>
            </p:cNvGraphicFramePr>
            <p:nvPr/>
          </p:nvGraphicFramePr>
          <p:xfrm>
            <a:off x="1058796" y="3536503"/>
            <a:ext cx="1322388" cy="325438"/>
          </p:xfrm>
          <a:graphic>
            <a:graphicData uri="http://schemas.openxmlformats.org/presentationml/2006/ole">
              <mc:AlternateContent xmlns:mc="http://schemas.openxmlformats.org/markup-compatibility/2006">
                <mc:Choice xmlns:v="urn:schemas-microsoft-com:vml" Requires="v">
                  <p:oleObj spid="_x0000_s22570" name="公式" r:id="rId3" imgW="977900" imgH="241300" progId="Equation.3">
                    <p:embed/>
                  </p:oleObj>
                </mc:Choice>
                <mc:Fallback>
                  <p:oleObj name="公式" r:id="rId3" imgW="977900" imgH="2413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8796" y="3536503"/>
                          <a:ext cx="1322388" cy="325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3"/>
            <p:cNvGraphicFramePr>
              <a:graphicFrameLocks noChangeAspect="1"/>
            </p:cNvGraphicFramePr>
            <p:nvPr/>
          </p:nvGraphicFramePr>
          <p:xfrm>
            <a:off x="2809142" y="3536503"/>
            <a:ext cx="1271588" cy="325438"/>
          </p:xfrm>
          <a:graphic>
            <a:graphicData uri="http://schemas.openxmlformats.org/presentationml/2006/ole">
              <mc:AlternateContent xmlns:mc="http://schemas.openxmlformats.org/markup-compatibility/2006">
                <mc:Choice xmlns:v="urn:schemas-microsoft-com:vml" Requires="v">
                  <p:oleObj spid="_x0000_s22571" name="公式" r:id="rId5" imgW="939165" imgH="241300" progId="Equation.3">
                    <p:embed/>
                  </p:oleObj>
                </mc:Choice>
                <mc:Fallback>
                  <p:oleObj name="公式" r:id="rId5" imgW="939165" imgH="2413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9142" y="3536503"/>
                          <a:ext cx="1271588" cy="325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 name="Object 4"/>
            <p:cNvGraphicFramePr>
              <a:graphicFrameLocks noChangeAspect="1"/>
            </p:cNvGraphicFramePr>
            <p:nvPr/>
          </p:nvGraphicFramePr>
          <p:xfrm>
            <a:off x="4508688" y="3544441"/>
            <a:ext cx="1304925" cy="309562"/>
          </p:xfrm>
          <a:graphic>
            <a:graphicData uri="http://schemas.openxmlformats.org/presentationml/2006/ole">
              <mc:AlternateContent xmlns:mc="http://schemas.openxmlformats.org/markup-compatibility/2006">
                <mc:Choice xmlns:v="urn:schemas-microsoft-com:vml" Requires="v">
                  <p:oleObj spid="_x0000_s22572" name="公式" r:id="rId7" imgW="965200" imgH="228600" progId="Equation.3">
                    <p:embed/>
                  </p:oleObj>
                </mc:Choice>
                <mc:Fallback>
                  <p:oleObj name="公式" r:id="rId7" imgW="965200" imgH="228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8688" y="3544441"/>
                          <a:ext cx="1304925" cy="309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 name="Object 5"/>
            <p:cNvGraphicFramePr>
              <a:graphicFrameLocks noChangeAspect="1"/>
            </p:cNvGraphicFramePr>
            <p:nvPr/>
          </p:nvGraphicFramePr>
          <p:xfrm>
            <a:off x="6241570" y="3535710"/>
            <a:ext cx="1287463" cy="327025"/>
          </p:xfrm>
          <a:graphic>
            <a:graphicData uri="http://schemas.openxmlformats.org/presentationml/2006/ole">
              <mc:AlternateContent xmlns:mc="http://schemas.openxmlformats.org/markup-compatibility/2006">
                <mc:Choice xmlns:v="urn:schemas-microsoft-com:vml" Requires="v">
                  <p:oleObj spid="_x0000_s22573" name="公式" r:id="rId9" imgW="951865" imgH="241300" progId="Equation.3">
                    <p:embed/>
                  </p:oleObj>
                </mc:Choice>
                <mc:Fallback>
                  <p:oleObj name="公式" r:id="rId9" imgW="951865" imgH="2413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41570" y="3535710"/>
                          <a:ext cx="1287463" cy="32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7" name="圆角矩形 46"/>
          <p:cNvSpPr/>
          <p:nvPr/>
        </p:nvSpPr>
        <p:spPr>
          <a:xfrm>
            <a:off x="928487" y="4117361"/>
            <a:ext cx="6863123" cy="892629"/>
          </a:xfrm>
          <a:prstGeom prst="roundRect">
            <a:avLst/>
          </a:prstGeom>
        </p:spPr>
        <p:style>
          <a:lnRef idx="1">
            <a:schemeClr val="accent4"/>
          </a:lnRef>
          <a:fillRef idx="2">
            <a:schemeClr val="accent4"/>
          </a:fillRef>
          <a:effectRef idx="1">
            <a:schemeClr val="accent4"/>
          </a:effectRef>
          <a:fontRef idx="minor">
            <a:schemeClr val="dk1"/>
          </a:fontRef>
        </p:style>
        <p:txBody>
          <a:bodyPr lIns="0" tIns="0" rIns="0" bIns="0" rtlCol="0" anchor="ctr"/>
          <a:lstStyle/>
          <a:p>
            <a:pPr indent="446405">
              <a:lnSpc>
                <a:spcPct val="125000"/>
              </a:lnSpc>
            </a:pPr>
            <a:r>
              <a:rPr lang="zh-CN" altLang="en-US" sz="1600" dirty="0">
                <a:latin typeface="微软雅黑" panose="020B0503020204020204" pitchFamily="34" charset="-122"/>
                <a:ea typeface="微软雅黑" panose="020B0503020204020204" pitchFamily="34" charset="-122"/>
              </a:rPr>
              <a:t>该移位寄存器为</a:t>
            </a:r>
            <a:r>
              <a:rPr lang="zh-CN" altLang="en-US" sz="1600" b="1" dirty="0">
                <a:solidFill>
                  <a:srgbClr val="FF00FF"/>
                </a:solidFill>
                <a:latin typeface="微软雅黑" panose="020B0503020204020204" pitchFamily="34" charset="-122"/>
                <a:ea typeface="微软雅黑" panose="020B0503020204020204" pitchFamily="34" charset="-122"/>
              </a:rPr>
              <a:t>低位向高位</a:t>
            </a:r>
            <a:r>
              <a:rPr lang="zh-CN" altLang="en-US" sz="1600" dirty="0">
                <a:latin typeface="微软雅黑" panose="020B0503020204020204" pitchFamily="34" charset="-122"/>
                <a:ea typeface="微软雅黑" panose="020B0503020204020204" pitchFamily="34" charset="-122"/>
              </a:rPr>
              <a:t>移位的单向</a:t>
            </a:r>
            <a:r>
              <a:rPr lang="zh-CN" altLang="en-US" sz="1600" b="1" dirty="0">
                <a:solidFill>
                  <a:srgbClr val="FF00FF"/>
                </a:solidFill>
                <a:latin typeface="微软雅黑" panose="020B0503020204020204" pitchFamily="34" charset="-122"/>
                <a:ea typeface="微软雅黑" panose="020B0503020204020204" pitchFamily="34" charset="-122"/>
              </a:rPr>
              <a:t>右移</a:t>
            </a:r>
            <a:r>
              <a:rPr lang="zh-CN" altLang="en-US" sz="1600" dirty="0">
                <a:latin typeface="微软雅黑" panose="020B0503020204020204" pitchFamily="34" charset="-122"/>
                <a:ea typeface="微软雅黑" panose="020B0503020204020204" pitchFamily="34" charset="-122"/>
              </a:rPr>
              <a:t>寄存器。电路有串行输入、并行</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串行输出，因此该电路可实现数据的</a:t>
            </a:r>
            <a:r>
              <a:rPr lang="zh-CN" altLang="en-US" sz="1600" b="1" dirty="0">
                <a:solidFill>
                  <a:srgbClr val="FF00FF"/>
                </a:solidFill>
                <a:latin typeface="微软雅黑" panose="020B0503020204020204" pitchFamily="34" charset="-122"/>
                <a:ea typeface="微软雅黑" panose="020B0503020204020204" pitchFamily="34" charset="-122"/>
              </a:rPr>
              <a:t>串行输入</a:t>
            </a:r>
            <a:r>
              <a:rPr lang="en-US" altLang="zh-CN" sz="1600" b="1" dirty="0">
                <a:solidFill>
                  <a:srgbClr val="FF00FF"/>
                </a:solidFill>
                <a:latin typeface="微软雅黑" panose="020B0503020204020204" pitchFamily="34" charset="-122"/>
                <a:ea typeface="微软雅黑" panose="020B0503020204020204" pitchFamily="34" charset="-122"/>
              </a:rPr>
              <a:t>—</a:t>
            </a:r>
            <a:r>
              <a:rPr lang="zh-CN" altLang="en-US" sz="1600" b="1" dirty="0">
                <a:solidFill>
                  <a:srgbClr val="FF00FF"/>
                </a:solidFill>
                <a:latin typeface="微软雅黑" panose="020B0503020204020204" pitchFamily="34" charset="-122"/>
                <a:ea typeface="微软雅黑" panose="020B0503020204020204" pitchFamily="34" charset="-122"/>
              </a:rPr>
              <a:t>并行输出</a:t>
            </a:r>
            <a:r>
              <a:rPr lang="en-US" altLang="zh-CN" sz="1600" b="1" dirty="0">
                <a:solidFill>
                  <a:srgbClr val="FF00FF"/>
                </a:solidFill>
                <a:latin typeface="微软雅黑" panose="020B0503020204020204" pitchFamily="34" charset="-122"/>
                <a:ea typeface="微软雅黑" panose="020B0503020204020204" pitchFamily="34" charset="-122"/>
              </a:rPr>
              <a:t>—</a:t>
            </a:r>
            <a:r>
              <a:rPr lang="zh-CN" altLang="en-US" sz="1600" b="1" dirty="0">
                <a:solidFill>
                  <a:srgbClr val="FF00FF"/>
                </a:solidFill>
                <a:latin typeface="微软雅黑" panose="020B0503020204020204" pitchFamily="34" charset="-122"/>
                <a:ea typeface="微软雅黑" panose="020B0503020204020204" pitchFamily="34" charset="-122"/>
              </a:rPr>
              <a:t>串行输出</a:t>
            </a:r>
            <a:r>
              <a:rPr lang="zh-CN" altLang="en-US" sz="1600" dirty="0">
                <a:latin typeface="微软雅黑" panose="020B0503020204020204" pitchFamily="34" charset="-122"/>
                <a:ea typeface="微软雅黑" panose="020B0503020204020204" pitchFamily="34" charset="-122"/>
              </a:rPr>
              <a:t>的转换功能。</a:t>
            </a:r>
            <a:endParaRPr lang="zh-CN" altLang="en-US" sz="1600" dirty="0">
              <a:latin typeface="微软雅黑" panose="020B0503020204020204" pitchFamily="34" charset="-122"/>
              <a:ea typeface="微软雅黑" panose="020B0503020204020204" pitchFamily="34" charset="-122"/>
            </a:endParaRPr>
          </a:p>
        </p:txBody>
      </p:sp>
      <p:sp>
        <p:nvSpPr>
          <p:cNvPr id="48" name="圆角右箭头 47"/>
          <p:cNvSpPr/>
          <p:nvPr/>
        </p:nvSpPr>
        <p:spPr>
          <a:xfrm>
            <a:off x="1828799" y="1944061"/>
            <a:ext cx="1214077" cy="230520"/>
          </a:xfrm>
          <a:prstGeom prst="ben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9" name="右箭头 48"/>
          <p:cNvSpPr/>
          <p:nvPr/>
        </p:nvSpPr>
        <p:spPr>
          <a:xfrm>
            <a:off x="3327187" y="1944059"/>
            <a:ext cx="792000" cy="146535"/>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右箭头 49"/>
          <p:cNvSpPr/>
          <p:nvPr/>
        </p:nvSpPr>
        <p:spPr>
          <a:xfrm>
            <a:off x="4432407" y="1942779"/>
            <a:ext cx="792000" cy="146535"/>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右箭头 50"/>
          <p:cNvSpPr/>
          <p:nvPr/>
        </p:nvSpPr>
        <p:spPr>
          <a:xfrm>
            <a:off x="5546592" y="1950462"/>
            <a:ext cx="684000" cy="146535"/>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slide(fromBottom)">
                                      <p:cBhvr>
                                        <p:cTn id="7" dur="1000"/>
                                        <p:tgtEl>
                                          <p:spTgt spid="31"/>
                                        </p:tgtEl>
                                      </p:cBhvr>
                                    </p:animEffect>
                                  </p:childTnLst>
                                </p:cTn>
                              </p:par>
                            </p:childTnLst>
                          </p:cTn>
                        </p:par>
                        <p:par>
                          <p:cTn id="8" fill="hold">
                            <p:stCondLst>
                              <p:cond delay="1000"/>
                            </p:stCondLst>
                            <p:childTnLst>
                              <p:par>
                                <p:cTn id="9" presetID="22" presetClass="entr" presetSubtype="2"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right)">
                                      <p:cBhvr>
                                        <p:cTn id="11" dur="1000"/>
                                        <p:tgtEl>
                                          <p:spTgt spid="37"/>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left)">
                                      <p:cBhvr>
                                        <p:cTn id="15" dur="1000"/>
                                        <p:tgtEl>
                                          <p:spTgt spid="38"/>
                                        </p:tgtEl>
                                      </p:cBhvr>
                                    </p:animEffect>
                                  </p:childTnLst>
                                </p:cTn>
                              </p:par>
                            </p:childTnLst>
                          </p:cTn>
                        </p:par>
                        <p:par>
                          <p:cTn id="16" fill="hold">
                            <p:stCondLst>
                              <p:cond delay="3000"/>
                            </p:stCondLst>
                            <p:childTnLst>
                              <p:par>
                                <p:cTn id="17" presetID="22" presetClass="entr" presetSubtype="4"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wipe(down)">
                                      <p:cBhvr>
                                        <p:cTn id="19" dur="1000"/>
                                        <p:tgtEl>
                                          <p:spTgt spid="39"/>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wipe(left)">
                                      <p:cBhvr>
                                        <p:cTn id="31" dur="2000"/>
                                        <p:tgtEl>
                                          <p:spTgt spid="48"/>
                                        </p:tgtEl>
                                      </p:cBhvr>
                                    </p:animEffect>
                                  </p:childTnLst>
                                </p:cTn>
                              </p:par>
                            </p:childTnLst>
                          </p:cTn>
                        </p:par>
                        <p:par>
                          <p:cTn id="32" fill="hold">
                            <p:stCondLst>
                              <p:cond delay="2000"/>
                            </p:stCondLst>
                            <p:childTnLst>
                              <p:par>
                                <p:cTn id="33" presetID="22" presetClass="entr" presetSubtype="8" fill="hold" grpId="0" nodeType="afterEffect">
                                  <p:stCondLst>
                                    <p:cond delay="0"/>
                                  </p:stCondLst>
                                  <p:childTnLst>
                                    <p:set>
                                      <p:cBhvr>
                                        <p:cTn id="34" dur="1" fill="hold">
                                          <p:stCondLst>
                                            <p:cond delay="0"/>
                                          </p:stCondLst>
                                        </p:cTn>
                                        <p:tgtEl>
                                          <p:spTgt spid="49"/>
                                        </p:tgtEl>
                                        <p:attrNameLst>
                                          <p:attrName>style.visibility</p:attrName>
                                        </p:attrNameLst>
                                      </p:cBhvr>
                                      <p:to>
                                        <p:strVal val="visible"/>
                                      </p:to>
                                    </p:set>
                                    <p:animEffect transition="in" filter="wipe(left)">
                                      <p:cBhvr>
                                        <p:cTn id="35" dur="2000"/>
                                        <p:tgtEl>
                                          <p:spTgt spid="49"/>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50"/>
                                        </p:tgtEl>
                                        <p:attrNameLst>
                                          <p:attrName>style.visibility</p:attrName>
                                        </p:attrNameLst>
                                      </p:cBhvr>
                                      <p:to>
                                        <p:strVal val="visible"/>
                                      </p:to>
                                    </p:set>
                                    <p:animEffect transition="in" filter="wipe(left)">
                                      <p:cBhvr>
                                        <p:cTn id="39" dur="2000"/>
                                        <p:tgtEl>
                                          <p:spTgt spid="50"/>
                                        </p:tgtEl>
                                      </p:cBhvr>
                                    </p:animEffect>
                                  </p:childTnLst>
                                </p:cTn>
                              </p:par>
                            </p:childTnLst>
                          </p:cTn>
                        </p:par>
                        <p:par>
                          <p:cTn id="40" fill="hold">
                            <p:stCondLst>
                              <p:cond delay="6000"/>
                            </p:stCondLst>
                            <p:childTnLst>
                              <p:par>
                                <p:cTn id="41" presetID="22" presetClass="entr" presetSubtype="8" fill="hold" grpId="0" nodeType="after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wipe(left)">
                                      <p:cBhvr>
                                        <p:cTn id="43" dur="2000"/>
                                        <p:tgtEl>
                                          <p:spTgt spid="51"/>
                                        </p:tgtEl>
                                      </p:cBhvr>
                                    </p:animEffect>
                                  </p:childTnLst>
                                </p:cTn>
                              </p:par>
                            </p:childTnLst>
                          </p:cTn>
                        </p:par>
                        <p:par>
                          <p:cTn id="44" fill="hold">
                            <p:stCondLst>
                              <p:cond delay="8000"/>
                            </p:stCondLst>
                            <p:childTnLst>
                              <p:par>
                                <p:cTn id="45" presetID="12" presetClass="entr" presetSubtype="4" fill="hold" grpId="0" nodeType="after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slide(fromBottom)">
                                      <p:cBhvr>
                                        <p:cTn id="47" dur="1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47" grpId="0" animBg="1"/>
      <p:bldP spid="48" grpId="0" animBg="1"/>
      <p:bldP spid="49" grpId="0" animBg="1"/>
      <p:bldP spid="50" grpId="0" animBg="1"/>
      <p:bldP spid="5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5"/>
          <p:cNvGrpSpPr/>
          <p:nvPr/>
        </p:nvGrpSpPr>
        <p:grpSpPr>
          <a:xfrm>
            <a:off x="392432" y="712860"/>
            <a:ext cx="1916427" cy="420971"/>
            <a:chOff x="670560" y="892917"/>
            <a:chExt cx="1916427" cy="420971"/>
          </a:xfrm>
        </p:grpSpPr>
        <p:sp>
          <p:nvSpPr>
            <p:cNvPr id="3" name="矩形 2"/>
            <p:cNvSpPr/>
            <p:nvPr/>
          </p:nvSpPr>
          <p:spPr>
            <a:xfrm>
              <a:off x="1035232" y="913778"/>
              <a:ext cx="1551755"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移位寄存器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21" name="Rectangle 5"/>
          <p:cNvSpPr>
            <a:spLocks noChangeArrowheads="1"/>
          </p:cNvSpPr>
          <p:nvPr/>
        </p:nvSpPr>
        <p:spPr bwMode="auto">
          <a:xfrm>
            <a:off x="278130" y="1135247"/>
            <a:ext cx="2426970" cy="369332"/>
          </a:xfrm>
          <a:prstGeom prst="rect">
            <a:avLst/>
          </a:prstGeom>
          <a:noFill/>
          <a:ln w="9525">
            <a:noFill/>
            <a:miter lim="800000"/>
          </a:ln>
        </p:spPr>
        <p:txBody>
          <a:bodyPr wrap="square" anchor="ctr">
            <a:spAutoFit/>
          </a:bodyPr>
          <a:lstStyle/>
          <a:p>
            <a:r>
              <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）双向移位寄存器</a:t>
            </a:r>
            <a:endPar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0" name="组合 9"/>
          <p:cNvGrpSpPr/>
          <p:nvPr/>
        </p:nvGrpSpPr>
        <p:grpSpPr>
          <a:xfrm>
            <a:off x="2938780" y="4255640"/>
            <a:ext cx="1234790" cy="878856"/>
            <a:chOff x="2938780" y="4255640"/>
            <a:chExt cx="1234790" cy="878856"/>
          </a:xfrm>
        </p:grpSpPr>
        <p:sp>
          <p:nvSpPr>
            <p:cNvPr id="18" name="泪滴形 17"/>
            <p:cNvSpPr/>
            <p:nvPr/>
          </p:nvSpPr>
          <p:spPr>
            <a:xfrm>
              <a:off x="2938780" y="4255640"/>
              <a:ext cx="1196340" cy="441960"/>
            </a:xfrm>
            <a:prstGeom prst="teardrop">
              <a:avLst>
                <a:gd name="adj" fmla="val 111274"/>
              </a:avLst>
            </a:prstGeom>
            <a:solidFill>
              <a:srgbClr val="0070C0"/>
            </a:solidFill>
            <a:ln>
              <a:noFill/>
            </a:ln>
            <a:effectLst>
              <a:glow rad="63500">
                <a:schemeClr val="accent4">
                  <a:satMod val="175000"/>
                  <a:alpha val="40000"/>
                </a:scheme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latin typeface="微软雅黑" panose="020B0503020204020204" pitchFamily="34" charset="-122"/>
                  <a:ea typeface="微软雅黑" panose="020B0503020204020204" pitchFamily="34" charset="-122"/>
                </a:rPr>
                <a:t>左    移</a:t>
              </a:r>
              <a:endParaRPr lang="zh-CN" altLang="en-US" sz="1600" dirty="0">
                <a:latin typeface="微软雅黑" panose="020B0503020204020204" pitchFamily="34" charset="-122"/>
                <a:ea typeface="微软雅黑" panose="020B0503020204020204" pitchFamily="34" charset="-122"/>
              </a:endParaRPr>
            </a:p>
          </p:txBody>
        </p:sp>
        <p:graphicFrame>
          <p:nvGraphicFramePr>
            <p:cNvPr id="28" name="Object 3"/>
            <p:cNvGraphicFramePr>
              <a:graphicFrameLocks noChangeAspect="1"/>
            </p:cNvGraphicFramePr>
            <p:nvPr/>
          </p:nvGraphicFramePr>
          <p:xfrm>
            <a:off x="3068868" y="4768150"/>
            <a:ext cx="1104702" cy="366346"/>
          </p:xfrm>
          <a:graphic>
            <a:graphicData uri="http://schemas.openxmlformats.org/presentationml/2006/ole">
              <mc:AlternateContent xmlns:mc="http://schemas.openxmlformats.org/markup-compatibility/2006">
                <mc:Choice xmlns:v="urn:schemas-microsoft-com:vml" Requires="v">
                  <p:oleObj spid="_x0000_s23594" name="公式" r:id="rId2" imgW="16459200" imgH="5486400" progId="Equation.3">
                    <p:embed/>
                  </p:oleObj>
                </mc:Choice>
                <mc:Fallback>
                  <p:oleObj name="公式" r:id="rId2" imgW="16459200" imgH="5486400" progId="Equation.3">
                    <p:embed/>
                    <p:pic>
                      <p:nvPicPr>
                        <p:cNvPr id="0" name="Object 3"/>
                        <p:cNvPicPr>
                          <a:picLocks noChangeAspect="1" noChangeArrowheads="1"/>
                        </p:cNvPicPr>
                        <p:nvPr/>
                      </p:nvPicPr>
                      <p:blipFill>
                        <a:blip r:embed="rId3"/>
                        <a:srcRect/>
                        <a:stretch>
                          <a:fillRect/>
                        </a:stretch>
                      </p:blipFill>
                      <p:spPr bwMode="auto">
                        <a:xfrm>
                          <a:off x="3068868" y="4768150"/>
                          <a:ext cx="1104702" cy="366346"/>
                        </a:xfrm>
                        <a:prstGeom prst="rect">
                          <a:avLst/>
                        </a:prstGeom>
                        <a:noFill/>
                      </p:spPr>
                    </p:pic>
                  </p:oleObj>
                </mc:Fallback>
              </mc:AlternateContent>
            </a:graphicData>
          </a:graphic>
        </p:graphicFrame>
      </p:grpSp>
      <p:grpSp>
        <p:nvGrpSpPr>
          <p:cNvPr id="6" name="组合 5"/>
          <p:cNvGrpSpPr/>
          <p:nvPr/>
        </p:nvGrpSpPr>
        <p:grpSpPr>
          <a:xfrm>
            <a:off x="1432560" y="4255640"/>
            <a:ext cx="1196340" cy="878856"/>
            <a:chOff x="1432560" y="4255640"/>
            <a:chExt cx="1196340" cy="878856"/>
          </a:xfrm>
        </p:grpSpPr>
        <p:sp>
          <p:nvSpPr>
            <p:cNvPr id="17" name="泪滴形 16"/>
            <p:cNvSpPr/>
            <p:nvPr/>
          </p:nvSpPr>
          <p:spPr>
            <a:xfrm>
              <a:off x="1432560" y="4255640"/>
              <a:ext cx="1196340" cy="441960"/>
            </a:xfrm>
            <a:prstGeom prst="teardrop">
              <a:avLst>
                <a:gd name="adj" fmla="val 111274"/>
              </a:avLst>
            </a:prstGeom>
            <a:solidFill>
              <a:srgbClr val="0070C0"/>
            </a:solidFill>
            <a:ln>
              <a:noFill/>
            </a:ln>
            <a:effectLst>
              <a:glow rad="63500">
                <a:schemeClr val="accent4">
                  <a:satMod val="175000"/>
                  <a:alpha val="40000"/>
                </a:scheme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latin typeface="微软雅黑" panose="020B0503020204020204" pitchFamily="34" charset="-122"/>
                  <a:ea typeface="微软雅黑" panose="020B0503020204020204" pitchFamily="34" charset="-122"/>
                </a:rPr>
                <a:t>右   移</a:t>
              </a:r>
              <a:endParaRPr lang="zh-CN" altLang="en-US" sz="1600" dirty="0">
                <a:latin typeface="微软雅黑" panose="020B0503020204020204" pitchFamily="34" charset="-122"/>
                <a:ea typeface="微软雅黑" panose="020B0503020204020204" pitchFamily="34" charset="-122"/>
              </a:endParaRPr>
            </a:p>
          </p:txBody>
        </p:sp>
        <p:graphicFrame>
          <p:nvGraphicFramePr>
            <p:cNvPr id="29" name="Object 3"/>
            <p:cNvGraphicFramePr>
              <a:graphicFrameLocks noChangeAspect="1"/>
            </p:cNvGraphicFramePr>
            <p:nvPr/>
          </p:nvGraphicFramePr>
          <p:xfrm>
            <a:off x="1541681" y="4792681"/>
            <a:ext cx="991969" cy="341815"/>
          </p:xfrm>
          <a:graphic>
            <a:graphicData uri="http://schemas.openxmlformats.org/presentationml/2006/ole">
              <mc:AlternateContent xmlns:mc="http://schemas.openxmlformats.org/markup-compatibility/2006">
                <mc:Choice xmlns:v="urn:schemas-microsoft-com:vml" Requires="v">
                  <p:oleObj spid="_x0000_s23595" name="公式" r:id="rId4" imgW="15849600" imgH="5486400" progId="Equation.3">
                    <p:embed/>
                  </p:oleObj>
                </mc:Choice>
                <mc:Fallback>
                  <p:oleObj name="公式" r:id="rId4" imgW="15849600" imgH="5486400" progId="Equation.3">
                    <p:embed/>
                    <p:pic>
                      <p:nvPicPr>
                        <p:cNvPr id="0" name="Object 3"/>
                        <p:cNvPicPr>
                          <a:picLocks noChangeAspect="1" noChangeArrowheads="1"/>
                        </p:cNvPicPr>
                        <p:nvPr/>
                      </p:nvPicPr>
                      <p:blipFill>
                        <a:blip r:embed="rId5"/>
                        <a:srcRect/>
                        <a:stretch>
                          <a:fillRect/>
                        </a:stretch>
                      </p:blipFill>
                      <p:spPr bwMode="auto">
                        <a:xfrm>
                          <a:off x="1541681" y="4792681"/>
                          <a:ext cx="991969" cy="341815"/>
                        </a:xfrm>
                        <a:prstGeom prst="rect">
                          <a:avLst/>
                        </a:prstGeom>
                        <a:noFill/>
                      </p:spPr>
                    </p:pic>
                  </p:oleObj>
                </mc:Fallback>
              </mc:AlternateContent>
            </a:graphicData>
          </a:graphic>
        </p:graphicFrame>
      </p:grpSp>
      <p:grpSp>
        <p:nvGrpSpPr>
          <p:cNvPr id="13" name="组合 12"/>
          <p:cNvGrpSpPr/>
          <p:nvPr/>
        </p:nvGrpSpPr>
        <p:grpSpPr>
          <a:xfrm>
            <a:off x="4445000" y="4255640"/>
            <a:ext cx="1196340" cy="878856"/>
            <a:chOff x="4445000" y="4255640"/>
            <a:chExt cx="1196340" cy="878856"/>
          </a:xfrm>
        </p:grpSpPr>
        <p:sp>
          <p:nvSpPr>
            <p:cNvPr id="19" name="泪滴形 18"/>
            <p:cNvSpPr/>
            <p:nvPr/>
          </p:nvSpPr>
          <p:spPr>
            <a:xfrm>
              <a:off x="4445000" y="4255640"/>
              <a:ext cx="1196340" cy="441960"/>
            </a:xfrm>
            <a:prstGeom prst="teardrop">
              <a:avLst>
                <a:gd name="adj" fmla="val 111274"/>
              </a:avLst>
            </a:prstGeom>
            <a:solidFill>
              <a:srgbClr val="0070C0"/>
            </a:solidFill>
            <a:ln>
              <a:noFill/>
            </a:ln>
            <a:effectLst>
              <a:glow rad="63500">
                <a:schemeClr val="accent4">
                  <a:satMod val="175000"/>
                  <a:alpha val="40000"/>
                </a:scheme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latin typeface="微软雅黑" panose="020B0503020204020204" pitchFamily="34" charset="-122"/>
                  <a:ea typeface="微软雅黑" panose="020B0503020204020204" pitchFamily="34" charset="-122"/>
                </a:rPr>
                <a:t>并行置数</a:t>
              </a:r>
              <a:endParaRPr lang="zh-CN" altLang="en-US" sz="1600" dirty="0">
                <a:latin typeface="微软雅黑" panose="020B0503020204020204" pitchFamily="34" charset="-122"/>
                <a:ea typeface="微软雅黑" panose="020B0503020204020204" pitchFamily="34" charset="-122"/>
              </a:endParaRPr>
            </a:p>
          </p:txBody>
        </p:sp>
        <p:graphicFrame>
          <p:nvGraphicFramePr>
            <p:cNvPr id="30" name="Object 3"/>
            <p:cNvGraphicFramePr>
              <a:graphicFrameLocks noChangeAspect="1"/>
            </p:cNvGraphicFramePr>
            <p:nvPr/>
          </p:nvGraphicFramePr>
          <p:xfrm>
            <a:off x="4617402" y="4769371"/>
            <a:ext cx="1023938" cy="365125"/>
          </p:xfrm>
          <a:graphic>
            <a:graphicData uri="http://schemas.openxmlformats.org/presentationml/2006/ole">
              <mc:AlternateContent xmlns:mc="http://schemas.openxmlformats.org/markup-compatibility/2006">
                <mc:Choice xmlns:v="urn:schemas-microsoft-com:vml" Requires="v">
                  <p:oleObj spid="_x0000_s23596" name="公式" r:id="rId6" imgW="15240000" imgH="5486400" progId="Equation.3">
                    <p:embed/>
                  </p:oleObj>
                </mc:Choice>
                <mc:Fallback>
                  <p:oleObj name="公式" r:id="rId6" imgW="15240000" imgH="5486400" progId="Equation.3">
                    <p:embed/>
                    <p:pic>
                      <p:nvPicPr>
                        <p:cNvPr id="0" name="Object 3"/>
                        <p:cNvPicPr>
                          <a:picLocks noChangeAspect="1" noChangeArrowheads="1"/>
                        </p:cNvPicPr>
                        <p:nvPr/>
                      </p:nvPicPr>
                      <p:blipFill>
                        <a:blip r:embed="rId7"/>
                        <a:srcRect/>
                        <a:stretch>
                          <a:fillRect/>
                        </a:stretch>
                      </p:blipFill>
                      <p:spPr bwMode="auto">
                        <a:xfrm>
                          <a:off x="4617402" y="4769371"/>
                          <a:ext cx="1023938" cy="365125"/>
                        </a:xfrm>
                        <a:prstGeom prst="rect">
                          <a:avLst/>
                        </a:prstGeom>
                        <a:noFill/>
                      </p:spPr>
                    </p:pic>
                  </p:oleObj>
                </mc:Fallback>
              </mc:AlternateContent>
            </a:graphicData>
          </a:graphic>
        </p:graphicFrame>
      </p:grpSp>
      <p:grpSp>
        <p:nvGrpSpPr>
          <p:cNvPr id="16" name="组合 15"/>
          <p:cNvGrpSpPr/>
          <p:nvPr/>
        </p:nvGrpSpPr>
        <p:grpSpPr>
          <a:xfrm>
            <a:off x="5951220" y="4255640"/>
            <a:ext cx="1196340" cy="877635"/>
            <a:chOff x="5951220" y="4255640"/>
            <a:chExt cx="1196340" cy="877635"/>
          </a:xfrm>
        </p:grpSpPr>
        <p:sp>
          <p:nvSpPr>
            <p:cNvPr id="20" name="泪滴形 19"/>
            <p:cNvSpPr/>
            <p:nvPr/>
          </p:nvSpPr>
          <p:spPr>
            <a:xfrm>
              <a:off x="5951220" y="4255640"/>
              <a:ext cx="1196340" cy="441960"/>
            </a:xfrm>
            <a:prstGeom prst="teardrop">
              <a:avLst>
                <a:gd name="adj" fmla="val 111274"/>
              </a:avLst>
            </a:prstGeom>
            <a:solidFill>
              <a:srgbClr val="0070C0"/>
            </a:solidFill>
            <a:ln>
              <a:noFill/>
            </a:ln>
            <a:effectLst>
              <a:glow rad="63500">
                <a:schemeClr val="accent4">
                  <a:satMod val="175000"/>
                  <a:alpha val="40000"/>
                </a:scheme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latin typeface="微软雅黑" panose="020B0503020204020204" pitchFamily="34" charset="-122"/>
                  <a:ea typeface="微软雅黑" panose="020B0503020204020204" pitchFamily="34" charset="-122"/>
                </a:rPr>
                <a:t>状态保持</a:t>
              </a:r>
              <a:endParaRPr lang="zh-CN" altLang="en-US" sz="1600" dirty="0">
                <a:latin typeface="微软雅黑" panose="020B0503020204020204" pitchFamily="34" charset="-122"/>
                <a:ea typeface="微软雅黑" panose="020B0503020204020204" pitchFamily="34" charset="-122"/>
              </a:endParaRPr>
            </a:p>
          </p:txBody>
        </p:sp>
        <p:graphicFrame>
          <p:nvGraphicFramePr>
            <p:cNvPr id="31" name="Object 3"/>
            <p:cNvGraphicFramePr>
              <a:graphicFrameLocks noChangeAspect="1"/>
            </p:cNvGraphicFramePr>
            <p:nvPr/>
          </p:nvGraphicFramePr>
          <p:xfrm>
            <a:off x="6123622" y="4768150"/>
            <a:ext cx="1023938" cy="365125"/>
          </p:xfrm>
          <a:graphic>
            <a:graphicData uri="http://schemas.openxmlformats.org/presentationml/2006/ole">
              <mc:AlternateContent xmlns:mc="http://schemas.openxmlformats.org/markup-compatibility/2006">
                <mc:Choice xmlns:v="urn:schemas-microsoft-com:vml" Requires="v">
                  <p:oleObj spid="_x0000_s23597" name="公式" r:id="rId8" imgW="15240000" imgH="5486400" progId="Equation.3">
                    <p:embed/>
                  </p:oleObj>
                </mc:Choice>
                <mc:Fallback>
                  <p:oleObj name="公式" r:id="rId8" imgW="15240000" imgH="5486400" progId="Equation.3">
                    <p:embed/>
                    <p:pic>
                      <p:nvPicPr>
                        <p:cNvPr id="0" name="Object 3"/>
                        <p:cNvPicPr>
                          <a:picLocks noChangeAspect="1" noChangeArrowheads="1"/>
                        </p:cNvPicPr>
                        <p:nvPr/>
                      </p:nvPicPr>
                      <p:blipFill>
                        <a:blip r:embed="rId9"/>
                        <a:srcRect/>
                        <a:stretch>
                          <a:fillRect/>
                        </a:stretch>
                      </p:blipFill>
                      <p:spPr bwMode="auto">
                        <a:xfrm>
                          <a:off x="6123622" y="4768150"/>
                          <a:ext cx="1023938" cy="365125"/>
                        </a:xfrm>
                        <a:prstGeom prst="rect">
                          <a:avLst/>
                        </a:prstGeom>
                        <a:noFill/>
                      </p:spPr>
                    </p:pic>
                  </p:oleObj>
                </mc:Fallback>
              </mc:AlternateContent>
            </a:graphicData>
          </a:graphic>
        </p:graphicFrame>
      </p:grpSp>
      <p:grpSp>
        <p:nvGrpSpPr>
          <p:cNvPr id="32" name="组合 8"/>
          <p:cNvGrpSpPr/>
          <p:nvPr/>
        </p:nvGrpSpPr>
        <p:grpSpPr>
          <a:xfrm>
            <a:off x="1333500" y="1640925"/>
            <a:ext cx="5958840" cy="2476500"/>
            <a:chOff x="1539240" y="1767840"/>
            <a:chExt cx="5958840" cy="2476500"/>
          </a:xfrm>
        </p:grpSpPr>
        <p:sp>
          <p:nvSpPr>
            <p:cNvPr id="33" name="圆角矩形 32"/>
            <p:cNvSpPr/>
            <p:nvPr/>
          </p:nvSpPr>
          <p:spPr>
            <a:xfrm>
              <a:off x="1539240" y="1988821"/>
              <a:ext cx="5958840" cy="2255519"/>
            </a:xfrm>
            <a:prstGeom prst="roundRect">
              <a:avLst>
                <a:gd name="adj" fmla="val 3901"/>
              </a:avLst>
            </a:prstGeom>
            <a:solidFill>
              <a:schemeClr val="bg1"/>
            </a:solidFill>
            <a:ln w="28575">
              <a:solidFill>
                <a:srgbClr val="0070C0"/>
              </a:solidFill>
            </a:ln>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4" name="Picture 1"/>
            <p:cNvPicPr>
              <a:picLocks noChangeAspect="1" noChangeArrowheads="1"/>
            </p:cNvPicPr>
            <p:nvPr/>
          </p:nvPicPr>
          <p:blipFill>
            <a:blip r:embed="rId10" cstate="print"/>
            <a:srcRect/>
            <a:stretch>
              <a:fillRect/>
            </a:stretch>
          </p:blipFill>
          <p:spPr bwMode="auto">
            <a:xfrm>
              <a:off x="1644015" y="2231317"/>
              <a:ext cx="5749290" cy="1869195"/>
            </a:xfrm>
            <a:prstGeom prst="rect">
              <a:avLst/>
            </a:prstGeom>
            <a:noFill/>
            <a:ln w="9525">
              <a:noFill/>
              <a:miter lim="800000"/>
              <a:headEnd/>
              <a:tailEnd/>
            </a:ln>
            <a:effectLst/>
          </p:spPr>
        </p:pic>
        <p:sp>
          <p:nvSpPr>
            <p:cNvPr id="35" name="圆角矩形 34"/>
            <p:cNvSpPr/>
            <p:nvPr/>
          </p:nvSpPr>
          <p:spPr>
            <a:xfrm>
              <a:off x="2739390" y="1767840"/>
              <a:ext cx="3558540" cy="403860"/>
            </a:xfrm>
            <a:prstGeom prst="roundRect">
              <a:avLst/>
            </a:prstGeom>
            <a:solidFill>
              <a:schemeClr val="accent2">
                <a:lumMod val="75000"/>
              </a:schemeClr>
            </a:solidFill>
            <a:effectLst>
              <a:glow rad="101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66FF66"/>
                  </a:solidFill>
                  <a:latin typeface="微软雅黑" panose="020B0503020204020204" pitchFamily="34" charset="-122"/>
                  <a:ea typeface="微软雅黑" panose="020B0503020204020204" pitchFamily="34" charset="-122"/>
                </a:rPr>
                <a:t>多功能移位寄存器工作简图</a:t>
              </a:r>
              <a:endParaRPr lang="zh-CN" altLang="en-US" b="1" dirty="0"/>
            </a:p>
          </p:txBody>
        </p:sp>
      </p:grpSp>
      <p:sp>
        <p:nvSpPr>
          <p:cNvPr id="36" name="右箭头 35"/>
          <p:cNvSpPr/>
          <p:nvPr/>
        </p:nvSpPr>
        <p:spPr>
          <a:xfrm>
            <a:off x="3261360" y="2722965"/>
            <a:ext cx="2065020" cy="342900"/>
          </a:xfrm>
          <a:prstGeom prst="rightArrow">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右箭头 36"/>
          <p:cNvSpPr/>
          <p:nvPr/>
        </p:nvSpPr>
        <p:spPr>
          <a:xfrm flipH="1">
            <a:off x="3177540" y="3035385"/>
            <a:ext cx="2065020" cy="342900"/>
          </a:xfrm>
          <a:prstGeom prst="rightArrow">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右箭头 37"/>
          <p:cNvSpPr/>
          <p:nvPr/>
        </p:nvSpPr>
        <p:spPr>
          <a:xfrm rot="5400000">
            <a:off x="3939540" y="1526625"/>
            <a:ext cx="693420" cy="1836420"/>
          </a:xfrm>
          <a:prstGeom prst="rightArrow">
            <a:avLst>
              <a:gd name="adj1" fmla="val 81651"/>
              <a:gd name="adj2" fmla="val 38608"/>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右箭头 38"/>
          <p:cNvSpPr/>
          <p:nvPr/>
        </p:nvSpPr>
        <p:spPr>
          <a:xfrm rot="5400000">
            <a:off x="3950970" y="2742015"/>
            <a:ext cx="693420" cy="1905000"/>
          </a:xfrm>
          <a:prstGeom prst="rightArrow">
            <a:avLst>
              <a:gd name="adj1" fmla="val 81651"/>
              <a:gd name="adj2" fmla="val 38608"/>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右箭头 39"/>
          <p:cNvSpPr/>
          <p:nvPr/>
        </p:nvSpPr>
        <p:spPr>
          <a:xfrm>
            <a:off x="1399674" y="2666016"/>
            <a:ext cx="1813158" cy="465221"/>
          </a:xfrm>
          <a:prstGeom prst="rightArrow">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右箭头 40"/>
          <p:cNvSpPr/>
          <p:nvPr/>
        </p:nvSpPr>
        <p:spPr>
          <a:xfrm>
            <a:off x="5342022" y="2666016"/>
            <a:ext cx="1813158" cy="465221"/>
          </a:xfrm>
          <a:prstGeom prst="rightArrow">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右箭头 41"/>
          <p:cNvSpPr/>
          <p:nvPr/>
        </p:nvSpPr>
        <p:spPr>
          <a:xfrm flipH="1">
            <a:off x="1367589" y="2998890"/>
            <a:ext cx="1813158" cy="465221"/>
          </a:xfrm>
          <a:prstGeom prst="rightArrow">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右箭头 42"/>
          <p:cNvSpPr/>
          <p:nvPr/>
        </p:nvSpPr>
        <p:spPr>
          <a:xfrm flipH="1">
            <a:off x="5281864" y="3022953"/>
            <a:ext cx="1813158" cy="465221"/>
          </a:xfrm>
          <a:prstGeom prst="rightArrow">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di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iterate type="lt">
                                    <p:tmPct val="5000"/>
                                  </p:iterate>
                                  <p:childTnLst>
                                    <p:set>
                                      <p:cBhvr>
                                        <p:cTn id="6" dur="1" fill="hold">
                                          <p:stCondLst>
                                            <p:cond delay="0"/>
                                          </p:stCondLst>
                                        </p:cTn>
                                        <p:tgtEl>
                                          <p:spTgt spid="32"/>
                                        </p:tgtEl>
                                        <p:attrNameLst>
                                          <p:attrName>style.visibility</p:attrName>
                                        </p:attrNameLst>
                                      </p:cBhvr>
                                      <p:to>
                                        <p:strVal val="visible"/>
                                      </p:to>
                                    </p:set>
                                    <p:anim calcmode="lin" valueType="num">
                                      <p:cBhvr>
                                        <p:cTn id="7" dur="1000" fill="hold"/>
                                        <p:tgtEl>
                                          <p:spTgt spid="32"/>
                                        </p:tgtEl>
                                        <p:attrNameLst>
                                          <p:attrName>ppt_w</p:attrName>
                                        </p:attrNameLst>
                                      </p:cBhvr>
                                      <p:tavLst>
                                        <p:tav tm="0">
                                          <p:val>
                                            <p:fltVal val="0"/>
                                          </p:val>
                                        </p:tav>
                                        <p:tav tm="100000">
                                          <p:val>
                                            <p:strVal val="#ppt_w"/>
                                          </p:val>
                                        </p:tav>
                                      </p:tavLst>
                                    </p:anim>
                                    <p:anim calcmode="lin" valueType="num">
                                      <p:cBhvr>
                                        <p:cTn id="8" dur="1000" fill="hold"/>
                                        <p:tgtEl>
                                          <p:spTgt spid="32"/>
                                        </p:tgtEl>
                                        <p:attrNameLst>
                                          <p:attrName>ppt_h</p:attrName>
                                        </p:attrNameLst>
                                      </p:cBhvr>
                                      <p:tavLst>
                                        <p:tav tm="0">
                                          <p:val>
                                            <p:fltVal val="0"/>
                                          </p:val>
                                        </p:tav>
                                        <p:tav tm="100000">
                                          <p:val>
                                            <p:strVal val="#ppt_h"/>
                                          </p:val>
                                        </p:tav>
                                      </p:tavLst>
                                    </p:anim>
                                    <p:anim calcmode="lin" valueType="num">
                                      <p:cBhvr>
                                        <p:cTn id="9" dur="1000" fill="hold"/>
                                        <p:tgtEl>
                                          <p:spTgt spid="32"/>
                                        </p:tgtEl>
                                        <p:attrNameLst>
                                          <p:attrName>style.rotation</p:attrName>
                                        </p:attrNameLst>
                                      </p:cBhvr>
                                      <p:tavLst>
                                        <p:tav tm="0">
                                          <p:val>
                                            <p:fltVal val="90"/>
                                          </p:val>
                                        </p:tav>
                                        <p:tav tm="100000">
                                          <p:val>
                                            <p:fltVal val="0"/>
                                          </p:val>
                                        </p:tav>
                                      </p:tavLst>
                                    </p:anim>
                                    <p:animEffect transition="in" filter="fade">
                                      <p:cBhvr>
                                        <p:cTn id="10" dur="1000"/>
                                        <p:tgtEl>
                                          <p:spTgt spid="32"/>
                                        </p:tgtEl>
                                      </p:cBhvr>
                                    </p:animEffect>
                                  </p:childTnLst>
                                </p:cTn>
                              </p:par>
                            </p:childTnLst>
                          </p:cTn>
                        </p:par>
                        <p:par>
                          <p:cTn id="11" fill="hold">
                            <p:stCondLst>
                              <p:cond delay="1000"/>
                            </p:stCondLst>
                            <p:childTnLst>
                              <p:par>
                                <p:cTn id="12" presetID="12" presetClass="entr" presetSubtype="8" fill="hold" grpId="0" nodeType="afterEffect">
                                  <p:stCondLst>
                                    <p:cond delay="0"/>
                                  </p:stCondLst>
                                  <p:childTnLst>
                                    <p:set>
                                      <p:cBhvr>
                                        <p:cTn id="13" dur="1" fill="hold">
                                          <p:stCondLst>
                                            <p:cond delay="0"/>
                                          </p:stCondLst>
                                        </p:cTn>
                                        <p:tgtEl>
                                          <p:spTgt spid="40"/>
                                        </p:tgtEl>
                                        <p:attrNameLst>
                                          <p:attrName>style.visibility</p:attrName>
                                        </p:attrNameLst>
                                      </p:cBhvr>
                                      <p:to>
                                        <p:strVal val="visible"/>
                                      </p:to>
                                    </p:set>
                                    <p:animEffect transition="in" filter="slide(fromLeft)">
                                      <p:cBhvr>
                                        <p:cTn id="14" dur="1000"/>
                                        <p:tgtEl>
                                          <p:spTgt spid="40"/>
                                        </p:tgtEl>
                                      </p:cBhvr>
                                    </p:animEffect>
                                  </p:childTnLst>
                                </p:cTn>
                              </p:par>
                            </p:childTnLst>
                          </p:cTn>
                        </p:par>
                        <p:par>
                          <p:cTn id="15" fill="hold">
                            <p:stCondLst>
                              <p:cond delay="2000"/>
                            </p:stCondLst>
                            <p:childTnLst>
                              <p:par>
                                <p:cTn id="16" presetID="12" presetClass="entr" presetSubtype="8" fill="hold" grpId="0" nodeType="after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slide(fromLeft)">
                                      <p:cBhvr>
                                        <p:cTn id="18" dur="1000"/>
                                        <p:tgtEl>
                                          <p:spTgt spid="36"/>
                                        </p:tgtEl>
                                      </p:cBhvr>
                                    </p:animEffect>
                                  </p:childTnLst>
                                </p:cTn>
                              </p:par>
                            </p:childTnLst>
                          </p:cTn>
                        </p:par>
                        <p:par>
                          <p:cTn id="19" fill="hold">
                            <p:stCondLst>
                              <p:cond delay="3000"/>
                            </p:stCondLst>
                            <p:childTnLst>
                              <p:par>
                                <p:cTn id="20" presetID="12" presetClass="entr" presetSubtype="8" fill="hold" grpId="0" nodeType="after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slide(fromLeft)">
                                      <p:cBhvr>
                                        <p:cTn id="22" dur="1000"/>
                                        <p:tgtEl>
                                          <p:spTgt spid="41"/>
                                        </p:tgtEl>
                                      </p:cBhvr>
                                    </p:animEffect>
                                  </p:childTnLst>
                                </p:cTn>
                              </p:par>
                            </p:childTnLst>
                          </p:cTn>
                        </p:par>
                        <p:par>
                          <p:cTn id="23" fill="hold">
                            <p:stCondLst>
                              <p:cond delay="4000"/>
                            </p:stCondLst>
                            <p:childTnLst>
                              <p:par>
                                <p:cTn id="24" presetID="12" presetClass="entr" presetSubtype="2" fill="hold" grpId="0" nodeType="after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slide(fromRight)">
                                      <p:cBhvr>
                                        <p:cTn id="26" dur="1000"/>
                                        <p:tgtEl>
                                          <p:spTgt spid="43"/>
                                        </p:tgtEl>
                                      </p:cBhvr>
                                    </p:animEffect>
                                  </p:childTnLst>
                                </p:cTn>
                              </p:par>
                            </p:childTnLst>
                          </p:cTn>
                        </p:par>
                        <p:par>
                          <p:cTn id="27" fill="hold">
                            <p:stCondLst>
                              <p:cond delay="5000"/>
                            </p:stCondLst>
                            <p:childTnLst>
                              <p:par>
                                <p:cTn id="28" presetID="12" presetClass="entr" presetSubtype="2" fill="hold" grpId="0" nodeType="after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slide(fromRight)">
                                      <p:cBhvr>
                                        <p:cTn id="30" dur="1000"/>
                                        <p:tgtEl>
                                          <p:spTgt spid="37"/>
                                        </p:tgtEl>
                                      </p:cBhvr>
                                    </p:animEffect>
                                  </p:childTnLst>
                                </p:cTn>
                              </p:par>
                            </p:childTnLst>
                          </p:cTn>
                        </p:par>
                        <p:par>
                          <p:cTn id="31" fill="hold">
                            <p:stCondLst>
                              <p:cond delay="6000"/>
                            </p:stCondLst>
                            <p:childTnLst>
                              <p:par>
                                <p:cTn id="32" presetID="12" presetClass="entr" presetSubtype="2" fill="hold" grpId="0" nodeType="afterEffect">
                                  <p:stCondLst>
                                    <p:cond delay="0"/>
                                  </p:stCondLst>
                                  <p:childTnLst>
                                    <p:set>
                                      <p:cBhvr>
                                        <p:cTn id="33" dur="1" fill="hold">
                                          <p:stCondLst>
                                            <p:cond delay="0"/>
                                          </p:stCondLst>
                                        </p:cTn>
                                        <p:tgtEl>
                                          <p:spTgt spid="42"/>
                                        </p:tgtEl>
                                        <p:attrNameLst>
                                          <p:attrName>style.visibility</p:attrName>
                                        </p:attrNameLst>
                                      </p:cBhvr>
                                      <p:to>
                                        <p:strVal val="visible"/>
                                      </p:to>
                                    </p:set>
                                    <p:animEffect transition="in" filter="slide(fromRight)">
                                      <p:cBhvr>
                                        <p:cTn id="34" dur="1000"/>
                                        <p:tgtEl>
                                          <p:spTgt spid="42"/>
                                        </p:tgtEl>
                                      </p:cBhvr>
                                    </p:animEffect>
                                  </p:childTnLst>
                                </p:cTn>
                              </p:par>
                            </p:childTnLst>
                          </p:cTn>
                        </p:par>
                        <p:par>
                          <p:cTn id="35" fill="hold">
                            <p:stCondLst>
                              <p:cond delay="7000"/>
                            </p:stCondLst>
                            <p:childTnLst>
                              <p:par>
                                <p:cTn id="36" presetID="12" presetClass="entr" presetSubtype="1" fill="hold" grpId="0" nodeType="after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slide(fromTop)">
                                      <p:cBhvr>
                                        <p:cTn id="38" dur="1000"/>
                                        <p:tgtEl>
                                          <p:spTgt spid="38"/>
                                        </p:tgtEl>
                                      </p:cBhvr>
                                    </p:animEffect>
                                  </p:childTnLst>
                                </p:cTn>
                              </p:par>
                            </p:childTnLst>
                          </p:cTn>
                        </p:par>
                        <p:par>
                          <p:cTn id="39" fill="hold">
                            <p:stCondLst>
                              <p:cond delay="8000"/>
                            </p:stCondLst>
                            <p:childTnLst>
                              <p:par>
                                <p:cTn id="40" presetID="12" presetClass="entr" presetSubtype="1" fill="hold" grpId="0" nodeType="after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slide(fromTop)">
                                      <p:cBhvr>
                                        <p:cTn id="42" dur="10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1000"/>
                                        <p:tgtEl>
                                          <p:spTgt spid="6"/>
                                        </p:tgtEl>
                                      </p:cBhvr>
                                    </p:animEffect>
                                    <p:anim calcmode="lin" valueType="num">
                                      <p:cBhvr>
                                        <p:cTn id="48" dur="1000" fill="hold"/>
                                        <p:tgtEl>
                                          <p:spTgt spid="6"/>
                                        </p:tgtEl>
                                        <p:attrNameLst>
                                          <p:attrName>ppt_x</p:attrName>
                                        </p:attrNameLst>
                                      </p:cBhvr>
                                      <p:tavLst>
                                        <p:tav tm="0">
                                          <p:val>
                                            <p:strVal val="#ppt_x"/>
                                          </p:val>
                                        </p:tav>
                                        <p:tav tm="100000">
                                          <p:val>
                                            <p:strVal val="#ppt_x"/>
                                          </p:val>
                                        </p:tav>
                                      </p:tavLst>
                                    </p:anim>
                                    <p:anim calcmode="lin" valueType="num">
                                      <p:cBhvr>
                                        <p:cTn id="49" dur="1000" fill="hold"/>
                                        <p:tgtEl>
                                          <p:spTgt spid="6"/>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1000"/>
                                        <p:tgtEl>
                                          <p:spTgt spid="10"/>
                                        </p:tgtEl>
                                      </p:cBhvr>
                                    </p:animEffect>
                                    <p:anim calcmode="lin" valueType="num">
                                      <p:cBhvr>
                                        <p:cTn id="53" dur="1000" fill="hold"/>
                                        <p:tgtEl>
                                          <p:spTgt spid="10"/>
                                        </p:tgtEl>
                                        <p:attrNameLst>
                                          <p:attrName>ppt_x</p:attrName>
                                        </p:attrNameLst>
                                      </p:cBhvr>
                                      <p:tavLst>
                                        <p:tav tm="0">
                                          <p:val>
                                            <p:strVal val="#ppt_x"/>
                                          </p:val>
                                        </p:tav>
                                        <p:tav tm="100000">
                                          <p:val>
                                            <p:strVal val="#ppt_x"/>
                                          </p:val>
                                        </p:tav>
                                      </p:tavLst>
                                    </p:anim>
                                    <p:anim calcmode="lin" valueType="num">
                                      <p:cBhvr>
                                        <p:cTn id="54" dur="1000" fill="hold"/>
                                        <p:tgtEl>
                                          <p:spTgt spid="10"/>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1000"/>
                                        <p:tgtEl>
                                          <p:spTgt spid="13"/>
                                        </p:tgtEl>
                                      </p:cBhvr>
                                    </p:animEffect>
                                    <p:anim calcmode="lin" valueType="num">
                                      <p:cBhvr>
                                        <p:cTn id="58" dur="1000" fill="hold"/>
                                        <p:tgtEl>
                                          <p:spTgt spid="13"/>
                                        </p:tgtEl>
                                        <p:attrNameLst>
                                          <p:attrName>ppt_x</p:attrName>
                                        </p:attrNameLst>
                                      </p:cBhvr>
                                      <p:tavLst>
                                        <p:tav tm="0">
                                          <p:val>
                                            <p:strVal val="#ppt_x"/>
                                          </p:val>
                                        </p:tav>
                                        <p:tav tm="100000">
                                          <p:val>
                                            <p:strVal val="#ppt_x"/>
                                          </p:val>
                                        </p:tav>
                                      </p:tavLst>
                                    </p:anim>
                                    <p:anim calcmode="lin" valueType="num">
                                      <p:cBhvr>
                                        <p:cTn id="59" dur="1000" fill="hold"/>
                                        <p:tgtEl>
                                          <p:spTgt spid="13"/>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1000"/>
                                        <p:tgtEl>
                                          <p:spTgt spid="16"/>
                                        </p:tgtEl>
                                      </p:cBhvr>
                                    </p:animEffect>
                                    <p:anim calcmode="lin" valueType="num">
                                      <p:cBhvr>
                                        <p:cTn id="63" dur="1000" fill="hold"/>
                                        <p:tgtEl>
                                          <p:spTgt spid="16"/>
                                        </p:tgtEl>
                                        <p:attrNameLst>
                                          <p:attrName>ppt_x</p:attrName>
                                        </p:attrNameLst>
                                      </p:cBhvr>
                                      <p:tavLst>
                                        <p:tav tm="0">
                                          <p:val>
                                            <p:strVal val="#ppt_x"/>
                                          </p:val>
                                        </p:tav>
                                        <p:tav tm="100000">
                                          <p:val>
                                            <p:strVal val="#ppt_x"/>
                                          </p:val>
                                        </p:tav>
                                      </p:tavLst>
                                    </p:anim>
                                    <p:anim calcmode="lin" valueType="num">
                                      <p:cBhvr>
                                        <p:cTn id="6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P spid="40" grpId="0" animBg="1"/>
      <p:bldP spid="41" grpId="0" animBg="1"/>
      <p:bldP spid="42" grpId="0" animBg="1"/>
      <p:bldP spid="4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5"/>
          <p:cNvGrpSpPr/>
          <p:nvPr/>
        </p:nvGrpSpPr>
        <p:grpSpPr>
          <a:xfrm>
            <a:off x="392432" y="712860"/>
            <a:ext cx="1916427" cy="420971"/>
            <a:chOff x="670560" y="892917"/>
            <a:chExt cx="1916427" cy="420971"/>
          </a:xfrm>
        </p:grpSpPr>
        <p:sp>
          <p:nvSpPr>
            <p:cNvPr id="3" name="矩形 2"/>
            <p:cNvSpPr/>
            <p:nvPr/>
          </p:nvSpPr>
          <p:spPr>
            <a:xfrm>
              <a:off x="1035232" y="913778"/>
              <a:ext cx="1551755"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移位寄存器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5"/>
          <p:cNvSpPr>
            <a:spLocks noChangeArrowheads="1"/>
          </p:cNvSpPr>
          <p:nvPr/>
        </p:nvSpPr>
        <p:spPr bwMode="auto">
          <a:xfrm>
            <a:off x="278130" y="1135247"/>
            <a:ext cx="8389460" cy="369332"/>
          </a:xfrm>
          <a:prstGeom prst="rect">
            <a:avLst/>
          </a:prstGeom>
          <a:noFill/>
          <a:ln w="9525">
            <a:noFill/>
            <a:miter lim="800000"/>
          </a:ln>
        </p:spPr>
        <p:txBody>
          <a:bodyPr wrap="square" anchor="ctr">
            <a:spAutoFit/>
          </a:bodyPr>
          <a:lstStyle/>
          <a:p>
            <a:r>
              <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）双向移位寄存器</a:t>
            </a:r>
            <a:r>
              <a:rPr lang="en-US" altLang="zh-CN" sz="1600"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rgbClr val="0000FF"/>
                </a:solidFill>
                <a:latin typeface="微软雅黑" panose="020B0503020204020204" pitchFamily="34" charset="-122"/>
                <a:ea typeface="微软雅黑" panose="020B0503020204020204" pitchFamily="34" charset="-122"/>
              </a:rPr>
              <a:t>典型集成电路</a:t>
            </a:r>
            <a:r>
              <a:rPr lang="en-US" altLang="zh-CN" sz="1600" dirty="0">
                <a:solidFill>
                  <a:srgbClr val="0000FF"/>
                </a:solidFill>
                <a:latin typeface="微软雅黑" panose="020B0503020204020204" pitchFamily="34" charset="-122"/>
                <a:ea typeface="微软雅黑" panose="020B0503020204020204" pitchFamily="34" charset="-122"/>
              </a:rPr>
              <a:t>—4</a:t>
            </a:r>
            <a:r>
              <a:rPr lang="zh-CN" altLang="en-US" sz="1600" dirty="0">
                <a:solidFill>
                  <a:srgbClr val="0000FF"/>
                </a:solidFill>
                <a:latin typeface="微软雅黑" panose="020B0503020204020204" pitchFamily="34" charset="-122"/>
                <a:ea typeface="微软雅黑" panose="020B0503020204020204" pitchFamily="34" charset="-122"/>
              </a:rPr>
              <a:t>位双向移位寄存器</a:t>
            </a:r>
            <a:r>
              <a:rPr lang="en-US" altLang="zh-CN" sz="1600" dirty="0">
                <a:solidFill>
                  <a:srgbClr val="0000FF"/>
                </a:solidFill>
                <a:latin typeface="微软雅黑" panose="020B0503020204020204" pitchFamily="34" charset="-122"/>
                <a:ea typeface="微软雅黑" panose="020B0503020204020204" pitchFamily="34" charset="-122"/>
              </a:rPr>
              <a:t>74HC/HCT194)</a:t>
            </a:r>
            <a:endPar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0" name="组合 9"/>
          <p:cNvGrpSpPr/>
          <p:nvPr/>
        </p:nvGrpSpPr>
        <p:grpSpPr>
          <a:xfrm>
            <a:off x="1458294" y="1743044"/>
            <a:ext cx="6069107" cy="3179562"/>
            <a:chOff x="1144921" y="1735247"/>
            <a:chExt cx="6660543" cy="3497579"/>
          </a:xfrm>
        </p:grpSpPr>
        <p:sp>
          <p:nvSpPr>
            <p:cNvPr id="9" name="圆角矩形 8"/>
            <p:cNvSpPr/>
            <p:nvPr/>
          </p:nvSpPr>
          <p:spPr>
            <a:xfrm>
              <a:off x="1144921" y="1735247"/>
              <a:ext cx="6660543" cy="3497579"/>
            </a:xfrm>
            <a:prstGeom prst="roundRect">
              <a:avLst>
                <a:gd name="adj" fmla="val 3901"/>
              </a:avLst>
            </a:prstGeom>
            <a:solidFill>
              <a:schemeClr val="bg1"/>
            </a:solidFill>
            <a:ln w="28575">
              <a:solidFill>
                <a:srgbClr val="0070C0"/>
              </a:solidFill>
            </a:ln>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963" name="Picture 3"/>
            <p:cNvPicPr>
              <a:picLocks noChangeAspect="1" noChangeArrowheads="1"/>
            </p:cNvPicPr>
            <p:nvPr/>
          </p:nvPicPr>
          <p:blipFill>
            <a:blip r:embed="rId2" cstate="print"/>
            <a:srcRect/>
            <a:stretch>
              <a:fillRect/>
            </a:stretch>
          </p:blipFill>
          <p:spPr bwMode="auto">
            <a:xfrm>
              <a:off x="1312130" y="1759643"/>
              <a:ext cx="6233591" cy="3455974"/>
            </a:xfrm>
            <a:prstGeom prst="rect">
              <a:avLst/>
            </a:prstGeom>
            <a:noFill/>
            <a:ln w="9525">
              <a:noFill/>
              <a:miter lim="800000"/>
              <a:headEnd/>
              <a:tailEnd/>
            </a:ln>
            <a:effectLst/>
          </p:spPr>
        </p:pic>
      </p:grpSp>
      <p:grpSp>
        <p:nvGrpSpPr>
          <p:cNvPr id="39" name="组合 38"/>
          <p:cNvGrpSpPr/>
          <p:nvPr/>
        </p:nvGrpSpPr>
        <p:grpSpPr>
          <a:xfrm>
            <a:off x="563882" y="1123915"/>
            <a:ext cx="8043458" cy="4305560"/>
            <a:chOff x="563882" y="1123915"/>
            <a:chExt cx="8043458" cy="4305560"/>
          </a:xfrm>
        </p:grpSpPr>
        <p:grpSp>
          <p:nvGrpSpPr>
            <p:cNvPr id="18" name="组合 17"/>
            <p:cNvGrpSpPr/>
            <p:nvPr/>
          </p:nvGrpSpPr>
          <p:grpSpPr>
            <a:xfrm>
              <a:off x="563882" y="1759640"/>
              <a:ext cx="1314571" cy="829415"/>
              <a:chOff x="4232804" y="2138928"/>
              <a:chExt cx="1314571" cy="829415"/>
            </a:xfrm>
          </p:grpSpPr>
          <p:sp>
            <p:nvSpPr>
              <p:cNvPr id="19" name="圆角矩形标注 18"/>
              <p:cNvSpPr/>
              <p:nvPr/>
            </p:nvSpPr>
            <p:spPr>
              <a:xfrm>
                <a:off x="4232804" y="2138928"/>
                <a:ext cx="866501" cy="548640"/>
              </a:xfrm>
              <a:prstGeom prst="wedgeRoundRectCallout">
                <a:avLst>
                  <a:gd name="adj1" fmla="val 63932"/>
                  <a:gd name="adj2" fmla="val 42515"/>
                  <a:gd name="adj3" fmla="val 16667"/>
                </a:avLst>
              </a:prstGeom>
              <a:solidFill>
                <a:schemeClr val="accent2">
                  <a:lumMod val="60000"/>
                  <a:lumOff val="40000"/>
                </a:schemeClr>
              </a:solidFill>
              <a:ln w="38100">
                <a:solidFill>
                  <a:srgbClr val="0070C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400" dirty="0">
                    <a:solidFill>
                      <a:srgbClr val="0000FF"/>
                    </a:solidFill>
                    <a:latin typeface="微软雅黑" panose="020B0503020204020204" pitchFamily="34" charset="-122"/>
                    <a:ea typeface="微软雅黑" panose="020B0503020204020204" pitchFamily="34" charset="-122"/>
                  </a:rPr>
                  <a:t>工作模式</a:t>
                </a:r>
                <a:endParaRPr lang="en-US" altLang="zh-CN" sz="1400" dirty="0">
                  <a:solidFill>
                    <a:srgbClr val="0000FF"/>
                  </a:solidFill>
                  <a:latin typeface="微软雅黑" panose="020B0503020204020204" pitchFamily="34" charset="-122"/>
                  <a:ea typeface="微软雅黑" panose="020B0503020204020204" pitchFamily="34" charset="-122"/>
                </a:endParaRPr>
              </a:p>
              <a:p>
                <a:pPr algn="ctr"/>
                <a:r>
                  <a:rPr lang="zh-CN" altLang="en-US" sz="1400" dirty="0">
                    <a:solidFill>
                      <a:srgbClr val="0000FF"/>
                    </a:solidFill>
                    <a:latin typeface="微软雅黑" panose="020B0503020204020204" pitchFamily="34" charset="-122"/>
                    <a:ea typeface="微软雅黑" panose="020B0503020204020204" pitchFamily="34" charset="-122"/>
                  </a:rPr>
                  <a:t>控制</a:t>
                </a:r>
                <a:endParaRPr lang="zh-CN" altLang="en-US" sz="1400" dirty="0">
                  <a:solidFill>
                    <a:srgbClr val="0000FF"/>
                  </a:solidFill>
                </a:endParaRPr>
              </a:p>
            </p:txBody>
          </p:sp>
          <p:sp>
            <p:nvSpPr>
              <p:cNvPr id="20" name="圆角矩形 19"/>
              <p:cNvSpPr/>
              <p:nvPr/>
            </p:nvSpPr>
            <p:spPr>
              <a:xfrm>
                <a:off x="5279576" y="2439105"/>
                <a:ext cx="267799" cy="529238"/>
              </a:xfrm>
              <a:prstGeom prst="roundRect">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圆角矩形标注 21"/>
            <p:cNvSpPr/>
            <p:nvPr/>
          </p:nvSpPr>
          <p:spPr>
            <a:xfrm>
              <a:off x="584166" y="2931839"/>
              <a:ext cx="914400" cy="548640"/>
            </a:xfrm>
            <a:prstGeom prst="wedgeRoundRectCallout">
              <a:avLst>
                <a:gd name="adj1" fmla="val 49881"/>
                <a:gd name="adj2" fmla="val -63885"/>
                <a:gd name="adj3" fmla="val 16667"/>
              </a:avLst>
            </a:prstGeom>
            <a:solidFill>
              <a:schemeClr val="accent2">
                <a:lumMod val="60000"/>
                <a:lumOff val="40000"/>
              </a:schemeClr>
            </a:solidFill>
            <a:ln w="38100">
              <a:solidFill>
                <a:srgbClr val="0070C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400" dirty="0">
                  <a:solidFill>
                    <a:srgbClr val="0000FF"/>
                  </a:solidFill>
                  <a:latin typeface="微软雅黑" panose="020B0503020204020204" pitchFamily="34" charset="-122"/>
                  <a:ea typeface="微软雅黑" panose="020B0503020204020204" pitchFamily="34" charset="-122"/>
                </a:rPr>
                <a:t>右移串行数据输入</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25" name="圆角矩形标注 24"/>
            <p:cNvSpPr/>
            <p:nvPr/>
          </p:nvSpPr>
          <p:spPr>
            <a:xfrm>
              <a:off x="7692940" y="1636533"/>
              <a:ext cx="914400" cy="548640"/>
            </a:xfrm>
            <a:prstGeom prst="wedgeRoundRectCallout">
              <a:avLst>
                <a:gd name="adj1" fmla="val -82082"/>
                <a:gd name="adj2" fmla="val 13391"/>
                <a:gd name="adj3" fmla="val 16667"/>
              </a:avLst>
            </a:prstGeom>
            <a:solidFill>
              <a:schemeClr val="accent2">
                <a:lumMod val="60000"/>
                <a:lumOff val="40000"/>
              </a:schemeClr>
            </a:solidFill>
            <a:ln w="38100">
              <a:solidFill>
                <a:srgbClr val="0070C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400" dirty="0">
                  <a:solidFill>
                    <a:srgbClr val="0000FF"/>
                  </a:solidFill>
                  <a:latin typeface="微软雅黑" panose="020B0503020204020204" pitchFamily="34" charset="-122"/>
                  <a:ea typeface="微软雅黑" panose="020B0503020204020204" pitchFamily="34" charset="-122"/>
                </a:rPr>
                <a:t>左移串行数据输入</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30" name="圆角矩形标注 29"/>
            <p:cNvSpPr/>
            <p:nvPr/>
          </p:nvSpPr>
          <p:spPr>
            <a:xfrm>
              <a:off x="563882" y="4666845"/>
              <a:ext cx="914400" cy="361149"/>
            </a:xfrm>
            <a:prstGeom prst="wedgeRoundRectCallout">
              <a:avLst>
                <a:gd name="adj1" fmla="val 56347"/>
                <a:gd name="adj2" fmla="val -100269"/>
                <a:gd name="adj3" fmla="val 16667"/>
              </a:avLst>
            </a:prstGeom>
            <a:solidFill>
              <a:schemeClr val="accent2">
                <a:lumMod val="60000"/>
                <a:lumOff val="40000"/>
              </a:schemeClr>
            </a:solidFill>
            <a:ln w="38100">
              <a:solidFill>
                <a:srgbClr val="0070C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400" dirty="0">
                  <a:solidFill>
                    <a:srgbClr val="0000FF"/>
                  </a:solidFill>
                  <a:latin typeface="微软雅黑" panose="020B0503020204020204" pitchFamily="34" charset="-122"/>
                  <a:ea typeface="微软雅黑" panose="020B0503020204020204" pitchFamily="34" charset="-122"/>
                </a:rPr>
                <a:t>清零端</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33" name="圆角矩形标注 32"/>
            <p:cNvSpPr/>
            <p:nvPr/>
          </p:nvSpPr>
          <p:spPr>
            <a:xfrm>
              <a:off x="583870" y="3632840"/>
              <a:ext cx="914400" cy="391887"/>
            </a:xfrm>
            <a:prstGeom prst="wedgeRoundRectCallout">
              <a:avLst>
                <a:gd name="adj1" fmla="val 54237"/>
                <a:gd name="adj2" fmla="val 79050"/>
                <a:gd name="adj3" fmla="val 16667"/>
              </a:avLst>
            </a:prstGeom>
            <a:solidFill>
              <a:schemeClr val="accent2">
                <a:lumMod val="60000"/>
                <a:lumOff val="40000"/>
              </a:schemeClr>
            </a:solidFill>
            <a:ln w="38100">
              <a:solidFill>
                <a:srgbClr val="0070C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400" dirty="0">
                  <a:solidFill>
                    <a:srgbClr val="0000FF"/>
                  </a:solidFill>
                  <a:latin typeface="微软雅黑" panose="020B0503020204020204" pitchFamily="34" charset="-122"/>
                  <a:ea typeface="微软雅黑" panose="020B0503020204020204" pitchFamily="34" charset="-122"/>
                </a:rPr>
                <a:t>时钟端</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34" name="圆角矩形标注 33"/>
            <p:cNvSpPr/>
            <p:nvPr/>
          </p:nvSpPr>
          <p:spPr>
            <a:xfrm>
              <a:off x="7590781" y="4856739"/>
              <a:ext cx="914400" cy="548640"/>
            </a:xfrm>
            <a:prstGeom prst="wedgeRoundRectCallout">
              <a:avLst>
                <a:gd name="adj1" fmla="val -85277"/>
                <a:gd name="adj2" fmla="val -53181"/>
                <a:gd name="adj3" fmla="val 16667"/>
              </a:avLst>
            </a:prstGeom>
            <a:solidFill>
              <a:schemeClr val="accent2">
                <a:lumMod val="60000"/>
                <a:lumOff val="40000"/>
              </a:schemeClr>
            </a:solidFill>
            <a:ln w="38100">
              <a:solidFill>
                <a:srgbClr val="0070C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400" dirty="0">
                  <a:solidFill>
                    <a:srgbClr val="0000FF"/>
                  </a:solidFill>
                  <a:latin typeface="微软雅黑" panose="020B0503020204020204" pitchFamily="34" charset="-122"/>
                  <a:ea typeface="微软雅黑" panose="020B0503020204020204" pitchFamily="34" charset="-122"/>
                </a:rPr>
                <a:t>右移串行数据输出</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35" name="圆角矩形标注 34"/>
            <p:cNvSpPr/>
            <p:nvPr/>
          </p:nvSpPr>
          <p:spPr>
            <a:xfrm>
              <a:off x="1975309" y="4856739"/>
              <a:ext cx="914400" cy="548640"/>
            </a:xfrm>
            <a:prstGeom prst="wedgeRoundRectCallout">
              <a:avLst>
                <a:gd name="adj1" fmla="val 94886"/>
                <a:gd name="adj2" fmla="val -54030"/>
                <a:gd name="adj3" fmla="val 16667"/>
              </a:avLst>
            </a:prstGeom>
            <a:solidFill>
              <a:schemeClr val="accent2">
                <a:lumMod val="60000"/>
                <a:lumOff val="40000"/>
              </a:schemeClr>
            </a:solidFill>
            <a:ln w="38100">
              <a:solidFill>
                <a:srgbClr val="0070C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400" dirty="0">
                  <a:solidFill>
                    <a:srgbClr val="0000FF"/>
                  </a:solidFill>
                  <a:latin typeface="微软雅黑" panose="020B0503020204020204" pitchFamily="34" charset="-122"/>
                  <a:ea typeface="微软雅黑" panose="020B0503020204020204" pitchFamily="34" charset="-122"/>
                </a:rPr>
                <a:t>左移串行数据输出</a:t>
              </a:r>
              <a:endParaRPr lang="zh-CN" altLang="en-US" sz="1400" dirty="0">
                <a:solidFill>
                  <a:srgbClr val="0000FF"/>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3537424" y="4847421"/>
              <a:ext cx="3530785" cy="582054"/>
              <a:chOff x="3517436" y="4914375"/>
              <a:chExt cx="3530785" cy="582054"/>
            </a:xfrm>
          </p:grpSpPr>
          <p:sp>
            <p:nvSpPr>
              <p:cNvPr id="6" name="右大括号 5"/>
              <p:cNvSpPr/>
              <p:nvPr/>
            </p:nvSpPr>
            <p:spPr>
              <a:xfrm rot="5400000">
                <a:off x="5168166" y="3263645"/>
                <a:ext cx="229326" cy="3530785"/>
              </a:xfrm>
              <a:prstGeom prst="rightBrace">
                <a:avLst>
                  <a:gd name="adj1" fmla="val 86608"/>
                  <a:gd name="adj2" fmla="val 50000"/>
                </a:avLst>
              </a:prstGeom>
              <a:noFill/>
              <a:ln w="38100">
                <a:solidFill>
                  <a:srgbClr val="0070C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zh-CN" altLang="en-US" sz="1400">
                  <a:solidFill>
                    <a:srgbClr val="0000FF"/>
                  </a:solidFill>
                  <a:latin typeface="微软雅黑" panose="020B0503020204020204" pitchFamily="34" charset="-122"/>
                  <a:ea typeface="微软雅黑" panose="020B0503020204020204" pitchFamily="34" charset="-122"/>
                </a:endParaRPr>
              </a:p>
            </p:txBody>
          </p:sp>
          <p:sp>
            <p:nvSpPr>
              <p:cNvPr id="27" name="圆角矩形标注 26"/>
              <p:cNvSpPr/>
              <p:nvPr/>
            </p:nvSpPr>
            <p:spPr>
              <a:xfrm>
                <a:off x="4495216" y="5127596"/>
                <a:ext cx="1575226" cy="368833"/>
              </a:xfrm>
              <a:prstGeom prst="wedgeRoundRectCallout">
                <a:avLst>
                  <a:gd name="adj1" fmla="val -26076"/>
                  <a:gd name="adj2" fmla="val -26142"/>
                  <a:gd name="adj3" fmla="val 16667"/>
                </a:avLst>
              </a:prstGeom>
              <a:solidFill>
                <a:schemeClr val="accent2">
                  <a:lumMod val="60000"/>
                  <a:lumOff val="40000"/>
                </a:schemeClr>
              </a:solidFill>
              <a:ln w="38100">
                <a:solidFill>
                  <a:srgbClr val="0070C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400" dirty="0">
                    <a:solidFill>
                      <a:srgbClr val="0000FF"/>
                    </a:solidFill>
                    <a:latin typeface="微软雅黑" panose="020B0503020204020204" pitchFamily="34" charset="-122"/>
                    <a:ea typeface="微软雅黑" panose="020B0503020204020204" pitchFamily="34" charset="-122"/>
                  </a:rPr>
                  <a:t>并行数据输出端</a:t>
                </a:r>
                <a:endParaRPr lang="zh-CN" altLang="en-US" sz="1400" dirty="0">
                  <a:solidFill>
                    <a:srgbClr val="0000FF"/>
                  </a:solidFill>
                  <a:latin typeface="微软雅黑" panose="020B0503020204020204" pitchFamily="34" charset="-122"/>
                  <a:ea typeface="微软雅黑" panose="020B0503020204020204" pitchFamily="34" charset="-122"/>
                </a:endParaRPr>
              </a:p>
            </p:txBody>
          </p:sp>
        </p:grpSp>
        <p:grpSp>
          <p:nvGrpSpPr>
            <p:cNvPr id="36" name="组合 35"/>
            <p:cNvGrpSpPr/>
            <p:nvPr/>
          </p:nvGrpSpPr>
          <p:grpSpPr>
            <a:xfrm>
              <a:off x="2927273" y="1123915"/>
              <a:ext cx="3530785" cy="696095"/>
              <a:chOff x="3685573" y="5889935"/>
              <a:chExt cx="3530785" cy="696095"/>
            </a:xfrm>
          </p:grpSpPr>
          <p:sp>
            <p:nvSpPr>
              <p:cNvPr id="37" name="右大括号 36"/>
              <p:cNvSpPr/>
              <p:nvPr/>
            </p:nvSpPr>
            <p:spPr>
              <a:xfrm rot="16200000" flipV="1">
                <a:off x="5336303" y="4705974"/>
                <a:ext cx="229326" cy="3530785"/>
              </a:xfrm>
              <a:prstGeom prst="rightBrace">
                <a:avLst>
                  <a:gd name="adj1" fmla="val 86608"/>
                  <a:gd name="adj2" fmla="val 50000"/>
                </a:avLst>
              </a:prstGeom>
              <a:noFill/>
              <a:ln w="38100">
                <a:solidFill>
                  <a:srgbClr val="0070C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zh-CN" altLang="en-US" sz="1400">
                  <a:solidFill>
                    <a:srgbClr val="0000FF"/>
                  </a:solidFill>
                  <a:latin typeface="微软雅黑" panose="020B0503020204020204" pitchFamily="34" charset="-122"/>
                  <a:ea typeface="微软雅黑" panose="020B0503020204020204" pitchFamily="34" charset="-122"/>
                </a:endParaRPr>
              </a:p>
            </p:txBody>
          </p:sp>
          <p:sp>
            <p:nvSpPr>
              <p:cNvPr id="38" name="圆角矩形标注 37"/>
              <p:cNvSpPr/>
              <p:nvPr/>
            </p:nvSpPr>
            <p:spPr>
              <a:xfrm>
                <a:off x="4663353" y="5889935"/>
                <a:ext cx="1575226" cy="368833"/>
              </a:xfrm>
              <a:prstGeom prst="wedgeRoundRectCallout">
                <a:avLst>
                  <a:gd name="adj1" fmla="val -26076"/>
                  <a:gd name="adj2" fmla="val -26142"/>
                  <a:gd name="adj3" fmla="val 16667"/>
                </a:avLst>
              </a:prstGeom>
              <a:solidFill>
                <a:schemeClr val="accent2">
                  <a:lumMod val="60000"/>
                  <a:lumOff val="40000"/>
                </a:schemeClr>
              </a:solidFill>
              <a:ln w="38100">
                <a:solidFill>
                  <a:srgbClr val="0070C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400" dirty="0">
                    <a:solidFill>
                      <a:srgbClr val="0000FF"/>
                    </a:solidFill>
                    <a:latin typeface="微软雅黑" panose="020B0503020204020204" pitchFamily="34" charset="-122"/>
                    <a:ea typeface="微软雅黑" panose="020B0503020204020204" pitchFamily="34" charset="-122"/>
                  </a:rPr>
                  <a:t>并行数据输入端</a:t>
                </a:r>
                <a:endParaRPr lang="zh-CN" altLang="en-US" sz="1400" dirty="0">
                  <a:solidFill>
                    <a:srgbClr val="0000FF"/>
                  </a:solidFill>
                  <a:latin typeface="微软雅黑" panose="020B0503020204020204" pitchFamily="34" charset="-122"/>
                  <a:ea typeface="微软雅黑" panose="020B0503020204020204" pitchFamily="34" charset="-122"/>
                </a:endParaRPr>
              </a:p>
            </p:txBody>
          </p:sp>
        </p:grpSp>
      </p:grpSp>
      <p:grpSp>
        <p:nvGrpSpPr>
          <p:cNvPr id="41" name="组合 40"/>
          <p:cNvGrpSpPr/>
          <p:nvPr/>
        </p:nvGrpSpPr>
        <p:grpSpPr>
          <a:xfrm>
            <a:off x="1172431" y="2134866"/>
            <a:ext cx="6911828" cy="2251228"/>
            <a:chOff x="1102621" y="1866373"/>
            <a:chExt cx="6911828" cy="2251228"/>
          </a:xfrm>
        </p:grpSpPr>
        <p:grpSp>
          <p:nvGrpSpPr>
            <p:cNvPr id="42" name="组合 41"/>
            <p:cNvGrpSpPr/>
            <p:nvPr/>
          </p:nvGrpSpPr>
          <p:grpSpPr>
            <a:xfrm>
              <a:off x="1102621" y="1866373"/>
              <a:ext cx="6911828" cy="2251228"/>
              <a:chOff x="1102621" y="1866373"/>
              <a:chExt cx="6911828" cy="2251228"/>
            </a:xfrm>
          </p:grpSpPr>
          <p:pic>
            <p:nvPicPr>
              <p:cNvPr id="44" name="Picture 2"/>
              <p:cNvPicPr>
                <a:picLocks noChangeAspect="1" noChangeArrowheads="1"/>
              </p:cNvPicPr>
              <p:nvPr/>
            </p:nvPicPr>
            <p:blipFill>
              <a:blip r:embed="rId3" cstate="print"/>
              <a:srcRect/>
              <a:stretch>
                <a:fillRect/>
              </a:stretch>
            </p:blipFill>
            <p:spPr bwMode="auto">
              <a:xfrm>
                <a:off x="1102621" y="1866373"/>
                <a:ext cx="6911828" cy="2251228"/>
              </a:xfrm>
              <a:prstGeom prst="round2DiagRect">
                <a:avLst>
                  <a:gd name="adj1" fmla="val 16667"/>
                  <a:gd name="adj2" fmla="val 0"/>
                </a:avLst>
              </a:prstGeom>
              <a:ln w="28575" cap="sq">
                <a:solidFill>
                  <a:srgbClr val="0070C0"/>
                </a:solidFill>
                <a:miter lim="800000"/>
                <a:headEnd/>
                <a:tailEnd/>
              </a:ln>
              <a:effectLst>
                <a:outerShdw blurRad="254000" algn="tl" rotWithShape="0">
                  <a:srgbClr val="000000">
                    <a:alpha val="43000"/>
                  </a:srgbClr>
                </a:outerShdw>
              </a:effectLst>
            </p:spPr>
          </p:pic>
          <p:graphicFrame>
            <p:nvGraphicFramePr>
              <p:cNvPr id="45" name="对象 44"/>
              <p:cNvGraphicFramePr>
                <a:graphicFrameLocks noChangeAspect="1"/>
              </p:cNvGraphicFramePr>
              <p:nvPr/>
            </p:nvGraphicFramePr>
            <p:xfrm>
              <a:off x="1454577" y="3318168"/>
              <a:ext cx="241300" cy="215900"/>
            </p:xfrm>
            <a:graphic>
              <a:graphicData uri="http://schemas.openxmlformats.org/presentationml/2006/ole">
                <mc:AlternateContent xmlns:mc="http://schemas.openxmlformats.org/markup-compatibility/2006">
                  <mc:Choice xmlns:v="urn:schemas-microsoft-com:vml" Requires="v">
                    <p:oleObj spid="_x0000_s24598" name="公式" r:id="rId4" imgW="241300" imgH="215900" progId="Equation.3">
                      <p:embed/>
                    </p:oleObj>
                  </mc:Choice>
                  <mc:Fallback>
                    <p:oleObj name="公式" r:id="rId4" imgW="241300" imgH="215900" progId="Equation.3">
                      <p:embed/>
                      <p:pic>
                        <p:nvPicPr>
                          <p:cNvPr id="0" name="对象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4577" y="3318168"/>
                            <a:ext cx="241300" cy="215900"/>
                          </a:xfrm>
                          <a:prstGeom prst="rect">
                            <a:avLst/>
                          </a:prstGeom>
                          <a:solidFill>
                            <a:schemeClr val="bg1"/>
                          </a:solidFill>
                        </p:spPr>
                      </p:pic>
                    </p:oleObj>
                  </mc:Fallback>
                </mc:AlternateContent>
              </a:graphicData>
            </a:graphic>
          </p:graphicFrame>
        </p:grpSp>
        <p:graphicFrame>
          <p:nvGraphicFramePr>
            <p:cNvPr id="43" name="对象 42"/>
            <p:cNvGraphicFramePr>
              <a:graphicFrameLocks noChangeAspect="1"/>
            </p:cNvGraphicFramePr>
            <p:nvPr/>
          </p:nvGraphicFramePr>
          <p:xfrm>
            <a:off x="4879361" y="3754876"/>
            <a:ext cx="280734" cy="251183"/>
          </p:xfrm>
          <a:graphic>
            <a:graphicData uri="http://schemas.openxmlformats.org/presentationml/2006/ole">
              <mc:AlternateContent xmlns:mc="http://schemas.openxmlformats.org/markup-compatibility/2006">
                <mc:Choice xmlns:v="urn:schemas-microsoft-com:vml" Requires="v">
                  <p:oleObj spid="_x0000_s24599" name="公式" r:id="rId6" imgW="241300" imgH="215900" progId="Equation.3">
                    <p:embed/>
                  </p:oleObj>
                </mc:Choice>
                <mc:Fallback>
                  <p:oleObj name="公式" r:id="rId6" imgW="241300" imgH="215900" progId="Equation.3">
                    <p:embed/>
                    <p:pic>
                      <p:nvPicPr>
                        <p:cNvPr id="0" name="对象 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9361" y="3754876"/>
                          <a:ext cx="280734" cy="251183"/>
                        </a:xfrm>
                        <a:prstGeom prst="rect">
                          <a:avLst/>
                        </a:prstGeom>
                        <a:solidFill>
                          <a:schemeClr val="bg1"/>
                        </a:solidFill>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3" presetClass="entr" presetSubtype="16" fill="hold" nodeType="after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1000" fill="hold"/>
                                        <p:tgtEl>
                                          <p:spTgt spid="10"/>
                                        </p:tgtEl>
                                        <p:attrNameLst>
                                          <p:attrName>ppt_w</p:attrName>
                                        </p:attrNameLst>
                                      </p:cBhvr>
                                      <p:tavLst>
                                        <p:tav tm="0">
                                          <p:val>
                                            <p:fltVal val="0"/>
                                          </p:val>
                                        </p:tav>
                                        <p:tav tm="100000">
                                          <p:val>
                                            <p:strVal val="#ppt_w"/>
                                          </p:val>
                                        </p:tav>
                                      </p:tavLst>
                                    </p:anim>
                                    <p:anim calcmode="lin" valueType="num">
                                      <p:cBhvr>
                                        <p:cTn id="14" dur="1000" fill="hold"/>
                                        <p:tgtEl>
                                          <p:spTgt spid="10"/>
                                        </p:tgtEl>
                                        <p:attrNameLst>
                                          <p:attrName>ppt_h</p:attrName>
                                        </p:attrNameLst>
                                      </p:cBhvr>
                                      <p:tavLst>
                                        <p:tav tm="0">
                                          <p:val>
                                            <p:fltVal val="0"/>
                                          </p:val>
                                        </p:tav>
                                        <p:tav tm="100000">
                                          <p:val>
                                            <p:strVal val="#ppt_h"/>
                                          </p:val>
                                        </p:tav>
                                      </p:tavLst>
                                    </p:anim>
                                  </p:childTnLst>
                                </p:cTn>
                              </p:par>
                            </p:childTnLst>
                          </p:cTn>
                        </p:par>
                        <p:par>
                          <p:cTn id="15" fill="hold">
                            <p:stCondLst>
                              <p:cond delay="2000"/>
                            </p:stCondLst>
                            <p:childTnLst>
                              <p:par>
                                <p:cTn id="16" presetID="23" presetClass="entr" presetSubtype="288" fill="hold" nodeType="afterEffect">
                                  <p:stCondLst>
                                    <p:cond delay="0"/>
                                  </p:stCondLst>
                                  <p:childTnLst>
                                    <p:set>
                                      <p:cBhvr>
                                        <p:cTn id="17" dur="1" fill="hold">
                                          <p:stCondLst>
                                            <p:cond delay="0"/>
                                          </p:stCondLst>
                                        </p:cTn>
                                        <p:tgtEl>
                                          <p:spTgt spid="39"/>
                                        </p:tgtEl>
                                        <p:attrNameLst>
                                          <p:attrName>style.visibility</p:attrName>
                                        </p:attrNameLst>
                                      </p:cBhvr>
                                      <p:to>
                                        <p:strVal val="visible"/>
                                      </p:to>
                                    </p:set>
                                    <p:anim calcmode="lin" valueType="num">
                                      <p:cBhvr>
                                        <p:cTn id="18" dur="1000" fill="hold"/>
                                        <p:tgtEl>
                                          <p:spTgt spid="39"/>
                                        </p:tgtEl>
                                        <p:attrNameLst>
                                          <p:attrName>ppt_w</p:attrName>
                                        </p:attrNameLst>
                                      </p:cBhvr>
                                      <p:tavLst>
                                        <p:tav tm="0">
                                          <p:val>
                                            <p:strVal val="4/3*#ppt_w"/>
                                          </p:val>
                                        </p:tav>
                                        <p:tav tm="100000">
                                          <p:val>
                                            <p:strVal val="#ppt_w"/>
                                          </p:val>
                                        </p:tav>
                                      </p:tavLst>
                                    </p:anim>
                                    <p:anim calcmode="lin" valueType="num">
                                      <p:cBhvr>
                                        <p:cTn id="19" dur="1000" fill="hold"/>
                                        <p:tgtEl>
                                          <p:spTgt spid="39"/>
                                        </p:tgtEl>
                                        <p:attrNameLst>
                                          <p:attrName>ppt_h</p:attrName>
                                        </p:attrNameLst>
                                      </p:cBhvr>
                                      <p:tavLst>
                                        <p:tav tm="0">
                                          <p:val>
                                            <p:strVal val="4/3*#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1"/>
                                        </p:tgtEl>
                                        <p:attrNameLst>
                                          <p:attrName>style.visibility</p:attrName>
                                        </p:attrNameLst>
                                      </p:cBhvr>
                                      <p:to>
                                        <p:strVal val="visible"/>
                                      </p:to>
                                    </p:set>
                                    <p:animEffect transition="in" filter="fade">
                                      <p:cBhvr>
                                        <p:cTn id="24" dur="1000"/>
                                        <p:tgtEl>
                                          <p:spTgt spid="41"/>
                                        </p:tgtEl>
                                      </p:cBhvr>
                                    </p:animEffect>
                                    <p:anim calcmode="lin" valueType="num">
                                      <p:cBhvr>
                                        <p:cTn id="25" dur="1000" fill="hold"/>
                                        <p:tgtEl>
                                          <p:spTgt spid="41"/>
                                        </p:tgtEl>
                                        <p:attrNameLst>
                                          <p:attrName>ppt_x</p:attrName>
                                        </p:attrNameLst>
                                      </p:cBhvr>
                                      <p:tavLst>
                                        <p:tav tm="0">
                                          <p:val>
                                            <p:strVal val="#ppt_x"/>
                                          </p:val>
                                        </p:tav>
                                        <p:tav tm="100000">
                                          <p:val>
                                            <p:strVal val="#ppt_x"/>
                                          </p:val>
                                        </p:tav>
                                      </p:tavLst>
                                    </p:anim>
                                    <p:anim calcmode="lin" valueType="num">
                                      <p:cBhvr>
                                        <p:cTn id="26"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5"/>
          <p:cNvGrpSpPr/>
          <p:nvPr/>
        </p:nvGrpSpPr>
        <p:grpSpPr>
          <a:xfrm>
            <a:off x="392432" y="712860"/>
            <a:ext cx="1916427" cy="420971"/>
            <a:chOff x="670560" y="892917"/>
            <a:chExt cx="1916427" cy="420971"/>
          </a:xfrm>
        </p:grpSpPr>
        <p:sp>
          <p:nvSpPr>
            <p:cNvPr id="3" name="矩形 2"/>
            <p:cNvSpPr/>
            <p:nvPr/>
          </p:nvSpPr>
          <p:spPr>
            <a:xfrm>
              <a:off x="1035232" y="913778"/>
              <a:ext cx="1551755"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移位寄存器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3" name="Rectangle 5"/>
          <p:cNvSpPr>
            <a:spLocks noChangeArrowheads="1"/>
          </p:cNvSpPr>
          <p:nvPr/>
        </p:nvSpPr>
        <p:spPr bwMode="auto">
          <a:xfrm>
            <a:off x="278130" y="1135247"/>
            <a:ext cx="8389460" cy="369332"/>
          </a:xfrm>
          <a:prstGeom prst="rect">
            <a:avLst/>
          </a:prstGeom>
          <a:noFill/>
          <a:ln w="9525">
            <a:noFill/>
            <a:miter lim="800000"/>
          </a:ln>
        </p:spPr>
        <p:txBody>
          <a:bodyPr wrap="square" anchor="ctr">
            <a:spAutoFit/>
          </a:bodyPr>
          <a:lstStyle/>
          <a:p>
            <a:r>
              <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）双向移位寄存器</a:t>
            </a:r>
            <a:r>
              <a:rPr lang="en-US" altLang="zh-CN" sz="1600" b="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rgbClr val="0000FF"/>
                </a:solidFill>
                <a:latin typeface="微软雅黑" panose="020B0503020204020204" pitchFamily="34" charset="-122"/>
                <a:ea typeface="微软雅黑" panose="020B0503020204020204" pitchFamily="34" charset="-122"/>
              </a:rPr>
              <a:t>典型集成电路</a:t>
            </a:r>
            <a:r>
              <a:rPr lang="en-US" altLang="zh-CN" sz="1600" dirty="0">
                <a:solidFill>
                  <a:srgbClr val="0000FF"/>
                </a:solidFill>
                <a:latin typeface="微软雅黑" panose="020B0503020204020204" pitchFamily="34" charset="-122"/>
                <a:ea typeface="微软雅黑" panose="020B0503020204020204" pitchFamily="34" charset="-122"/>
              </a:rPr>
              <a:t>—4</a:t>
            </a:r>
            <a:r>
              <a:rPr lang="zh-CN" altLang="en-US" sz="1600" dirty="0">
                <a:solidFill>
                  <a:srgbClr val="0000FF"/>
                </a:solidFill>
                <a:latin typeface="微软雅黑" panose="020B0503020204020204" pitchFamily="34" charset="-122"/>
                <a:ea typeface="微软雅黑" panose="020B0503020204020204" pitchFamily="34" charset="-122"/>
              </a:rPr>
              <a:t>位双向移位寄存器</a:t>
            </a:r>
            <a:r>
              <a:rPr lang="en-US" altLang="zh-CN" sz="1600" dirty="0">
                <a:solidFill>
                  <a:srgbClr val="0000FF"/>
                </a:solidFill>
                <a:latin typeface="微软雅黑" panose="020B0503020204020204" pitchFamily="34" charset="-122"/>
                <a:ea typeface="微软雅黑" panose="020B0503020204020204" pitchFamily="34" charset="-122"/>
              </a:rPr>
              <a:t>74HC/HCT194)</a:t>
            </a:r>
            <a:endPar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4" name="Picture 8"/>
          <p:cNvPicPr>
            <a:picLocks noChangeAspect="1" noChangeArrowheads="1"/>
          </p:cNvPicPr>
          <p:nvPr/>
        </p:nvPicPr>
        <p:blipFill>
          <a:blip r:embed="rId2" cstate="print"/>
          <a:srcRect/>
          <a:stretch>
            <a:fillRect/>
          </a:stretch>
        </p:blipFill>
        <p:spPr bwMode="auto">
          <a:xfrm>
            <a:off x="777875" y="1686117"/>
            <a:ext cx="7381875" cy="2739832"/>
          </a:xfrm>
          <a:prstGeom prst="rect">
            <a:avLst/>
          </a:prstGeom>
          <a:noFill/>
          <a:ln w="9525">
            <a:noFill/>
            <a:miter lim="800000"/>
            <a:headEnd/>
            <a:tailEnd/>
          </a:ln>
          <a:effectLst/>
        </p:spPr>
      </p:pic>
      <p:sp>
        <p:nvSpPr>
          <p:cNvPr id="15" name="圆角矩形 14"/>
          <p:cNvSpPr/>
          <p:nvPr/>
        </p:nvSpPr>
        <p:spPr>
          <a:xfrm>
            <a:off x="868507" y="2772763"/>
            <a:ext cx="7195993" cy="256188"/>
          </a:xfrm>
          <a:prstGeom prst="roundRect">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a:off x="855807" y="3102962"/>
            <a:ext cx="439593" cy="1234087"/>
          </a:xfrm>
          <a:prstGeom prst="roundRect">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16"/>
          <p:cNvSpPr/>
          <p:nvPr/>
        </p:nvSpPr>
        <p:spPr>
          <a:xfrm>
            <a:off x="1376507" y="3102963"/>
            <a:ext cx="6675293" cy="256188"/>
          </a:xfrm>
          <a:prstGeom prst="roundRect">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p:nvSpPr>
        <p:spPr>
          <a:xfrm>
            <a:off x="1376507" y="3433163"/>
            <a:ext cx="6675293" cy="256188"/>
          </a:xfrm>
          <a:prstGeom prst="roundRect">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18"/>
          <p:cNvSpPr/>
          <p:nvPr/>
        </p:nvSpPr>
        <p:spPr>
          <a:xfrm>
            <a:off x="1376507" y="3763363"/>
            <a:ext cx="6675293" cy="256188"/>
          </a:xfrm>
          <a:prstGeom prst="roundRect">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1376507" y="4093563"/>
            <a:ext cx="6675293" cy="256188"/>
          </a:xfrm>
          <a:prstGeom prst="roundRect">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376507" y="4496501"/>
            <a:ext cx="2880000" cy="463550"/>
            <a:chOff x="1376507" y="4496501"/>
            <a:chExt cx="2880000" cy="463550"/>
          </a:xfrm>
        </p:grpSpPr>
        <p:sp>
          <p:nvSpPr>
            <p:cNvPr id="24" name="圆角矩形 40"/>
            <p:cNvSpPr/>
            <p:nvPr/>
          </p:nvSpPr>
          <p:spPr>
            <a:xfrm>
              <a:off x="1376507" y="4496501"/>
              <a:ext cx="2880000" cy="463550"/>
            </a:xfrm>
            <a:prstGeom prst="roundRect">
              <a:avLst/>
            </a:prstGeom>
            <a:solidFill>
              <a:srgbClr val="66FF66">
                <a:alpha val="20000"/>
              </a:srgbClr>
            </a:solidFill>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600" b="1"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600" b="1"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600" b="1"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6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=00</a:t>
              </a:r>
              <a:r>
                <a:rPr lang="zh-CN" altLang="en-US" sz="16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25" name="Object 4"/>
            <p:cNvGraphicFramePr>
              <a:graphicFrameLocks noChangeAspect="1"/>
            </p:cNvGraphicFramePr>
            <p:nvPr/>
          </p:nvGraphicFramePr>
          <p:xfrm>
            <a:off x="2290149" y="4598101"/>
            <a:ext cx="766762" cy="252000"/>
          </p:xfrm>
          <a:graphic>
            <a:graphicData uri="http://schemas.openxmlformats.org/presentationml/2006/ole">
              <mc:AlternateContent xmlns:mc="http://schemas.openxmlformats.org/markup-compatibility/2006">
                <mc:Choice xmlns:v="urn:schemas-microsoft-com:vml" Requires="v">
                  <p:oleObj spid="_x0000_s44062" name="公式" r:id="rId3" imgW="15544800" imgH="5486400" progId="Equation.3">
                    <p:embed/>
                  </p:oleObj>
                </mc:Choice>
                <mc:Fallback>
                  <p:oleObj name="公式" r:id="rId3" imgW="15544800" imgH="5486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0149" y="4598101"/>
                          <a:ext cx="766762" cy="25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矩形 28"/>
            <p:cNvSpPr/>
            <p:nvPr/>
          </p:nvSpPr>
          <p:spPr>
            <a:xfrm>
              <a:off x="3168909" y="4590382"/>
              <a:ext cx="958596" cy="246221"/>
            </a:xfrm>
            <a:prstGeom prst="rect">
              <a:avLst/>
            </a:prstGeom>
          </p:spPr>
          <p:txBody>
            <a:bodyPr wrap="none" lIns="0" tIns="0" rIns="0" bIns="0">
              <a:spAutoFit/>
            </a:bodyPr>
            <a:lstStyle/>
            <a:p>
              <a:r>
                <a:rPr lang="en-US" altLang="zh-CN" sz="1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状态保持</a:t>
              </a:r>
              <a:r>
                <a:rPr lang="en-US" altLang="zh-CN" sz="1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dirty="0">
                <a:solidFill>
                  <a:srgbClr val="0000FF"/>
                </a:solidFill>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1376509" y="5063768"/>
            <a:ext cx="2880000" cy="463550"/>
            <a:chOff x="1376509" y="5063768"/>
            <a:chExt cx="2880000" cy="463550"/>
          </a:xfrm>
        </p:grpSpPr>
        <p:sp>
          <p:nvSpPr>
            <p:cNvPr id="21" name="圆角矩形 41"/>
            <p:cNvSpPr/>
            <p:nvPr/>
          </p:nvSpPr>
          <p:spPr>
            <a:xfrm>
              <a:off x="1376509" y="5063768"/>
              <a:ext cx="2880000" cy="463550"/>
            </a:xfrm>
            <a:prstGeom prst="roundRect">
              <a:avLst/>
            </a:prstGeom>
            <a:solidFill>
              <a:srgbClr val="66FF66">
                <a:alpha val="20000"/>
              </a:srgbClr>
            </a:solidFill>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600" b="1"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600" b="1"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600" b="1"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6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=01</a:t>
              </a:r>
              <a:r>
                <a:rPr lang="zh-CN" altLang="en-US" sz="16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26" name="Object 5"/>
            <p:cNvGraphicFramePr>
              <a:graphicFrameLocks noChangeAspect="1"/>
            </p:cNvGraphicFramePr>
            <p:nvPr/>
          </p:nvGraphicFramePr>
          <p:xfrm>
            <a:off x="2290149" y="5165047"/>
            <a:ext cx="841375" cy="252413"/>
          </p:xfrm>
          <a:graphic>
            <a:graphicData uri="http://schemas.openxmlformats.org/presentationml/2006/ole">
              <mc:AlternateContent xmlns:mc="http://schemas.openxmlformats.org/markup-compatibility/2006">
                <mc:Choice xmlns:v="urn:schemas-microsoft-com:vml" Requires="v">
                  <p:oleObj spid="_x0000_s44063" name="公式" r:id="rId5" imgW="17068800" imgH="5486400" progId="Equation.3">
                    <p:embed/>
                  </p:oleObj>
                </mc:Choice>
                <mc:Fallback>
                  <p:oleObj name="公式" r:id="rId5" imgW="17068800" imgH="54864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0149" y="5165047"/>
                          <a:ext cx="841375" cy="252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Rectangle 11"/>
            <p:cNvSpPr>
              <a:spLocks noChangeArrowheads="1"/>
            </p:cNvSpPr>
            <p:nvPr/>
          </p:nvSpPr>
          <p:spPr bwMode="auto">
            <a:xfrm>
              <a:off x="3168909" y="5167896"/>
              <a:ext cx="929768" cy="246221"/>
            </a:xfrm>
            <a:prstGeom prst="rect">
              <a:avLst/>
            </a:prstGeom>
            <a:noFill/>
            <a:ln w="9525" algn="ctr">
              <a:noFill/>
              <a:miter lim="800000"/>
            </a:ln>
            <a:scene3d>
              <a:camera prst="orthographicFront"/>
              <a:lightRig rig="threePt" dir="t"/>
            </a:scene3d>
            <a:sp3d>
              <a:bevelT prst="angle"/>
            </a:sp3d>
          </p:spPr>
          <p:txBody>
            <a:bodyPr wrap="square" lIns="0" tIns="0" rIns="0" bIns="0">
              <a:spAutoFit/>
            </a:bodyPr>
            <a:lstStyle/>
            <a:p>
              <a:r>
                <a:rPr lang="en-US" altLang="zh-CN" sz="1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右    移</a:t>
              </a:r>
              <a:r>
                <a:rPr lang="en-US" altLang="zh-CN" sz="1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6" name="组合 5"/>
          <p:cNvGrpSpPr/>
          <p:nvPr/>
        </p:nvGrpSpPr>
        <p:grpSpPr>
          <a:xfrm>
            <a:off x="4479907" y="4496501"/>
            <a:ext cx="2880000" cy="463550"/>
            <a:chOff x="4479907" y="4496501"/>
            <a:chExt cx="2880000" cy="463550"/>
          </a:xfrm>
        </p:grpSpPr>
        <p:sp>
          <p:nvSpPr>
            <p:cNvPr id="22" name="圆角矩形 42"/>
            <p:cNvSpPr/>
            <p:nvPr/>
          </p:nvSpPr>
          <p:spPr>
            <a:xfrm>
              <a:off x="4479907" y="4496501"/>
              <a:ext cx="2880000" cy="463550"/>
            </a:xfrm>
            <a:prstGeom prst="roundRect">
              <a:avLst/>
            </a:prstGeom>
            <a:solidFill>
              <a:srgbClr val="66FF66">
                <a:alpha val="20000"/>
              </a:srgbClr>
            </a:solidFill>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600" b="1"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600" b="1"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600" b="1"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6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16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27" name="Object 6"/>
            <p:cNvGraphicFramePr>
              <a:graphicFrameLocks noChangeAspect="1"/>
            </p:cNvGraphicFramePr>
            <p:nvPr/>
          </p:nvGraphicFramePr>
          <p:xfrm>
            <a:off x="5393547" y="4595663"/>
            <a:ext cx="871537" cy="252413"/>
          </p:xfrm>
          <a:graphic>
            <a:graphicData uri="http://schemas.openxmlformats.org/presentationml/2006/ole">
              <mc:AlternateContent xmlns:mc="http://schemas.openxmlformats.org/markup-compatibility/2006">
                <mc:Choice xmlns:v="urn:schemas-microsoft-com:vml" Requires="v">
                  <p:oleObj spid="_x0000_s44064" name="公式" r:id="rId7" imgW="17678400" imgH="5486400" progId="Equation.3">
                    <p:embed/>
                  </p:oleObj>
                </mc:Choice>
                <mc:Fallback>
                  <p:oleObj name="公式" r:id="rId7" imgW="17678400" imgH="54864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3547" y="4595663"/>
                          <a:ext cx="871537" cy="252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Rectangle 10"/>
            <p:cNvSpPr>
              <a:spLocks noChangeArrowheads="1"/>
            </p:cNvSpPr>
            <p:nvPr/>
          </p:nvSpPr>
          <p:spPr bwMode="auto">
            <a:xfrm>
              <a:off x="6272307" y="4567960"/>
              <a:ext cx="801328" cy="246221"/>
            </a:xfrm>
            <a:prstGeom prst="rect">
              <a:avLst/>
            </a:prstGeom>
            <a:noFill/>
            <a:ln w="9525" algn="ctr">
              <a:noFill/>
              <a:miter lim="800000"/>
            </a:ln>
            <a:scene3d>
              <a:camera prst="orthographicFront"/>
              <a:lightRig rig="threePt" dir="t"/>
            </a:scene3d>
            <a:sp3d>
              <a:bevelT prst="angle"/>
            </a:sp3d>
          </p:spPr>
          <p:txBody>
            <a:bodyPr wrap="square" lIns="0" tIns="0" rIns="0" bIns="0">
              <a:spAutoFit/>
            </a:bodyPr>
            <a:lstStyle/>
            <a:p>
              <a:r>
                <a:rPr lang="en-US" altLang="zh-CN" sz="1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左   移</a:t>
              </a:r>
              <a:r>
                <a:rPr lang="en-US" altLang="zh-CN" sz="1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8" name="组合 7"/>
          <p:cNvGrpSpPr/>
          <p:nvPr/>
        </p:nvGrpSpPr>
        <p:grpSpPr>
          <a:xfrm>
            <a:off x="4479907" y="5063767"/>
            <a:ext cx="2880000" cy="463550"/>
            <a:chOff x="4479907" y="5063767"/>
            <a:chExt cx="2880000" cy="463550"/>
          </a:xfrm>
        </p:grpSpPr>
        <p:sp>
          <p:nvSpPr>
            <p:cNvPr id="23" name="圆角矩形 43"/>
            <p:cNvSpPr/>
            <p:nvPr/>
          </p:nvSpPr>
          <p:spPr>
            <a:xfrm>
              <a:off x="4479907" y="5063767"/>
              <a:ext cx="2880000" cy="463550"/>
            </a:xfrm>
            <a:prstGeom prst="roundRect">
              <a:avLst/>
            </a:prstGeom>
            <a:solidFill>
              <a:srgbClr val="66FF66">
                <a:alpha val="20000"/>
              </a:srgbClr>
            </a:solidFill>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600" b="1"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600" b="1"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600" b="1"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6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=11</a:t>
              </a:r>
              <a:r>
                <a:rPr lang="zh-CN" altLang="en-US" sz="16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28" name="Object 7"/>
            <p:cNvGraphicFramePr>
              <a:graphicFrameLocks noChangeAspect="1"/>
            </p:cNvGraphicFramePr>
            <p:nvPr/>
          </p:nvGraphicFramePr>
          <p:xfrm>
            <a:off x="5393547" y="5160813"/>
            <a:ext cx="782637" cy="252413"/>
          </p:xfrm>
          <a:graphic>
            <a:graphicData uri="http://schemas.openxmlformats.org/presentationml/2006/ole">
              <mc:AlternateContent xmlns:mc="http://schemas.openxmlformats.org/markup-compatibility/2006">
                <mc:Choice xmlns:v="urn:schemas-microsoft-com:vml" Requires="v">
                  <p:oleObj spid="_x0000_s44065" name="公式" r:id="rId9" imgW="15849600" imgH="5486400" progId="Equation.3">
                    <p:embed/>
                  </p:oleObj>
                </mc:Choice>
                <mc:Fallback>
                  <p:oleObj name="公式" r:id="rId9" imgW="15849600" imgH="54864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93547" y="5160813"/>
                          <a:ext cx="782637" cy="252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Rectangle 12"/>
            <p:cNvSpPr>
              <a:spLocks noChangeArrowheads="1"/>
            </p:cNvSpPr>
            <p:nvPr/>
          </p:nvSpPr>
          <p:spPr bwMode="auto">
            <a:xfrm>
              <a:off x="6272307" y="5148478"/>
              <a:ext cx="958596" cy="246221"/>
            </a:xfrm>
            <a:prstGeom prst="rect">
              <a:avLst/>
            </a:prstGeom>
            <a:noFill/>
            <a:ln w="9525" algn="ctr">
              <a:noFill/>
              <a:miter lim="800000"/>
            </a:ln>
            <a:scene3d>
              <a:camera prst="orthographicFront"/>
              <a:lightRig rig="threePt" dir="t"/>
            </a:scene3d>
            <a:sp3d>
              <a:bevelT prst="angle"/>
            </a:sp3d>
          </p:spPr>
          <p:txBody>
            <a:bodyPr wrap="none" lIns="0" tIns="0" rIns="0" bIns="0">
              <a:spAutoFit/>
            </a:bodyPr>
            <a:lstStyle/>
            <a:p>
              <a:r>
                <a:rPr lang="en-US" altLang="zh-CN" sz="1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并行置数</a:t>
              </a:r>
              <a:r>
                <a:rPr lang="en-US" altLang="zh-CN" sz="1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1000"/>
                                        <p:tgtEl>
                                          <p:spTgt spid="14"/>
                                        </p:tgtEl>
                                      </p:cBhvr>
                                    </p:animEffect>
                                  </p:childTnLst>
                                </p:cTn>
                              </p:par>
                            </p:childTnLst>
                          </p:cTn>
                        </p:par>
                        <p:par>
                          <p:cTn id="8" fill="hold">
                            <p:stCondLst>
                              <p:cond delay="1000"/>
                            </p:stCondLst>
                            <p:childTnLst>
                              <p:par>
                                <p:cTn id="9" presetID="12" presetClass="entr" presetSubtype="1"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slide(fromTop)">
                                      <p:cBhvr>
                                        <p:cTn id="11" dur="10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12" presetClass="entr" presetSubtype="8"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slide(fromLeft)">
                                      <p:cBhvr>
                                        <p:cTn id="16" dur="1000"/>
                                        <p:tgtEl>
                                          <p:spTgt spid="16"/>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10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par>
                          <p:cTn id="21" fill="hold">
                            <p:stCondLst>
                              <p:cond delay="2000"/>
                            </p:stCondLst>
                            <p:childTnLst>
                              <p:par>
                                <p:cTn id="22" presetID="42"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10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par>
                          <p:cTn id="32" fill="hold">
                            <p:stCondLst>
                              <p:cond delay="1000"/>
                            </p:stCondLst>
                            <p:childTnLst>
                              <p:par>
                                <p:cTn id="33" presetID="42" presetClass="entr" presetSubtype="0"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1000"/>
                                        <p:tgtEl>
                                          <p:spTgt spid="19"/>
                                        </p:tgtEl>
                                      </p:cBhvr>
                                    </p:animEffec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par>
                          <p:cTn id="43" fill="hold">
                            <p:stCondLst>
                              <p:cond delay="1000"/>
                            </p:stCondLst>
                            <p:childTnLst>
                              <p:par>
                                <p:cTn id="44" presetID="42" presetClass="entr" presetSubtype="0" fill="hold" nodeType="after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1000"/>
                                        <p:tgtEl>
                                          <p:spTgt spid="7"/>
                                        </p:tgtEl>
                                      </p:cBhvr>
                                    </p:animEffect>
                                    <p:anim calcmode="lin" valueType="num">
                                      <p:cBhvr>
                                        <p:cTn id="47" dur="1000" fill="hold"/>
                                        <p:tgtEl>
                                          <p:spTgt spid="7"/>
                                        </p:tgtEl>
                                        <p:attrNameLst>
                                          <p:attrName>ppt_x</p:attrName>
                                        </p:attrNameLst>
                                      </p:cBhvr>
                                      <p:tavLst>
                                        <p:tav tm="0">
                                          <p:val>
                                            <p:strVal val="#ppt_x"/>
                                          </p:val>
                                        </p:tav>
                                        <p:tav tm="100000">
                                          <p:val>
                                            <p:strVal val="#ppt_x"/>
                                          </p:val>
                                        </p:tav>
                                      </p:tavLst>
                                    </p:anim>
                                    <p:anim calcmode="lin" valueType="num">
                                      <p:cBhvr>
                                        <p:cTn id="4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wipe(left)">
                                      <p:cBhvr>
                                        <p:cTn id="53" dur="1000"/>
                                        <p:tgtEl>
                                          <p:spTgt spid="20"/>
                                        </p:tgtEl>
                                      </p:cBhvr>
                                    </p:animEffect>
                                  </p:childTnLst>
                                </p:cTn>
                              </p:par>
                            </p:childTnLst>
                          </p:cTn>
                        </p:par>
                        <p:par>
                          <p:cTn id="54" fill="hold">
                            <p:stCondLst>
                              <p:cond delay="1000"/>
                            </p:stCondLst>
                            <p:childTnLst>
                              <p:par>
                                <p:cTn id="55" presetID="42" presetClass="entr" presetSubtype="0" fill="hold" nodeType="after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fade">
                                      <p:cBhvr>
                                        <p:cTn id="57" dur="1000"/>
                                        <p:tgtEl>
                                          <p:spTgt spid="8"/>
                                        </p:tgtEl>
                                      </p:cBhvr>
                                    </p:animEffect>
                                    <p:anim calcmode="lin" valueType="num">
                                      <p:cBhvr>
                                        <p:cTn id="58" dur="1000" fill="hold"/>
                                        <p:tgtEl>
                                          <p:spTgt spid="8"/>
                                        </p:tgtEl>
                                        <p:attrNameLst>
                                          <p:attrName>ppt_x</p:attrName>
                                        </p:attrNameLst>
                                      </p:cBhvr>
                                      <p:tavLst>
                                        <p:tav tm="0">
                                          <p:val>
                                            <p:strVal val="#ppt_x"/>
                                          </p:val>
                                        </p:tav>
                                        <p:tav tm="100000">
                                          <p:val>
                                            <p:strVal val="#ppt_x"/>
                                          </p:val>
                                        </p:tav>
                                      </p:tavLst>
                                    </p:anim>
                                    <p:anim calcmode="lin" valueType="num">
                                      <p:cBhvr>
                                        <p:cTn id="5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5"/>
          <p:cNvGrpSpPr/>
          <p:nvPr/>
        </p:nvGrpSpPr>
        <p:grpSpPr>
          <a:xfrm>
            <a:off x="392432" y="712860"/>
            <a:ext cx="5724059" cy="420971"/>
            <a:chOff x="670560" y="892917"/>
            <a:chExt cx="5724059" cy="420971"/>
          </a:xfrm>
        </p:grpSpPr>
        <p:sp>
          <p:nvSpPr>
            <p:cNvPr id="3" name="矩形 2"/>
            <p:cNvSpPr/>
            <p:nvPr/>
          </p:nvSpPr>
          <p:spPr>
            <a:xfrm>
              <a:off x="1035233" y="913778"/>
              <a:ext cx="535938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集成双向移位寄存器</a:t>
              </a:r>
              <a:r>
                <a:rPr lang="en-US" altLang="zh-CN" sz="2000" b="1" dirty="0">
                  <a:solidFill>
                    <a:srgbClr val="002060"/>
                  </a:solidFill>
                  <a:latin typeface="微软雅黑" panose="020B0503020204020204" pitchFamily="34" charset="-122"/>
                  <a:ea typeface="微软雅黑" panose="020B0503020204020204" pitchFamily="34" charset="-122"/>
                </a:rPr>
                <a:t>74194</a:t>
              </a:r>
              <a:r>
                <a:rPr lang="zh-CN" altLang="en-US" sz="2000" b="1" dirty="0">
                  <a:solidFill>
                    <a:srgbClr val="002060"/>
                  </a:solidFill>
                  <a:latin typeface="微软雅黑" panose="020B0503020204020204" pitchFamily="34" charset="-122"/>
                  <a:ea typeface="微软雅黑" panose="020B0503020204020204" pitchFamily="34" charset="-122"/>
                </a:rPr>
                <a:t>的简单应用实例</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5298"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30" name="Rectangle 5"/>
          <p:cNvSpPr>
            <a:spLocks noChangeArrowheads="1"/>
          </p:cNvSpPr>
          <p:nvPr/>
        </p:nvSpPr>
        <p:spPr bwMode="auto">
          <a:xfrm>
            <a:off x="434975" y="1244600"/>
            <a:ext cx="2435282" cy="435825"/>
          </a:xfrm>
          <a:prstGeom prst="rect">
            <a:avLst/>
          </a:prstGeom>
          <a:noFill/>
          <a:ln w="9525" algn="ctr">
            <a:noFill/>
            <a:miter lim="800000"/>
          </a:ln>
        </p:spPr>
        <p:txBody>
          <a:bodyPr wrap="none">
            <a:spAutoFit/>
          </a:bodyPr>
          <a:lstStyle/>
          <a:p>
            <a:pPr algn="ctr">
              <a:lnSpc>
                <a:spcPct val="124000"/>
              </a:lnSpc>
              <a:spcBef>
                <a:spcPts val="300"/>
              </a:spcBef>
              <a:spcAft>
                <a:spcPts val="300"/>
              </a:spcAft>
            </a:pPr>
            <a:r>
              <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）构成环形计数器</a:t>
            </a:r>
            <a:endPar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3" name="组合 8"/>
          <p:cNvGrpSpPr/>
          <p:nvPr/>
        </p:nvGrpSpPr>
        <p:grpSpPr>
          <a:xfrm>
            <a:off x="714374" y="1857375"/>
            <a:ext cx="3419475" cy="1885950"/>
            <a:chOff x="714374" y="1857375"/>
            <a:chExt cx="3419475" cy="1885950"/>
          </a:xfrm>
        </p:grpSpPr>
        <p:graphicFrame>
          <p:nvGraphicFramePr>
            <p:cNvPr id="35" name="Object 1"/>
            <p:cNvGraphicFramePr>
              <a:graphicFrameLocks noChangeAspect="1"/>
            </p:cNvGraphicFramePr>
            <p:nvPr/>
          </p:nvGraphicFramePr>
          <p:xfrm>
            <a:off x="790575" y="1933575"/>
            <a:ext cx="3248025" cy="1809750"/>
          </p:xfrm>
          <a:graphic>
            <a:graphicData uri="http://schemas.openxmlformats.org/presentationml/2006/ole">
              <mc:AlternateContent xmlns:mc="http://schemas.openxmlformats.org/markup-compatibility/2006">
                <mc:Choice xmlns:v="urn:schemas-microsoft-com:vml" Requires="v">
                  <p:oleObj spid="_x0000_s25612" name="Visio" r:id="rId2" imgW="1399540" imgH="756285" progId="Visio.Drawing.11">
                    <p:embed/>
                  </p:oleObj>
                </mc:Choice>
                <mc:Fallback>
                  <p:oleObj name="Visio" r:id="rId2" imgW="1399540" imgH="75628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575" y="1933575"/>
                          <a:ext cx="3248025" cy="180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剪去对角的矩形 35"/>
            <p:cNvSpPr/>
            <p:nvPr/>
          </p:nvSpPr>
          <p:spPr>
            <a:xfrm>
              <a:off x="714374" y="1857375"/>
              <a:ext cx="3419475" cy="1885950"/>
            </a:xfrm>
            <a:prstGeom prst="snip2DiagRect">
              <a:avLst>
                <a:gd name="adj1" fmla="val 0"/>
                <a:gd name="adj2" fmla="val 10101"/>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14"/>
          <p:cNvGrpSpPr/>
          <p:nvPr/>
        </p:nvGrpSpPr>
        <p:grpSpPr>
          <a:xfrm>
            <a:off x="4540061" y="1657350"/>
            <a:ext cx="2156014" cy="638175"/>
            <a:chOff x="4578161" y="1619250"/>
            <a:chExt cx="1688806" cy="428625"/>
          </a:xfrm>
        </p:grpSpPr>
        <p:sp>
          <p:nvSpPr>
            <p:cNvPr id="38" name="椭圆 37"/>
            <p:cNvSpPr/>
            <p:nvPr/>
          </p:nvSpPr>
          <p:spPr>
            <a:xfrm>
              <a:off x="4578161" y="1619250"/>
              <a:ext cx="1089214" cy="428625"/>
            </a:xfrm>
            <a:prstGeom prst="ellipse">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Q</a:t>
              </a:r>
              <a:r>
                <a:rPr lang="en-US" altLang="zh-CN" sz="2000" b="1" baseline="-25000" dirty="0">
                  <a:solidFill>
                    <a:schemeClr val="tx1"/>
                  </a:solidFill>
                  <a:latin typeface="Times New Roman" panose="02020603050405020304" pitchFamily="18" charset="0"/>
                  <a:cs typeface="Times New Roman" panose="02020603050405020304" pitchFamily="18" charset="0"/>
                </a:rPr>
                <a:t>0</a:t>
              </a:r>
              <a:r>
                <a:rPr lang="en-US" altLang="zh-CN" sz="2000" b="1" i="1" dirty="0">
                  <a:solidFill>
                    <a:schemeClr val="tx1"/>
                  </a:solidFill>
                  <a:latin typeface="Times New Roman" panose="02020603050405020304" pitchFamily="18" charset="0"/>
                  <a:cs typeface="Times New Roman" panose="02020603050405020304" pitchFamily="18" charset="0"/>
                </a:rPr>
                <a:t>Q</a:t>
              </a:r>
              <a:r>
                <a:rPr lang="en-US" altLang="zh-CN" sz="2000" b="1" baseline="-25000" dirty="0">
                  <a:solidFill>
                    <a:schemeClr val="tx1"/>
                  </a:solidFill>
                  <a:latin typeface="Times New Roman" panose="02020603050405020304" pitchFamily="18" charset="0"/>
                  <a:cs typeface="Times New Roman" panose="02020603050405020304" pitchFamily="18" charset="0"/>
                </a:rPr>
                <a:t>1</a:t>
              </a:r>
              <a:r>
                <a:rPr lang="en-US" altLang="zh-CN" sz="2000" b="1" i="1" dirty="0">
                  <a:solidFill>
                    <a:schemeClr val="tx1"/>
                  </a:solidFill>
                  <a:latin typeface="Times New Roman" panose="02020603050405020304" pitchFamily="18" charset="0"/>
                  <a:cs typeface="Times New Roman" panose="02020603050405020304" pitchFamily="18" charset="0"/>
                </a:rPr>
                <a:t>Q</a:t>
              </a:r>
              <a:r>
                <a:rPr lang="en-US" altLang="zh-CN" sz="2000" b="1" baseline="-25000" dirty="0">
                  <a:solidFill>
                    <a:schemeClr val="tx1"/>
                  </a:solidFill>
                  <a:latin typeface="Times New Roman" panose="02020603050405020304" pitchFamily="18" charset="0"/>
                  <a:cs typeface="Times New Roman" panose="02020603050405020304" pitchFamily="18" charset="0"/>
                </a:rPr>
                <a:t>2</a:t>
              </a:r>
              <a:r>
                <a:rPr lang="en-US" altLang="zh-CN" sz="2000" b="1" i="1" dirty="0">
                  <a:solidFill>
                    <a:schemeClr val="tx1"/>
                  </a:solidFill>
                  <a:latin typeface="Times New Roman" panose="02020603050405020304" pitchFamily="18" charset="0"/>
                  <a:cs typeface="Times New Roman" panose="02020603050405020304" pitchFamily="18" charset="0"/>
                </a:rPr>
                <a:t>Q</a:t>
              </a:r>
              <a:r>
                <a:rPr lang="en-US" altLang="zh-CN" sz="2000" b="1" baseline="-25000" dirty="0">
                  <a:solidFill>
                    <a:schemeClr val="tx1"/>
                  </a:solidFill>
                  <a:latin typeface="Times New Roman" panose="02020603050405020304" pitchFamily="18" charset="0"/>
                  <a:cs typeface="Times New Roman" panose="02020603050405020304" pitchFamily="18" charset="0"/>
                </a:rPr>
                <a:t>3</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39" name="直接箭头连接符 38"/>
            <p:cNvCxnSpPr/>
            <p:nvPr/>
          </p:nvCxnSpPr>
          <p:spPr>
            <a:xfrm flipV="1">
              <a:off x="5680136" y="1842398"/>
              <a:ext cx="586831" cy="0"/>
            </a:xfrm>
            <a:prstGeom prst="straightConnector1">
              <a:avLst/>
            </a:prstGeom>
            <a:ln w="3810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40" name="椭圆 39"/>
          <p:cNvSpPr/>
          <p:nvPr/>
        </p:nvSpPr>
        <p:spPr>
          <a:xfrm>
            <a:off x="4667167" y="2519363"/>
            <a:ext cx="1104983" cy="372953"/>
          </a:xfrm>
          <a:prstGeom prst="ellipse">
            <a:avLst/>
          </a:prstGeom>
          <a:solidFill>
            <a:schemeClr val="bg1"/>
          </a:solidFill>
          <a:ln w="28575">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sz="2000" b="1" dirty="0">
                <a:solidFill>
                  <a:srgbClr val="FF0000"/>
                </a:solidFill>
                <a:latin typeface="Times New Roman" panose="02020603050405020304" pitchFamily="18" charset="0"/>
                <a:cs typeface="Times New Roman" panose="02020603050405020304" pitchFamily="18" charset="0"/>
              </a:rPr>
              <a:t>1</a:t>
            </a:r>
            <a:r>
              <a:rPr lang="en-US" altLang="zh-CN" sz="2000" b="1" dirty="0">
                <a:solidFill>
                  <a:srgbClr val="0000FF"/>
                </a:solidFill>
                <a:latin typeface="Times New Roman" panose="02020603050405020304" pitchFamily="18" charset="0"/>
                <a:cs typeface="Times New Roman" panose="02020603050405020304" pitchFamily="18" charset="0"/>
              </a:rPr>
              <a:t>0</a:t>
            </a:r>
            <a:r>
              <a:rPr lang="en-US" altLang="zh-CN" sz="2000" b="1" dirty="0">
                <a:solidFill>
                  <a:srgbClr val="C00000"/>
                </a:solidFill>
                <a:latin typeface="Times New Roman" panose="02020603050405020304" pitchFamily="18" charset="0"/>
                <a:cs typeface="Times New Roman" panose="02020603050405020304" pitchFamily="18" charset="0"/>
              </a:rPr>
              <a:t>0</a:t>
            </a:r>
            <a:r>
              <a:rPr lang="en-US" altLang="zh-CN" sz="2000" b="1" dirty="0">
                <a:solidFill>
                  <a:srgbClr val="00B0F0"/>
                </a:solidFill>
                <a:latin typeface="Times New Roman" panose="02020603050405020304" pitchFamily="18" charset="0"/>
                <a:cs typeface="Times New Roman" panose="02020603050405020304" pitchFamily="18" charset="0"/>
              </a:rPr>
              <a:t>0</a:t>
            </a:r>
            <a:endParaRPr lang="zh-CN" altLang="en-US" sz="2000" b="1" baseline="-25000" dirty="0">
              <a:solidFill>
                <a:srgbClr val="00B0F0"/>
              </a:solidFill>
              <a:latin typeface="Times New Roman" panose="02020603050405020304" pitchFamily="18" charset="0"/>
              <a:cs typeface="Times New Roman" panose="02020603050405020304" pitchFamily="18" charset="0"/>
            </a:endParaRPr>
          </a:p>
        </p:txBody>
      </p:sp>
      <p:sp>
        <p:nvSpPr>
          <p:cNvPr id="41" name="右中括号 40"/>
          <p:cNvSpPr/>
          <p:nvPr/>
        </p:nvSpPr>
        <p:spPr>
          <a:xfrm rot="5400000" flipH="1">
            <a:off x="5029198" y="1285872"/>
            <a:ext cx="333375" cy="828677"/>
          </a:xfrm>
          <a:prstGeom prst="rightBracket">
            <a:avLst>
              <a:gd name="adj" fmla="val 97143"/>
            </a:avLst>
          </a:prstGeom>
          <a:ln w="28575">
            <a:solidFill>
              <a:srgbClr val="FF00FF"/>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rgbClr val="FF00FF"/>
                </a:solidFill>
              </a:ln>
            </a:endParaRPr>
          </a:p>
        </p:txBody>
      </p:sp>
      <p:sp>
        <p:nvSpPr>
          <p:cNvPr id="42" name="右中括号 41"/>
          <p:cNvSpPr/>
          <p:nvPr/>
        </p:nvSpPr>
        <p:spPr>
          <a:xfrm rot="5400000" flipV="1">
            <a:off x="4869301" y="2134652"/>
            <a:ext cx="180000" cy="216000"/>
          </a:xfrm>
          <a:prstGeom prst="rightBracket">
            <a:avLst>
              <a:gd name="adj" fmla="val 72656"/>
            </a:avLst>
          </a:prstGeom>
          <a:ln w="28575">
            <a:solidFill>
              <a:srgbClr val="FF00FF"/>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rgbClr val="FF00FF"/>
                </a:solidFill>
              </a:ln>
            </a:endParaRPr>
          </a:p>
        </p:txBody>
      </p:sp>
      <p:sp>
        <p:nvSpPr>
          <p:cNvPr id="43" name="右中括号 42"/>
          <p:cNvSpPr/>
          <p:nvPr/>
        </p:nvSpPr>
        <p:spPr>
          <a:xfrm rot="5400000" flipV="1">
            <a:off x="5136002" y="2134653"/>
            <a:ext cx="180000" cy="216000"/>
          </a:xfrm>
          <a:prstGeom prst="rightBracket">
            <a:avLst>
              <a:gd name="adj" fmla="val 72656"/>
            </a:avLst>
          </a:prstGeom>
          <a:ln w="28575">
            <a:solidFill>
              <a:srgbClr val="FF00FF"/>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rgbClr val="FF00FF"/>
                </a:solidFill>
              </a:ln>
            </a:endParaRPr>
          </a:p>
        </p:txBody>
      </p:sp>
      <p:sp>
        <p:nvSpPr>
          <p:cNvPr id="44" name="右中括号 43"/>
          <p:cNvSpPr/>
          <p:nvPr/>
        </p:nvSpPr>
        <p:spPr>
          <a:xfrm rot="5400000" flipV="1">
            <a:off x="5421754" y="2125129"/>
            <a:ext cx="180000" cy="216000"/>
          </a:xfrm>
          <a:prstGeom prst="rightBracket">
            <a:avLst>
              <a:gd name="adj" fmla="val 72656"/>
            </a:avLst>
          </a:prstGeom>
          <a:ln w="28575">
            <a:solidFill>
              <a:srgbClr val="FF00FF"/>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rgbClr val="FF00FF"/>
                </a:solidFill>
              </a:ln>
            </a:endParaRPr>
          </a:p>
        </p:txBody>
      </p:sp>
      <p:cxnSp>
        <p:nvCxnSpPr>
          <p:cNvPr id="45" name="直接箭头连接符 44"/>
          <p:cNvCxnSpPr/>
          <p:nvPr/>
        </p:nvCxnSpPr>
        <p:spPr>
          <a:xfrm flipV="1">
            <a:off x="5775447" y="2705839"/>
            <a:ext cx="749178" cy="0"/>
          </a:xfrm>
          <a:prstGeom prst="straightConnector1">
            <a:avLst/>
          </a:prstGeom>
          <a:ln w="38100">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46" name="椭圆 45"/>
          <p:cNvSpPr/>
          <p:nvPr/>
        </p:nvSpPr>
        <p:spPr>
          <a:xfrm>
            <a:off x="6572167" y="2519363"/>
            <a:ext cx="1104983" cy="372953"/>
          </a:xfrm>
          <a:prstGeom prst="ellipse">
            <a:avLst/>
          </a:prstGeom>
          <a:solidFill>
            <a:schemeClr val="bg1"/>
          </a:solidFill>
          <a:ln w="28575">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sz="2000" b="1" dirty="0">
                <a:solidFill>
                  <a:srgbClr val="00B0F0"/>
                </a:solidFill>
                <a:latin typeface="Times New Roman" panose="02020603050405020304" pitchFamily="18" charset="0"/>
                <a:cs typeface="Times New Roman" panose="02020603050405020304" pitchFamily="18" charset="0"/>
              </a:rPr>
              <a:t>0</a:t>
            </a:r>
            <a:r>
              <a:rPr lang="en-US" altLang="zh-CN" sz="2000" b="1" dirty="0">
                <a:solidFill>
                  <a:srgbClr val="FF0000"/>
                </a:solidFill>
                <a:latin typeface="Times New Roman" panose="02020603050405020304" pitchFamily="18" charset="0"/>
                <a:cs typeface="Times New Roman" panose="02020603050405020304" pitchFamily="18" charset="0"/>
              </a:rPr>
              <a:t>1</a:t>
            </a:r>
            <a:r>
              <a:rPr lang="en-US" altLang="zh-CN" sz="2000" b="1" dirty="0">
                <a:solidFill>
                  <a:srgbClr val="0000FF"/>
                </a:solidFill>
                <a:latin typeface="Times New Roman" panose="02020603050405020304" pitchFamily="18" charset="0"/>
                <a:cs typeface="Times New Roman" panose="02020603050405020304" pitchFamily="18" charset="0"/>
              </a:rPr>
              <a:t>0</a:t>
            </a:r>
            <a:r>
              <a:rPr lang="en-US" altLang="zh-CN" sz="2000" b="1" dirty="0">
                <a:solidFill>
                  <a:srgbClr val="C00000"/>
                </a:solidFill>
                <a:latin typeface="Times New Roman" panose="02020603050405020304" pitchFamily="18" charset="0"/>
                <a:cs typeface="Times New Roman" panose="02020603050405020304" pitchFamily="18" charset="0"/>
              </a:rPr>
              <a:t>0</a:t>
            </a:r>
            <a:endParaRPr lang="zh-CN" altLang="en-US" sz="2000" b="1" baseline="-25000" dirty="0">
              <a:solidFill>
                <a:srgbClr val="00B0F0"/>
              </a:solidFill>
              <a:latin typeface="Times New Roman" panose="02020603050405020304" pitchFamily="18" charset="0"/>
              <a:cs typeface="Times New Roman" panose="02020603050405020304" pitchFamily="18" charset="0"/>
            </a:endParaRPr>
          </a:p>
        </p:txBody>
      </p:sp>
      <p:sp>
        <p:nvSpPr>
          <p:cNvPr id="47" name="椭圆 46"/>
          <p:cNvSpPr/>
          <p:nvPr/>
        </p:nvSpPr>
        <p:spPr>
          <a:xfrm>
            <a:off x="6572167" y="3324225"/>
            <a:ext cx="1104983" cy="372953"/>
          </a:xfrm>
          <a:prstGeom prst="ellipse">
            <a:avLst/>
          </a:prstGeom>
          <a:solidFill>
            <a:schemeClr val="bg1"/>
          </a:solidFill>
          <a:ln w="28575">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sz="2000" b="1" dirty="0">
                <a:solidFill>
                  <a:srgbClr val="C00000"/>
                </a:solidFill>
                <a:latin typeface="Times New Roman" panose="02020603050405020304" pitchFamily="18" charset="0"/>
                <a:cs typeface="Times New Roman" panose="02020603050405020304" pitchFamily="18" charset="0"/>
              </a:rPr>
              <a:t>0</a:t>
            </a:r>
            <a:r>
              <a:rPr lang="en-US" altLang="zh-CN" sz="2000" b="1" dirty="0">
                <a:solidFill>
                  <a:srgbClr val="00B0F0"/>
                </a:solidFill>
                <a:latin typeface="Times New Roman" panose="02020603050405020304" pitchFamily="18" charset="0"/>
                <a:cs typeface="Times New Roman" panose="02020603050405020304" pitchFamily="18" charset="0"/>
              </a:rPr>
              <a:t>0</a:t>
            </a:r>
            <a:r>
              <a:rPr lang="en-US" altLang="zh-CN" sz="2000" b="1" dirty="0">
                <a:solidFill>
                  <a:srgbClr val="FF0000"/>
                </a:solidFill>
                <a:latin typeface="Times New Roman" panose="02020603050405020304" pitchFamily="18" charset="0"/>
                <a:cs typeface="Times New Roman" panose="02020603050405020304" pitchFamily="18" charset="0"/>
              </a:rPr>
              <a:t>1</a:t>
            </a:r>
            <a:r>
              <a:rPr lang="en-US" altLang="zh-CN" sz="2000" b="1" dirty="0">
                <a:solidFill>
                  <a:srgbClr val="0000FF"/>
                </a:solidFill>
                <a:latin typeface="Times New Roman" panose="02020603050405020304" pitchFamily="18" charset="0"/>
                <a:cs typeface="Times New Roman" panose="02020603050405020304" pitchFamily="18" charset="0"/>
              </a:rPr>
              <a:t>0</a:t>
            </a:r>
            <a:endParaRPr lang="zh-CN" altLang="en-US" sz="2000" b="1" baseline="-25000" dirty="0">
              <a:solidFill>
                <a:srgbClr val="00B0F0"/>
              </a:solidFill>
              <a:latin typeface="Times New Roman" panose="02020603050405020304" pitchFamily="18" charset="0"/>
              <a:cs typeface="Times New Roman" panose="02020603050405020304" pitchFamily="18" charset="0"/>
            </a:endParaRPr>
          </a:p>
        </p:txBody>
      </p:sp>
      <p:sp>
        <p:nvSpPr>
          <p:cNvPr id="48" name="椭圆 47"/>
          <p:cNvSpPr/>
          <p:nvPr/>
        </p:nvSpPr>
        <p:spPr>
          <a:xfrm>
            <a:off x="4667167" y="3324225"/>
            <a:ext cx="1104983" cy="372953"/>
          </a:xfrm>
          <a:prstGeom prst="ellipse">
            <a:avLst/>
          </a:prstGeom>
          <a:solidFill>
            <a:schemeClr val="bg1"/>
          </a:solidFill>
          <a:ln w="28575">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sz="2000" b="1" dirty="0">
                <a:solidFill>
                  <a:srgbClr val="0000FF"/>
                </a:solidFill>
                <a:latin typeface="Times New Roman" panose="02020603050405020304" pitchFamily="18" charset="0"/>
                <a:cs typeface="Times New Roman" panose="02020603050405020304" pitchFamily="18" charset="0"/>
              </a:rPr>
              <a:t>0</a:t>
            </a:r>
            <a:r>
              <a:rPr lang="en-US" altLang="zh-CN" sz="2000" b="1" dirty="0">
                <a:solidFill>
                  <a:srgbClr val="C00000"/>
                </a:solidFill>
                <a:latin typeface="Times New Roman" panose="02020603050405020304" pitchFamily="18" charset="0"/>
                <a:cs typeface="Times New Roman" panose="02020603050405020304" pitchFamily="18" charset="0"/>
              </a:rPr>
              <a:t>0</a:t>
            </a:r>
            <a:r>
              <a:rPr lang="en-US" altLang="zh-CN" sz="2000" b="1" dirty="0">
                <a:solidFill>
                  <a:srgbClr val="00B0F0"/>
                </a:solidFill>
                <a:latin typeface="Times New Roman" panose="02020603050405020304" pitchFamily="18" charset="0"/>
                <a:cs typeface="Times New Roman" panose="02020603050405020304" pitchFamily="18" charset="0"/>
              </a:rPr>
              <a:t>0</a:t>
            </a:r>
            <a:r>
              <a:rPr lang="en-US" altLang="zh-CN" sz="2000" b="1" dirty="0">
                <a:solidFill>
                  <a:srgbClr val="FF0000"/>
                </a:solidFill>
                <a:latin typeface="Times New Roman" panose="02020603050405020304" pitchFamily="18" charset="0"/>
                <a:cs typeface="Times New Roman" panose="02020603050405020304" pitchFamily="18" charset="0"/>
              </a:rPr>
              <a:t>1</a:t>
            </a:r>
            <a:endParaRPr lang="zh-CN" altLang="en-US" sz="2000" b="1" baseline="-25000" dirty="0">
              <a:solidFill>
                <a:srgbClr val="00B0F0"/>
              </a:solidFill>
              <a:latin typeface="Times New Roman" panose="02020603050405020304" pitchFamily="18" charset="0"/>
              <a:cs typeface="Times New Roman" panose="02020603050405020304" pitchFamily="18" charset="0"/>
            </a:endParaRPr>
          </a:p>
        </p:txBody>
      </p:sp>
      <p:cxnSp>
        <p:nvCxnSpPr>
          <p:cNvPr id="49" name="直接箭头连接符 48"/>
          <p:cNvCxnSpPr>
            <a:endCxn id="47" idx="0"/>
          </p:cNvCxnSpPr>
          <p:nvPr/>
        </p:nvCxnSpPr>
        <p:spPr>
          <a:xfrm rot="16200000" flipH="1">
            <a:off x="6906687" y="3106253"/>
            <a:ext cx="429758" cy="6186"/>
          </a:xfrm>
          <a:prstGeom prst="straightConnector1">
            <a:avLst/>
          </a:prstGeom>
          <a:ln w="38100">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flipH="1" flipV="1">
            <a:off x="5784972" y="3515464"/>
            <a:ext cx="749178" cy="0"/>
          </a:xfrm>
          <a:prstGeom prst="straightConnector1">
            <a:avLst/>
          </a:prstGeom>
          <a:ln w="38100">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rot="5400000" flipH="1" flipV="1">
            <a:off x="5001687" y="3096728"/>
            <a:ext cx="429758" cy="6186"/>
          </a:xfrm>
          <a:prstGeom prst="straightConnector1">
            <a:avLst/>
          </a:prstGeom>
          <a:ln w="38100">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52" name="剪去对角的矩形 51"/>
          <p:cNvSpPr/>
          <p:nvPr/>
        </p:nvSpPr>
        <p:spPr>
          <a:xfrm>
            <a:off x="809625" y="4057650"/>
            <a:ext cx="7448550" cy="914400"/>
          </a:xfrm>
          <a:prstGeom prst="snip2DiagRect">
            <a:avLst/>
          </a:prstGeom>
          <a:solidFill>
            <a:schemeClr val="accent4">
              <a:alpha val="3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环形计数器的电路十分简单，</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位移位寄存器构成的环形计数器可以计</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个数，实现模</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计数器，且状态为</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的输出端的序号即代表收到的计数脉冲的个数，不需要任何译码电路 。</a:t>
            </a:r>
            <a:endPar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3" name="圆角矩形 52"/>
          <p:cNvSpPr/>
          <p:nvPr/>
        </p:nvSpPr>
        <p:spPr>
          <a:xfrm>
            <a:off x="1866723" y="3417412"/>
            <a:ext cx="1377921" cy="294968"/>
          </a:xfrm>
          <a:prstGeom prst="roundRect">
            <a:avLst/>
          </a:prstGeom>
          <a:solidFill>
            <a:schemeClr val="accent2">
              <a:alpha val="2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圆角矩形 53"/>
          <p:cNvSpPr/>
          <p:nvPr/>
        </p:nvSpPr>
        <p:spPr>
          <a:xfrm>
            <a:off x="1424975" y="3439183"/>
            <a:ext cx="349046" cy="264769"/>
          </a:xfrm>
          <a:prstGeom prst="roundRect">
            <a:avLst/>
          </a:prstGeom>
          <a:solidFill>
            <a:schemeClr val="accent2">
              <a:alpha val="2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5" name="组合 54"/>
          <p:cNvGrpSpPr/>
          <p:nvPr/>
        </p:nvGrpSpPr>
        <p:grpSpPr>
          <a:xfrm>
            <a:off x="1007201" y="1997349"/>
            <a:ext cx="2035182" cy="588637"/>
            <a:chOff x="1007201" y="1997349"/>
            <a:chExt cx="2035182" cy="588637"/>
          </a:xfrm>
        </p:grpSpPr>
        <p:grpSp>
          <p:nvGrpSpPr>
            <p:cNvPr id="56" name="组合 55"/>
            <p:cNvGrpSpPr/>
            <p:nvPr/>
          </p:nvGrpSpPr>
          <p:grpSpPr>
            <a:xfrm>
              <a:off x="1010713" y="1997349"/>
              <a:ext cx="2031670" cy="579830"/>
              <a:chOff x="3289694" y="2570560"/>
              <a:chExt cx="553717" cy="541569"/>
            </a:xfrm>
          </p:grpSpPr>
          <p:grpSp>
            <p:nvGrpSpPr>
              <p:cNvPr id="58" name="组合 32"/>
              <p:cNvGrpSpPr/>
              <p:nvPr/>
            </p:nvGrpSpPr>
            <p:grpSpPr>
              <a:xfrm flipV="1">
                <a:off x="3289694" y="2574137"/>
                <a:ext cx="553717" cy="537992"/>
                <a:chOff x="2939700" y="1910458"/>
                <a:chExt cx="177355" cy="1734392"/>
              </a:xfrm>
            </p:grpSpPr>
            <p:cxnSp>
              <p:nvCxnSpPr>
                <p:cNvPr id="60" name="直接连接符 59"/>
                <p:cNvCxnSpPr/>
                <p:nvPr/>
              </p:nvCxnSpPr>
              <p:spPr>
                <a:xfrm>
                  <a:off x="2940065" y="1910458"/>
                  <a:ext cx="0" cy="1734392"/>
                </a:xfrm>
                <a:prstGeom prst="line">
                  <a:avLst/>
                </a:prstGeom>
                <a:ln w="28575">
                  <a:solidFill>
                    <a:srgbClr val="CC00C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2939700" y="3611674"/>
                  <a:ext cx="177355" cy="0"/>
                </a:xfrm>
                <a:prstGeom prst="line">
                  <a:avLst/>
                </a:prstGeom>
                <a:ln w="28575">
                  <a:solidFill>
                    <a:srgbClr val="CC00C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59" name="直接连接符 58"/>
              <p:cNvCxnSpPr/>
              <p:nvPr/>
            </p:nvCxnSpPr>
            <p:spPr>
              <a:xfrm flipV="1">
                <a:off x="3840976" y="2570560"/>
                <a:ext cx="0" cy="268996"/>
              </a:xfrm>
              <a:prstGeom prst="line">
                <a:avLst/>
              </a:prstGeom>
              <a:ln w="28575">
                <a:solidFill>
                  <a:srgbClr val="CC00C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57" name="直接连接符 56"/>
            <p:cNvCxnSpPr/>
            <p:nvPr/>
          </p:nvCxnSpPr>
          <p:spPr>
            <a:xfrm flipV="1">
              <a:off x="1007201" y="2585986"/>
              <a:ext cx="288000" cy="0"/>
            </a:xfrm>
            <a:prstGeom prst="line">
              <a:avLst/>
            </a:prstGeom>
            <a:ln w="28575">
              <a:solidFill>
                <a:srgbClr val="CC00C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2" name="圆角矩形 61"/>
          <p:cNvSpPr/>
          <p:nvPr/>
        </p:nvSpPr>
        <p:spPr>
          <a:xfrm>
            <a:off x="3510817" y="2208746"/>
            <a:ext cx="530241" cy="732504"/>
          </a:xfrm>
          <a:prstGeom prst="roundRect">
            <a:avLst/>
          </a:prstGeom>
          <a:solidFill>
            <a:schemeClr val="accent2">
              <a:alpha val="2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1000"/>
                                        <p:tgtEl>
                                          <p:spTgt spid="30"/>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slide(fromBottom)">
                                      <p:cBhvr>
                                        <p:cTn id="11" dur="1000"/>
                                        <p:tgtEl>
                                          <p:spTgt spid="33"/>
                                        </p:tgtEl>
                                      </p:cBhvr>
                                    </p:animEffect>
                                  </p:childTnLst>
                                </p:cTn>
                              </p:par>
                            </p:childTnLst>
                          </p:cTn>
                        </p:par>
                        <p:par>
                          <p:cTn id="12" fill="hold">
                            <p:stCondLst>
                              <p:cond delay="2000"/>
                            </p:stCondLst>
                            <p:childTnLst>
                              <p:par>
                                <p:cTn id="13" presetID="23" presetClass="entr" presetSubtype="16" fill="hold" nodeType="afterEffect">
                                  <p:stCondLst>
                                    <p:cond delay="0"/>
                                  </p:stCondLst>
                                  <p:childTnLst>
                                    <p:set>
                                      <p:cBhvr>
                                        <p:cTn id="14" dur="1" fill="hold">
                                          <p:stCondLst>
                                            <p:cond delay="0"/>
                                          </p:stCondLst>
                                        </p:cTn>
                                        <p:tgtEl>
                                          <p:spTgt spid="55"/>
                                        </p:tgtEl>
                                        <p:attrNameLst>
                                          <p:attrName>style.visibility</p:attrName>
                                        </p:attrNameLst>
                                      </p:cBhvr>
                                      <p:to>
                                        <p:strVal val="visible"/>
                                      </p:to>
                                    </p:set>
                                    <p:anim calcmode="lin" valueType="num">
                                      <p:cBhvr>
                                        <p:cTn id="15" dur="1000" fill="hold"/>
                                        <p:tgtEl>
                                          <p:spTgt spid="55"/>
                                        </p:tgtEl>
                                        <p:attrNameLst>
                                          <p:attrName>ppt_w</p:attrName>
                                        </p:attrNameLst>
                                      </p:cBhvr>
                                      <p:tavLst>
                                        <p:tav tm="0">
                                          <p:val>
                                            <p:fltVal val="0"/>
                                          </p:val>
                                        </p:tav>
                                        <p:tav tm="100000">
                                          <p:val>
                                            <p:strVal val="#ppt_w"/>
                                          </p:val>
                                        </p:tav>
                                      </p:tavLst>
                                    </p:anim>
                                    <p:anim calcmode="lin" valueType="num">
                                      <p:cBhvr>
                                        <p:cTn id="16" dur="1000" fill="hold"/>
                                        <p:tgtEl>
                                          <p:spTgt spid="55"/>
                                        </p:tgtEl>
                                        <p:attrNameLst>
                                          <p:attrName>ppt_h</p:attrName>
                                        </p:attrNameLst>
                                      </p:cBhvr>
                                      <p:tavLst>
                                        <p:tav tm="0">
                                          <p:val>
                                            <p:fltVal val="0"/>
                                          </p:val>
                                        </p:tav>
                                        <p:tav tm="100000">
                                          <p:val>
                                            <p:strVal val="#ppt_h"/>
                                          </p:val>
                                        </p:tav>
                                      </p:tavLst>
                                    </p:anim>
                                  </p:childTnLst>
                                </p:cTn>
                              </p:par>
                            </p:childTnLst>
                          </p:cTn>
                        </p:par>
                        <p:par>
                          <p:cTn id="17" fill="hold">
                            <p:stCondLst>
                              <p:cond delay="3000"/>
                            </p:stCondLst>
                            <p:childTnLst>
                              <p:par>
                                <p:cTn id="18" presetID="23" presetClass="entr" presetSubtype="16" fill="hold" grpId="0" nodeType="afterEffect">
                                  <p:stCondLst>
                                    <p:cond delay="0"/>
                                  </p:stCondLst>
                                  <p:childTnLst>
                                    <p:set>
                                      <p:cBhvr>
                                        <p:cTn id="19" dur="1" fill="hold">
                                          <p:stCondLst>
                                            <p:cond delay="0"/>
                                          </p:stCondLst>
                                        </p:cTn>
                                        <p:tgtEl>
                                          <p:spTgt spid="54"/>
                                        </p:tgtEl>
                                        <p:attrNameLst>
                                          <p:attrName>style.visibility</p:attrName>
                                        </p:attrNameLst>
                                      </p:cBhvr>
                                      <p:to>
                                        <p:strVal val="visible"/>
                                      </p:to>
                                    </p:set>
                                    <p:anim calcmode="lin" valueType="num">
                                      <p:cBhvr>
                                        <p:cTn id="20" dur="1000" fill="hold"/>
                                        <p:tgtEl>
                                          <p:spTgt spid="54"/>
                                        </p:tgtEl>
                                        <p:attrNameLst>
                                          <p:attrName>ppt_w</p:attrName>
                                        </p:attrNameLst>
                                      </p:cBhvr>
                                      <p:tavLst>
                                        <p:tav tm="0">
                                          <p:val>
                                            <p:fltVal val="0"/>
                                          </p:val>
                                        </p:tav>
                                        <p:tav tm="100000">
                                          <p:val>
                                            <p:strVal val="#ppt_w"/>
                                          </p:val>
                                        </p:tav>
                                      </p:tavLst>
                                    </p:anim>
                                    <p:anim calcmode="lin" valueType="num">
                                      <p:cBhvr>
                                        <p:cTn id="21" dur="1000" fill="hold"/>
                                        <p:tgtEl>
                                          <p:spTgt spid="54"/>
                                        </p:tgtEl>
                                        <p:attrNameLst>
                                          <p:attrName>ppt_h</p:attrName>
                                        </p:attrNameLst>
                                      </p:cBhvr>
                                      <p:tavLst>
                                        <p:tav tm="0">
                                          <p:val>
                                            <p:fltVal val="0"/>
                                          </p:val>
                                        </p:tav>
                                        <p:tav tm="100000">
                                          <p:val>
                                            <p:strVal val="#ppt_h"/>
                                          </p:val>
                                        </p:tav>
                                      </p:tavLst>
                                    </p:anim>
                                  </p:childTnLst>
                                </p:cTn>
                              </p:par>
                            </p:childTnLst>
                          </p:cTn>
                        </p:par>
                        <p:par>
                          <p:cTn id="22" fill="hold">
                            <p:stCondLst>
                              <p:cond delay="4000"/>
                            </p:stCondLst>
                            <p:childTnLst>
                              <p:par>
                                <p:cTn id="23" presetID="23" presetClass="entr" presetSubtype="16" fill="hold" grpId="0" nodeType="afterEffect">
                                  <p:stCondLst>
                                    <p:cond delay="0"/>
                                  </p:stCondLst>
                                  <p:childTnLst>
                                    <p:set>
                                      <p:cBhvr>
                                        <p:cTn id="24" dur="1" fill="hold">
                                          <p:stCondLst>
                                            <p:cond delay="0"/>
                                          </p:stCondLst>
                                        </p:cTn>
                                        <p:tgtEl>
                                          <p:spTgt spid="62"/>
                                        </p:tgtEl>
                                        <p:attrNameLst>
                                          <p:attrName>style.visibility</p:attrName>
                                        </p:attrNameLst>
                                      </p:cBhvr>
                                      <p:to>
                                        <p:strVal val="visible"/>
                                      </p:to>
                                    </p:set>
                                    <p:anim calcmode="lin" valueType="num">
                                      <p:cBhvr>
                                        <p:cTn id="25" dur="1000" fill="hold"/>
                                        <p:tgtEl>
                                          <p:spTgt spid="62"/>
                                        </p:tgtEl>
                                        <p:attrNameLst>
                                          <p:attrName>ppt_w</p:attrName>
                                        </p:attrNameLst>
                                      </p:cBhvr>
                                      <p:tavLst>
                                        <p:tav tm="0">
                                          <p:val>
                                            <p:fltVal val="0"/>
                                          </p:val>
                                        </p:tav>
                                        <p:tav tm="100000">
                                          <p:val>
                                            <p:strVal val="#ppt_w"/>
                                          </p:val>
                                        </p:tav>
                                      </p:tavLst>
                                    </p:anim>
                                    <p:anim calcmode="lin" valueType="num">
                                      <p:cBhvr>
                                        <p:cTn id="26" dur="1000" fill="hold"/>
                                        <p:tgtEl>
                                          <p:spTgt spid="62"/>
                                        </p:tgtEl>
                                        <p:attrNameLst>
                                          <p:attrName>ppt_h</p:attrName>
                                        </p:attrNameLst>
                                      </p:cBhvr>
                                      <p:tavLst>
                                        <p:tav tm="0">
                                          <p:val>
                                            <p:fltVal val="0"/>
                                          </p:val>
                                        </p:tav>
                                        <p:tav tm="100000">
                                          <p:val>
                                            <p:strVal val="#ppt_h"/>
                                          </p:val>
                                        </p:tav>
                                      </p:tavLst>
                                    </p:anim>
                                  </p:childTnLst>
                                </p:cTn>
                              </p:par>
                            </p:childTnLst>
                          </p:cTn>
                        </p:par>
                        <p:par>
                          <p:cTn id="27" fill="hold">
                            <p:stCondLst>
                              <p:cond delay="5000"/>
                            </p:stCondLst>
                            <p:childTnLst>
                              <p:par>
                                <p:cTn id="28" presetID="23" presetClass="entr" presetSubtype="16" fill="hold" grpId="0" nodeType="afterEffect">
                                  <p:stCondLst>
                                    <p:cond delay="0"/>
                                  </p:stCondLst>
                                  <p:childTnLst>
                                    <p:set>
                                      <p:cBhvr>
                                        <p:cTn id="29" dur="1" fill="hold">
                                          <p:stCondLst>
                                            <p:cond delay="0"/>
                                          </p:stCondLst>
                                        </p:cTn>
                                        <p:tgtEl>
                                          <p:spTgt spid="53"/>
                                        </p:tgtEl>
                                        <p:attrNameLst>
                                          <p:attrName>style.visibility</p:attrName>
                                        </p:attrNameLst>
                                      </p:cBhvr>
                                      <p:to>
                                        <p:strVal val="visible"/>
                                      </p:to>
                                    </p:set>
                                    <p:anim calcmode="lin" valueType="num">
                                      <p:cBhvr>
                                        <p:cTn id="30" dur="1000" fill="hold"/>
                                        <p:tgtEl>
                                          <p:spTgt spid="53"/>
                                        </p:tgtEl>
                                        <p:attrNameLst>
                                          <p:attrName>ppt_w</p:attrName>
                                        </p:attrNameLst>
                                      </p:cBhvr>
                                      <p:tavLst>
                                        <p:tav tm="0">
                                          <p:val>
                                            <p:fltVal val="0"/>
                                          </p:val>
                                        </p:tav>
                                        <p:tav tm="100000">
                                          <p:val>
                                            <p:strVal val="#ppt_w"/>
                                          </p:val>
                                        </p:tav>
                                      </p:tavLst>
                                    </p:anim>
                                    <p:anim calcmode="lin" valueType="num">
                                      <p:cBhvr>
                                        <p:cTn id="31" dur="10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2" presetClass="entr" presetSubtype="8" fill="hold" nodeType="click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slide(fromLeft)">
                                      <p:cBhvr>
                                        <p:cTn id="36" dur="1000"/>
                                        <p:tgtEl>
                                          <p:spTgt spid="3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wipe(left)">
                                      <p:cBhvr>
                                        <p:cTn id="41" dur="1000"/>
                                        <p:tgtEl>
                                          <p:spTgt spid="4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grpId="0" nodeType="click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wipe(right)">
                                      <p:cBhvr>
                                        <p:cTn id="46" dur="1000"/>
                                        <p:tgtEl>
                                          <p:spTgt spid="41"/>
                                        </p:tgtEl>
                                      </p:cBhvr>
                                    </p:animEffec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wipe(left)">
                                      <p:cBhvr>
                                        <p:cTn id="50" dur="1000"/>
                                        <p:tgtEl>
                                          <p:spTgt spid="42"/>
                                        </p:tgtEl>
                                      </p:cBhvr>
                                    </p:animEffect>
                                  </p:childTnLst>
                                </p:cTn>
                              </p:par>
                            </p:childTnLst>
                          </p:cTn>
                        </p:par>
                        <p:par>
                          <p:cTn id="51" fill="hold">
                            <p:stCondLst>
                              <p:cond delay="2000"/>
                            </p:stCondLst>
                            <p:childTnLst>
                              <p:par>
                                <p:cTn id="52" presetID="22" presetClass="entr" presetSubtype="8" fill="hold" grpId="0" nodeType="after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wipe(left)">
                                      <p:cBhvr>
                                        <p:cTn id="54" dur="1000"/>
                                        <p:tgtEl>
                                          <p:spTgt spid="43"/>
                                        </p:tgtEl>
                                      </p:cBhvr>
                                    </p:animEffect>
                                  </p:childTnLst>
                                </p:cTn>
                              </p:par>
                            </p:childTnLst>
                          </p:cTn>
                        </p:par>
                        <p:par>
                          <p:cTn id="55" fill="hold">
                            <p:stCondLst>
                              <p:cond delay="3000"/>
                            </p:stCondLst>
                            <p:childTnLst>
                              <p:par>
                                <p:cTn id="56" presetID="22" presetClass="entr" presetSubtype="8" fill="hold" grpId="0" nodeType="afterEffect">
                                  <p:stCondLst>
                                    <p:cond delay="0"/>
                                  </p:stCondLst>
                                  <p:childTnLst>
                                    <p:set>
                                      <p:cBhvr>
                                        <p:cTn id="57" dur="1" fill="hold">
                                          <p:stCondLst>
                                            <p:cond delay="0"/>
                                          </p:stCondLst>
                                        </p:cTn>
                                        <p:tgtEl>
                                          <p:spTgt spid="44"/>
                                        </p:tgtEl>
                                        <p:attrNameLst>
                                          <p:attrName>style.visibility</p:attrName>
                                        </p:attrNameLst>
                                      </p:cBhvr>
                                      <p:to>
                                        <p:strVal val="visible"/>
                                      </p:to>
                                    </p:set>
                                    <p:animEffect transition="in" filter="wipe(left)">
                                      <p:cBhvr>
                                        <p:cTn id="58" dur="1000"/>
                                        <p:tgtEl>
                                          <p:spTgt spid="44"/>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8" fill="hold" nodeType="click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slide(fromLeft)">
                                      <p:cBhvr>
                                        <p:cTn id="63" dur="1000"/>
                                        <p:tgtEl>
                                          <p:spTgt spid="45"/>
                                        </p:tgtEl>
                                      </p:cBhvr>
                                    </p:animEffect>
                                  </p:childTnLst>
                                </p:cTn>
                              </p:par>
                            </p:childTnLst>
                          </p:cTn>
                        </p:par>
                        <p:par>
                          <p:cTn id="64" fill="hold">
                            <p:stCondLst>
                              <p:cond delay="1000"/>
                            </p:stCondLst>
                            <p:childTnLst>
                              <p:par>
                                <p:cTn id="65" presetID="22" presetClass="entr" presetSubtype="8" fill="hold" grpId="0" nodeType="afterEffect">
                                  <p:stCondLst>
                                    <p:cond delay="0"/>
                                  </p:stCondLst>
                                  <p:childTnLst>
                                    <p:set>
                                      <p:cBhvr>
                                        <p:cTn id="66" dur="1" fill="hold">
                                          <p:stCondLst>
                                            <p:cond delay="0"/>
                                          </p:stCondLst>
                                        </p:cTn>
                                        <p:tgtEl>
                                          <p:spTgt spid="46"/>
                                        </p:tgtEl>
                                        <p:attrNameLst>
                                          <p:attrName>style.visibility</p:attrName>
                                        </p:attrNameLst>
                                      </p:cBhvr>
                                      <p:to>
                                        <p:strVal val="visible"/>
                                      </p:to>
                                    </p:set>
                                    <p:animEffect transition="in" filter="wipe(left)">
                                      <p:cBhvr>
                                        <p:cTn id="67" dur="1000"/>
                                        <p:tgtEl>
                                          <p:spTgt spid="46"/>
                                        </p:tgtEl>
                                      </p:cBhvr>
                                    </p:animEffect>
                                  </p:childTnLst>
                                </p:cTn>
                              </p:par>
                            </p:childTnLst>
                          </p:cTn>
                        </p:par>
                        <p:par>
                          <p:cTn id="68" fill="hold">
                            <p:stCondLst>
                              <p:cond delay="2000"/>
                            </p:stCondLst>
                            <p:childTnLst>
                              <p:par>
                                <p:cTn id="69" presetID="12" presetClass="entr" presetSubtype="1" fill="hold" nodeType="afterEffect">
                                  <p:stCondLst>
                                    <p:cond delay="0"/>
                                  </p:stCondLst>
                                  <p:childTnLst>
                                    <p:set>
                                      <p:cBhvr>
                                        <p:cTn id="70" dur="1" fill="hold">
                                          <p:stCondLst>
                                            <p:cond delay="0"/>
                                          </p:stCondLst>
                                        </p:cTn>
                                        <p:tgtEl>
                                          <p:spTgt spid="49"/>
                                        </p:tgtEl>
                                        <p:attrNameLst>
                                          <p:attrName>style.visibility</p:attrName>
                                        </p:attrNameLst>
                                      </p:cBhvr>
                                      <p:to>
                                        <p:strVal val="visible"/>
                                      </p:to>
                                    </p:set>
                                    <p:animEffect transition="in" filter="slide(fromTop)">
                                      <p:cBhvr>
                                        <p:cTn id="71" dur="1000"/>
                                        <p:tgtEl>
                                          <p:spTgt spid="49"/>
                                        </p:tgtEl>
                                      </p:cBhvr>
                                    </p:animEffect>
                                  </p:childTnLst>
                                </p:cTn>
                              </p:par>
                            </p:childTnLst>
                          </p:cTn>
                        </p:par>
                        <p:par>
                          <p:cTn id="72" fill="hold">
                            <p:stCondLst>
                              <p:cond delay="3000"/>
                            </p:stCondLst>
                            <p:childTnLst>
                              <p:par>
                                <p:cTn id="73" presetID="22" presetClass="entr" presetSubtype="1" fill="hold" grpId="0" nodeType="afterEffect">
                                  <p:stCondLst>
                                    <p:cond delay="0"/>
                                  </p:stCondLst>
                                  <p:childTnLst>
                                    <p:set>
                                      <p:cBhvr>
                                        <p:cTn id="74" dur="1" fill="hold">
                                          <p:stCondLst>
                                            <p:cond delay="0"/>
                                          </p:stCondLst>
                                        </p:cTn>
                                        <p:tgtEl>
                                          <p:spTgt spid="47"/>
                                        </p:tgtEl>
                                        <p:attrNameLst>
                                          <p:attrName>style.visibility</p:attrName>
                                        </p:attrNameLst>
                                      </p:cBhvr>
                                      <p:to>
                                        <p:strVal val="visible"/>
                                      </p:to>
                                    </p:set>
                                    <p:animEffect transition="in" filter="wipe(up)">
                                      <p:cBhvr>
                                        <p:cTn id="75" dur="1000"/>
                                        <p:tgtEl>
                                          <p:spTgt spid="47"/>
                                        </p:tgtEl>
                                      </p:cBhvr>
                                    </p:animEffect>
                                  </p:childTnLst>
                                </p:cTn>
                              </p:par>
                            </p:childTnLst>
                          </p:cTn>
                        </p:par>
                        <p:par>
                          <p:cTn id="76" fill="hold">
                            <p:stCondLst>
                              <p:cond delay="4000"/>
                            </p:stCondLst>
                            <p:childTnLst>
                              <p:par>
                                <p:cTn id="77" presetID="12" presetClass="entr" presetSubtype="2" fill="hold" nodeType="afterEffect">
                                  <p:stCondLst>
                                    <p:cond delay="0"/>
                                  </p:stCondLst>
                                  <p:childTnLst>
                                    <p:set>
                                      <p:cBhvr>
                                        <p:cTn id="78" dur="1" fill="hold">
                                          <p:stCondLst>
                                            <p:cond delay="0"/>
                                          </p:stCondLst>
                                        </p:cTn>
                                        <p:tgtEl>
                                          <p:spTgt spid="50"/>
                                        </p:tgtEl>
                                        <p:attrNameLst>
                                          <p:attrName>style.visibility</p:attrName>
                                        </p:attrNameLst>
                                      </p:cBhvr>
                                      <p:to>
                                        <p:strVal val="visible"/>
                                      </p:to>
                                    </p:set>
                                    <p:animEffect transition="in" filter="slide(fromRight)">
                                      <p:cBhvr>
                                        <p:cTn id="79" dur="1000"/>
                                        <p:tgtEl>
                                          <p:spTgt spid="50"/>
                                        </p:tgtEl>
                                      </p:cBhvr>
                                    </p:animEffect>
                                  </p:childTnLst>
                                </p:cTn>
                              </p:par>
                            </p:childTnLst>
                          </p:cTn>
                        </p:par>
                        <p:par>
                          <p:cTn id="80" fill="hold">
                            <p:stCondLst>
                              <p:cond delay="5000"/>
                            </p:stCondLst>
                            <p:childTnLst>
                              <p:par>
                                <p:cTn id="81" presetID="22" presetClass="entr" presetSubtype="2" fill="hold" grpId="0" nodeType="afterEffect">
                                  <p:stCondLst>
                                    <p:cond delay="0"/>
                                  </p:stCondLst>
                                  <p:childTnLst>
                                    <p:set>
                                      <p:cBhvr>
                                        <p:cTn id="82" dur="1" fill="hold">
                                          <p:stCondLst>
                                            <p:cond delay="0"/>
                                          </p:stCondLst>
                                        </p:cTn>
                                        <p:tgtEl>
                                          <p:spTgt spid="48"/>
                                        </p:tgtEl>
                                        <p:attrNameLst>
                                          <p:attrName>style.visibility</p:attrName>
                                        </p:attrNameLst>
                                      </p:cBhvr>
                                      <p:to>
                                        <p:strVal val="visible"/>
                                      </p:to>
                                    </p:set>
                                    <p:animEffect transition="in" filter="wipe(right)">
                                      <p:cBhvr>
                                        <p:cTn id="83" dur="1000"/>
                                        <p:tgtEl>
                                          <p:spTgt spid="48"/>
                                        </p:tgtEl>
                                      </p:cBhvr>
                                    </p:animEffect>
                                  </p:childTnLst>
                                </p:cTn>
                              </p:par>
                            </p:childTnLst>
                          </p:cTn>
                        </p:par>
                        <p:par>
                          <p:cTn id="84" fill="hold">
                            <p:stCondLst>
                              <p:cond delay="6000"/>
                            </p:stCondLst>
                            <p:childTnLst>
                              <p:par>
                                <p:cTn id="85" presetID="12" presetClass="entr" presetSubtype="4" fill="hold" nodeType="afterEffect">
                                  <p:stCondLst>
                                    <p:cond delay="0"/>
                                  </p:stCondLst>
                                  <p:childTnLst>
                                    <p:set>
                                      <p:cBhvr>
                                        <p:cTn id="86" dur="1" fill="hold">
                                          <p:stCondLst>
                                            <p:cond delay="0"/>
                                          </p:stCondLst>
                                        </p:cTn>
                                        <p:tgtEl>
                                          <p:spTgt spid="51"/>
                                        </p:tgtEl>
                                        <p:attrNameLst>
                                          <p:attrName>style.visibility</p:attrName>
                                        </p:attrNameLst>
                                      </p:cBhvr>
                                      <p:to>
                                        <p:strVal val="visible"/>
                                      </p:to>
                                    </p:set>
                                    <p:anim calcmode="lin" valueType="num">
                                      <p:cBhvr additive="base">
                                        <p:cTn id="87" dur="1000"/>
                                        <p:tgtEl>
                                          <p:spTgt spid="51"/>
                                        </p:tgtEl>
                                        <p:attrNameLst>
                                          <p:attrName>ppt_y</p:attrName>
                                        </p:attrNameLst>
                                      </p:cBhvr>
                                      <p:tavLst>
                                        <p:tav tm="0">
                                          <p:val>
                                            <p:strVal val="#ppt_y+#ppt_h*1.125000"/>
                                          </p:val>
                                        </p:tav>
                                        <p:tav tm="100000">
                                          <p:val>
                                            <p:strVal val="#ppt_y"/>
                                          </p:val>
                                        </p:tav>
                                      </p:tavLst>
                                    </p:anim>
                                    <p:animEffect transition="in" filter="wipe(up)">
                                      <p:cBhvr>
                                        <p:cTn id="88" dur="1000"/>
                                        <p:tgtEl>
                                          <p:spTgt spid="51"/>
                                        </p:tgtEl>
                                      </p:cBhvr>
                                    </p:animEffect>
                                  </p:childTnLst>
                                </p:cTn>
                              </p:par>
                            </p:childTnLst>
                          </p:cTn>
                        </p:par>
                      </p:childTnLst>
                    </p:cTn>
                  </p:par>
                  <p:par>
                    <p:cTn id="89" fill="hold">
                      <p:stCondLst>
                        <p:cond delay="indefinite"/>
                      </p:stCondLst>
                      <p:childTnLst>
                        <p:par>
                          <p:cTn id="90" fill="hold">
                            <p:stCondLst>
                              <p:cond delay="0"/>
                            </p:stCondLst>
                            <p:childTnLst>
                              <p:par>
                                <p:cTn id="91" presetID="12" presetClass="entr" presetSubtype="4" fill="hold" grpId="0" nodeType="clickEffect">
                                  <p:stCondLst>
                                    <p:cond delay="0"/>
                                  </p:stCondLst>
                                  <p:childTnLst>
                                    <p:set>
                                      <p:cBhvr>
                                        <p:cTn id="92" dur="1" fill="hold">
                                          <p:stCondLst>
                                            <p:cond delay="0"/>
                                          </p:stCondLst>
                                        </p:cTn>
                                        <p:tgtEl>
                                          <p:spTgt spid="52"/>
                                        </p:tgtEl>
                                        <p:attrNameLst>
                                          <p:attrName>style.visibility</p:attrName>
                                        </p:attrNameLst>
                                      </p:cBhvr>
                                      <p:to>
                                        <p:strVal val="visible"/>
                                      </p:to>
                                    </p:set>
                                    <p:animEffect transition="in" filter="slide(fromBottom)">
                                      <p:cBhvr>
                                        <p:cTn id="93" dur="1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40" grpId="0" animBg="1"/>
      <p:bldP spid="41" grpId="0" animBg="1"/>
      <p:bldP spid="42" grpId="0" animBg="1"/>
      <p:bldP spid="43" grpId="0" animBg="1"/>
      <p:bldP spid="44" grpId="0" animBg="1"/>
      <p:bldP spid="46" grpId="0" animBg="1"/>
      <p:bldP spid="47" grpId="0" animBg="1"/>
      <p:bldP spid="48" grpId="0" animBg="1"/>
      <p:bldP spid="52" grpId="0" animBg="1"/>
      <p:bldP spid="53" grpId="0" animBg="1"/>
      <p:bldP spid="54" grpId="0" animBg="1"/>
      <p:bldP spid="6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组合 35"/>
          <p:cNvGrpSpPr/>
          <p:nvPr/>
        </p:nvGrpSpPr>
        <p:grpSpPr>
          <a:xfrm>
            <a:off x="392432" y="712860"/>
            <a:ext cx="5724059" cy="420971"/>
            <a:chOff x="670560" y="892917"/>
            <a:chExt cx="5724059" cy="420971"/>
          </a:xfrm>
        </p:grpSpPr>
        <p:sp>
          <p:nvSpPr>
            <p:cNvPr id="54" name="矩形 53"/>
            <p:cNvSpPr/>
            <p:nvPr/>
          </p:nvSpPr>
          <p:spPr>
            <a:xfrm>
              <a:off x="1035233" y="913778"/>
              <a:ext cx="535938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集成双向移位寄存器</a:t>
              </a:r>
              <a:r>
                <a:rPr lang="en-US" altLang="zh-CN" sz="2000" b="1" dirty="0">
                  <a:solidFill>
                    <a:srgbClr val="002060"/>
                  </a:solidFill>
                  <a:latin typeface="微软雅黑" panose="020B0503020204020204" pitchFamily="34" charset="-122"/>
                  <a:ea typeface="微软雅黑" panose="020B0503020204020204" pitchFamily="34" charset="-122"/>
                </a:rPr>
                <a:t>74194</a:t>
              </a:r>
              <a:r>
                <a:rPr lang="zh-CN" altLang="en-US" sz="2000" b="1" dirty="0">
                  <a:solidFill>
                    <a:srgbClr val="002060"/>
                  </a:solidFill>
                  <a:latin typeface="微软雅黑" panose="020B0503020204020204" pitchFamily="34" charset="-122"/>
                  <a:ea typeface="微软雅黑" panose="020B0503020204020204" pitchFamily="34" charset="-122"/>
                </a:rPr>
                <a:t>的简单应用实例</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56"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7" name="Rectangle 5"/>
          <p:cNvSpPr>
            <a:spLocks noChangeArrowheads="1"/>
          </p:cNvSpPr>
          <p:nvPr/>
        </p:nvSpPr>
        <p:spPr bwMode="auto">
          <a:xfrm>
            <a:off x="434975" y="1244600"/>
            <a:ext cx="2608406" cy="435825"/>
          </a:xfrm>
          <a:prstGeom prst="rect">
            <a:avLst/>
          </a:prstGeom>
          <a:noFill/>
          <a:ln w="9525" algn="ctr">
            <a:noFill/>
            <a:miter lim="800000"/>
          </a:ln>
        </p:spPr>
        <p:txBody>
          <a:bodyPr wrap="none">
            <a:spAutoFit/>
          </a:bodyPr>
          <a:lstStyle/>
          <a:p>
            <a:pPr algn="ctr">
              <a:lnSpc>
                <a:spcPct val="124000"/>
              </a:lnSpc>
              <a:spcBef>
                <a:spcPts val="300"/>
              </a:spcBef>
              <a:spcAft>
                <a:spcPts val="300"/>
              </a:spcAft>
            </a:pPr>
            <a:r>
              <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）构成扭环形计数器</a:t>
            </a:r>
            <a:endPar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58" name="组合 5"/>
          <p:cNvGrpSpPr/>
          <p:nvPr/>
        </p:nvGrpSpPr>
        <p:grpSpPr>
          <a:xfrm>
            <a:off x="714374" y="1857375"/>
            <a:ext cx="3419475" cy="1889125"/>
            <a:chOff x="714374" y="1857375"/>
            <a:chExt cx="3419475" cy="1889125"/>
          </a:xfrm>
        </p:grpSpPr>
        <p:graphicFrame>
          <p:nvGraphicFramePr>
            <p:cNvPr id="59" name="Object 1"/>
            <p:cNvGraphicFramePr>
              <a:graphicFrameLocks noChangeAspect="1"/>
            </p:cNvGraphicFramePr>
            <p:nvPr/>
          </p:nvGraphicFramePr>
          <p:xfrm>
            <a:off x="793750" y="1892300"/>
            <a:ext cx="3244850" cy="1854200"/>
          </p:xfrm>
          <a:graphic>
            <a:graphicData uri="http://schemas.openxmlformats.org/presentationml/2006/ole">
              <mc:AlternateContent xmlns:mc="http://schemas.openxmlformats.org/markup-compatibility/2006">
                <mc:Choice xmlns:v="urn:schemas-microsoft-com:vml" Requires="v">
                  <p:oleObj spid="_x0000_s26636" name="Visio" r:id="rId2" imgW="1399540" imgH="795020" progId="Visio.Drawing.11">
                    <p:embed/>
                  </p:oleObj>
                </mc:Choice>
                <mc:Fallback>
                  <p:oleObj name="Visio" r:id="rId2" imgW="1399540" imgH="79502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750" y="1892300"/>
                          <a:ext cx="3244850" cy="185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 name="剪去对角的矩形 59"/>
            <p:cNvSpPr/>
            <p:nvPr/>
          </p:nvSpPr>
          <p:spPr>
            <a:xfrm>
              <a:off x="714374" y="1857375"/>
              <a:ext cx="3419475" cy="1885950"/>
            </a:xfrm>
            <a:prstGeom prst="snip2DiagRect">
              <a:avLst>
                <a:gd name="adj1" fmla="val 0"/>
                <a:gd name="adj2" fmla="val 10101"/>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1" name="组合 8"/>
          <p:cNvGrpSpPr/>
          <p:nvPr/>
        </p:nvGrpSpPr>
        <p:grpSpPr>
          <a:xfrm>
            <a:off x="4565461" y="1397000"/>
            <a:ext cx="2156014" cy="638175"/>
            <a:chOff x="4578161" y="1619250"/>
            <a:chExt cx="1688806" cy="428625"/>
          </a:xfrm>
        </p:grpSpPr>
        <p:sp>
          <p:nvSpPr>
            <p:cNvPr id="62" name="椭圆 61"/>
            <p:cNvSpPr/>
            <p:nvPr/>
          </p:nvSpPr>
          <p:spPr>
            <a:xfrm>
              <a:off x="4578161" y="1619250"/>
              <a:ext cx="1089214" cy="428625"/>
            </a:xfrm>
            <a:prstGeom prst="ellipse">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Q</a:t>
              </a:r>
              <a:r>
                <a:rPr lang="en-US" altLang="zh-CN" sz="2000" b="1" baseline="-25000" dirty="0">
                  <a:solidFill>
                    <a:schemeClr val="tx1"/>
                  </a:solidFill>
                  <a:latin typeface="Times New Roman" panose="02020603050405020304" pitchFamily="18" charset="0"/>
                  <a:cs typeface="Times New Roman" panose="02020603050405020304" pitchFamily="18" charset="0"/>
                </a:rPr>
                <a:t>0</a:t>
              </a:r>
              <a:r>
                <a:rPr lang="en-US" altLang="zh-CN" sz="2000" b="1" i="1" dirty="0">
                  <a:solidFill>
                    <a:schemeClr val="tx1"/>
                  </a:solidFill>
                  <a:latin typeface="Times New Roman" panose="02020603050405020304" pitchFamily="18" charset="0"/>
                  <a:cs typeface="Times New Roman" panose="02020603050405020304" pitchFamily="18" charset="0"/>
                </a:rPr>
                <a:t>Q</a:t>
              </a:r>
              <a:r>
                <a:rPr lang="en-US" altLang="zh-CN" sz="2000" b="1" baseline="-25000" dirty="0">
                  <a:solidFill>
                    <a:schemeClr val="tx1"/>
                  </a:solidFill>
                  <a:latin typeface="Times New Roman" panose="02020603050405020304" pitchFamily="18" charset="0"/>
                  <a:cs typeface="Times New Roman" panose="02020603050405020304" pitchFamily="18" charset="0"/>
                </a:rPr>
                <a:t>1</a:t>
              </a:r>
              <a:r>
                <a:rPr lang="en-US" altLang="zh-CN" sz="2000" b="1" i="1" dirty="0">
                  <a:solidFill>
                    <a:schemeClr val="tx1"/>
                  </a:solidFill>
                  <a:latin typeface="Times New Roman" panose="02020603050405020304" pitchFamily="18" charset="0"/>
                  <a:cs typeface="Times New Roman" panose="02020603050405020304" pitchFamily="18" charset="0"/>
                </a:rPr>
                <a:t>Q</a:t>
              </a:r>
              <a:r>
                <a:rPr lang="en-US" altLang="zh-CN" sz="2000" b="1" baseline="-25000" dirty="0">
                  <a:solidFill>
                    <a:schemeClr val="tx1"/>
                  </a:solidFill>
                  <a:latin typeface="Times New Roman" panose="02020603050405020304" pitchFamily="18" charset="0"/>
                  <a:cs typeface="Times New Roman" panose="02020603050405020304" pitchFamily="18" charset="0"/>
                </a:rPr>
                <a:t>2</a:t>
              </a:r>
              <a:r>
                <a:rPr lang="en-US" altLang="zh-CN" sz="2000" b="1" i="1" dirty="0">
                  <a:solidFill>
                    <a:schemeClr val="tx1"/>
                  </a:solidFill>
                  <a:latin typeface="Times New Roman" panose="02020603050405020304" pitchFamily="18" charset="0"/>
                  <a:cs typeface="Times New Roman" panose="02020603050405020304" pitchFamily="18" charset="0"/>
                </a:rPr>
                <a:t>Q</a:t>
              </a:r>
              <a:r>
                <a:rPr lang="en-US" altLang="zh-CN" sz="2000" b="1" baseline="-25000" dirty="0">
                  <a:solidFill>
                    <a:schemeClr val="tx1"/>
                  </a:solidFill>
                  <a:latin typeface="Times New Roman" panose="02020603050405020304" pitchFamily="18" charset="0"/>
                  <a:cs typeface="Times New Roman" panose="02020603050405020304" pitchFamily="18" charset="0"/>
                </a:rPr>
                <a:t>3</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63" name="直接箭头连接符 62"/>
            <p:cNvCxnSpPr/>
            <p:nvPr/>
          </p:nvCxnSpPr>
          <p:spPr>
            <a:xfrm flipV="1">
              <a:off x="5680136" y="1842398"/>
              <a:ext cx="586831" cy="0"/>
            </a:xfrm>
            <a:prstGeom prst="straightConnector1">
              <a:avLst/>
            </a:prstGeom>
            <a:ln w="3810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64" name="右中括号 63"/>
          <p:cNvSpPr/>
          <p:nvPr/>
        </p:nvSpPr>
        <p:spPr>
          <a:xfrm rot="5400000" flipV="1">
            <a:off x="4894701" y="1874302"/>
            <a:ext cx="180000" cy="216000"/>
          </a:xfrm>
          <a:prstGeom prst="rightBracket">
            <a:avLst>
              <a:gd name="adj" fmla="val 72656"/>
            </a:avLst>
          </a:prstGeom>
          <a:ln w="28575">
            <a:solidFill>
              <a:srgbClr val="FF00FF"/>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rgbClr val="FF00FF"/>
                </a:solidFill>
              </a:ln>
            </a:endParaRPr>
          </a:p>
        </p:txBody>
      </p:sp>
      <p:sp>
        <p:nvSpPr>
          <p:cNvPr id="65" name="右中括号 64"/>
          <p:cNvSpPr/>
          <p:nvPr/>
        </p:nvSpPr>
        <p:spPr>
          <a:xfrm rot="5400000" flipV="1">
            <a:off x="5161402" y="1874303"/>
            <a:ext cx="180000" cy="216000"/>
          </a:xfrm>
          <a:prstGeom prst="rightBracket">
            <a:avLst>
              <a:gd name="adj" fmla="val 72656"/>
            </a:avLst>
          </a:prstGeom>
          <a:ln w="28575">
            <a:solidFill>
              <a:srgbClr val="FF00FF"/>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rgbClr val="FF00FF"/>
                </a:solidFill>
              </a:ln>
            </a:endParaRPr>
          </a:p>
        </p:txBody>
      </p:sp>
      <p:sp>
        <p:nvSpPr>
          <p:cNvPr id="66" name="右中括号 65"/>
          <p:cNvSpPr/>
          <p:nvPr/>
        </p:nvSpPr>
        <p:spPr>
          <a:xfrm rot="5400000" flipV="1">
            <a:off x="5447154" y="1864779"/>
            <a:ext cx="180000" cy="216000"/>
          </a:xfrm>
          <a:prstGeom prst="rightBracket">
            <a:avLst>
              <a:gd name="adj" fmla="val 72656"/>
            </a:avLst>
          </a:prstGeom>
          <a:ln w="28575">
            <a:solidFill>
              <a:srgbClr val="FF00FF"/>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rgbClr val="FF00FF"/>
                </a:solidFill>
              </a:ln>
            </a:endParaRPr>
          </a:p>
        </p:txBody>
      </p:sp>
      <p:grpSp>
        <p:nvGrpSpPr>
          <p:cNvPr id="67" name="组合 25"/>
          <p:cNvGrpSpPr/>
          <p:nvPr/>
        </p:nvGrpSpPr>
        <p:grpSpPr>
          <a:xfrm>
            <a:off x="4838697" y="1098550"/>
            <a:ext cx="828677" cy="476248"/>
            <a:chOff x="4781547" y="1390650"/>
            <a:chExt cx="828677" cy="476248"/>
          </a:xfrm>
        </p:grpSpPr>
        <p:sp>
          <p:nvSpPr>
            <p:cNvPr id="68" name="右中括号 67"/>
            <p:cNvSpPr/>
            <p:nvPr/>
          </p:nvSpPr>
          <p:spPr>
            <a:xfrm rot="5400000" flipH="1">
              <a:off x="5029198" y="1285872"/>
              <a:ext cx="333375" cy="828677"/>
            </a:xfrm>
            <a:prstGeom prst="rightBracket">
              <a:avLst>
                <a:gd name="adj" fmla="val 97143"/>
              </a:avLst>
            </a:prstGeom>
            <a:ln w="28575">
              <a:solidFill>
                <a:srgbClr val="FF00FF"/>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rgbClr val="FF00FF"/>
                  </a:solidFill>
                </a:ln>
              </a:endParaRPr>
            </a:p>
          </p:txBody>
        </p:sp>
        <p:sp>
          <p:nvSpPr>
            <p:cNvPr id="69" name="矩形 68"/>
            <p:cNvSpPr/>
            <p:nvPr/>
          </p:nvSpPr>
          <p:spPr>
            <a:xfrm>
              <a:off x="5111750" y="1390650"/>
              <a:ext cx="177800" cy="247650"/>
            </a:xfrm>
            <a:prstGeom prst="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Times New Roman" panose="02020603050405020304" pitchFamily="18" charset="0"/>
                  <a:cs typeface="Times New Roman" panose="02020603050405020304" pitchFamily="18" charset="0"/>
                </a:rPr>
                <a:t>1</a:t>
              </a:r>
              <a:endParaRPr lang="zh-CN" altLang="en-US" sz="1600" dirty="0">
                <a:solidFill>
                  <a:schemeClr val="tx1"/>
                </a:solidFill>
                <a:latin typeface="Times New Roman" panose="02020603050405020304" pitchFamily="18" charset="0"/>
                <a:cs typeface="Times New Roman" panose="02020603050405020304" pitchFamily="18" charset="0"/>
              </a:endParaRPr>
            </a:p>
          </p:txBody>
        </p:sp>
        <p:sp>
          <p:nvSpPr>
            <p:cNvPr id="70" name="椭圆 69"/>
            <p:cNvSpPr/>
            <p:nvPr/>
          </p:nvSpPr>
          <p:spPr>
            <a:xfrm>
              <a:off x="5041900" y="1492250"/>
              <a:ext cx="72000" cy="72000"/>
            </a:xfrm>
            <a:prstGeom prst="ellipse">
              <a:avLst/>
            </a:prstGeom>
            <a:solidFill>
              <a:schemeClr val="bg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1" name="椭圆 70"/>
          <p:cNvSpPr/>
          <p:nvPr/>
        </p:nvSpPr>
        <p:spPr>
          <a:xfrm>
            <a:off x="4692567" y="2405063"/>
            <a:ext cx="609683" cy="372953"/>
          </a:xfrm>
          <a:prstGeom prst="ellipse">
            <a:avLst/>
          </a:prstGeom>
          <a:solidFill>
            <a:schemeClr val="bg1"/>
          </a:solidFill>
          <a:ln w="28575">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b="1" dirty="0">
                <a:solidFill>
                  <a:srgbClr val="FF0000"/>
                </a:solidFill>
                <a:latin typeface="Times New Roman" panose="02020603050405020304" pitchFamily="18" charset="0"/>
                <a:cs typeface="Times New Roman" panose="02020603050405020304" pitchFamily="18" charset="0"/>
              </a:rPr>
              <a:t>0000</a:t>
            </a:r>
            <a:endParaRPr lang="zh-CN" altLang="en-US" b="1" baseline="-25000" dirty="0">
              <a:solidFill>
                <a:srgbClr val="00B0F0"/>
              </a:solidFill>
              <a:latin typeface="Times New Roman" panose="02020603050405020304" pitchFamily="18" charset="0"/>
              <a:cs typeface="Times New Roman" panose="02020603050405020304" pitchFamily="18" charset="0"/>
            </a:endParaRPr>
          </a:p>
        </p:txBody>
      </p:sp>
      <p:grpSp>
        <p:nvGrpSpPr>
          <p:cNvPr id="72" name="组合 46"/>
          <p:cNvGrpSpPr/>
          <p:nvPr/>
        </p:nvGrpSpPr>
        <p:grpSpPr>
          <a:xfrm>
            <a:off x="5315867" y="2405063"/>
            <a:ext cx="1055300" cy="372953"/>
            <a:chOff x="5315867" y="2271713"/>
            <a:chExt cx="1055300" cy="372953"/>
          </a:xfrm>
        </p:grpSpPr>
        <p:cxnSp>
          <p:nvCxnSpPr>
            <p:cNvPr id="73" name="直接箭头连接符 72"/>
            <p:cNvCxnSpPr/>
            <p:nvPr/>
          </p:nvCxnSpPr>
          <p:spPr>
            <a:xfrm flipV="1">
              <a:off x="5315867" y="2458189"/>
              <a:ext cx="432000" cy="0"/>
            </a:xfrm>
            <a:prstGeom prst="straightConnector1">
              <a:avLst/>
            </a:prstGeom>
            <a:ln w="38100">
              <a:solidFill>
                <a:schemeClr val="accent1">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74" name="椭圆 73"/>
            <p:cNvSpPr/>
            <p:nvPr/>
          </p:nvSpPr>
          <p:spPr>
            <a:xfrm>
              <a:off x="5761484" y="2271713"/>
              <a:ext cx="609683" cy="372953"/>
            </a:xfrm>
            <a:prstGeom prst="ellipse">
              <a:avLst/>
            </a:prstGeom>
            <a:solidFill>
              <a:schemeClr val="bg1"/>
            </a:solidFill>
            <a:ln w="28575">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b="1" dirty="0">
                  <a:solidFill>
                    <a:srgbClr val="0000FF"/>
                  </a:solidFill>
                  <a:latin typeface="Times New Roman" panose="02020603050405020304" pitchFamily="18" charset="0"/>
                  <a:cs typeface="Times New Roman" panose="02020603050405020304" pitchFamily="18" charset="0"/>
                </a:rPr>
                <a:t>1</a:t>
              </a:r>
              <a:r>
                <a:rPr lang="en-US" altLang="zh-CN" b="1" dirty="0">
                  <a:solidFill>
                    <a:srgbClr val="FF0000"/>
                  </a:solidFill>
                  <a:latin typeface="Times New Roman" panose="02020603050405020304" pitchFamily="18" charset="0"/>
                  <a:cs typeface="Times New Roman" panose="02020603050405020304" pitchFamily="18" charset="0"/>
                </a:rPr>
                <a:t>000</a:t>
              </a:r>
              <a:endParaRPr lang="zh-CN" altLang="en-US" b="1" baseline="-25000" dirty="0">
                <a:solidFill>
                  <a:srgbClr val="FF0000"/>
                </a:solidFill>
                <a:latin typeface="Times New Roman" panose="02020603050405020304" pitchFamily="18" charset="0"/>
                <a:cs typeface="Times New Roman" panose="02020603050405020304" pitchFamily="18" charset="0"/>
              </a:endParaRPr>
            </a:p>
          </p:txBody>
        </p:sp>
      </p:grpSp>
      <p:grpSp>
        <p:nvGrpSpPr>
          <p:cNvPr id="75" name="组合 47"/>
          <p:cNvGrpSpPr/>
          <p:nvPr/>
        </p:nvGrpSpPr>
        <p:grpSpPr>
          <a:xfrm>
            <a:off x="6384784" y="2405063"/>
            <a:ext cx="1055300" cy="372953"/>
            <a:chOff x="6384784" y="2271713"/>
            <a:chExt cx="1055300" cy="372953"/>
          </a:xfrm>
        </p:grpSpPr>
        <p:cxnSp>
          <p:nvCxnSpPr>
            <p:cNvPr id="76" name="直接箭头连接符 75"/>
            <p:cNvCxnSpPr/>
            <p:nvPr/>
          </p:nvCxnSpPr>
          <p:spPr>
            <a:xfrm flipV="1">
              <a:off x="6384784" y="2458189"/>
              <a:ext cx="432000" cy="0"/>
            </a:xfrm>
            <a:prstGeom prst="straightConnector1">
              <a:avLst/>
            </a:prstGeom>
            <a:ln w="38100">
              <a:solidFill>
                <a:schemeClr val="accent1">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77" name="椭圆 76"/>
            <p:cNvSpPr/>
            <p:nvPr/>
          </p:nvSpPr>
          <p:spPr>
            <a:xfrm>
              <a:off x="6830401" y="2271713"/>
              <a:ext cx="609683" cy="372953"/>
            </a:xfrm>
            <a:prstGeom prst="ellipse">
              <a:avLst/>
            </a:prstGeom>
            <a:solidFill>
              <a:schemeClr val="bg1"/>
            </a:solidFill>
            <a:ln w="28575">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b="1" dirty="0">
                  <a:solidFill>
                    <a:srgbClr val="0000FF"/>
                  </a:solidFill>
                  <a:latin typeface="Times New Roman" panose="02020603050405020304" pitchFamily="18" charset="0"/>
                  <a:cs typeface="Times New Roman" panose="02020603050405020304" pitchFamily="18" charset="0"/>
                </a:rPr>
                <a:t>11</a:t>
              </a:r>
              <a:r>
                <a:rPr lang="en-US" altLang="zh-CN" b="1" dirty="0">
                  <a:solidFill>
                    <a:srgbClr val="FF0000"/>
                  </a:solidFill>
                  <a:latin typeface="Times New Roman" panose="02020603050405020304" pitchFamily="18" charset="0"/>
                  <a:cs typeface="Times New Roman" panose="02020603050405020304" pitchFamily="18" charset="0"/>
                </a:rPr>
                <a:t>00</a:t>
              </a:r>
              <a:endParaRPr lang="zh-CN" altLang="en-US" b="1" baseline="-25000" dirty="0">
                <a:solidFill>
                  <a:srgbClr val="FF0000"/>
                </a:solidFill>
                <a:latin typeface="Times New Roman" panose="02020603050405020304" pitchFamily="18" charset="0"/>
                <a:cs typeface="Times New Roman" panose="02020603050405020304" pitchFamily="18" charset="0"/>
              </a:endParaRPr>
            </a:p>
          </p:txBody>
        </p:sp>
      </p:grpSp>
      <p:grpSp>
        <p:nvGrpSpPr>
          <p:cNvPr id="78" name="组合 48"/>
          <p:cNvGrpSpPr/>
          <p:nvPr/>
        </p:nvGrpSpPr>
        <p:grpSpPr>
          <a:xfrm>
            <a:off x="7453701" y="2405063"/>
            <a:ext cx="1055299" cy="372953"/>
            <a:chOff x="7453701" y="2271713"/>
            <a:chExt cx="1055299" cy="372953"/>
          </a:xfrm>
        </p:grpSpPr>
        <p:cxnSp>
          <p:nvCxnSpPr>
            <p:cNvPr id="79" name="直接箭头连接符 78"/>
            <p:cNvCxnSpPr/>
            <p:nvPr/>
          </p:nvCxnSpPr>
          <p:spPr>
            <a:xfrm flipV="1">
              <a:off x="7453701" y="2458189"/>
              <a:ext cx="432000" cy="0"/>
            </a:xfrm>
            <a:prstGeom prst="straightConnector1">
              <a:avLst/>
            </a:prstGeom>
            <a:ln w="38100">
              <a:solidFill>
                <a:schemeClr val="accent1">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80" name="椭圆 79"/>
            <p:cNvSpPr/>
            <p:nvPr/>
          </p:nvSpPr>
          <p:spPr>
            <a:xfrm>
              <a:off x="7899317" y="2271713"/>
              <a:ext cx="609683" cy="372953"/>
            </a:xfrm>
            <a:prstGeom prst="ellipse">
              <a:avLst/>
            </a:prstGeom>
            <a:solidFill>
              <a:schemeClr val="bg1"/>
            </a:solidFill>
            <a:ln w="28575">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b="1" dirty="0">
                  <a:solidFill>
                    <a:srgbClr val="0000FF"/>
                  </a:solidFill>
                  <a:latin typeface="Times New Roman" panose="02020603050405020304" pitchFamily="18" charset="0"/>
                  <a:cs typeface="Times New Roman" panose="02020603050405020304" pitchFamily="18" charset="0"/>
                </a:rPr>
                <a:t>111</a:t>
              </a:r>
              <a:r>
                <a:rPr lang="en-US" altLang="zh-CN" b="1" dirty="0">
                  <a:solidFill>
                    <a:srgbClr val="FF0000"/>
                  </a:solidFill>
                  <a:latin typeface="Times New Roman" panose="02020603050405020304" pitchFamily="18" charset="0"/>
                  <a:cs typeface="Times New Roman" panose="02020603050405020304" pitchFamily="18" charset="0"/>
                </a:rPr>
                <a:t>0</a:t>
              </a:r>
              <a:endParaRPr lang="zh-CN" altLang="en-US" b="1" baseline="-25000" dirty="0">
                <a:solidFill>
                  <a:srgbClr val="FF0000"/>
                </a:solidFill>
                <a:latin typeface="Times New Roman" panose="02020603050405020304" pitchFamily="18" charset="0"/>
                <a:cs typeface="Times New Roman" panose="02020603050405020304" pitchFamily="18" charset="0"/>
              </a:endParaRPr>
            </a:p>
          </p:txBody>
        </p:sp>
      </p:grpSp>
      <p:grpSp>
        <p:nvGrpSpPr>
          <p:cNvPr id="81" name="组合 50"/>
          <p:cNvGrpSpPr/>
          <p:nvPr/>
        </p:nvGrpSpPr>
        <p:grpSpPr>
          <a:xfrm>
            <a:off x="6830400" y="3090863"/>
            <a:ext cx="1055300" cy="372953"/>
            <a:chOff x="6830400" y="2957513"/>
            <a:chExt cx="1055300" cy="372953"/>
          </a:xfrm>
        </p:grpSpPr>
        <p:cxnSp>
          <p:nvCxnSpPr>
            <p:cNvPr id="82" name="直接箭头连接符 81"/>
            <p:cNvCxnSpPr/>
            <p:nvPr/>
          </p:nvCxnSpPr>
          <p:spPr>
            <a:xfrm flipH="1" flipV="1">
              <a:off x="7453700" y="3143989"/>
              <a:ext cx="432000" cy="0"/>
            </a:xfrm>
            <a:prstGeom prst="straightConnector1">
              <a:avLst/>
            </a:prstGeom>
            <a:ln w="38100">
              <a:solidFill>
                <a:schemeClr val="accent1">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83" name="椭圆 82"/>
            <p:cNvSpPr/>
            <p:nvPr/>
          </p:nvSpPr>
          <p:spPr>
            <a:xfrm flipH="1">
              <a:off x="6830400" y="2957513"/>
              <a:ext cx="609683" cy="372953"/>
            </a:xfrm>
            <a:prstGeom prst="ellipse">
              <a:avLst/>
            </a:prstGeom>
            <a:solidFill>
              <a:schemeClr val="bg1"/>
            </a:solidFill>
            <a:ln w="28575">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b="1" dirty="0">
                  <a:solidFill>
                    <a:srgbClr val="FF0000"/>
                  </a:solidFill>
                  <a:latin typeface="Times New Roman" panose="02020603050405020304" pitchFamily="18" charset="0"/>
                  <a:cs typeface="Times New Roman" panose="02020603050405020304" pitchFamily="18" charset="0"/>
                </a:rPr>
                <a:t>0</a:t>
              </a:r>
              <a:r>
                <a:rPr lang="en-US" altLang="zh-CN" b="1" dirty="0">
                  <a:solidFill>
                    <a:srgbClr val="0000FF"/>
                  </a:solidFill>
                  <a:latin typeface="Times New Roman" panose="02020603050405020304" pitchFamily="18" charset="0"/>
                  <a:cs typeface="Times New Roman" panose="02020603050405020304" pitchFamily="18" charset="0"/>
                </a:rPr>
                <a:t>111</a:t>
              </a:r>
              <a:endParaRPr lang="zh-CN" altLang="en-US" b="1" baseline="-25000" dirty="0">
                <a:solidFill>
                  <a:srgbClr val="FF0000"/>
                </a:solidFill>
                <a:latin typeface="Times New Roman" panose="02020603050405020304" pitchFamily="18" charset="0"/>
                <a:cs typeface="Times New Roman" panose="02020603050405020304" pitchFamily="18" charset="0"/>
              </a:endParaRPr>
            </a:p>
          </p:txBody>
        </p:sp>
      </p:grpSp>
      <p:grpSp>
        <p:nvGrpSpPr>
          <p:cNvPr id="84" name="组合 51"/>
          <p:cNvGrpSpPr/>
          <p:nvPr/>
        </p:nvGrpSpPr>
        <p:grpSpPr>
          <a:xfrm>
            <a:off x="5761483" y="3090863"/>
            <a:ext cx="1055300" cy="372953"/>
            <a:chOff x="5761483" y="2957513"/>
            <a:chExt cx="1055300" cy="372953"/>
          </a:xfrm>
        </p:grpSpPr>
        <p:cxnSp>
          <p:nvCxnSpPr>
            <p:cNvPr id="85" name="直接箭头连接符 84"/>
            <p:cNvCxnSpPr/>
            <p:nvPr/>
          </p:nvCxnSpPr>
          <p:spPr>
            <a:xfrm flipH="1" flipV="1">
              <a:off x="6384783" y="3143989"/>
              <a:ext cx="432000" cy="0"/>
            </a:xfrm>
            <a:prstGeom prst="straightConnector1">
              <a:avLst/>
            </a:prstGeom>
            <a:ln w="38100">
              <a:solidFill>
                <a:schemeClr val="accent1">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86" name="椭圆 85"/>
            <p:cNvSpPr/>
            <p:nvPr/>
          </p:nvSpPr>
          <p:spPr>
            <a:xfrm flipH="1">
              <a:off x="5761483" y="2957513"/>
              <a:ext cx="609683" cy="372953"/>
            </a:xfrm>
            <a:prstGeom prst="ellipse">
              <a:avLst/>
            </a:prstGeom>
            <a:solidFill>
              <a:schemeClr val="bg1"/>
            </a:solidFill>
            <a:ln w="28575">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b="1" dirty="0">
                  <a:solidFill>
                    <a:srgbClr val="FF0000"/>
                  </a:solidFill>
                  <a:latin typeface="Times New Roman" panose="02020603050405020304" pitchFamily="18" charset="0"/>
                  <a:cs typeface="Times New Roman" panose="02020603050405020304" pitchFamily="18" charset="0"/>
                </a:rPr>
                <a:t>00</a:t>
              </a:r>
              <a:r>
                <a:rPr lang="en-US" altLang="zh-CN" b="1" dirty="0">
                  <a:solidFill>
                    <a:srgbClr val="0000FF"/>
                  </a:solidFill>
                  <a:latin typeface="Times New Roman" panose="02020603050405020304" pitchFamily="18" charset="0"/>
                  <a:cs typeface="Times New Roman" panose="02020603050405020304" pitchFamily="18" charset="0"/>
                </a:rPr>
                <a:t>11</a:t>
              </a:r>
              <a:endParaRPr lang="zh-CN" altLang="en-US" b="1" baseline="-25000" dirty="0">
                <a:solidFill>
                  <a:srgbClr val="FF0000"/>
                </a:solidFill>
                <a:latin typeface="Times New Roman" panose="02020603050405020304" pitchFamily="18" charset="0"/>
                <a:cs typeface="Times New Roman" panose="02020603050405020304" pitchFamily="18" charset="0"/>
              </a:endParaRPr>
            </a:p>
          </p:txBody>
        </p:sp>
      </p:grpSp>
      <p:grpSp>
        <p:nvGrpSpPr>
          <p:cNvPr id="87" name="组合 52"/>
          <p:cNvGrpSpPr/>
          <p:nvPr/>
        </p:nvGrpSpPr>
        <p:grpSpPr>
          <a:xfrm>
            <a:off x="4692567" y="3090863"/>
            <a:ext cx="1055299" cy="372953"/>
            <a:chOff x="4692567" y="2957513"/>
            <a:chExt cx="1055299" cy="372953"/>
          </a:xfrm>
        </p:grpSpPr>
        <p:cxnSp>
          <p:nvCxnSpPr>
            <p:cNvPr id="88" name="直接箭头连接符 87"/>
            <p:cNvCxnSpPr/>
            <p:nvPr/>
          </p:nvCxnSpPr>
          <p:spPr>
            <a:xfrm flipH="1" flipV="1">
              <a:off x="5315866" y="3143989"/>
              <a:ext cx="432000" cy="0"/>
            </a:xfrm>
            <a:prstGeom prst="straightConnector1">
              <a:avLst/>
            </a:prstGeom>
            <a:ln w="38100">
              <a:solidFill>
                <a:schemeClr val="accent1">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89" name="椭圆 88"/>
            <p:cNvSpPr/>
            <p:nvPr/>
          </p:nvSpPr>
          <p:spPr>
            <a:xfrm flipH="1">
              <a:off x="4692567" y="2957513"/>
              <a:ext cx="609683" cy="372953"/>
            </a:xfrm>
            <a:prstGeom prst="ellipse">
              <a:avLst/>
            </a:prstGeom>
            <a:solidFill>
              <a:schemeClr val="bg1"/>
            </a:solidFill>
            <a:ln w="28575">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b="1" dirty="0">
                  <a:solidFill>
                    <a:srgbClr val="FF0000"/>
                  </a:solidFill>
                  <a:latin typeface="Times New Roman" panose="02020603050405020304" pitchFamily="18" charset="0"/>
                  <a:cs typeface="Times New Roman" panose="02020603050405020304" pitchFamily="18" charset="0"/>
                </a:rPr>
                <a:t>000</a:t>
              </a:r>
              <a:r>
                <a:rPr lang="en-US" altLang="zh-CN" b="1" dirty="0">
                  <a:solidFill>
                    <a:srgbClr val="0000FF"/>
                  </a:solidFill>
                  <a:latin typeface="Times New Roman" panose="02020603050405020304" pitchFamily="18" charset="0"/>
                  <a:cs typeface="Times New Roman" panose="02020603050405020304" pitchFamily="18" charset="0"/>
                </a:rPr>
                <a:t>1</a:t>
              </a:r>
              <a:endParaRPr lang="zh-CN" altLang="en-US" b="1" baseline="-25000" dirty="0">
                <a:solidFill>
                  <a:srgbClr val="FF0000"/>
                </a:solidFill>
                <a:latin typeface="Times New Roman" panose="02020603050405020304" pitchFamily="18" charset="0"/>
                <a:cs typeface="Times New Roman" panose="02020603050405020304" pitchFamily="18" charset="0"/>
              </a:endParaRPr>
            </a:p>
          </p:txBody>
        </p:sp>
      </p:grpSp>
      <p:grpSp>
        <p:nvGrpSpPr>
          <p:cNvPr id="90" name="组合 49"/>
          <p:cNvGrpSpPr/>
          <p:nvPr/>
        </p:nvGrpSpPr>
        <p:grpSpPr>
          <a:xfrm>
            <a:off x="7899317" y="2781149"/>
            <a:ext cx="609683" cy="682667"/>
            <a:chOff x="7899317" y="2647799"/>
            <a:chExt cx="609683" cy="682667"/>
          </a:xfrm>
        </p:grpSpPr>
        <p:sp>
          <p:nvSpPr>
            <p:cNvPr id="91" name="椭圆 90"/>
            <p:cNvSpPr/>
            <p:nvPr/>
          </p:nvSpPr>
          <p:spPr>
            <a:xfrm flipH="1">
              <a:off x="7899317" y="2957513"/>
              <a:ext cx="609683" cy="372953"/>
            </a:xfrm>
            <a:prstGeom prst="ellipse">
              <a:avLst/>
            </a:prstGeom>
            <a:solidFill>
              <a:schemeClr val="bg1"/>
            </a:solidFill>
            <a:ln w="28575">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b="1" dirty="0">
                  <a:solidFill>
                    <a:srgbClr val="0000FF"/>
                  </a:solidFill>
                  <a:latin typeface="Times New Roman" panose="02020603050405020304" pitchFamily="18" charset="0"/>
                  <a:cs typeface="Times New Roman" panose="02020603050405020304" pitchFamily="18" charset="0"/>
                </a:rPr>
                <a:t>1111</a:t>
              </a:r>
              <a:endParaRPr lang="zh-CN" altLang="en-US" b="1" baseline="-25000" dirty="0">
                <a:solidFill>
                  <a:srgbClr val="00B0F0"/>
                </a:solidFill>
                <a:latin typeface="Times New Roman" panose="02020603050405020304" pitchFamily="18" charset="0"/>
                <a:cs typeface="Times New Roman" panose="02020603050405020304" pitchFamily="18" charset="0"/>
              </a:endParaRPr>
            </a:p>
          </p:txBody>
        </p:sp>
        <p:cxnSp>
          <p:nvCxnSpPr>
            <p:cNvPr id="92" name="直接箭头连接符 91"/>
            <p:cNvCxnSpPr/>
            <p:nvPr/>
          </p:nvCxnSpPr>
          <p:spPr>
            <a:xfrm rot="16200000" flipH="1">
              <a:off x="8047950" y="2809199"/>
              <a:ext cx="324000" cy="1199"/>
            </a:xfrm>
            <a:prstGeom prst="straightConnector1">
              <a:avLst/>
            </a:prstGeom>
            <a:ln w="38100">
              <a:solidFill>
                <a:schemeClr val="accent1">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cxnSp>
        <p:nvCxnSpPr>
          <p:cNvPr id="93" name="直接箭头连接符 92"/>
          <p:cNvCxnSpPr/>
          <p:nvPr/>
        </p:nvCxnSpPr>
        <p:spPr>
          <a:xfrm rot="5400000" flipH="1" flipV="1">
            <a:off x="4828499" y="2929850"/>
            <a:ext cx="324000" cy="1199"/>
          </a:xfrm>
          <a:prstGeom prst="straightConnector1">
            <a:avLst/>
          </a:prstGeom>
          <a:ln w="38100">
            <a:solidFill>
              <a:schemeClr val="accent1">
                <a:lumMod val="75000"/>
              </a:schemeClr>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94" name="剪去对角的矩形 93"/>
          <p:cNvSpPr/>
          <p:nvPr/>
        </p:nvSpPr>
        <p:spPr>
          <a:xfrm>
            <a:off x="809625" y="4057650"/>
            <a:ext cx="7448550" cy="762000"/>
          </a:xfrm>
          <a:prstGeom prst="snip2DiagRect">
            <a:avLst/>
          </a:prstGeom>
          <a:solidFill>
            <a:schemeClr val="accent4">
              <a:alpha val="3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位移位寄存器可以组成模</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2N</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的扭环形计数器，只需将末级输出反相后，接到串行输入端。 </a:t>
            </a:r>
            <a:endParaRPr lang="zh-CN" altLang="en-US" dirty="0"/>
          </a:p>
        </p:txBody>
      </p:sp>
      <p:grpSp>
        <p:nvGrpSpPr>
          <p:cNvPr id="95" name="组合 94"/>
          <p:cNvGrpSpPr/>
          <p:nvPr/>
        </p:nvGrpSpPr>
        <p:grpSpPr>
          <a:xfrm>
            <a:off x="1087264" y="2110978"/>
            <a:ext cx="2047225" cy="578603"/>
            <a:chOff x="1087264" y="2110978"/>
            <a:chExt cx="2047225" cy="578603"/>
          </a:xfrm>
        </p:grpSpPr>
        <p:grpSp>
          <p:nvGrpSpPr>
            <p:cNvPr id="96" name="组合 95"/>
            <p:cNvGrpSpPr/>
            <p:nvPr/>
          </p:nvGrpSpPr>
          <p:grpSpPr>
            <a:xfrm>
              <a:off x="1087264" y="2110978"/>
              <a:ext cx="2032170" cy="578603"/>
              <a:chOff x="1007201" y="2014061"/>
              <a:chExt cx="2032170" cy="578603"/>
            </a:xfrm>
          </p:grpSpPr>
          <p:grpSp>
            <p:nvGrpSpPr>
              <p:cNvPr id="98" name="组合 35"/>
              <p:cNvGrpSpPr/>
              <p:nvPr/>
            </p:nvGrpSpPr>
            <p:grpSpPr>
              <a:xfrm>
                <a:off x="1010611" y="2014061"/>
                <a:ext cx="2028760" cy="578603"/>
                <a:chOff x="3289667" y="2586172"/>
                <a:chExt cx="552924" cy="540424"/>
              </a:xfrm>
            </p:grpSpPr>
            <p:grpSp>
              <p:nvGrpSpPr>
                <p:cNvPr id="100" name="组合 32"/>
                <p:cNvGrpSpPr/>
                <p:nvPr/>
              </p:nvGrpSpPr>
              <p:grpSpPr>
                <a:xfrm flipV="1">
                  <a:off x="3289667" y="2588603"/>
                  <a:ext cx="137361" cy="537993"/>
                  <a:chOff x="2939785" y="1863807"/>
                  <a:chExt cx="43998" cy="1734395"/>
                </a:xfrm>
              </p:grpSpPr>
              <p:cxnSp>
                <p:nvCxnSpPr>
                  <p:cNvPr id="102" name="直接连接符 101"/>
                  <p:cNvCxnSpPr/>
                  <p:nvPr/>
                </p:nvCxnSpPr>
                <p:spPr>
                  <a:xfrm>
                    <a:off x="2940065" y="1863807"/>
                    <a:ext cx="0" cy="1734395"/>
                  </a:xfrm>
                  <a:prstGeom prst="line">
                    <a:avLst/>
                  </a:prstGeom>
                  <a:ln w="28575">
                    <a:solidFill>
                      <a:srgbClr val="CC00C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2939785" y="3568618"/>
                    <a:ext cx="43998" cy="0"/>
                  </a:xfrm>
                  <a:prstGeom prst="line">
                    <a:avLst/>
                  </a:prstGeom>
                  <a:ln w="28575">
                    <a:solidFill>
                      <a:srgbClr val="CC00C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01" name="直接连接符 100"/>
                <p:cNvCxnSpPr/>
                <p:nvPr/>
              </p:nvCxnSpPr>
              <p:spPr>
                <a:xfrm flipV="1">
                  <a:off x="3842274" y="2586172"/>
                  <a:ext cx="317" cy="253387"/>
                </a:xfrm>
                <a:prstGeom prst="line">
                  <a:avLst/>
                </a:prstGeom>
                <a:ln w="28575">
                  <a:solidFill>
                    <a:srgbClr val="CC00C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99" name="直接连接符 98"/>
              <p:cNvCxnSpPr/>
              <p:nvPr/>
            </p:nvCxnSpPr>
            <p:spPr>
              <a:xfrm flipV="1">
                <a:off x="1007201" y="2585986"/>
                <a:ext cx="288000" cy="0"/>
              </a:xfrm>
              <a:prstGeom prst="line">
                <a:avLst/>
              </a:prstGeom>
              <a:ln w="28575">
                <a:solidFill>
                  <a:srgbClr val="CC00C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97" name="直接连接符 96"/>
            <p:cNvCxnSpPr/>
            <p:nvPr/>
          </p:nvCxnSpPr>
          <p:spPr>
            <a:xfrm flipV="1">
              <a:off x="1838489" y="2124597"/>
              <a:ext cx="1296000" cy="0"/>
            </a:xfrm>
            <a:prstGeom prst="line">
              <a:avLst/>
            </a:prstGeom>
            <a:ln w="28575">
              <a:solidFill>
                <a:srgbClr val="CC00C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04" name="圆角矩形 103"/>
          <p:cNvSpPr/>
          <p:nvPr/>
        </p:nvSpPr>
        <p:spPr>
          <a:xfrm>
            <a:off x="3726718" y="2484971"/>
            <a:ext cx="296008" cy="521754"/>
          </a:xfrm>
          <a:prstGeom prst="roundRect">
            <a:avLst/>
          </a:prstGeom>
          <a:solidFill>
            <a:schemeClr val="accent2">
              <a:alpha val="2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316864" y="3539071"/>
            <a:ext cx="1524637" cy="443517"/>
            <a:chOff x="316864" y="3539071"/>
            <a:chExt cx="1524637" cy="443517"/>
          </a:xfrm>
        </p:grpSpPr>
        <p:sp>
          <p:nvSpPr>
            <p:cNvPr id="105" name="圆角矩形 104"/>
            <p:cNvSpPr/>
            <p:nvPr/>
          </p:nvSpPr>
          <p:spPr>
            <a:xfrm>
              <a:off x="1545493" y="3539071"/>
              <a:ext cx="296008" cy="229654"/>
            </a:xfrm>
            <a:prstGeom prst="roundRect">
              <a:avLst/>
            </a:prstGeom>
            <a:solidFill>
              <a:schemeClr val="accent2">
                <a:alpha val="2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6" name="圆角矩形标注 105"/>
            <p:cNvSpPr/>
            <p:nvPr/>
          </p:nvSpPr>
          <p:spPr>
            <a:xfrm>
              <a:off x="316864" y="3621439"/>
              <a:ext cx="914400" cy="361149"/>
            </a:xfrm>
            <a:prstGeom prst="wedgeRoundRectCallout">
              <a:avLst>
                <a:gd name="adj1" fmla="val 78478"/>
                <a:gd name="adj2" fmla="val -42159"/>
                <a:gd name="adj3" fmla="val 16667"/>
              </a:avLst>
            </a:prstGeom>
            <a:solidFill>
              <a:schemeClr val="accent2">
                <a:lumMod val="60000"/>
                <a:lumOff val="40000"/>
              </a:schemeClr>
            </a:solidFill>
            <a:ln w="38100">
              <a:solidFill>
                <a:srgbClr val="0070C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400" dirty="0">
                  <a:solidFill>
                    <a:srgbClr val="0000FF"/>
                  </a:solidFill>
                  <a:latin typeface="微软雅黑" panose="020B0503020204020204" pitchFamily="34" charset="-122"/>
                  <a:ea typeface="微软雅黑" panose="020B0503020204020204" pitchFamily="34" charset="-122"/>
                </a:rPr>
                <a:t>复位信号</a:t>
              </a:r>
              <a:endParaRPr lang="zh-CN" altLang="en-US" sz="1400" dirty="0">
                <a:solidFill>
                  <a:srgbClr val="0000FF"/>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di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slide(fromBottom)">
                                      <p:cBhvr>
                                        <p:cTn id="7" dur="1000"/>
                                        <p:tgtEl>
                                          <p:spTgt spid="58"/>
                                        </p:tgtEl>
                                      </p:cBhvr>
                                    </p:animEffect>
                                  </p:childTnLst>
                                </p:cTn>
                              </p:par>
                            </p:childTnLst>
                          </p:cTn>
                        </p:par>
                        <p:par>
                          <p:cTn id="8" fill="hold">
                            <p:stCondLst>
                              <p:cond delay="1000"/>
                            </p:stCondLst>
                            <p:childTnLst>
                              <p:par>
                                <p:cTn id="9" presetID="23" presetClass="entr" presetSubtype="16" fill="hold" nodeType="afterEffect">
                                  <p:stCondLst>
                                    <p:cond delay="0"/>
                                  </p:stCondLst>
                                  <p:childTnLst>
                                    <p:set>
                                      <p:cBhvr>
                                        <p:cTn id="10" dur="1" fill="hold">
                                          <p:stCondLst>
                                            <p:cond delay="0"/>
                                          </p:stCondLst>
                                        </p:cTn>
                                        <p:tgtEl>
                                          <p:spTgt spid="95"/>
                                        </p:tgtEl>
                                        <p:attrNameLst>
                                          <p:attrName>style.visibility</p:attrName>
                                        </p:attrNameLst>
                                      </p:cBhvr>
                                      <p:to>
                                        <p:strVal val="visible"/>
                                      </p:to>
                                    </p:set>
                                    <p:anim calcmode="lin" valueType="num">
                                      <p:cBhvr>
                                        <p:cTn id="11" dur="1000" fill="hold"/>
                                        <p:tgtEl>
                                          <p:spTgt spid="95"/>
                                        </p:tgtEl>
                                        <p:attrNameLst>
                                          <p:attrName>ppt_w</p:attrName>
                                        </p:attrNameLst>
                                      </p:cBhvr>
                                      <p:tavLst>
                                        <p:tav tm="0">
                                          <p:val>
                                            <p:fltVal val="0"/>
                                          </p:val>
                                        </p:tav>
                                        <p:tav tm="100000">
                                          <p:val>
                                            <p:strVal val="#ppt_w"/>
                                          </p:val>
                                        </p:tav>
                                      </p:tavLst>
                                    </p:anim>
                                    <p:anim calcmode="lin" valueType="num">
                                      <p:cBhvr>
                                        <p:cTn id="12" dur="1000" fill="hold"/>
                                        <p:tgtEl>
                                          <p:spTgt spid="95"/>
                                        </p:tgtEl>
                                        <p:attrNameLst>
                                          <p:attrName>ppt_h</p:attrName>
                                        </p:attrNameLst>
                                      </p:cBhvr>
                                      <p:tavLst>
                                        <p:tav tm="0">
                                          <p:val>
                                            <p:fltVal val="0"/>
                                          </p:val>
                                        </p:tav>
                                        <p:tav tm="100000">
                                          <p:val>
                                            <p:strVal val="#ppt_h"/>
                                          </p:val>
                                        </p:tav>
                                      </p:tavLst>
                                    </p:anim>
                                  </p:childTnLst>
                                </p:cTn>
                              </p:par>
                            </p:childTnLst>
                          </p:cTn>
                        </p:par>
                        <p:par>
                          <p:cTn id="13" fill="hold">
                            <p:stCondLst>
                              <p:cond delay="2000"/>
                            </p:stCondLst>
                            <p:childTnLst>
                              <p:par>
                                <p:cTn id="14" presetID="23" presetClass="entr" presetSubtype="16" fill="hold" grpId="0" nodeType="afterEffect">
                                  <p:stCondLst>
                                    <p:cond delay="0"/>
                                  </p:stCondLst>
                                  <p:childTnLst>
                                    <p:set>
                                      <p:cBhvr>
                                        <p:cTn id="15" dur="1" fill="hold">
                                          <p:stCondLst>
                                            <p:cond delay="0"/>
                                          </p:stCondLst>
                                        </p:cTn>
                                        <p:tgtEl>
                                          <p:spTgt spid="104"/>
                                        </p:tgtEl>
                                        <p:attrNameLst>
                                          <p:attrName>style.visibility</p:attrName>
                                        </p:attrNameLst>
                                      </p:cBhvr>
                                      <p:to>
                                        <p:strVal val="visible"/>
                                      </p:to>
                                    </p:set>
                                    <p:anim calcmode="lin" valueType="num">
                                      <p:cBhvr>
                                        <p:cTn id="16" dur="1000" fill="hold"/>
                                        <p:tgtEl>
                                          <p:spTgt spid="104"/>
                                        </p:tgtEl>
                                        <p:attrNameLst>
                                          <p:attrName>ppt_w</p:attrName>
                                        </p:attrNameLst>
                                      </p:cBhvr>
                                      <p:tavLst>
                                        <p:tav tm="0">
                                          <p:val>
                                            <p:fltVal val="0"/>
                                          </p:val>
                                        </p:tav>
                                        <p:tav tm="100000">
                                          <p:val>
                                            <p:strVal val="#ppt_w"/>
                                          </p:val>
                                        </p:tav>
                                      </p:tavLst>
                                    </p:anim>
                                    <p:anim calcmode="lin" valueType="num">
                                      <p:cBhvr>
                                        <p:cTn id="17" dur="1000" fill="hold"/>
                                        <p:tgtEl>
                                          <p:spTgt spid="104"/>
                                        </p:tgtEl>
                                        <p:attrNameLst>
                                          <p:attrName>ppt_h</p:attrName>
                                        </p:attrNameLst>
                                      </p:cBhvr>
                                      <p:tavLst>
                                        <p:tav tm="0">
                                          <p:val>
                                            <p:fltVal val="0"/>
                                          </p:val>
                                        </p:tav>
                                        <p:tav tm="100000">
                                          <p:val>
                                            <p:strVal val="#ppt_h"/>
                                          </p:val>
                                        </p:tav>
                                      </p:tavLst>
                                    </p:anim>
                                  </p:childTnLst>
                                </p:cTn>
                              </p:par>
                            </p:childTnLst>
                          </p:cTn>
                        </p:par>
                        <p:par>
                          <p:cTn id="18" fill="hold">
                            <p:stCondLst>
                              <p:cond delay="3000"/>
                            </p:stCondLst>
                            <p:childTnLst>
                              <p:par>
                                <p:cTn id="19" presetID="12" presetClass="entr" presetSubtype="8" fill="hold" nodeType="afterEffect">
                                  <p:stCondLst>
                                    <p:cond delay="0"/>
                                  </p:stCondLst>
                                  <p:childTnLst>
                                    <p:set>
                                      <p:cBhvr>
                                        <p:cTn id="20" dur="1" fill="hold">
                                          <p:stCondLst>
                                            <p:cond delay="0"/>
                                          </p:stCondLst>
                                        </p:cTn>
                                        <p:tgtEl>
                                          <p:spTgt spid="61"/>
                                        </p:tgtEl>
                                        <p:attrNameLst>
                                          <p:attrName>style.visibility</p:attrName>
                                        </p:attrNameLst>
                                      </p:cBhvr>
                                      <p:to>
                                        <p:strVal val="visible"/>
                                      </p:to>
                                    </p:set>
                                    <p:animEffect transition="in" filter="slide(fromLeft)">
                                      <p:cBhvr>
                                        <p:cTn id="21" dur="1000"/>
                                        <p:tgtEl>
                                          <p:spTgt spid="6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67"/>
                                        </p:tgtEl>
                                        <p:attrNameLst>
                                          <p:attrName>style.visibility</p:attrName>
                                        </p:attrNameLst>
                                      </p:cBhvr>
                                      <p:to>
                                        <p:strVal val="visible"/>
                                      </p:to>
                                    </p:set>
                                    <p:animEffect transition="in" filter="wipe(right)">
                                      <p:cBhvr>
                                        <p:cTn id="26" dur="1000"/>
                                        <p:tgtEl>
                                          <p:spTgt spid="67"/>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64"/>
                                        </p:tgtEl>
                                        <p:attrNameLst>
                                          <p:attrName>style.visibility</p:attrName>
                                        </p:attrNameLst>
                                      </p:cBhvr>
                                      <p:to>
                                        <p:strVal val="visible"/>
                                      </p:to>
                                    </p:set>
                                    <p:animEffect transition="in" filter="wipe(left)">
                                      <p:cBhvr>
                                        <p:cTn id="30" dur="1000"/>
                                        <p:tgtEl>
                                          <p:spTgt spid="64"/>
                                        </p:tgtEl>
                                      </p:cBhvr>
                                    </p:animEffect>
                                  </p:childTnLst>
                                </p:cTn>
                              </p:par>
                            </p:childTnLst>
                          </p:cTn>
                        </p:par>
                        <p:par>
                          <p:cTn id="31" fill="hold">
                            <p:stCondLst>
                              <p:cond delay="2000"/>
                            </p:stCondLst>
                            <p:childTnLst>
                              <p:par>
                                <p:cTn id="32" presetID="22" presetClass="entr" presetSubtype="8" fill="hold" grpId="0" nodeType="afterEffect">
                                  <p:stCondLst>
                                    <p:cond delay="0"/>
                                  </p:stCondLst>
                                  <p:childTnLst>
                                    <p:set>
                                      <p:cBhvr>
                                        <p:cTn id="33" dur="1" fill="hold">
                                          <p:stCondLst>
                                            <p:cond delay="0"/>
                                          </p:stCondLst>
                                        </p:cTn>
                                        <p:tgtEl>
                                          <p:spTgt spid="65"/>
                                        </p:tgtEl>
                                        <p:attrNameLst>
                                          <p:attrName>style.visibility</p:attrName>
                                        </p:attrNameLst>
                                      </p:cBhvr>
                                      <p:to>
                                        <p:strVal val="visible"/>
                                      </p:to>
                                    </p:set>
                                    <p:animEffect transition="in" filter="wipe(left)">
                                      <p:cBhvr>
                                        <p:cTn id="34" dur="1000"/>
                                        <p:tgtEl>
                                          <p:spTgt spid="65"/>
                                        </p:tgtEl>
                                      </p:cBhvr>
                                    </p:animEffect>
                                  </p:childTnLst>
                                </p:cTn>
                              </p:par>
                            </p:childTnLst>
                          </p:cTn>
                        </p:par>
                        <p:par>
                          <p:cTn id="35" fill="hold">
                            <p:stCondLst>
                              <p:cond delay="3000"/>
                            </p:stCondLst>
                            <p:childTnLst>
                              <p:par>
                                <p:cTn id="36" presetID="22" presetClass="entr" presetSubtype="8" fill="hold" grpId="0" nodeType="afterEffect">
                                  <p:stCondLst>
                                    <p:cond delay="0"/>
                                  </p:stCondLst>
                                  <p:childTnLst>
                                    <p:set>
                                      <p:cBhvr>
                                        <p:cTn id="37" dur="1" fill="hold">
                                          <p:stCondLst>
                                            <p:cond delay="0"/>
                                          </p:stCondLst>
                                        </p:cTn>
                                        <p:tgtEl>
                                          <p:spTgt spid="66"/>
                                        </p:tgtEl>
                                        <p:attrNameLst>
                                          <p:attrName>style.visibility</p:attrName>
                                        </p:attrNameLst>
                                      </p:cBhvr>
                                      <p:to>
                                        <p:strVal val="visible"/>
                                      </p:to>
                                    </p:set>
                                    <p:animEffect transition="in" filter="wipe(left)">
                                      <p:cBhvr>
                                        <p:cTn id="38" dur="1000"/>
                                        <p:tgtEl>
                                          <p:spTgt spid="6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right)">
                                      <p:cBhvr>
                                        <p:cTn id="43" dur="1000"/>
                                        <p:tgtEl>
                                          <p:spTgt spid="2"/>
                                        </p:tgtEl>
                                      </p:cBhvr>
                                    </p:animEffect>
                                  </p:childTnLst>
                                </p:cTn>
                              </p:par>
                            </p:childTnLst>
                          </p:cTn>
                        </p:par>
                        <p:par>
                          <p:cTn id="44" fill="hold">
                            <p:stCondLst>
                              <p:cond delay="1000"/>
                            </p:stCondLst>
                            <p:childTnLst>
                              <p:par>
                                <p:cTn id="45" presetID="12" presetClass="entr" presetSubtype="8" fill="hold" grpId="0" nodeType="afterEffect">
                                  <p:stCondLst>
                                    <p:cond delay="0"/>
                                  </p:stCondLst>
                                  <p:childTnLst>
                                    <p:set>
                                      <p:cBhvr>
                                        <p:cTn id="46" dur="1" fill="hold">
                                          <p:stCondLst>
                                            <p:cond delay="0"/>
                                          </p:stCondLst>
                                        </p:cTn>
                                        <p:tgtEl>
                                          <p:spTgt spid="71"/>
                                        </p:tgtEl>
                                        <p:attrNameLst>
                                          <p:attrName>style.visibility</p:attrName>
                                        </p:attrNameLst>
                                      </p:cBhvr>
                                      <p:to>
                                        <p:strVal val="visible"/>
                                      </p:to>
                                    </p:set>
                                    <p:animEffect transition="in" filter="slide(fromLeft)">
                                      <p:cBhvr>
                                        <p:cTn id="47" dur="1000"/>
                                        <p:tgtEl>
                                          <p:spTgt spid="71"/>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8" fill="hold" nodeType="clickEffect">
                                  <p:stCondLst>
                                    <p:cond delay="0"/>
                                  </p:stCondLst>
                                  <p:childTnLst>
                                    <p:set>
                                      <p:cBhvr>
                                        <p:cTn id="51" dur="1" fill="hold">
                                          <p:stCondLst>
                                            <p:cond delay="0"/>
                                          </p:stCondLst>
                                        </p:cTn>
                                        <p:tgtEl>
                                          <p:spTgt spid="72"/>
                                        </p:tgtEl>
                                        <p:attrNameLst>
                                          <p:attrName>style.visibility</p:attrName>
                                        </p:attrNameLst>
                                      </p:cBhvr>
                                      <p:to>
                                        <p:strVal val="visible"/>
                                      </p:to>
                                    </p:set>
                                    <p:animEffect transition="in" filter="slide(fromLeft)">
                                      <p:cBhvr>
                                        <p:cTn id="52" dur="1000"/>
                                        <p:tgtEl>
                                          <p:spTgt spid="72"/>
                                        </p:tgtEl>
                                      </p:cBhvr>
                                    </p:animEffect>
                                  </p:childTnLst>
                                </p:cTn>
                              </p:par>
                            </p:childTnLst>
                          </p:cTn>
                        </p:par>
                        <p:par>
                          <p:cTn id="53" fill="hold">
                            <p:stCondLst>
                              <p:cond delay="1000"/>
                            </p:stCondLst>
                            <p:childTnLst>
                              <p:par>
                                <p:cTn id="54" presetID="12" presetClass="entr" presetSubtype="8" fill="hold" nodeType="afterEffect">
                                  <p:stCondLst>
                                    <p:cond delay="0"/>
                                  </p:stCondLst>
                                  <p:childTnLst>
                                    <p:set>
                                      <p:cBhvr>
                                        <p:cTn id="55" dur="1" fill="hold">
                                          <p:stCondLst>
                                            <p:cond delay="0"/>
                                          </p:stCondLst>
                                        </p:cTn>
                                        <p:tgtEl>
                                          <p:spTgt spid="75"/>
                                        </p:tgtEl>
                                        <p:attrNameLst>
                                          <p:attrName>style.visibility</p:attrName>
                                        </p:attrNameLst>
                                      </p:cBhvr>
                                      <p:to>
                                        <p:strVal val="visible"/>
                                      </p:to>
                                    </p:set>
                                    <p:animEffect transition="in" filter="slide(fromLeft)">
                                      <p:cBhvr>
                                        <p:cTn id="56" dur="1000"/>
                                        <p:tgtEl>
                                          <p:spTgt spid="75"/>
                                        </p:tgtEl>
                                      </p:cBhvr>
                                    </p:animEffect>
                                  </p:childTnLst>
                                </p:cTn>
                              </p:par>
                            </p:childTnLst>
                          </p:cTn>
                        </p:par>
                        <p:par>
                          <p:cTn id="57" fill="hold">
                            <p:stCondLst>
                              <p:cond delay="2000"/>
                            </p:stCondLst>
                            <p:childTnLst>
                              <p:par>
                                <p:cTn id="58" presetID="12" presetClass="entr" presetSubtype="8" fill="hold" nodeType="afterEffect">
                                  <p:stCondLst>
                                    <p:cond delay="0"/>
                                  </p:stCondLst>
                                  <p:childTnLst>
                                    <p:set>
                                      <p:cBhvr>
                                        <p:cTn id="59" dur="1" fill="hold">
                                          <p:stCondLst>
                                            <p:cond delay="0"/>
                                          </p:stCondLst>
                                        </p:cTn>
                                        <p:tgtEl>
                                          <p:spTgt spid="78"/>
                                        </p:tgtEl>
                                        <p:attrNameLst>
                                          <p:attrName>style.visibility</p:attrName>
                                        </p:attrNameLst>
                                      </p:cBhvr>
                                      <p:to>
                                        <p:strVal val="visible"/>
                                      </p:to>
                                    </p:set>
                                    <p:animEffect transition="in" filter="slide(fromLeft)">
                                      <p:cBhvr>
                                        <p:cTn id="60" dur="1000"/>
                                        <p:tgtEl>
                                          <p:spTgt spid="78"/>
                                        </p:tgtEl>
                                      </p:cBhvr>
                                    </p:animEffect>
                                  </p:childTnLst>
                                </p:cTn>
                              </p:par>
                            </p:childTnLst>
                          </p:cTn>
                        </p:par>
                        <p:par>
                          <p:cTn id="61" fill="hold">
                            <p:stCondLst>
                              <p:cond delay="3000"/>
                            </p:stCondLst>
                            <p:childTnLst>
                              <p:par>
                                <p:cTn id="62" presetID="12" presetClass="entr" presetSubtype="1" fill="hold" nodeType="afterEffect">
                                  <p:stCondLst>
                                    <p:cond delay="0"/>
                                  </p:stCondLst>
                                  <p:childTnLst>
                                    <p:set>
                                      <p:cBhvr>
                                        <p:cTn id="63" dur="1" fill="hold">
                                          <p:stCondLst>
                                            <p:cond delay="0"/>
                                          </p:stCondLst>
                                        </p:cTn>
                                        <p:tgtEl>
                                          <p:spTgt spid="90"/>
                                        </p:tgtEl>
                                        <p:attrNameLst>
                                          <p:attrName>style.visibility</p:attrName>
                                        </p:attrNameLst>
                                      </p:cBhvr>
                                      <p:to>
                                        <p:strVal val="visible"/>
                                      </p:to>
                                    </p:set>
                                    <p:animEffect transition="in" filter="slide(fromTop)">
                                      <p:cBhvr>
                                        <p:cTn id="64" dur="1000"/>
                                        <p:tgtEl>
                                          <p:spTgt spid="90"/>
                                        </p:tgtEl>
                                      </p:cBhvr>
                                    </p:animEffect>
                                  </p:childTnLst>
                                </p:cTn>
                              </p:par>
                            </p:childTnLst>
                          </p:cTn>
                        </p:par>
                        <p:par>
                          <p:cTn id="65" fill="hold">
                            <p:stCondLst>
                              <p:cond delay="4000"/>
                            </p:stCondLst>
                            <p:childTnLst>
                              <p:par>
                                <p:cTn id="66" presetID="12" presetClass="entr" presetSubtype="2" fill="hold" nodeType="afterEffect">
                                  <p:stCondLst>
                                    <p:cond delay="0"/>
                                  </p:stCondLst>
                                  <p:childTnLst>
                                    <p:set>
                                      <p:cBhvr>
                                        <p:cTn id="67" dur="1" fill="hold">
                                          <p:stCondLst>
                                            <p:cond delay="0"/>
                                          </p:stCondLst>
                                        </p:cTn>
                                        <p:tgtEl>
                                          <p:spTgt spid="81"/>
                                        </p:tgtEl>
                                        <p:attrNameLst>
                                          <p:attrName>style.visibility</p:attrName>
                                        </p:attrNameLst>
                                      </p:cBhvr>
                                      <p:to>
                                        <p:strVal val="visible"/>
                                      </p:to>
                                    </p:set>
                                    <p:animEffect transition="in" filter="slide(fromRight)">
                                      <p:cBhvr>
                                        <p:cTn id="68" dur="1000"/>
                                        <p:tgtEl>
                                          <p:spTgt spid="81"/>
                                        </p:tgtEl>
                                      </p:cBhvr>
                                    </p:animEffect>
                                  </p:childTnLst>
                                </p:cTn>
                              </p:par>
                            </p:childTnLst>
                          </p:cTn>
                        </p:par>
                        <p:par>
                          <p:cTn id="69" fill="hold">
                            <p:stCondLst>
                              <p:cond delay="5000"/>
                            </p:stCondLst>
                            <p:childTnLst>
                              <p:par>
                                <p:cTn id="70" presetID="12" presetClass="entr" presetSubtype="2" fill="hold" nodeType="afterEffect">
                                  <p:stCondLst>
                                    <p:cond delay="0"/>
                                  </p:stCondLst>
                                  <p:childTnLst>
                                    <p:set>
                                      <p:cBhvr>
                                        <p:cTn id="71" dur="1" fill="hold">
                                          <p:stCondLst>
                                            <p:cond delay="0"/>
                                          </p:stCondLst>
                                        </p:cTn>
                                        <p:tgtEl>
                                          <p:spTgt spid="84"/>
                                        </p:tgtEl>
                                        <p:attrNameLst>
                                          <p:attrName>style.visibility</p:attrName>
                                        </p:attrNameLst>
                                      </p:cBhvr>
                                      <p:to>
                                        <p:strVal val="visible"/>
                                      </p:to>
                                    </p:set>
                                    <p:animEffect transition="in" filter="slide(fromRight)">
                                      <p:cBhvr>
                                        <p:cTn id="72" dur="1000"/>
                                        <p:tgtEl>
                                          <p:spTgt spid="84"/>
                                        </p:tgtEl>
                                      </p:cBhvr>
                                    </p:animEffect>
                                  </p:childTnLst>
                                </p:cTn>
                              </p:par>
                            </p:childTnLst>
                          </p:cTn>
                        </p:par>
                        <p:par>
                          <p:cTn id="73" fill="hold">
                            <p:stCondLst>
                              <p:cond delay="6000"/>
                            </p:stCondLst>
                            <p:childTnLst>
                              <p:par>
                                <p:cTn id="74" presetID="12" presetClass="entr" presetSubtype="2" fill="hold" nodeType="afterEffect">
                                  <p:stCondLst>
                                    <p:cond delay="0"/>
                                  </p:stCondLst>
                                  <p:childTnLst>
                                    <p:set>
                                      <p:cBhvr>
                                        <p:cTn id="75" dur="1" fill="hold">
                                          <p:stCondLst>
                                            <p:cond delay="0"/>
                                          </p:stCondLst>
                                        </p:cTn>
                                        <p:tgtEl>
                                          <p:spTgt spid="87"/>
                                        </p:tgtEl>
                                        <p:attrNameLst>
                                          <p:attrName>style.visibility</p:attrName>
                                        </p:attrNameLst>
                                      </p:cBhvr>
                                      <p:to>
                                        <p:strVal val="visible"/>
                                      </p:to>
                                    </p:set>
                                    <p:animEffect transition="in" filter="slide(fromRight)">
                                      <p:cBhvr>
                                        <p:cTn id="76" dur="1000"/>
                                        <p:tgtEl>
                                          <p:spTgt spid="87"/>
                                        </p:tgtEl>
                                      </p:cBhvr>
                                    </p:animEffect>
                                  </p:childTnLst>
                                </p:cTn>
                              </p:par>
                            </p:childTnLst>
                          </p:cTn>
                        </p:par>
                        <p:par>
                          <p:cTn id="77" fill="hold">
                            <p:stCondLst>
                              <p:cond delay="7000"/>
                            </p:stCondLst>
                            <p:childTnLst>
                              <p:par>
                                <p:cTn id="78" presetID="12" presetClass="entr" presetSubtype="4" fill="hold" nodeType="afterEffect">
                                  <p:stCondLst>
                                    <p:cond delay="0"/>
                                  </p:stCondLst>
                                  <p:childTnLst>
                                    <p:set>
                                      <p:cBhvr>
                                        <p:cTn id="79" dur="1" fill="hold">
                                          <p:stCondLst>
                                            <p:cond delay="0"/>
                                          </p:stCondLst>
                                        </p:cTn>
                                        <p:tgtEl>
                                          <p:spTgt spid="93"/>
                                        </p:tgtEl>
                                        <p:attrNameLst>
                                          <p:attrName>style.visibility</p:attrName>
                                        </p:attrNameLst>
                                      </p:cBhvr>
                                      <p:to>
                                        <p:strVal val="visible"/>
                                      </p:to>
                                    </p:set>
                                    <p:animEffect transition="in" filter="slide(fromBottom)">
                                      <p:cBhvr>
                                        <p:cTn id="80" dur="1000"/>
                                        <p:tgtEl>
                                          <p:spTgt spid="93"/>
                                        </p:tgtEl>
                                      </p:cBhvr>
                                    </p:animEffect>
                                  </p:childTnLst>
                                </p:cTn>
                              </p:par>
                            </p:childTnLst>
                          </p:cTn>
                        </p:par>
                      </p:childTnLst>
                    </p:cTn>
                  </p:par>
                  <p:par>
                    <p:cTn id="81" fill="hold">
                      <p:stCondLst>
                        <p:cond delay="indefinite"/>
                      </p:stCondLst>
                      <p:childTnLst>
                        <p:par>
                          <p:cTn id="82" fill="hold">
                            <p:stCondLst>
                              <p:cond delay="0"/>
                            </p:stCondLst>
                            <p:childTnLst>
                              <p:par>
                                <p:cTn id="83" presetID="12" presetClass="entr" presetSubtype="4" fill="hold" grpId="0" nodeType="clickEffect">
                                  <p:stCondLst>
                                    <p:cond delay="0"/>
                                  </p:stCondLst>
                                  <p:childTnLst>
                                    <p:set>
                                      <p:cBhvr>
                                        <p:cTn id="84" dur="1" fill="hold">
                                          <p:stCondLst>
                                            <p:cond delay="0"/>
                                          </p:stCondLst>
                                        </p:cTn>
                                        <p:tgtEl>
                                          <p:spTgt spid="94"/>
                                        </p:tgtEl>
                                        <p:attrNameLst>
                                          <p:attrName>style.visibility</p:attrName>
                                        </p:attrNameLst>
                                      </p:cBhvr>
                                      <p:to>
                                        <p:strVal val="visible"/>
                                      </p:to>
                                    </p:set>
                                    <p:animEffect transition="in" filter="slide(fromBottom)">
                                      <p:cBhvr>
                                        <p:cTn id="85" dur="10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P spid="71" grpId="0" animBg="1"/>
      <p:bldP spid="94" grpId="0" animBg="1"/>
      <p:bldP spid="10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434975" y="1244600"/>
            <a:ext cx="3127779" cy="435825"/>
          </a:xfrm>
          <a:prstGeom prst="rect">
            <a:avLst/>
          </a:prstGeom>
          <a:noFill/>
          <a:ln w="9525" algn="ctr">
            <a:noFill/>
            <a:miter lim="800000"/>
          </a:ln>
        </p:spPr>
        <p:txBody>
          <a:bodyPr wrap="none">
            <a:spAutoFit/>
          </a:bodyPr>
          <a:lstStyle/>
          <a:p>
            <a:pPr algn="ctr">
              <a:lnSpc>
                <a:spcPct val="124000"/>
              </a:lnSpc>
              <a:spcBef>
                <a:spcPts val="300"/>
              </a:spcBef>
              <a:spcAft>
                <a:spcPts val="300"/>
              </a:spcAft>
            </a:pPr>
            <a:r>
              <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）构成序列脉冲检测电路 </a:t>
            </a:r>
            <a:endParaRPr lang="zh-CN" altLang="en-US"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9" name="组合 8"/>
          <p:cNvGrpSpPr/>
          <p:nvPr/>
        </p:nvGrpSpPr>
        <p:grpSpPr>
          <a:xfrm>
            <a:off x="686263" y="1759796"/>
            <a:ext cx="7748906" cy="374630"/>
            <a:chOff x="369777" y="1347760"/>
            <a:chExt cx="7748906" cy="374630"/>
          </a:xfrm>
        </p:grpSpPr>
        <p:sp>
          <p:nvSpPr>
            <p:cNvPr id="10" name="TextBox 9"/>
            <p:cNvSpPr txBox="1"/>
            <p:nvPr/>
          </p:nvSpPr>
          <p:spPr>
            <a:xfrm>
              <a:off x="723710" y="1350409"/>
              <a:ext cx="7394973" cy="369332"/>
            </a:xfrm>
            <a:prstGeom prst="rect">
              <a:avLst/>
            </a:prstGeom>
            <a:noFill/>
          </p:spPr>
          <p:txBody>
            <a:bodyPr wrap="none" rtlCol="0">
              <a:spAutoFit/>
            </a:bodyPr>
            <a:lstStyle/>
            <a:p>
              <a:r>
                <a:rPr lang="zh-CN" altLang="en-US" b="1" dirty="0">
                  <a:solidFill>
                    <a:srgbClr val="CC00CC"/>
                  </a:solidFill>
                  <a:latin typeface="黑体" panose="02010609060101010101" pitchFamily="49" charset="-122"/>
                  <a:ea typeface="黑体" panose="02010609060101010101" pitchFamily="49" charset="-122"/>
                </a:rPr>
                <a:t>例：</a:t>
              </a:r>
              <a:r>
                <a:rPr lang="zh-CN" altLang="en-US" b="1" dirty="0">
                  <a:solidFill>
                    <a:srgbClr val="6600FF"/>
                  </a:solidFill>
                  <a:latin typeface="黑体" panose="02010609060101010101" pitchFamily="49" charset="-122"/>
                  <a:ea typeface="黑体" panose="02010609060101010101" pitchFamily="49" charset="-122"/>
                </a:rPr>
                <a:t>设计一序列脉冲检测器，要求连续输入</a:t>
              </a:r>
              <a:r>
                <a:rPr lang="en-US" altLang="zh-CN" b="1" dirty="0">
                  <a:solidFill>
                    <a:srgbClr val="6600FF"/>
                  </a:solidFill>
                  <a:latin typeface="黑体" panose="02010609060101010101" pitchFamily="49" charset="-122"/>
                  <a:ea typeface="黑体" panose="02010609060101010101" pitchFamily="49" charset="-122"/>
                </a:rPr>
                <a:t>110</a:t>
              </a:r>
              <a:r>
                <a:rPr lang="zh-CN" altLang="en-US" b="1" dirty="0">
                  <a:solidFill>
                    <a:srgbClr val="6600FF"/>
                  </a:solidFill>
                  <a:latin typeface="黑体" panose="02010609060101010101" pitchFamily="49" charset="-122"/>
                  <a:ea typeface="黑体" panose="02010609060101010101" pitchFamily="49" charset="-122"/>
                </a:rPr>
                <a:t>，输出</a:t>
              </a:r>
              <a:r>
                <a:rPr lang="en-US" altLang="zh-CN" b="1" dirty="0">
                  <a:solidFill>
                    <a:srgbClr val="6600FF"/>
                  </a:solidFill>
                  <a:latin typeface="黑体" panose="02010609060101010101" pitchFamily="49" charset="-122"/>
                  <a:ea typeface="黑体" panose="02010609060101010101" pitchFamily="49" charset="-122"/>
                </a:rPr>
                <a:t>1</a:t>
              </a:r>
              <a:r>
                <a:rPr lang="zh-CN" altLang="en-US" b="1" dirty="0">
                  <a:solidFill>
                    <a:srgbClr val="6600FF"/>
                  </a:solidFill>
                  <a:latin typeface="黑体" panose="02010609060101010101" pitchFamily="49" charset="-122"/>
                  <a:ea typeface="黑体" panose="02010609060101010101" pitchFamily="49" charset="-122"/>
                </a:rPr>
                <a:t>，否则输出</a:t>
              </a:r>
              <a:r>
                <a:rPr lang="en-US" altLang="zh-CN" b="1" dirty="0">
                  <a:solidFill>
                    <a:srgbClr val="6600FF"/>
                  </a:solidFill>
                  <a:latin typeface="黑体" panose="02010609060101010101" pitchFamily="49" charset="-122"/>
                  <a:ea typeface="黑体" panose="02010609060101010101" pitchFamily="49" charset="-122"/>
                </a:rPr>
                <a:t>0</a:t>
              </a:r>
              <a:r>
                <a:rPr lang="zh-CN" altLang="en-US" b="1" dirty="0">
                  <a:solidFill>
                    <a:srgbClr val="6600FF"/>
                  </a:solidFill>
                  <a:latin typeface="黑体" panose="02010609060101010101" pitchFamily="49" charset="-122"/>
                  <a:ea typeface="黑体" panose="02010609060101010101" pitchFamily="49" charset="-122"/>
                </a:rPr>
                <a:t>。 </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11" name="Picture 4"/>
            <p:cNvPicPr>
              <a:picLocks noChangeAspect="1" noChangeArrowheads="1"/>
            </p:cNvPicPr>
            <p:nvPr/>
          </p:nvPicPr>
          <p:blipFill>
            <a:blip r:embed="rId1"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14" name="组合 35"/>
          <p:cNvGrpSpPr/>
          <p:nvPr/>
        </p:nvGrpSpPr>
        <p:grpSpPr>
          <a:xfrm>
            <a:off x="392432" y="712860"/>
            <a:ext cx="5724059" cy="420971"/>
            <a:chOff x="670560" y="892917"/>
            <a:chExt cx="5724059" cy="420971"/>
          </a:xfrm>
        </p:grpSpPr>
        <p:sp>
          <p:nvSpPr>
            <p:cNvPr id="15" name="矩形 14"/>
            <p:cNvSpPr/>
            <p:nvPr/>
          </p:nvSpPr>
          <p:spPr>
            <a:xfrm>
              <a:off x="1035233" y="913778"/>
              <a:ext cx="535938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集成双向移位寄存器</a:t>
              </a:r>
              <a:r>
                <a:rPr lang="en-US" altLang="zh-CN" sz="2000" b="1" dirty="0">
                  <a:solidFill>
                    <a:srgbClr val="002060"/>
                  </a:solidFill>
                  <a:latin typeface="微软雅黑" panose="020B0503020204020204" pitchFamily="34" charset="-122"/>
                  <a:ea typeface="微软雅黑" panose="020B0503020204020204" pitchFamily="34" charset="-122"/>
                </a:rPr>
                <a:t>74194</a:t>
              </a:r>
              <a:r>
                <a:rPr lang="zh-CN" altLang="en-US" sz="2000" b="1" dirty="0">
                  <a:solidFill>
                    <a:srgbClr val="002060"/>
                  </a:solidFill>
                  <a:latin typeface="微软雅黑" panose="020B0503020204020204" pitchFamily="34" charset="-122"/>
                  <a:ea typeface="微软雅黑" panose="020B0503020204020204" pitchFamily="34" charset="-122"/>
                </a:rPr>
                <a:t>的简单应用实例</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16"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17" name="组合 16"/>
          <p:cNvGrpSpPr/>
          <p:nvPr/>
        </p:nvGrpSpPr>
        <p:grpSpPr>
          <a:xfrm>
            <a:off x="2670174" y="2546350"/>
            <a:ext cx="3419475" cy="1997075"/>
            <a:chOff x="2670174" y="2546350"/>
            <a:chExt cx="3419475" cy="1997075"/>
          </a:xfrm>
        </p:grpSpPr>
        <p:sp>
          <p:nvSpPr>
            <p:cNvPr id="8" name="剪去对角的矩形 7"/>
            <p:cNvSpPr/>
            <p:nvPr/>
          </p:nvSpPr>
          <p:spPr>
            <a:xfrm>
              <a:off x="2670174" y="2546350"/>
              <a:ext cx="3419475" cy="1997075"/>
            </a:xfrm>
            <a:prstGeom prst="snip2DiagRect">
              <a:avLst>
                <a:gd name="adj1" fmla="val 0"/>
                <a:gd name="adj2" fmla="val 10101"/>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对象 3"/>
            <p:cNvGraphicFramePr>
              <a:graphicFrameLocks noChangeAspect="1"/>
            </p:cNvGraphicFramePr>
            <p:nvPr/>
          </p:nvGraphicFramePr>
          <p:xfrm>
            <a:off x="2821071" y="2742998"/>
            <a:ext cx="2979027" cy="1667928"/>
          </p:xfrm>
          <a:graphic>
            <a:graphicData uri="http://schemas.openxmlformats.org/presentationml/2006/ole">
              <mc:AlternateContent xmlns:mc="http://schemas.openxmlformats.org/markup-compatibility/2006">
                <mc:Choice xmlns:v="urn:schemas-microsoft-com:vml" Requires="v">
                  <p:oleObj spid="_x0000_s27660" name="Visio" r:id="rId3" imgW="1799590" imgH="1011555" progId="Visio.Drawing.11">
                    <p:embed/>
                  </p:oleObj>
                </mc:Choice>
                <mc:Fallback>
                  <p:oleObj name="Visio" r:id="rId3" imgW="1799590" imgH="1011555" progId="Visio.Drawing.11">
                    <p:embed/>
                    <p:pic>
                      <p:nvPicPr>
                        <p:cNvPr id="0" name="对象 3"/>
                        <p:cNvPicPr>
                          <a:picLocks noChangeAspect="1" noChangeArrowheads="1"/>
                        </p:cNvPicPr>
                        <p:nvPr/>
                      </p:nvPicPr>
                      <p:blipFill>
                        <a:blip r:embed="rId4"/>
                        <a:srcRect/>
                        <a:stretch>
                          <a:fillRect/>
                        </a:stretch>
                      </p:blipFill>
                      <p:spPr bwMode="auto">
                        <a:xfrm>
                          <a:off x="2821071" y="2742998"/>
                          <a:ext cx="2979027" cy="1667928"/>
                        </a:xfrm>
                        <a:prstGeom prst="rect">
                          <a:avLst/>
                        </a:prstGeom>
                        <a:noFill/>
                        <a:ln>
                          <a:noFill/>
                        </a:ln>
                      </p:spPr>
                    </p:pic>
                  </p:oleObj>
                </mc:Fallback>
              </mc:AlternateContent>
            </a:graphicData>
          </a:graphic>
        </p:graphicFrame>
      </p:grpSp>
      <p:sp>
        <p:nvSpPr>
          <p:cNvPr id="18" name="圆角矩形标注 17"/>
          <p:cNvSpPr/>
          <p:nvPr/>
        </p:nvSpPr>
        <p:spPr>
          <a:xfrm>
            <a:off x="1510775" y="2967270"/>
            <a:ext cx="914400" cy="434212"/>
          </a:xfrm>
          <a:prstGeom prst="wedgeRoundRectCallout">
            <a:avLst>
              <a:gd name="adj1" fmla="val 86857"/>
              <a:gd name="adj2" fmla="val 48160"/>
              <a:gd name="adj3" fmla="val 16667"/>
            </a:avLst>
          </a:prstGeom>
          <a:solidFill>
            <a:schemeClr val="accent2">
              <a:lumMod val="60000"/>
              <a:lumOff val="40000"/>
            </a:schemeClr>
          </a:solidFill>
          <a:ln w="38100">
            <a:solidFill>
              <a:srgbClr val="0070C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400" dirty="0">
                <a:solidFill>
                  <a:srgbClr val="0000FF"/>
                </a:solidFill>
                <a:latin typeface="微软雅黑" panose="020B0503020204020204" pitchFamily="34" charset="-122"/>
                <a:ea typeface="微软雅黑" panose="020B0503020204020204" pitchFamily="34" charset="-122"/>
              </a:rPr>
              <a:t>序列输入</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19" name="圆角矩形标注 18"/>
          <p:cNvSpPr/>
          <p:nvPr/>
        </p:nvSpPr>
        <p:spPr>
          <a:xfrm>
            <a:off x="6349352" y="2643429"/>
            <a:ext cx="1120129" cy="383412"/>
          </a:xfrm>
          <a:prstGeom prst="wedgeRoundRectCallout">
            <a:avLst>
              <a:gd name="adj1" fmla="val -74255"/>
              <a:gd name="adj2" fmla="val 40848"/>
              <a:gd name="adj3" fmla="val 16667"/>
            </a:avLst>
          </a:prstGeom>
          <a:solidFill>
            <a:schemeClr val="accent2">
              <a:lumMod val="60000"/>
              <a:lumOff val="40000"/>
            </a:schemeClr>
          </a:solidFill>
          <a:ln w="38100">
            <a:solidFill>
              <a:srgbClr val="0070C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400" dirty="0">
                <a:solidFill>
                  <a:srgbClr val="0000FF"/>
                </a:solidFill>
                <a:latin typeface="微软雅黑" panose="020B0503020204020204" pitchFamily="34" charset="-122"/>
                <a:ea typeface="微软雅黑" panose="020B0503020204020204" pitchFamily="34" charset="-122"/>
              </a:rPr>
              <a:t>检测结果输出</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20" name="椭圆 19"/>
          <p:cNvSpPr/>
          <p:nvPr/>
        </p:nvSpPr>
        <p:spPr>
          <a:xfrm>
            <a:off x="4127634" y="3112071"/>
            <a:ext cx="180000" cy="274023"/>
          </a:xfrm>
          <a:prstGeom prst="ellipse">
            <a:avLst/>
          </a:prstGeom>
          <a:solidFill>
            <a:srgbClr val="FF00FF"/>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fontScale="92500" lnSpcReduction="20000"/>
          </a:bodyPr>
          <a:lstStyle/>
          <a:p>
            <a:pPr algn="ctr"/>
            <a:r>
              <a:rPr lang="en-US" altLang="zh-CN" sz="1600" b="1" dirty="0">
                <a:solidFill>
                  <a:srgbClr val="FFFF00"/>
                </a:solidFill>
                <a:latin typeface="Times New Roman" panose="02020603050405020304" pitchFamily="18" charset="0"/>
                <a:cs typeface="Times New Roman" panose="02020603050405020304" pitchFamily="18" charset="0"/>
              </a:rPr>
              <a:t>1</a:t>
            </a:r>
            <a:endParaRPr lang="zh-CN" altLang="en-US" sz="1600" b="1" dirty="0">
              <a:solidFill>
                <a:srgbClr val="FFFF00"/>
              </a:solidFill>
              <a:latin typeface="Times New Roman" panose="02020603050405020304" pitchFamily="18" charset="0"/>
              <a:cs typeface="Times New Roman" panose="02020603050405020304" pitchFamily="18" charset="0"/>
            </a:endParaRPr>
          </a:p>
        </p:txBody>
      </p:sp>
      <p:sp>
        <p:nvSpPr>
          <p:cNvPr id="21" name="椭圆 20"/>
          <p:cNvSpPr/>
          <p:nvPr/>
        </p:nvSpPr>
        <p:spPr>
          <a:xfrm>
            <a:off x="3837582" y="3108560"/>
            <a:ext cx="180000" cy="274023"/>
          </a:xfrm>
          <a:prstGeom prst="ellipse">
            <a:avLst/>
          </a:prstGeom>
          <a:solidFill>
            <a:srgbClr val="FF00FF"/>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fontScale="92500" lnSpcReduction="20000"/>
          </a:bodyPr>
          <a:lstStyle/>
          <a:p>
            <a:pPr algn="ctr"/>
            <a:r>
              <a:rPr lang="en-US" altLang="zh-CN" sz="1600" b="1" dirty="0">
                <a:solidFill>
                  <a:srgbClr val="FFFF00"/>
                </a:solidFill>
                <a:latin typeface="Times New Roman" panose="02020603050405020304" pitchFamily="18" charset="0"/>
                <a:cs typeface="Times New Roman" panose="02020603050405020304" pitchFamily="18" charset="0"/>
              </a:rPr>
              <a:t>1</a:t>
            </a:r>
            <a:endParaRPr lang="zh-CN" altLang="en-US" sz="1600" b="1" dirty="0">
              <a:solidFill>
                <a:srgbClr val="FFFF00"/>
              </a:solidFill>
              <a:latin typeface="Times New Roman" panose="02020603050405020304" pitchFamily="18" charset="0"/>
              <a:cs typeface="Times New Roman" panose="02020603050405020304" pitchFamily="18" charset="0"/>
            </a:endParaRPr>
          </a:p>
        </p:txBody>
      </p:sp>
      <p:sp>
        <p:nvSpPr>
          <p:cNvPr id="22" name="椭圆 21"/>
          <p:cNvSpPr/>
          <p:nvPr/>
        </p:nvSpPr>
        <p:spPr>
          <a:xfrm>
            <a:off x="3167584" y="3264471"/>
            <a:ext cx="180000" cy="274023"/>
          </a:xfrm>
          <a:prstGeom prst="ellipse">
            <a:avLst/>
          </a:prstGeom>
          <a:solidFill>
            <a:srgbClr val="FF00FF"/>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fontScale="92500" lnSpcReduction="20000"/>
          </a:bodyPr>
          <a:lstStyle/>
          <a:p>
            <a:pPr algn="ctr"/>
            <a:r>
              <a:rPr lang="en-US" altLang="zh-CN" sz="1600" b="1" dirty="0">
                <a:solidFill>
                  <a:srgbClr val="FFFF00"/>
                </a:solidFill>
                <a:latin typeface="Times New Roman" panose="02020603050405020304" pitchFamily="18" charset="0"/>
                <a:cs typeface="Times New Roman" panose="02020603050405020304" pitchFamily="18" charset="0"/>
              </a:rPr>
              <a:t>0</a:t>
            </a:r>
            <a:endParaRPr lang="zh-CN" altLang="en-US" sz="1600" b="1" dirty="0">
              <a:solidFill>
                <a:srgbClr val="FFFF00"/>
              </a:solidFill>
              <a:latin typeface="Times New Roman" panose="02020603050405020304" pitchFamily="18" charset="0"/>
              <a:cs typeface="Times New Roman" panose="02020603050405020304" pitchFamily="18" charset="0"/>
            </a:endParaRPr>
          </a:p>
        </p:txBody>
      </p:sp>
      <p:sp>
        <p:nvSpPr>
          <p:cNvPr id="23" name="圆角矩形标注 22"/>
          <p:cNvSpPr/>
          <p:nvPr/>
        </p:nvSpPr>
        <p:spPr>
          <a:xfrm>
            <a:off x="5906225" y="3538494"/>
            <a:ext cx="1120129" cy="383412"/>
          </a:xfrm>
          <a:prstGeom prst="wedgeRoundRectCallout">
            <a:avLst>
              <a:gd name="adj1" fmla="val -74255"/>
              <a:gd name="adj2" fmla="val 40848"/>
              <a:gd name="adj3" fmla="val 16667"/>
            </a:avLst>
          </a:prstGeom>
          <a:solidFill>
            <a:schemeClr val="accent2">
              <a:lumMod val="60000"/>
              <a:lumOff val="40000"/>
            </a:schemeClr>
          </a:solidFill>
          <a:ln w="38100">
            <a:solidFill>
              <a:srgbClr val="0070C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400" dirty="0">
                <a:solidFill>
                  <a:srgbClr val="0000FF"/>
                </a:solidFill>
                <a:latin typeface="微软雅黑" panose="020B0503020204020204" pitchFamily="34" charset="-122"/>
                <a:ea typeface="微软雅黑" panose="020B0503020204020204" pitchFamily="34" charset="-122"/>
              </a:rPr>
              <a:t>右移模式</a:t>
            </a:r>
            <a:endParaRPr lang="zh-CN" altLang="en-US" sz="1400" dirty="0">
              <a:solidFill>
                <a:srgbClr val="0000FF"/>
              </a:solidFill>
              <a:latin typeface="微软雅黑" panose="020B0503020204020204" pitchFamily="34" charset="-122"/>
              <a:ea typeface="微软雅黑" panose="020B0503020204020204" pitchFamily="34" charset="-122"/>
            </a:endParaRPr>
          </a:p>
        </p:txBody>
      </p:sp>
      <p:sp>
        <p:nvSpPr>
          <p:cNvPr id="24" name="圆角矩形 23"/>
          <p:cNvSpPr/>
          <p:nvPr/>
        </p:nvSpPr>
        <p:spPr>
          <a:xfrm>
            <a:off x="5256578" y="3576962"/>
            <a:ext cx="296008" cy="521754"/>
          </a:xfrm>
          <a:prstGeom prst="roundRect">
            <a:avLst/>
          </a:prstGeom>
          <a:solidFill>
            <a:schemeClr val="accent2">
              <a:alpha val="2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5822801" y="2889829"/>
            <a:ext cx="180000" cy="274023"/>
          </a:xfrm>
          <a:prstGeom prst="ellipse">
            <a:avLst/>
          </a:prstGeom>
          <a:solidFill>
            <a:srgbClr val="FF00FF"/>
          </a:solidFill>
          <a:ln w="28575">
            <a:solidFill>
              <a:srgbClr val="6600FF"/>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fontScale="92500" lnSpcReduction="20000"/>
          </a:bodyPr>
          <a:lstStyle/>
          <a:p>
            <a:pPr algn="ctr"/>
            <a:r>
              <a:rPr lang="en-US" altLang="zh-CN" sz="1600" b="1" dirty="0">
                <a:solidFill>
                  <a:srgbClr val="FFFF00"/>
                </a:solidFill>
                <a:latin typeface="Times New Roman" panose="02020603050405020304" pitchFamily="18" charset="0"/>
                <a:cs typeface="Times New Roman" panose="02020603050405020304" pitchFamily="18" charset="0"/>
              </a:rPr>
              <a:t>1</a:t>
            </a:r>
            <a:endParaRPr lang="zh-CN" altLang="en-US" sz="1600" b="1" dirty="0">
              <a:solidFill>
                <a:srgbClr val="FFFF00"/>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1000" fill="hold"/>
                                        <p:tgtEl>
                                          <p:spTgt spid="24"/>
                                        </p:tgtEl>
                                        <p:attrNameLst>
                                          <p:attrName>ppt_w</p:attrName>
                                        </p:attrNameLst>
                                      </p:cBhvr>
                                      <p:tavLst>
                                        <p:tav tm="0">
                                          <p:val>
                                            <p:fltVal val="0"/>
                                          </p:val>
                                        </p:tav>
                                        <p:tav tm="100000">
                                          <p:val>
                                            <p:strVal val="#ppt_w"/>
                                          </p:val>
                                        </p:tav>
                                      </p:tavLst>
                                    </p:anim>
                                    <p:anim calcmode="lin" valueType="num">
                                      <p:cBhvr>
                                        <p:cTn id="8" dur="1000" fill="hold"/>
                                        <p:tgtEl>
                                          <p:spTgt spid="24"/>
                                        </p:tgtEl>
                                        <p:attrNameLst>
                                          <p:attrName>ppt_h</p:attrName>
                                        </p:attrNameLst>
                                      </p:cBhvr>
                                      <p:tavLst>
                                        <p:tav tm="0">
                                          <p:val>
                                            <p:fltVal val="0"/>
                                          </p:val>
                                        </p:tav>
                                        <p:tav tm="100000">
                                          <p:val>
                                            <p:strVal val="#ppt_h"/>
                                          </p:val>
                                        </p:tav>
                                      </p:tavLst>
                                    </p:anim>
                                  </p:childTnLst>
                                </p:cTn>
                              </p:par>
                            </p:childTnLst>
                          </p:cTn>
                        </p:par>
                        <p:par>
                          <p:cTn id="9" fill="hold">
                            <p:stCondLst>
                              <p:cond delay="1000"/>
                            </p:stCondLst>
                            <p:childTnLst>
                              <p:par>
                                <p:cTn id="10" presetID="22" presetClass="entr" presetSubtype="8" fill="hold" grpId="0" nodeType="after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1000"/>
                                        <p:tgtEl>
                                          <p:spTgt spid="23"/>
                                        </p:tgtEl>
                                      </p:cBhvr>
                                    </p:animEffect>
                                  </p:childTnLst>
                                </p:cTn>
                              </p:par>
                            </p:childTnLst>
                          </p:cTn>
                        </p:par>
                        <p:par>
                          <p:cTn id="13" fill="hold">
                            <p:stCondLst>
                              <p:cond delay="2000"/>
                            </p:stCondLst>
                            <p:childTnLst>
                              <p:par>
                                <p:cTn id="14" presetID="22" presetClass="entr" presetSubtype="2" fill="hold" grpId="0"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right)">
                                      <p:cBhvr>
                                        <p:cTn id="16" dur="1000"/>
                                        <p:tgtEl>
                                          <p:spTgt spid="18"/>
                                        </p:tgtEl>
                                      </p:cBhvr>
                                    </p:animEffect>
                                  </p:childTnLst>
                                </p:cTn>
                              </p:par>
                            </p:childTnLst>
                          </p:cTn>
                        </p:par>
                        <p:par>
                          <p:cTn id="17" fill="hold">
                            <p:stCondLst>
                              <p:cond delay="3000"/>
                            </p:stCondLst>
                            <p:childTnLst>
                              <p:par>
                                <p:cTn id="18" presetID="22" presetClass="entr" presetSubtype="8" fill="hold" grpId="0"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10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slide(fromBottom)">
                                      <p:cBhvr>
                                        <p:cTn id="25" dur="1000"/>
                                        <p:tgtEl>
                                          <p:spTgt spid="20"/>
                                        </p:tgtEl>
                                      </p:cBhvr>
                                    </p:animEffect>
                                  </p:childTnLst>
                                </p:cTn>
                              </p:par>
                              <p:par>
                                <p:cTn id="26" presetID="12" presetClass="entr" presetSubtype="4"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slide(fromBottom)">
                                      <p:cBhvr>
                                        <p:cTn id="28" dur="1000"/>
                                        <p:tgtEl>
                                          <p:spTgt spid="21"/>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lide(fromBottom)">
                                      <p:cBhvr>
                                        <p:cTn id="31" dur="1000"/>
                                        <p:tgtEl>
                                          <p:spTgt spid="22"/>
                                        </p:tgtEl>
                                      </p:cBhvr>
                                    </p:animEffect>
                                  </p:childTnLst>
                                </p:cTn>
                              </p:par>
                            </p:childTnLst>
                          </p:cTn>
                        </p:par>
                        <p:par>
                          <p:cTn id="32" fill="hold">
                            <p:stCondLst>
                              <p:cond delay="1000"/>
                            </p:stCondLst>
                            <p:childTnLst>
                              <p:par>
                                <p:cTn id="33" presetID="12" presetClass="entr" presetSubtype="4" fill="hold" grpId="0" nodeType="after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slide(fromBottom)">
                                      <p:cBhvr>
                                        <p:cTn id="35"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01090" y="1824567"/>
            <a:ext cx="6713220" cy="2072333"/>
            <a:chOff x="1101090" y="1824567"/>
            <a:chExt cx="6713220" cy="2072333"/>
          </a:xfrm>
        </p:grpSpPr>
        <p:grpSp>
          <p:nvGrpSpPr>
            <p:cNvPr id="17" name="组合 16"/>
            <p:cNvGrpSpPr/>
            <p:nvPr/>
          </p:nvGrpSpPr>
          <p:grpSpPr>
            <a:xfrm>
              <a:off x="1101090" y="1824567"/>
              <a:ext cx="1371600" cy="760000"/>
              <a:chOff x="910590" y="1565910"/>
              <a:chExt cx="1371600" cy="684000"/>
            </a:xfrm>
          </p:grpSpPr>
          <p:grpSp>
            <p:nvGrpSpPr>
              <p:cNvPr id="18" name="组合 17"/>
              <p:cNvGrpSpPr/>
              <p:nvPr/>
            </p:nvGrpSpPr>
            <p:grpSpPr>
              <a:xfrm>
                <a:off x="910590" y="1699260"/>
                <a:ext cx="1371600" cy="99060"/>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19" name="组合 18"/>
              <p:cNvGrpSpPr/>
              <p:nvPr/>
            </p:nvGrpSpPr>
            <p:grpSpPr>
              <a:xfrm rot="5400000">
                <a:off x="728610" y="1866000"/>
                <a:ext cx="684000" cy="83820"/>
                <a:chOff x="910590" y="1699260"/>
                <a:chExt cx="1371600" cy="99060"/>
              </a:xfrm>
            </p:grpSpPr>
            <p:cxnSp>
              <p:nvCxnSpPr>
                <p:cNvPr id="20" name="直接连接符 1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24" name="组合 23"/>
            <p:cNvGrpSpPr/>
            <p:nvPr/>
          </p:nvGrpSpPr>
          <p:grpSpPr>
            <a:xfrm rot="10800000">
              <a:off x="6442710" y="3136900"/>
              <a:ext cx="1371600" cy="760000"/>
              <a:chOff x="910590" y="1565910"/>
              <a:chExt cx="1371600" cy="684000"/>
            </a:xfrm>
          </p:grpSpPr>
          <p:grpSp>
            <p:nvGrpSpPr>
              <p:cNvPr id="26" name="组合 35"/>
              <p:cNvGrpSpPr/>
              <p:nvPr/>
            </p:nvGrpSpPr>
            <p:grpSpPr>
              <a:xfrm>
                <a:off x="910590" y="1699260"/>
                <a:ext cx="1371600" cy="99060"/>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7" name="组合 36"/>
              <p:cNvGrpSpPr/>
              <p:nvPr/>
            </p:nvGrpSpPr>
            <p:grpSpPr>
              <a:xfrm rot="5400000">
                <a:off x="728610" y="1866000"/>
                <a:ext cx="684000" cy="83820"/>
                <a:chOff x="910590" y="1699260"/>
                <a:chExt cx="1371600" cy="99060"/>
              </a:xfrm>
            </p:grpSpPr>
            <p:cxnSp>
              <p:nvCxnSpPr>
                <p:cNvPr id="28" name="直接连接符 2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0" name="直接连接符 2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33" name="文本框 6"/>
            <p:cNvSpPr txBox="1"/>
            <p:nvPr/>
          </p:nvSpPr>
          <p:spPr>
            <a:xfrm>
              <a:off x="1344194" y="1972734"/>
              <a:ext cx="6150077" cy="708592"/>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6</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时序逻辑电路</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
          <p:nvSpPr>
            <p:cNvPr id="34" name="矩形 33"/>
            <p:cNvSpPr/>
            <p:nvPr/>
          </p:nvSpPr>
          <p:spPr>
            <a:xfrm>
              <a:off x="2236670" y="2835571"/>
              <a:ext cx="4365123" cy="984885"/>
            </a:xfrm>
            <a:prstGeom prst="rect">
              <a:avLst/>
            </a:prstGeom>
          </p:spPr>
          <p:txBody>
            <a:bodyPr wrap="square">
              <a:spAutoFit/>
            </a:bodyPr>
            <a:lstStyle/>
            <a:p>
              <a:pPr algn="ctr">
                <a:spcBef>
                  <a:spcPts val="600"/>
                </a:spcBef>
              </a:pPr>
              <a:r>
                <a:rPr lang="en-US" altLang="zh-CN"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6.5 </a:t>
              </a:r>
              <a:r>
                <a:rPr lang="zh-CN" altLang="en-US"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计数器</a:t>
              </a:r>
              <a:endParaRPr lang="en-US" altLang="zh-CN"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spcBef>
                  <a:spcPts val="1200"/>
                </a:spcBef>
              </a:pPr>
              <a:r>
                <a:rPr lang="zh-CN" altLang="en-US"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a:t>
              </a:r>
              <a:r>
                <a:rPr lang="en-US" altLang="zh-CN"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1</a:t>
              </a:r>
              <a:r>
                <a:rPr lang="zh-CN" altLang="en-US"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）计数器基础知识</a:t>
              </a:r>
              <a:endParaRPr lang="zh-CN" altLang="en-US"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392432" y="712860"/>
            <a:ext cx="1831741" cy="420971"/>
            <a:chOff x="670560" y="892917"/>
            <a:chExt cx="1831741" cy="420971"/>
          </a:xfrm>
        </p:grpSpPr>
        <p:sp>
          <p:nvSpPr>
            <p:cNvPr id="20" name="矩形 19"/>
            <p:cNvSpPr/>
            <p:nvPr/>
          </p:nvSpPr>
          <p:spPr>
            <a:xfrm>
              <a:off x="1035233" y="913778"/>
              <a:ext cx="1467068" cy="400110"/>
            </a:xfrm>
            <a:prstGeom prst="rect">
              <a:avLst/>
            </a:prstGeom>
          </p:spPr>
          <p:txBody>
            <a:bodyPr wrap="none">
              <a:spAutoFit/>
            </a:bodyPr>
            <a:lstStyle/>
            <a:p>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计数器概述</a:t>
              </a:r>
              <a:endPar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22" name="Rectangle 7"/>
          <p:cNvSpPr>
            <a:spLocks noChangeArrowheads="1"/>
          </p:cNvSpPr>
          <p:nvPr/>
        </p:nvSpPr>
        <p:spPr bwMode="auto">
          <a:xfrm>
            <a:off x="312808" y="1166482"/>
            <a:ext cx="2704516" cy="458908"/>
          </a:xfrm>
          <a:prstGeom prst="rect">
            <a:avLst/>
          </a:prstGeom>
          <a:noFill/>
          <a:ln w="9525" algn="ctr">
            <a:noFill/>
            <a:miter lim="800000"/>
          </a:ln>
        </p:spPr>
        <p:txBody>
          <a:bodyPr wrap="square" lIns="0" rIns="0">
            <a:spAutoFit/>
          </a:bodyPr>
          <a:lstStyle/>
          <a:p>
            <a:pPr marL="895350" indent="-895350">
              <a:lnSpc>
                <a:spcPct val="150000"/>
              </a:lnSpc>
            </a:pPr>
            <a:r>
              <a:rPr lang="zh-CN" altLang="en-US"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）计数器的逻辑功能</a:t>
            </a:r>
            <a:endParaRPr lang="zh-CN" altLang="en-US"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6" name="矩形 35"/>
          <p:cNvSpPr/>
          <p:nvPr/>
        </p:nvSpPr>
        <p:spPr>
          <a:xfrm>
            <a:off x="316817" y="1590113"/>
            <a:ext cx="8642699" cy="753220"/>
          </a:xfrm>
          <a:prstGeom prst="rect">
            <a:avLst/>
          </a:prstGeom>
        </p:spPr>
        <p:txBody>
          <a:bodyPr wrap="square">
            <a:spAutoFit/>
          </a:bodyPr>
          <a:lstStyle/>
          <a:p>
            <a:pPr indent="449580">
              <a:lnSpc>
                <a:spcPct val="125000"/>
              </a:lnSpc>
            </a:pPr>
            <a:r>
              <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计数器的基本功能是对</a:t>
            </a:r>
            <a:r>
              <a:rPr kumimoji="1" lang="zh-CN" altLang="en-US"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输入时钟脉冲进行计数</a:t>
            </a:r>
            <a:r>
              <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。也可用于</a:t>
            </a:r>
            <a:r>
              <a:rPr kumimoji="1" lang="zh-CN" altLang="en-US"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分频、定时、产生节拍脉冲和脉冲序列</a:t>
            </a:r>
            <a:r>
              <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7" name="Rectangle 7"/>
          <p:cNvSpPr>
            <a:spLocks noChangeArrowheads="1"/>
          </p:cNvSpPr>
          <p:nvPr/>
        </p:nvSpPr>
        <p:spPr bwMode="auto">
          <a:xfrm>
            <a:off x="312808" y="2317469"/>
            <a:ext cx="2704516" cy="458715"/>
          </a:xfrm>
          <a:prstGeom prst="rect">
            <a:avLst/>
          </a:prstGeom>
          <a:noFill/>
          <a:ln w="9525" algn="ctr">
            <a:noFill/>
            <a:miter lim="800000"/>
          </a:ln>
        </p:spPr>
        <p:txBody>
          <a:bodyPr wrap="square" lIns="0" rIns="0">
            <a:spAutoFit/>
          </a:bodyPr>
          <a:lstStyle/>
          <a:p>
            <a:pPr marL="895350" indent="-895350">
              <a:lnSpc>
                <a:spcPct val="150000"/>
              </a:lnSpc>
            </a:pPr>
            <a:r>
              <a:rPr lang="zh-CN" altLang="en-US"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）计数器的分类</a:t>
            </a:r>
            <a:endParaRPr lang="zh-CN" altLang="en-US"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8" name="Text Box 7"/>
          <p:cNvSpPr txBox="1">
            <a:spLocks noChangeArrowheads="1"/>
          </p:cNvSpPr>
          <p:nvPr/>
        </p:nvSpPr>
        <p:spPr bwMode="auto">
          <a:xfrm>
            <a:off x="846138" y="2806081"/>
            <a:ext cx="4463799" cy="369332"/>
          </a:xfrm>
          <a:prstGeom prst="rect">
            <a:avLst/>
          </a:prstGeom>
          <a:noFill/>
          <a:ln w="12700">
            <a:noFill/>
            <a:miter lim="800000"/>
          </a:ln>
        </p:spPr>
        <p:txBody>
          <a:bodyPr wrap="square">
            <a:spAutoFit/>
          </a:bodyPr>
          <a:lstStyle/>
          <a:p>
            <a:pPr>
              <a:spcBef>
                <a:spcPct val="50000"/>
              </a:spcBef>
            </a:pPr>
            <a:r>
              <a:rPr kumimoji="1" lang="zh-CN" altLang="en-US"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按脉冲输入方式</a:t>
            </a:r>
            <a:r>
              <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：同步和异步计数器。</a:t>
            </a:r>
            <a:endParaRPr kumimoji="1"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9" name="Text Box 8"/>
          <p:cNvSpPr txBox="1">
            <a:spLocks noChangeArrowheads="1"/>
          </p:cNvSpPr>
          <p:nvPr/>
        </p:nvSpPr>
        <p:spPr bwMode="auto">
          <a:xfrm>
            <a:off x="858838" y="3161418"/>
            <a:ext cx="8000853" cy="646331"/>
          </a:xfrm>
          <a:prstGeom prst="rect">
            <a:avLst/>
          </a:prstGeom>
          <a:noFill/>
          <a:ln w="12700">
            <a:noFill/>
            <a:miter lim="800000"/>
          </a:ln>
        </p:spPr>
        <p:txBody>
          <a:bodyPr wrap="square">
            <a:spAutoFit/>
          </a:bodyPr>
          <a:lstStyle/>
          <a:p>
            <a:pPr marL="2329180" indent="-2329180">
              <a:spcBef>
                <a:spcPct val="50000"/>
              </a:spcBef>
            </a:pPr>
            <a:r>
              <a:rPr kumimoji="1" lang="zh-CN" altLang="en-US"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按容量（进位体制）</a:t>
            </a:r>
            <a:r>
              <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：二进制</a:t>
            </a:r>
            <a:r>
              <a:rPr lang="zh-CN" altLang="zh-CN" dirty="0">
                <a:latin typeface="Times New Roman" panose="02020603050405020304" pitchFamily="18" charset="0"/>
                <a:cs typeface="Times New Roman" panose="02020603050405020304" pitchFamily="18" charset="0"/>
              </a:rPr>
              <a:t>（模为</a:t>
            </a:r>
            <a:r>
              <a:rPr lang="en-US" altLang="zh-CN" dirty="0">
                <a:latin typeface="Times New Roman" panose="02020603050405020304" pitchFamily="18" charset="0"/>
                <a:cs typeface="Times New Roman" panose="02020603050405020304" pitchFamily="18" charset="0"/>
              </a:rPr>
              <a:t>2</a:t>
            </a:r>
            <a:r>
              <a:rPr lang="en-US" altLang="zh-CN" i="1" baseline="30000" dirty="0">
                <a:latin typeface="Times New Roman" panose="02020603050405020304" pitchFamily="18" charset="0"/>
                <a:cs typeface="Times New Roman" panose="02020603050405020304" pitchFamily="18" charset="0"/>
              </a:rPr>
              <a:t>n</a:t>
            </a:r>
            <a:r>
              <a:rPr lang="zh-CN" altLang="zh-CN" dirty="0">
                <a:latin typeface="Times New Roman" panose="02020603050405020304" pitchFamily="18" charset="0"/>
                <a:cs typeface="Times New Roman" panose="02020603050405020304" pitchFamily="18" charset="0"/>
              </a:rPr>
              <a:t>）</a:t>
            </a:r>
            <a:r>
              <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、十进制</a:t>
            </a:r>
            <a:r>
              <a:rPr lang="zh-CN" altLang="zh-CN" dirty="0">
                <a:latin typeface="Times New Roman" panose="02020603050405020304" pitchFamily="18" charset="0"/>
                <a:cs typeface="Times New Roman" panose="02020603050405020304" pitchFamily="18" charset="0"/>
              </a:rPr>
              <a:t>（模为</a:t>
            </a:r>
            <a:r>
              <a:rPr lang="en-US" altLang="zh-CN" dirty="0">
                <a:latin typeface="Times New Roman" panose="02020603050405020304" pitchFamily="18" charset="0"/>
                <a:cs typeface="Times New Roman" panose="02020603050405020304" pitchFamily="18" charset="0"/>
              </a:rPr>
              <a:t>10</a:t>
            </a:r>
            <a:r>
              <a:rPr lang="en-US" altLang="zh-CN" i="1" baseline="30000" dirty="0">
                <a:latin typeface="Times New Roman" panose="02020603050405020304" pitchFamily="18" charset="0"/>
                <a:cs typeface="Times New Roman" panose="02020603050405020304" pitchFamily="18" charset="0"/>
              </a:rPr>
              <a:t>n</a:t>
            </a:r>
            <a:r>
              <a:rPr lang="zh-CN" altLang="zh-CN" dirty="0">
                <a:latin typeface="Times New Roman" panose="02020603050405020304" pitchFamily="18" charset="0"/>
                <a:cs typeface="Times New Roman" panose="02020603050405020304" pitchFamily="18" charset="0"/>
              </a:rPr>
              <a:t>）</a:t>
            </a:r>
            <a:r>
              <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和任意进制计数器。</a:t>
            </a:r>
            <a:endPar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0" name="Text Box 9"/>
          <p:cNvSpPr txBox="1">
            <a:spLocks noChangeArrowheads="1"/>
          </p:cNvSpPr>
          <p:nvPr/>
        </p:nvSpPr>
        <p:spPr bwMode="auto">
          <a:xfrm>
            <a:off x="860425" y="3891186"/>
            <a:ext cx="5559425" cy="369332"/>
          </a:xfrm>
          <a:prstGeom prst="rect">
            <a:avLst/>
          </a:prstGeom>
          <a:noFill/>
          <a:ln w="12700">
            <a:noFill/>
            <a:miter lim="800000"/>
          </a:ln>
        </p:spPr>
        <p:txBody>
          <a:bodyPr wrap="square">
            <a:spAutoFit/>
          </a:bodyPr>
          <a:lstStyle/>
          <a:p>
            <a:pPr>
              <a:spcBef>
                <a:spcPct val="50000"/>
              </a:spcBef>
            </a:pPr>
            <a:r>
              <a:rPr kumimoji="1" lang="zh-CN" altLang="en-US"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按数字</a:t>
            </a:r>
            <a:r>
              <a:rPr kumimoji="1" lang="zh-CN" altLang="zh-CN"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增减趋势</a:t>
            </a:r>
            <a:r>
              <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：加法、减法和可逆计数器。</a:t>
            </a:r>
            <a:endPar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3" name="Rectangle 7"/>
          <p:cNvSpPr>
            <a:spLocks noChangeArrowheads="1"/>
          </p:cNvSpPr>
          <p:nvPr/>
        </p:nvSpPr>
        <p:spPr bwMode="auto">
          <a:xfrm>
            <a:off x="312808" y="4320891"/>
            <a:ext cx="2704516" cy="458715"/>
          </a:xfrm>
          <a:prstGeom prst="rect">
            <a:avLst/>
          </a:prstGeom>
          <a:noFill/>
          <a:ln w="9525" algn="ctr">
            <a:noFill/>
            <a:miter lim="800000"/>
          </a:ln>
        </p:spPr>
        <p:txBody>
          <a:bodyPr wrap="square" lIns="0" rIns="0">
            <a:spAutoFit/>
          </a:bodyPr>
          <a:lstStyle/>
          <a:p>
            <a:pPr marL="895350" indent="-895350">
              <a:lnSpc>
                <a:spcPct val="150000"/>
              </a:lnSpc>
            </a:pPr>
            <a:r>
              <a:rPr lang="zh-CN" altLang="en-US"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）计数器的模</a:t>
            </a:r>
            <a:endParaRPr lang="zh-CN" altLang="en-US"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4" name="矩形 43"/>
          <p:cNvSpPr/>
          <p:nvPr/>
        </p:nvSpPr>
        <p:spPr>
          <a:xfrm>
            <a:off x="846138" y="4749741"/>
            <a:ext cx="7431505" cy="406971"/>
          </a:xfrm>
          <a:prstGeom prst="rect">
            <a:avLst/>
          </a:prstGeom>
        </p:spPr>
        <p:txBody>
          <a:bodyPr wrap="square">
            <a:spAutoFit/>
          </a:bodyPr>
          <a:lstStyle/>
          <a:p>
            <a:pPr>
              <a:lnSpc>
                <a:spcPct val="125000"/>
              </a:lnSpc>
            </a:pPr>
            <a:r>
              <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计数器的模也就是计数器的容量，一个计数器的模数等于其状态数。</a:t>
            </a:r>
            <a:endPar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14:prism dir="u"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1000"/>
                                        <p:tgtEl>
                                          <p:spTgt spid="37"/>
                                        </p:tgtEl>
                                      </p:cBhvr>
                                    </p:animEffect>
                                    <p:anim calcmode="lin" valueType="num">
                                      <p:cBhvr>
                                        <p:cTn id="8" dur="1000" fill="hold"/>
                                        <p:tgtEl>
                                          <p:spTgt spid="37"/>
                                        </p:tgtEl>
                                        <p:attrNameLst>
                                          <p:attrName>ppt_x</p:attrName>
                                        </p:attrNameLst>
                                      </p:cBhvr>
                                      <p:tavLst>
                                        <p:tav tm="0">
                                          <p:val>
                                            <p:strVal val="#ppt_x"/>
                                          </p:val>
                                        </p:tav>
                                        <p:tav tm="100000">
                                          <p:val>
                                            <p:strVal val="#ppt_x"/>
                                          </p:val>
                                        </p:tav>
                                      </p:tavLst>
                                    </p:anim>
                                    <p:anim calcmode="lin" valueType="num">
                                      <p:cBhvr>
                                        <p:cTn id="9" dur="1000" fill="hold"/>
                                        <p:tgtEl>
                                          <p:spTgt spid="3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1000"/>
                                        <p:tgtEl>
                                          <p:spTgt spid="38"/>
                                        </p:tgtEl>
                                      </p:cBhvr>
                                    </p:animEffect>
                                    <p:anim calcmode="lin" valueType="num">
                                      <p:cBhvr>
                                        <p:cTn id="14" dur="1000" fill="hold"/>
                                        <p:tgtEl>
                                          <p:spTgt spid="38"/>
                                        </p:tgtEl>
                                        <p:attrNameLst>
                                          <p:attrName>ppt_x</p:attrName>
                                        </p:attrNameLst>
                                      </p:cBhvr>
                                      <p:tavLst>
                                        <p:tav tm="0">
                                          <p:val>
                                            <p:strVal val="#ppt_x"/>
                                          </p:val>
                                        </p:tav>
                                        <p:tav tm="100000">
                                          <p:val>
                                            <p:strVal val="#ppt_x"/>
                                          </p:val>
                                        </p:tav>
                                      </p:tavLst>
                                    </p:anim>
                                    <p:anim calcmode="lin" valueType="num">
                                      <p:cBhvr>
                                        <p:cTn id="15" dur="1000" fill="hold"/>
                                        <p:tgtEl>
                                          <p:spTgt spid="38"/>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1000"/>
                                        <p:tgtEl>
                                          <p:spTgt spid="39"/>
                                        </p:tgtEl>
                                      </p:cBhvr>
                                    </p:animEffect>
                                    <p:anim calcmode="lin" valueType="num">
                                      <p:cBhvr>
                                        <p:cTn id="20" dur="1000" fill="hold"/>
                                        <p:tgtEl>
                                          <p:spTgt spid="39"/>
                                        </p:tgtEl>
                                        <p:attrNameLst>
                                          <p:attrName>ppt_x</p:attrName>
                                        </p:attrNameLst>
                                      </p:cBhvr>
                                      <p:tavLst>
                                        <p:tav tm="0">
                                          <p:val>
                                            <p:strVal val="#ppt_x"/>
                                          </p:val>
                                        </p:tav>
                                        <p:tav tm="100000">
                                          <p:val>
                                            <p:strVal val="#ppt_x"/>
                                          </p:val>
                                        </p:tav>
                                      </p:tavLst>
                                    </p:anim>
                                    <p:anim calcmode="lin" valueType="num">
                                      <p:cBhvr>
                                        <p:cTn id="21" dur="1000" fill="hold"/>
                                        <p:tgtEl>
                                          <p:spTgt spid="39"/>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1000"/>
                                        <p:tgtEl>
                                          <p:spTgt spid="40"/>
                                        </p:tgtEl>
                                      </p:cBhvr>
                                    </p:animEffect>
                                    <p:anim calcmode="lin" valueType="num">
                                      <p:cBhvr>
                                        <p:cTn id="26" dur="1000" fill="hold"/>
                                        <p:tgtEl>
                                          <p:spTgt spid="40"/>
                                        </p:tgtEl>
                                        <p:attrNameLst>
                                          <p:attrName>ppt_x</p:attrName>
                                        </p:attrNameLst>
                                      </p:cBhvr>
                                      <p:tavLst>
                                        <p:tav tm="0">
                                          <p:val>
                                            <p:strVal val="#ppt_x"/>
                                          </p:val>
                                        </p:tav>
                                        <p:tav tm="100000">
                                          <p:val>
                                            <p:strVal val="#ppt_x"/>
                                          </p:val>
                                        </p:tav>
                                      </p:tavLst>
                                    </p:anim>
                                    <p:anim calcmode="lin" valueType="num">
                                      <p:cBhvr>
                                        <p:cTn id="27"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1000"/>
                                        <p:tgtEl>
                                          <p:spTgt spid="43"/>
                                        </p:tgtEl>
                                      </p:cBhvr>
                                    </p:animEffect>
                                    <p:anim calcmode="lin" valueType="num">
                                      <p:cBhvr>
                                        <p:cTn id="33" dur="1000" fill="hold"/>
                                        <p:tgtEl>
                                          <p:spTgt spid="43"/>
                                        </p:tgtEl>
                                        <p:attrNameLst>
                                          <p:attrName>ppt_x</p:attrName>
                                        </p:attrNameLst>
                                      </p:cBhvr>
                                      <p:tavLst>
                                        <p:tav tm="0">
                                          <p:val>
                                            <p:strVal val="#ppt_x"/>
                                          </p:val>
                                        </p:tav>
                                        <p:tav tm="100000">
                                          <p:val>
                                            <p:strVal val="#ppt_x"/>
                                          </p:val>
                                        </p:tav>
                                      </p:tavLst>
                                    </p:anim>
                                    <p:anim calcmode="lin" valueType="num">
                                      <p:cBhvr>
                                        <p:cTn id="34" dur="1000" fill="hold"/>
                                        <p:tgtEl>
                                          <p:spTgt spid="43"/>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42" presetClass="entr" presetSubtype="0" fill="hold" grpId="0" nodeType="after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fade">
                                      <p:cBhvr>
                                        <p:cTn id="38" dur="1000"/>
                                        <p:tgtEl>
                                          <p:spTgt spid="44"/>
                                        </p:tgtEl>
                                      </p:cBhvr>
                                    </p:animEffect>
                                    <p:anim calcmode="lin" valueType="num">
                                      <p:cBhvr>
                                        <p:cTn id="39" dur="1000" fill="hold"/>
                                        <p:tgtEl>
                                          <p:spTgt spid="44"/>
                                        </p:tgtEl>
                                        <p:attrNameLst>
                                          <p:attrName>ppt_x</p:attrName>
                                        </p:attrNameLst>
                                      </p:cBhvr>
                                      <p:tavLst>
                                        <p:tav tm="0">
                                          <p:val>
                                            <p:strVal val="#ppt_x"/>
                                          </p:val>
                                        </p:tav>
                                        <p:tav tm="100000">
                                          <p:val>
                                            <p:strVal val="#ppt_x"/>
                                          </p:val>
                                        </p:tav>
                                      </p:tavLst>
                                    </p:anim>
                                    <p:anim calcmode="lin" valueType="num">
                                      <p:cBhvr>
                                        <p:cTn id="40"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0" grpId="0"/>
      <p:bldP spid="43" grpId="0"/>
      <p:bldP spid="4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92432" y="712860"/>
            <a:ext cx="1831741" cy="420971"/>
            <a:chOff x="670560" y="892917"/>
            <a:chExt cx="1831741" cy="420971"/>
          </a:xfrm>
        </p:grpSpPr>
        <p:sp>
          <p:nvSpPr>
            <p:cNvPr id="4" name="矩形 3"/>
            <p:cNvSpPr/>
            <p:nvPr/>
          </p:nvSpPr>
          <p:spPr>
            <a:xfrm>
              <a:off x="1035233" y="913778"/>
              <a:ext cx="146706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异步计数器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5"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6" name="Rectangle 8"/>
          <p:cNvSpPr>
            <a:spLocks noChangeArrowheads="1"/>
          </p:cNvSpPr>
          <p:nvPr/>
        </p:nvSpPr>
        <p:spPr bwMode="auto">
          <a:xfrm>
            <a:off x="370557" y="1198312"/>
            <a:ext cx="3623927" cy="369332"/>
          </a:xfrm>
          <a:prstGeom prst="rect">
            <a:avLst/>
          </a:prstGeom>
          <a:solidFill>
            <a:srgbClr val="FFFFFF"/>
          </a:solidFill>
          <a:ln w="9525" algn="ctr">
            <a:noFill/>
            <a:miter lim="800000"/>
          </a:ln>
        </p:spPr>
        <p:txBody>
          <a:bodyPr wrap="square" lIns="0" rIns="0">
            <a:spAutoFit/>
          </a:bodyPr>
          <a:lstStyle/>
          <a:p>
            <a:r>
              <a:rPr lang="zh-CN" altLang="en-US" b="1" dirty="0">
                <a:solidFill>
                  <a:srgbClr val="CC00CC"/>
                </a:solidFill>
                <a:latin typeface="微软雅黑" panose="020B0503020204020204" pitchFamily="34" charset="-122"/>
                <a:ea typeface="微软雅黑" panose="020B0503020204020204" pitchFamily="34" charset="-122"/>
              </a:rPr>
              <a:t>（</a:t>
            </a:r>
            <a:r>
              <a:rPr lang="en-US" altLang="zh-CN" b="1" dirty="0">
                <a:solidFill>
                  <a:srgbClr val="CC00CC"/>
                </a:solidFill>
                <a:latin typeface="微软雅黑" panose="020B0503020204020204" pitchFamily="34" charset="-122"/>
                <a:ea typeface="微软雅黑" panose="020B0503020204020204" pitchFamily="34" charset="-122"/>
              </a:rPr>
              <a:t>1</a:t>
            </a:r>
            <a:r>
              <a:rPr lang="zh-CN" altLang="en-US" b="1" dirty="0">
                <a:solidFill>
                  <a:srgbClr val="CC00CC"/>
                </a:solidFill>
                <a:latin typeface="微软雅黑" panose="020B0503020204020204" pitchFamily="34" charset="-122"/>
                <a:ea typeface="微软雅黑" panose="020B0503020204020204" pitchFamily="34" charset="-122"/>
              </a:rPr>
              <a:t>）异步</a:t>
            </a:r>
            <a:r>
              <a:rPr lang="en-US" altLang="zh-CN" b="1" dirty="0">
                <a:solidFill>
                  <a:srgbClr val="CC00CC"/>
                </a:solidFill>
                <a:latin typeface="微软雅黑" panose="020B0503020204020204" pitchFamily="34" charset="-122"/>
                <a:ea typeface="微软雅黑" panose="020B0503020204020204" pitchFamily="34" charset="-122"/>
              </a:rPr>
              <a:t>4</a:t>
            </a:r>
            <a:r>
              <a:rPr lang="zh-CN" altLang="en-US" b="1" dirty="0">
                <a:solidFill>
                  <a:srgbClr val="CC00CC"/>
                </a:solidFill>
                <a:latin typeface="微软雅黑" panose="020B0503020204020204" pitchFamily="34" charset="-122"/>
                <a:ea typeface="微软雅黑" panose="020B0503020204020204" pitchFamily="34" charset="-122"/>
              </a:rPr>
              <a:t>位二进制加法计数器</a:t>
            </a:r>
            <a:endParaRPr lang="zh-CN" altLang="en-US" b="1" dirty="0">
              <a:solidFill>
                <a:srgbClr val="CC00CC"/>
              </a:solidFill>
              <a:latin typeface="微软雅黑" panose="020B0503020204020204" pitchFamily="34" charset="-122"/>
              <a:ea typeface="微软雅黑" panose="020B0503020204020204" pitchFamily="34" charset="-122"/>
            </a:endParaRPr>
          </a:p>
        </p:txBody>
      </p:sp>
      <p:grpSp>
        <p:nvGrpSpPr>
          <p:cNvPr id="17" name="组合 16"/>
          <p:cNvGrpSpPr/>
          <p:nvPr/>
        </p:nvGrpSpPr>
        <p:grpSpPr>
          <a:xfrm>
            <a:off x="894376" y="2205470"/>
            <a:ext cx="6928081" cy="2015684"/>
            <a:chOff x="894376" y="1872184"/>
            <a:chExt cx="6928081" cy="2015684"/>
          </a:xfrm>
        </p:grpSpPr>
        <p:sp>
          <p:nvSpPr>
            <p:cNvPr id="15" name="剪去对角的矩形 14"/>
            <p:cNvSpPr/>
            <p:nvPr/>
          </p:nvSpPr>
          <p:spPr>
            <a:xfrm>
              <a:off x="894376" y="1872184"/>
              <a:ext cx="6928081" cy="2015684"/>
            </a:xfrm>
            <a:prstGeom prst="snip2Diag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对象 6"/>
            <p:cNvGraphicFramePr>
              <a:graphicFrameLocks noChangeAspect="1"/>
            </p:cNvGraphicFramePr>
            <p:nvPr/>
          </p:nvGraphicFramePr>
          <p:xfrm>
            <a:off x="1157695" y="1988986"/>
            <a:ext cx="6254415" cy="1782080"/>
          </p:xfrm>
          <a:graphic>
            <a:graphicData uri="http://schemas.openxmlformats.org/presentationml/2006/ole">
              <mc:AlternateContent xmlns:mc="http://schemas.openxmlformats.org/markup-compatibility/2006">
                <mc:Choice xmlns:v="urn:schemas-microsoft-com:vml" Requires="v">
                  <p:oleObj spid="_x0000_s28690" name="Visio" r:id="rId2" imgW="3038475" imgH="847725" progId="Visio.Drawing.11">
                    <p:embed/>
                  </p:oleObj>
                </mc:Choice>
                <mc:Fallback>
                  <p:oleObj name="Visio" r:id="rId2" imgW="3038475" imgH="847725" progId="Visio.Drawing.11">
                    <p:embed/>
                    <p:pic>
                      <p:nvPicPr>
                        <p:cNvPr id="0" name="对象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7695" y="1988986"/>
                          <a:ext cx="6254415" cy="17820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2" name="组合 11"/>
          <p:cNvGrpSpPr/>
          <p:nvPr/>
        </p:nvGrpSpPr>
        <p:grpSpPr>
          <a:xfrm>
            <a:off x="1794617" y="1684465"/>
            <a:ext cx="1692068" cy="476999"/>
            <a:chOff x="2469735" y="1684446"/>
            <a:chExt cx="1692068" cy="476999"/>
          </a:xfrm>
        </p:grpSpPr>
        <p:sp>
          <p:nvSpPr>
            <p:cNvPr id="10" name="圆角矩形标注 115"/>
            <p:cNvSpPr/>
            <p:nvPr/>
          </p:nvSpPr>
          <p:spPr>
            <a:xfrm>
              <a:off x="2469735" y="1684446"/>
              <a:ext cx="1692068" cy="476999"/>
            </a:xfrm>
            <a:prstGeom prst="wedgeRoundRectCallout">
              <a:avLst>
                <a:gd name="adj1" fmla="val 18953"/>
                <a:gd name="adj2" fmla="val 93221"/>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由</a:t>
              </a: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，状态翻转</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8" name="对象 7"/>
            <p:cNvGraphicFramePr>
              <a:graphicFrameLocks noChangeAspect="1"/>
            </p:cNvGraphicFramePr>
            <p:nvPr/>
          </p:nvGraphicFramePr>
          <p:xfrm>
            <a:off x="2580836" y="1803163"/>
            <a:ext cx="251294" cy="227361"/>
          </p:xfrm>
          <a:graphic>
            <a:graphicData uri="http://schemas.openxmlformats.org/presentationml/2006/ole">
              <mc:AlternateContent xmlns:mc="http://schemas.openxmlformats.org/markup-compatibility/2006">
                <mc:Choice xmlns:v="urn:schemas-microsoft-com:vml" Requires="v">
                  <p:oleObj spid="_x0000_s28691" name="公式" r:id="rId4" imgW="5181600" imgH="4572000" progId="Equation.3">
                    <p:embed/>
                  </p:oleObj>
                </mc:Choice>
                <mc:Fallback>
                  <p:oleObj name="公式" r:id="rId4" imgW="5181600" imgH="4572000" progId="Equation.3">
                    <p:embed/>
                    <p:pic>
                      <p:nvPicPr>
                        <p:cNvPr id="0" name="对象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0836" y="1803163"/>
                          <a:ext cx="251294" cy="227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8" name="圆角矩形标注 115"/>
          <p:cNvSpPr/>
          <p:nvPr/>
        </p:nvSpPr>
        <p:spPr>
          <a:xfrm>
            <a:off x="3597786" y="1670070"/>
            <a:ext cx="1615149" cy="476999"/>
          </a:xfrm>
          <a:prstGeom prst="wedgeRoundRectCallout">
            <a:avLst>
              <a:gd name="adj1" fmla="val -6083"/>
              <a:gd name="adj2" fmla="val 102178"/>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2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由</a:t>
            </a: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，状态翻转</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圆角矩形标注 115"/>
          <p:cNvSpPr/>
          <p:nvPr/>
        </p:nvSpPr>
        <p:spPr>
          <a:xfrm>
            <a:off x="5324036" y="1655194"/>
            <a:ext cx="1615149" cy="476999"/>
          </a:xfrm>
          <a:prstGeom prst="wedgeRoundRectCallout">
            <a:avLst>
              <a:gd name="adj1" fmla="val -26188"/>
              <a:gd name="adj2" fmla="val 102179"/>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2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由</a:t>
            </a: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，状态翻转</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圆角矩形标注 115"/>
          <p:cNvSpPr/>
          <p:nvPr/>
        </p:nvSpPr>
        <p:spPr>
          <a:xfrm>
            <a:off x="7014882" y="1670070"/>
            <a:ext cx="1615149" cy="476999"/>
          </a:xfrm>
          <a:prstGeom prst="wedgeRoundRectCallout">
            <a:avLst>
              <a:gd name="adj1" fmla="val -36241"/>
              <a:gd name="adj2" fmla="val 100387"/>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2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由</a:t>
            </a: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，状态翻转</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圆角矩形标注 115"/>
          <p:cNvSpPr/>
          <p:nvPr/>
        </p:nvSpPr>
        <p:spPr>
          <a:xfrm>
            <a:off x="1294425" y="4300984"/>
            <a:ext cx="1000383" cy="386553"/>
          </a:xfrm>
          <a:prstGeom prst="wedgeRoundRectCallout">
            <a:avLst>
              <a:gd name="adj1" fmla="val -32537"/>
              <a:gd name="adj2" fmla="val -119976"/>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复位端</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文本框 22"/>
          <p:cNvSpPr txBox="1"/>
          <p:nvPr/>
        </p:nvSpPr>
        <p:spPr>
          <a:xfrm>
            <a:off x="2286000" y="2673902"/>
            <a:ext cx="4572000" cy="369332"/>
          </a:xfrm>
          <a:prstGeom prst="rect">
            <a:avLst/>
          </a:prstGeom>
          <a:noFill/>
        </p:spPr>
        <p:txBody>
          <a:bodyPr wrap="square">
            <a:spAutoFit/>
          </a:bodyPr>
          <a:lstStyle/>
          <a:p>
            <a:r>
              <a:rPr lang="en-US" altLang="zh-CN" sz="1800" kern="100" dirty="0">
                <a:effectLst/>
                <a:latin typeface="黑体" panose="02010609060101010101" pitchFamily="49" charset="-122"/>
                <a:cs typeface="Times New Roman" panose="02020603050405020304" pitchFamily="18" charset="0"/>
              </a:rPr>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600">
        <p14:prism dir="r"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1000"/>
                                        <p:tgtEl>
                                          <p:spTgt spid="12"/>
                                        </p:tgtEl>
                                      </p:cBhvr>
                                    </p:animEffect>
                                  </p:childTnLst>
                                </p:cTn>
                              </p:par>
                            </p:childTnLst>
                          </p:cTn>
                        </p:par>
                        <p:par>
                          <p:cTn id="8" fill="hold">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down)">
                                      <p:cBhvr>
                                        <p:cTn id="11" dur="1000"/>
                                        <p:tgtEl>
                                          <p:spTgt spid="18"/>
                                        </p:tgtEl>
                                      </p:cBhvr>
                                    </p:animEffect>
                                  </p:childTnLst>
                                </p:cTn>
                              </p:par>
                            </p:childTnLst>
                          </p:cTn>
                        </p:par>
                        <p:par>
                          <p:cTn id="12" fill="hold">
                            <p:stCondLst>
                              <p:cond delay="2000"/>
                            </p:stCondLst>
                            <p:childTnLst>
                              <p:par>
                                <p:cTn id="13" presetID="22" presetClass="entr" presetSubtype="4"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down)">
                                      <p:cBhvr>
                                        <p:cTn id="15" dur="1000"/>
                                        <p:tgtEl>
                                          <p:spTgt spid="20"/>
                                        </p:tgtEl>
                                      </p:cBhvr>
                                    </p:animEffect>
                                  </p:childTnLst>
                                </p:cTn>
                              </p:par>
                            </p:childTnLst>
                          </p:cTn>
                        </p:par>
                        <p:par>
                          <p:cTn id="16" fill="hold">
                            <p:stCondLst>
                              <p:cond delay="3000"/>
                            </p:stCondLst>
                            <p:childTnLst>
                              <p:par>
                                <p:cTn id="17" presetID="22" presetClass="entr" presetSubtype="4"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down)">
                                      <p:cBhvr>
                                        <p:cTn id="19" dur="1000"/>
                                        <p:tgtEl>
                                          <p:spTgt spid="2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down)">
                                      <p:cBhvr>
                                        <p:cTn id="24"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1" grpId="0" animBg="1"/>
      <p:bldP spid="2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5" name="组合 144"/>
          <p:cNvGrpSpPr/>
          <p:nvPr/>
        </p:nvGrpSpPr>
        <p:grpSpPr>
          <a:xfrm>
            <a:off x="4838932" y="727950"/>
            <a:ext cx="4151555" cy="1010786"/>
            <a:chOff x="894376" y="1871728"/>
            <a:chExt cx="6395177" cy="1845783"/>
          </a:xfrm>
        </p:grpSpPr>
        <p:sp>
          <p:nvSpPr>
            <p:cNvPr id="146" name="剪去对角的矩形 145"/>
            <p:cNvSpPr/>
            <p:nvPr/>
          </p:nvSpPr>
          <p:spPr>
            <a:xfrm>
              <a:off x="894376" y="1872184"/>
              <a:ext cx="6395177" cy="1845327"/>
            </a:xfrm>
            <a:prstGeom prst="snip2Diag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47" name="对象 146"/>
            <p:cNvGraphicFramePr>
              <a:graphicFrameLocks noChangeAspect="1"/>
            </p:cNvGraphicFramePr>
            <p:nvPr/>
          </p:nvGraphicFramePr>
          <p:xfrm>
            <a:off x="956711" y="1871728"/>
            <a:ext cx="6254416" cy="1782080"/>
          </p:xfrm>
          <a:graphic>
            <a:graphicData uri="http://schemas.openxmlformats.org/presentationml/2006/ole">
              <mc:AlternateContent xmlns:mc="http://schemas.openxmlformats.org/markup-compatibility/2006">
                <mc:Choice xmlns:v="urn:schemas-microsoft-com:vml" Requires="v">
                  <p:oleObj spid="_x0000_s29778" name="Visio" r:id="rId1" imgW="3038475" imgH="847725" progId="Visio.Drawing.11">
                    <p:embed/>
                  </p:oleObj>
                </mc:Choice>
                <mc:Fallback>
                  <p:oleObj name="Visio" r:id="rId1" imgW="3038475" imgH="847725" progId="Visio.Drawing.11">
                    <p:embed/>
                    <p:pic>
                      <p:nvPicPr>
                        <p:cNvPr id="0" name="对象 1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6711" y="1871728"/>
                          <a:ext cx="6254416" cy="17820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组合 2"/>
          <p:cNvGrpSpPr/>
          <p:nvPr/>
        </p:nvGrpSpPr>
        <p:grpSpPr>
          <a:xfrm>
            <a:off x="392432" y="712860"/>
            <a:ext cx="1831741" cy="420971"/>
            <a:chOff x="670560" y="892917"/>
            <a:chExt cx="1831741" cy="420971"/>
          </a:xfrm>
        </p:grpSpPr>
        <p:sp>
          <p:nvSpPr>
            <p:cNvPr id="4" name="矩形 3"/>
            <p:cNvSpPr/>
            <p:nvPr/>
          </p:nvSpPr>
          <p:spPr>
            <a:xfrm>
              <a:off x="1035233" y="913778"/>
              <a:ext cx="146706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异步计数器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5"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72" name="组合 71"/>
          <p:cNvGrpSpPr/>
          <p:nvPr/>
        </p:nvGrpSpPr>
        <p:grpSpPr>
          <a:xfrm>
            <a:off x="826168" y="1895231"/>
            <a:ext cx="7499686" cy="2391360"/>
            <a:chOff x="826168" y="1755531"/>
            <a:chExt cx="7499686" cy="2391360"/>
          </a:xfrm>
        </p:grpSpPr>
        <p:sp>
          <p:nvSpPr>
            <p:cNvPr id="74" name="圆角矩形 73"/>
            <p:cNvSpPr/>
            <p:nvPr/>
          </p:nvSpPr>
          <p:spPr>
            <a:xfrm>
              <a:off x="826168" y="1776670"/>
              <a:ext cx="7499686" cy="2370221"/>
            </a:xfrm>
            <a:prstGeom prst="roundRect">
              <a:avLst>
                <a:gd name="adj" fmla="val 5837"/>
              </a:avLst>
            </a:prstGeom>
            <a:solidFill>
              <a:schemeClr val="bg1"/>
            </a:solidFill>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6" name="组合 66"/>
            <p:cNvGrpSpPr/>
            <p:nvPr/>
          </p:nvGrpSpPr>
          <p:grpSpPr>
            <a:xfrm>
              <a:off x="904757" y="1755531"/>
              <a:ext cx="7240670" cy="517191"/>
              <a:chOff x="904757" y="1755531"/>
              <a:chExt cx="7240670" cy="517191"/>
            </a:xfrm>
          </p:grpSpPr>
          <p:graphicFrame>
            <p:nvGraphicFramePr>
              <p:cNvPr id="78" name="Object 4"/>
              <p:cNvGraphicFramePr>
                <a:graphicFrameLocks noChangeAspect="1"/>
              </p:cNvGraphicFramePr>
              <p:nvPr/>
            </p:nvGraphicFramePr>
            <p:xfrm>
              <a:off x="904757" y="1755531"/>
              <a:ext cx="7240670" cy="517191"/>
            </p:xfrm>
            <a:graphic>
              <a:graphicData uri="http://schemas.openxmlformats.org/presentationml/2006/ole">
                <mc:AlternateContent xmlns:mc="http://schemas.openxmlformats.org/markup-compatibility/2006">
                  <mc:Choice xmlns:v="urn:schemas-microsoft-com:vml" Requires="v">
                    <p:oleObj spid="_x0000_s29779" name="Picture" r:id="rId4" imgW="30889575" imgH="2390775" progId="Word.Picture.8">
                      <p:embed/>
                    </p:oleObj>
                  </mc:Choice>
                  <mc:Fallback>
                    <p:oleObj name="Picture" r:id="rId4" imgW="30889575" imgH="2390775" progId="Word.Picture.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4757" y="1755531"/>
                            <a:ext cx="7240670" cy="517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pic>
                    </p:oleObj>
                  </mc:Fallback>
                </mc:AlternateContent>
              </a:graphicData>
            </a:graphic>
          </p:graphicFrame>
          <p:cxnSp>
            <p:nvCxnSpPr>
              <p:cNvPr id="80" name="直接连接符 79"/>
              <p:cNvCxnSpPr/>
              <p:nvPr/>
            </p:nvCxnSpPr>
            <p:spPr>
              <a:xfrm flipV="1">
                <a:off x="942474" y="1969169"/>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aphicFrame>
        <p:nvGraphicFramePr>
          <p:cNvPr id="82" name="Object 5"/>
          <p:cNvGraphicFramePr>
            <a:graphicFrameLocks noChangeAspect="1"/>
          </p:cNvGraphicFramePr>
          <p:nvPr/>
        </p:nvGraphicFramePr>
        <p:xfrm>
          <a:off x="981075" y="3400425"/>
          <a:ext cx="7236000" cy="331788"/>
        </p:xfrm>
        <a:graphic>
          <a:graphicData uri="http://schemas.openxmlformats.org/presentationml/2006/ole">
            <mc:AlternateContent xmlns:mc="http://schemas.openxmlformats.org/markup-compatibility/2006">
              <mc:Choice xmlns:v="urn:schemas-microsoft-com:vml" Requires="v">
                <p:oleObj spid="_x0000_s29780" name="Picture" r:id="rId6" imgW="31061025" imgH="1552575" progId="Word.Picture.8">
                  <p:embed/>
                </p:oleObj>
              </mc:Choice>
              <mc:Fallback>
                <p:oleObj name="Picture" r:id="rId6" imgW="31061025" imgH="1552575" progId="Word.Picture.8">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1075" y="3400425"/>
                        <a:ext cx="7236000"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4" name="Object 6"/>
          <p:cNvGraphicFramePr>
            <a:graphicFrameLocks noChangeAspect="1"/>
          </p:cNvGraphicFramePr>
          <p:nvPr/>
        </p:nvGraphicFramePr>
        <p:xfrm>
          <a:off x="966585" y="2499050"/>
          <a:ext cx="7240670" cy="322348"/>
        </p:xfrm>
        <a:graphic>
          <a:graphicData uri="http://schemas.openxmlformats.org/presentationml/2006/ole">
            <mc:AlternateContent xmlns:mc="http://schemas.openxmlformats.org/markup-compatibility/2006">
              <mc:Choice xmlns:v="urn:schemas-microsoft-com:vml" Requires="v">
                <p:oleObj spid="_x0000_s29781" name="Picture" r:id="rId8" imgW="30965775" imgH="1495425" progId="Word.Picture.8">
                  <p:embed/>
                </p:oleObj>
              </mc:Choice>
              <mc:Fallback>
                <p:oleObj name="Picture" r:id="rId8" imgW="30965775" imgH="1495425" progId="Word.Picture.8">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6585" y="2499050"/>
                        <a:ext cx="7240670" cy="322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pic>
                </p:oleObj>
              </mc:Fallback>
            </mc:AlternateContent>
          </a:graphicData>
        </a:graphic>
      </p:graphicFrame>
      <p:graphicFrame>
        <p:nvGraphicFramePr>
          <p:cNvPr id="87" name="Object 7"/>
          <p:cNvGraphicFramePr>
            <a:graphicFrameLocks noChangeAspect="1"/>
          </p:cNvGraphicFramePr>
          <p:nvPr/>
        </p:nvGraphicFramePr>
        <p:xfrm>
          <a:off x="974605" y="2932107"/>
          <a:ext cx="7236000" cy="426508"/>
        </p:xfrm>
        <a:graphic>
          <a:graphicData uri="http://schemas.openxmlformats.org/presentationml/2006/ole">
            <mc:AlternateContent xmlns:mc="http://schemas.openxmlformats.org/markup-compatibility/2006">
              <mc:Choice xmlns:v="urn:schemas-microsoft-com:vml" Requires="v">
                <p:oleObj spid="_x0000_s29782" name="Picture" r:id="rId10" imgW="30946725" imgH="1971675" progId="Word.Picture.8">
                  <p:embed/>
                </p:oleObj>
              </mc:Choice>
              <mc:Fallback>
                <p:oleObj name="Picture" r:id="rId10" imgW="30946725" imgH="1971675" progId="Word.Picture.8">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4605" y="2932107"/>
                        <a:ext cx="7236000" cy="426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pic>
                </p:oleObj>
              </mc:Fallback>
            </mc:AlternateContent>
          </a:graphicData>
        </a:graphic>
      </p:graphicFrame>
      <p:graphicFrame>
        <p:nvGraphicFramePr>
          <p:cNvPr id="89" name="Object 8"/>
          <p:cNvGraphicFramePr>
            <a:graphicFrameLocks noChangeAspect="1"/>
          </p:cNvGraphicFramePr>
          <p:nvPr/>
        </p:nvGraphicFramePr>
        <p:xfrm>
          <a:off x="981708" y="3885948"/>
          <a:ext cx="7236000" cy="284352"/>
        </p:xfrm>
        <a:graphic>
          <a:graphicData uri="http://schemas.openxmlformats.org/presentationml/2006/ole">
            <mc:AlternateContent xmlns:mc="http://schemas.openxmlformats.org/markup-compatibility/2006">
              <mc:Choice xmlns:v="urn:schemas-microsoft-com:vml" Requires="v">
                <p:oleObj spid="_x0000_s29783" name="Picture" r:id="rId12" imgW="30946725" imgH="1314450" progId="Word.Picture.8">
                  <p:embed/>
                </p:oleObj>
              </mc:Choice>
              <mc:Fallback>
                <p:oleObj name="Picture" r:id="rId12" imgW="30946725" imgH="1314450" progId="Word.Picture.8">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81708" y="3885948"/>
                        <a:ext cx="7236000" cy="284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pic>
                </p:oleObj>
              </mc:Fallback>
            </mc:AlternateContent>
          </a:graphicData>
        </a:graphic>
      </p:graphicFrame>
      <p:sp>
        <p:nvSpPr>
          <p:cNvPr id="91" name="Rectangle 8"/>
          <p:cNvSpPr>
            <a:spLocks noChangeArrowheads="1"/>
          </p:cNvSpPr>
          <p:nvPr/>
        </p:nvSpPr>
        <p:spPr bwMode="auto">
          <a:xfrm>
            <a:off x="370557" y="1198312"/>
            <a:ext cx="3623927" cy="369332"/>
          </a:xfrm>
          <a:prstGeom prst="rect">
            <a:avLst/>
          </a:prstGeom>
          <a:solidFill>
            <a:srgbClr val="FFFFFF"/>
          </a:solidFill>
          <a:ln w="9525" algn="ctr">
            <a:noFill/>
            <a:miter lim="800000"/>
          </a:ln>
        </p:spPr>
        <p:txBody>
          <a:bodyPr wrap="square" lIns="0" rIns="0">
            <a:spAutoFit/>
          </a:bodyPr>
          <a:lstStyle/>
          <a:p>
            <a:r>
              <a:rPr lang="zh-CN" altLang="en-US" b="1" dirty="0">
                <a:solidFill>
                  <a:srgbClr val="CC00CC"/>
                </a:solidFill>
                <a:latin typeface="微软雅黑" panose="020B0503020204020204" pitchFamily="34" charset="-122"/>
                <a:ea typeface="微软雅黑" panose="020B0503020204020204" pitchFamily="34" charset="-122"/>
              </a:rPr>
              <a:t>（</a:t>
            </a:r>
            <a:r>
              <a:rPr lang="en-US" altLang="zh-CN" b="1" dirty="0">
                <a:solidFill>
                  <a:srgbClr val="CC00CC"/>
                </a:solidFill>
                <a:latin typeface="微软雅黑" panose="020B0503020204020204" pitchFamily="34" charset="-122"/>
                <a:ea typeface="微软雅黑" panose="020B0503020204020204" pitchFamily="34" charset="-122"/>
              </a:rPr>
              <a:t>1</a:t>
            </a:r>
            <a:r>
              <a:rPr lang="zh-CN" altLang="en-US" b="1" dirty="0">
                <a:solidFill>
                  <a:srgbClr val="CC00CC"/>
                </a:solidFill>
                <a:latin typeface="微软雅黑" panose="020B0503020204020204" pitchFamily="34" charset="-122"/>
                <a:ea typeface="微软雅黑" panose="020B0503020204020204" pitchFamily="34" charset="-122"/>
              </a:rPr>
              <a:t>）异步</a:t>
            </a:r>
            <a:r>
              <a:rPr lang="en-US" altLang="zh-CN" b="1" dirty="0">
                <a:solidFill>
                  <a:srgbClr val="CC00CC"/>
                </a:solidFill>
                <a:latin typeface="微软雅黑" panose="020B0503020204020204" pitchFamily="34" charset="-122"/>
                <a:ea typeface="微软雅黑" panose="020B0503020204020204" pitchFamily="34" charset="-122"/>
              </a:rPr>
              <a:t>4</a:t>
            </a:r>
            <a:r>
              <a:rPr lang="zh-CN" altLang="en-US" b="1" dirty="0">
                <a:solidFill>
                  <a:srgbClr val="CC00CC"/>
                </a:solidFill>
                <a:latin typeface="微软雅黑" panose="020B0503020204020204" pitchFamily="34" charset="-122"/>
                <a:ea typeface="微软雅黑" panose="020B0503020204020204" pitchFamily="34" charset="-122"/>
              </a:rPr>
              <a:t>位二进制加法计数器</a:t>
            </a:r>
            <a:endParaRPr lang="zh-CN" altLang="en-US" b="1" dirty="0">
              <a:solidFill>
                <a:srgbClr val="CC00CC"/>
              </a:solidFill>
              <a:latin typeface="微软雅黑" panose="020B0503020204020204" pitchFamily="34" charset="-122"/>
              <a:ea typeface="微软雅黑" panose="020B0503020204020204" pitchFamily="34" charset="-122"/>
            </a:endParaRPr>
          </a:p>
        </p:txBody>
      </p:sp>
      <p:grpSp>
        <p:nvGrpSpPr>
          <p:cNvPr id="93" name="组合 52"/>
          <p:cNvGrpSpPr/>
          <p:nvPr/>
        </p:nvGrpSpPr>
        <p:grpSpPr>
          <a:xfrm>
            <a:off x="1641360" y="2228240"/>
            <a:ext cx="6245716" cy="475590"/>
            <a:chOff x="1525055" y="2036395"/>
            <a:chExt cx="6245716" cy="1701934"/>
          </a:xfrm>
        </p:grpSpPr>
        <p:sp>
          <p:nvSpPr>
            <p:cNvPr id="96" name="Line 11"/>
            <p:cNvSpPr>
              <a:spLocks noChangeShapeType="1"/>
            </p:cNvSpPr>
            <p:nvPr/>
          </p:nvSpPr>
          <p:spPr bwMode="auto">
            <a:xfrm>
              <a:off x="1525055"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98" name="Line 12"/>
            <p:cNvSpPr>
              <a:spLocks noChangeShapeType="1"/>
            </p:cNvSpPr>
            <p:nvPr/>
          </p:nvSpPr>
          <p:spPr bwMode="auto">
            <a:xfrm>
              <a:off x="1941142"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0" name="Line 13"/>
            <p:cNvSpPr>
              <a:spLocks noChangeShapeType="1"/>
            </p:cNvSpPr>
            <p:nvPr/>
          </p:nvSpPr>
          <p:spPr bwMode="auto">
            <a:xfrm>
              <a:off x="2358782"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1" name="Line 14"/>
            <p:cNvSpPr>
              <a:spLocks noChangeShapeType="1"/>
            </p:cNvSpPr>
            <p:nvPr/>
          </p:nvSpPr>
          <p:spPr bwMode="auto">
            <a:xfrm>
              <a:off x="2772410"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2" name="Line 15"/>
            <p:cNvSpPr>
              <a:spLocks noChangeShapeType="1"/>
            </p:cNvSpPr>
            <p:nvPr/>
          </p:nvSpPr>
          <p:spPr bwMode="auto">
            <a:xfrm>
              <a:off x="3186038"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3" name="Line 17"/>
            <p:cNvSpPr>
              <a:spLocks noChangeShapeType="1"/>
            </p:cNvSpPr>
            <p:nvPr/>
          </p:nvSpPr>
          <p:spPr bwMode="auto">
            <a:xfrm>
              <a:off x="3600076"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4" name="Line 18"/>
            <p:cNvSpPr>
              <a:spLocks noChangeShapeType="1"/>
            </p:cNvSpPr>
            <p:nvPr/>
          </p:nvSpPr>
          <p:spPr bwMode="auto">
            <a:xfrm>
              <a:off x="4020174"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5" name="Line 19"/>
            <p:cNvSpPr>
              <a:spLocks noChangeShapeType="1"/>
            </p:cNvSpPr>
            <p:nvPr/>
          </p:nvSpPr>
          <p:spPr bwMode="auto">
            <a:xfrm>
              <a:off x="4441825"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6" name="Line 20"/>
            <p:cNvSpPr>
              <a:spLocks noChangeShapeType="1"/>
            </p:cNvSpPr>
            <p:nvPr/>
          </p:nvSpPr>
          <p:spPr bwMode="auto">
            <a:xfrm>
              <a:off x="4855453"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7" name="Line 21"/>
            <p:cNvSpPr>
              <a:spLocks noChangeShapeType="1"/>
            </p:cNvSpPr>
            <p:nvPr/>
          </p:nvSpPr>
          <p:spPr bwMode="auto">
            <a:xfrm>
              <a:off x="5273092"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8" name="Line 23"/>
            <p:cNvSpPr>
              <a:spLocks noChangeShapeType="1"/>
            </p:cNvSpPr>
            <p:nvPr/>
          </p:nvSpPr>
          <p:spPr bwMode="auto">
            <a:xfrm>
              <a:off x="5692692"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9" name="Line 24"/>
            <p:cNvSpPr>
              <a:spLocks noChangeShapeType="1"/>
            </p:cNvSpPr>
            <p:nvPr/>
          </p:nvSpPr>
          <p:spPr bwMode="auto">
            <a:xfrm>
              <a:off x="6104768"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10" name="Line 25"/>
            <p:cNvSpPr>
              <a:spLocks noChangeShapeType="1"/>
            </p:cNvSpPr>
            <p:nvPr/>
          </p:nvSpPr>
          <p:spPr bwMode="auto">
            <a:xfrm>
              <a:off x="6522408"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11" name="Line 26"/>
            <p:cNvSpPr>
              <a:spLocks noChangeShapeType="1"/>
            </p:cNvSpPr>
            <p:nvPr/>
          </p:nvSpPr>
          <p:spPr bwMode="auto">
            <a:xfrm>
              <a:off x="6940047"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12" name="Line 27"/>
            <p:cNvSpPr>
              <a:spLocks noChangeShapeType="1"/>
            </p:cNvSpPr>
            <p:nvPr/>
          </p:nvSpPr>
          <p:spPr bwMode="auto">
            <a:xfrm>
              <a:off x="7353675"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13" name="Line 27"/>
            <p:cNvSpPr>
              <a:spLocks noChangeShapeType="1"/>
            </p:cNvSpPr>
            <p:nvPr/>
          </p:nvSpPr>
          <p:spPr bwMode="auto">
            <a:xfrm>
              <a:off x="7770771" y="204040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grpSp>
      <p:sp>
        <p:nvSpPr>
          <p:cNvPr id="114" name="剪去对角的矩形 113"/>
          <p:cNvSpPr/>
          <p:nvPr/>
        </p:nvSpPr>
        <p:spPr>
          <a:xfrm>
            <a:off x="1259306" y="4455028"/>
            <a:ext cx="6661484" cy="677778"/>
          </a:xfrm>
          <a:prstGeom prst="snip2DiagRect">
            <a:avLst>
              <a:gd name="adj1" fmla="val 0"/>
              <a:gd name="adj2" fmla="val 25863"/>
            </a:avLst>
          </a:prstGeom>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FF00"/>
                </a:solidFill>
                <a:latin typeface="微软雅黑" panose="020B0503020204020204" pitchFamily="34" charset="-122"/>
                <a:ea typeface="微软雅黑" panose="020B0503020204020204" pitchFamily="34" charset="-122"/>
              </a:rPr>
              <a:t> 计数器不仅可以实现计数也可以实现分频。</a:t>
            </a:r>
            <a:endParaRPr lang="zh-CN" altLang="en-US" sz="2000" b="1" dirty="0">
              <a:solidFill>
                <a:srgbClr val="FFFF00"/>
              </a:solidFill>
              <a:latin typeface="微软雅黑" panose="020B0503020204020204" pitchFamily="34" charset="-122"/>
              <a:ea typeface="微软雅黑" panose="020B0503020204020204" pitchFamily="34" charset="-122"/>
            </a:endParaRPr>
          </a:p>
        </p:txBody>
      </p:sp>
      <p:grpSp>
        <p:nvGrpSpPr>
          <p:cNvPr id="121" name="组合 68"/>
          <p:cNvGrpSpPr/>
          <p:nvPr/>
        </p:nvGrpSpPr>
        <p:grpSpPr>
          <a:xfrm>
            <a:off x="2065067" y="2700680"/>
            <a:ext cx="5814389" cy="475590"/>
            <a:chOff x="1941142" y="2036395"/>
            <a:chExt cx="5814389" cy="1701934"/>
          </a:xfrm>
        </p:grpSpPr>
        <p:sp>
          <p:nvSpPr>
            <p:cNvPr id="122" name="Line 12"/>
            <p:cNvSpPr>
              <a:spLocks noChangeShapeType="1"/>
            </p:cNvSpPr>
            <p:nvPr/>
          </p:nvSpPr>
          <p:spPr bwMode="auto">
            <a:xfrm>
              <a:off x="1941142"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23" name="Line 14"/>
            <p:cNvSpPr>
              <a:spLocks noChangeShapeType="1"/>
            </p:cNvSpPr>
            <p:nvPr/>
          </p:nvSpPr>
          <p:spPr bwMode="auto">
            <a:xfrm>
              <a:off x="2772410"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24" name="Line 17"/>
            <p:cNvSpPr>
              <a:spLocks noChangeShapeType="1"/>
            </p:cNvSpPr>
            <p:nvPr/>
          </p:nvSpPr>
          <p:spPr bwMode="auto">
            <a:xfrm>
              <a:off x="3600076"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25" name="Line 19"/>
            <p:cNvSpPr>
              <a:spLocks noChangeShapeType="1"/>
            </p:cNvSpPr>
            <p:nvPr/>
          </p:nvSpPr>
          <p:spPr bwMode="auto">
            <a:xfrm>
              <a:off x="4441825"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26" name="Line 21"/>
            <p:cNvSpPr>
              <a:spLocks noChangeShapeType="1"/>
            </p:cNvSpPr>
            <p:nvPr/>
          </p:nvSpPr>
          <p:spPr bwMode="auto">
            <a:xfrm>
              <a:off x="5273092"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27" name="Line 24"/>
            <p:cNvSpPr>
              <a:spLocks noChangeShapeType="1"/>
            </p:cNvSpPr>
            <p:nvPr/>
          </p:nvSpPr>
          <p:spPr bwMode="auto">
            <a:xfrm>
              <a:off x="6104768"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28" name="Line 26"/>
            <p:cNvSpPr>
              <a:spLocks noChangeShapeType="1"/>
            </p:cNvSpPr>
            <p:nvPr/>
          </p:nvSpPr>
          <p:spPr bwMode="auto">
            <a:xfrm>
              <a:off x="6928617" y="2036395"/>
              <a:ext cx="0" cy="1697922"/>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29" name="Line 27"/>
            <p:cNvSpPr>
              <a:spLocks noChangeShapeType="1"/>
            </p:cNvSpPr>
            <p:nvPr/>
          </p:nvSpPr>
          <p:spPr bwMode="auto">
            <a:xfrm>
              <a:off x="7755531" y="2040407"/>
              <a:ext cx="0" cy="1697922"/>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133" name="组合 85"/>
          <p:cNvGrpSpPr/>
          <p:nvPr/>
        </p:nvGrpSpPr>
        <p:grpSpPr>
          <a:xfrm>
            <a:off x="2896335" y="3169310"/>
            <a:ext cx="4983121" cy="475590"/>
            <a:chOff x="2772410" y="2036395"/>
            <a:chExt cx="4983121" cy="1701934"/>
          </a:xfrm>
        </p:grpSpPr>
        <p:sp>
          <p:nvSpPr>
            <p:cNvPr id="134" name="Line 14"/>
            <p:cNvSpPr>
              <a:spLocks noChangeShapeType="1"/>
            </p:cNvSpPr>
            <p:nvPr/>
          </p:nvSpPr>
          <p:spPr bwMode="auto">
            <a:xfrm>
              <a:off x="2772410"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35" name="Line 19"/>
            <p:cNvSpPr>
              <a:spLocks noChangeShapeType="1"/>
            </p:cNvSpPr>
            <p:nvPr/>
          </p:nvSpPr>
          <p:spPr bwMode="auto">
            <a:xfrm>
              <a:off x="4441825"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36" name="Line 24"/>
            <p:cNvSpPr>
              <a:spLocks noChangeShapeType="1"/>
            </p:cNvSpPr>
            <p:nvPr/>
          </p:nvSpPr>
          <p:spPr bwMode="auto">
            <a:xfrm>
              <a:off x="6104768"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37" name="Line 27"/>
            <p:cNvSpPr>
              <a:spLocks noChangeShapeType="1"/>
            </p:cNvSpPr>
            <p:nvPr/>
          </p:nvSpPr>
          <p:spPr bwMode="auto">
            <a:xfrm>
              <a:off x="7755531" y="2040407"/>
              <a:ext cx="0" cy="1697922"/>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138" name="组合 94"/>
          <p:cNvGrpSpPr/>
          <p:nvPr/>
        </p:nvGrpSpPr>
        <p:grpSpPr>
          <a:xfrm>
            <a:off x="4561940" y="3660800"/>
            <a:ext cx="3321326" cy="475590"/>
            <a:chOff x="4441825" y="2036395"/>
            <a:chExt cx="3321326" cy="1701934"/>
          </a:xfrm>
        </p:grpSpPr>
        <p:sp>
          <p:nvSpPr>
            <p:cNvPr id="139" name="Line 19"/>
            <p:cNvSpPr>
              <a:spLocks noChangeShapeType="1"/>
            </p:cNvSpPr>
            <p:nvPr/>
          </p:nvSpPr>
          <p:spPr bwMode="auto">
            <a:xfrm>
              <a:off x="4441825" y="2036395"/>
              <a:ext cx="0" cy="1697924"/>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40" name="Line 27"/>
            <p:cNvSpPr>
              <a:spLocks noChangeShapeType="1"/>
            </p:cNvSpPr>
            <p:nvPr/>
          </p:nvSpPr>
          <p:spPr bwMode="auto">
            <a:xfrm>
              <a:off x="7763151" y="2040407"/>
              <a:ext cx="0" cy="1697922"/>
            </a:xfrm>
            <a:prstGeom prst="line">
              <a:avLst/>
            </a:prstGeom>
            <a:noFill/>
            <a:ln w="19050">
              <a:solidFill>
                <a:srgbClr val="FF0000"/>
              </a:solidFill>
              <a:prstDash val="dash"/>
              <a:round/>
            </a:ln>
            <a:effectLst/>
          </p:spPr>
          <p:txBody>
            <a:bodyPr/>
            <a:lstStyle/>
            <a:p>
              <a:pPr>
                <a:defRPr/>
              </a:pPr>
              <a:endParaRPr lang="zh-CN" altLang="en-US">
                <a:effectLst>
                  <a:outerShdw blurRad="38100" dist="38100" dir="2700000" algn="tl">
                    <a:srgbClr val="000000">
                      <a:alpha val="43137"/>
                    </a:srgbClr>
                  </a:outerShdw>
                </a:effectLst>
              </a:endParaRPr>
            </a:p>
          </p:txBody>
        </p:sp>
      </p:grpSp>
      <p:sp>
        <p:nvSpPr>
          <p:cNvPr id="144" name="矩形 143"/>
          <p:cNvSpPr/>
          <p:nvPr/>
        </p:nvSpPr>
        <p:spPr>
          <a:xfrm>
            <a:off x="1241820" y="2509521"/>
            <a:ext cx="364039" cy="1623060"/>
          </a:xfrm>
          <a:prstGeom prst="rect">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3729867" y="1426566"/>
            <a:ext cx="1267249" cy="506254"/>
            <a:chOff x="3729867" y="1426566"/>
            <a:chExt cx="1267249" cy="506254"/>
          </a:xfrm>
        </p:grpSpPr>
        <p:sp>
          <p:nvSpPr>
            <p:cNvPr id="116" name="圆角矩形标注 115"/>
            <p:cNvSpPr/>
            <p:nvPr/>
          </p:nvSpPr>
          <p:spPr>
            <a:xfrm>
              <a:off x="3729867" y="1455821"/>
              <a:ext cx="1267249" cy="476999"/>
            </a:xfrm>
            <a:prstGeom prst="wedgeRoundRectCallout">
              <a:avLst>
                <a:gd name="adj1" fmla="val -55243"/>
                <a:gd name="adj2" fmla="val 141595"/>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zh-CN" altLang="en-US" sz="1200" dirty="0">
                <a:solidFill>
                  <a:srgbClr val="0000FF"/>
                </a:solidFill>
                <a:latin typeface="微软雅黑" panose="020B0503020204020204" pitchFamily="34" charset="-122"/>
                <a:ea typeface="微软雅黑" panose="020B0503020204020204" pitchFamily="34" charset="-122"/>
              </a:endParaRPr>
            </a:p>
          </p:txBody>
        </p:sp>
        <p:graphicFrame>
          <p:nvGraphicFramePr>
            <p:cNvPr id="2" name="对象 1"/>
            <p:cNvGraphicFramePr>
              <a:graphicFrameLocks noChangeAspect="1"/>
            </p:cNvGraphicFramePr>
            <p:nvPr/>
          </p:nvGraphicFramePr>
          <p:xfrm>
            <a:off x="3860081" y="1426566"/>
            <a:ext cx="889975" cy="492665"/>
          </p:xfrm>
          <a:graphic>
            <a:graphicData uri="http://schemas.openxmlformats.org/presentationml/2006/ole">
              <mc:AlternateContent xmlns:mc="http://schemas.openxmlformats.org/markup-compatibility/2006">
                <mc:Choice xmlns:v="urn:schemas-microsoft-com:vml" Requires="v">
                  <p:oleObj spid="_x0000_s29784" name="Equation" r:id="rId14" imgW="17068800" imgH="9448800" progId="">
                    <p:embed/>
                  </p:oleObj>
                </mc:Choice>
                <mc:Fallback>
                  <p:oleObj name="Equation" r:id="rId14" imgW="17068800" imgH="9448800" progId="">
                    <p:embed/>
                    <p:pic>
                      <p:nvPicPr>
                        <p:cNvPr id="0" name="对象 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60081" y="1426566"/>
                          <a:ext cx="889975" cy="4926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7" name="组合 6"/>
          <p:cNvGrpSpPr/>
          <p:nvPr/>
        </p:nvGrpSpPr>
        <p:grpSpPr>
          <a:xfrm>
            <a:off x="4427698" y="2103438"/>
            <a:ext cx="1267249" cy="518524"/>
            <a:chOff x="4427698" y="2103438"/>
            <a:chExt cx="1267249" cy="518524"/>
          </a:xfrm>
        </p:grpSpPr>
        <p:sp>
          <p:nvSpPr>
            <p:cNvPr id="119" name="圆角矩形标注 118"/>
            <p:cNvSpPr/>
            <p:nvPr/>
          </p:nvSpPr>
          <p:spPr>
            <a:xfrm>
              <a:off x="4427698" y="2144963"/>
              <a:ext cx="1267249" cy="476999"/>
            </a:xfrm>
            <a:prstGeom prst="wedgeRoundRectCallout">
              <a:avLst>
                <a:gd name="adj1" fmla="val -58092"/>
                <a:gd name="adj2" fmla="val 112167"/>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zh-CN" altLang="en-US" sz="1200" dirty="0">
                <a:solidFill>
                  <a:srgbClr val="0000FF"/>
                </a:solidFill>
                <a:latin typeface="微软雅黑" panose="020B0503020204020204" pitchFamily="34" charset="-122"/>
                <a:ea typeface="微软雅黑" panose="020B0503020204020204" pitchFamily="34" charset="-122"/>
              </a:endParaRPr>
            </a:p>
          </p:txBody>
        </p:sp>
        <p:graphicFrame>
          <p:nvGraphicFramePr>
            <p:cNvPr id="68" name="对象 67"/>
            <p:cNvGraphicFramePr>
              <a:graphicFrameLocks noChangeAspect="1"/>
            </p:cNvGraphicFramePr>
            <p:nvPr/>
          </p:nvGraphicFramePr>
          <p:xfrm>
            <a:off x="4645025" y="2103438"/>
            <a:ext cx="873125" cy="492125"/>
          </p:xfrm>
          <a:graphic>
            <a:graphicData uri="http://schemas.openxmlformats.org/presentationml/2006/ole">
              <mc:AlternateContent xmlns:mc="http://schemas.openxmlformats.org/markup-compatibility/2006">
                <mc:Choice xmlns:v="urn:schemas-microsoft-com:vml" Requires="v">
                  <p:oleObj spid="_x0000_s29785" name="Equation" r:id="rId16" imgW="16764000" imgH="9448800" progId="">
                    <p:embed/>
                  </p:oleObj>
                </mc:Choice>
                <mc:Fallback>
                  <p:oleObj name="Equation" r:id="rId16" imgW="16764000" imgH="9448800" progId="">
                    <p:embed/>
                    <p:pic>
                      <p:nvPicPr>
                        <p:cNvPr id="0" name="对象 6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45025" y="2103438"/>
                          <a:ext cx="873125" cy="49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8" name="组合 7"/>
          <p:cNvGrpSpPr/>
          <p:nvPr/>
        </p:nvGrpSpPr>
        <p:grpSpPr>
          <a:xfrm>
            <a:off x="4961095" y="2674938"/>
            <a:ext cx="1267249" cy="493712"/>
            <a:chOff x="4961095" y="2674938"/>
            <a:chExt cx="1267249" cy="493712"/>
          </a:xfrm>
        </p:grpSpPr>
        <p:sp>
          <p:nvSpPr>
            <p:cNvPr id="131" name="圆角矩形标注 130"/>
            <p:cNvSpPr/>
            <p:nvPr/>
          </p:nvSpPr>
          <p:spPr>
            <a:xfrm>
              <a:off x="4961095" y="2686379"/>
              <a:ext cx="1267249" cy="476999"/>
            </a:xfrm>
            <a:prstGeom prst="wedgeRoundRectCallout">
              <a:avLst>
                <a:gd name="adj1" fmla="val -72333"/>
                <a:gd name="adj2" fmla="val 101237"/>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zh-CN" altLang="en-US" sz="1200" dirty="0">
                <a:solidFill>
                  <a:srgbClr val="0000FF"/>
                </a:solidFill>
                <a:latin typeface="微软雅黑" panose="020B0503020204020204" pitchFamily="34" charset="-122"/>
                <a:ea typeface="微软雅黑" panose="020B0503020204020204" pitchFamily="34" charset="-122"/>
              </a:endParaRPr>
            </a:p>
          </p:txBody>
        </p:sp>
        <p:graphicFrame>
          <p:nvGraphicFramePr>
            <p:cNvPr id="69" name="对象 68"/>
            <p:cNvGraphicFramePr>
              <a:graphicFrameLocks noChangeAspect="1"/>
            </p:cNvGraphicFramePr>
            <p:nvPr/>
          </p:nvGraphicFramePr>
          <p:xfrm>
            <a:off x="5130800" y="2674938"/>
            <a:ext cx="874713" cy="493712"/>
          </p:xfrm>
          <a:graphic>
            <a:graphicData uri="http://schemas.openxmlformats.org/presentationml/2006/ole">
              <mc:AlternateContent xmlns:mc="http://schemas.openxmlformats.org/markup-compatibility/2006">
                <mc:Choice xmlns:v="urn:schemas-microsoft-com:vml" Requires="v">
                  <p:oleObj spid="_x0000_s29786" name="Equation" r:id="rId18" imgW="16764000" imgH="9448800" progId="">
                    <p:embed/>
                  </p:oleObj>
                </mc:Choice>
                <mc:Fallback>
                  <p:oleObj name="Equation" r:id="rId18" imgW="16764000" imgH="9448800" progId="">
                    <p:embed/>
                    <p:pic>
                      <p:nvPicPr>
                        <p:cNvPr id="0" name="对象 6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30800" y="2674938"/>
                          <a:ext cx="874713" cy="493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9" name="组合 8"/>
          <p:cNvGrpSpPr/>
          <p:nvPr/>
        </p:nvGrpSpPr>
        <p:grpSpPr>
          <a:xfrm>
            <a:off x="5418298" y="3240405"/>
            <a:ext cx="1267249" cy="508514"/>
            <a:chOff x="5418298" y="3240405"/>
            <a:chExt cx="1267249" cy="508514"/>
          </a:xfrm>
        </p:grpSpPr>
        <p:sp>
          <p:nvSpPr>
            <p:cNvPr id="142" name="圆角矩形标注 141"/>
            <p:cNvSpPr/>
            <p:nvPr/>
          </p:nvSpPr>
          <p:spPr>
            <a:xfrm>
              <a:off x="5418298" y="3271920"/>
              <a:ext cx="1267249" cy="476999"/>
            </a:xfrm>
            <a:prstGeom prst="wedgeRoundRectCallout">
              <a:avLst>
                <a:gd name="adj1" fmla="val -32457"/>
                <a:gd name="adj2" fmla="val 87784"/>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zh-CN" altLang="en-US" sz="1200" dirty="0">
                <a:solidFill>
                  <a:srgbClr val="0000FF"/>
                </a:solidFill>
                <a:latin typeface="微软雅黑" panose="020B0503020204020204" pitchFamily="34" charset="-122"/>
                <a:ea typeface="微软雅黑" panose="020B0503020204020204" pitchFamily="34" charset="-122"/>
              </a:endParaRPr>
            </a:p>
          </p:txBody>
        </p:sp>
        <p:graphicFrame>
          <p:nvGraphicFramePr>
            <p:cNvPr id="70" name="对象 69"/>
            <p:cNvGraphicFramePr>
              <a:graphicFrameLocks noChangeAspect="1"/>
            </p:cNvGraphicFramePr>
            <p:nvPr/>
          </p:nvGraphicFramePr>
          <p:xfrm>
            <a:off x="5543233" y="3240405"/>
            <a:ext cx="954087" cy="492125"/>
          </p:xfrm>
          <a:graphic>
            <a:graphicData uri="http://schemas.openxmlformats.org/presentationml/2006/ole">
              <mc:AlternateContent xmlns:mc="http://schemas.openxmlformats.org/markup-compatibility/2006">
                <mc:Choice xmlns:v="urn:schemas-microsoft-com:vml" Requires="v">
                  <p:oleObj spid="_x0000_s29787" name="Equation" r:id="rId20" imgW="18288000" imgH="9448800" progId="">
                    <p:embed/>
                  </p:oleObj>
                </mc:Choice>
                <mc:Fallback>
                  <p:oleObj name="Equation" r:id="rId20" imgW="18288000" imgH="9448800" progId="">
                    <p:embed/>
                    <p:pic>
                      <p:nvPicPr>
                        <p:cNvPr id="0" name="对象 6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543233" y="3240405"/>
                          <a:ext cx="954087" cy="49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1600">
        <p14:prism dir="d"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wipe(left)">
                                      <p:cBhvr>
                                        <p:cTn id="7" dur="1000"/>
                                        <p:tgtEl>
                                          <p:spTgt spid="72"/>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93"/>
                                        </p:tgtEl>
                                        <p:attrNameLst>
                                          <p:attrName>style.visibility</p:attrName>
                                        </p:attrNameLst>
                                      </p:cBhvr>
                                      <p:to>
                                        <p:strVal val="visible"/>
                                      </p:to>
                                    </p:set>
                                    <p:animEffect transition="in" filter="wipe(up)">
                                      <p:cBhvr>
                                        <p:cTn id="11" dur="1000"/>
                                        <p:tgtEl>
                                          <p:spTgt spid="93"/>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84"/>
                                        </p:tgtEl>
                                        <p:attrNameLst>
                                          <p:attrName>style.visibility</p:attrName>
                                        </p:attrNameLst>
                                      </p:cBhvr>
                                      <p:to>
                                        <p:strVal val="visible"/>
                                      </p:to>
                                    </p:set>
                                    <p:animEffect transition="in" filter="wipe(left)">
                                      <p:cBhvr>
                                        <p:cTn id="15" dur="2000"/>
                                        <p:tgtEl>
                                          <p:spTgt spid="84"/>
                                        </p:tgtEl>
                                      </p:cBhvr>
                                    </p:animEffect>
                                  </p:childTnLst>
                                </p:cTn>
                              </p:par>
                            </p:childTnLst>
                          </p:cTn>
                        </p:par>
                        <p:par>
                          <p:cTn id="16" fill="hold">
                            <p:stCondLst>
                              <p:cond delay="4000"/>
                            </p:stCondLst>
                            <p:childTnLst>
                              <p:par>
                                <p:cTn id="17" presetID="22" presetClass="entr" presetSubtype="1" fill="hold" nodeType="afterEffect">
                                  <p:stCondLst>
                                    <p:cond delay="0"/>
                                  </p:stCondLst>
                                  <p:childTnLst>
                                    <p:set>
                                      <p:cBhvr>
                                        <p:cTn id="18" dur="1" fill="hold">
                                          <p:stCondLst>
                                            <p:cond delay="0"/>
                                          </p:stCondLst>
                                        </p:cTn>
                                        <p:tgtEl>
                                          <p:spTgt spid="121"/>
                                        </p:tgtEl>
                                        <p:attrNameLst>
                                          <p:attrName>style.visibility</p:attrName>
                                        </p:attrNameLst>
                                      </p:cBhvr>
                                      <p:to>
                                        <p:strVal val="visible"/>
                                      </p:to>
                                    </p:set>
                                    <p:animEffect transition="in" filter="wipe(up)">
                                      <p:cBhvr>
                                        <p:cTn id="19" dur="1000"/>
                                        <p:tgtEl>
                                          <p:spTgt spid="121"/>
                                        </p:tgtEl>
                                      </p:cBhvr>
                                    </p:animEffect>
                                  </p:childTnLst>
                                </p:cTn>
                              </p:par>
                            </p:childTnLst>
                          </p:cTn>
                        </p:par>
                        <p:par>
                          <p:cTn id="20" fill="hold">
                            <p:stCondLst>
                              <p:cond delay="5000"/>
                            </p:stCondLst>
                            <p:childTnLst>
                              <p:par>
                                <p:cTn id="21" presetID="22" presetClass="entr" presetSubtype="8" fill="hold" nodeType="afterEffect">
                                  <p:stCondLst>
                                    <p:cond delay="0"/>
                                  </p:stCondLst>
                                  <p:childTnLst>
                                    <p:set>
                                      <p:cBhvr>
                                        <p:cTn id="22" dur="1" fill="hold">
                                          <p:stCondLst>
                                            <p:cond delay="0"/>
                                          </p:stCondLst>
                                        </p:cTn>
                                        <p:tgtEl>
                                          <p:spTgt spid="87"/>
                                        </p:tgtEl>
                                        <p:attrNameLst>
                                          <p:attrName>style.visibility</p:attrName>
                                        </p:attrNameLst>
                                      </p:cBhvr>
                                      <p:to>
                                        <p:strVal val="visible"/>
                                      </p:to>
                                    </p:set>
                                    <p:animEffect transition="in" filter="wipe(left)">
                                      <p:cBhvr>
                                        <p:cTn id="23" dur="2000"/>
                                        <p:tgtEl>
                                          <p:spTgt spid="87"/>
                                        </p:tgtEl>
                                      </p:cBhvr>
                                    </p:animEffect>
                                  </p:childTnLst>
                                </p:cTn>
                              </p:par>
                            </p:childTnLst>
                          </p:cTn>
                        </p:par>
                        <p:par>
                          <p:cTn id="24" fill="hold">
                            <p:stCondLst>
                              <p:cond delay="7000"/>
                            </p:stCondLst>
                            <p:childTnLst>
                              <p:par>
                                <p:cTn id="25" presetID="22" presetClass="entr" presetSubtype="1" fill="hold" nodeType="afterEffect">
                                  <p:stCondLst>
                                    <p:cond delay="0"/>
                                  </p:stCondLst>
                                  <p:childTnLst>
                                    <p:set>
                                      <p:cBhvr>
                                        <p:cTn id="26" dur="1" fill="hold">
                                          <p:stCondLst>
                                            <p:cond delay="0"/>
                                          </p:stCondLst>
                                        </p:cTn>
                                        <p:tgtEl>
                                          <p:spTgt spid="133"/>
                                        </p:tgtEl>
                                        <p:attrNameLst>
                                          <p:attrName>style.visibility</p:attrName>
                                        </p:attrNameLst>
                                      </p:cBhvr>
                                      <p:to>
                                        <p:strVal val="visible"/>
                                      </p:to>
                                    </p:set>
                                    <p:animEffect transition="in" filter="wipe(up)">
                                      <p:cBhvr>
                                        <p:cTn id="27" dur="1000"/>
                                        <p:tgtEl>
                                          <p:spTgt spid="133"/>
                                        </p:tgtEl>
                                      </p:cBhvr>
                                    </p:animEffect>
                                  </p:childTnLst>
                                </p:cTn>
                              </p:par>
                            </p:childTnLst>
                          </p:cTn>
                        </p:par>
                        <p:par>
                          <p:cTn id="28" fill="hold">
                            <p:stCondLst>
                              <p:cond delay="8000"/>
                            </p:stCondLst>
                            <p:childTnLst>
                              <p:par>
                                <p:cTn id="29" presetID="22" presetClass="entr" presetSubtype="8" fill="hold" nodeType="afterEffect">
                                  <p:stCondLst>
                                    <p:cond delay="0"/>
                                  </p:stCondLst>
                                  <p:childTnLst>
                                    <p:set>
                                      <p:cBhvr>
                                        <p:cTn id="30" dur="1" fill="hold">
                                          <p:stCondLst>
                                            <p:cond delay="0"/>
                                          </p:stCondLst>
                                        </p:cTn>
                                        <p:tgtEl>
                                          <p:spTgt spid="82"/>
                                        </p:tgtEl>
                                        <p:attrNameLst>
                                          <p:attrName>style.visibility</p:attrName>
                                        </p:attrNameLst>
                                      </p:cBhvr>
                                      <p:to>
                                        <p:strVal val="visible"/>
                                      </p:to>
                                    </p:set>
                                    <p:animEffect transition="in" filter="wipe(left)">
                                      <p:cBhvr>
                                        <p:cTn id="31" dur="2000"/>
                                        <p:tgtEl>
                                          <p:spTgt spid="82"/>
                                        </p:tgtEl>
                                      </p:cBhvr>
                                    </p:animEffect>
                                  </p:childTnLst>
                                </p:cTn>
                              </p:par>
                            </p:childTnLst>
                          </p:cTn>
                        </p:par>
                        <p:par>
                          <p:cTn id="32" fill="hold">
                            <p:stCondLst>
                              <p:cond delay="10000"/>
                            </p:stCondLst>
                            <p:childTnLst>
                              <p:par>
                                <p:cTn id="33" presetID="22" presetClass="entr" presetSubtype="1" fill="hold" nodeType="afterEffect">
                                  <p:stCondLst>
                                    <p:cond delay="0"/>
                                  </p:stCondLst>
                                  <p:childTnLst>
                                    <p:set>
                                      <p:cBhvr>
                                        <p:cTn id="34" dur="1" fill="hold">
                                          <p:stCondLst>
                                            <p:cond delay="0"/>
                                          </p:stCondLst>
                                        </p:cTn>
                                        <p:tgtEl>
                                          <p:spTgt spid="138"/>
                                        </p:tgtEl>
                                        <p:attrNameLst>
                                          <p:attrName>style.visibility</p:attrName>
                                        </p:attrNameLst>
                                      </p:cBhvr>
                                      <p:to>
                                        <p:strVal val="visible"/>
                                      </p:to>
                                    </p:set>
                                    <p:animEffect transition="in" filter="wipe(up)">
                                      <p:cBhvr>
                                        <p:cTn id="35" dur="1000"/>
                                        <p:tgtEl>
                                          <p:spTgt spid="138"/>
                                        </p:tgtEl>
                                      </p:cBhvr>
                                    </p:animEffect>
                                  </p:childTnLst>
                                </p:cTn>
                              </p:par>
                            </p:childTnLst>
                          </p:cTn>
                        </p:par>
                        <p:par>
                          <p:cTn id="36" fill="hold">
                            <p:stCondLst>
                              <p:cond delay="11000"/>
                            </p:stCondLst>
                            <p:childTnLst>
                              <p:par>
                                <p:cTn id="37" presetID="22" presetClass="entr" presetSubtype="8" fill="hold" nodeType="afterEffect">
                                  <p:stCondLst>
                                    <p:cond delay="0"/>
                                  </p:stCondLst>
                                  <p:childTnLst>
                                    <p:set>
                                      <p:cBhvr>
                                        <p:cTn id="38" dur="1" fill="hold">
                                          <p:stCondLst>
                                            <p:cond delay="0"/>
                                          </p:stCondLst>
                                        </p:cTn>
                                        <p:tgtEl>
                                          <p:spTgt spid="89"/>
                                        </p:tgtEl>
                                        <p:attrNameLst>
                                          <p:attrName>style.visibility</p:attrName>
                                        </p:attrNameLst>
                                      </p:cBhvr>
                                      <p:to>
                                        <p:strVal val="visible"/>
                                      </p:to>
                                    </p:set>
                                    <p:animEffect transition="in" filter="wipe(left)">
                                      <p:cBhvr>
                                        <p:cTn id="39" dur="2000"/>
                                        <p:tgtEl>
                                          <p:spTgt spid="89"/>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2" nodeType="clickEffect">
                                  <p:stCondLst>
                                    <p:cond delay="0"/>
                                  </p:stCondLst>
                                  <p:childTnLst>
                                    <p:set>
                                      <p:cBhvr>
                                        <p:cTn id="43" dur="1" fill="hold">
                                          <p:stCondLst>
                                            <p:cond delay="0"/>
                                          </p:stCondLst>
                                        </p:cTn>
                                        <p:tgtEl>
                                          <p:spTgt spid="144"/>
                                        </p:tgtEl>
                                        <p:attrNameLst>
                                          <p:attrName>style.visibility</p:attrName>
                                        </p:attrNameLst>
                                      </p:cBhvr>
                                      <p:to>
                                        <p:strVal val="visible"/>
                                      </p:to>
                                    </p:set>
                                  </p:childTnLst>
                                </p:cTn>
                              </p:par>
                            </p:childTnLst>
                          </p:cTn>
                        </p:par>
                        <p:par>
                          <p:cTn id="44" fill="hold">
                            <p:stCondLst>
                              <p:cond delay="0"/>
                            </p:stCondLst>
                            <p:childTnLst>
                              <p:par>
                                <p:cTn id="45" presetID="63" presetClass="path" presetSubtype="0" accel="50000" decel="50000" fill="hold" grpId="0" nodeType="afterEffect">
                                  <p:stCondLst>
                                    <p:cond delay="0"/>
                                  </p:stCondLst>
                                  <p:childTnLst>
                                    <p:animMotion origin="layout" path="M -4.16667E-6 3.33333E-6 L 0.0474 0.00027 " pathEditMode="relative" rAng="0" ptsTypes="AA">
                                      <p:cBhvr>
                                        <p:cTn id="46" dur="2000" fill="hold"/>
                                        <p:tgtEl>
                                          <p:spTgt spid="144"/>
                                        </p:tgtEl>
                                        <p:attrNameLst>
                                          <p:attrName>ppt_x</p:attrName>
                                          <p:attrName>ppt_y</p:attrName>
                                        </p:attrNameLst>
                                      </p:cBhvr>
                                      <p:rCtr x="24" y="0"/>
                                    </p:animMotion>
                                  </p:childTnLst>
                                </p:cTn>
                              </p:par>
                            </p:childTnLst>
                          </p:cTn>
                        </p:par>
                        <p:par>
                          <p:cTn id="47" fill="hold">
                            <p:stCondLst>
                              <p:cond delay="2000"/>
                            </p:stCondLst>
                            <p:childTnLst>
                              <p:par>
                                <p:cTn id="48" presetID="63" presetClass="path" presetSubtype="0" accel="50000" decel="50000" fill="hold" grpId="1" nodeType="afterEffect">
                                  <p:stCondLst>
                                    <p:cond delay="0"/>
                                  </p:stCondLst>
                                  <p:childTnLst>
                                    <p:animMotion origin="layout" path="M 0.0474 0.00027 L 0.09375 0.00027 " pathEditMode="relative" rAng="0" ptsTypes="AA">
                                      <p:cBhvr>
                                        <p:cTn id="49" dur="2000" fill="hold"/>
                                        <p:tgtEl>
                                          <p:spTgt spid="144"/>
                                        </p:tgtEl>
                                        <p:attrNameLst>
                                          <p:attrName>ppt_x</p:attrName>
                                          <p:attrName>ppt_y</p:attrName>
                                        </p:attrNameLst>
                                      </p:cBhvr>
                                      <p:rCtr x="23" y="0"/>
                                    </p:animMotion>
                                  </p:childTnLst>
                                </p:cTn>
                              </p:par>
                            </p:childTnLst>
                          </p:cTn>
                        </p:par>
                        <p:par>
                          <p:cTn id="50" fill="hold">
                            <p:stCondLst>
                              <p:cond delay="4000"/>
                            </p:stCondLst>
                            <p:childTnLst>
                              <p:par>
                                <p:cTn id="51" presetID="63" presetClass="path" presetSubtype="0" accel="50000" decel="50000" fill="hold" grpId="3" nodeType="afterEffect">
                                  <p:stCondLst>
                                    <p:cond delay="0"/>
                                  </p:stCondLst>
                                  <p:childTnLst>
                                    <p:animMotion origin="layout" path="M 0.09375 0.00028 L 0.72639 0.00028 " pathEditMode="relative" rAng="0" ptsTypes="AA">
                                      <p:cBhvr>
                                        <p:cTn id="52" dur="5000" fill="hold"/>
                                        <p:tgtEl>
                                          <p:spTgt spid="144"/>
                                        </p:tgtEl>
                                        <p:attrNameLst>
                                          <p:attrName>ppt_x</p:attrName>
                                          <p:attrName>ppt_y</p:attrName>
                                        </p:attrNameLst>
                                      </p:cBhvr>
                                      <p:rCtr x="316" y="0"/>
                                    </p:animMotion>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wipe(down)">
                                      <p:cBhvr>
                                        <p:cTn id="57" dur="1000"/>
                                        <p:tgtEl>
                                          <p:spTgt spid="6"/>
                                        </p:tgtEl>
                                      </p:cBhvr>
                                    </p:animEffect>
                                  </p:childTnLst>
                                </p:cTn>
                              </p:par>
                            </p:childTnLst>
                          </p:cTn>
                        </p:par>
                        <p:par>
                          <p:cTn id="58" fill="hold">
                            <p:stCondLst>
                              <p:cond delay="1000"/>
                            </p:stCondLst>
                            <p:childTnLst>
                              <p:par>
                                <p:cTn id="59" presetID="22" presetClass="entr" presetSubtype="4" fill="hold" nodeType="after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wipe(down)">
                                      <p:cBhvr>
                                        <p:cTn id="61" dur="1000"/>
                                        <p:tgtEl>
                                          <p:spTgt spid="7"/>
                                        </p:tgtEl>
                                      </p:cBhvr>
                                    </p:animEffect>
                                  </p:childTnLst>
                                </p:cTn>
                              </p:par>
                            </p:childTnLst>
                          </p:cTn>
                        </p:par>
                        <p:par>
                          <p:cTn id="62" fill="hold">
                            <p:stCondLst>
                              <p:cond delay="2000"/>
                            </p:stCondLst>
                            <p:childTnLst>
                              <p:par>
                                <p:cTn id="63" presetID="22" presetClass="entr" presetSubtype="4" fill="hold" nodeType="afterEffect">
                                  <p:stCondLst>
                                    <p:cond delay="0"/>
                                  </p:stCondLst>
                                  <p:childTnLst>
                                    <p:set>
                                      <p:cBhvr>
                                        <p:cTn id="64" dur="1" fill="hold">
                                          <p:stCondLst>
                                            <p:cond delay="0"/>
                                          </p:stCondLst>
                                        </p:cTn>
                                        <p:tgtEl>
                                          <p:spTgt spid="8"/>
                                        </p:tgtEl>
                                        <p:attrNameLst>
                                          <p:attrName>style.visibility</p:attrName>
                                        </p:attrNameLst>
                                      </p:cBhvr>
                                      <p:to>
                                        <p:strVal val="visible"/>
                                      </p:to>
                                    </p:set>
                                    <p:animEffect transition="in" filter="wipe(down)">
                                      <p:cBhvr>
                                        <p:cTn id="65" dur="1000"/>
                                        <p:tgtEl>
                                          <p:spTgt spid="8"/>
                                        </p:tgtEl>
                                      </p:cBhvr>
                                    </p:animEffect>
                                  </p:childTnLst>
                                </p:cTn>
                              </p:par>
                            </p:childTnLst>
                          </p:cTn>
                        </p:par>
                        <p:par>
                          <p:cTn id="66" fill="hold">
                            <p:stCondLst>
                              <p:cond delay="3000"/>
                            </p:stCondLst>
                            <p:childTnLst>
                              <p:par>
                                <p:cTn id="67" presetID="22" presetClass="entr" presetSubtype="4" fill="hold" nodeType="after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wipe(down)">
                                      <p:cBhvr>
                                        <p:cTn id="69" dur="1000"/>
                                        <p:tgtEl>
                                          <p:spTgt spid="9"/>
                                        </p:tgtEl>
                                      </p:cBhvr>
                                    </p:animEffect>
                                  </p:childTnLst>
                                </p:cTn>
                              </p:par>
                            </p:childTnLst>
                          </p:cTn>
                        </p:par>
                        <p:par>
                          <p:cTn id="70" fill="hold">
                            <p:stCondLst>
                              <p:cond delay="4000"/>
                            </p:stCondLst>
                            <p:childTnLst>
                              <p:par>
                                <p:cTn id="71" presetID="12" presetClass="entr" presetSubtype="4" fill="hold" grpId="0" nodeType="afterEffect">
                                  <p:stCondLst>
                                    <p:cond delay="0"/>
                                  </p:stCondLst>
                                  <p:childTnLst>
                                    <p:set>
                                      <p:cBhvr>
                                        <p:cTn id="72" dur="1" fill="hold">
                                          <p:stCondLst>
                                            <p:cond delay="0"/>
                                          </p:stCondLst>
                                        </p:cTn>
                                        <p:tgtEl>
                                          <p:spTgt spid="114"/>
                                        </p:tgtEl>
                                        <p:attrNameLst>
                                          <p:attrName>style.visibility</p:attrName>
                                        </p:attrNameLst>
                                      </p:cBhvr>
                                      <p:to>
                                        <p:strVal val="visible"/>
                                      </p:to>
                                    </p:set>
                                    <p:animEffect transition="in" filter="slide(fromBottom)">
                                      <p:cBhvr>
                                        <p:cTn id="73" dur="10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p:bldP spid="144" grpId="0" animBg="1"/>
      <p:bldP spid="144" grpId="1" animBg="1"/>
      <p:bldP spid="144" grpId="2" animBg="1"/>
      <p:bldP spid="144" grpId="3"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
          <p:cNvGrpSpPr/>
          <p:nvPr/>
        </p:nvGrpSpPr>
        <p:grpSpPr>
          <a:xfrm>
            <a:off x="392432" y="712860"/>
            <a:ext cx="1831741" cy="420971"/>
            <a:chOff x="670560" y="892917"/>
            <a:chExt cx="1831741" cy="420971"/>
          </a:xfrm>
        </p:grpSpPr>
        <p:sp>
          <p:nvSpPr>
            <p:cNvPr id="4" name="矩形 3"/>
            <p:cNvSpPr/>
            <p:nvPr/>
          </p:nvSpPr>
          <p:spPr>
            <a:xfrm>
              <a:off x="1035233" y="913778"/>
              <a:ext cx="146706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异步计数器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5"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6" name="Rectangle 8"/>
          <p:cNvSpPr>
            <a:spLocks noChangeArrowheads="1"/>
          </p:cNvSpPr>
          <p:nvPr/>
        </p:nvSpPr>
        <p:spPr bwMode="auto">
          <a:xfrm>
            <a:off x="370557" y="1198312"/>
            <a:ext cx="3623927" cy="369332"/>
          </a:xfrm>
          <a:prstGeom prst="rect">
            <a:avLst/>
          </a:prstGeom>
          <a:solidFill>
            <a:srgbClr val="FFFFFF"/>
          </a:solidFill>
          <a:ln w="9525" algn="ctr">
            <a:noFill/>
            <a:miter lim="800000"/>
          </a:ln>
        </p:spPr>
        <p:txBody>
          <a:bodyPr wrap="square" lIns="0" rIns="0">
            <a:spAutoFit/>
          </a:bodyPr>
          <a:lstStyle/>
          <a:p>
            <a:r>
              <a:rPr lang="zh-CN" altLang="en-US" b="1" dirty="0">
                <a:solidFill>
                  <a:srgbClr val="CC00CC"/>
                </a:solidFill>
                <a:latin typeface="微软雅黑" panose="020B0503020204020204" pitchFamily="34" charset="-122"/>
                <a:ea typeface="微软雅黑" panose="020B0503020204020204" pitchFamily="34" charset="-122"/>
              </a:rPr>
              <a:t>（</a:t>
            </a:r>
            <a:r>
              <a:rPr lang="en-US" altLang="zh-CN" b="1" dirty="0">
                <a:solidFill>
                  <a:srgbClr val="CC00CC"/>
                </a:solidFill>
                <a:latin typeface="微软雅黑" panose="020B0503020204020204" pitchFamily="34" charset="-122"/>
                <a:ea typeface="微软雅黑" panose="020B0503020204020204" pitchFamily="34" charset="-122"/>
              </a:rPr>
              <a:t>1</a:t>
            </a:r>
            <a:r>
              <a:rPr lang="zh-CN" altLang="en-US" b="1" dirty="0">
                <a:solidFill>
                  <a:srgbClr val="CC00CC"/>
                </a:solidFill>
                <a:latin typeface="微软雅黑" panose="020B0503020204020204" pitchFamily="34" charset="-122"/>
                <a:ea typeface="微软雅黑" panose="020B0503020204020204" pitchFamily="34" charset="-122"/>
              </a:rPr>
              <a:t>）异步</a:t>
            </a:r>
            <a:r>
              <a:rPr lang="en-US" altLang="zh-CN" b="1" dirty="0">
                <a:solidFill>
                  <a:srgbClr val="CC00CC"/>
                </a:solidFill>
                <a:latin typeface="微软雅黑" panose="020B0503020204020204" pitchFamily="34" charset="-122"/>
                <a:ea typeface="微软雅黑" panose="020B0503020204020204" pitchFamily="34" charset="-122"/>
              </a:rPr>
              <a:t>4</a:t>
            </a:r>
            <a:r>
              <a:rPr lang="zh-CN" altLang="en-US" b="1" dirty="0">
                <a:solidFill>
                  <a:srgbClr val="CC00CC"/>
                </a:solidFill>
                <a:latin typeface="微软雅黑" panose="020B0503020204020204" pitchFamily="34" charset="-122"/>
                <a:ea typeface="微软雅黑" panose="020B0503020204020204" pitchFamily="34" charset="-122"/>
              </a:rPr>
              <a:t>位二进制加法计数器</a:t>
            </a:r>
            <a:endParaRPr lang="zh-CN" altLang="en-US" b="1" dirty="0">
              <a:solidFill>
                <a:srgbClr val="CC00CC"/>
              </a:solidFill>
              <a:latin typeface="微软雅黑" panose="020B0503020204020204" pitchFamily="34" charset="-122"/>
              <a:ea typeface="微软雅黑" panose="020B0503020204020204" pitchFamily="34" charset="-122"/>
            </a:endParaRPr>
          </a:p>
        </p:txBody>
      </p:sp>
      <p:grpSp>
        <p:nvGrpSpPr>
          <p:cNvPr id="180" name="组合 179"/>
          <p:cNvGrpSpPr/>
          <p:nvPr/>
        </p:nvGrpSpPr>
        <p:grpSpPr>
          <a:xfrm>
            <a:off x="4838932" y="727950"/>
            <a:ext cx="4151555" cy="1010786"/>
            <a:chOff x="894376" y="1871728"/>
            <a:chExt cx="6395177" cy="1845783"/>
          </a:xfrm>
        </p:grpSpPr>
        <p:sp>
          <p:nvSpPr>
            <p:cNvPr id="182" name="剪去对角的矩形 181"/>
            <p:cNvSpPr/>
            <p:nvPr/>
          </p:nvSpPr>
          <p:spPr>
            <a:xfrm>
              <a:off x="894376" y="1872184"/>
              <a:ext cx="6395177" cy="1845327"/>
            </a:xfrm>
            <a:prstGeom prst="snip2Diag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83" name="对象 182"/>
            <p:cNvGraphicFramePr>
              <a:graphicFrameLocks noChangeAspect="1"/>
            </p:cNvGraphicFramePr>
            <p:nvPr/>
          </p:nvGraphicFramePr>
          <p:xfrm>
            <a:off x="956711" y="1871728"/>
            <a:ext cx="6254416" cy="1782080"/>
          </p:xfrm>
          <a:graphic>
            <a:graphicData uri="http://schemas.openxmlformats.org/presentationml/2006/ole">
              <mc:AlternateContent xmlns:mc="http://schemas.openxmlformats.org/markup-compatibility/2006">
                <mc:Choice xmlns:v="urn:schemas-microsoft-com:vml" Requires="v">
                  <p:oleObj spid="_x0000_s30770" name="Visio" r:id="rId2" imgW="3038475" imgH="847725" progId="Visio.Drawing.11">
                    <p:embed/>
                  </p:oleObj>
                </mc:Choice>
                <mc:Fallback>
                  <p:oleObj name="Visio" r:id="rId2" imgW="3038475" imgH="847725" progId="Visio.Drawing.11">
                    <p:embed/>
                    <p:pic>
                      <p:nvPicPr>
                        <p:cNvPr id="0" name="对象 18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6711" y="1871728"/>
                          <a:ext cx="6254416" cy="17820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87" name="组合 186"/>
          <p:cNvGrpSpPr/>
          <p:nvPr/>
        </p:nvGrpSpPr>
        <p:grpSpPr>
          <a:xfrm>
            <a:off x="826168" y="1895231"/>
            <a:ext cx="7499686" cy="2391360"/>
            <a:chOff x="826168" y="1895231"/>
            <a:chExt cx="7499686" cy="2391360"/>
          </a:xfrm>
        </p:grpSpPr>
        <p:grpSp>
          <p:nvGrpSpPr>
            <p:cNvPr id="188" name="组合 187"/>
            <p:cNvGrpSpPr/>
            <p:nvPr/>
          </p:nvGrpSpPr>
          <p:grpSpPr>
            <a:xfrm>
              <a:off x="826168" y="1895231"/>
              <a:ext cx="7499686" cy="2391360"/>
              <a:chOff x="826168" y="1755531"/>
              <a:chExt cx="7499686" cy="2391360"/>
            </a:xfrm>
          </p:grpSpPr>
          <p:sp>
            <p:nvSpPr>
              <p:cNvPr id="222" name="圆角矩形 221"/>
              <p:cNvSpPr/>
              <p:nvPr/>
            </p:nvSpPr>
            <p:spPr>
              <a:xfrm>
                <a:off x="826168" y="1776670"/>
                <a:ext cx="7499686" cy="2370221"/>
              </a:xfrm>
              <a:prstGeom prst="roundRect">
                <a:avLst>
                  <a:gd name="adj" fmla="val 5837"/>
                </a:avLst>
              </a:prstGeom>
              <a:solidFill>
                <a:schemeClr val="bg1"/>
              </a:solidFill>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3" name="组合 66"/>
              <p:cNvGrpSpPr/>
              <p:nvPr/>
            </p:nvGrpSpPr>
            <p:grpSpPr>
              <a:xfrm>
                <a:off x="904757" y="1755531"/>
                <a:ext cx="7240670" cy="517191"/>
                <a:chOff x="904757" y="1755531"/>
                <a:chExt cx="7240670" cy="517191"/>
              </a:xfrm>
            </p:grpSpPr>
            <p:graphicFrame>
              <p:nvGraphicFramePr>
                <p:cNvPr id="224" name="Object 4"/>
                <p:cNvGraphicFramePr>
                  <a:graphicFrameLocks noChangeAspect="1"/>
                </p:cNvGraphicFramePr>
                <p:nvPr/>
              </p:nvGraphicFramePr>
              <p:xfrm>
                <a:off x="904757" y="1755531"/>
                <a:ext cx="7240670" cy="517191"/>
              </p:xfrm>
              <a:graphic>
                <a:graphicData uri="http://schemas.openxmlformats.org/presentationml/2006/ole">
                  <mc:AlternateContent xmlns:mc="http://schemas.openxmlformats.org/markup-compatibility/2006">
                    <mc:Choice xmlns:v="urn:schemas-microsoft-com:vml" Requires="v">
                      <p:oleObj spid="_x0000_s30771" name="Picture" r:id="rId4" imgW="4942205" imgH="382270" progId="Word.Picture.8">
                        <p:embed/>
                      </p:oleObj>
                    </mc:Choice>
                    <mc:Fallback>
                      <p:oleObj name="Picture" r:id="rId4" imgW="4942205" imgH="382270" progId="Word.Picture.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4757" y="1755531"/>
                              <a:ext cx="7240670" cy="517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pic>
                      </p:oleObj>
                    </mc:Fallback>
                  </mc:AlternateContent>
                </a:graphicData>
              </a:graphic>
            </p:graphicFrame>
            <p:cxnSp>
              <p:nvCxnSpPr>
                <p:cNvPr id="225" name="直接连接符 224"/>
                <p:cNvCxnSpPr/>
                <p:nvPr/>
              </p:nvCxnSpPr>
              <p:spPr>
                <a:xfrm flipV="1">
                  <a:off x="942474" y="1969169"/>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aphicFrame>
          <p:nvGraphicFramePr>
            <p:cNvPr id="191" name="Object 5"/>
            <p:cNvGraphicFramePr>
              <a:graphicFrameLocks noChangeAspect="1"/>
            </p:cNvGraphicFramePr>
            <p:nvPr/>
          </p:nvGraphicFramePr>
          <p:xfrm>
            <a:off x="974606" y="3405383"/>
            <a:ext cx="7236000" cy="321504"/>
          </p:xfrm>
          <a:graphic>
            <a:graphicData uri="http://schemas.openxmlformats.org/presentationml/2006/ole">
              <mc:AlternateContent xmlns:mc="http://schemas.openxmlformats.org/markup-compatibility/2006">
                <mc:Choice xmlns:v="urn:schemas-microsoft-com:vml" Requires="v">
                  <p:oleObj spid="_x0000_s30772" name="Picture" r:id="rId6" imgW="30946725" imgH="1495425" progId="Word.Picture.8">
                    <p:embed/>
                  </p:oleObj>
                </mc:Choice>
                <mc:Fallback>
                  <p:oleObj name="Picture" r:id="rId6" imgW="30946725" imgH="1495425" progId="Word.Picture.8">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4606" y="3405383"/>
                          <a:ext cx="7236000" cy="321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pic>
                  </p:oleObj>
                </mc:Fallback>
              </mc:AlternateContent>
            </a:graphicData>
          </a:graphic>
        </p:graphicFrame>
        <p:graphicFrame>
          <p:nvGraphicFramePr>
            <p:cNvPr id="194" name="Object 6"/>
            <p:cNvGraphicFramePr>
              <a:graphicFrameLocks noChangeAspect="1"/>
            </p:cNvGraphicFramePr>
            <p:nvPr/>
          </p:nvGraphicFramePr>
          <p:xfrm>
            <a:off x="966585" y="2499050"/>
            <a:ext cx="7240670" cy="322348"/>
          </p:xfrm>
          <a:graphic>
            <a:graphicData uri="http://schemas.openxmlformats.org/presentationml/2006/ole">
              <mc:AlternateContent xmlns:mc="http://schemas.openxmlformats.org/markup-compatibility/2006">
                <mc:Choice xmlns:v="urn:schemas-microsoft-com:vml" Requires="v">
                  <p:oleObj spid="_x0000_s30773" name="Picture" r:id="rId8" imgW="4946015" imgH="238760" progId="Word.Picture.8">
                    <p:embed/>
                  </p:oleObj>
                </mc:Choice>
                <mc:Fallback>
                  <p:oleObj name="Picture" r:id="rId8" imgW="4946015" imgH="238760" progId="Word.Picture.8">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6585" y="2499050"/>
                          <a:ext cx="7240670" cy="322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pic>
                  </p:oleObj>
                </mc:Fallback>
              </mc:AlternateContent>
            </a:graphicData>
          </a:graphic>
        </p:graphicFrame>
        <p:graphicFrame>
          <p:nvGraphicFramePr>
            <p:cNvPr id="219" name="Object 7"/>
            <p:cNvGraphicFramePr>
              <a:graphicFrameLocks noChangeAspect="1"/>
            </p:cNvGraphicFramePr>
            <p:nvPr/>
          </p:nvGraphicFramePr>
          <p:xfrm>
            <a:off x="974605" y="2932107"/>
            <a:ext cx="7236000" cy="426508"/>
          </p:xfrm>
          <a:graphic>
            <a:graphicData uri="http://schemas.openxmlformats.org/presentationml/2006/ole">
              <mc:AlternateContent xmlns:mc="http://schemas.openxmlformats.org/markup-compatibility/2006">
                <mc:Choice xmlns:v="urn:schemas-microsoft-com:vml" Requires="v">
                  <p:oleObj spid="_x0000_s30774" name="Picture" r:id="rId10" imgW="4951730" imgH="315595" progId="Word.Picture.8">
                    <p:embed/>
                  </p:oleObj>
                </mc:Choice>
                <mc:Fallback>
                  <p:oleObj name="Picture" r:id="rId10" imgW="4951730" imgH="315595" progId="Word.Picture.8">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4605" y="2932107"/>
                          <a:ext cx="7236000" cy="426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pic>
                  </p:oleObj>
                </mc:Fallback>
              </mc:AlternateContent>
            </a:graphicData>
          </a:graphic>
        </p:graphicFrame>
        <p:graphicFrame>
          <p:nvGraphicFramePr>
            <p:cNvPr id="220" name="Object 8"/>
            <p:cNvGraphicFramePr>
              <a:graphicFrameLocks noChangeAspect="1"/>
            </p:cNvGraphicFramePr>
            <p:nvPr/>
          </p:nvGraphicFramePr>
          <p:xfrm>
            <a:off x="981708" y="3885948"/>
            <a:ext cx="7236000" cy="284352"/>
          </p:xfrm>
          <a:graphic>
            <a:graphicData uri="http://schemas.openxmlformats.org/presentationml/2006/ole">
              <mc:AlternateContent xmlns:mc="http://schemas.openxmlformats.org/markup-compatibility/2006">
                <mc:Choice xmlns:v="urn:schemas-microsoft-com:vml" Requires="v">
                  <p:oleObj spid="_x0000_s30775" name="Picture" r:id="rId12" imgW="4951730" imgH="210185" progId="Word.Picture.8">
                    <p:embed/>
                  </p:oleObj>
                </mc:Choice>
                <mc:Fallback>
                  <p:oleObj name="Picture" r:id="rId12" imgW="4951730" imgH="210185" progId="Word.Picture.8">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81708" y="3885948"/>
                          <a:ext cx="7236000" cy="284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pic>
                  </p:oleObj>
                </mc:Fallback>
              </mc:AlternateContent>
            </a:graphicData>
          </a:graphic>
        </p:graphicFrame>
      </p:grpSp>
      <p:grpSp>
        <p:nvGrpSpPr>
          <p:cNvPr id="226" name="组合 126"/>
          <p:cNvGrpSpPr/>
          <p:nvPr/>
        </p:nvGrpSpPr>
        <p:grpSpPr>
          <a:xfrm>
            <a:off x="1645444" y="2502611"/>
            <a:ext cx="6327544" cy="254877"/>
            <a:chOff x="1645444" y="2369261"/>
            <a:chExt cx="6327544" cy="254877"/>
          </a:xfrm>
        </p:grpSpPr>
        <p:grpSp>
          <p:nvGrpSpPr>
            <p:cNvPr id="227" name="组合 94"/>
            <p:cNvGrpSpPr/>
            <p:nvPr/>
          </p:nvGrpSpPr>
          <p:grpSpPr>
            <a:xfrm>
              <a:off x="1645444" y="2371642"/>
              <a:ext cx="2991413" cy="252496"/>
              <a:chOff x="1645444" y="2371642"/>
              <a:chExt cx="2991413" cy="252496"/>
            </a:xfrm>
          </p:grpSpPr>
          <p:grpSp>
            <p:nvGrpSpPr>
              <p:cNvPr id="259" name="组合 78"/>
              <p:cNvGrpSpPr/>
              <p:nvPr/>
            </p:nvGrpSpPr>
            <p:grpSpPr>
              <a:xfrm>
                <a:off x="1645444" y="2371642"/>
                <a:ext cx="1324538" cy="252496"/>
                <a:chOff x="1645444" y="2371642"/>
                <a:chExt cx="1324538" cy="252496"/>
              </a:xfrm>
            </p:grpSpPr>
            <p:grpSp>
              <p:nvGrpSpPr>
                <p:cNvPr id="275" name="组合 70"/>
                <p:cNvGrpSpPr/>
                <p:nvPr/>
              </p:nvGrpSpPr>
              <p:grpSpPr>
                <a:xfrm>
                  <a:off x="1645444" y="2377198"/>
                  <a:ext cx="491100" cy="235034"/>
                  <a:chOff x="1645444" y="2379580"/>
                  <a:chExt cx="491100" cy="235034"/>
                </a:xfrm>
              </p:grpSpPr>
              <p:grpSp>
                <p:nvGrpSpPr>
                  <p:cNvPr id="283" name="组合 63"/>
                  <p:cNvGrpSpPr/>
                  <p:nvPr/>
                </p:nvGrpSpPr>
                <p:grpSpPr>
                  <a:xfrm>
                    <a:off x="1645444" y="2393074"/>
                    <a:ext cx="72000" cy="221540"/>
                    <a:chOff x="1645444" y="2393074"/>
                    <a:chExt cx="72000" cy="221540"/>
                  </a:xfrm>
                </p:grpSpPr>
                <p:cxnSp>
                  <p:nvCxnSpPr>
                    <p:cNvPr id="287" name="直接连接符 286"/>
                    <p:cNvCxnSpPr/>
                    <p:nvPr/>
                  </p:nvCxnSpPr>
                  <p:spPr>
                    <a:xfrm flipV="1">
                      <a:off x="1645444" y="2614614"/>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88" name="直接连接符 287"/>
                    <p:cNvCxnSpPr/>
                    <p:nvPr/>
                  </p:nvCxnSpPr>
                  <p:spPr>
                    <a:xfrm rot="5400000" flipV="1">
                      <a:off x="1601020" y="2501074"/>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nvGrpSpPr>
                  <p:cNvPr id="284" name="组合 66"/>
                  <p:cNvGrpSpPr/>
                  <p:nvPr/>
                </p:nvGrpSpPr>
                <p:grpSpPr>
                  <a:xfrm flipV="1">
                    <a:off x="2064544" y="2379580"/>
                    <a:ext cx="72000" cy="227890"/>
                    <a:chOff x="1645444" y="2393074"/>
                    <a:chExt cx="72000" cy="227890"/>
                  </a:xfrm>
                </p:grpSpPr>
                <p:cxnSp>
                  <p:nvCxnSpPr>
                    <p:cNvPr id="285" name="直接连接符 284"/>
                    <p:cNvCxnSpPr/>
                    <p:nvPr/>
                  </p:nvCxnSpPr>
                  <p:spPr>
                    <a:xfrm flipV="1">
                      <a:off x="1645444" y="2620964"/>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86" name="直接连接符 285"/>
                    <p:cNvCxnSpPr/>
                    <p:nvPr/>
                  </p:nvCxnSpPr>
                  <p:spPr>
                    <a:xfrm rot="5400000" flipV="1">
                      <a:off x="1601020" y="2501074"/>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grpSp>
              <p:nvGrpSpPr>
                <p:cNvPr id="276" name="组合 71"/>
                <p:cNvGrpSpPr/>
                <p:nvPr/>
              </p:nvGrpSpPr>
              <p:grpSpPr>
                <a:xfrm>
                  <a:off x="2478882" y="2371642"/>
                  <a:ext cx="491100" cy="252496"/>
                  <a:chOff x="1645444" y="2374024"/>
                  <a:chExt cx="491100" cy="252496"/>
                </a:xfrm>
              </p:grpSpPr>
              <p:grpSp>
                <p:nvGrpSpPr>
                  <p:cNvPr id="277" name="组合 63"/>
                  <p:cNvGrpSpPr/>
                  <p:nvPr/>
                </p:nvGrpSpPr>
                <p:grpSpPr>
                  <a:xfrm>
                    <a:off x="1645444" y="2374024"/>
                    <a:ext cx="72000" cy="240590"/>
                    <a:chOff x="1645444" y="2374024"/>
                    <a:chExt cx="72000" cy="240590"/>
                  </a:xfrm>
                </p:grpSpPr>
                <p:cxnSp>
                  <p:nvCxnSpPr>
                    <p:cNvPr id="281" name="直接连接符 280"/>
                    <p:cNvCxnSpPr/>
                    <p:nvPr/>
                  </p:nvCxnSpPr>
                  <p:spPr>
                    <a:xfrm flipV="1">
                      <a:off x="1645444" y="2614614"/>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82" name="直接连接符 281"/>
                    <p:cNvCxnSpPr/>
                    <p:nvPr/>
                  </p:nvCxnSpPr>
                  <p:spPr>
                    <a:xfrm rot="5400000" flipV="1">
                      <a:off x="1585145" y="2482024"/>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nvGrpSpPr>
                  <p:cNvPr id="278" name="组合 66"/>
                  <p:cNvGrpSpPr/>
                  <p:nvPr/>
                </p:nvGrpSpPr>
                <p:grpSpPr>
                  <a:xfrm flipV="1">
                    <a:off x="2064544" y="2385930"/>
                    <a:ext cx="72000" cy="240590"/>
                    <a:chOff x="1645444" y="2374024"/>
                    <a:chExt cx="72000" cy="240590"/>
                  </a:xfrm>
                </p:grpSpPr>
                <p:cxnSp>
                  <p:nvCxnSpPr>
                    <p:cNvPr id="279" name="直接连接符 278"/>
                    <p:cNvCxnSpPr/>
                    <p:nvPr/>
                  </p:nvCxnSpPr>
                  <p:spPr>
                    <a:xfrm flipV="1">
                      <a:off x="1645444" y="2614614"/>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80" name="直接连接符 279"/>
                    <p:cNvCxnSpPr/>
                    <p:nvPr/>
                  </p:nvCxnSpPr>
                  <p:spPr>
                    <a:xfrm rot="5400000" flipV="1">
                      <a:off x="1585145" y="2482024"/>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grpSp>
          <p:grpSp>
            <p:nvGrpSpPr>
              <p:cNvPr id="260" name="组合 79"/>
              <p:cNvGrpSpPr/>
              <p:nvPr/>
            </p:nvGrpSpPr>
            <p:grpSpPr>
              <a:xfrm>
                <a:off x="3312319" y="2371642"/>
                <a:ext cx="1324538" cy="252496"/>
                <a:chOff x="1645444" y="2371642"/>
                <a:chExt cx="1324538" cy="252496"/>
              </a:xfrm>
            </p:grpSpPr>
            <p:grpSp>
              <p:nvGrpSpPr>
                <p:cNvPr id="261" name="组合 70"/>
                <p:cNvGrpSpPr/>
                <p:nvPr/>
              </p:nvGrpSpPr>
              <p:grpSpPr>
                <a:xfrm>
                  <a:off x="1645444" y="2371642"/>
                  <a:ext cx="491100" cy="252496"/>
                  <a:chOff x="1645444" y="2374024"/>
                  <a:chExt cx="491100" cy="252496"/>
                </a:xfrm>
              </p:grpSpPr>
              <p:grpSp>
                <p:nvGrpSpPr>
                  <p:cNvPr id="269" name="组合 63"/>
                  <p:cNvGrpSpPr/>
                  <p:nvPr/>
                </p:nvGrpSpPr>
                <p:grpSpPr>
                  <a:xfrm>
                    <a:off x="1645444" y="2374024"/>
                    <a:ext cx="72000" cy="240590"/>
                    <a:chOff x="1645444" y="2374024"/>
                    <a:chExt cx="72000" cy="240590"/>
                  </a:xfrm>
                </p:grpSpPr>
                <p:cxnSp>
                  <p:nvCxnSpPr>
                    <p:cNvPr id="273" name="直接连接符 272"/>
                    <p:cNvCxnSpPr/>
                    <p:nvPr/>
                  </p:nvCxnSpPr>
                  <p:spPr>
                    <a:xfrm flipV="1">
                      <a:off x="1645444" y="2614614"/>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74" name="直接连接符 273"/>
                    <p:cNvCxnSpPr/>
                    <p:nvPr/>
                  </p:nvCxnSpPr>
                  <p:spPr>
                    <a:xfrm rot="5400000" flipV="1">
                      <a:off x="1585145" y="2482024"/>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nvGrpSpPr>
                  <p:cNvPr id="270" name="组合 66"/>
                  <p:cNvGrpSpPr/>
                  <p:nvPr/>
                </p:nvGrpSpPr>
                <p:grpSpPr>
                  <a:xfrm flipV="1">
                    <a:off x="2064544" y="2385930"/>
                    <a:ext cx="72000" cy="240590"/>
                    <a:chOff x="1645444" y="2374024"/>
                    <a:chExt cx="72000" cy="240590"/>
                  </a:xfrm>
                </p:grpSpPr>
                <p:cxnSp>
                  <p:nvCxnSpPr>
                    <p:cNvPr id="271" name="直接连接符 270"/>
                    <p:cNvCxnSpPr/>
                    <p:nvPr/>
                  </p:nvCxnSpPr>
                  <p:spPr>
                    <a:xfrm flipV="1">
                      <a:off x="1645444" y="2614614"/>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72" name="直接连接符 271"/>
                    <p:cNvCxnSpPr/>
                    <p:nvPr/>
                  </p:nvCxnSpPr>
                  <p:spPr>
                    <a:xfrm rot="5400000" flipV="1">
                      <a:off x="1585145" y="2482024"/>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grpSp>
              <p:nvGrpSpPr>
                <p:cNvPr id="262" name="组合 71"/>
                <p:cNvGrpSpPr/>
                <p:nvPr/>
              </p:nvGrpSpPr>
              <p:grpSpPr>
                <a:xfrm>
                  <a:off x="2478882" y="2371642"/>
                  <a:ext cx="491100" cy="252496"/>
                  <a:chOff x="1645444" y="2374024"/>
                  <a:chExt cx="491100" cy="252496"/>
                </a:xfrm>
              </p:grpSpPr>
              <p:grpSp>
                <p:nvGrpSpPr>
                  <p:cNvPr id="263" name="组合 63"/>
                  <p:cNvGrpSpPr/>
                  <p:nvPr/>
                </p:nvGrpSpPr>
                <p:grpSpPr>
                  <a:xfrm>
                    <a:off x="1645444" y="2374024"/>
                    <a:ext cx="72000" cy="240590"/>
                    <a:chOff x="1645444" y="2374024"/>
                    <a:chExt cx="72000" cy="240590"/>
                  </a:xfrm>
                </p:grpSpPr>
                <p:cxnSp>
                  <p:nvCxnSpPr>
                    <p:cNvPr id="267" name="直接连接符 266"/>
                    <p:cNvCxnSpPr/>
                    <p:nvPr/>
                  </p:nvCxnSpPr>
                  <p:spPr>
                    <a:xfrm flipV="1">
                      <a:off x="1645444" y="2614614"/>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68" name="直接连接符 267"/>
                    <p:cNvCxnSpPr/>
                    <p:nvPr/>
                  </p:nvCxnSpPr>
                  <p:spPr>
                    <a:xfrm rot="5400000" flipV="1">
                      <a:off x="1585145" y="2482024"/>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nvGrpSpPr>
                  <p:cNvPr id="264" name="组合 66"/>
                  <p:cNvGrpSpPr/>
                  <p:nvPr/>
                </p:nvGrpSpPr>
                <p:grpSpPr>
                  <a:xfrm flipV="1">
                    <a:off x="2064544" y="2385930"/>
                    <a:ext cx="72000" cy="240590"/>
                    <a:chOff x="1645444" y="2374024"/>
                    <a:chExt cx="72000" cy="240590"/>
                  </a:xfrm>
                </p:grpSpPr>
                <p:cxnSp>
                  <p:nvCxnSpPr>
                    <p:cNvPr id="265" name="直接连接符 264"/>
                    <p:cNvCxnSpPr/>
                    <p:nvPr/>
                  </p:nvCxnSpPr>
                  <p:spPr>
                    <a:xfrm flipV="1">
                      <a:off x="1645444" y="2614614"/>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66" name="直接连接符 265"/>
                    <p:cNvCxnSpPr/>
                    <p:nvPr/>
                  </p:nvCxnSpPr>
                  <p:spPr>
                    <a:xfrm rot="5400000" flipV="1">
                      <a:off x="1585145" y="2482024"/>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grpSp>
        </p:grpSp>
        <p:grpSp>
          <p:nvGrpSpPr>
            <p:cNvPr id="228" name="组合 95"/>
            <p:cNvGrpSpPr/>
            <p:nvPr/>
          </p:nvGrpSpPr>
          <p:grpSpPr>
            <a:xfrm>
              <a:off x="4981575" y="2369261"/>
              <a:ext cx="2991413" cy="252496"/>
              <a:chOff x="1645444" y="2371642"/>
              <a:chExt cx="2991413" cy="252496"/>
            </a:xfrm>
          </p:grpSpPr>
          <p:grpSp>
            <p:nvGrpSpPr>
              <p:cNvPr id="229" name="组合 78"/>
              <p:cNvGrpSpPr/>
              <p:nvPr/>
            </p:nvGrpSpPr>
            <p:grpSpPr>
              <a:xfrm>
                <a:off x="1645444" y="2371642"/>
                <a:ext cx="1324538" cy="252496"/>
                <a:chOff x="1645444" y="2371642"/>
                <a:chExt cx="1324538" cy="252496"/>
              </a:xfrm>
            </p:grpSpPr>
            <p:grpSp>
              <p:nvGrpSpPr>
                <p:cNvPr id="245" name="组合 70"/>
                <p:cNvGrpSpPr/>
                <p:nvPr/>
              </p:nvGrpSpPr>
              <p:grpSpPr>
                <a:xfrm>
                  <a:off x="1645444" y="2371642"/>
                  <a:ext cx="491100" cy="252496"/>
                  <a:chOff x="1645444" y="2374024"/>
                  <a:chExt cx="491100" cy="252496"/>
                </a:xfrm>
              </p:grpSpPr>
              <p:grpSp>
                <p:nvGrpSpPr>
                  <p:cNvPr id="253" name="组合 63"/>
                  <p:cNvGrpSpPr/>
                  <p:nvPr/>
                </p:nvGrpSpPr>
                <p:grpSpPr>
                  <a:xfrm>
                    <a:off x="1645444" y="2374024"/>
                    <a:ext cx="72000" cy="240590"/>
                    <a:chOff x="1645444" y="2374024"/>
                    <a:chExt cx="72000" cy="240590"/>
                  </a:xfrm>
                </p:grpSpPr>
                <p:cxnSp>
                  <p:nvCxnSpPr>
                    <p:cNvPr id="257" name="直接连接符 256"/>
                    <p:cNvCxnSpPr/>
                    <p:nvPr/>
                  </p:nvCxnSpPr>
                  <p:spPr>
                    <a:xfrm flipV="1">
                      <a:off x="1645444" y="2614614"/>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58" name="直接连接符 257"/>
                    <p:cNvCxnSpPr/>
                    <p:nvPr/>
                  </p:nvCxnSpPr>
                  <p:spPr>
                    <a:xfrm rot="5400000" flipV="1">
                      <a:off x="1585145" y="2482024"/>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nvGrpSpPr>
                  <p:cNvPr id="254" name="组合 66"/>
                  <p:cNvGrpSpPr/>
                  <p:nvPr/>
                </p:nvGrpSpPr>
                <p:grpSpPr>
                  <a:xfrm flipV="1">
                    <a:off x="2064544" y="2385930"/>
                    <a:ext cx="72000" cy="240590"/>
                    <a:chOff x="1645444" y="2374024"/>
                    <a:chExt cx="72000" cy="240590"/>
                  </a:xfrm>
                </p:grpSpPr>
                <p:cxnSp>
                  <p:nvCxnSpPr>
                    <p:cNvPr id="255" name="直接连接符 254"/>
                    <p:cNvCxnSpPr/>
                    <p:nvPr/>
                  </p:nvCxnSpPr>
                  <p:spPr>
                    <a:xfrm flipV="1">
                      <a:off x="1645444" y="2614614"/>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56" name="直接连接符 255"/>
                    <p:cNvCxnSpPr/>
                    <p:nvPr/>
                  </p:nvCxnSpPr>
                  <p:spPr>
                    <a:xfrm rot="5400000" flipV="1">
                      <a:off x="1585145" y="2482024"/>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grpSp>
              <p:nvGrpSpPr>
                <p:cNvPr id="246" name="组合 71"/>
                <p:cNvGrpSpPr/>
                <p:nvPr/>
              </p:nvGrpSpPr>
              <p:grpSpPr>
                <a:xfrm>
                  <a:off x="2478882" y="2371642"/>
                  <a:ext cx="491100" cy="252496"/>
                  <a:chOff x="1645444" y="2374024"/>
                  <a:chExt cx="491100" cy="252496"/>
                </a:xfrm>
              </p:grpSpPr>
              <p:grpSp>
                <p:nvGrpSpPr>
                  <p:cNvPr id="247" name="组合 63"/>
                  <p:cNvGrpSpPr/>
                  <p:nvPr/>
                </p:nvGrpSpPr>
                <p:grpSpPr>
                  <a:xfrm>
                    <a:off x="1645444" y="2374024"/>
                    <a:ext cx="72000" cy="240590"/>
                    <a:chOff x="1645444" y="2374024"/>
                    <a:chExt cx="72000" cy="240590"/>
                  </a:xfrm>
                </p:grpSpPr>
                <p:cxnSp>
                  <p:nvCxnSpPr>
                    <p:cNvPr id="251" name="直接连接符 250"/>
                    <p:cNvCxnSpPr/>
                    <p:nvPr/>
                  </p:nvCxnSpPr>
                  <p:spPr>
                    <a:xfrm flipV="1">
                      <a:off x="1645444" y="2614614"/>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52" name="直接连接符 251"/>
                    <p:cNvCxnSpPr/>
                    <p:nvPr/>
                  </p:nvCxnSpPr>
                  <p:spPr>
                    <a:xfrm rot="5400000" flipV="1">
                      <a:off x="1585145" y="2482024"/>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nvGrpSpPr>
                  <p:cNvPr id="248" name="组合 66"/>
                  <p:cNvGrpSpPr/>
                  <p:nvPr/>
                </p:nvGrpSpPr>
                <p:grpSpPr>
                  <a:xfrm flipV="1">
                    <a:off x="2064544" y="2385930"/>
                    <a:ext cx="72000" cy="240590"/>
                    <a:chOff x="1645444" y="2374024"/>
                    <a:chExt cx="72000" cy="240590"/>
                  </a:xfrm>
                </p:grpSpPr>
                <p:cxnSp>
                  <p:nvCxnSpPr>
                    <p:cNvPr id="249" name="直接连接符 248"/>
                    <p:cNvCxnSpPr/>
                    <p:nvPr/>
                  </p:nvCxnSpPr>
                  <p:spPr>
                    <a:xfrm flipV="1">
                      <a:off x="1645444" y="2614614"/>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50" name="直接连接符 249"/>
                    <p:cNvCxnSpPr/>
                    <p:nvPr/>
                  </p:nvCxnSpPr>
                  <p:spPr>
                    <a:xfrm rot="5400000" flipV="1">
                      <a:off x="1585145" y="2482024"/>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grpSp>
          <p:grpSp>
            <p:nvGrpSpPr>
              <p:cNvPr id="230" name="组合 79"/>
              <p:cNvGrpSpPr/>
              <p:nvPr/>
            </p:nvGrpSpPr>
            <p:grpSpPr>
              <a:xfrm>
                <a:off x="3312319" y="2371642"/>
                <a:ext cx="1324538" cy="252496"/>
                <a:chOff x="1645444" y="2371642"/>
                <a:chExt cx="1324538" cy="252496"/>
              </a:xfrm>
            </p:grpSpPr>
            <p:grpSp>
              <p:nvGrpSpPr>
                <p:cNvPr id="231" name="组合 70"/>
                <p:cNvGrpSpPr/>
                <p:nvPr/>
              </p:nvGrpSpPr>
              <p:grpSpPr>
                <a:xfrm>
                  <a:off x="1645444" y="2371642"/>
                  <a:ext cx="491100" cy="252496"/>
                  <a:chOff x="1645444" y="2374024"/>
                  <a:chExt cx="491100" cy="252496"/>
                </a:xfrm>
              </p:grpSpPr>
              <p:grpSp>
                <p:nvGrpSpPr>
                  <p:cNvPr id="239" name="组合 63"/>
                  <p:cNvGrpSpPr/>
                  <p:nvPr/>
                </p:nvGrpSpPr>
                <p:grpSpPr>
                  <a:xfrm>
                    <a:off x="1645444" y="2374024"/>
                    <a:ext cx="72000" cy="240590"/>
                    <a:chOff x="1645444" y="2374024"/>
                    <a:chExt cx="72000" cy="240590"/>
                  </a:xfrm>
                </p:grpSpPr>
                <p:cxnSp>
                  <p:nvCxnSpPr>
                    <p:cNvPr id="243" name="直接连接符 242"/>
                    <p:cNvCxnSpPr/>
                    <p:nvPr/>
                  </p:nvCxnSpPr>
                  <p:spPr>
                    <a:xfrm flipV="1">
                      <a:off x="1645444" y="2614614"/>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44" name="直接连接符 243"/>
                    <p:cNvCxnSpPr/>
                    <p:nvPr/>
                  </p:nvCxnSpPr>
                  <p:spPr>
                    <a:xfrm rot="5400000" flipV="1">
                      <a:off x="1585145" y="2482024"/>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nvGrpSpPr>
                  <p:cNvPr id="240" name="组合 66"/>
                  <p:cNvGrpSpPr/>
                  <p:nvPr/>
                </p:nvGrpSpPr>
                <p:grpSpPr>
                  <a:xfrm flipV="1">
                    <a:off x="2064544" y="2385930"/>
                    <a:ext cx="72000" cy="240590"/>
                    <a:chOff x="1645444" y="2374024"/>
                    <a:chExt cx="72000" cy="240590"/>
                  </a:xfrm>
                </p:grpSpPr>
                <p:cxnSp>
                  <p:nvCxnSpPr>
                    <p:cNvPr id="241" name="直接连接符 240"/>
                    <p:cNvCxnSpPr/>
                    <p:nvPr/>
                  </p:nvCxnSpPr>
                  <p:spPr>
                    <a:xfrm flipV="1">
                      <a:off x="1645444" y="2614614"/>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rot="5400000" flipV="1">
                      <a:off x="1585145" y="2482024"/>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grpSp>
              <p:nvGrpSpPr>
                <p:cNvPr id="232" name="组合 71"/>
                <p:cNvGrpSpPr/>
                <p:nvPr/>
              </p:nvGrpSpPr>
              <p:grpSpPr>
                <a:xfrm>
                  <a:off x="2478882" y="2371642"/>
                  <a:ext cx="491100" cy="252496"/>
                  <a:chOff x="1645444" y="2374024"/>
                  <a:chExt cx="491100" cy="252496"/>
                </a:xfrm>
              </p:grpSpPr>
              <p:grpSp>
                <p:nvGrpSpPr>
                  <p:cNvPr id="233" name="组合 63"/>
                  <p:cNvGrpSpPr/>
                  <p:nvPr/>
                </p:nvGrpSpPr>
                <p:grpSpPr>
                  <a:xfrm>
                    <a:off x="1645444" y="2374024"/>
                    <a:ext cx="72000" cy="240590"/>
                    <a:chOff x="1645444" y="2374024"/>
                    <a:chExt cx="72000" cy="240590"/>
                  </a:xfrm>
                </p:grpSpPr>
                <p:cxnSp>
                  <p:nvCxnSpPr>
                    <p:cNvPr id="237" name="直接连接符 236"/>
                    <p:cNvCxnSpPr/>
                    <p:nvPr/>
                  </p:nvCxnSpPr>
                  <p:spPr>
                    <a:xfrm flipV="1">
                      <a:off x="1645444" y="2614614"/>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38" name="直接连接符 237"/>
                    <p:cNvCxnSpPr/>
                    <p:nvPr/>
                  </p:nvCxnSpPr>
                  <p:spPr>
                    <a:xfrm rot="5400000" flipV="1">
                      <a:off x="1585145" y="2482024"/>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nvGrpSpPr>
                  <p:cNvPr id="234" name="组合 66"/>
                  <p:cNvGrpSpPr/>
                  <p:nvPr/>
                </p:nvGrpSpPr>
                <p:grpSpPr>
                  <a:xfrm flipV="1">
                    <a:off x="2064544" y="2385930"/>
                    <a:ext cx="72000" cy="240590"/>
                    <a:chOff x="1645444" y="2374024"/>
                    <a:chExt cx="72000" cy="240590"/>
                  </a:xfrm>
                </p:grpSpPr>
                <p:cxnSp>
                  <p:nvCxnSpPr>
                    <p:cNvPr id="235" name="直接连接符 234"/>
                    <p:cNvCxnSpPr/>
                    <p:nvPr/>
                  </p:nvCxnSpPr>
                  <p:spPr>
                    <a:xfrm flipV="1">
                      <a:off x="1645444" y="2614614"/>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36" name="直接连接符 235"/>
                    <p:cNvCxnSpPr/>
                    <p:nvPr/>
                  </p:nvCxnSpPr>
                  <p:spPr>
                    <a:xfrm rot="5400000" flipV="1">
                      <a:off x="1585145" y="2482024"/>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grpSp>
        </p:grpSp>
      </p:grpSp>
      <p:grpSp>
        <p:nvGrpSpPr>
          <p:cNvPr id="289" name="组合 157"/>
          <p:cNvGrpSpPr/>
          <p:nvPr/>
        </p:nvGrpSpPr>
        <p:grpSpPr>
          <a:xfrm>
            <a:off x="2089944" y="2949492"/>
            <a:ext cx="5898125" cy="240590"/>
            <a:chOff x="2089944" y="2803442"/>
            <a:chExt cx="5898125" cy="240590"/>
          </a:xfrm>
        </p:grpSpPr>
        <p:grpSp>
          <p:nvGrpSpPr>
            <p:cNvPr id="290" name="组合 141"/>
            <p:cNvGrpSpPr/>
            <p:nvPr/>
          </p:nvGrpSpPr>
          <p:grpSpPr>
            <a:xfrm>
              <a:off x="2089944" y="2803442"/>
              <a:ext cx="2577075" cy="240590"/>
              <a:chOff x="2089944" y="2812967"/>
              <a:chExt cx="2577075" cy="240590"/>
            </a:xfrm>
          </p:grpSpPr>
          <p:grpSp>
            <p:nvGrpSpPr>
              <p:cNvPr id="306" name="组合 133"/>
              <p:cNvGrpSpPr/>
              <p:nvPr/>
            </p:nvGrpSpPr>
            <p:grpSpPr>
              <a:xfrm>
                <a:off x="2089944" y="2812967"/>
                <a:ext cx="916550" cy="240590"/>
                <a:chOff x="2089944" y="2812967"/>
                <a:chExt cx="916550" cy="240590"/>
              </a:xfrm>
            </p:grpSpPr>
            <p:grpSp>
              <p:nvGrpSpPr>
                <p:cNvPr id="314" name="组合 129"/>
                <p:cNvGrpSpPr/>
                <p:nvPr/>
              </p:nvGrpSpPr>
              <p:grpSpPr>
                <a:xfrm>
                  <a:off x="2089944" y="2812967"/>
                  <a:ext cx="72000" cy="240590"/>
                  <a:chOff x="1797844" y="2524042"/>
                  <a:chExt cx="72000" cy="240590"/>
                </a:xfrm>
              </p:grpSpPr>
              <p:cxnSp>
                <p:nvCxnSpPr>
                  <p:cNvPr id="318" name="直接连接符 317"/>
                  <p:cNvCxnSpPr/>
                  <p:nvPr/>
                </p:nvCxnSpPr>
                <p:spPr>
                  <a:xfrm flipV="1">
                    <a:off x="1797844" y="2764632"/>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319" name="直接连接符 318"/>
                  <p:cNvCxnSpPr/>
                  <p:nvPr/>
                </p:nvCxnSpPr>
                <p:spPr>
                  <a:xfrm rot="5400000" flipV="1">
                    <a:off x="1737545" y="2632042"/>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nvGrpSpPr>
                <p:cNvPr id="315" name="组合 130"/>
                <p:cNvGrpSpPr/>
                <p:nvPr/>
              </p:nvGrpSpPr>
              <p:grpSpPr>
                <a:xfrm flipV="1">
                  <a:off x="2934494" y="2812967"/>
                  <a:ext cx="72000" cy="240590"/>
                  <a:chOff x="1797844" y="2524042"/>
                  <a:chExt cx="72000" cy="240590"/>
                </a:xfrm>
              </p:grpSpPr>
              <p:cxnSp>
                <p:nvCxnSpPr>
                  <p:cNvPr id="316" name="直接连接符 315"/>
                  <p:cNvCxnSpPr/>
                  <p:nvPr/>
                </p:nvCxnSpPr>
                <p:spPr>
                  <a:xfrm flipV="1">
                    <a:off x="1797844" y="2764632"/>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317" name="直接连接符 316"/>
                  <p:cNvCxnSpPr/>
                  <p:nvPr/>
                </p:nvCxnSpPr>
                <p:spPr>
                  <a:xfrm rot="5400000" flipV="1">
                    <a:off x="1737545" y="2632042"/>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grpSp>
            <p:nvGrpSpPr>
              <p:cNvPr id="307" name="组合 134"/>
              <p:cNvGrpSpPr/>
              <p:nvPr/>
            </p:nvGrpSpPr>
            <p:grpSpPr>
              <a:xfrm>
                <a:off x="3750469" y="2812967"/>
                <a:ext cx="916550" cy="240590"/>
                <a:chOff x="2089944" y="2812967"/>
                <a:chExt cx="916550" cy="240590"/>
              </a:xfrm>
            </p:grpSpPr>
            <p:grpSp>
              <p:nvGrpSpPr>
                <p:cNvPr id="308" name="组合 129"/>
                <p:cNvGrpSpPr/>
                <p:nvPr/>
              </p:nvGrpSpPr>
              <p:grpSpPr>
                <a:xfrm>
                  <a:off x="2089944" y="2812967"/>
                  <a:ext cx="72000" cy="240590"/>
                  <a:chOff x="1797844" y="2524042"/>
                  <a:chExt cx="72000" cy="240590"/>
                </a:xfrm>
              </p:grpSpPr>
              <p:cxnSp>
                <p:nvCxnSpPr>
                  <p:cNvPr id="312" name="直接连接符 311"/>
                  <p:cNvCxnSpPr/>
                  <p:nvPr/>
                </p:nvCxnSpPr>
                <p:spPr>
                  <a:xfrm flipV="1">
                    <a:off x="1797844" y="2764632"/>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313" name="直接连接符 312"/>
                  <p:cNvCxnSpPr/>
                  <p:nvPr/>
                </p:nvCxnSpPr>
                <p:spPr>
                  <a:xfrm rot="5400000" flipV="1">
                    <a:off x="1737545" y="2632042"/>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nvGrpSpPr>
                <p:cNvPr id="309" name="组合 130"/>
                <p:cNvGrpSpPr/>
                <p:nvPr/>
              </p:nvGrpSpPr>
              <p:grpSpPr>
                <a:xfrm flipV="1">
                  <a:off x="2934494" y="2812967"/>
                  <a:ext cx="72000" cy="240590"/>
                  <a:chOff x="1797844" y="2524042"/>
                  <a:chExt cx="72000" cy="240590"/>
                </a:xfrm>
              </p:grpSpPr>
              <p:cxnSp>
                <p:nvCxnSpPr>
                  <p:cNvPr id="310" name="直接连接符 309"/>
                  <p:cNvCxnSpPr/>
                  <p:nvPr/>
                </p:nvCxnSpPr>
                <p:spPr>
                  <a:xfrm flipV="1">
                    <a:off x="1797844" y="2764632"/>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接连接符 310"/>
                  <p:cNvCxnSpPr/>
                  <p:nvPr/>
                </p:nvCxnSpPr>
                <p:spPr>
                  <a:xfrm rot="5400000" flipV="1">
                    <a:off x="1737545" y="2632042"/>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grpSp>
        <p:grpSp>
          <p:nvGrpSpPr>
            <p:cNvPr id="291" name="组合 142"/>
            <p:cNvGrpSpPr/>
            <p:nvPr/>
          </p:nvGrpSpPr>
          <p:grpSpPr>
            <a:xfrm>
              <a:off x="5430044" y="2803442"/>
              <a:ext cx="2558025" cy="240590"/>
              <a:chOff x="2089944" y="2812967"/>
              <a:chExt cx="2558025" cy="240590"/>
            </a:xfrm>
          </p:grpSpPr>
          <p:grpSp>
            <p:nvGrpSpPr>
              <p:cNvPr id="292" name="组合 133"/>
              <p:cNvGrpSpPr/>
              <p:nvPr/>
            </p:nvGrpSpPr>
            <p:grpSpPr>
              <a:xfrm>
                <a:off x="2089944" y="2812967"/>
                <a:ext cx="916550" cy="240590"/>
                <a:chOff x="2089944" y="2812967"/>
                <a:chExt cx="916550" cy="240590"/>
              </a:xfrm>
            </p:grpSpPr>
            <p:grpSp>
              <p:nvGrpSpPr>
                <p:cNvPr id="300" name="组合 129"/>
                <p:cNvGrpSpPr/>
                <p:nvPr/>
              </p:nvGrpSpPr>
              <p:grpSpPr>
                <a:xfrm>
                  <a:off x="2089944" y="2812967"/>
                  <a:ext cx="72000" cy="240590"/>
                  <a:chOff x="1797844" y="2524042"/>
                  <a:chExt cx="72000" cy="240590"/>
                </a:xfrm>
              </p:grpSpPr>
              <p:cxnSp>
                <p:nvCxnSpPr>
                  <p:cNvPr id="304" name="直接连接符 303"/>
                  <p:cNvCxnSpPr/>
                  <p:nvPr/>
                </p:nvCxnSpPr>
                <p:spPr>
                  <a:xfrm flipV="1">
                    <a:off x="1797844" y="2764632"/>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305" name="直接连接符 304"/>
                  <p:cNvCxnSpPr/>
                  <p:nvPr/>
                </p:nvCxnSpPr>
                <p:spPr>
                  <a:xfrm rot="5400000" flipV="1">
                    <a:off x="1737545" y="2632042"/>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nvGrpSpPr>
                <p:cNvPr id="301" name="组合 130"/>
                <p:cNvGrpSpPr/>
                <p:nvPr/>
              </p:nvGrpSpPr>
              <p:grpSpPr>
                <a:xfrm flipV="1">
                  <a:off x="2934494" y="2812967"/>
                  <a:ext cx="72000" cy="240590"/>
                  <a:chOff x="1797844" y="2524042"/>
                  <a:chExt cx="72000" cy="240590"/>
                </a:xfrm>
              </p:grpSpPr>
              <p:cxnSp>
                <p:nvCxnSpPr>
                  <p:cNvPr id="302" name="直接连接符 301"/>
                  <p:cNvCxnSpPr/>
                  <p:nvPr/>
                </p:nvCxnSpPr>
                <p:spPr>
                  <a:xfrm flipV="1">
                    <a:off x="1797844" y="2764632"/>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303" name="直接连接符 302"/>
                  <p:cNvCxnSpPr/>
                  <p:nvPr/>
                </p:nvCxnSpPr>
                <p:spPr>
                  <a:xfrm rot="5400000" flipV="1">
                    <a:off x="1737545" y="2632042"/>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grpSp>
            <p:nvGrpSpPr>
              <p:cNvPr id="293" name="组合 134"/>
              <p:cNvGrpSpPr/>
              <p:nvPr/>
            </p:nvGrpSpPr>
            <p:grpSpPr>
              <a:xfrm>
                <a:off x="3750469" y="2812967"/>
                <a:ext cx="897500" cy="240590"/>
                <a:chOff x="2089944" y="2812967"/>
                <a:chExt cx="897500" cy="240590"/>
              </a:xfrm>
            </p:grpSpPr>
            <p:grpSp>
              <p:nvGrpSpPr>
                <p:cNvPr id="294" name="组合 129"/>
                <p:cNvGrpSpPr/>
                <p:nvPr/>
              </p:nvGrpSpPr>
              <p:grpSpPr>
                <a:xfrm>
                  <a:off x="2089944" y="2812967"/>
                  <a:ext cx="72000" cy="240590"/>
                  <a:chOff x="1797844" y="2524042"/>
                  <a:chExt cx="72000" cy="240590"/>
                </a:xfrm>
              </p:grpSpPr>
              <p:cxnSp>
                <p:nvCxnSpPr>
                  <p:cNvPr id="298" name="直接连接符 297"/>
                  <p:cNvCxnSpPr/>
                  <p:nvPr/>
                </p:nvCxnSpPr>
                <p:spPr>
                  <a:xfrm flipV="1">
                    <a:off x="1797844" y="2764632"/>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99" name="直接连接符 298"/>
                  <p:cNvCxnSpPr/>
                  <p:nvPr/>
                </p:nvCxnSpPr>
                <p:spPr>
                  <a:xfrm rot="5400000" flipV="1">
                    <a:off x="1737545" y="2632042"/>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nvGrpSpPr>
                <p:cNvPr id="295" name="组合 130"/>
                <p:cNvGrpSpPr/>
                <p:nvPr/>
              </p:nvGrpSpPr>
              <p:grpSpPr>
                <a:xfrm flipV="1">
                  <a:off x="2915444" y="2812967"/>
                  <a:ext cx="72000" cy="240590"/>
                  <a:chOff x="1778794" y="2524042"/>
                  <a:chExt cx="72000" cy="240590"/>
                </a:xfrm>
              </p:grpSpPr>
              <p:cxnSp>
                <p:nvCxnSpPr>
                  <p:cNvPr id="296" name="直接连接符 295"/>
                  <p:cNvCxnSpPr/>
                  <p:nvPr/>
                </p:nvCxnSpPr>
                <p:spPr>
                  <a:xfrm flipV="1">
                    <a:off x="1778794" y="2764632"/>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297" name="直接连接符 296"/>
                  <p:cNvCxnSpPr/>
                  <p:nvPr/>
                </p:nvCxnSpPr>
                <p:spPr>
                  <a:xfrm rot="5400000" flipV="1">
                    <a:off x="1737545" y="2632042"/>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grpSp>
      </p:grpSp>
      <p:grpSp>
        <p:nvGrpSpPr>
          <p:cNvPr id="320" name="组合 319"/>
          <p:cNvGrpSpPr/>
          <p:nvPr/>
        </p:nvGrpSpPr>
        <p:grpSpPr>
          <a:xfrm>
            <a:off x="2905920" y="3425742"/>
            <a:ext cx="5092749" cy="259640"/>
            <a:chOff x="2905920" y="3273342"/>
            <a:chExt cx="5092749" cy="259640"/>
          </a:xfrm>
        </p:grpSpPr>
        <p:grpSp>
          <p:nvGrpSpPr>
            <p:cNvPr id="321" name="组合 164"/>
            <p:cNvGrpSpPr/>
            <p:nvPr/>
          </p:nvGrpSpPr>
          <p:grpSpPr>
            <a:xfrm>
              <a:off x="2905920" y="3273342"/>
              <a:ext cx="1774874" cy="246940"/>
              <a:chOff x="2905920" y="3273342"/>
              <a:chExt cx="1774874" cy="246940"/>
            </a:xfrm>
          </p:grpSpPr>
          <p:grpSp>
            <p:nvGrpSpPr>
              <p:cNvPr id="329" name="组合 160"/>
              <p:cNvGrpSpPr/>
              <p:nvPr/>
            </p:nvGrpSpPr>
            <p:grpSpPr>
              <a:xfrm>
                <a:off x="2905920" y="3273342"/>
                <a:ext cx="108000" cy="240590"/>
                <a:chOff x="2229644" y="2955842"/>
                <a:chExt cx="72000" cy="240590"/>
              </a:xfrm>
            </p:grpSpPr>
            <p:cxnSp>
              <p:nvCxnSpPr>
                <p:cNvPr id="333" name="直接连接符 332"/>
                <p:cNvCxnSpPr/>
                <p:nvPr/>
              </p:nvCxnSpPr>
              <p:spPr>
                <a:xfrm flipV="1">
                  <a:off x="2229644" y="3196432"/>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334" name="直接连接符 333"/>
                <p:cNvCxnSpPr/>
                <p:nvPr/>
              </p:nvCxnSpPr>
              <p:spPr>
                <a:xfrm rot="5400000" flipV="1">
                  <a:off x="2190512" y="3063842"/>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nvGrpSpPr>
              <p:cNvPr id="330" name="组合 161"/>
              <p:cNvGrpSpPr/>
              <p:nvPr/>
            </p:nvGrpSpPr>
            <p:grpSpPr>
              <a:xfrm flipV="1">
                <a:off x="4572794" y="3289217"/>
                <a:ext cx="108000" cy="231065"/>
                <a:chOff x="2242344" y="2965367"/>
                <a:chExt cx="72000" cy="231065"/>
              </a:xfrm>
            </p:grpSpPr>
            <p:cxnSp>
              <p:nvCxnSpPr>
                <p:cNvPr id="331" name="直接连接符 330"/>
                <p:cNvCxnSpPr/>
                <p:nvPr/>
              </p:nvCxnSpPr>
              <p:spPr>
                <a:xfrm flipV="1">
                  <a:off x="2242344" y="3196432"/>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332" name="直接连接符 331"/>
                <p:cNvCxnSpPr/>
                <p:nvPr/>
              </p:nvCxnSpPr>
              <p:spPr>
                <a:xfrm rot="5400000" flipV="1">
                  <a:off x="2201095" y="3073367"/>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grpSp>
          <p:nvGrpSpPr>
            <p:cNvPr id="322" name="组合 165"/>
            <p:cNvGrpSpPr/>
            <p:nvPr/>
          </p:nvGrpSpPr>
          <p:grpSpPr>
            <a:xfrm>
              <a:off x="6236495" y="3276517"/>
              <a:ext cx="1762174" cy="256465"/>
              <a:chOff x="2905920" y="3273342"/>
              <a:chExt cx="1762174" cy="256465"/>
            </a:xfrm>
          </p:grpSpPr>
          <p:grpSp>
            <p:nvGrpSpPr>
              <p:cNvPr id="323" name="组合 160"/>
              <p:cNvGrpSpPr/>
              <p:nvPr/>
            </p:nvGrpSpPr>
            <p:grpSpPr>
              <a:xfrm>
                <a:off x="2905920" y="3273342"/>
                <a:ext cx="108000" cy="240590"/>
                <a:chOff x="2229644" y="2955842"/>
                <a:chExt cx="72000" cy="240590"/>
              </a:xfrm>
            </p:grpSpPr>
            <p:cxnSp>
              <p:nvCxnSpPr>
                <p:cNvPr id="327" name="直接连接符 326"/>
                <p:cNvCxnSpPr/>
                <p:nvPr/>
              </p:nvCxnSpPr>
              <p:spPr>
                <a:xfrm flipV="1">
                  <a:off x="2229644" y="3196432"/>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328" name="直接连接符 327"/>
                <p:cNvCxnSpPr/>
                <p:nvPr/>
              </p:nvCxnSpPr>
              <p:spPr>
                <a:xfrm rot="5400000" flipV="1">
                  <a:off x="2190512" y="3063842"/>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nvGrpSpPr>
              <p:cNvPr id="324" name="组合 161"/>
              <p:cNvGrpSpPr/>
              <p:nvPr/>
            </p:nvGrpSpPr>
            <p:grpSpPr>
              <a:xfrm flipV="1">
                <a:off x="4560094" y="3289217"/>
                <a:ext cx="108000" cy="240590"/>
                <a:chOff x="2233877" y="2955842"/>
                <a:chExt cx="72000" cy="240590"/>
              </a:xfrm>
            </p:grpSpPr>
            <p:cxnSp>
              <p:nvCxnSpPr>
                <p:cNvPr id="325" name="直接连接符 324"/>
                <p:cNvCxnSpPr/>
                <p:nvPr/>
              </p:nvCxnSpPr>
              <p:spPr>
                <a:xfrm flipV="1">
                  <a:off x="2233877" y="3196432"/>
                  <a:ext cx="72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326" name="直接连接符 325"/>
                <p:cNvCxnSpPr/>
                <p:nvPr/>
              </p:nvCxnSpPr>
              <p:spPr>
                <a:xfrm rot="5400000" flipV="1">
                  <a:off x="2194745" y="3063842"/>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grpSp>
      <p:grpSp>
        <p:nvGrpSpPr>
          <p:cNvPr id="335" name="组合 178"/>
          <p:cNvGrpSpPr/>
          <p:nvPr/>
        </p:nvGrpSpPr>
        <p:grpSpPr>
          <a:xfrm>
            <a:off x="4579144" y="3901992"/>
            <a:ext cx="3474575" cy="250115"/>
            <a:chOff x="4579144" y="3755942"/>
            <a:chExt cx="3474575" cy="250115"/>
          </a:xfrm>
        </p:grpSpPr>
        <p:grpSp>
          <p:nvGrpSpPr>
            <p:cNvPr id="336" name="组合 174"/>
            <p:cNvGrpSpPr/>
            <p:nvPr/>
          </p:nvGrpSpPr>
          <p:grpSpPr>
            <a:xfrm>
              <a:off x="7909719" y="3771817"/>
              <a:ext cx="144000" cy="234240"/>
              <a:chOff x="4725194" y="3441617"/>
              <a:chExt cx="108000" cy="234240"/>
            </a:xfrm>
          </p:grpSpPr>
          <p:cxnSp>
            <p:nvCxnSpPr>
              <p:cNvPr id="340" name="直接连接符 339"/>
              <p:cNvCxnSpPr/>
              <p:nvPr/>
            </p:nvCxnSpPr>
            <p:spPr>
              <a:xfrm>
                <a:off x="4725194" y="3441617"/>
                <a:ext cx="108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341" name="直接连接符 340"/>
              <p:cNvCxnSpPr/>
              <p:nvPr/>
            </p:nvCxnSpPr>
            <p:spPr>
              <a:xfrm rot="16200000">
                <a:off x="4710971" y="3567857"/>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nvGrpSpPr>
            <p:cNvPr id="337" name="组合 175"/>
            <p:cNvGrpSpPr/>
            <p:nvPr/>
          </p:nvGrpSpPr>
          <p:grpSpPr>
            <a:xfrm flipV="1">
              <a:off x="4579144" y="3755942"/>
              <a:ext cx="144000" cy="234240"/>
              <a:chOff x="4725194" y="3441617"/>
              <a:chExt cx="108000" cy="234240"/>
            </a:xfrm>
          </p:grpSpPr>
          <p:cxnSp>
            <p:nvCxnSpPr>
              <p:cNvPr id="338" name="直接连接符 337"/>
              <p:cNvCxnSpPr/>
              <p:nvPr/>
            </p:nvCxnSpPr>
            <p:spPr>
              <a:xfrm>
                <a:off x="4725194" y="3441617"/>
                <a:ext cx="108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339" name="直接连接符 338"/>
              <p:cNvCxnSpPr/>
              <p:nvPr/>
            </p:nvCxnSpPr>
            <p:spPr>
              <a:xfrm rot="16200000">
                <a:off x="4710971" y="3567857"/>
                <a:ext cx="216000" cy="0"/>
              </a:xfrm>
              <a:prstGeom prst="line">
                <a:avLst/>
              </a:prstGeom>
              <a:ln w="19050">
                <a:solidFill>
                  <a:srgbClr val="CC00CC"/>
                </a:solidFill>
                <a:prstDash val="sysDash"/>
              </a:ln>
            </p:spPr>
            <p:style>
              <a:lnRef idx="1">
                <a:schemeClr val="accent1"/>
              </a:lnRef>
              <a:fillRef idx="0">
                <a:schemeClr val="accent1"/>
              </a:fillRef>
              <a:effectRef idx="0">
                <a:schemeClr val="accent1"/>
              </a:effectRef>
              <a:fontRef idx="minor">
                <a:schemeClr val="tx1"/>
              </a:fontRef>
            </p:style>
          </p:cxnSp>
        </p:grpSp>
      </p:grpSp>
      <p:grpSp>
        <p:nvGrpSpPr>
          <p:cNvPr id="342" name="组合 192"/>
          <p:cNvGrpSpPr/>
          <p:nvPr/>
        </p:nvGrpSpPr>
        <p:grpSpPr>
          <a:xfrm>
            <a:off x="3495675" y="2031999"/>
            <a:ext cx="885825" cy="603251"/>
            <a:chOff x="4330700" y="1831974"/>
            <a:chExt cx="885825" cy="603251"/>
          </a:xfrm>
          <a:solidFill>
            <a:srgbClr val="FFFF00"/>
          </a:solidFill>
        </p:grpSpPr>
        <p:grpSp>
          <p:nvGrpSpPr>
            <p:cNvPr id="343" name="组合 189"/>
            <p:cNvGrpSpPr/>
            <p:nvPr/>
          </p:nvGrpSpPr>
          <p:grpSpPr>
            <a:xfrm>
              <a:off x="4330700" y="2197100"/>
              <a:ext cx="504000" cy="238125"/>
              <a:chOff x="4298951" y="1320800"/>
              <a:chExt cx="504925" cy="238125"/>
            </a:xfrm>
            <a:grpFill/>
          </p:grpSpPr>
          <p:grpSp>
            <p:nvGrpSpPr>
              <p:cNvPr id="345" name="组合 184"/>
              <p:cNvGrpSpPr/>
              <p:nvPr/>
            </p:nvGrpSpPr>
            <p:grpSpPr>
              <a:xfrm>
                <a:off x="4524375" y="1320800"/>
                <a:ext cx="53975" cy="238125"/>
                <a:chOff x="4524375" y="1320800"/>
                <a:chExt cx="53975" cy="238125"/>
              </a:xfrm>
              <a:grpFill/>
            </p:grpSpPr>
            <p:cxnSp>
              <p:nvCxnSpPr>
                <p:cNvPr id="348" name="直接连接符 347"/>
                <p:cNvCxnSpPr/>
                <p:nvPr/>
              </p:nvCxnSpPr>
              <p:spPr>
                <a:xfrm>
                  <a:off x="4524375" y="1320800"/>
                  <a:ext cx="0" cy="238125"/>
                </a:xfrm>
                <a:prstGeom prst="line">
                  <a:avLst/>
                </a:prstGeom>
                <a:grpFill/>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9" name="直接连接符 348"/>
                <p:cNvCxnSpPr/>
                <p:nvPr/>
              </p:nvCxnSpPr>
              <p:spPr>
                <a:xfrm>
                  <a:off x="4578350" y="1320800"/>
                  <a:ext cx="0" cy="238125"/>
                </a:xfrm>
                <a:prstGeom prst="line">
                  <a:avLst/>
                </a:prstGeom>
                <a:grpFill/>
                <a:ln w="1905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346" name="直接连接符 345"/>
              <p:cNvCxnSpPr/>
              <p:nvPr/>
            </p:nvCxnSpPr>
            <p:spPr>
              <a:xfrm flipH="1">
                <a:off x="4587876" y="1439862"/>
                <a:ext cx="216000" cy="0"/>
              </a:xfrm>
              <a:prstGeom prst="line">
                <a:avLst/>
              </a:prstGeom>
              <a:grpFill/>
              <a:ln w="19050">
                <a:solidFill>
                  <a:srgbClr val="FF0000"/>
                </a:solidFill>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47" name="直接连接符 346"/>
              <p:cNvCxnSpPr/>
              <p:nvPr/>
            </p:nvCxnSpPr>
            <p:spPr>
              <a:xfrm>
                <a:off x="4298951" y="1439862"/>
                <a:ext cx="216000" cy="0"/>
              </a:xfrm>
              <a:prstGeom prst="line">
                <a:avLst/>
              </a:prstGeom>
              <a:grpFill/>
              <a:ln w="19050">
                <a:solidFill>
                  <a:srgbClr val="FF0000"/>
                </a:solidFill>
                <a:headEnd type="none" w="med" len="med"/>
                <a:tailEnd type="stealth" w="med" len="lg"/>
              </a:ln>
            </p:spPr>
            <p:style>
              <a:lnRef idx="1">
                <a:schemeClr val="accent1"/>
              </a:lnRef>
              <a:fillRef idx="0">
                <a:schemeClr val="accent1"/>
              </a:fillRef>
              <a:effectRef idx="0">
                <a:schemeClr val="accent1"/>
              </a:effectRef>
              <a:fontRef idx="minor">
                <a:schemeClr val="tx1"/>
              </a:fontRef>
            </p:style>
          </p:cxnSp>
        </p:grpSp>
        <p:sp>
          <p:nvSpPr>
            <p:cNvPr id="344" name="圆角矩形标注 343"/>
            <p:cNvSpPr/>
            <p:nvPr/>
          </p:nvSpPr>
          <p:spPr>
            <a:xfrm>
              <a:off x="4660900" y="1831974"/>
              <a:ext cx="555625" cy="330073"/>
            </a:xfrm>
            <a:prstGeom prst="wedgeRoundRectCallout">
              <a:avLst>
                <a:gd name="adj1" fmla="val -48857"/>
                <a:gd name="adj2" fmla="val 76045"/>
                <a:gd name="adj3" fmla="val 16667"/>
              </a:avLst>
            </a:prstGeom>
            <a:grp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rgbClr val="0000FF"/>
                  </a:solidFill>
                  <a:latin typeface="Times New Roman" panose="02020603050405020304" pitchFamily="18" charset="0"/>
                  <a:cs typeface="Times New Roman" panose="02020603050405020304" pitchFamily="18" charset="0"/>
                </a:rPr>
                <a:t>1</a:t>
              </a:r>
              <a:r>
                <a:rPr lang="en-US" altLang="zh-CN" sz="1600" b="1" i="1" dirty="0">
                  <a:solidFill>
                    <a:srgbClr val="0000FF"/>
                  </a:solidFill>
                  <a:latin typeface="Times New Roman" panose="02020603050405020304" pitchFamily="18" charset="0"/>
                  <a:cs typeface="Times New Roman" panose="02020603050405020304" pitchFamily="18" charset="0"/>
                </a:rPr>
                <a:t>T</a:t>
              </a:r>
              <a:r>
                <a:rPr lang="en-US" altLang="zh-CN" sz="1600" b="1" baseline="-25000" dirty="0">
                  <a:solidFill>
                    <a:srgbClr val="0000FF"/>
                  </a:solidFill>
                  <a:latin typeface="Times New Roman" panose="02020603050405020304" pitchFamily="18" charset="0"/>
                  <a:cs typeface="Times New Roman" panose="02020603050405020304" pitchFamily="18" charset="0"/>
                </a:rPr>
                <a:t>PD</a:t>
              </a:r>
              <a:endParaRPr lang="zh-CN" altLang="en-US" sz="1600" b="1" dirty="0">
                <a:solidFill>
                  <a:srgbClr val="0000FF"/>
                </a:solidFill>
              </a:endParaRPr>
            </a:p>
          </p:txBody>
        </p:sp>
      </p:grpSp>
      <p:grpSp>
        <p:nvGrpSpPr>
          <p:cNvPr id="350" name="组合 201"/>
          <p:cNvGrpSpPr/>
          <p:nvPr/>
        </p:nvGrpSpPr>
        <p:grpSpPr>
          <a:xfrm>
            <a:off x="4314832" y="2432049"/>
            <a:ext cx="898518" cy="593726"/>
            <a:chOff x="4314832" y="2266949"/>
            <a:chExt cx="898518" cy="593726"/>
          </a:xfrm>
          <a:solidFill>
            <a:srgbClr val="FFFF00"/>
          </a:solidFill>
        </p:grpSpPr>
        <p:grpSp>
          <p:nvGrpSpPr>
            <p:cNvPr id="351" name="组合 189"/>
            <p:cNvGrpSpPr/>
            <p:nvPr/>
          </p:nvGrpSpPr>
          <p:grpSpPr>
            <a:xfrm>
              <a:off x="4314832" y="2622550"/>
              <a:ext cx="565393" cy="238125"/>
              <a:chOff x="4298951" y="1320800"/>
              <a:chExt cx="528668" cy="238125"/>
            </a:xfrm>
            <a:grpFill/>
          </p:grpSpPr>
          <p:grpSp>
            <p:nvGrpSpPr>
              <p:cNvPr id="353" name="组合 184"/>
              <p:cNvGrpSpPr/>
              <p:nvPr/>
            </p:nvGrpSpPr>
            <p:grpSpPr>
              <a:xfrm>
                <a:off x="4524375" y="1320800"/>
                <a:ext cx="77717" cy="238125"/>
                <a:chOff x="4524375" y="1320800"/>
                <a:chExt cx="77717" cy="238125"/>
              </a:xfrm>
              <a:grpFill/>
            </p:grpSpPr>
            <p:cxnSp>
              <p:nvCxnSpPr>
                <p:cNvPr id="356" name="直接连接符 355"/>
                <p:cNvCxnSpPr/>
                <p:nvPr/>
              </p:nvCxnSpPr>
              <p:spPr>
                <a:xfrm>
                  <a:off x="4524375" y="1320800"/>
                  <a:ext cx="0" cy="238125"/>
                </a:xfrm>
                <a:prstGeom prst="line">
                  <a:avLst/>
                </a:prstGeom>
                <a:grpFill/>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7" name="直接连接符 356"/>
                <p:cNvCxnSpPr/>
                <p:nvPr/>
              </p:nvCxnSpPr>
              <p:spPr>
                <a:xfrm>
                  <a:off x="4602092" y="1320800"/>
                  <a:ext cx="0" cy="238125"/>
                </a:xfrm>
                <a:prstGeom prst="line">
                  <a:avLst/>
                </a:prstGeom>
                <a:grpFill/>
                <a:ln w="1905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354" name="直接连接符 353"/>
              <p:cNvCxnSpPr/>
              <p:nvPr/>
            </p:nvCxnSpPr>
            <p:spPr>
              <a:xfrm flipH="1">
                <a:off x="4611619" y="1439862"/>
                <a:ext cx="216000" cy="0"/>
              </a:xfrm>
              <a:prstGeom prst="line">
                <a:avLst/>
              </a:prstGeom>
              <a:grpFill/>
              <a:ln w="19050">
                <a:solidFill>
                  <a:srgbClr val="FF0000"/>
                </a:solidFill>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55" name="直接连接符 354"/>
              <p:cNvCxnSpPr/>
              <p:nvPr/>
            </p:nvCxnSpPr>
            <p:spPr>
              <a:xfrm>
                <a:off x="4298951" y="1439862"/>
                <a:ext cx="216000" cy="0"/>
              </a:xfrm>
              <a:prstGeom prst="line">
                <a:avLst/>
              </a:prstGeom>
              <a:grpFill/>
              <a:ln w="19050">
                <a:solidFill>
                  <a:srgbClr val="FF0000"/>
                </a:solidFill>
                <a:headEnd type="none" w="med" len="med"/>
                <a:tailEnd type="stealth" w="med" len="lg"/>
              </a:ln>
            </p:spPr>
            <p:style>
              <a:lnRef idx="1">
                <a:schemeClr val="accent1"/>
              </a:lnRef>
              <a:fillRef idx="0">
                <a:schemeClr val="accent1"/>
              </a:fillRef>
              <a:effectRef idx="0">
                <a:schemeClr val="accent1"/>
              </a:effectRef>
              <a:fontRef idx="minor">
                <a:schemeClr val="tx1"/>
              </a:fontRef>
            </p:style>
          </p:cxnSp>
        </p:grpSp>
        <p:sp>
          <p:nvSpPr>
            <p:cNvPr id="352" name="圆角矩形标注 351"/>
            <p:cNvSpPr/>
            <p:nvPr/>
          </p:nvSpPr>
          <p:spPr>
            <a:xfrm>
              <a:off x="4657725" y="2266949"/>
              <a:ext cx="555625" cy="330073"/>
            </a:xfrm>
            <a:prstGeom prst="wedgeRoundRectCallout">
              <a:avLst>
                <a:gd name="adj1" fmla="val -48857"/>
                <a:gd name="adj2" fmla="val 76045"/>
                <a:gd name="adj3" fmla="val 16667"/>
              </a:avLst>
            </a:prstGeom>
            <a:grp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rgbClr val="0000FF"/>
                  </a:solidFill>
                  <a:latin typeface="Times New Roman" panose="02020603050405020304" pitchFamily="18" charset="0"/>
                  <a:cs typeface="Times New Roman" panose="02020603050405020304" pitchFamily="18" charset="0"/>
                </a:rPr>
                <a:t>2</a:t>
              </a:r>
              <a:r>
                <a:rPr lang="en-US" altLang="zh-CN" sz="1600" b="1" i="1" dirty="0">
                  <a:solidFill>
                    <a:srgbClr val="0000FF"/>
                  </a:solidFill>
                  <a:latin typeface="Times New Roman" panose="02020603050405020304" pitchFamily="18" charset="0"/>
                  <a:cs typeface="Times New Roman" panose="02020603050405020304" pitchFamily="18" charset="0"/>
                </a:rPr>
                <a:t>T</a:t>
              </a:r>
              <a:r>
                <a:rPr lang="en-US" altLang="zh-CN" sz="1600" b="1" baseline="-25000" dirty="0">
                  <a:solidFill>
                    <a:srgbClr val="0000FF"/>
                  </a:solidFill>
                  <a:latin typeface="Times New Roman" panose="02020603050405020304" pitchFamily="18" charset="0"/>
                  <a:cs typeface="Times New Roman" panose="02020603050405020304" pitchFamily="18" charset="0"/>
                </a:rPr>
                <a:t>PD</a:t>
              </a:r>
              <a:endParaRPr lang="zh-CN" altLang="en-US" sz="1600" b="1" dirty="0">
                <a:solidFill>
                  <a:srgbClr val="0000FF"/>
                </a:solidFill>
              </a:endParaRPr>
            </a:p>
          </p:txBody>
        </p:sp>
      </p:grpSp>
      <p:grpSp>
        <p:nvGrpSpPr>
          <p:cNvPr id="358" name="组合 202"/>
          <p:cNvGrpSpPr/>
          <p:nvPr/>
        </p:nvGrpSpPr>
        <p:grpSpPr>
          <a:xfrm>
            <a:off x="5980865" y="2886074"/>
            <a:ext cx="939799" cy="593726"/>
            <a:chOff x="4314826" y="2266949"/>
            <a:chExt cx="939799" cy="593726"/>
          </a:xfrm>
          <a:solidFill>
            <a:srgbClr val="FFFF00"/>
          </a:solidFill>
        </p:grpSpPr>
        <p:grpSp>
          <p:nvGrpSpPr>
            <p:cNvPr id="359" name="组合 189"/>
            <p:cNvGrpSpPr/>
            <p:nvPr/>
          </p:nvGrpSpPr>
          <p:grpSpPr>
            <a:xfrm>
              <a:off x="4314826" y="2622550"/>
              <a:ext cx="597150" cy="238125"/>
              <a:chOff x="4298951" y="1320800"/>
              <a:chExt cx="558363" cy="238125"/>
            </a:xfrm>
            <a:grpFill/>
          </p:grpSpPr>
          <p:grpSp>
            <p:nvGrpSpPr>
              <p:cNvPr id="361" name="组合 184"/>
              <p:cNvGrpSpPr/>
              <p:nvPr/>
            </p:nvGrpSpPr>
            <p:grpSpPr>
              <a:xfrm>
                <a:off x="4524375" y="1320800"/>
                <a:ext cx="107412" cy="238125"/>
                <a:chOff x="4524375" y="1320800"/>
                <a:chExt cx="107412" cy="238125"/>
              </a:xfrm>
              <a:grpFill/>
            </p:grpSpPr>
            <p:cxnSp>
              <p:nvCxnSpPr>
                <p:cNvPr id="364" name="直接连接符 363"/>
                <p:cNvCxnSpPr/>
                <p:nvPr/>
              </p:nvCxnSpPr>
              <p:spPr>
                <a:xfrm>
                  <a:off x="4524375" y="1320800"/>
                  <a:ext cx="0" cy="238125"/>
                </a:xfrm>
                <a:prstGeom prst="line">
                  <a:avLst/>
                </a:prstGeom>
                <a:grpFill/>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5" name="直接连接符 364"/>
                <p:cNvCxnSpPr/>
                <p:nvPr/>
              </p:nvCxnSpPr>
              <p:spPr>
                <a:xfrm>
                  <a:off x="4631787" y="1320800"/>
                  <a:ext cx="0" cy="238125"/>
                </a:xfrm>
                <a:prstGeom prst="line">
                  <a:avLst/>
                </a:prstGeom>
                <a:grpFill/>
                <a:ln w="1905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362" name="直接连接符 361"/>
              <p:cNvCxnSpPr/>
              <p:nvPr/>
            </p:nvCxnSpPr>
            <p:spPr>
              <a:xfrm flipH="1">
                <a:off x="4641314" y="1439862"/>
                <a:ext cx="216000" cy="0"/>
              </a:xfrm>
              <a:prstGeom prst="line">
                <a:avLst/>
              </a:prstGeom>
              <a:grpFill/>
              <a:ln w="19050">
                <a:solidFill>
                  <a:srgbClr val="FF0000"/>
                </a:solidFill>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63" name="直接连接符 362"/>
              <p:cNvCxnSpPr/>
              <p:nvPr/>
            </p:nvCxnSpPr>
            <p:spPr>
              <a:xfrm>
                <a:off x="4298951" y="1439862"/>
                <a:ext cx="216000" cy="0"/>
              </a:xfrm>
              <a:prstGeom prst="line">
                <a:avLst/>
              </a:prstGeom>
              <a:grpFill/>
              <a:ln w="19050">
                <a:solidFill>
                  <a:srgbClr val="FF0000"/>
                </a:solidFill>
                <a:headEnd type="none" w="med" len="med"/>
                <a:tailEnd type="stealth" w="med" len="lg"/>
              </a:ln>
            </p:spPr>
            <p:style>
              <a:lnRef idx="1">
                <a:schemeClr val="accent1"/>
              </a:lnRef>
              <a:fillRef idx="0">
                <a:schemeClr val="accent1"/>
              </a:fillRef>
              <a:effectRef idx="0">
                <a:schemeClr val="accent1"/>
              </a:effectRef>
              <a:fontRef idx="minor">
                <a:schemeClr val="tx1"/>
              </a:fontRef>
            </p:style>
          </p:cxnSp>
        </p:grpSp>
        <p:sp>
          <p:nvSpPr>
            <p:cNvPr id="360" name="圆角矩形标注 359"/>
            <p:cNvSpPr/>
            <p:nvPr/>
          </p:nvSpPr>
          <p:spPr>
            <a:xfrm>
              <a:off x="4699000" y="2266949"/>
              <a:ext cx="555625" cy="330073"/>
            </a:xfrm>
            <a:prstGeom prst="wedgeRoundRectCallout">
              <a:avLst>
                <a:gd name="adj1" fmla="val -48857"/>
                <a:gd name="adj2" fmla="val 76045"/>
                <a:gd name="adj3" fmla="val 16667"/>
              </a:avLst>
            </a:prstGeom>
            <a:grp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rgbClr val="0000FF"/>
                  </a:solidFill>
                  <a:latin typeface="Times New Roman" panose="02020603050405020304" pitchFamily="18" charset="0"/>
                  <a:cs typeface="Times New Roman" panose="02020603050405020304" pitchFamily="18" charset="0"/>
                </a:rPr>
                <a:t>3</a:t>
              </a:r>
              <a:r>
                <a:rPr lang="en-US" altLang="zh-CN" sz="1600" b="1" i="1" dirty="0">
                  <a:solidFill>
                    <a:srgbClr val="0000FF"/>
                  </a:solidFill>
                  <a:latin typeface="Times New Roman" panose="02020603050405020304" pitchFamily="18" charset="0"/>
                  <a:cs typeface="Times New Roman" panose="02020603050405020304" pitchFamily="18" charset="0"/>
                </a:rPr>
                <a:t>T</a:t>
              </a:r>
              <a:r>
                <a:rPr lang="en-US" altLang="zh-CN" sz="1600" b="1" baseline="-25000" dirty="0">
                  <a:solidFill>
                    <a:srgbClr val="0000FF"/>
                  </a:solidFill>
                  <a:latin typeface="Times New Roman" panose="02020603050405020304" pitchFamily="18" charset="0"/>
                  <a:cs typeface="Times New Roman" panose="02020603050405020304" pitchFamily="18" charset="0"/>
                </a:rPr>
                <a:t>PD</a:t>
              </a:r>
              <a:endParaRPr lang="zh-CN" altLang="en-US" sz="1600" b="1" dirty="0">
                <a:solidFill>
                  <a:srgbClr val="0000FF"/>
                </a:solidFill>
              </a:endParaRPr>
            </a:p>
          </p:txBody>
        </p:sp>
      </p:grpSp>
      <p:grpSp>
        <p:nvGrpSpPr>
          <p:cNvPr id="366" name="组合 210"/>
          <p:cNvGrpSpPr/>
          <p:nvPr/>
        </p:nvGrpSpPr>
        <p:grpSpPr>
          <a:xfrm>
            <a:off x="4314806" y="3320880"/>
            <a:ext cx="979929" cy="609770"/>
            <a:chOff x="4314806" y="2250905"/>
            <a:chExt cx="979929" cy="609770"/>
          </a:xfrm>
          <a:solidFill>
            <a:srgbClr val="FFFF00"/>
          </a:solidFill>
        </p:grpSpPr>
        <p:grpSp>
          <p:nvGrpSpPr>
            <p:cNvPr id="367" name="组合 189"/>
            <p:cNvGrpSpPr/>
            <p:nvPr/>
          </p:nvGrpSpPr>
          <p:grpSpPr>
            <a:xfrm>
              <a:off x="4314806" y="2622550"/>
              <a:ext cx="628925" cy="238125"/>
              <a:chOff x="4298951" y="1320800"/>
              <a:chExt cx="588077" cy="238125"/>
            </a:xfrm>
            <a:grpFill/>
          </p:grpSpPr>
          <p:grpSp>
            <p:nvGrpSpPr>
              <p:cNvPr id="369" name="组合 184"/>
              <p:cNvGrpSpPr/>
              <p:nvPr/>
            </p:nvGrpSpPr>
            <p:grpSpPr>
              <a:xfrm>
                <a:off x="4524375" y="1320800"/>
                <a:ext cx="137124" cy="238125"/>
                <a:chOff x="4524375" y="1320800"/>
                <a:chExt cx="137124" cy="238125"/>
              </a:xfrm>
              <a:grpFill/>
            </p:grpSpPr>
            <p:cxnSp>
              <p:nvCxnSpPr>
                <p:cNvPr id="372" name="直接连接符 371"/>
                <p:cNvCxnSpPr/>
                <p:nvPr/>
              </p:nvCxnSpPr>
              <p:spPr>
                <a:xfrm>
                  <a:off x="4524375" y="1320800"/>
                  <a:ext cx="0" cy="238125"/>
                </a:xfrm>
                <a:prstGeom prst="line">
                  <a:avLst/>
                </a:prstGeom>
                <a:grpFill/>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3" name="直接连接符 372"/>
                <p:cNvCxnSpPr/>
                <p:nvPr/>
              </p:nvCxnSpPr>
              <p:spPr>
                <a:xfrm>
                  <a:off x="4661499" y="1320800"/>
                  <a:ext cx="0" cy="238125"/>
                </a:xfrm>
                <a:prstGeom prst="line">
                  <a:avLst/>
                </a:prstGeom>
                <a:grpFill/>
                <a:ln w="1905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370" name="直接连接符 369"/>
              <p:cNvCxnSpPr/>
              <p:nvPr/>
            </p:nvCxnSpPr>
            <p:spPr>
              <a:xfrm flipH="1">
                <a:off x="4671026" y="1439862"/>
                <a:ext cx="216002" cy="0"/>
              </a:xfrm>
              <a:prstGeom prst="line">
                <a:avLst/>
              </a:prstGeom>
              <a:grpFill/>
              <a:ln w="19050">
                <a:solidFill>
                  <a:srgbClr val="FF0000"/>
                </a:solidFill>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71" name="直接连接符 370"/>
              <p:cNvCxnSpPr/>
              <p:nvPr/>
            </p:nvCxnSpPr>
            <p:spPr>
              <a:xfrm>
                <a:off x="4298951" y="1439862"/>
                <a:ext cx="216000" cy="0"/>
              </a:xfrm>
              <a:prstGeom prst="line">
                <a:avLst/>
              </a:prstGeom>
              <a:grpFill/>
              <a:ln w="19050">
                <a:solidFill>
                  <a:srgbClr val="FF0000"/>
                </a:solidFill>
                <a:headEnd type="none" w="med" len="med"/>
                <a:tailEnd type="stealth" w="med" len="lg"/>
              </a:ln>
            </p:spPr>
            <p:style>
              <a:lnRef idx="1">
                <a:schemeClr val="accent1"/>
              </a:lnRef>
              <a:fillRef idx="0">
                <a:schemeClr val="accent1"/>
              </a:fillRef>
              <a:effectRef idx="0">
                <a:schemeClr val="accent1"/>
              </a:effectRef>
              <a:fontRef idx="minor">
                <a:schemeClr val="tx1"/>
              </a:fontRef>
            </p:style>
          </p:cxnSp>
        </p:grpSp>
        <p:sp>
          <p:nvSpPr>
            <p:cNvPr id="368" name="圆角矩形标注 367"/>
            <p:cNvSpPr/>
            <p:nvPr/>
          </p:nvSpPr>
          <p:spPr>
            <a:xfrm>
              <a:off x="4739110" y="2250905"/>
              <a:ext cx="555625" cy="330073"/>
            </a:xfrm>
            <a:prstGeom prst="wedgeRoundRectCallout">
              <a:avLst>
                <a:gd name="adj1" fmla="val -48857"/>
                <a:gd name="adj2" fmla="val 76045"/>
                <a:gd name="adj3" fmla="val 16667"/>
              </a:avLst>
            </a:prstGeom>
            <a:grp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rgbClr val="0000FF"/>
                  </a:solidFill>
                  <a:latin typeface="Times New Roman" panose="02020603050405020304" pitchFamily="18" charset="0"/>
                  <a:cs typeface="Times New Roman" panose="02020603050405020304" pitchFamily="18" charset="0"/>
                </a:rPr>
                <a:t>4</a:t>
              </a:r>
              <a:r>
                <a:rPr lang="en-US" altLang="zh-CN" sz="1600" b="1" i="1" dirty="0">
                  <a:solidFill>
                    <a:srgbClr val="0000FF"/>
                  </a:solidFill>
                  <a:latin typeface="Times New Roman" panose="02020603050405020304" pitchFamily="18" charset="0"/>
                  <a:cs typeface="Times New Roman" panose="02020603050405020304" pitchFamily="18" charset="0"/>
                </a:rPr>
                <a:t>T</a:t>
              </a:r>
              <a:r>
                <a:rPr lang="en-US" altLang="zh-CN" sz="1600" b="1" baseline="-25000" dirty="0">
                  <a:solidFill>
                    <a:srgbClr val="0000FF"/>
                  </a:solidFill>
                  <a:latin typeface="Times New Roman" panose="02020603050405020304" pitchFamily="18" charset="0"/>
                  <a:cs typeface="Times New Roman" panose="02020603050405020304" pitchFamily="18" charset="0"/>
                </a:rPr>
                <a:t>PD</a:t>
              </a:r>
              <a:endParaRPr lang="zh-CN" altLang="en-US" sz="1600" b="1" dirty="0">
                <a:solidFill>
                  <a:srgbClr val="0000FF"/>
                </a:solidFill>
              </a:endParaRPr>
            </a:p>
          </p:txBody>
        </p:sp>
      </p:grpSp>
      <p:sp>
        <p:nvSpPr>
          <p:cNvPr id="374" name="剪去对角的矩形 373"/>
          <p:cNvSpPr/>
          <p:nvPr/>
        </p:nvSpPr>
        <p:spPr>
          <a:xfrm>
            <a:off x="850900" y="4377157"/>
            <a:ext cx="7537450" cy="512344"/>
          </a:xfrm>
          <a:prstGeom prst="snip2DiagRect">
            <a:avLst>
              <a:gd name="adj1" fmla="val 0"/>
              <a:gd name="adj2" fmla="val 25863"/>
            </a:avLst>
          </a:prstGeom>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异步计数器存在延时累积，</a:t>
            </a:r>
            <a:r>
              <a:rPr lang="zh-CN" altLang="en-US" dirty="0">
                <a:solidFill>
                  <a:srgbClr val="000000"/>
                </a:solidFill>
                <a:latin typeface="Times New Roman" panose="02020603050405020304" pitchFamily="18" charset="0"/>
                <a:cs typeface="Times New Roman" panose="02020603050405020304" pitchFamily="18" charset="0"/>
              </a:rPr>
              <a:t> </a:t>
            </a:r>
            <a:r>
              <a:rPr lang="en-US" altLang="zh-CN"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zh-CN"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位异步计数器时钟脉冲的周期</a:t>
            </a:r>
            <a:r>
              <a:rPr lang="en-US" altLang="zh-CN" b="1" i="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b="1" baseline="-2500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CP</a:t>
            </a:r>
            <a:r>
              <a:rPr lang="en-US" altLang="zh-CN"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&gt;</a:t>
            </a:r>
            <a:r>
              <a:rPr lang="en-US" altLang="zh-CN" b="1"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b="1" i="1"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b="1" baseline="-25000"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PD</a:t>
            </a:r>
            <a:r>
              <a:rPr lang="zh-CN" altLang="zh-CN"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75" name="圆角矩形标注 374"/>
          <p:cNvSpPr/>
          <p:nvPr/>
        </p:nvSpPr>
        <p:spPr>
          <a:xfrm>
            <a:off x="4086579" y="1335725"/>
            <a:ext cx="1267249" cy="424394"/>
          </a:xfrm>
          <a:prstGeom prst="wedgeRoundRectCallout">
            <a:avLst>
              <a:gd name="adj1" fmla="val -27329"/>
              <a:gd name="adj2" fmla="val 80028"/>
              <a:gd name="adj3" fmla="val 16667"/>
            </a:avLst>
          </a:prstGeom>
          <a:solidFill>
            <a:schemeClr val="accent4">
              <a:lumMod val="20000"/>
              <a:lumOff val="80000"/>
            </a:schemeClr>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dirty="0">
                <a:solidFill>
                  <a:srgbClr val="0000FF"/>
                </a:solidFill>
                <a:latin typeface="微软雅黑" panose="020B0503020204020204" pitchFamily="34" charset="-122"/>
                <a:ea typeface="微软雅黑" panose="020B0503020204020204" pitchFamily="34" charset="-122"/>
              </a:rPr>
              <a:t>未考虑延时</a:t>
            </a:r>
            <a:endParaRPr lang="zh-CN" altLang="en-US" dirty="0">
              <a:solidFill>
                <a:srgbClr val="0000FF"/>
              </a:solidFill>
              <a:latin typeface="微软雅黑" panose="020B0503020204020204" pitchFamily="34" charset="-122"/>
              <a:ea typeface="微软雅黑" panose="020B0503020204020204" pitchFamily="34" charset="-122"/>
            </a:endParaRPr>
          </a:p>
        </p:txBody>
      </p:sp>
      <p:sp>
        <p:nvSpPr>
          <p:cNvPr id="376" name="圆角矩形标注 375"/>
          <p:cNvSpPr/>
          <p:nvPr/>
        </p:nvSpPr>
        <p:spPr>
          <a:xfrm>
            <a:off x="4092141" y="1321263"/>
            <a:ext cx="1267249" cy="424394"/>
          </a:xfrm>
          <a:prstGeom prst="wedgeRoundRectCallout">
            <a:avLst>
              <a:gd name="adj1" fmla="val -27329"/>
              <a:gd name="adj2" fmla="val 80028"/>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dirty="0">
                <a:solidFill>
                  <a:srgbClr val="0000FF"/>
                </a:solidFill>
                <a:latin typeface="微软雅黑" panose="020B0503020204020204" pitchFamily="34" charset="-122"/>
                <a:ea typeface="微软雅黑" panose="020B0503020204020204" pitchFamily="34" charset="-122"/>
              </a:rPr>
              <a:t>考虑延时</a:t>
            </a:r>
            <a:endParaRPr lang="zh-CN" altLang="en-US"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76"/>
                                        </p:tgtEl>
                                        <p:attrNameLst>
                                          <p:attrName>style.visibility</p:attrName>
                                        </p:attrNameLst>
                                      </p:cBhvr>
                                      <p:to>
                                        <p:strVal val="visible"/>
                                      </p:to>
                                    </p:set>
                                    <p:animEffect transition="in" filter="wipe(down)">
                                      <p:cBhvr>
                                        <p:cTn id="7" dur="1000"/>
                                        <p:tgtEl>
                                          <p:spTgt spid="376"/>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226"/>
                                        </p:tgtEl>
                                        <p:attrNameLst>
                                          <p:attrName>style.visibility</p:attrName>
                                        </p:attrNameLst>
                                      </p:cBhvr>
                                      <p:to>
                                        <p:strVal val="visible"/>
                                      </p:to>
                                    </p:set>
                                    <p:animEffect transition="in" filter="wipe(down)">
                                      <p:cBhvr>
                                        <p:cTn id="11" dur="1000"/>
                                        <p:tgtEl>
                                          <p:spTgt spid="226"/>
                                        </p:tgtEl>
                                      </p:cBhvr>
                                    </p:animEffect>
                                  </p:childTnLst>
                                </p:cTn>
                              </p:par>
                            </p:childTnLst>
                          </p:cTn>
                        </p:par>
                        <p:par>
                          <p:cTn id="12" fill="hold">
                            <p:stCondLst>
                              <p:cond delay="2000"/>
                            </p:stCondLst>
                            <p:childTnLst>
                              <p:par>
                                <p:cTn id="13" presetID="22" presetClass="entr" presetSubtype="4" fill="hold" nodeType="afterEffect">
                                  <p:stCondLst>
                                    <p:cond delay="0"/>
                                  </p:stCondLst>
                                  <p:childTnLst>
                                    <p:set>
                                      <p:cBhvr>
                                        <p:cTn id="14" dur="1" fill="hold">
                                          <p:stCondLst>
                                            <p:cond delay="0"/>
                                          </p:stCondLst>
                                        </p:cTn>
                                        <p:tgtEl>
                                          <p:spTgt spid="342"/>
                                        </p:tgtEl>
                                        <p:attrNameLst>
                                          <p:attrName>style.visibility</p:attrName>
                                        </p:attrNameLst>
                                      </p:cBhvr>
                                      <p:to>
                                        <p:strVal val="visible"/>
                                      </p:to>
                                    </p:set>
                                    <p:animEffect transition="in" filter="wipe(down)">
                                      <p:cBhvr>
                                        <p:cTn id="15" dur="1000"/>
                                        <p:tgtEl>
                                          <p:spTgt spid="342"/>
                                        </p:tgtEl>
                                      </p:cBhvr>
                                    </p:animEffect>
                                  </p:childTnLst>
                                </p:cTn>
                              </p:par>
                            </p:childTnLst>
                          </p:cTn>
                        </p:par>
                        <p:par>
                          <p:cTn id="16" fill="hold">
                            <p:stCondLst>
                              <p:cond delay="3000"/>
                            </p:stCondLst>
                            <p:childTnLst>
                              <p:par>
                                <p:cTn id="17" presetID="22" presetClass="entr" presetSubtype="4" fill="hold" nodeType="afterEffect">
                                  <p:stCondLst>
                                    <p:cond delay="0"/>
                                  </p:stCondLst>
                                  <p:childTnLst>
                                    <p:set>
                                      <p:cBhvr>
                                        <p:cTn id="18" dur="1" fill="hold">
                                          <p:stCondLst>
                                            <p:cond delay="0"/>
                                          </p:stCondLst>
                                        </p:cTn>
                                        <p:tgtEl>
                                          <p:spTgt spid="289"/>
                                        </p:tgtEl>
                                        <p:attrNameLst>
                                          <p:attrName>style.visibility</p:attrName>
                                        </p:attrNameLst>
                                      </p:cBhvr>
                                      <p:to>
                                        <p:strVal val="visible"/>
                                      </p:to>
                                    </p:set>
                                    <p:animEffect transition="in" filter="wipe(down)">
                                      <p:cBhvr>
                                        <p:cTn id="19" dur="1000"/>
                                        <p:tgtEl>
                                          <p:spTgt spid="289"/>
                                        </p:tgtEl>
                                      </p:cBhvr>
                                    </p:animEffect>
                                  </p:childTnLst>
                                </p:cTn>
                              </p:par>
                            </p:childTnLst>
                          </p:cTn>
                        </p:par>
                        <p:par>
                          <p:cTn id="20" fill="hold">
                            <p:stCondLst>
                              <p:cond delay="4000"/>
                            </p:stCondLst>
                            <p:childTnLst>
                              <p:par>
                                <p:cTn id="21" presetID="22" presetClass="entr" presetSubtype="4" fill="hold" nodeType="afterEffect">
                                  <p:stCondLst>
                                    <p:cond delay="0"/>
                                  </p:stCondLst>
                                  <p:childTnLst>
                                    <p:set>
                                      <p:cBhvr>
                                        <p:cTn id="22" dur="1" fill="hold">
                                          <p:stCondLst>
                                            <p:cond delay="0"/>
                                          </p:stCondLst>
                                        </p:cTn>
                                        <p:tgtEl>
                                          <p:spTgt spid="350"/>
                                        </p:tgtEl>
                                        <p:attrNameLst>
                                          <p:attrName>style.visibility</p:attrName>
                                        </p:attrNameLst>
                                      </p:cBhvr>
                                      <p:to>
                                        <p:strVal val="visible"/>
                                      </p:to>
                                    </p:set>
                                    <p:animEffect transition="in" filter="wipe(down)">
                                      <p:cBhvr>
                                        <p:cTn id="23" dur="1000"/>
                                        <p:tgtEl>
                                          <p:spTgt spid="350"/>
                                        </p:tgtEl>
                                      </p:cBhvr>
                                    </p:animEffect>
                                  </p:childTnLst>
                                </p:cTn>
                              </p:par>
                            </p:childTnLst>
                          </p:cTn>
                        </p:par>
                        <p:par>
                          <p:cTn id="24" fill="hold">
                            <p:stCondLst>
                              <p:cond delay="5000"/>
                            </p:stCondLst>
                            <p:childTnLst>
                              <p:par>
                                <p:cTn id="25" presetID="22" presetClass="entr" presetSubtype="4" fill="hold" nodeType="afterEffect">
                                  <p:stCondLst>
                                    <p:cond delay="0"/>
                                  </p:stCondLst>
                                  <p:childTnLst>
                                    <p:set>
                                      <p:cBhvr>
                                        <p:cTn id="26" dur="1" fill="hold">
                                          <p:stCondLst>
                                            <p:cond delay="0"/>
                                          </p:stCondLst>
                                        </p:cTn>
                                        <p:tgtEl>
                                          <p:spTgt spid="320"/>
                                        </p:tgtEl>
                                        <p:attrNameLst>
                                          <p:attrName>style.visibility</p:attrName>
                                        </p:attrNameLst>
                                      </p:cBhvr>
                                      <p:to>
                                        <p:strVal val="visible"/>
                                      </p:to>
                                    </p:set>
                                    <p:animEffect transition="in" filter="wipe(down)">
                                      <p:cBhvr>
                                        <p:cTn id="27" dur="1000"/>
                                        <p:tgtEl>
                                          <p:spTgt spid="320"/>
                                        </p:tgtEl>
                                      </p:cBhvr>
                                    </p:animEffect>
                                  </p:childTnLst>
                                </p:cTn>
                              </p:par>
                            </p:childTnLst>
                          </p:cTn>
                        </p:par>
                        <p:par>
                          <p:cTn id="28" fill="hold">
                            <p:stCondLst>
                              <p:cond delay="6000"/>
                            </p:stCondLst>
                            <p:childTnLst>
                              <p:par>
                                <p:cTn id="29" presetID="22" presetClass="entr" presetSubtype="4" fill="hold" nodeType="afterEffect">
                                  <p:stCondLst>
                                    <p:cond delay="0"/>
                                  </p:stCondLst>
                                  <p:childTnLst>
                                    <p:set>
                                      <p:cBhvr>
                                        <p:cTn id="30" dur="1" fill="hold">
                                          <p:stCondLst>
                                            <p:cond delay="0"/>
                                          </p:stCondLst>
                                        </p:cTn>
                                        <p:tgtEl>
                                          <p:spTgt spid="358"/>
                                        </p:tgtEl>
                                        <p:attrNameLst>
                                          <p:attrName>style.visibility</p:attrName>
                                        </p:attrNameLst>
                                      </p:cBhvr>
                                      <p:to>
                                        <p:strVal val="visible"/>
                                      </p:to>
                                    </p:set>
                                    <p:animEffect transition="in" filter="wipe(down)">
                                      <p:cBhvr>
                                        <p:cTn id="31" dur="1000"/>
                                        <p:tgtEl>
                                          <p:spTgt spid="358"/>
                                        </p:tgtEl>
                                      </p:cBhvr>
                                    </p:animEffect>
                                  </p:childTnLst>
                                </p:cTn>
                              </p:par>
                            </p:childTnLst>
                          </p:cTn>
                        </p:par>
                        <p:par>
                          <p:cTn id="32" fill="hold">
                            <p:stCondLst>
                              <p:cond delay="7000"/>
                            </p:stCondLst>
                            <p:childTnLst>
                              <p:par>
                                <p:cTn id="33" presetID="22" presetClass="entr" presetSubtype="4" fill="hold" nodeType="afterEffect">
                                  <p:stCondLst>
                                    <p:cond delay="0"/>
                                  </p:stCondLst>
                                  <p:childTnLst>
                                    <p:set>
                                      <p:cBhvr>
                                        <p:cTn id="34" dur="1" fill="hold">
                                          <p:stCondLst>
                                            <p:cond delay="0"/>
                                          </p:stCondLst>
                                        </p:cTn>
                                        <p:tgtEl>
                                          <p:spTgt spid="335"/>
                                        </p:tgtEl>
                                        <p:attrNameLst>
                                          <p:attrName>style.visibility</p:attrName>
                                        </p:attrNameLst>
                                      </p:cBhvr>
                                      <p:to>
                                        <p:strVal val="visible"/>
                                      </p:to>
                                    </p:set>
                                    <p:animEffect transition="in" filter="wipe(down)">
                                      <p:cBhvr>
                                        <p:cTn id="35" dur="1000"/>
                                        <p:tgtEl>
                                          <p:spTgt spid="335"/>
                                        </p:tgtEl>
                                      </p:cBhvr>
                                    </p:animEffect>
                                  </p:childTnLst>
                                </p:cTn>
                              </p:par>
                            </p:childTnLst>
                          </p:cTn>
                        </p:par>
                        <p:par>
                          <p:cTn id="36" fill="hold">
                            <p:stCondLst>
                              <p:cond delay="8000"/>
                            </p:stCondLst>
                            <p:childTnLst>
                              <p:par>
                                <p:cTn id="37" presetID="22" presetClass="entr" presetSubtype="4" fill="hold" nodeType="afterEffect">
                                  <p:stCondLst>
                                    <p:cond delay="0"/>
                                  </p:stCondLst>
                                  <p:childTnLst>
                                    <p:set>
                                      <p:cBhvr>
                                        <p:cTn id="38" dur="1" fill="hold">
                                          <p:stCondLst>
                                            <p:cond delay="0"/>
                                          </p:stCondLst>
                                        </p:cTn>
                                        <p:tgtEl>
                                          <p:spTgt spid="366"/>
                                        </p:tgtEl>
                                        <p:attrNameLst>
                                          <p:attrName>style.visibility</p:attrName>
                                        </p:attrNameLst>
                                      </p:cBhvr>
                                      <p:to>
                                        <p:strVal val="visible"/>
                                      </p:to>
                                    </p:set>
                                    <p:animEffect transition="in" filter="wipe(down)">
                                      <p:cBhvr>
                                        <p:cTn id="39" dur="1000"/>
                                        <p:tgtEl>
                                          <p:spTgt spid="366"/>
                                        </p:tgtEl>
                                      </p:cBhvr>
                                    </p:animEffect>
                                  </p:childTnLst>
                                </p:cTn>
                              </p:par>
                            </p:childTnLst>
                          </p:cTn>
                        </p:par>
                        <p:par>
                          <p:cTn id="40" fill="hold">
                            <p:stCondLst>
                              <p:cond delay="9000"/>
                            </p:stCondLst>
                            <p:childTnLst>
                              <p:par>
                                <p:cTn id="41" presetID="12" presetClass="entr" presetSubtype="4" fill="hold" grpId="0" nodeType="afterEffect">
                                  <p:stCondLst>
                                    <p:cond delay="0"/>
                                  </p:stCondLst>
                                  <p:childTnLst>
                                    <p:set>
                                      <p:cBhvr>
                                        <p:cTn id="42" dur="1" fill="hold">
                                          <p:stCondLst>
                                            <p:cond delay="0"/>
                                          </p:stCondLst>
                                        </p:cTn>
                                        <p:tgtEl>
                                          <p:spTgt spid="374"/>
                                        </p:tgtEl>
                                        <p:attrNameLst>
                                          <p:attrName>style.visibility</p:attrName>
                                        </p:attrNameLst>
                                      </p:cBhvr>
                                      <p:to>
                                        <p:strVal val="visible"/>
                                      </p:to>
                                    </p:set>
                                    <p:animEffect transition="in" filter="slide(fromBottom)">
                                      <p:cBhvr>
                                        <p:cTn id="43" dur="1000"/>
                                        <p:tgtEl>
                                          <p:spTgt spid="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 grpId="0" animBg="1"/>
      <p:bldP spid="37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
          <p:cNvGrpSpPr/>
          <p:nvPr/>
        </p:nvGrpSpPr>
        <p:grpSpPr>
          <a:xfrm>
            <a:off x="392432" y="712860"/>
            <a:ext cx="1831741" cy="420971"/>
            <a:chOff x="670560" y="892917"/>
            <a:chExt cx="1831741" cy="420971"/>
          </a:xfrm>
        </p:grpSpPr>
        <p:sp>
          <p:nvSpPr>
            <p:cNvPr id="3" name="矩形 2"/>
            <p:cNvSpPr/>
            <p:nvPr/>
          </p:nvSpPr>
          <p:spPr>
            <a:xfrm>
              <a:off x="1035233" y="913778"/>
              <a:ext cx="146706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异步计数器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8"/>
          <p:cNvSpPr>
            <a:spLocks noChangeArrowheads="1"/>
          </p:cNvSpPr>
          <p:nvPr/>
        </p:nvSpPr>
        <p:spPr bwMode="auto">
          <a:xfrm>
            <a:off x="370557" y="1198312"/>
            <a:ext cx="3623927" cy="369332"/>
          </a:xfrm>
          <a:prstGeom prst="rect">
            <a:avLst/>
          </a:prstGeom>
          <a:solidFill>
            <a:srgbClr val="FFFFFF"/>
          </a:solidFill>
          <a:ln w="9525" algn="ctr">
            <a:noFill/>
            <a:miter lim="800000"/>
          </a:ln>
        </p:spPr>
        <p:txBody>
          <a:bodyPr wrap="square" lIns="0" rIns="0">
            <a:spAutoFit/>
          </a:bodyPr>
          <a:lstStyle/>
          <a:p>
            <a:r>
              <a:rPr lang="zh-CN" altLang="en-US" b="1" dirty="0">
                <a:solidFill>
                  <a:srgbClr val="CC00CC"/>
                </a:solidFill>
                <a:latin typeface="微软雅黑" panose="020B0503020204020204" pitchFamily="34" charset="-122"/>
                <a:ea typeface="微软雅黑" panose="020B0503020204020204" pitchFamily="34" charset="-122"/>
              </a:rPr>
              <a:t>（</a:t>
            </a:r>
            <a:r>
              <a:rPr lang="en-US" altLang="zh-CN" b="1" dirty="0">
                <a:solidFill>
                  <a:srgbClr val="CC00CC"/>
                </a:solidFill>
                <a:latin typeface="微软雅黑" panose="020B0503020204020204" pitchFamily="34" charset="-122"/>
                <a:ea typeface="微软雅黑" panose="020B0503020204020204" pitchFamily="34" charset="-122"/>
              </a:rPr>
              <a:t>2</a:t>
            </a:r>
            <a:r>
              <a:rPr lang="zh-CN" altLang="en-US" b="1" dirty="0">
                <a:solidFill>
                  <a:srgbClr val="CC00CC"/>
                </a:solidFill>
                <a:latin typeface="微软雅黑" panose="020B0503020204020204" pitchFamily="34" charset="-122"/>
                <a:ea typeface="微软雅黑" panose="020B0503020204020204" pitchFamily="34" charset="-122"/>
              </a:rPr>
              <a:t>）异步二</a:t>
            </a:r>
            <a:r>
              <a:rPr lang="en-US" altLang="zh-CN" b="1" dirty="0">
                <a:solidFill>
                  <a:srgbClr val="CC00CC"/>
                </a:solidFill>
                <a:latin typeface="微软雅黑" panose="020B0503020204020204" pitchFamily="34" charset="-122"/>
                <a:ea typeface="微软雅黑" panose="020B0503020204020204" pitchFamily="34" charset="-122"/>
              </a:rPr>
              <a:t>—</a:t>
            </a:r>
            <a:r>
              <a:rPr lang="zh-CN" altLang="en-US" b="1" dirty="0">
                <a:solidFill>
                  <a:srgbClr val="CC00CC"/>
                </a:solidFill>
                <a:latin typeface="微软雅黑" panose="020B0503020204020204" pitchFamily="34" charset="-122"/>
                <a:ea typeface="微软雅黑" panose="020B0503020204020204" pitchFamily="34" charset="-122"/>
              </a:rPr>
              <a:t>十进制计数器</a:t>
            </a:r>
            <a:endParaRPr lang="zh-CN" altLang="en-US" b="1" dirty="0">
              <a:solidFill>
                <a:srgbClr val="CC00CC"/>
              </a:solidFill>
              <a:latin typeface="微软雅黑" panose="020B0503020204020204" pitchFamily="34" charset="-122"/>
              <a:ea typeface="微软雅黑" panose="020B0503020204020204" pitchFamily="34" charset="-122"/>
            </a:endParaRPr>
          </a:p>
        </p:txBody>
      </p:sp>
      <p:graphicFrame>
        <p:nvGraphicFramePr>
          <p:cNvPr id="8" name="对象 7"/>
          <p:cNvGraphicFramePr>
            <a:graphicFrameLocks noChangeAspect="1"/>
          </p:cNvGraphicFramePr>
          <p:nvPr/>
        </p:nvGraphicFramePr>
        <p:xfrm>
          <a:off x="1165601" y="2076601"/>
          <a:ext cx="6409366" cy="2188564"/>
        </p:xfrm>
        <a:graphic>
          <a:graphicData uri="http://schemas.openxmlformats.org/presentationml/2006/ole">
            <mc:AlternateContent xmlns:mc="http://schemas.openxmlformats.org/markup-compatibility/2006">
              <mc:Choice xmlns:v="urn:schemas-microsoft-com:vml" Requires="v">
                <p:oleObj spid="_x0000_s31754" name="Visio" r:id="rId2" imgW="4238625" imgH="1457325" progId="Visio.Drawing.11">
                  <p:embed/>
                </p:oleObj>
              </mc:Choice>
              <mc:Fallback>
                <p:oleObj name="Visio" r:id="rId2" imgW="4238625" imgH="1457325" progId="Visio.Drawing.11">
                  <p:embed/>
                  <p:pic>
                    <p:nvPicPr>
                      <p:cNvPr id="0" name="对象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5601" y="2076601"/>
                        <a:ext cx="6409366" cy="21885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五边形 8"/>
          <p:cNvSpPr/>
          <p:nvPr/>
        </p:nvSpPr>
        <p:spPr>
          <a:xfrm>
            <a:off x="1068799" y="2599325"/>
            <a:ext cx="562039" cy="484632"/>
          </a:xfrm>
          <a:prstGeom prst="homePlate">
            <a:avLst/>
          </a:prstGeom>
          <a:solidFill>
            <a:schemeClr val="accent1">
              <a:alpha val="3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五边形 46"/>
          <p:cNvSpPr/>
          <p:nvPr/>
        </p:nvSpPr>
        <p:spPr>
          <a:xfrm rot="5400000">
            <a:off x="3012292" y="4051130"/>
            <a:ext cx="562039" cy="484632"/>
          </a:xfrm>
          <a:prstGeom prst="homePlate">
            <a:avLst/>
          </a:prstGeom>
          <a:solidFill>
            <a:schemeClr val="accent1">
              <a:alpha val="3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2675855" y="4602746"/>
            <a:ext cx="1234911" cy="6574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二进制计数器</a:t>
            </a:r>
            <a:endParaRPr lang="zh-CN" altLang="en-US" dirty="0">
              <a:latin typeface="微软雅黑" panose="020B0503020204020204" pitchFamily="34" charset="-122"/>
              <a:ea typeface="微软雅黑" panose="020B0503020204020204" pitchFamily="34" charset="-122"/>
            </a:endParaRPr>
          </a:p>
        </p:txBody>
      </p:sp>
      <p:sp>
        <p:nvSpPr>
          <p:cNvPr id="49" name="五边形 48"/>
          <p:cNvSpPr/>
          <p:nvPr/>
        </p:nvSpPr>
        <p:spPr>
          <a:xfrm rot="5400000">
            <a:off x="5718769" y="2817781"/>
            <a:ext cx="562039" cy="3007894"/>
          </a:xfrm>
          <a:prstGeom prst="homePlate">
            <a:avLst/>
          </a:prstGeom>
          <a:solidFill>
            <a:srgbClr val="FF0000">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圆角矩形 49"/>
          <p:cNvSpPr/>
          <p:nvPr/>
        </p:nvSpPr>
        <p:spPr>
          <a:xfrm>
            <a:off x="5391759" y="4621599"/>
            <a:ext cx="1234911" cy="6574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五进制计数器</a:t>
            </a:r>
            <a:endParaRPr lang="zh-CN" altLang="en-US" dirty="0">
              <a:latin typeface="微软雅黑" panose="020B0503020204020204" pitchFamily="34" charset="-122"/>
              <a:ea typeface="微软雅黑" panose="020B0503020204020204" pitchFamily="34" charset="-122"/>
            </a:endParaRPr>
          </a:p>
        </p:txBody>
      </p:sp>
      <p:sp>
        <p:nvSpPr>
          <p:cNvPr id="51" name="五边形 50"/>
          <p:cNvSpPr/>
          <p:nvPr/>
        </p:nvSpPr>
        <p:spPr>
          <a:xfrm>
            <a:off x="1068798" y="1991346"/>
            <a:ext cx="562039" cy="484632"/>
          </a:xfrm>
          <a:prstGeom prst="homePlate">
            <a:avLst/>
          </a:prstGeom>
          <a:solidFill>
            <a:srgbClr val="FF0000">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533849" y="3996037"/>
            <a:ext cx="1556931" cy="1264119"/>
            <a:chOff x="441550" y="3873488"/>
            <a:chExt cx="1556931" cy="1264119"/>
          </a:xfrm>
        </p:grpSpPr>
        <p:sp>
          <p:nvSpPr>
            <p:cNvPr id="17" name="剪去对角的矩形 16"/>
            <p:cNvSpPr/>
            <p:nvPr/>
          </p:nvSpPr>
          <p:spPr>
            <a:xfrm>
              <a:off x="441550" y="3873488"/>
              <a:ext cx="1556931" cy="1264119"/>
            </a:xfrm>
            <a:prstGeom prst="snip2Diag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4" name="组合 53"/>
            <p:cNvGrpSpPr/>
            <p:nvPr/>
          </p:nvGrpSpPr>
          <p:grpSpPr>
            <a:xfrm>
              <a:off x="563882" y="4050189"/>
              <a:ext cx="1284523" cy="805580"/>
              <a:chOff x="5194440" y="1560632"/>
              <a:chExt cx="1699364" cy="805580"/>
            </a:xfrm>
          </p:grpSpPr>
          <p:grpSp>
            <p:nvGrpSpPr>
              <p:cNvPr id="58" name="组合 57"/>
              <p:cNvGrpSpPr/>
              <p:nvPr/>
            </p:nvGrpSpPr>
            <p:grpSpPr>
              <a:xfrm>
                <a:off x="5194440" y="1560632"/>
                <a:ext cx="785919" cy="328864"/>
                <a:chOff x="5865941" y="1238371"/>
                <a:chExt cx="2135627" cy="428625"/>
              </a:xfrm>
            </p:grpSpPr>
            <p:sp>
              <p:nvSpPr>
                <p:cNvPr id="74" name="椭圆 73"/>
                <p:cNvSpPr/>
                <p:nvPr/>
              </p:nvSpPr>
              <p:spPr>
                <a:xfrm>
                  <a:off x="5865941" y="1238371"/>
                  <a:ext cx="1089216" cy="428625"/>
                </a:xfrm>
                <a:prstGeom prst="ellipse">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1400" b="1" i="1" dirty="0">
                      <a:solidFill>
                        <a:schemeClr val="tx1"/>
                      </a:solidFill>
                      <a:latin typeface="Times New Roman" panose="02020603050405020304" pitchFamily="18" charset="0"/>
                      <a:cs typeface="Times New Roman" panose="02020603050405020304" pitchFamily="18" charset="0"/>
                    </a:rPr>
                    <a:t>Q</a:t>
                  </a:r>
                  <a:r>
                    <a:rPr lang="en-US" altLang="zh-CN" sz="1400" b="1" baseline="-25000" dirty="0">
                      <a:solidFill>
                        <a:schemeClr val="tx1"/>
                      </a:solidFill>
                      <a:latin typeface="Times New Roman" panose="02020603050405020304" pitchFamily="18" charset="0"/>
                      <a:cs typeface="Times New Roman" panose="02020603050405020304" pitchFamily="18" charset="0"/>
                    </a:rPr>
                    <a:t>0</a:t>
                  </a:r>
                  <a:endParaRPr lang="zh-CN" altLang="en-US" sz="14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75" name="直接箭头连接符 74"/>
                <p:cNvCxnSpPr/>
                <p:nvPr/>
              </p:nvCxnSpPr>
              <p:spPr>
                <a:xfrm flipV="1">
                  <a:off x="6967919" y="1457910"/>
                  <a:ext cx="1033649" cy="0"/>
                </a:xfrm>
                <a:prstGeom prst="straightConnector1">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a:xfrm>
                <a:off x="5590818" y="2037348"/>
                <a:ext cx="1302986" cy="328864"/>
                <a:chOff x="5586808" y="1989222"/>
                <a:chExt cx="1302986" cy="328864"/>
              </a:xfrm>
            </p:grpSpPr>
            <p:grpSp>
              <p:nvGrpSpPr>
                <p:cNvPr id="64" name="组合 63"/>
                <p:cNvGrpSpPr/>
                <p:nvPr/>
              </p:nvGrpSpPr>
              <p:grpSpPr>
                <a:xfrm>
                  <a:off x="5586808" y="1989222"/>
                  <a:ext cx="931448" cy="328864"/>
                  <a:chOff x="4578161" y="1619250"/>
                  <a:chExt cx="2531087" cy="428625"/>
                </a:xfrm>
              </p:grpSpPr>
              <p:sp>
                <p:nvSpPr>
                  <p:cNvPr id="72" name="椭圆 71"/>
                  <p:cNvSpPr/>
                  <p:nvPr/>
                </p:nvSpPr>
                <p:spPr>
                  <a:xfrm>
                    <a:off x="4578161" y="1619250"/>
                    <a:ext cx="1089214" cy="428625"/>
                  </a:xfrm>
                  <a:prstGeom prst="ellipse">
                    <a:avLst/>
                  </a:prstGeom>
                  <a:solidFill>
                    <a:srgbClr val="66FF66"/>
                  </a:solid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sz="1600" b="1" dirty="0">
                        <a:solidFill>
                          <a:schemeClr val="tx1"/>
                        </a:solidFill>
                        <a:latin typeface="Times New Roman" panose="02020603050405020304" pitchFamily="18" charset="0"/>
                        <a:cs typeface="Times New Roman" panose="02020603050405020304" pitchFamily="18" charset="0"/>
                      </a:rPr>
                      <a:t>0</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73" name="直接箭头连接符 72"/>
                  <p:cNvCxnSpPr/>
                  <p:nvPr/>
                </p:nvCxnSpPr>
                <p:spPr>
                  <a:xfrm>
                    <a:off x="5680135" y="1716932"/>
                    <a:ext cx="1429113" cy="0"/>
                  </a:xfrm>
                  <a:prstGeom prst="straightConnector1">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69" name="组合 68"/>
                <p:cNvGrpSpPr/>
                <p:nvPr/>
              </p:nvGrpSpPr>
              <p:grpSpPr>
                <a:xfrm flipH="1">
                  <a:off x="5951769" y="1989222"/>
                  <a:ext cx="938025" cy="328864"/>
                  <a:chOff x="6104679" y="1598343"/>
                  <a:chExt cx="2548959" cy="428625"/>
                </a:xfrm>
              </p:grpSpPr>
              <p:sp>
                <p:nvSpPr>
                  <p:cNvPr id="70" name="椭圆 69"/>
                  <p:cNvSpPr/>
                  <p:nvPr/>
                </p:nvSpPr>
                <p:spPr>
                  <a:xfrm>
                    <a:off x="6104679" y="1598343"/>
                    <a:ext cx="1089215" cy="428625"/>
                  </a:xfrm>
                  <a:prstGeom prst="ellipse">
                    <a:avLst/>
                  </a:prstGeom>
                  <a:solidFill>
                    <a:srgbClr val="FF66FF"/>
                  </a:solid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sz="1600" b="1" dirty="0">
                        <a:solidFill>
                          <a:schemeClr val="tx1"/>
                        </a:solidFill>
                        <a:latin typeface="Times New Roman" panose="02020603050405020304" pitchFamily="18" charset="0"/>
                        <a:cs typeface="Times New Roman" panose="02020603050405020304" pitchFamily="18" charset="0"/>
                      </a:rPr>
                      <a:t>1</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71" name="直接箭头连接符 70"/>
                  <p:cNvCxnSpPr/>
                  <p:nvPr/>
                </p:nvCxnSpPr>
                <p:spPr>
                  <a:xfrm flipV="1">
                    <a:off x="7109246" y="1959027"/>
                    <a:ext cx="1544392" cy="4182"/>
                  </a:xfrm>
                  <a:prstGeom prst="straightConnector1">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grpSp>
      </p:grpSp>
      <p:grpSp>
        <p:nvGrpSpPr>
          <p:cNvPr id="6" name="组合 5"/>
          <p:cNvGrpSpPr/>
          <p:nvPr/>
        </p:nvGrpSpPr>
        <p:grpSpPr>
          <a:xfrm>
            <a:off x="5845412" y="662300"/>
            <a:ext cx="3081772" cy="1496438"/>
            <a:chOff x="5845412" y="662300"/>
            <a:chExt cx="3081772" cy="1496438"/>
          </a:xfrm>
        </p:grpSpPr>
        <p:sp>
          <p:nvSpPr>
            <p:cNvPr id="92" name="剪去对角的矩形 91"/>
            <p:cNvSpPr/>
            <p:nvPr/>
          </p:nvSpPr>
          <p:spPr>
            <a:xfrm>
              <a:off x="5845412" y="662300"/>
              <a:ext cx="3081772" cy="1496438"/>
            </a:xfrm>
            <a:prstGeom prst="snip2Diag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6" name="组合 75"/>
            <p:cNvGrpSpPr/>
            <p:nvPr/>
          </p:nvGrpSpPr>
          <p:grpSpPr>
            <a:xfrm>
              <a:off x="6083742" y="699369"/>
              <a:ext cx="2702040" cy="1367217"/>
              <a:chOff x="4720534" y="3469104"/>
              <a:chExt cx="2999735" cy="1491916"/>
            </a:xfrm>
          </p:grpSpPr>
          <p:grpSp>
            <p:nvGrpSpPr>
              <p:cNvPr id="77" name="组合 76"/>
              <p:cNvGrpSpPr/>
              <p:nvPr/>
            </p:nvGrpSpPr>
            <p:grpSpPr>
              <a:xfrm>
                <a:off x="4720534" y="3469104"/>
                <a:ext cx="1110771" cy="348917"/>
                <a:chOff x="4578161" y="1619250"/>
                <a:chExt cx="1688806" cy="428625"/>
              </a:xfrm>
            </p:grpSpPr>
            <p:sp>
              <p:nvSpPr>
                <p:cNvPr id="90" name="椭圆 89"/>
                <p:cNvSpPr/>
                <p:nvPr/>
              </p:nvSpPr>
              <p:spPr>
                <a:xfrm>
                  <a:off x="4578161" y="1619250"/>
                  <a:ext cx="1089214" cy="428625"/>
                </a:xfrm>
                <a:prstGeom prst="ellipse">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1400" b="1" i="1" dirty="0">
                      <a:solidFill>
                        <a:schemeClr val="tx1"/>
                      </a:solidFill>
                      <a:latin typeface="Times New Roman" panose="02020603050405020304" pitchFamily="18" charset="0"/>
                      <a:cs typeface="Times New Roman" panose="02020603050405020304" pitchFamily="18" charset="0"/>
                    </a:rPr>
                    <a:t>Q</a:t>
                  </a:r>
                  <a:r>
                    <a:rPr lang="en-US" altLang="zh-CN" sz="1400" b="1" baseline="-25000" dirty="0">
                      <a:solidFill>
                        <a:schemeClr val="tx1"/>
                      </a:solidFill>
                      <a:latin typeface="Times New Roman" panose="02020603050405020304" pitchFamily="18" charset="0"/>
                      <a:cs typeface="Times New Roman" panose="02020603050405020304" pitchFamily="18" charset="0"/>
                    </a:rPr>
                    <a:t>3</a:t>
                  </a:r>
                  <a:r>
                    <a:rPr lang="en-US" altLang="zh-CN" sz="1400" b="1" i="1" dirty="0">
                      <a:solidFill>
                        <a:schemeClr val="tx1"/>
                      </a:solidFill>
                      <a:latin typeface="Times New Roman" panose="02020603050405020304" pitchFamily="18" charset="0"/>
                      <a:cs typeface="Times New Roman" panose="02020603050405020304" pitchFamily="18" charset="0"/>
                    </a:rPr>
                    <a:t>Q</a:t>
                  </a:r>
                  <a:r>
                    <a:rPr lang="en-US" altLang="zh-CN" sz="1400" b="1" baseline="-25000" dirty="0">
                      <a:solidFill>
                        <a:schemeClr val="tx1"/>
                      </a:solidFill>
                      <a:latin typeface="Times New Roman" panose="02020603050405020304" pitchFamily="18" charset="0"/>
                      <a:cs typeface="Times New Roman" panose="02020603050405020304" pitchFamily="18" charset="0"/>
                    </a:rPr>
                    <a:t>2</a:t>
                  </a:r>
                  <a:r>
                    <a:rPr lang="en-US" altLang="zh-CN" sz="1400" b="1" i="1" dirty="0">
                      <a:solidFill>
                        <a:schemeClr val="tx1"/>
                      </a:solidFill>
                      <a:latin typeface="Times New Roman" panose="02020603050405020304" pitchFamily="18" charset="0"/>
                      <a:cs typeface="Times New Roman" panose="02020603050405020304" pitchFamily="18" charset="0"/>
                    </a:rPr>
                    <a:t>Q</a:t>
                  </a:r>
                  <a:r>
                    <a:rPr lang="en-US" altLang="zh-CN" sz="1400" b="1" baseline="-25000" dirty="0">
                      <a:solidFill>
                        <a:schemeClr val="tx1"/>
                      </a:solidFill>
                      <a:latin typeface="Times New Roman" panose="02020603050405020304" pitchFamily="18" charset="0"/>
                      <a:cs typeface="Times New Roman" panose="02020603050405020304" pitchFamily="18" charset="0"/>
                    </a:rPr>
                    <a:t>1</a:t>
                  </a:r>
                  <a:endParaRPr lang="zh-CN" altLang="en-US" sz="14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91" name="直接箭头连接符 90"/>
                <p:cNvCxnSpPr/>
                <p:nvPr/>
              </p:nvCxnSpPr>
              <p:spPr>
                <a:xfrm flipV="1">
                  <a:off x="5680136" y="1842398"/>
                  <a:ext cx="586831" cy="0"/>
                </a:xfrm>
                <a:prstGeom prst="straightConnector1">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78" name="组合 33"/>
              <p:cNvGrpSpPr/>
              <p:nvPr/>
            </p:nvGrpSpPr>
            <p:grpSpPr>
              <a:xfrm>
                <a:off x="4844722" y="3966409"/>
                <a:ext cx="1134361" cy="328864"/>
                <a:chOff x="4578164" y="1619250"/>
                <a:chExt cx="2597545" cy="428625"/>
              </a:xfrm>
            </p:grpSpPr>
            <p:sp>
              <p:nvSpPr>
                <p:cNvPr id="88" name="椭圆 87"/>
                <p:cNvSpPr/>
                <p:nvPr/>
              </p:nvSpPr>
              <p:spPr>
                <a:xfrm>
                  <a:off x="4578164" y="1619250"/>
                  <a:ext cx="1313254" cy="428625"/>
                </a:xfrm>
                <a:prstGeom prst="ellipse">
                  <a:avLst/>
                </a:prstGeom>
                <a:solidFill>
                  <a:srgbClr val="FF66FF"/>
                </a:solid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sz="1600" b="1" dirty="0">
                      <a:solidFill>
                        <a:schemeClr val="tx1"/>
                      </a:solidFill>
                      <a:latin typeface="Times New Roman" panose="02020603050405020304" pitchFamily="18" charset="0"/>
                      <a:cs typeface="Times New Roman" panose="02020603050405020304" pitchFamily="18" charset="0"/>
                    </a:rPr>
                    <a:t>000</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89" name="直接箭头连接符 88"/>
                <p:cNvCxnSpPr/>
                <p:nvPr/>
              </p:nvCxnSpPr>
              <p:spPr>
                <a:xfrm>
                  <a:off x="5903979" y="1842381"/>
                  <a:ext cx="1271730" cy="1617"/>
                </a:xfrm>
                <a:prstGeom prst="straightConnector1">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79" name="组合 33"/>
              <p:cNvGrpSpPr/>
              <p:nvPr/>
            </p:nvGrpSpPr>
            <p:grpSpPr>
              <a:xfrm>
                <a:off x="5983712" y="3966409"/>
                <a:ext cx="1134361" cy="328864"/>
                <a:chOff x="4578164" y="1619250"/>
                <a:chExt cx="2597545" cy="428625"/>
              </a:xfrm>
            </p:grpSpPr>
            <p:sp>
              <p:nvSpPr>
                <p:cNvPr id="86" name="椭圆 85"/>
                <p:cNvSpPr/>
                <p:nvPr/>
              </p:nvSpPr>
              <p:spPr>
                <a:xfrm>
                  <a:off x="4578164" y="1619250"/>
                  <a:ext cx="1313254" cy="428625"/>
                </a:xfrm>
                <a:prstGeom prst="ellipse">
                  <a:avLst/>
                </a:prstGeom>
                <a:solidFill>
                  <a:srgbClr val="FF66FF"/>
                </a:solid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sz="1600" b="1" dirty="0">
                      <a:solidFill>
                        <a:schemeClr val="tx1"/>
                      </a:solidFill>
                      <a:latin typeface="Times New Roman" panose="02020603050405020304" pitchFamily="18" charset="0"/>
                      <a:cs typeface="Times New Roman" panose="02020603050405020304" pitchFamily="18" charset="0"/>
                    </a:rPr>
                    <a:t>001</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87" name="直接箭头连接符 86"/>
                <p:cNvCxnSpPr/>
                <p:nvPr/>
              </p:nvCxnSpPr>
              <p:spPr>
                <a:xfrm>
                  <a:off x="5903979" y="1842381"/>
                  <a:ext cx="1271730" cy="1617"/>
                </a:xfrm>
                <a:prstGeom prst="straightConnector1">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80" name="椭圆 79"/>
              <p:cNvSpPr/>
              <p:nvPr/>
            </p:nvSpPr>
            <p:spPr>
              <a:xfrm>
                <a:off x="7146764" y="3970419"/>
                <a:ext cx="573505" cy="328864"/>
              </a:xfrm>
              <a:prstGeom prst="ellipse">
                <a:avLst/>
              </a:prstGeom>
              <a:solidFill>
                <a:srgbClr val="FF66FF"/>
              </a:solid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sz="1600" b="1" dirty="0">
                    <a:solidFill>
                      <a:schemeClr val="tx1"/>
                    </a:solidFill>
                    <a:latin typeface="Times New Roman" panose="02020603050405020304" pitchFamily="18" charset="0"/>
                    <a:cs typeface="Times New Roman" panose="02020603050405020304" pitchFamily="18" charset="0"/>
                  </a:rPr>
                  <a:t>010</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81" name="直接箭头连接符 80"/>
              <p:cNvCxnSpPr/>
              <p:nvPr/>
            </p:nvCxnSpPr>
            <p:spPr>
              <a:xfrm flipH="1">
                <a:off x="7006390" y="4314070"/>
                <a:ext cx="362428" cy="346162"/>
              </a:xfrm>
              <a:prstGeom prst="straightConnector1">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82" name="椭圆 81"/>
              <p:cNvSpPr/>
              <p:nvPr/>
            </p:nvSpPr>
            <p:spPr>
              <a:xfrm>
                <a:off x="6593311" y="4632156"/>
                <a:ext cx="573505" cy="328864"/>
              </a:xfrm>
              <a:prstGeom prst="ellipse">
                <a:avLst/>
              </a:prstGeom>
              <a:solidFill>
                <a:srgbClr val="FF66FF"/>
              </a:solid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sz="1600" b="1" dirty="0">
                    <a:solidFill>
                      <a:schemeClr val="tx1"/>
                    </a:solidFill>
                    <a:latin typeface="Times New Roman" panose="02020603050405020304" pitchFamily="18" charset="0"/>
                    <a:cs typeface="Times New Roman" panose="02020603050405020304" pitchFamily="18" charset="0"/>
                  </a:rPr>
                  <a:t>011</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sp>
            <p:nvSpPr>
              <p:cNvPr id="83" name="椭圆 82"/>
              <p:cNvSpPr/>
              <p:nvPr/>
            </p:nvSpPr>
            <p:spPr>
              <a:xfrm>
                <a:off x="5442290" y="4632156"/>
                <a:ext cx="573505" cy="328864"/>
              </a:xfrm>
              <a:prstGeom prst="ellipse">
                <a:avLst/>
              </a:prstGeom>
              <a:solidFill>
                <a:srgbClr val="FF66FF"/>
              </a:solid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sz="1600" b="1" dirty="0">
                    <a:solidFill>
                      <a:schemeClr val="tx1"/>
                    </a:solidFill>
                    <a:latin typeface="Times New Roman" panose="02020603050405020304" pitchFamily="18" charset="0"/>
                    <a:cs typeface="Times New Roman" panose="02020603050405020304" pitchFamily="18" charset="0"/>
                  </a:rPr>
                  <a:t>100</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84" name="直接箭头连接符 83"/>
              <p:cNvCxnSpPr/>
              <p:nvPr/>
            </p:nvCxnSpPr>
            <p:spPr>
              <a:xfrm flipH="1" flipV="1">
                <a:off x="5225717" y="4298028"/>
                <a:ext cx="362428" cy="346162"/>
              </a:xfrm>
              <a:prstGeom prst="straightConnector1">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a:xfrm flipH="1">
                <a:off x="6029302" y="4791323"/>
                <a:ext cx="555371" cy="1241"/>
              </a:xfrm>
              <a:prstGeom prst="straightConnector1">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mc:AlternateContent xmlns:mc="http://schemas.openxmlformats.org/markup-compatibility/2006">
    <mc:Choice xmlns:p14="http://schemas.microsoft.com/office/powerpoint/2010/main" Requires="p14">
      <p:transition spd="slow" p14:dur="1600">
        <p14:prism dir="r"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p:tgtEl>
                                          <p:spTgt spid="9"/>
                                        </p:tgtEl>
                                        <p:attrNameLst>
                                          <p:attrName>ppt_x</p:attrName>
                                        </p:attrNameLst>
                                      </p:cBhvr>
                                      <p:tavLst>
                                        <p:tav tm="0">
                                          <p:val>
                                            <p:strVal val="#ppt_x-#ppt_w*1.125000"/>
                                          </p:val>
                                        </p:tav>
                                        <p:tav tm="100000">
                                          <p:val>
                                            <p:strVal val="#ppt_x"/>
                                          </p:val>
                                        </p:tav>
                                      </p:tavLst>
                                    </p:anim>
                                    <p:animEffect transition="in" filter="wipe(right)">
                                      <p:cBhvr>
                                        <p:cTn id="8" dur="1000"/>
                                        <p:tgtEl>
                                          <p:spTgt spid="9"/>
                                        </p:tgtEl>
                                      </p:cBhvr>
                                    </p:animEffect>
                                  </p:childTnLst>
                                </p:cTn>
                              </p:par>
                            </p:childTnLst>
                          </p:cTn>
                        </p:par>
                        <p:par>
                          <p:cTn id="9" fill="hold">
                            <p:stCondLst>
                              <p:cond delay="1000"/>
                            </p:stCondLst>
                            <p:childTnLst>
                              <p:par>
                                <p:cTn id="10" presetID="12" presetClass="entr" presetSubtype="1" fill="hold" grpId="0" nodeType="after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additive="base">
                                        <p:cTn id="12" dur="1000"/>
                                        <p:tgtEl>
                                          <p:spTgt spid="47"/>
                                        </p:tgtEl>
                                        <p:attrNameLst>
                                          <p:attrName>ppt_y</p:attrName>
                                        </p:attrNameLst>
                                      </p:cBhvr>
                                      <p:tavLst>
                                        <p:tav tm="0">
                                          <p:val>
                                            <p:strVal val="#ppt_y-#ppt_h*1.125000"/>
                                          </p:val>
                                        </p:tav>
                                        <p:tav tm="100000">
                                          <p:val>
                                            <p:strVal val="#ppt_y"/>
                                          </p:val>
                                        </p:tav>
                                      </p:tavLst>
                                    </p:anim>
                                    <p:animEffect transition="in" filter="wipe(down)">
                                      <p:cBhvr>
                                        <p:cTn id="13" dur="1000"/>
                                        <p:tgtEl>
                                          <p:spTgt spid="47"/>
                                        </p:tgtEl>
                                      </p:cBhvr>
                                    </p:animEffect>
                                  </p:childTnLst>
                                </p:cTn>
                              </p:par>
                            </p:childTnLst>
                          </p:cTn>
                        </p:par>
                        <p:par>
                          <p:cTn id="14" fill="hold">
                            <p:stCondLst>
                              <p:cond delay="2000"/>
                            </p:stCondLst>
                            <p:childTnLst>
                              <p:par>
                                <p:cTn id="15" presetID="12" presetClass="entr" presetSubtype="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1000"/>
                                        <p:tgtEl>
                                          <p:spTgt spid="10"/>
                                        </p:tgtEl>
                                        <p:attrNameLst>
                                          <p:attrName>ppt_y</p:attrName>
                                        </p:attrNameLst>
                                      </p:cBhvr>
                                      <p:tavLst>
                                        <p:tav tm="0">
                                          <p:val>
                                            <p:strVal val="#ppt_y-#ppt_h*1.125000"/>
                                          </p:val>
                                        </p:tav>
                                        <p:tav tm="100000">
                                          <p:val>
                                            <p:strVal val="#ppt_y"/>
                                          </p:val>
                                        </p:tav>
                                      </p:tavLst>
                                    </p:anim>
                                    <p:animEffect transition="in" filter="wipe(down)">
                                      <p:cBhvr>
                                        <p:cTn id="18" dur="1000"/>
                                        <p:tgtEl>
                                          <p:spTgt spid="10"/>
                                        </p:tgtEl>
                                      </p:cBhvr>
                                    </p:animEffect>
                                  </p:childTnLst>
                                </p:cTn>
                              </p:par>
                            </p:childTnLst>
                          </p:cTn>
                        </p:par>
                        <p:par>
                          <p:cTn id="19" fill="hold">
                            <p:stCondLst>
                              <p:cond delay="3000"/>
                            </p:stCondLst>
                            <p:childTnLst>
                              <p:par>
                                <p:cTn id="20" presetID="42" presetClass="entr" presetSubtype="0" fill="hold" nodeType="after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1000"/>
                                        <p:tgtEl>
                                          <p:spTgt spid="22"/>
                                        </p:tgtEl>
                                      </p:cBhvr>
                                    </p:animEffect>
                                    <p:anim calcmode="lin" valueType="num">
                                      <p:cBhvr>
                                        <p:cTn id="23" dur="1000" fill="hold"/>
                                        <p:tgtEl>
                                          <p:spTgt spid="22"/>
                                        </p:tgtEl>
                                        <p:attrNameLst>
                                          <p:attrName>ppt_x</p:attrName>
                                        </p:attrNameLst>
                                      </p:cBhvr>
                                      <p:tavLst>
                                        <p:tav tm="0">
                                          <p:val>
                                            <p:strVal val="#ppt_x"/>
                                          </p:val>
                                        </p:tav>
                                        <p:tav tm="100000">
                                          <p:val>
                                            <p:strVal val="#ppt_x"/>
                                          </p:val>
                                        </p:tav>
                                      </p:tavLst>
                                    </p:anim>
                                    <p:anim calcmode="lin" valueType="num">
                                      <p:cBhvr>
                                        <p:cTn id="2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grpId="0" nodeType="clickEffect">
                                  <p:stCondLst>
                                    <p:cond delay="0"/>
                                  </p:stCondLst>
                                  <p:childTnLst>
                                    <p:set>
                                      <p:cBhvr>
                                        <p:cTn id="28" dur="1" fill="hold">
                                          <p:stCondLst>
                                            <p:cond delay="0"/>
                                          </p:stCondLst>
                                        </p:cTn>
                                        <p:tgtEl>
                                          <p:spTgt spid="51"/>
                                        </p:tgtEl>
                                        <p:attrNameLst>
                                          <p:attrName>style.visibility</p:attrName>
                                        </p:attrNameLst>
                                      </p:cBhvr>
                                      <p:to>
                                        <p:strVal val="visible"/>
                                      </p:to>
                                    </p:set>
                                    <p:anim calcmode="lin" valueType="num">
                                      <p:cBhvr additive="base">
                                        <p:cTn id="29" dur="1000"/>
                                        <p:tgtEl>
                                          <p:spTgt spid="51"/>
                                        </p:tgtEl>
                                        <p:attrNameLst>
                                          <p:attrName>ppt_x</p:attrName>
                                        </p:attrNameLst>
                                      </p:cBhvr>
                                      <p:tavLst>
                                        <p:tav tm="0">
                                          <p:val>
                                            <p:strVal val="#ppt_x-#ppt_w*1.125000"/>
                                          </p:val>
                                        </p:tav>
                                        <p:tav tm="100000">
                                          <p:val>
                                            <p:strVal val="#ppt_x"/>
                                          </p:val>
                                        </p:tav>
                                      </p:tavLst>
                                    </p:anim>
                                    <p:animEffect transition="in" filter="wipe(right)">
                                      <p:cBhvr>
                                        <p:cTn id="30" dur="1000"/>
                                        <p:tgtEl>
                                          <p:spTgt spid="51"/>
                                        </p:tgtEl>
                                      </p:cBhvr>
                                    </p:animEffect>
                                  </p:childTnLst>
                                </p:cTn>
                              </p:par>
                            </p:childTnLst>
                          </p:cTn>
                        </p:par>
                        <p:par>
                          <p:cTn id="31" fill="hold">
                            <p:stCondLst>
                              <p:cond delay="1000"/>
                            </p:stCondLst>
                            <p:childTnLst>
                              <p:par>
                                <p:cTn id="32" presetID="12" presetClass="entr" presetSubtype="1" fill="hold" grpId="0" nodeType="afterEffect">
                                  <p:stCondLst>
                                    <p:cond delay="0"/>
                                  </p:stCondLst>
                                  <p:childTnLst>
                                    <p:set>
                                      <p:cBhvr>
                                        <p:cTn id="33" dur="1" fill="hold">
                                          <p:stCondLst>
                                            <p:cond delay="0"/>
                                          </p:stCondLst>
                                        </p:cTn>
                                        <p:tgtEl>
                                          <p:spTgt spid="49"/>
                                        </p:tgtEl>
                                        <p:attrNameLst>
                                          <p:attrName>style.visibility</p:attrName>
                                        </p:attrNameLst>
                                      </p:cBhvr>
                                      <p:to>
                                        <p:strVal val="visible"/>
                                      </p:to>
                                    </p:set>
                                    <p:anim calcmode="lin" valueType="num">
                                      <p:cBhvr additive="base">
                                        <p:cTn id="34" dur="1000"/>
                                        <p:tgtEl>
                                          <p:spTgt spid="49"/>
                                        </p:tgtEl>
                                        <p:attrNameLst>
                                          <p:attrName>ppt_y</p:attrName>
                                        </p:attrNameLst>
                                      </p:cBhvr>
                                      <p:tavLst>
                                        <p:tav tm="0">
                                          <p:val>
                                            <p:strVal val="#ppt_y-#ppt_h*1.125000"/>
                                          </p:val>
                                        </p:tav>
                                        <p:tav tm="100000">
                                          <p:val>
                                            <p:strVal val="#ppt_y"/>
                                          </p:val>
                                        </p:tav>
                                      </p:tavLst>
                                    </p:anim>
                                    <p:animEffect transition="in" filter="wipe(down)">
                                      <p:cBhvr>
                                        <p:cTn id="35" dur="1000"/>
                                        <p:tgtEl>
                                          <p:spTgt spid="49"/>
                                        </p:tgtEl>
                                      </p:cBhvr>
                                    </p:animEffect>
                                  </p:childTnLst>
                                </p:cTn>
                              </p:par>
                            </p:childTnLst>
                          </p:cTn>
                        </p:par>
                        <p:par>
                          <p:cTn id="36" fill="hold">
                            <p:stCondLst>
                              <p:cond delay="2000"/>
                            </p:stCondLst>
                            <p:childTnLst>
                              <p:par>
                                <p:cTn id="37" presetID="12" presetClass="entr" presetSubtype="1" fill="hold" grpId="0" nodeType="afterEffect">
                                  <p:stCondLst>
                                    <p:cond delay="0"/>
                                  </p:stCondLst>
                                  <p:childTnLst>
                                    <p:set>
                                      <p:cBhvr>
                                        <p:cTn id="38" dur="1" fill="hold">
                                          <p:stCondLst>
                                            <p:cond delay="0"/>
                                          </p:stCondLst>
                                        </p:cTn>
                                        <p:tgtEl>
                                          <p:spTgt spid="50"/>
                                        </p:tgtEl>
                                        <p:attrNameLst>
                                          <p:attrName>style.visibility</p:attrName>
                                        </p:attrNameLst>
                                      </p:cBhvr>
                                      <p:to>
                                        <p:strVal val="visible"/>
                                      </p:to>
                                    </p:set>
                                    <p:anim calcmode="lin" valueType="num">
                                      <p:cBhvr additive="base">
                                        <p:cTn id="39" dur="1000"/>
                                        <p:tgtEl>
                                          <p:spTgt spid="50"/>
                                        </p:tgtEl>
                                        <p:attrNameLst>
                                          <p:attrName>ppt_y</p:attrName>
                                        </p:attrNameLst>
                                      </p:cBhvr>
                                      <p:tavLst>
                                        <p:tav tm="0">
                                          <p:val>
                                            <p:strVal val="#ppt_y-#ppt_h*1.125000"/>
                                          </p:val>
                                        </p:tav>
                                        <p:tav tm="100000">
                                          <p:val>
                                            <p:strVal val="#ppt_y"/>
                                          </p:val>
                                        </p:tav>
                                      </p:tavLst>
                                    </p:anim>
                                    <p:animEffect transition="in" filter="wipe(down)">
                                      <p:cBhvr>
                                        <p:cTn id="40" dur="1000"/>
                                        <p:tgtEl>
                                          <p:spTgt spid="50"/>
                                        </p:tgtEl>
                                      </p:cBhvr>
                                    </p:animEffect>
                                  </p:childTnLst>
                                </p:cTn>
                              </p:par>
                            </p:childTnLst>
                          </p:cTn>
                        </p:par>
                        <p:par>
                          <p:cTn id="41" fill="hold">
                            <p:stCondLst>
                              <p:cond delay="3000"/>
                            </p:stCondLst>
                            <p:childTnLst>
                              <p:par>
                                <p:cTn id="42" presetID="42" presetClass="entr" presetSubtype="0" fill="hold" nodeType="after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fade">
                                      <p:cBhvr>
                                        <p:cTn id="44" dur="1000"/>
                                        <p:tgtEl>
                                          <p:spTgt spid="6"/>
                                        </p:tgtEl>
                                      </p:cBhvr>
                                    </p:animEffect>
                                    <p:anim calcmode="lin" valueType="num">
                                      <p:cBhvr>
                                        <p:cTn id="45" dur="1000" fill="hold"/>
                                        <p:tgtEl>
                                          <p:spTgt spid="6"/>
                                        </p:tgtEl>
                                        <p:attrNameLst>
                                          <p:attrName>ppt_x</p:attrName>
                                        </p:attrNameLst>
                                      </p:cBhvr>
                                      <p:tavLst>
                                        <p:tav tm="0">
                                          <p:val>
                                            <p:strVal val="#ppt_x"/>
                                          </p:val>
                                        </p:tav>
                                        <p:tav tm="100000">
                                          <p:val>
                                            <p:strVal val="#ppt_x"/>
                                          </p:val>
                                        </p:tav>
                                      </p:tavLst>
                                    </p:anim>
                                    <p:anim calcmode="lin" valueType="num">
                                      <p:cBhvr>
                                        <p:cTn id="4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7" grpId="0" animBg="1"/>
      <p:bldP spid="10" grpId="0" animBg="1"/>
      <p:bldP spid="49" grpId="0" animBg="1"/>
      <p:bldP spid="50" grpId="0" animBg="1"/>
      <p:bldP spid="51"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
          <p:cNvGrpSpPr/>
          <p:nvPr/>
        </p:nvGrpSpPr>
        <p:grpSpPr>
          <a:xfrm>
            <a:off x="392432" y="712860"/>
            <a:ext cx="1831741" cy="420971"/>
            <a:chOff x="670560" y="892917"/>
            <a:chExt cx="1831741" cy="420971"/>
          </a:xfrm>
        </p:grpSpPr>
        <p:sp>
          <p:nvSpPr>
            <p:cNvPr id="28" name="矩形 27"/>
            <p:cNvSpPr/>
            <p:nvPr/>
          </p:nvSpPr>
          <p:spPr>
            <a:xfrm>
              <a:off x="1035233" y="913778"/>
              <a:ext cx="146706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异步计数器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9"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0" name="Rectangle 8"/>
          <p:cNvSpPr>
            <a:spLocks noChangeArrowheads="1"/>
          </p:cNvSpPr>
          <p:nvPr/>
        </p:nvSpPr>
        <p:spPr bwMode="auto">
          <a:xfrm>
            <a:off x="370557" y="1198312"/>
            <a:ext cx="3623927" cy="369332"/>
          </a:xfrm>
          <a:prstGeom prst="rect">
            <a:avLst/>
          </a:prstGeom>
          <a:solidFill>
            <a:srgbClr val="FFFFFF"/>
          </a:solidFill>
          <a:ln w="9525" algn="ctr">
            <a:noFill/>
            <a:miter lim="800000"/>
          </a:ln>
        </p:spPr>
        <p:txBody>
          <a:bodyPr wrap="square" lIns="0" rIns="0">
            <a:spAutoFit/>
          </a:bodyPr>
          <a:lstStyle/>
          <a:p>
            <a:r>
              <a:rPr lang="zh-CN" altLang="en-US" b="1" dirty="0">
                <a:solidFill>
                  <a:srgbClr val="CC00CC"/>
                </a:solidFill>
                <a:latin typeface="微软雅黑" panose="020B0503020204020204" pitchFamily="34" charset="-122"/>
                <a:ea typeface="微软雅黑" panose="020B0503020204020204" pitchFamily="34" charset="-122"/>
              </a:rPr>
              <a:t>（</a:t>
            </a:r>
            <a:r>
              <a:rPr lang="en-US" altLang="zh-CN" b="1" dirty="0">
                <a:solidFill>
                  <a:srgbClr val="CC00CC"/>
                </a:solidFill>
                <a:latin typeface="微软雅黑" panose="020B0503020204020204" pitchFamily="34" charset="-122"/>
                <a:ea typeface="微软雅黑" panose="020B0503020204020204" pitchFamily="34" charset="-122"/>
              </a:rPr>
              <a:t>2</a:t>
            </a:r>
            <a:r>
              <a:rPr lang="zh-CN" altLang="en-US" b="1" dirty="0">
                <a:solidFill>
                  <a:srgbClr val="CC00CC"/>
                </a:solidFill>
                <a:latin typeface="微软雅黑" panose="020B0503020204020204" pitchFamily="34" charset="-122"/>
                <a:ea typeface="微软雅黑" panose="020B0503020204020204" pitchFamily="34" charset="-122"/>
              </a:rPr>
              <a:t>）异步二</a:t>
            </a:r>
            <a:r>
              <a:rPr lang="en-US" altLang="zh-CN" b="1" dirty="0">
                <a:solidFill>
                  <a:srgbClr val="CC00CC"/>
                </a:solidFill>
                <a:latin typeface="微软雅黑" panose="020B0503020204020204" pitchFamily="34" charset="-122"/>
                <a:ea typeface="微软雅黑" panose="020B0503020204020204" pitchFamily="34" charset="-122"/>
              </a:rPr>
              <a:t>—</a:t>
            </a:r>
            <a:r>
              <a:rPr lang="zh-CN" altLang="en-US" b="1" dirty="0">
                <a:solidFill>
                  <a:srgbClr val="CC00CC"/>
                </a:solidFill>
                <a:latin typeface="微软雅黑" panose="020B0503020204020204" pitchFamily="34" charset="-122"/>
                <a:ea typeface="微软雅黑" panose="020B0503020204020204" pitchFamily="34" charset="-122"/>
              </a:rPr>
              <a:t>十进制计数器</a:t>
            </a:r>
            <a:endParaRPr lang="zh-CN" altLang="en-US" b="1" dirty="0">
              <a:solidFill>
                <a:srgbClr val="CC00CC"/>
              </a:solidFill>
              <a:latin typeface="微软雅黑" panose="020B0503020204020204" pitchFamily="34" charset="-122"/>
              <a:ea typeface="微软雅黑" panose="020B0503020204020204" pitchFamily="34" charset="-122"/>
            </a:endParaRPr>
          </a:p>
        </p:txBody>
      </p:sp>
      <p:grpSp>
        <p:nvGrpSpPr>
          <p:cNvPr id="35" name="组合 34"/>
          <p:cNvGrpSpPr/>
          <p:nvPr/>
        </p:nvGrpSpPr>
        <p:grpSpPr>
          <a:xfrm>
            <a:off x="645673" y="1836247"/>
            <a:ext cx="3420981" cy="1793875"/>
            <a:chOff x="701840" y="1808162"/>
            <a:chExt cx="3420981" cy="1793875"/>
          </a:xfrm>
          <a:noFill/>
        </p:grpSpPr>
        <p:graphicFrame>
          <p:nvGraphicFramePr>
            <p:cNvPr id="44038" name="Object 7"/>
            <p:cNvGraphicFramePr>
              <a:graphicFrameLocks noChangeAspect="1"/>
            </p:cNvGraphicFramePr>
            <p:nvPr/>
          </p:nvGraphicFramePr>
          <p:xfrm>
            <a:off x="868363" y="1808162"/>
            <a:ext cx="3087687" cy="1793875"/>
          </p:xfrm>
          <a:graphic>
            <a:graphicData uri="http://schemas.openxmlformats.org/presentationml/2006/ole">
              <mc:AlternateContent xmlns:mc="http://schemas.openxmlformats.org/markup-compatibility/2006">
                <mc:Choice xmlns:v="urn:schemas-microsoft-com:vml" Requires="v">
                  <p:oleObj spid="_x0000_s32778" name="Visio" r:id="rId2" imgW="1362075" imgH="836295" progId="Visio.Drawing.11">
                    <p:embed/>
                  </p:oleObj>
                </mc:Choice>
                <mc:Fallback>
                  <p:oleObj name="Visio" r:id="rId2" imgW="1362075" imgH="836295" progId="Visio.Drawing.11">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363" y="1808162"/>
                          <a:ext cx="3087687" cy="1793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33" name="圆角矩形 32"/>
            <p:cNvSpPr/>
            <p:nvPr/>
          </p:nvSpPr>
          <p:spPr>
            <a:xfrm>
              <a:off x="701840" y="1816767"/>
              <a:ext cx="3420981" cy="1760623"/>
            </a:xfrm>
            <a:prstGeom prst="roundRect">
              <a:avLst>
                <a:gd name="adj" fmla="val 6211"/>
              </a:avLst>
            </a:prstGeom>
            <a:grpFill/>
            <a:ln w="28575">
              <a:solidFill>
                <a:srgbClr val="0070C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lnSpc>
                  <a:spcPct val="150000"/>
                </a:lnSpc>
              </a:pP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26" name="组合 125"/>
          <p:cNvGrpSpPr/>
          <p:nvPr/>
        </p:nvGrpSpPr>
        <p:grpSpPr>
          <a:xfrm>
            <a:off x="4460314" y="1844852"/>
            <a:ext cx="4062674" cy="1475874"/>
            <a:chOff x="649694" y="3697704"/>
            <a:chExt cx="4051247" cy="1512916"/>
          </a:xfrm>
        </p:grpSpPr>
        <p:grpSp>
          <p:nvGrpSpPr>
            <p:cNvPr id="39" name="组合 43"/>
            <p:cNvGrpSpPr/>
            <p:nvPr/>
          </p:nvGrpSpPr>
          <p:grpSpPr>
            <a:xfrm>
              <a:off x="677808" y="3697704"/>
              <a:ext cx="1335505" cy="348917"/>
              <a:chOff x="4388956" y="1619250"/>
              <a:chExt cx="2030492" cy="428625"/>
            </a:xfrm>
          </p:grpSpPr>
          <p:sp>
            <p:nvSpPr>
              <p:cNvPr id="52" name="椭圆 51"/>
              <p:cNvSpPr/>
              <p:nvPr/>
            </p:nvSpPr>
            <p:spPr>
              <a:xfrm>
                <a:off x="4388956" y="1619250"/>
                <a:ext cx="1430901" cy="428625"/>
              </a:xfrm>
              <a:prstGeom prst="ellipse">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1400" b="1" i="1" dirty="0">
                    <a:solidFill>
                      <a:schemeClr val="tx1"/>
                    </a:solidFill>
                    <a:latin typeface="Times New Roman" panose="02020603050405020304" pitchFamily="18" charset="0"/>
                    <a:cs typeface="Times New Roman" panose="02020603050405020304" pitchFamily="18" charset="0"/>
                  </a:rPr>
                  <a:t>Q</a:t>
                </a:r>
                <a:r>
                  <a:rPr lang="en-US" altLang="zh-CN" sz="1400" b="1" baseline="-25000" dirty="0">
                    <a:solidFill>
                      <a:schemeClr val="tx1"/>
                    </a:solidFill>
                    <a:latin typeface="Times New Roman" panose="02020603050405020304" pitchFamily="18" charset="0"/>
                    <a:cs typeface="Times New Roman" panose="02020603050405020304" pitchFamily="18" charset="0"/>
                  </a:rPr>
                  <a:t>3</a:t>
                </a:r>
                <a:r>
                  <a:rPr lang="en-US" altLang="zh-CN" sz="1400" b="1" i="1" dirty="0">
                    <a:solidFill>
                      <a:schemeClr val="tx1"/>
                    </a:solidFill>
                    <a:latin typeface="Times New Roman" panose="02020603050405020304" pitchFamily="18" charset="0"/>
                    <a:cs typeface="Times New Roman" panose="02020603050405020304" pitchFamily="18" charset="0"/>
                  </a:rPr>
                  <a:t>Q</a:t>
                </a:r>
                <a:r>
                  <a:rPr lang="en-US" altLang="zh-CN" sz="1400" b="1" baseline="-25000" dirty="0">
                    <a:solidFill>
                      <a:schemeClr val="tx1"/>
                    </a:solidFill>
                    <a:latin typeface="Times New Roman" panose="02020603050405020304" pitchFamily="18" charset="0"/>
                    <a:cs typeface="Times New Roman" panose="02020603050405020304" pitchFamily="18" charset="0"/>
                  </a:rPr>
                  <a:t>2</a:t>
                </a:r>
                <a:r>
                  <a:rPr lang="en-US" altLang="zh-CN" sz="1400" b="1" i="1" dirty="0">
                    <a:solidFill>
                      <a:schemeClr val="tx1"/>
                    </a:solidFill>
                    <a:latin typeface="Times New Roman" panose="02020603050405020304" pitchFamily="18" charset="0"/>
                    <a:cs typeface="Times New Roman" panose="02020603050405020304" pitchFamily="18" charset="0"/>
                  </a:rPr>
                  <a:t>Q</a:t>
                </a:r>
                <a:r>
                  <a:rPr lang="en-US" altLang="zh-CN" sz="1400" b="1" baseline="-25000" dirty="0">
                    <a:solidFill>
                      <a:schemeClr val="tx1"/>
                    </a:solidFill>
                    <a:latin typeface="Times New Roman" panose="02020603050405020304" pitchFamily="18" charset="0"/>
                    <a:cs typeface="Times New Roman" panose="02020603050405020304" pitchFamily="18" charset="0"/>
                  </a:rPr>
                  <a:t>1</a:t>
                </a:r>
                <a:r>
                  <a:rPr lang="en-US" altLang="zh-CN" sz="1400" b="1" i="1" dirty="0">
                    <a:solidFill>
                      <a:schemeClr val="tx1"/>
                    </a:solidFill>
                    <a:latin typeface="Times New Roman" panose="02020603050405020304" pitchFamily="18" charset="0"/>
                    <a:cs typeface="Times New Roman" panose="02020603050405020304" pitchFamily="18" charset="0"/>
                  </a:rPr>
                  <a:t>Q</a:t>
                </a:r>
                <a:r>
                  <a:rPr lang="en-US" altLang="zh-CN" sz="1400" b="1" baseline="-25000" dirty="0">
                    <a:solidFill>
                      <a:schemeClr val="tx1"/>
                    </a:solidFill>
                    <a:latin typeface="Times New Roman" panose="02020603050405020304" pitchFamily="18" charset="0"/>
                    <a:cs typeface="Times New Roman" panose="02020603050405020304" pitchFamily="18" charset="0"/>
                  </a:rPr>
                  <a:t>0</a:t>
                </a:r>
                <a:endParaRPr lang="zh-CN" altLang="en-US" sz="14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53" name="直接箭头连接符 52"/>
              <p:cNvCxnSpPr/>
              <p:nvPr/>
            </p:nvCxnSpPr>
            <p:spPr>
              <a:xfrm flipV="1">
                <a:off x="5832616" y="1842398"/>
                <a:ext cx="586832" cy="0"/>
              </a:xfrm>
              <a:prstGeom prst="straightConnector1">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91" name="组合 90"/>
            <p:cNvGrpSpPr/>
            <p:nvPr/>
          </p:nvGrpSpPr>
          <p:grpSpPr>
            <a:xfrm>
              <a:off x="649694" y="4195009"/>
              <a:ext cx="4051247" cy="1015611"/>
              <a:chOff x="509309" y="4195009"/>
              <a:chExt cx="4051247" cy="1015611"/>
            </a:xfrm>
          </p:grpSpPr>
          <p:grpSp>
            <p:nvGrpSpPr>
              <p:cNvPr id="40" name="组合 33"/>
              <p:cNvGrpSpPr/>
              <p:nvPr/>
            </p:nvGrpSpPr>
            <p:grpSpPr>
              <a:xfrm>
                <a:off x="509309" y="4195009"/>
                <a:ext cx="862879" cy="328864"/>
                <a:chOff x="4578166" y="1619250"/>
                <a:chExt cx="1975886" cy="428625"/>
              </a:xfrm>
              <a:noFill/>
            </p:grpSpPr>
            <p:sp>
              <p:nvSpPr>
                <p:cNvPr id="50" name="椭圆 49"/>
                <p:cNvSpPr/>
                <p:nvPr/>
              </p:nvSpPr>
              <p:spPr>
                <a:xfrm>
                  <a:off x="4578166" y="1619250"/>
                  <a:ext cx="1212221" cy="428625"/>
                </a:xfrm>
                <a:prstGeom prst="ellips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chemeClr val="tx1"/>
                      </a:solidFill>
                      <a:latin typeface="Times New Roman" panose="02020603050405020304" pitchFamily="18" charset="0"/>
                      <a:cs typeface="Times New Roman" panose="02020603050405020304" pitchFamily="18" charset="0"/>
                    </a:rPr>
                    <a:t>000</a:t>
                  </a:r>
                  <a:r>
                    <a:rPr lang="en-US" altLang="zh-CN" sz="1600" b="1" dirty="0">
                      <a:solidFill>
                        <a:srgbClr val="CC00CC"/>
                      </a:solidFill>
                      <a:latin typeface="Times New Roman" panose="02020603050405020304" pitchFamily="18" charset="0"/>
                      <a:cs typeface="Times New Roman" panose="02020603050405020304" pitchFamily="18" charset="0"/>
                    </a:rPr>
                    <a:t>0</a:t>
                  </a:r>
                  <a:endParaRPr lang="zh-CN" altLang="en-US" sz="1600" b="1" baseline="-25000" dirty="0">
                    <a:solidFill>
                      <a:srgbClr val="CC00CC"/>
                    </a:solidFill>
                    <a:latin typeface="Times New Roman" panose="02020603050405020304" pitchFamily="18" charset="0"/>
                    <a:cs typeface="Times New Roman" panose="02020603050405020304" pitchFamily="18" charset="0"/>
                  </a:endParaRPr>
                </a:p>
              </p:txBody>
            </p:sp>
            <p:cxnSp>
              <p:nvCxnSpPr>
                <p:cNvPr id="51" name="直接箭头连接符 50"/>
                <p:cNvCxnSpPr/>
                <p:nvPr/>
              </p:nvCxnSpPr>
              <p:spPr>
                <a:xfrm>
                  <a:off x="5812132" y="1842381"/>
                  <a:ext cx="741920" cy="1617"/>
                </a:xfrm>
                <a:prstGeom prst="straightConnector1">
                  <a:avLst/>
                </a:prstGeom>
                <a:grp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54" name="组合 33"/>
              <p:cNvGrpSpPr/>
              <p:nvPr/>
            </p:nvGrpSpPr>
            <p:grpSpPr>
              <a:xfrm>
                <a:off x="1383604" y="4195009"/>
                <a:ext cx="862879" cy="328864"/>
                <a:chOff x="4578166" y="1619250"/>
                <a:chExt cx="1975886" cy="428625"/>
              </a:xfrm>
              <a:noFill/>
            </p:grpSpPr>
            <p:sp>
              <p:nvSpPr>
                <p:cNvPr id="55" name="椭圆 54"/>
                <p:cNvSpPr/>
                <p:nvPr/>
              </p:nvSpPr>
              <p:spPr>
                <a:xfrm>
                  <a:off x="4578166" y="1619250"/>
                  <a:ext cx="1212221" cy="428625"/>
                </a:xfrm>
                <a:prstGeom prst="ellips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chemeClr val="tx1"/>
                      </a:solidFill>
                      <a:latin typeface="Times New Roman" panose="02020603050405020304" pitchFamily="18" charset="0"/>
                      <a:cs typeface="Times New Roman" panose="02020603050405020304" pitchFamily="18" charset="0"/>
                    </a:rPr>
                    <a:t>000</a:t>
                  </a:r>
                  <a:r>
                    <a:rPr lang="en-US" altLang="zh-CN" sz="1600" b="1" dirty="0">
                      <a:solidFill>
                        <a:srgbClr val="CC00CC"/>
                      </a:solidFill>
                      <a:latin typeface="Times New Roman" panose="02020603050405020304" pitchFamily="18" charset="0"/>
                      <a:cs typeface="Times New Roman" panose="02020603050405020304" pitchFamily="18" charset="0"/>
                    </a:rPr>
                    <a:t>1</a:t>
                  </a:r>
                  <a:endParaRPr lang="zh-CN" altLang="en-US" sz="1600" b="1" baseline="-25000" dirty="0">
                    <a:solidFill>
                      <a:srgbClr val="CC00CC"/>
                    </a:solidFill>
                    <a:latin typeface="Times New Roman" panose="02020603050405020304" pitchFamily="18" charset="0"/>
                    <a:cs typeface="Times New Roman" panose="02020603050405020304" pitchFamily="18" charset="0"/>
                  </a:endParaRPr>
                </a:p>
              </p:txBody>
            </p:sp>
            <p:cxnSp>
              <p:nvCxnSpPr>
                <p:cNvPr id="56" name="直接箭头连接符 55"/>
                <p:cNvCxnSpPr/>
                <p:nvPr/>
              </p:nvCxnSpPr>
              <p:spPr>
                <a:xfrm>
                  <a:off x="5812132" y="1842381"/>
                  <a:ext cx="741920" cy="1617"/>
                </a:xfrm>
                <a:prstGeom prst="straightConnector1">
                  <a:avLst/>
                </a:prstGeom>
                <a:grp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57" name="组合 33"/>
              <p:cNvGrpSpPr/>
              <p:nvPr/>
            </p:nvGrpSpPr>
            <p:grpSpPr>
              <a:xfrm>
                <a:off x="2253888" y="4195009"/>
                <a:ext cx="862879" cy="328864"/>
                <a:chOff x="4578166" y="1619250"/>
                <a:chExt cx="1975886" cy="428625"/>
              </a:xfrm>
              <a:noFill/>
            </p:grpSpPr>
            <p:sp>
              <p:nvSpPr>
                <p:cNvPr id="58" name="椭圆 57"/>
                <p:cNvSpPr/>
                <p:nvPr/>
              </p:nvSpPr>
              <p:spPr>
                <a:xfrm>
                  <a:off x="4578166" y="1619250"/>
                  <a:ext cx="1212221" cy="428625"/>
                </a:xfrm>
                <a:prstGeom prst="ellips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chemeClr val="tx1"/>
                      </a:solidFill>
                      <a:latin typeface="Times New Roman" panose="02020603050405020304" pitchFamily="18" charset="0"/>
                      <a:cs typeface="Times New Roman" panose="02020603050405020304" pitchFamily="18" charset="0"/>
                    </a:rPr>
                    <a:t>001</a:t>
                  </a:r>
                  <a:r>
                    <a:rPr lang="en-US" altLang="zh-CN" sz="1600" b="1" dirty="0">
                      <a:solidFill>
                        <a:srgbClr val="CC00CC"/>
                      </a:solidFill>
                      <a:latin typeface="Times New Roman" panose="02020603050405020304" pitchFamily="18" charset="0"/>
                      <a:cs typeface="Times New Roman" panose="02020603050405020304" pitchFamily="18" charset="0"/>
                    </a:rPr>
                    <a:t>0</a:t>
                  </a:r>
                  <a:endParaRPr lang="zh-CN" altLang="en-US" sz="1600" b="1" baseline="-25000" dirty="0">
                    <a:solidFill>
                      <a:srgbClr val="CC00CC"/>
                    </a:solidFill>
                    <a:latin typeface="Times New Roman" panose="02020603050405020304" pitchFamily="18" charset="0"/>
                    <a:cs typeface="Times New Roman" panose="02020603050405020304" pitchFamily="18" charset="0"/>
                  </a:endParaRPr>
                </a:p>
              </p:txBody>
            </p:sp>
            <p:cxnSp>
              <p:nvCxnSpPr>
                <p:cNvPr id="59" name="直接箭头连接符 58"/>
                <p:cNvCxnSpPr/>
                <p:nvPr/>
              </p:nvCxnSpPr>
              <p:spPr>
                <a:xfrm>
                  <a:off x="5812132" y="1842381"/>
                  <a:ext cx="741920" cy="1617"/>
                </a:xfrm>
                <a:prstGeom prst="straightConnector1">
                  <a:avLst/>
                </a:prstGeom>
                <a:grp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60" name="组合 33"/>
              <p:cNvGrpSpPr/>
              <p:nvPr/>
            </p:nvGrpSpPr>
            <p:grpSpPr>
              <a:xfrm>
                <a:off x="3136204" y="4195009"/>
                <a:ext cx="862879" cy="328864"/>
                <a:chOff x="4578166" y="1619250"/>
                <a:chExt cx="1975886" cy="428625"/>
              </a:xfrm>
              <a:noFill/>
            </p:grpSpPr>
            <p:sp>
              <p:nvSpPr>
                <p:cNvPr id="61" name="椭圆 60"/>
                <p:cNvSpPr/>
                <p:nvPr/>
              </p:nvSpPr>
              <p:spPr>
                <a:xfrm>
                  <a:off x="4578166" y="1619250"/>
                  <a:ext cx="1212221" cy="428625"/>
                </a:xfrm>
                <a:prstGeom prst="ellips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chemeClr val="tx1"/>
                      </a:solidFill>
                      <a:latin typeface="Times New Roman" panose="02020603050405020304" pitchFamily="18" charset="0"/>
                      <a:cs typeface="Times New Roman" panose="02020603050405020304" pitchFamily="18" charset="0"/>
                    </a:rPr>
                    <a:t>001</a:t>
                  </a:r>
                  <a:r>
                    <a:rPr lang="en-US" altLang="zh-CN" sz="1600" b="1" dirty="0">
                      <a:solidFill>
                        <a:srgbClr val="CC00CC"/>
                      </a:solidFill>
                      <a:latin typeface="Times New Roman" panose="02020603050405020304" pitchFamily="18" charset="0"/>
                      <a:cs typeface="Times New Roman" panose="02020603050405020304" pitchFamily="18" charset="0"/>
                    </a:rPr>
                    <a:t>1</a:t>
                  </a:r>
                  <a:endParaRPr lang="zh-CN" altLang="en-US" sz="1600" b="1" baseline="-25000" dirty="0">
                    <a:solidFill>
                      <a:srgbClr val="CC00CC"/>
                    </a:solidFill>
                    <a:latin typeface="Times New Roman" panose="02020603050405020304" pitchFamily="18" charset="0"/>
                    <a:cs typeface="Times New Roman" panose="02020603050405020304" pitchFamily="18" charset="0"/>
                  </a:endParaRPr>
                </a:p>
              </p:txBody>
            </p:sp>
            <p:cxnSp>
              <p:nvCxnSpPr>
                <p:cNvPr id="62" name="直接箭头连接符 61"/>
                <p:cNvCxnSpPr/>
                <p:nvPr/>
              </p:nvCxnSpPr>
              <p:spPr>
                <a:xfrm>
                  <a:off x="5812132" y="1842381"/>
                  <a:ext cx="741920" cy="1617"/>
                </a:xfrm>
                <a:prstGeom prst="straightConnector1">
                  <a:avLst/>
                </a:prstGeom>
                <a:grp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67" name="组合 66"/>
              <p:cNvGrpSpPr/>
              <p:nvPr/>
            </p:nvGrpSpPr>
            <p:grpSpPr>
              <a:xfrm>
                <a:off x="4022530" y="4195009"/>
                <a:ext cx="529383" cy="662684"/>
                <a:chOff x="4207036" y="4235115"/>
                <a:chExt cx="529383" cy="662684"/>
              </a:xfrm>
            </p:grpSpPr>
            <p:sp>
              <p:nvSpPr>
                <p:cNvPr id="64" name="椭圆 63"/>
                <p:cNvSpPr/>
                <p:nvPr/>
              </p:nvSpPr>
              <p:spPr>
                <a:xfrm>
                  <a:off x="4207036" y="4235115"/>
                  <a:ext cx="529383" cy="328864"/>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chemeClr val="tx1"/>
                      </a:solidFill>
                      <a:latin typeface="Times New Roman" panose="02020603050405020304" pitchFamily="18" charset="0"/>
                      <a:cs typeface="Times New Roman" panose="02020603050405020304" pitchFamily="18" charset="0"/>
                    </a:rPr>
                    <a:t>010</a:t>
                  </a:r>
                  <a:r>
                    <a:rPr lang="en-US" altLang="zh-CN" sz="1600" b="1" dirty="0">
                      <a:solidFill>
                        <a:srgbClr val="CC00CC"/>
                      </a:solidFill>
                      <a:latin typeface="Times New Roman" panose="02020603050405020304" pitchFamily="18" charset="0"/>
                      <a:cs typeface="Times New Roman" panose="02020603050405020304" pitchFamily="18" charset="0"/>
                    </a:rPr>
                    <a:t>0</a:t>
                  </a:r>
                  <a:endParaRPr lang="zh-CN" altLang="en-US" sz="1600" b="1" baseline="-25000" dirty="0">
                    <a:solidFill>
                      <a:srgbClr val="CC00CC"/>
                    </a:solidFill>
                    <a:latin typeface="Times New Roman" panose="02020603050405020304" pitchFamily="18" charset="0"/>
                    <a:cs typeface="Times New Roman" panose="02020603050405020304" pitchFamily="18" charset="0"/>
                  </a:endParaRPr>
                </a:p>
              </p:txBody>
            </p:sp>
            <p:cxnSp>
              <p:nvCxnSpPr>
                <p:cNvPr id="66" name="直接箭头连接符 65"/>
                <p:cNvCxnSpPr/>
                <p:nvPr/>
              </p:nvCxnSpPr>
              <p:spPr>
                <a:xfrm rot="5400000">
                  <a:off x="4316788" y="4735178"/>
                  <a:ext cx="324000" cy="1241"/>
                </a:xfrm>
                <a:prstGeom prst="straightConnector1">
                  <a:avLst/>
                </a:prstGeom>
                <a:no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73" name="组合 33"/>
              <p:cNvGrpSpPr/>
              <p:nvPr/>
            </p:nvGrpSpPr>
            <p:grpSpPr>
              <a:xfrm flipH="1">
                <a:off x="1070782" y="4872789"/>
                <a:ext cx="862879" cy="328864"/>
                <a:chOff x="4578166" y="1619250"/>
                <a:chExt cx="1975886" cy="428625"/>
              </a:xfrm>
              <a:noFill/>
            </p:grpSpPr>
            <p:sp>
              <p:nvSpPr>
                <p:cNvPr id="74" name="椭圆 73"/>
                <p:cNvSpPr/>
                <p:nvPr/>
              </p:nvSpPr>
              <p:spPr>
                <a:xfrm>
                  <a:off x="4578166" y="1619250"/>
                  <a:ext cx="1212221" cy="428625"/>
                </a:xfrm>
                <a:prstGeom prst="ellips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chemeClr val="tx1"/>
                      </a:solidFill>
                      <a:latin typeface="Times New Roman" panose="02020603050405020304" pitchFamily="18" charset="0"/>
                      <a:cs typeface="Times New Roman" panose="02020603050405020304" pitchFamily="18" charset="0"/>
                    </a:rPr>
                    <a:t>100</a:t>
                  </a:r>
                  <a:r>
                    <a:rPr lang="en-US" altLang="zh-CN" sz="1600" b="1" dirty="0">
                      <a:solidFill>
                        <a:srgbClr val="CC00CC"/>
                      </a:solidFill>
                      <a:latin typeface="Times New Roman" panose="02020603050405020304" pitchFamily="18" charset="0"/>
                      <a:cs typeface="Times New Roman" panose="02020603050405020304" pitchFamily="18" charset="0"/>
                    </a:rPr>
                    <a:t>0</a:t>
                  </a:r>
                  <a:endParaRPr lang="zh-CN" altLang="en-US" sz="1600" b="1" baseline="-25000" dirty="0">
                    <a:solidFill>
                      <a:srgbClr val="CC00CC"/>
                    </a:solidFill>
                    <a:latin typeface="Times New Roman" panose="02020603050405020304" pitchFamily="18" charset="0"/>
                    <a:cs typeface="Times New Roman" panose="02020603050405020304" pitchFamily="18" charset="0"/>
                  </a:endParaRPr>
                </a:p>
              </p:txBody>
            </p:sp>
            <p:cxnSp>
              <p:nvCxnSpPr>
                <p:cNvPr id="75" name="直接箭头连接符 74"/>
                <p:cNvCxnSpPr/>
                <p:nvPr/>
              </p:nvCxnSpPr>
              <p:spPr>
                <a:xfrm>
                  <a:off x="5812132" y="1842381"/>
                  <a:ext cx="741920" cy="1617"/>
                </a:xfrm>
                <a:prstGeom prst="straightConnector1">
                  <a:avLst/>
                </a:prstGeom>
                <a:grp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76" name="组合 33"/>
              <p:cNvGrpSpPr/>
              <p:nvPr/>
            </p:nvGrpSpPr>
            <p:grpSpPr>
              <a:xfrm flipH="1">
                <a:off x="1953099" y="4872789"/>
                <a:ext cx="862879" cy="328864"/>
                <a:chOff x="4578166" y="1619250"/>
                <a:chExt cx="1975886" cy="428625"/>
              </a:xfrm>
              <a:noFill/>
            </p:grpSpPr>
            <p:sp>
              <p:nvSpPr>
                <p:cNvPr id="77" name="椭圆 76"/>
                <p:cNvSpPr/>
                <p:nvPr/>
              </p:nvSpPr>
              <p:spPr>
                <a:xfrm>
                  <a:off x="4578166" y="1619250"/>
                  <a:ext cx="1212221" cy="428625"/>
                </a:xfrm>
                <a:prstGeom prst="ellips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chemeClr val="tx1"/>
                      </a:solidFill>
                      <a:latin typeface="Times New Roman" panose="02020603050405020304" pitchFamily="18" charset="0"/>
                      <a:cs typeface="Times New Roman" panose="02020603050405020304" pitchFamily="18" charset="0"/>
                    </a:rPr>
                    <a:t>011</a:t>
                  </a:r>
                  <a:r>
                    <a:rPr lang="en-US" altLang="zh-CN" sz="1600" b="1" dirty="0">
                      <a:solidFill>
                        <a:srgbClr val="CC00CC"/>
                      </a:solidFill>
                      <a:latin typeface="Times New Roman" panose="02020603050405020304" pitchFamily="18" charset="0"/>
                      <a:cs typeface="Times New Roman" panose="02020603050405020304" pitchFamily="18" charset="0"/>
                    </a:rPr>
                    <a:t>1</a:t>
                  </a:r>
                  <a:endParaRPr lang="zh-CN" altLang="en-US" sz="1600" b="1" baseline="-25000" dirty="0">
                    <a:solidFill>
                      <a:srgbClr val="CC00CC"/>
                    </a:solidFill>
                    <a:latin typeface="Times New Roman" panose="02020603050405020304" pitchFamily="18" charset="0"/>
                    <a:cs typeface="Times New Roman" panose="02020603050405020304" pitchFamily="18" charset="0"/>
                  </a:endParaRPr>
                </a:p>
              </p:txBody>
            </p:sp>
            <p:cxnSp>
              <p:nvCxnSpPr>
                <p:cNvPr id="78" name="直接箭头连接符 77"/>
                <p:cNvCxnSpPr/>
                <p:nvPr/>
              </p:nvCxnSpPr>
              <p:spPr>
                <a:xfrm>
                  <a:off x="5812132" y="1842381"/>
                  <a:ext cx="741920" cy="1617"/>
                </a:xfrm>
                <a:prstGeom prst="straightConnector1">
                  <a:avLst/>
                </a:prstGeom>
                <a:grp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79" name="组合 33"/>
              <p:cNvGrpSpPr/>
              <p:nvPr/>
            </p:nvGrpSpPr>
            <p:grpSpPr>
              <a:xfrm flipH="1">
                <a:off x="2823383" y="4872789"/>
                <a:ext cx="862879" cy="328864"/>
                <a:chOff x="4578166" y="1619250"/>
                <a:chExt cx="1975886" cy="428625"/>
              </a:xfrm>
              <a:noFill/>
            </p:grpSpPr>
            <p:sp>
              <p:nvSpPr>
                <p:cNvPr id="80" name="椭圆 79"/>
                <p:cNvSpPr/>
                <p:nvPr/>
              </p:nvSpPr>
              <p:spPr>
                <a:xfrm>
                  <a:off x="4578166" y="1619250"/>
                  <a:ext cx="1212221" cy="428625"/>
                </a:xfrm>
                <a:prstGeom prst="ellips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chemeClr val="tx1"/>
                      </a:solidFill>
                      <a:latin typeface="Times New Roman" panose="02020603050405020304" pitchFamily="18" charset="0"/>
                      <a:cs typeface="Times New Roman" panose="02020603050405020304" pitchFamily="18" charset="0"/>
                    </a:rPr>
                    <a:t>011</a:t>
                  </a:r>
                  <a:r>
                    <a:rPr lang="en-US" altLang="zh-CN" sz="1600" b="1" dirty="0">
                      <a:solidFill>
                        <a:srgbClr val="CC00CC"/>
                      </a:solidFill>
                      <a:latin typeface="Times New Roman" panose="02020603050405020304" pitchFamily="18" charset="0"/>
                      <a:cs typeface="Times New Roman" panose="02020603050405020304" pitchFamily="18" charset="0"/>
                    </a:rPr>
                    <a:t>0</a:t>
                  </a:r>
                  <a:endParaRPr lang="zh-CN" altLang="en-US" sz="1600" b="1" baseline="-25000" dirty="0">
                    <a:solidFill>
                      <a:srgbClr val="CC00CC"/>
                    </a:solidFill>
                    <a:latin typeface="Times New Roman" panose="02020603050405020304" pitchFamily="18" charset="0"/>
                    <a:cs typeface="Times New Roman" panose="02020603050405020304" pitchFamily="18" charset="0"/>
                  </a:endParaRPr>
                </a:p>
              </p:txBody>
            </p:sp>
            <p:cxnSp>
              <p:nvCxnSpPr>
                <p:cNvPr id="81" name="直接箭头连接符 80"/>
                <p:cNvCxnSpPr/>
                <p:nvPr/>
              </p:nvCxnSpPr>
              <p:spPr>
                <a:xfrm>
                  <a:off x="5812132" y="1842381"/>
                  <a:ext cx="741920" cy="1617"/>
                </a:xfrm>
                <a:prstGeom prst="straightConnector1">
                  <a:avLst/>
                </a:prstGeom>
                <a:grp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82" name="组合 33"/>
              <p:cNvGrpSpPr/>
              <p:nvPr/>
            </p:nvGrpSpPr>
            <p:grpSpPr>
              <a:xfrm flipH="1">
                <a:off x="3697677" y="4872789"/>
                <a:ext cx="862879" cy="328864"/>
                <a:chOff x="4578166" y="1619250"/>
                <a:chExt cx="1975886" cy="428625"/>
              </a:xfrm>
              <a:noFill/>
            </p:grpSpPr>
            <p:sp>
              <p:nvSpPr>
                <p:cNvPr id="83" name="椭圆 82"/>
                <p:cNvSpPr/>
                <p:nvPr/>
              </p:nvSpPr>
              <p:spPr>
                <a:xfrm>
                  <a:off x="4578166" y="1619250"/>
                  <a:ext cx="1212221" cy="428625"/>
                </a:xfrm>
                <a:prstGeom prst="ellips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chemeClr val="tx1"/>
                      </a:solidFill>
                      <a:latin typeface="Times New Roman" panose="02020603050405020304" pitchFamily="18" charset="0"/>
                      <a:cs typeface="Times New Roman" panose="02020603050405020304" pitchFamily="18" charset="0"/>
                    </a:rPr>
                    <a:t>010</a:t>
                  </a:r>
                  <a:r>
                    <a:rPr lang="en-US" altLang="zh-CN" sz="1600" b="1" dirty="0">
                      <a:solidFill>
                        <a:srgbClr val="CC00CC"/>
                      </a:solidFill>
                      <a:latin typeface="Times New Roman" panose="02020603050405020304" pitchFamily="18" charset="0"/>
                      <a:cs typeface="Times New Roman" panose="02020603050405020304" pitchFamily="18" charset="0"/>
                    </a:rPr>
                    <a:t>1</a:t>
                  </a:r>
                  <a:endParaRPr lang="zh-CN" altLang="en-US" sz="1600" b="1" baseline="-25000" dirty="0">
                    <a:solidFill>
                      <a:srgbClr val="CC00CC"/>
                    </a:solidFill>
                    <a:latin typeface="Times New Roman" panose="02020603050405020304" pitchFamily="18" charset="0"/>
                    <a:cs typeface="Times New Roman" panose="02020603050405020304" pitchFamily="18" charset="0"/>
                  </a:endParaRPr>
                </a:p>
              </p:txBody>
            </p:sp>
            <p:cxnSp>
              <p:nvCxnSpPr>
                <p:cNvPr id="84" name="直接箭头连接符 83"/>
                <p:cNvCxnSpPr/>
                <p:nvPr/>
              </p:nvCxnSpPr>
              <p:spPr>
                <a:xfrm>
                  <a:off x="5812132" y="1842381"/>
                  <a:ext cx="741920" cy="1617"/>
                </a:xfrm>
                <a:prstGeom prst="straightConnector1">
                  <a:avLst/>
                </a:prstGeom>
                <a:grp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nvGrpSpPr>
            <p:grpSpPr>
              <a:xfrm flipV="1">
                <a:off x="517328" y="4547936"/>
                <a:ext cx="529383" cy="662684"/>
                <a:chOff x="4207036" y="4235115"/>
                <a:chExt cx="529383" cy="662684"/>
              </a:xfrm>
            </p:grpSpPr>
            <p:sp>
              <p:nvSpPr>
                <p:cNvPr id="86" name="椭圆 85"/>
                <p:cNvSpPr/>
                <p:nvPr/>
              </p:nvSpPr>
              <p:spPr>
                <a:xfrm rot="10800000">
                  <a:off x="4207036" y="4235115"/>
                  <a:ext cx="529383" cy="328864"/>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r>
                    <a:rPr lang="en-US" altLang="zh-CN" sz="1600" b="1" dirty="0">
                      <a:solidFill>
                        <a:schemeClr val="tx1"/>
                      </a:solidFill>
                      <a:latin typeface="Times New Roman" panose="02020603050405020304" pitchFamily="18" charset="0"/>
                      <a:cs typeface="Times New Roman" panose="02020603050405020304" pitchFamily="18" charset="0"/>
                    </a:rPr>
                    <a:t>100</a:t>
                  </a:r>
                  <a:r>
                    <a:rPr lang="en-US" altLang="zh-CN" sz="1600" b="1" dirty="0">
                      <a:solidFill>
                        <a:srgbClr val="CC00CC"/>
                      </a:solidFill>
                      <a:latin typeface="Times New Roman" panose="02020603050405020304" pitchFamily="18" charset="0"/>
                      <a:cs typeface="Times New Roman" panose="02020603050405020304" pitchFamily="18" charset="0"/>
                    </a:rPr>
                    <a:t>1</a:t>
                  </a:r>
                  <a:endParaRPr lang="zh-CN" altLang="en-US" sz="1600" b="1" baseline="-25000" dirty="0">
                    <a:solidFill>
                      <a:srgbClr val="CC00CC"/>
                    </a:solidFill>
                    <a:latin typeface="Times New Roman" panose="02020603050405020304" pitchFamily="18" charset="0"/>
                    <a:cs typeface="Times New Roman" panose="02020603050405020304" pitchFamily="18" charset="0"/>
                  </a:endParaRPr>
                </a:p>
              </p:txBody>
            </p:sp>
            <p:cxnSp>
              <p:nvCxnSpPr>
                <p:cNvPr id="87" name="直接箭头连接符 86"/>
                <p:cNvCxnSpPr/>
                <p:nvPr/>
              </p:nvCxnSpPr>
              <p:spPr>
                <a:xfrm rot="5400000">
                  <a:off x="4316788" y="4735178"/>
                  <a:ext cx="324000" cy="1241"/>
                </a:xfrm>
                <a:prstGeom prst="straightConnector1">
                  <a:avLst/>
                </a:prstGeom>
                <a:no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grpSp>
      <p:sp>
        <p:nvSpPr>
          <p:cNvPr id="166" name="圆角矩形标注 165"/>
          <p:cNvSpPr/>
          <p:nvPr/>
        </p:nvSpPr>
        <p:spPr>
          <a:xfrm>
            <a:off x="2197846" y="3886200"/>
            <a:ext cx="3986386" cy="501316"/>
          </a:xfrm>
          <a:prstGeom prst="wedgeRoundRectCallout">
            <a:avLst>
              <a:gd name="adj1" fmla="val -8992"/>
              <a:gd name="adj2" fmla="val -95588"/>
              <a:gd name="adj3" fmla="val 16667"/>
            </a:avLst>
          </a:prstGeom>
          <a:solidFill>
            <a:schemeClr val="accent4">
              <a:lumMod val="20000"/>
              <a:lumOff val="80000"/>
            </a:schemeClr>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2000" dirty="0">
                <a:solidFill>
                  <a:srgbClr val="0000FF"/>
                </a:solidFill>
                <a:latin typeface="微软雅黑" panose="020B0503020204020204" pitchFamily="34" charset="-122"/>
                <a:ea typeface="微软雅黑" panose="020B0503020204020204" pitchFamily="34" charset="-122"/>
              </a:rPr>
              <a:t>构成</a:t>
            </a:r>
            <a:r>
              <a:rPr lang="en-US" altLang="zh-CN" sz="2000" dirty="0">
                <a:solidFill>
                  <a:srgbClr val="0000FF"/>
                </a:solidFill>
                <a:latin typeface="微软雅黑" panose="020B0503020204020204" pitchFamily="34" charset="-122"/>
                <a:ea typeface="微软雅黑" panose="020B0503020204020204" pitchFamily="34" charset="-122"/>
              </a:rPr>
              <a:t>8421BCD</a:t>
            </a:r>
            <a:r>
              <a:rPr lang="zh-CN" altLang="en-US" sz="2000" dirty="0">
                <a:solidFill>
                  <a:srgbClr val="0000FF"/>
                </a:solidFill>
                <a:latin typeface="微软雅黑" panose="020B0503020204020204" pitchFamily="34" charset="-122"/>
                <a:ea typeface="微软雅黑" panose="020B0503020204020204" pitchFamily="34" charset="-122"/>
              </a:rPr>
              <a:t>码的十进制计数器</a:t>
            </a:r>
            <a:endParaRPr lang="zh-CN" altLang="en-US" sz="2000"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14:prism dir="u" isInverted="1"/>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
          <p:cNvGrpSpPr/>
          <p:nvPr/>
        </p:nvGrpSpPr>
        <p:grpSpPr>
          <a:xfrm>
            <a:off x="392432" y="712860"/>
            <a:ext cx="1831741" cy="420971"/>
            <a:chOff x="670560" y="892917"/>
            <a:chExt cx="1831741" cy="420971"/>
          </a:xfrm>
        </p:grpSpPr>
        <p:sp>
          <p:nvSpPr>
            <p:cNvPr id="28" name="矩形 27"/>
            <p:cNvSpPr/>
            <p:nvPr/>
          </p:nvSpPr>
          <p:spPr>
            <a:xfrm>
              <a:off x="1035233" y="913778"/>
              <a:ext cx="146706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异步计数器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9"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0" name="Rectangle 8"/>
          <p:cNvSpPr>
            <a:spLocks noChangeArrowheads="1"/>
          </p:cNvSpPr>
          <p:nvPr/>
        </p:nvSpPr>
        <p:spPr bwMode="auto">
          <a:xfrm>
            <a:off x="370557" y="1198312"/>
            <a:ext cx="3623927" cy="369332"/>
          </a:xfrm>
          <a:prstGeom prst="rect">
            <a:avLst/>
          </a:prstGeom>
          <a:solidFill>
            <a:srgbClr val="FFFFFF"/>
          </a:solidFill>
          <a:ln w="9525" algn="ctr">
            <a:noFill/>
            <a:miter lim="800000"/>
          </a:ln>
        </p:spPr>
        <p:txBody>
          <a:bodyPr wrap="square" lIns="0" rIns="0">
            <a:spAutoFit/>
          </a:bodyPr>
          <a:lstStyle/>
          <a:p>
            <a:r>
              <a:rPr lang="zh-CN" altLang="en-US" b="1" dirty="0">
                <a:solidFill>
                  <a:srgbClr val="CC00CC"/>
                </a:solidFill>
                <a:latin typeface="微软雅黑" panose="020B0503020204020204" pitchFamily="34" charset="-122"/>
                <a:ea typeface="微软雅黑" panose="020B0503020204020204" pitchFamily="34" charset="-122"/>
              </a:rPr>
              <a:t>（</a:t>
            </a:r>
            <a:r>
              <a:rPr lang="en-US" altLang="zh-CN" b="1" dirty="0">
                <a:solidFill>
                  <a:srgbClr val="CC00CC"/>
                </a:solidFill>
                <a:latin typeface="微软雅黑" panose="020B0503020204020204" pitchFamily="34" charset="-122"/>
                <a:ea typeface="微软雅黑" panose="020B0503020204020204" pitchFamily="34" charset="-122"/>
              </a:rPr>
              <a:t>2</a:t>
            </a:r>
            <a:r>
              <a:rPr lang="zh-CN" altLang="en-US" b="1" dirty="0">
                <a:solidFill>
                  <a:srgbClr val="CC00CC"/>
                </a:solidFill>
                <a:latin typeface="微软雅黑" panose="020B0503020204020204" pitchFamily="34" charset="-122"/>
                <a:ea typeface="微软雅黑" panose="020B0503020204020204" pitchFamily="34" charset="-122"/>
              </a:rPr>
              <a:t>）异步二</a:t>
            </a:r>
            <a:r>
              <a:rPr lang="en-US" altLang="zh-CN" b="1" dirty="0">
                <a:solidFill>
                  <a:srgbClr val="CC00CC"/>
                </a:solidFill>
                <a:latin typeface="微软雅黑" panose="020B0503020204020204" pitchFamily="34" charset="-122"/>
                <a:ea typeface="微软雅黑" panose="020B0503020204020204" pitchFamily="34" charset="-122"/>
              </a:rPr>
              <a:t>—</a:t>
            </a:r>
            <a:r>
              <a:rPr lang="zh-CN" altLang="en-US" b="1" dirty="0">
                <a:solidFill>
                  <a:srgbClr val="CC00CC"/>
                </a:solidFill>
                <a:latin typeface="微软雅黑" panose="020B0503020204020204" pitchFamily="34" charset="-122"/>
                <a:ea typeface="微软雅黑" panose="020B0503020204020204" pitchFamily="34" charset="-122"/>
              </a:rPr>
              <a:t>十进制计数器</a:t>
            </a:r>
            <a:endParaRPr lang="zh-CN" altLang="en-US" b="1" dirty="0">
              <a:solidFill>
                <a:srgbClr val="CC00CC"/>
              </a:solidFill>
              <a:latin typeface="微软雅黑" panose="020B0503020204020204" pitchFamily="34" charset="-122"/>
              <a:ea typeface="微软雅黑" panose="020B0503020204020204" pitchFamily="34" charset="-122"/>
            </a:endParaRPr>
          </a:p>
        </p:txBody>
      </p:sp>
      <p:grpSp>
        <p:nvGrpSpPr>
          <p:cNvPr id="18" name="组合 126"/>
          <p:cNvGrpSpPr/>
          <p:nvPr/>
        </p:nvGrpSpPr>
        <p:grpSpPr>
          <a:xfrm>
            <a:off x="4371468" y="1949118"/>
            <a:ext cx="4062674" cy="1475874"/>
            <a:chOff x="649694" y="3697704"/>
            <a:chExt cx="4051247" cy="1512916"/>
          </a:xfrm>
        </p:grpSpPr>
        <p:grpSp>
          <p:nvGrpSpPr>
            <p:cNvPr id="19" name="组合 43"/>
            <p:cNvGrpSpPr/>
            <p:nvPr/>
          </p:nvGrpSpPr>
          <p:grpSpPr>
            <a:xfrm>
              <a:off x="677808" y="3697704"/>
              <a:ext cx="1335505" cy="348917"/>
              <a:chOff x="4388956" y="1619250"/>
              <a:chExt cx="2030492" cy="428625"/>
            </a:xfrm>
          </p:grpSpPr>
          <p:sp>
            <p:nvSpPr>
              <p:cNvPr id="160" name="椭圆 159"/>
              <p:cNvSpPr/>
              <p:nvPr/>
            </p:nvSpPr>
            <p:spPr>
              <a:xfrm>
                <a:off x="4388956" y="1619250"/>
                <a:ext cx="1430901" cy="428625"/>
              </a:xfrm>
              <a:prstGeom prst="ellipse">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1400" b="1" i="1" dirty="0">
                    <a:solidFill>
                      <a:schemeClr val="tx1"/>
                    </a:solidFill>
                    <a:latin typeface="Times New Roman" panose="02020603050405020304" pitchFamily="18" charset="0"/>
                    <a:cs typeface="Times New Roman" panose="02020603050405020304" pitchFamily="18" charset="0"/>
                  </a:rPr>
                  <a:t>Q</a:t>
                </a:r>
                <a:r>
                  <a:rPr lang="en-US" altLang="zh-CN" sz="1400" b="1" baseline="-25000" dirty="0">
                    <a:solidFill>
                      <a:schemeClr val="tx1"/>
                    </a:solidFill>
                    <a:latin typeface="Times New Roman" panose="02020603050405020304" pitchFamily="18" charset="0"/>
                    <a:cs typeface="Times New Roman" panose="02020603050405020304" pitchFamily="18" charset="0"/>
                  </a:rPr>
                  <a:t>0</a:t>
                </a:r>
                <a:r>
                  <a:rPr lang="en-US" altLang="zh-CN" sz="1400" b="1" i="1" dirty="0">
                    <a:solidFill>
                      <a:schemeClr val="tx1"/>
                    </a:solidFill>
                    <a:latin typeface="Times New Roman" panose="02020603050405020304" pitchFamily="18" charset="0"/>
                    <a:cs typeface="Times New Roman" panose="02020603050405020304" pitchFamily="18" charset="0"/>
                  </a:rPr>
                  <a:t>Q</a:t>
                </a:r>
                <a:r>
                  <a:rPr lang="en-US" altLang="zh-CN" sz="1400" b="1" baseline="-25000" dirty="0">
                    <a:solidFill>
                      <a:schemeClr val="tx1"/>
                    </a:solidFill>
                    <a:latin typeface="Times New Roman" panose="02020603050405020304" pitchFamily="18" charset="0"/>
                    <a:cs typeface="Times New Roman" panose="02020603050405020304" pitchFamily="18" charset="0"/>
                  </a:rPr>
                  <a:t>3</a:t>
                </a:r>
                <a:r>
                  <a:rPr lang="en-US" altLang="zh-CN" sz="1400" b="1" i="1" dirty="0">
                    <a:solidFill>
                      <a:schemeClr val="tx1"/>
                    </a:solidFill>
                    <a:latin typeface="Times New Roman" panose="02020603050405020304" pitchFamily="18" charset="0"/>
                    <a:cs typeface="Times New Roman" panose="02020603050405020304" pitchFamily="18" charset="0"/>
                  </a:rPr>
                  <a:t>Q</a:t>
                </a:r>
                <a:r>
                  <a:rPr lang="en-US" altLang="zh-CN" sz="1400" b="1" baseline="-25000" dirty="0">
                    <a:solidFill>
                      <a:schemeClr val="tx1"/>
                    </a:solidFill>
                    <a:latin typeface="Times New Roman" panose="02020603050405020304" pitchFamily="18" charset="0"/>
                    <a:cs typeface="Times New Roman" panose="02020603050405020304" pitchFamily="18" charset="0"/>
                  </a:rPr>
                  <a:t>2</a:t>
                </a:r>
                <a:r>
                  <a:rPr lang="en-US" altLang="zh-CN" sz="1400" b="1" i="1" dirty="0">
                    <a:solidFill>
                      <a:schemeClr val="tx1"/>
                    </a:solidFill>
                    <a:latin typeface="Times New Roman" panose="02020603050405020304" pitchFamily="18" charset="0"/>
                    <a:cs typeface="Times New Roman" panose="02020603050405020304" pitchFamily="18" charset="0"/>
                  </a:rPr>
                  <a:t>Q</a:t>
                </a:r>
                <a:r>
                  <a:rPr lang="en-US" altLang="zh-CN" sz="1400" b="1" baseline="-25000" dirty="0">
                    <a:solidFill>
                      <a:schemeClr val="tx1"/>
                    </a:solidFill>
                    <a:latin typeface="Times New Roman" panose="02020603050405020304" pitchFamily="18" charset="0"/>
                    <a:cs typeface="Times New Roman" panose="02020603050405020304" pitchFamily="18" charset="0"/>
                  </a:rPr>
                  <a:t>1</a:t>
                </a:r>
                <a:endParaRPr lang="zh-CN" altLang="en-US" sz="14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161" name="直接箭头连接符 160"/>
              <p:cNvCxnSpPr/>
              <p:nvPr/>
            </p:nvCxnSpPr>
            <p:spPr>
              <a:xfrm flipV="1">
                <a:off x="5832616" y="1842398"/>
                <a:ext cx="586832" cy="0"/>
              </a:xfrm>
              <a:prstGeom prst="straightConnector1">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20" name="组合 90"/>
            <p:cNvGrpSpPr/>
            <p:nvPr/>
          </p:nvGrpSpPr>
          <p:grpSpPr>
            <a:xfrm>
              <a:off x="649694" y="4195009"/>
              <a:ext cx="4051247" cy="1015611"/>
              <a:chOff x="509309" y="4195009"/>
              <a:chExt cx="4051247" cy="1015611"/>
            </a:xfrm>
          </p:grpSpPr>
          <p:grpSp>
            <p:nvGrpSpPr>
              <p:cNvPr id="21" name="组合 33"/>
              <p:cNvGrpSpPr/>
              <p:nvPr/>
            </p:nvGrpSpPr>
            <p:grpSpPr>
              <a:xfrm>
                <a:off x="509309" y="4195009"/>
                <a:ext cx="862879" cy="328864"/>
                <a:chOff x="4578166" y="1619250"/>
                <a:chExt cx="1975886" cy="428625"/>
              </a:xfrm>
              <a:noFill/>
            </p:grpSpPr>
            <p:sp>
              <p:nvSpPr>
                <p:cNvPr id="158" name="椭圆 157"/>
                <p:cNvSpPr/>
                <p:nvPr/>
              </p:nvSpPr>
              <p:spPr>
                <a:xfrm>
                  <a:off x="4578166" y="1619250"/>
                  <a:ext cx="1212221" cy="428625"/>
                </a:xfrm>
                <a:prstGeom prst="ellips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rgbClr val="CC00CC"/>
                      </a:solidFill>
                      <a:latin typeface="Times New Roman" panose="02020603050405020304" pitchFamily="18" charset="0"/>
                      <a:cs typeface="Times New Roman" panose="02020603050405020304" pitchFamily="18" charset="0"/>
                    </a:rPr>
                    <a:t>0</a:t>
                  </a:r>
                  <a:r>
                    <a:rPr lang="en-US" altLang="zh-CN" sz="1600" b="1" dirty="0">
                      <a:solidFill>
                        <a:schemeClr val="tx1"/>
                      </a:solidFill>
                      <a:latin typeface="Times New Roman" panose="02020603050405020304" pitchFamily="18" charset="0"/>
                      <a:cs typeface="Times New Roman" panose="02020603050405020304" pitchFamily="18" charset="0"/>
                    </a:rPr>
                    <a:t>000</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159" name="直接箭头连接符 158"/>
                <p:cNvCxnSpPr/>
                <p:nvPr/>
              </p:nvCxnSpPr>
              <p:spPr>
                <a:xfrm>
                  <a:off x="5812132" y="1842381"/>
                  <a:ext cx="741920" cy="1617"/>
                </a:xfrm>
                <a:prstGeom prst="straightConnector1">
                  <a:avLst/>
                </a:prstGeom>
                <a:grp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22" name="组合 33"/>
              <p:cNvGrpSpPr/>
              <p:nvPr/>
            </p:nvGrpSpPr>
            <p:grpSpPr>
              <a:xfrm>
                <a:off x="1383604" y="4195009"/>
                <a:ext cx="862879" cy="328864"/>
                <a:chOff x="4578166" y="1619250"/>
                <a:chExt cx="1975886" cy="428625"/>
              </a:xfrm>
              <a:noFill/>
            </p:grpSpPr>
            <p:sp>
              <p:nvSpPr>
                <p:cNvPr id="156" name="椭圆 155"/>
                <p:cNvSpPr/>
                <p:nvPr/>
              </p:nvSpPr>
              <p:spPr>
                <a:xfrm>
                  <a:off x="4578166" y="1619250"/>
                  <a:ext cx="1212221" cy="428625"/>
                </a:xfrm>
                <a:prstGeom prst="ellips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rgbClr val="CC00CC"/>
                      </a:solidFill>
                      <a:latin typeface="Times New Roman" panose="02020603050405020304" pitchFamily="18" charset="0"/>
                      <a:cs typeface="Times New Roman" panose="02020603050405020304" pitchFamily="18" charset="0"/>
                    </a:rPr>
                    <a:t>0</a:t>
                  </a:r>
                  <a:r>
                    <a:rPr lang="en-US" altLang="zh-CN" sz="1600" b="1" dirty="0">
                      <a:solidFill>
                        <a:schemeClr val="tx1"/>
                      </a:solidFill>
                      <a:latin typeface="Times New Roman" panose="02020603050405020304" pitchFamily="18" charset="0"/>
                      <a:cs typeface="Times New Roman" panose="02020603050405020304" pitchFamily="18" charset="0"/>
                    </a:rPr>
                    <a:t>001</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157" name="直接箭头连接符 156"/>
                <p:cNvCxnSpPr/>
                <p:nvPr/>
              </p:nvCxnSpPr>
              <p:spPr>
                <a:xfrm>
                  <a:off x="5812132" y="1842381"/>
                  <a:ext cx="741920" cy="1617"/>
                </a:xfrm>
                <a:prstGeom prst="straightConnector1">
                  <a:avLst/>
                </a:prstGeom>
                <a:grp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23" name="组合 33"/>
              <p:cNvGrpSpPr/>
              <p:nvPr/>
            </p:nvGrpSpPr>
            <p:grpSpPr>
              <a:xfrm>
                <a:off x="2253888" y="4195009"/>
                <a:ext cx="862879" cy="328864"/>
                <a:chOff x="4578166" y="1619250"/>
                <a:chExt cx="1975886" cy="428625"/>
              </a:xfrm>
              <a:noFill/>
            </p:grpSpPr>
            <p:sp>
              <p:nvSpPr>
                <p:cNvPr id="154" name="椭圆 153"/>
                <p:cNvSpPr/>
                <p:nvPr/>
              </p:nvSpPr>
              <p:spPr>
                <a:xfrm>
                  <a:off x="4578166" y="1619250"/>
                  <a:ext cx="1212221" cy="428625"/>
                </a:xfrm>
                <a:prstGeom prst="ellips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rgbClr val="CC00CC"/>
                      </a:solidFill>
                      <a:latin typeface="Times New Roman" panose="02020603050405020304" pitchFamily="18" charset="0"/>
                      <a:cs typeface="Times New Roman" panose="02020603050405020304" pitchFamily="18" charset="0"/>
                    </a:rPr>
                    <a:t>0</a:t>
                  </a:r>
                  <a:r>
                    <a:rPr lang="en-US" altLang="zh-CN" sz="1600" b="1" dirty="0">
                      <a:solidFill>
                        <a:schemeClr val="tx1"/>
                      </a:solidFill>
                      <a:latin typeface="Times New Roman" panose="02020603050405020304" pitchFamily="18" charset="0"/>
                      <a:cs typeface="Times New Roman" panose="02020603050405020304" pitchFamily="18" charset="0"/>
                    </a:rPr>
                    <a:t>010</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155" name="直接箭头连接符 154"/>
                <p:cNvCxnSpPr/>
                <p:nvPr/>
              </p:nvCxnSpPr>
              <p:spPr>
                <a:xfrm>
                  <a:off x="5812132" y="1842381"/>
                  <a:ext cx="741920" cy="1617"/>
                </a:xfrm>
                <a:prstGeom prst="straightConnector1">
                  <a:avLst/>
                </a:prstGeom>
                <a:grp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24" name="组合 33"/>
              <p:cNvGrpSpPr/>
              <p:nvPr/>
            </p:nvGrpSpPr>
            <p:grpSpPr>
              <a:xfrm>
                <a:off x="3136204" y="4195009"/>
                <a:ext cx="862879" cy="328864"/>
                <a:chOff x="4578166" y="1619250"/>
                <a:chExt cx="1975886" cy="428625"/>
              </a:xfrm>
              <a:noFill/>
            </p:grpSpPr>
            <p:sp>
              <p:nvSpPr>
                <p:cNvPr id="152" name="椭圆 151"/>
                <p:cNvSpPr/>
                <p:nvPr/>
              </p:nvSpPr>
              <p:spPr>
                <a:xfrm>
                  <a:off x="4578166" y="1619250"/>
                  <a:ext cx="1212221" cy="428625"/>
                </a:xfrm>
                <a:prstGeom prst="ellips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rgbClr val="CC00CC"/>
                      </a:solidFill>
                      <a:latin typeface="Times New Roman" panose="02020603050405020304" pitchFamily="18" charset="0"/>
                      <a:cs typeface="Times New Roman" panose="02020603050405020304" pitchFamily="18" charset="0"/>
                    </a:rPr>
                    <a:t>0</a:t>
                  </a:r>
                  <a:r>
                    <a:rPr lang="en-US" altLang="zh-CN" sz="1600" b="1" dirty="0">
                      <a:solidFill>
                        <a:schemeClr val="tx1"/>
                      </a:solidFill>
                      <a:latin typeface="Times New Roman" panose="02020603050405020304" pitchFamily="18" charset="0"/>
                      <a:cs typeface="Times New Roman" panose="02020603050405020304" pitchFamily="18" charset="0"/>
                    </a:rPr>
                    <a:t>011</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153" name="直接箭头连接符 152"/>
                <p:cNvCxnSpPr/>
                <p:nvPr/>
              </p:nvCxnSpPr>
              <p:spPr>
                <a:xfrm>
                  <a:off x="5812132" y="1842381"/>
                  <a:ext cx="741920" cy="1617"/>
                </a:xfrm>
                <a:prstGeom prst="straightConnector1">
                  <a:avLst/>
                </a:prstGeom>
                <a:grp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25" name="组合 66"/>
              <p:cNvGrpSpPr/>
              <p:nvPr/>
            </p:nvGrpSpPr>
            <p:grpSpPr>
              <a:xfrm>
                <a:off x="4022530" y="4195009"/>
                <a:ext cx="529383" cy="662684"/>
                <a:chOff x="4207036" y="4235115"/>
                <a:chExt cx="529383" cy="662684"/>
              </a:xfrm>
            </p:grpSpPr>
            <p:sp>
              <p:nvSpPr>
                <p:cNvPr id="150" name="椭圆 149"/>
                <p:cNvSpPr/>
                <p:nvPr/>
              </p:nvSpPr>
              <p:spPr>
                <a:xfrm>
                  <a:off x="4207036" y="4235115"/>
                  <a:ext cx="529383" cy="328864"/>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rgbClr val="CC00CC"/>
                      </a:solidFill>
                      <a:latin typeface="Times New Roman" panose="02020603050405020304" pitchFamily="18" charset="0"/>
                      <a:cs typeface="Times New Roman" panose="02020603050405020304" pitchFamily="18" charset="0"/>
                    </a:rPr>
                    <a:t>0</a:t>
                  </a:r>
                  <a:r>
                    <a:rPr lang="en-US" altLang="zh-CN" sz="1600" b="1" dirty="0">
                      <a:solidFill>
                        <a:schemeClr val="tx1"/>
                      </a:solidFill>
                      <a:latin typeface="Times New Roman" panose="02020603050405020304" pitchFamily="18" charset="0"/>
                      <a:cs typeface="Times New Roman" panose="02020603050405020304" pitchFamily="18" charset="0"/>
                    </a:rPr>
                    <a:t>100</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151" name="直接箭头连接符 150"/>
                <p:cNvCxnSpPr/>
                <p:nvPr/>
              </p:nvCxnSpPr>
              <p:spPr>
                <a:xfrm rot="5400000">
                  <a:off x="4316788" y="4735178"/>
                  <a:ext cx="324000" cy="1241"/>
                </a:xfrm>
                <a:prstGeom prst="straightConnector1">
                  <a:avLst/>
                </a:prstGeom>
                <a:no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26" name="组合 33"/>
              <p:cNvGrpSpPr/>
              <p:nvPr/>
            </p:nvGrpSpPr>
            <p:grpSpPr>
              <a:xfrm flipH="1">
                <a:off x="1070782" y="4872789"/>
                <a:ext cx="862879" cy="328864"/>
                <a:chOff x="4578166" y="1619250"/>
                <a:chExt cx="1975886" cy="428625"/>
              </a:xfrm>
              <a:noFill/>
            </p:grpSpPr>
            <p:sp>
              <p:nvSpPr>
                <p:cNvPr id="148" name="椭圆 147"/>
                <p:cNvSpPr/>
                <p:nvPr/>
              </p:nvSpPr>
              <p:spPr>
                <a:xfrm>
                  <a:off x="4578166" y="1619250"/>
                  <a:ext cx="1212221" cy="428625"/>
                </a:xfrm>
                <a:prstGeom prst="ellips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rgbClr val="CC00CC"/>
                      </a:solidFill>
                      <a:latin typeface="Times New Roman" panose="02020603050405020304" pitchFamily="18" charset="0"/>
                      <a:cs typeface="Times New Roman" panose="02020603050405020304" pitchFamily="18" charset="0"/>
                    </a:rPr>
                    <a:t>1</a:t>
                  </a:r>
                  <a:r>
                    <a:rPr lang="en-US" altLang="zh-CN" sz="1600" b="1" dirty="0">
                      <a:solidFill>
                        <a:schemeClr val="tx1"/>
                      </a:solidFill>
                      <a:latin typeface="Times New Roman" panose="02020603050405020304" pitchFamily="18" charset="0"/>
                      <a:cs typeface="Times New Roman" panose="02020603050405020304" pitchFamily="18" charset="0"/>
                    </a:rPr>
                    <a:t>011</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149" name="直接箭头连接符 148"/>
                <p:cNvCxnSpPr/>
                <p:nvPr/>
              </p:nvCxnSpPr>
              <p:spPr>
                <a:xfrm>
                  <a:off x="5812132" y="1842381"/>
                  <a:ext cx="741920" cy="1617"/>
                </a:xfrm>
                <a:prstGeom prst="straightConnector1">
                  <a:avLst/>
                </a:prstGeom>
                <a:grp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27" name="组合 33"/>
              <p:cNvGrpSpPr/>
              <p:nvPr/>
            </p:nvGrpSpPr>
            <p:grpSpPr>
              <a:xfrm flipH="1">
                <a:off x="1953099" y="4872789"/>
                <a:ext cx="862879" cy="328864"/>
                <a:chOff x="4578166" y="1619250"/>
                <a:chExt cx="1975886" cy="428625"/>
              </a:xfrm>
              <a:noFill/>
            </p:grpSpPr>
            <p:sp>
              <p:nvSpPr>
                <p:cNvPr id="146" name="椭圆 145"/>
                <p:cNvSpPr/>
                <p:nvPr/>
              </p:nvSpPr>
              <p:spPr>
                <a:xfrm>
                  <a:off x="4578166" y="1619250"/>
                  <a:ext cx="1212221" cy="428625"/>
                </a:xfrm>
                <a:prstGeom prst="ellips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rgbClr val="CC00CC"/>
                      </a:solidFill>
                      <a:latin typeface="Times New Roman" panose="02020603050405020304" pitchFamily="18" charset="0"/>
                      <a:cs typeface="Times New Roman" panose="02020603050405020304" pitchFamily="18" charset="0"/>
                    </a:rPr>
                    <a:t>1</a:t>
                  </a:r>
                  <a:r>
                    <a:rPr lang="en-US" altLang="zh-CN" sz="1600" b="1" dirty="0">
                      <a:solidFill>
                        <a:schemeClr val="tx1"/>
                      </a:solidFill>
                      <a:latin typeface="Times New Roman" panose="02020603050405020304" pitchFamily="18" charset="0"/>
                      <a:cs typeface="Times New Roman" panose="02020603050405020304" pitchFamily="18" charset="0"/>
                    </a:rPr>
                    <a:t>010</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147" name="直接箭头连接符 146"/>
                <p:cNvCxnSpPr/>
                <p:nvPr/>
              </p:nvCxnSpPr>
              <p:spPr>
                <a:xfrm>
                  <a:off x="5812132" y="1842381"/>
                  <a:ext cx="741920" cy="1617"/>
                </a:xfrm>
                <a:prstGeom prst="straightConnector1">
                  <a:avLst/>
                </a:prstGeom>
                <a:grp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1" name="组合 33"/>
              <p:cNvGrpSpPr/>
              <p:nvPr/>
            </p:nvGrpSpPr>
            <p:grpSpPr>
              <a:xfrm flipH="1">
                <a:off x="2823383" y="4872789"/>
                <a:ext cx="862879" cy="328864"/>
                <a:chOff x="4578166" y="1619250"/>
                <a:chExt cx="1975886" cy="428625"/>
              </a:xfrm>
              <a:noFill/>
            </p:grpSpPr>
            <p:sp>
              <p:nvSpPr>
                <p:cNvPr id="144" name="椭圆 143"/>
                <p:cNvSpPr/>
                <p:nvPr/>
              </p:nvSpPr>
              <p:spPr>
                <a:xfrm>
                  <a:off x="4578166" y="1619250"/>
                  <a:ext cx="1212221" cy="428625"/>
                </a:xfrm>
                <a:prstGeom prst="ellips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rgbClr val="CC00CC"/>
                      </a:solidFill>
                      <a:latin typeface="Times New Roman" panose="02020603050405020304" pitchFamily="18" charset="0"/>
                      <a:cs typeface="Times New Roman" panose="02020603050405020304" pitchFamily="18" charset="0"/>
                    </a:rPr>
                    <a:t>1</a:t>
                  </a:r>
                  <a:r>
                    <a:rPr lang="en-US" altLang="zh-CN" sz="1600" b="1" dirty="0">
                      <a:solidFill>
                        <a:schemeClr val="tx1"/>
                      </a:solidFill>
                      <a:latin typeface="Times New Roman" panose="02020603050405020304" pitchFamily="18" charset="0"/>
                      <a:cs typeface="Times New Roman" panose="02020603050405020304" pitchFamily="18" charset="0"/>
                    </a:rPr>
                    <a:t>001</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145" name="直接箭头连接符 144"/>
                <p:cNvCxnSpPr/>
                <p:nvPr/>
              </p:nvCxnSpPr>
              <p:spPr>
                <a:xfrm>
                  <a:off x="5812132" y="1842381"/>
                  <a:ext cx="741920" cy="1617"/>
                </a:xfrm>
                <a:prstGeom prst="straightConnector1">
                  <a:avLst/>
                </a:prstGeom>
                <a:grp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72032" name="组合 33"/>
              <p:cNvGrpSpPr/>
              <p:nvPr/>
            </p:nvGrpSpPr>
            <p:grpSpPr>
              <a:xfrm flipH="1">
                <a:off x="3697677" y="4872789"/>
                <a:ext cx="862879" cy="328864"/>
                <a:chOff x="4578166" y="1619250"/>
                <a:chExt cx="1975886" cy="428625"/>
              </a:xfrm>
              <a:noFill/>
            </p:grpSpPr>
            <p:sp>
              <p:nvSpPr>
                <p:cNvPr id="142" name="椭圆 141"/>
                <p:cNvSpPr/>
                <p:nvPr/>
              </p:nvSpPr>
              <p:spPr>
                <a:xfrm>
                  <a:off x="4578166" y="1619250"/>
                  <a:ext cx="1212221" cy="428625"/>
                </a:xfrm>
                <a:prstGeom prst="ellipse">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r"/>
                  <a:r>
                    <a:rPr lang="en-US" altLang="zh-CN" sz="1600" b="1" dirty="0">
                      <a:solidFill>
                        <a:srgbClr val="CC00CC"/>
                      </a:solidFill>
                      <a:latin typeface="Times New Roman" panose="02020603050405020304" pitchFamily="18" charset="0"/>
                      <a:cs typeface="Times New Roman" panose="02020603050405020304" pitchFamily="18" charset="0"/>
                    </a:rPr>
                    <a:t>1</a:t>
                  </a:r>
                  <a:r>
                    <a:rPr lang="en-US" altLang="zh-CN" sz="1600" b="1" dirty="0">
                      <a:solidFill>
                        <a:schemeClr val="tx1"/>
                      </a:solidFill>
                      <a:latin typeface="Times New Roman" panose="02020603050405020304" pitchFamily="18" charset="0"/>
                      <a:cs typeface="Times New Roman" panose="02020603050405020304" pitchFamily="18" charset="0"/>
                    </a:rPr>
                    <a:t>000</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143" name="直接箭头连接符 142"/>
                <p:cNvCxnSpPr/>
                <p:nvPr/>
              </p:nvCxnSpPr>
              <p:spPr>
                <a:xfrm>
                  <a:off x="5812132" y="1842381"/>
                  <a:ext cx="741920" cy="1617"/>
                </a:xfrm>
                <a:prstGeom prst="straightConnector1">
                  <a:avLst/>
                </a:prstGeom>
                <a:grp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72033" name="组合 84"/>
              <p:cNvGrpSpPr/>
              <p:nvPr/>
            </p:nvGrpSpPr>
            <p:grpSpPr>
              <a:xfrm flipV="1">
                <a:off x="517328" y="4547936"/>
                <a:ext cx="529383" cy="662684"/>
                <a:chOff x="4207036" y="4235115"/>
                <a:chExt cx="529383" cy="662684"/>
              </a:xfrm>
            </p:grpSpPr>
            <p:sp>
              <p:nvSpPr>
                <p:cNvPr id="140" name="椭圆 139"/>
                <p:cNvSpPr/>
                <p:nvPr/>
              </p:nvSpPr>
              <p:spPr>
                <a:xfrm rot="10800000">
                  <a:off x="4207036" y="4235115"/>
                  <a:ext cx="529383" cy="328864"/>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r>
                    <a:rPr lang="en-US" altLang="zh-CN" sz="1600" b="1" dirty="0">
                      <a:solidFill>
                        <a:srgbClr val="CC00CC"/>
                      </a:solidFill>
                      <a:latin typeface="Times New Roman" panose="02020603050405020304" pitchFamily="18" charset="0"/>
                      <a:cs typeface="Times New Roman" panose="02020603050405020304" pitchFamily="18" charset="0"/>
                    </a:rPr>
                    <a:t>1</a:t>
                  </a:r>
                  <a:r>
                    <a:rPr lang="en-US" altLang="zh-CN" sz="1600" b="1" dirty="0">
                      <a:solidFill>
                        <a:schemeClr val="tx1"/>
                      </a:solidFill>
                      <a:latin typeface="Times New Roman" panose="02020603050405020304" pitchFamily="18" charset="0"/>
                      <a:cs typeface="Times New Roman" panose="02020603050405020304" pitchFamily="18" charset="0"/>
                    </a:rPr>
                    <a:t>100</a:t>
                  </a:r>
                  <a:endParaRPr lang="zh-CN" altLang="en-US" sz="16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141" name="直接箭头连接符 140"/>
                <p:cNvCxnSpPr/>
                <p:nvPr/>
              </p:nvCxnSpPr>
              <p:spPr>
                <a:xfrm rot="5400000">
                  <a:off x="4316788" y="4735178"/>
                  <a:ext cx="324000" cy="1241"/>
                </a:xfrm>
                <a:prstGeom prst="straightConnector1">
                  <a:avLst/>
                </a:prstGeom>
                <a:noFill/>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grpSp>
      </p:grpSp>
      <p:grpSp>
        <p:nvGrpSpPr>
          <p:cNvPr id="82" name="组合 35"/>
          <p:cNvGrpSpPr/>
          <p:nvPr/>
        </p:nvGrpSpPr>
        <p:grpSpPr>
          <a:xfrm>
            <a:off x="645673" y="1825135"/>
            <a:ext cx="3420981" cy="1804987"/>
            <a:chOff x="4720387" y="1731295"/>
            <a:chExt cx="3420981" cy="1804987"/>
          </a:xfrm>
        </p:grpSpPr>
        <p:graphicFrame>
          <p:nvGraphicFramePr>
            <p:cNvPr id="85" name="Object 8"/>
            <p:cNvGraphicFramePr>
              <a:graphicFrameLocks noChangeAspect="1"/>
            </p:cNvGraphicFramePr>
            <p:nvPr/>
          </p:nvGraphicFramePr>
          <p:xfrm>
            <a:off x="4849312" y="1731295"/>
            <a:ext cx="3057525" cy="1804987"/>
          </p:xfrm>
          <a:graphic>
            <a:graphicData uri="http://schemas.openxmlformats.org/presentationml/2006/ole">
              <mc:AlternateContent xmlns:mc="http://schemas.openxmlformats.org/markup-compatibility/2006">
                <mc:Choice xmlns:v="urn:schemas-microsoft-com:vml" Requires="v">
                  <p:oleObj spid="_x0000_s33802" name="Visio" r:id="rId2" imgW="1362075" imgH="846455" progId="Visio.Drawing.11">
                    <p:embed/>
                  </p:oleObj>
                </mc:Choice>
                <mc:Fallback>
                  <p:oleObj name="Visio" r:id="rId2" imgW="1362075" imgH="846455" progId="Visio.Drawing.11">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9312" y="1731295"/>
                          <a:ext cx="3057525" cy="18049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88" name="圆角矩形 87"/>
            <p:cNvSpPr/>
            <p:nvPr/>
          </p:nvSpPr>
          <p:spPr>
            <a:xfrm>
              <a:off x="4720387" y="1732547"/>
              <a:ext cx="3420981" cy="1720516"/>
            </a:xfrm>
            <a:prstGeom prst="roundRect">
              <a:avLst>
                <a:gd name="adj" fmla="val 6211"/>
              </a:avLst>
            </a:prstGeom>
            <a:noFill/>
            <a:ln w="28575">
              <a:solidFill>
                <a:srgbClr val="0070C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lnSpc>
                  <a:spcPct val="150000"/>
                </a:lnSpc>
              </a:pP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89" name="圆角矩形标注 88"/>
          <p:cNvSpPr/>
          <p:nvPr/>
        </p:nvSpPr>
        <p:spPr>
          <a:xfrm>
            <a:off x="2197846" y="3886200"/>
            <a:ext cx="3986386" cy="501316"/>
          </a:xfrm>
          <a:prstGeom prst="wedgeRoundRectCallout">
            <a:avLst>
              <a:gd name="adj1" fmla="val -8992"/>
              <a:gd name="adj2" fmla="val -95588"/>
              <a:gd name="adj3" fmla="val 16667"/>
            </a:avLst>
          </a:prstGeom>
          <a:solidFill>
            <a:schemeClr val="accent4">
              <a:lumMod val="20000"/>
              <a:lumOff val="80000"/>
            </a:schemeClr>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2000" dirty="0">
                <a:solidFill>
                  <a:srgbClr val="0000FF"/>
                </a:solidFill>
                <a:latin typeface="微软雅黑" panose="020B0503020204020204" pitchFamily="34" charset="-122"/>
                <a:ea typeface="微软雅黑" panose="020B0503020204020204" pitchFamily="34" charset="-122"/>
              </a:rPr>
              <a:t>构成</a:t>
            </a:r>
            <a:r>
              <a:rPr lang="en-US" altLang="zh-CN" sz="2000" dirty="0">
                <a:solidFill>
                  <a:srgbClr val="0000FF"/>
                </a:solidFill>
                <a:latin typeface="微软雅黑" panose="020B0503020204020204" pitchFamily="34" charset="-122"/>
                <a:ea typeface="微软雅黑" panose="020B0503020204020204" pitchFamily="34" charset="-122"/>
              </a:rPr>
              <a:t>5421BCD</a:t>
            </a:r>
            <a:r>
              <a:rPr lang="zh-CN" altLang="en-US" sz="2000" dirty="0">
                <a:solidFill>
                  <a:srgbClr val="0000FF"/>
                </a:solidFill>
                <a:latin typeface="微软雅黑" panose="020B0503020204020204" pitchFamily="34" charset="-122"/>
                <a:ea typeface="微软雅黑" panose="020B0503020204020204" pitchFamily="34" charset="-122"/>
              </a:rPr>
              <a:t>码的十进制计数器</a:t>
            </a:r>
            <a:endParaRPr lang="zh-CN" altLang="en-US" sz="2000"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14:prism dir="d" isInverted="1"/>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964185" y="1596815"/>
            <a:ext cx="7150279" cy="2297399"/>
            <a:chOff x="576239" y="1596815"/>
            <a:chExt cx="7150279" cy="2297399"/>
          </a:xfrm>
        </p:grpSpPr>
        <p:sp>
          <p:nvSpPr>
            <p:cNvPr id="6" name="矩形: 圆角 5"/>
            <p:cNvSpPr/>
            <p:nvPr/>
          </p:nvSpPr>
          <p:spPr>
            <a:xfrm>
              <a:off x="576239" y="1596815"/>
              <a:ext cx="7150279" cy="2297399"/>
            </a:xfrm>
            <a:prstGeom prst="roundRect">
              <a:avLst>
                <a:gd name="adj" fmla="val 517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对象 2"/>
            <p:cNvGraphicFramePr>
              <a:graphicFrameLocks noChangeAspect="1"/>
            </p:cNvGraphicFramePr>
            <p:nvPr/>
          </p:nvGraphicFramePr>
          <p:xfrm>
            <a:off x="834699" y="1598247"/>
            <a:ext cx="6812118" cy="2125980"/>
          </p:xfrm>
          <a:graphic>
            <a:graphicData uri="http://schemas.openxmlformats.org/presentationml/2006/ole">
              <mc:AlternateContent xmlns:mc="http://schemas.openxmlformats.org/markup-compatibility/2006">
                <mc:Choice xmlns:v="urn:schemas-microsoft-com:vml" Requires="v">
                  <p:oleObj spid="_x0000_s34874" name="Visio" r:id="rId1" imgW="3629025" imgH="1143000" progId="Visio.Drawing.11">
                    <p:embed/>
                  </p:oleObj>
                </mc:Choice>
                <mc:Fallback>
                  <p:oleObj name="Visio" r:id="rId1" imgW="3629025" imgH="1143000" progId="Visio.Drawing.11">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699" y="1598247"/>
                          <a:ext cx="6812118" cy="21259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2" name="圆角矩形标注 115"/>
          <p:cNvSpPr/>
          <p:nvPr/>
        </p:nvSpPr>
        <p:spPr>
          <a:xfrm>
            <a:off x="7462303" y="2941152"/>
            <a:ext cx="1319307" cy="476999"/>
          </a:xfrm>
          <a:prstGeom prst="wedgeRoundRectCallout">
            <a:avLst>
              <a:gd name="adj1" fmla="val -21955"/>
              <a:gd name="adj2" fmla="val -98477"/>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2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2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2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2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=1111</a:t>
            </a:r>
            <a:endPar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TC=1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1" name="组合 2"/>
          <p:cNvGrpSpPr/>
          <p:nvPr/>
        </p:nvGrpSpPr>
        <p:grpSpPr>
          <a:xfrm>
            <a:off x="392432" y="712860"/>
            <a:ext cx="1831741" cy="420971"/>
            <a:chOff x="670560" y="892917"/>
            <a:chExt cx="1831741" cy="420971"/>
          </a:xfrm>
        </p:grpSpPr>
        <p:sp>
          <p:nvSpPr>
            <p:cNvPr id="22" name="矩形 21"/>
            <p:cNvSpPr/>
            <p:nvPr/>
          </p:nvSpPr>
          <p:spPr>
            <a:xfrm>
              <a:off x="1035233" y="913778"/>
              <a:ext cx="146706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同步计数器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3"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24" name="Rectangle 171"/>
          <p:cNvSpPr>
            <a:spLocks noChangeArrowheads="1"/>
          </p:cNvSpPr>
          <p:nvPr/>
        </p:nvSpPr>
        <p:spPr bwMode="auto">
          <a:xfrm>
            <a:off x="314994" y="1175519"/>
            <a:ext cx="3863975" cy="369332"/>
          </a:xfrm>
          <a:prstGeom prst="rect">
            <a:avLst/>
          </a:prstGeom>
          <a:solidFill>
            <a:srgbClr val="FFFFFF"/>
          </a:solidFill>
          <a:ln w="9525">
            <a:noFill/>
            <a:miter lim="800000"/>
          </a:ln>
        </p:spPr>
        <p:txBody>
          <a:bodyPr anchor="ctr">
            <a:spAutoFit/>
          </a:bodyPr>
          <a:lstStyle/>
          <a:p>
            <a:r>
              <a:rPr lang="zh-CN" altLang="en-US" b="1" dirty="0">
                <a:solidFill>
                  <a:srgbClr val="CC00CC"/>
                </a:solidFill>
                <a:latin typeface="微软雅黑" panose="020B0503020204020204" pitchFamily="34" charset="-122"/>
                <a:ea typeface="微软雅黑" panose="020B0503020204020204" pitchFamily="34" charset="-122"/>
              </a:rPr>
              <a:t>（</a:t>
            </a:r>
            <a:r>
              <a:rPr lang="en-US" altLang="zh-CN" b="1" dirty="0">
                <a:solidFill>
                  <a:srgbClr val="CC00CC"/>
                </a:solidFill>
                <a:latin typeface="微软雅黑" panose="020B0503020204020204" pitchFamily="34" charset="-122"/>
                <a:ea typeface="微软雅黑" panose="020B0503020204020204" pitchFamily="34" charset="-122"/>
              </a:rPr>
              <a:t>1</a:t>
            </a:r>
            <a:r>
              <a:rPr lang="zh-CN" altLang="en-US" b="1" dirty="0">
                <a:solidFill>
                  <a:srgbClr val="CC00CC"/>
                </a:solidFill>
                <a:latin typeface="微软雅黑" panose="020B0503020204020204" pitchFamily="34" charset="-122"/>
                <a:ea typeface="微软雅黑" panose="020B0503020204020204" pitchFamily="34" charset="-122"/>
              </a:rPr>
              <a:t>）同步二进制计数器</a:t>
            </a:r>
            <a:endParaRPr lang="zh-CN" altLang="en-US" b="1" dirty="0">
              <a:solidFill>
                <a:srgbClr val="CC00CC"/>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791391" y="3990499"/>
            <a:ext cx="5211598" cy="1579790"/>
            <a:chOff x="576239" y="3998183"/>
            <a:chExt cx="5211598" cy="1579790"/>
          </a:xfrm>
        </p:grpSpPr>
        <p:sp>
          <p:nvSpPr>
            <p:cNvPr id="7" name="矩形: 剪去对角 6"/>
            <p:cNvSpPr/>
            <p:nvPr/>
          </p:nvSpPr>
          <p:spPr>
            <a:xfrm>
              <a:off x="576239" y="3998183"/>
              <a:ext cx="5211598" cy="1579790"/>
            </a:xfrm>
            <a:prstGeom prst="snip2DiagRect">
              <a:avLst>
                <a:gd name="adj1" fmla="val 0"/>
                <a:gd name="adj2" fmla="val 1083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对象 4"/>
            <p:cNvGraphicFramePr>
              <a:graphicFrameLocks noChangeAspect="1"/>
            </p:cNvGraphicFramePr>
            <p:nvPr/>
          </p:nvGraphicFramePr>
          <p:xfrm>
            <a:off x="647193" y="4120285"/>
            <a:ext cx="5069690" cy="1394460"/>
          </p:xfrm>
          <a:graphic>
            <a:graphicData uri="http://schemas.openxmlformats.org/presentationml/2006/ole">
              <mc:AlternateContent xmlns:mc="http://schemas.openxmlformats.org/markup-compatibility/2006">
                <mc:Choice xmlns:v="urn:schemas-microsoft-com:vml" Requires="v">
                  <p:oleObj spid="_x0000_s34875" name="Visio" r:id="rId4" imgW="3409950" imgH="952500" progId="Visio.Drawing.11">
                    <p:embed/>
                  </p:oleObj>
                </mc:Choice>
                <mc:Fallback>
                  <p:oleObj name="Visio" r:id="rId4" imgW="3409950" imgH="952500" progId="Visio.Drawing.11">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193" y="4120285"/>
                          <a:ext cx="5069690" cy="13944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椭圆 1"/>
          <p:cNvSpPr/>
          <p:nvPr/>
        </p:nvSpPr>
        <p:spPr>
          <a:xfrm>
            <a:off x="1023709" y="3428126"/>
            <a:ext cx="253573" cy="3195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FF0000"/>
                </a:solidFill>
                <a:latin typeface="Times New Roman" panose="02020603050405020304" pitchFamily="18" charset="0"/>
                <a:cs typeface="Times New Roman" panose="02020603050405020304" pitchFamily="18" charset="0"/>
              </a:rPr>
              <a:t>0</a:t>
            </a:r>
            <a:endParaRPr lang="zh-CN" altLang="en-US" b="1" dirty="0">
              <a:latin typeface="Times New Roman" panose="02020603050405020304" pitchFamily="18" charset="0"/>
              <a:cs typeface="Times New Roman" panose="02020603050405020304" pitchFamily="18" charset="0"/>
            </a:endParaRPr>
          </a:p>
        </p:txBody>
      </p:sp>
      <p:grpSp>
        <p:nvGrpSpPr>
          <p:cNvPr id="4" name="组合 3"/>
          <p:cNvGrpSpPr/>
          <p:nvPr/>
        </p:nvGrpSpPr>
        <p:grpSpPr>
          <a:xfrm>
            <a:off x="3220061" y="1640327"/>
            <a:ext cx="4339924" cy="237297"/>
            <a:chOff x="2858913" y="1504291"/>
            <a:chExt cx="4339924" cy="319545"/>
          </a:xfrm>
          <a:solidFill>
            <a:srgbClr val="00CC00"/>
          </a:solidFill>
        </p:grpSpPr>
        <p:sp>
          <p:nvSpPr>
            <p:cNvPr id="10" name="椭圆 9"/>
            <p:cNvSpPr/>
            <p:nvPr/>
          </p:nvSpPr>
          <p:spPr>
            <a:xfrm>
              <a:off x="2858913" y="1504291"/>
              <a:ext cx="253573" cy="319545"/>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rgbClr val="FF0000"/>
                  </a:solidFill>
                  <a:latin typeface="Times New Roman" panose="02020603050405020304" pitchFamily="18" charset="0"/>
                  <a:cs typeface="Times New Roman" panose="02020603050405020304" pitchFamily="18" charset="0"/>
                </a:rPr>
                <a:t>0</a:t>
              </a:r>
              <a:endParaRPr lang="zh-CN" altLang="en-US" sz="1600" b="1" dirty="0">
                <a:latin typeface="Times New Roman" panose="02020603050405020304" pitchFamily="18" charset="0"/>
                <a:cs typeface="Times New Roman" panose="02020603050405020304" pitchFamily="18" charset="0"/>
              </a:endParaRPr>
            </a:p>
          </p:txBody>
        </p:sp>
        <p:sp>
          <p:nvSpPr>
            <p:cNvPr id="11" name="椭圆 10"/>
            <p:cNvSpPr/>
            <p:nvPr/>
          </p:nvSpPr>
          <p:spPr>
            <a:xfrm>
              <a:off x="3987185" y="1504291"/>
              <a:ext cx="253573" cy="319545"/>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rgbClr val="FF0000"/>
                  </a:solidFill>
                  <a:latin typeface="Times New Roman" panose="02020603050405020304" pitchFamily="18" charset="0"/>
                  <a:cs typeface="Times New Roman" panose="02020603050405020304" pitchFamily="18" charset="0"/>
                </a:rPr>
                <a:t>0</a:t>
              </a:r>
              <a:endParaRPr lang="zh-CN" altLang="en-US" sz="1600" b="1" dirty="0">
                <a:latin typeface="Times New Roman" panose="02020603050405020304" pitchFamily="18" charset="0"/>
                <a:cs typeface="Times New Roman" panose="02020603050405020304" pitchFamily="18" charset="0"/>
              </a:endParaRPr>
            </a:p>
          </p:txBody>
        </p:sp>
        <p:sp>
          <p:nvSpPr>
            <p:cNvPr id="12" name="椭圆 11"/>
            <p:cNvSpPr/>
            <p:nvPr/>
          </p:nvSpPr>
          <p:spPr>
            <a:xfrm>
              <a:off x="5529618" y="1504291"/>
              <a:ext cx="253573" cy="319545"/>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rgbClr val="FF0000"/>
                  </a:solidFill>
                  <a:latin typeface="Times New Roman" panose="02020603050405020304" pitchFamily="18" charset="0"/>
                  <a:cs typeface="Times New Roman" panose="02020603050405020304" pitchFamily="18" charset="0"/>
                </a:rPr>
                <a:t>0</a:t>
              </a:r>
              <a:endParaRPr lang="zh-CN" altLang="en-US" sz="1600" b="1" dirty="0">
                <a:latin typeface="Times New Roman" panose="02020603050405020304" pitchFamily="18" charset="0"/>
                <a:cs typeface="Times New Roman" panose="02020603050405020304" pitchFamily="18" charset="0"/>
              </a:endParaRPr>
            </a:p>
          </p:txBody>
        </p:sp>
        <p:sp>
          <p:nvSpPr>
            <p:cNvPr id="13" name="椭圆 12"/>
            <p:cNvSpPr/>
            <p:nvPr/>
          </p:nvSpPr>
          <p:spPr>
            <a:xfrm>
              <a:off x="6945264" y="1504291"/>
              <a:ext cx="253573" cy="319545"/>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rgbClr val="FF0000"/>
                  </a:solidFill>
                  <a:latin typeface="Times New Roman" panose="02020603050405020304" pitchFamily="18" charset="0"/>
                  <a:cs typeface="Times New Roman" panose="02020603050405020304" pitchFamily="18" charset="0"/>
                </a:rPr>
                <a:t>0</a:t>
              </a:r>
              <a:endParaRPr lang="zh-CN" altLang="en-US" sz="1600" b="1" dirty="0">
                <a:latin typeface="Times New Roman" panose="02020603050405020304" pitchFamily="18" charset="0"/>
                <a:cs typeface="Times New Roman" panose="02020603050405020304" pitchFamily="18" charset="0"/>
              </a:endParaRPr>
            </a:p>
          </p:txBody>
        </p:sp>
      </p:grpSp>
      <p:sp>
        <p:nvSpPr>
          <p:cNvPr id="15" name="椭圆 14"/>
          <p:cNvSpPr/>
          <p:nvPr/>
        </p:nvSpPr>
        <p:spPr>
          <a:xfrm>
            <a:off x="1023708" y="3426619"/>
            <a:ext cx="253573" cy="319545"/>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00FF"/>
                </a:solidFill>
                <a:latin typeface="Times New Roman" panose="02020603050405020304" pitchFamily="18" charset="0"/>
                <a:cs typeface="Times New Roman" panose="02020603050405020304" pitchFamily="18" charset="0"/>
              </a:rPr>
              <a:t>1</a:t>
            </a:r>
            <a:endParaRPr lang="zh-CN" altLang="en-US" b="1" dirty="0">
              <a:solidFill>
                <a:srgbClr val="0000FF"/>
              </a:solidFill>
              <a:latin typeface="Times New Roman" panose="02020603050405020304" pitchFamily="18" charset="0"/>
              <a:cs typeface="Times New Roman" panose="02020603050405020304" pitchFamily="18" charset="0"/>
            </a:endParaRPr>
          </a:p>
        </p:txBody>
      </p:sp>
      <p:grpSp>
        <p:nvGrpSpPr>
          <p:cNvPr id="18" name="组合 17"/>
          <p:cNvGrpSpPr/>
          <p:nvPr/>
        </p:nvGrpSpPr>
        <p:grpSpPr>
          <a:xfrm>
            <a:off x="6071297" y="3946178"/>
            <a:ext cx="2352226" cy="1661232"/>
            <a:chOff x="6032877" y="3946178"/>
            <a:chExt cx="2352226" cy="1661232"/>
          </a:xfrm>
        </p:grpSpPr>
        <p:sp>
          <p:nvSpPr>
            <p:cNvPr id="26" name="矩形: 剪去对角 25"/>
            <p:cNvSpPr/>
            <p:nvPr/>
          </p:nvSpPr>
          <p:spPr>
            <a:xfrm>
              <a:off x="6032877" y="4027620"/>
              <a:ext cx="2352226" cy="1579790"/>
            </a:xfrm>
            <a:prstGeom prst="snip2DiagRect">
              <a:avLst>
                <a:gd name="adj1" fmla="val 0"/>
                <a:gd name="adj2" fmla="val 1083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6179608" y="3946178"/>
              <a:ext cx="2058764" cy="1569660"/>
            </a:xfrm>
            <a:prstGeom prst="rect">
              <a:avLst/>
            </a:prstGeom>
            <a:noFill/>
          </p:spPr>
          <p:txBody>
            <a:bodyPr wrap="square">
              <a:spAutoFit/>
            </a:bodyPr>
            <a:lstStyle/>
            <a:p>
              <a:endPar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每输入</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16</a:t>
              </a:r>
              <a:r>
                <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个计数脉冲完成一个循环，并在</a:t>
              </a:r>
              <a:r>
                <a:rPr lang="en-US" altLang="zh-CN" sz="1600" i="1" kern="100" dirty="0">
                  <a:effectLst/>
                  <a:latin typeface="Times New Roman" panose="02020603050405020304" pitchFamily="18" charset="0"/>
                  <a:ea typeface="微软雅黑" panose="020B0503020204020204" pitchFamily="34" charset="-122"/>
                  <a:cs typeface="Times New Roman" panose="02020603050405020304" pitchFamily="18" charset="0"/>
                </a:rPr>
                <a:t>TC</a:t>
              </a:r>
              <a:r>
                <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输出端产生一个进位输出信号，故该计数器的模</a:t>
              </a:r>
              <a:r>
                <a:rPr lang="en-US" altLang="zh-CN" sz="1600" i="1" kern="100" dirty="0">
                  <a:effectLst/>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=16</a:t>
              </a:r>
              <a:r>
                <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27" name="组合 26"/>
          <p:cNvGrpSpPr/>
          <p:nvPr/>
        </p:nvGrpSpPr>
        <p:grpSpPr>
          <a:xfrm>
            <a:off x="3033496" y="989086"/>
            <a:ext cx="4144974" cy="651241"/>
            <a:chOff x="3033496" y="989086"/>
            <a:chExt cx="4144974" cy="651241"/>
          </a:xfrm>
        </p:grpSpPr>
        <p:sp>
          <p:nvSpPr>
            <p:cNvPr id="19" name="右大括号 18"/>
            <p:cNvSpPr/>
            <p:nvPr/>
          </p:nvSpPr>
          <p:spPr>
            <a:xfrm rot="16200000">
              <a:off x="4976751" y="-561392"/>
              <a:ext cx="258464" cy="4144974"/>
            </a:xfrm>
            <a:prstGeom prst="rightBrace">
              <a:avLst>
                <a:gd name="adj1" fmla="val 111075"/>
                <a:gd name="adj2" fmla="val 50362"/>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p:cNvSpPr txBox="1"/>
            <p:nvPr/>
          </p:nvSpPr>
          <p:spPr>
            <a:xfrm>
              <a:off x="4782817" y="989086"/>
              <a:ext cx="646331" cy="369332"/>
            </a:xfrm>
            <a:prstGeom prst="rect">
              <a:avLst/>
            </a:prstGeom>
            <a:noFill/>
          </p:spPr>
          <p:txBody>
            <a:bodyPr wrap="none" rtlCol="0">
              <a:spAutoFit/>
            </a:bodyPr>
            <a:lstStyle/>
            <a:p>
              <a:r>
                <a:rPr lang="zh-CN" altLang="en-US" dirty="0">
                  <a:solidFill>
                    <a:srgbClr val="6600FF"/>
                  </a:solidFill>
                  <a:latin typeface="微软雅黑" panose="020B0503020204020204" pitchFamily="34" charset="-122"/>
                  <a:ea typeface="微软雅黑" panose="020B0503020204020204" pitchFamily="34" charset="-122"/>
                </a:rPr>
                <a:t>计数</a:t>
              </a:r>
              <a:endParaRPr lang="zh-CN" altLang="en-US" dirty="0">
                <a:solidFill>
                  <a:srgbClr val="6600FF"/>
                </a:solidFill>
                <a:latin typeface="微软雅黑" panose="020B0503020204020204" pitchFamily="34" charset="-122"/>
                <a:ea typeface="微软雅黑" panose="020B0503020204020204" pitchFamily="34" charset="-122"/>
              </a:endParaRPr>
            </a:p>
          </p:txBody>
        </p:sp>
      </p:grpSp>
      <p:sp>
        <p:nvSpPr>
          <p:cNvPr id="28" name="圆角矩形标注 115"/>
          <p:cNvSpPr/>
          <p:nvPr/>
        </p:nvSpPr>
        <p:spPr>
          <a:xfrm>
            <a:off x="2198850" y="948001"/>
            <a:ext cx="1615149" cy="476999"/>
          </a:xfrm>
          <a:prstGeom prst="wedgeRoundRectCallout">
            <a:avLst>
              <a:gd name="adj1" fmla="val -5554"/>
              <a:gd name="adj2" fmla="val 102177"/>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每一个</a:t>
            </a: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CP</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上升沿</a:t>
            </a:r>
            <a:endPar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状态翻转一次</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9" name="圆角矩形标注 115"/>
          <p:cNvSpPr/>
          <p:nvPr/>
        </p:nvSpPr>
        <p:spPr>
          <a:xfrm>
            <a:off x="3869245" y="970614"/>
            <a:ext cx="1615149" cy="476999"/>
          </a:xfrm>
          <a:prstGeom prst="wedgeRoundRectCallout">
            <a:avLst>
              <a:gd name="adj1" fmla="val -30421"/>
              <a:gd name="adj2" fmla="val 93221"/>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2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 1</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，下一个</a:t>
            </a: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CP</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上升沿，状态翻转</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0" name="圆角矩形标注 115"/>
          <p:cNvSpPr/>
          <p:nvPr/>
        </p:nvSpPr>
        <p:spPr>
          <a:xfrm>
            <a:off x="5564244" y="975029"/>
            <a:ext cx="1615149" cy="476999"/>
          </a:xfrm>
          <a:prstGeom prst="wedgeRoundRectCallout">
            <a:avLst>
              <a:gd name="adj1" fmla="val -36241"/>
              <a:gd name="adj2" fmla="val 100387"/>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2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12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=11</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，下一个</a:t>
            </a: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CP</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上升沿，状态翻转</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1" name="圆角矩形标注 115"/>
          <p:cNvSpPr/>
          <p:nvPr/>
        </p:nvSpPr>
        <p:spPr>
          <a:xfrm>
            <a:off x="7284467" y="975375"/>
            <a:ext cx="1615149" cy="476999"/>
          </a:xfrm>
          <a:prstGeom prst="wedgeRoundRectCallout">
            <a:avLst>
              <a:gd name="adj1" fmla="val -51585"/>
              <a:gd name="adj2" fmla="val 102179"/>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2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2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2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=111</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，下一个</a:t>
            </a: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CP</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上升沿，状态翻转</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3442" name="Rectangle 18"/>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34" name="组合 33"/>
          <p:cNvGrpSpPr/>
          <p:nvPr/>
        </p:nvGrpSpPr>
        <p:grpSpPr>
          <a:xfrm>
            <a:off x="826770" y="1765247"/>
            <a:ext cx="1238250" cy="476999"/>
            <a:chOff x="918210" y="1738577"/>
            <a:chExt cx="1238250" cy="476999"/>
          </a:xfrm>
        </p:grpSpPr>
        <p:sp>
          <p:nvSpPr>
            <p:cNvPr id="33" name="圆角矩形标注 115"/>
            <p:cNvSpPr/>
            <p:nvPr/>
          </p:nvSpPr>
          <p:spPr>
            <a:xfrm>
              <a:off x="918210" y="1738577"/>
              <a:ext cx="1238250" cy="476999"/>
            </a:xfrm>
            <a:prstGeom prst="wedgeRoundRectCallout">
              <a:avLst>
                <a:gd name="adj1" fmla="val 20368"/>
                <a:gd name="adj2" fmla="val 115756"/>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03441" name="Object 213"/>
            <p:cNvGraphicFramePr>
              <a:graphicFrameLocks noChangeAspect="1"/>
            </p:cNvGraphicFramePr>
            <p:nvPr/>
          </p:nvGraphicFramePr>
          <p:xfrm>
            <a:off x="982980" y="1813560"/>
            <a:ext cx="1051560" cy="324872"/>
          </p:xfrm>
          <a:graphic>
            <a:graphicData uri="http://schemas.openxmlformats.org/presentationml/2006/ole">
              <mc:AlternateContent xmlns:mc="http://schemas.openxmlformats.org/markup-compatibility/2006">
                <mc:Choice xmlns:v="urn:schemas-microsoft-com:vml" Requires="v">
                  <p:oleObj spid="_x0000_s34876" name="公式" r:id="rId6" imgW="14935200" imgH="4572000" progId="Equation.3">
                    <p:embed/>
                  </p:oleObj>
                </mc:Choice>
                <mc:Fallback>
                  <p:oleObj name="公式" r:id="rId6" imgW="14935200" imgH="4572000" progId="Equation.3">
                    <p:embed/>
                    <p:pic>
                      <p:nvPicPr>
                        <p:cNvPr id="0" name="Object 2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2980" y="1813560"/>
                          <a:ext cx="1051560" cy="3248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3445" name="Rectangle 21"/>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39" name="组合 38"/>
          <p:cNvGrpSpPr/>
          <p:nvPr/>
        </p:nvGrpSpPr>
        <p:grpSpPr>
          <a:xfrm>
            <a:off x="1962150" y="1791917"/>
            <a:ext cx="1238250" cy="476999"/>
            <a:chOff x="1927860" y="1791917"/>
            <a:chExt cx="1238250" cy="476999"/>
          </a:xfrm>
        </p:grpSpPr>
        <p:sp>
          <p:nvSpPr>
            <p:cNvPr id="36" name="圆角矩形标注 115"/>
            <p:cNvSpPr/>
            <p:nvPr/>
          </p:nvSpPr>
          <p:spPr>
            <a:xfrm>
              <a:off x="1927860" y="1791917"/>
              <a:ext cx="1238250" cy="476999"/>
            </a:xfrm>
            <a:prstGeom prst="wedgeRoundRectCallout">
              <a:avLst>
                <a:gd name="adj1" fmla="val 28676"/>
                <a:gd name="adj2" fmla="val 119750"/>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03444" name="Object 215"/>
            <p:cNvGraphicFramePr>
              <a:graphicFrameLocks noChangeAspect="1"/>
            </p:cNvGraphicFramePr>
            <p:nvPr/>
          </p:nvGraphicFramePr>
          <p:xfrm>
            <a:off x="1985010" y="1840230"/>
            <a:ext cx="1055370" cy="321200"/>
          </p:xfrm>
          <a:graphic>
            <a:graphicData uri="http://schemas.openxmlformats.org/presentationml/2006/ole">
              <mc:AlternateContent xmlns:mc="http://schemas.openxmlformats.org/markup-compatibility/2006">
                <mc:Choice xmlns:v="urn:schemas-microsoft-com:vml" Requires="v">
                  <p:oleObj spid="_x0000_s34877" name="公式" r:id="rId8" imgW="16764000" imgH="5181600" progId="Equation.3">
                    <p:embed/>
                  </p:oleObj>
                </mc:Choice>
                <mc:Fallback>
                  <p:oleObj name="公式" r:id="rId8" imgW="16764000" imgH="5181600" progId="Equation.3">
                    <p:embed/>
                    <p:pic>
                      <p:nvPicPr>
                        <p:cNvPr id="0" name="Object 2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85010" y="1840230"/>
                          <a:ext cx="1055370" cy="32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3448" name="Rectangle 2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45" name="组合 44"/>
          <p:cNvGrpSpPr/>
          <p:nvPr/>
        </p:nvGrpSpPr>
        <p:grpSpPr>
          <a:xfrm>
            <a:off x="3291840" y="3392117"/>
            <a:ext cx="1238250" cy="476999"/>
            <a:chOff x="3291840" y="3392117"/>
            <a:chExt cx="1238250" cy="476999"/>
          </a:xfrm>
        </p:grpSpPr>
        <p:sp>
          <p:nvSpPr>
            <p:cNvPr id="41" name="圆角矩形标注 115"/>
            <p:cNvSpPr/>
            <p:nvPr/>
          </p:nvSpPr>
          <p:spPr>
            <a:xfrm>
              <a:off x="3291840" y="3392117"/>
              <a:ext cx="1238250" cy="476999"/>
            </a:xfrm>
            <a:prstGeom prst="wedgeRoundRectCallout">
              <a:avLst>
                <a:gd name="adj1" fmla="val 46215"/>
                <a:gd name="adj2" fmla="val -135049"/>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03447" name="Object 218"/>
            <p:cNvGraphicFramePr>
              <a:graphicFrameLocks noChangeAspect="1"/>
            </p:cNvGraphicFramePr>
            <p:nvPr/>
          </p:nvGraphicFramePr>
          <p:xfrm>
            <a:off x="3303270" y="3474720"/>
            <a:ext cx="1192712" cy="289560"/>
          </p:xfrm>
          <a:graphic>
            <a:graphicData uri="http://schemas.openxmlformats.org/presentationml/2006/ole">
              <mc:AlternateContent xmlns:mc="http://schemas.openxmlformats.org/markup-compatibility/2006">
                <mc:Choice xmlns:v="urn:schemas-microsoft-com:vml" Requires="v">
                  <p:oleObj spid="_x0000_s34878" name="公式" r:id="rId10" imgW="21031200" imgH="5181600" progId="Equation.3">
                    <p:embed/>
                  </p:oleObj>
                </mc:Choice>
                <mc:Fallback>
                  <p:oleObj name="公式" r:id="rId10" imgW="21031200" imgH="5181600" progId="Equation.3">
                    <p:embed/>
                    <p:pic>
                      <p:nvPicPr>
                        <p:cNvPr id="0" name="Object 2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03270" y="3474720"/>
                          <a:ext cx="1192712" cy="2895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3451" name="Rectangle 2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51" name="组合 50"/>
          <p:cNvGrpSpPr/>
          <p:nvPr/>
        </p:nvGrpSpPr>
        <p:grpSpPr>
          <a:xfrm>
            <a:off x="4754880" y="3357827"/>
            <a:ext cx="1436370" cy="476999"/>
            <a:chOff x="4754880" y="3357827"/>
            <a:chExt cx="1436370" cy="476999"/>
          </a:xfrm>
        </p:grpSpPr>
        <p:sp>
          <p:nvSpPr>
            <p:cNvPr id="47" name="圆角矩形标注 115"/>
            <p:cNvSpPr/>
            <p:nvPr/>
          </p:nvSpPr>
          <p:spPr>
            <a:xfrm>
              <a:off x="4754880" y="3357827"/>
              <a:ext cx="1436370" cy="476999"/>
            </a:xfrm>
            <a:prstGeom prst="wedgeRoundRectCallout">
              <a:avLst>
                <a:gd name="adj1" fmla="val 34014"/>
                <a:gd name="adj2" fmla="val -86326"/>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03450" name="Object 221"/>
            <p:cNvGraphicFramePr>
              <a:graphicFrameLocks noChangeAspect="1"/>
            </p:cNvGraphicFramePr>
            <p:nvPr/>
          </p:nvGraphicFramePr>
          <p:xfrm>
            <a:off x="4804410" y="3459480"/>
            <a:ext cx="1340304" cy="285750"/>
          </p:xfrm>
          <a:graphic>
            <a:graphicData uri="http://schemas.openxmlformats.org/presentationml/2006/ole">
              <mc:AlternateContent xmlns:mc="http://schemas.openxmlformats.org/markup-compatibility/2006">
                <mc:Choice xmlns:v="urn:schemas-microsoft-com:vml" Requires="v">
                  <p:oleObj spid="_x0000_s34879" name="公式" r:id="rId12" imgW="24079200" imgH="5181600" progId="Equation.3">
                    <p:embed/>
                  </p:oleObj>
                </mc:Choice>
                <mc:Fallback>
                  <p:oleObj name="公式" r:id="rId12" imgW="24079200" imgH="5181600" progId="Equation.3">
                    <p:embed/>
                    <p:pic>
                      <p:nvPicPr>
                        <p:cNvPr id="0" name="Object 2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04410" y="3459480"/>
                          <a:ext cx="1340304" cy="28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3454" name="Rectangle 3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03456" name="Rectangle 3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61" name="组合 60"/>
          <p:cNvGrpSpPr/>
          <p:nvPr/>
        </p:nvGrpSpPr>
        <p:grpSpPr>
          <a:xfrm>
            <a:off x="7463007" y="2457265"/>
            <a:ext cx="1348101" cy="476999"/>
            <a:chOff x="7290239" y="3316885"/>
            <a:chExt cx="1348101" cy="476999"/>
          </a:xfrm>
        </p:grpSpPr>
        <p:sp>
          <p:nvSpPr>
            <p:cNvPr id="57" name="圆角矩形标注 115"/>
            <p:cNvSpPr/>
            <p:nvPr/>
          </p:nvSpPr>
          <p:spPr>
            <a:xfrm>
              <a:off x="7290239" y="3316885"/>
              <a:ext cx="1348101" cy="476999"/>
            </a:xfrm>
            <a:prstGeom prst="wedgeRoundRectCallout">
              <a:avLst>
                <a:gd name="adj1" fmla="val -21955"/>
                <a:gd name="adj2" fmla="val -98477"/>
                <a:gd name="adj3" fmla="val 16667"/>
              </a:avLst>
            </a:prstGeom>
            <a:solidFill>
              <a:srgbClr val="FFFF00"/>
            </a:solidFill>
            <a:ln w="38100">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3">
              <a:schemeClr val="lt1"/>
            </a:lnRef>
            <a:fillRef idx="1">
              <a:schemeClr val="accent1"/>
            </a:fillRef>
            <a:effectRef idx="1">
              <a:schemeClr val="accent1"/>
            </a:effectRef>
            <a:fontRef idx="minor">
              <a:schemeClr val="lt1"/>
            </a:fontRef>
          </p:style>
          <p:txBody>
            <a:bodyPr lIns="0" tIns="0" rIns="0" bIns="0" rtlCol="0" anchor="ctr"/>
            <a:lstStyle/>
            <a:p>
              <a:pPr algn="ct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03455" name="Object 224"/>
            <p:cNvGraphicFramePr>
              <a:graphicFrameLocks noChangeAspect="1"/>
            </p:cNvGraphicFramePr>
            <p:nvPr/>
          </p:nvGraphicFramePr>
          <p:xfrm>
            <a:off x="7336269" y="3383701"/>
            <a:ext cx="1189807" cy="282327"/>
          </p:xfrm>
          <a:graphic>
            <a:graphicData uri="http://schemas.openxmlformats.org/presentationml/2006/ole">
              <mc:AlternateContent xmlns:mc="http://schemas.openxmlformats.org/markup-compatibility/2006">
                <mc:Choice xmlns:v="urn:schemas-microsoft-com:vml" Requires="v">
                  <p:oleObj spid="_x0000_s34880" name="公式" r:id="rId14" imgW="21640800" imgH="5181600" progId="Equation.3">
                    <p:embed/>
                  </p:oleObj>
                </mc:Choice>
                <mc:Fallback>
                  <p:oleObj name="公式" r:id="rId14" imgW="21640800" imgH="5181600" progId="Equation.3">
                    <p:embed/>
                    <p:pic>
                      <p:nvPicPr>
                        <p:cNvPr id="0" name="Object 22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336269" y="3383701"/>
                          <a:ext cx="1189807" cy="2823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1600">
        <p14:prism dir="u"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1000"/>
                                        <p:tgtEl>
                                          <p:spTgt spid="15"/>
                                        </p:tgtEl>
                                      </p:cBhvr>
                                    </p:animEffect>
                                    <p:anim calcmode="lin" valueType="num">
                                      <p:cBhvr>
                                        <p:cTn id="21" dur="1000" fill="hold"/>
                                        <p:tgtEl>
                                          <p:spTgt spid="15"/>
                                        </p:tgtEl>
                                        <p:attrNameLst>
                                          <p:attrName>ppt_x</p:attrName>
                                        </p:attrNameLst>
                                      </p:cBhvr>
                                      <p:tavLst>
                                        <p:tav tm="0">
                                          <p:val>
                                            <p:strVal val="#ppt_x"/>
                                          </p:val>
                                        </p:tav>
                                        <p:tav tm="100000">
                                          <p:val>
                                            <p:strVal val="#ppt_x"/>
                                          </p:val>
                                        </p:tav>
                                      </p:tavLst>
                                    </p:anim>
                                    <p:anim calcmode="lin" valueType="num">
                                      <p:cBhvr>
                                        <p:cTn id="22" dur="1000" fill="hold"/>
                                        <p:tgtEl>
                                          <p:spTgt spid="15"/>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42" presetClass="entr" presetSubtype="0" fill="hold" nodeType="after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1000"/>
                                        <p:tgtEl>
                                          <p:spTgt spid="27"/>
                                        </p:tgtEl>
                                      </p:cBhvr>
                                    </p:animEffect>
                                    <p:anim calcmode="lin" valueType="num">
                                      <p:cBhvr>
                                        <p:cTn id="27" dur="1000" fill="hold"/>
                                        <p:tgtEl>
                                          <p:spTgt spid="27"/>
                                        </p:tgtEl>
                                        <p:attrNameLst>
                                          <p:attrName>ppt_x</p:attrName>
                                        </p:attrNameLst>
                                      </p:cBhvr>
                                      <p:tavLst>
                                        <p:tav tm="0">
                                          <p:val>
                                            <p:strVal val="#ppt_x"/>
                                          </p:val>
                                        </p:tav>
                                        <p:tav tm="100000">
                                          <p:val>
                                            <p:strVal val="#ppt_x"/>
                                          </p:val>
                                        </p:tav>
                                      </p:tavLst>
                                    </p:anim>
                                    <p:anim calcmode="lin" valueType="num">
                                      <p:cBhvr>
                                        <p:cTn id="28"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wipe(down)">
                                      <p:cBhvr>
                                        <p:cTn id="33" dur="1000"/>
                                        <p:tgtEl>
                                          <p:spTgt spid="34"/>
                                        </p:tgtEl>
                                      </p:cBhvr>
                                    </p:animEffect>
                                  </p:childTnLst>
                                </p:cTn>
                              </p:par>
                            </p:childTnLst>
                          </p:cTn>
                        </p:par>
                        <p:par>
                          <p:cTn id="34" fill="hold">
                            <p:stCondLst>
                              <p:cond delay="1000"/>
                            </p:stCondLst>
                            <p:childTnLst>
                              <p:par>
                                <p:cTn id="35" presetID="22" presetClass="entr" presetSubtype="4" fill="hold" grpId="0" nodeType="after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down)">
                                      <p:cBhvr>
                                        <p:cTn id="37" dur="10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1000"/>
                                        <p:tgtEl>
                                          <p:spTgt spid="34"/>
                                        </p:tgtEl>
                                      </p:cBhvr>
                                    </p:animEffect>
                                    <p:set>
                                      <p:cBhvr>
                                        <p:cTn id="42" dur="1" fill="hold">
                                          <p:stCondLst>
                                            <p:cond delay="999"/>
                                          </p:stCondLst>
                                        </p:cTn>
                                        <p:tgtEl>
                                          <p:spTgt spid="34"/>
                                        </p:tgtEl>
                                        <p:attrNameLst>
                                          <p:attrName>style.visibility</p:attrName>
                                        </p:attrNameLst>
                                      </p:cBhvr>
                                      <p:to>
                                        <p:strVal val="hidden"/>
                                      </p:to>
                                    </p:set>
                                  </p:childTnLst>
                                </p:cTn>
                              </p:par>
                              <p:par>
                                <p:cTn id="43" presetID="22" presetClass="entr" presetSubtype="4" fill="hold" nodeType="with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wipe(down)">
                                      <p:cBhvr>
                                        <p:cTn id="45" dur="1000"/>
                                        <p:tgtEl>
                                          <p:spTgt spid="39"/>
                                        </p:tgtEl>
                                      </p:cBhvr>
                                    </p:animEffect>
                                  </p:childTnLst>
                                </p:cTn>
                              </p:par>
                            </p:childTnLst>
                          </p:cTn>
                        </p:par>
                        <p:par>
                          <p:cTn id="46" fill="hold">
                            <p:stCondLst>
                              <p:cond delay="1000"/>
                            </p:stCondLst>
                            <p:childTnLst>
                              <p:par>
                                <p:cTn id="47" presetID="22" presetClass="entr" presetSubtype="4" fill="hold" grpId="0" nodeType="after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wipe(down)">
                                      <p:cBhvr>
                                        <p:cTn id="49" dur="10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nodeType="clickEffect">
                                  <p:stCondLst>
                                    <p:cond delay="0"/>
                                  </p:stCondLst>
                                  <p:childTnLst>
                                    <p:animEffect transition="out" filter="fade">
                                      <p:cBhvr>
                                        <p:cTn id="53" dur="1000"/>
                                        <p:tgtEl>
                                          <p:spTgt spid="39"/>
                                        </p:tgtEl>
                                      </p:cBhvr>
                                    </p:animEffect>
                                    <p:set>
                                      <p:cBhvr>
                                        <p:cTn id="54" dur="1" fill="hold">
                                          <p:stCondLst>
                                            <p:cond delay="999"/>
                                          </p:stCondLst>
                                        </p:cTn>
                                        <p:tgtEl>
                                          <p:spTgt spid="39"/>
                                        </p:tgtEl>
                                        <p:attrNameLst>
                                          <p:attrName>style.visibility</p:attrName>
                                        </p:attrNameLst>
                                      </p:cBhvr>
                                      <p:to>
                                        <p:strVal val="hidden"/>
                                      </p:to>
                                    </p:set>
                                  </p:childTnLst>
                                </p:cTn>
                              </p:par>
                              <p:par>
                                <p:cTn id="55" presetID="22" presetClass="entr" presetSubtype="1" fill="hold" nodeType="with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wipe(up)">
                                      <p:cBhvr>
                                        <p:cTn id="57" dur="1000"/>
                                        <p:tgtEl>
                                          <p:spTgt spid="45"/>
                                        </p:tgtEl>
                                      </p:cBhvr>
                                    </p:animEffect>
                                  </p:childTnLst>
                                </p:cTn>
                              </p:par>
                            </p:childTnLst>
                          </p:cTn>
                        </p:par>
                        <p:par>
                          <p:cTn id="58" fill="hold">
                            <p:stCondLst>
                              <p:cond delay="1000"/>
                            </p:stCondLst>
                            <p:childTnLst>
                              <p:par>
                                <p:cTn id="59" presetID="22" presetClass="entr" presetSubtype="4" fill="hold" grpId="0" nodeType="after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wipe(down)">
                                      <p:cBhvr>
                                        <p:cTn id="61" dur="1000"/>
                                        <p:tgtEl>
                                          <p:spTgt spid="3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nodeType="clickEffect">
                                  <p:stCondLst>
                                    <p:cond delay="0"/>
                                  </p:stCondLst>
                                  <p:childTnLst>
                                    <p:animEffect transition="out" filter="fade">
                                      <p:cBhvr>
                                        <p:cTn id="65" dur="1000"/>
                                        <p:tgtEl>
                                          <p:spTgt spid="45"/>
                                        </p:tgtEl>
                                      </p:cBhvr>
                                    </p:animEffect>
                                    <p:set>
                                      <p:cBhvr>
                                        <p:cTn id="66" dur="1" fill="hold">
                                          <p:stCondLst>
                                            <p:cond delay="999"/>
                                          </p:stCondLst>
                                        </p:cTn>
                                        <p:tgtEl>
                                          <p:spTgt spid="45"/>
                                        </p:tgtEl>
                                        <p:attrNameLst>
                                          <p:attrName>style.visibility</p:attrName>
                                        </p:attrNameLst>
                                      </p:cBhvr>
                                      <p:to>
                                        <p:strVal val="hidden"/>
                                      </p:to>
                                    </p:set>
                                  </p:childTnLst>
                                </p:cTn>
                              </p:par>
                              <p:par>
                                <p:cTn id="67" presetID="22" presetClass="entr" presetSubtype="1" fill="hold" nodeType="withEffect">
                                  <p:stCondLst>
                                    <p:cond delay="0"/>
                                  </p:stCondLst>
                                  <p:childTnLst>
                                    <p:set>
                                      <p:cBhvr>
                                        <p:cTn id="68" dur="1" fill="hold">
                                          <p:stCondLst>
                                            <p:cond delay="0"/>
                                          </p:stCondLst>
                                        </p:cTn>
                                        <p:tgtEl>
                                          <p:spTgt spid="51"/>
                                        </p:tgtEl>
                                        <p:attrNameLst>
                                          <p:attrName>style.visibility</p:attrName>
                                        </p:attrNameLst>
                                      </p:cBhvr>
                                      <p:to>
                                        <p:strVal val="visible"/>
                                      </p:to>
                                    </p:set>
                                    <p:animEffect transition="in" filter="wipe(up)">
                                      <p:cBhvr>
                                        <p:cTn id="69" dur="1000"/>
                                        <p:tgtEl>
                                          <p:spTgt spid="51"/>
                                        </p:tgtEl>
                                      </p:cBhvr>
                                    </p:animEffect>
                                  </p:childTnLst>
                                </p:cTn>
                              </p:par>
                            </p:childTnLst>
                          </p:cTn>
                        </p:par>
                        <p:par>
                          <p:cTn id="70" fill="hold">
                            <p:stCondLst>
                              <p:cond delay="1000"/>
                            </p:stCondLst>
                            <p:childTnLst>
                              <p:par>
                                <p:cTn id="71" presetID="22" presetClass="entr" presetSubtype="4" fill="hold" grpId="0" nodeType="after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wipe(down)">
                                      <p:cBhvr>
                                        <p:cTn id="73" dur="1000"/>
                                        <p:tgtEl>
                                          <p:spTgt spid="3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xit" presetSubtype="0" fill="hold" nodeType="clickEffect">
                                  <p:stCondLst>
                                    <p:cond delay="0"/>
                                  </p:stCondLst>
                                  <p:childTnLst>
                                    <p:animEffect transition="out" filter="fade">
                                      <p:cBhvr>
                                        <p:cTn id="77" dur="1000"/>
                                        <p:tgtEl>
                                          <p:spTgt spid="51"/>
                                        </p:tgtEl>
                                      </p:cBhvr>
                                    </p:animEffect>
                                    <p:set>
                                      <p:cBhvr>
                                        <p:cTn id="78" dur="1" fill="hold">
                                          <p:stCondLst>
                                            <p:cond delay="999"/>
                                          </p:stCondLst>
                                        </p:cTn>
                                        <p:tgtEl>
                                          <p:spTgt spid="51"/>
                                        </p:tgtEl>
                                        <p:attrNameLst>
                                          <p:attrName>style.visibility</p:attrName>
                                        </p:attrNameLst>
                                      </p:cBhvr>
                                      <p:to>
                                        <p:strVal val="hidden"/>
                                      </p:to>
                                    </p:set>
                                  </p:childTnLst>
                                </p:cTn>
                              </p:par>
                              <p:par>
                                <p:cTn id="79" presetID="22" presetClass="entr" presetSubtype="1" fill="hold" nodeType="withEffect">
                                  <p:stCondLst>
                                    <p:cond delay="0"/>
                                  </p:stCondLst>
                                  <p:childTnLst>
                                    <p:set>
                                      <p:cBhvr>
                                        <p:cTn id="80" dur="1" fill="hold">
                                          <p:stCondLst>
                                            <p:cond delay="0"/>
                                          </p:stCondLst>
                                        </p:cTn>
                                        <p:tgtEl>
                                          <p:spTgt spid="61"/>
                                        </p:tgtEl>
                                        <p:attrNameLst>
                                          <p:attrName>style.visibility</p:attrName>
                                        </p:attrNameLst>
                                      </p:cBhvr>
                                      <p:to>
                                        <p:strVal val="visible"/>
                                      </p:to>
                                    </p:set>
                                    <p:animEffect transition="in" filter="wipe(up)">
                                      <p:cBhvr>
                                        <p:cTn id="81" dur="1000"/>
                                        <p:tgtEl>
                                          <p:spTgt spid="61"/>
                                        </p:tgtEl>
                                      </p:cBhvr>
                                    </p:animEffect>
                                  </p:childTnLst>
                                </p:cTn>
                              </p:par>
                            </p:childTnLst>
                          </p:cTn>
                        </p:par>
                        <p:par>
                          <p:cTn id="82" fill="hold">
                            <p:stCondLst>
                              <p:cond delay="1000"/>
                            </p:stCondLst>
                            <p:childTnLst>
                              <p:par>
                                <p:cTn id="83" presetID="22" presetClass="entr" presetSubtype="1" fill="hold" grpId="0" nodeType="after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wipe(up)">
                                      <p:cBhvr>
                                        <p:cTn id="85" dur="1000"/>
                                        <p:tgtEl>
                                          <p:spTgt spid="32"/>
                                        </p:tgtEl>
                                      </p:cBhvr>
                                    </p:animEffect>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nodeType="clickEffect">
                                  <p:stCondLst>
                                    <p:cond delay="0"/>
                                  </p:stCondLst>
                                  <p:childTnLst>
                                    <p:set>
                                      <p:cBhvr>
                                        <p:cTn id="89" dur="1" fill="hold">
                                          <p:stCondLst>
                                            <p:cond delay="0"/>
                                          </p:stCondLst>
                                        </p:cTn>
                                        <p:tgtEl>
                                          <p:spTgt spid="9"/>
                                        </p:tgtEl>
                                        <p:attrNameLst>
                                          <p:attrName>style.visibility</p:attrName>
                                        </p:attrNameLst>
                                      </p:cBhvr>
                                      <p:to>
                                        <p:strVal val="visible"/>
                                      </p:to>
                                    </p:set>
                                    <p:animEffect transition="in" filter="fade">
                                      <p:cBhvr>
                                        <p:cTn id="90" dur="1000"/>
                                        <p:tgtEl>
                                          <p:spTgt spid="9"/>
                                        </p:tgtEl>
                                      </p:cBhvr>
                                    </p:animEffect>
                                    <p:anim calcmode="lin" valueType="num">
                                      <p:cBhvr>
                                        <p:cTn id="91" dur="1000" fill="hold"/>
                                        <p:tgtEl>
                                          <p:spTgt spid="9"/>
                                        </p:tgtEl>
                                        <p:attrNameLst>
                                          <p:attrName>ppt_x</p:attrName>
                                        </p:attrNameLst>
                                      </p:cBhvr>
                                      <p:tavLst>
                                        <p:tav tm="0">
                                          <p:val>
                                            <p:strVal val="#ppt_x"/>
                                          </p:val>
                                        </p:tav>
                                        <p:tav tm="100000">
                                          <p:val>
                                            <p:strVal val="#ppt_x"/>
                                          </p:val>
                                        </p:tav>
                                      </p:tavLst>
                                    </p:anim>
                                    <p:anim calcmode="lin" valueType="num">
                                      <p:cBhvr>
                                        <p:cTn id="92" dur="1000" fill="hold"/>
                                        <p:tgtEl>
                                          <p:spTgt spid="9"/>
                                        </p:tgtEl>
                                        <p:attrNameLst>
                                          <p:attrName>ppt_y</p:attrName>
                                        </p:attrNameLst>
                                      </p:cBhvr>
                                      <p:tavLst>
                                        <p:tav tm="0">
                                          <p:val>
                                            <p:strVal val="#ppt_y+.1"/>
                                          </p:val>
                                        </p:tav>
                                        <p:tav tm="100000">
                                          <p:val>
                                            <p:strVal val="#ppt_y"/>
                                          </p:val>
                                        </p:tav>
                                      </p:tavLst>
                                    </p:anim>
                                  </p:childTnLst>
                                </p:cTn>
                              </p:par>
                            </p:childTnLst>
                          </p:cTn>
                        </p:par>
                        <p:par>
                          <p:cTn id="93" fill="hold">
                            <p:stCondLst>
                              <p:cond delay="1000"/>
                            </p:stCondLst>
                            <p:childTnLst>
                              <p:par>
                                <p:cTn id="94" presetID="42" presetClass="entr" presetSubtype="0" fill="hold" nodeType="afterEffect">
                                  <p:stCondLst>
                                    <p:cond delay="0"/>
                                  </p:stCondLst>
                                  <p:childTnLst>
                                    <p:set>
                                      <p:cBhvr>
                                        <p:cTn id="95" dur="1" fill="hold">
                                          <p:stCondLst>
                                            <p:cond delay="0"/>
                                          </p:stCondLst>
                                        </p:cTn>
                                        <p:tgtEl>
                                          <p:spTgt spid="18"/>
                                        </p:tgtEl>
                                        <p:attrNameLst>
                                          <p:attrName>style.visibility</p:attrName>
                                        </p:attrNameLst>
                                      </p:cBhvr>
                                      <p:to>
                                        <p:strVal val="visible"/>
                                      </p:to>
                                    </p:set>
                                    <p:animEffect transition="in" filter="fade">
                                      <p:cBhvr>
                                        <p:cTn id="96" dur="1000"/>
                                        <p:tgtEl>
                                          <p:spTgt spid="18"/>
                                        </p:tgtEl>
                                      </p:cBhvr>
                                    </p:animEffect>
                                    <p:anim calcmode="lin" valueType="num">
                                      <p:cBhvr>
                                        <p:cTn id="97" dur="1000" fill="hold"/>
                                        <p:tgtEl>
                                          <p:spTgt spid="18"/>
                                        </p:tgtEl>
                                        <p:attrNameLst>
                                          <p:attrName>ppt_x</p:attrName>
                                        </p:attrNameLst>
                                      </p:cBhvr>
                                      <p:tavLst>
                                        <p:tav tm="0">
                                          <p:val>
                                            <p:strVal val="#ppt_x"/>
                                          </p:val>
                                        </p:tav>
                                        <p:tav tm="100000">
                                          <p:val>
                                            <p:strVal val="#ppt_x"/>
                                          </p:val>
                                        </p:tav>
                                      </p:tavLst>
                                    </p:anim>
                                    <p:anim calcmode="lin" valueType="num">
                                      <p:cBhvr>
                                        <p:cTn id="9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2" grpId="0" animBg="1"/>
      <p:bldP spid="15" grpId="0" animBg="1"/>
      <p:bldP spid="28" grpId="0" animBg="1"/>
      <p:bldP spid="29" grpId="0" animBg="1"/>
      <p:bldP spid="30" grpId="0" animBg="1"/>
      <p:bldP spid="31"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
          <p:cNvGrpSpPr/>
          <p:nvPr/>
        </p:nvGrpSpPr>
        <p:grpSpPr>
          <a:xfrm>
            <a:off x="392432" y="712860"/>
            <a:ext cx="1831741" cy="420971"/>
            <a:chOff x="670560" y="892917"/>
            <a:chExt cx="1831741" cy="420971"/>
          </a:xfrm>
        </p:grpSpPr>
        <p:sp>
          <p:nvSpPr>
            <p:cNvPr id="29" name="矩形 28"/>
            <p:cNvSpPr/>
            <p:nvPr/>
          </p:nvSpPr>
          <p:spPr>
            <a:xfrm>
              <a:off x="1035233" y="913778"/>
              <a:ext cx="146706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同步计数器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0"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34" name="组合 33"/>
          <p:cNvGrpSpPr/>
          <p:nvPr/>
        </p:nvGrpSpPr>
        <p:grpSpPr>
          <a:xfrm>
            <a:off x="719290" y="1624482"/>
            <a:ext cx="7339263" cy="2470477"/>
            <a:chOff x="866274" y="1800740"/>
            <a:chExt cx="7339263" cy="2470477"/>
          </a:xfrm>
        </p:grpSpPr>
        <p:sp>
          <p:nvSpPr>
            <p:cNvPr id="33" name="圆角矩形 32"/>
            <p:cNvSpPr/>
            <p:nvPr/>
          </p:nvSpPr>
          <p:spPr>
            <a:xfrm>
              <a:off x="866274" y="1800740"/>
              <a:ext cx="7339263" cy="2370221"/>
            </a:xfrm>
            <a:prstGeom prst="roundRect">
              <a:avLst>
                <a:gd name="adj" fmla="val 5837"/>
              </a:avLst>
            </a:prstGeom>
            <a:solidFill>
              <a:schemeClr val="bg1"/>
            </a:solidFill>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9944" name="Object 4"/>
            <p:cNvGraphicFramePr>
              <a:graphicFrameLocks noChangeAspect="1"/>
            </p:cNvGraphicFramePr>
            <p:nvPr/>
          </p:nvGraphicFramePr>
          <p:xfrm>
            <a:off x="1015749" y="1897747"/>
            <a:ext cx="6937170" cy="2373470"/>
          </p:xfrm>
          <a:graphic>
            <a:graphicData uri="http://schemas.openxmlformats.org/presentationml/2006/ole">
              <mc:AlternateContent xmlns:mc="http://schemas.openxmlformats.org/markup-compatibility/2006">
                <mc:Choice xmlns:v="urn:schemas-microsoft-com:vml" Requires="v">
                  <p:oleObj spid="_x0000_s35850" name="Picture" r:id="rId2" imgW="26250900" imgH="9010650" progId="Word.Picture.8">
                    <p:embed/>
                  </p:oleObj>
                </mc:Choice>
                <mc:Fallback>
                  <p:oleObj name="Picture" r:id="rId2" imgW="26250900" imgH="9010650" progId="Word.Picture.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5749" y="1897747"/>
                          <a:ext cx="6937170" cy="23734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6" name="组合 45"/>
          <p:cNvGrpSpPr/>
          <p:nvPr/>
        </p:nvGrpSpPr>
        <p:grpSpPr>
          <a:xfrm>
            <a:off x="4196411" y="2117766"/>
            <a:ext cx="244642" cy="1832812"/>
            <a:chOff x="4343395" y="2294024"/>
            <a:chExt cx="244642" cy="1832812"/>
          </a:xfrm>
        </p:grpSpPr>
        <p:sp>
          <p:nvSpPr>
            <p:cNvPr id="37" name="椭圆 36"/>
            <p:cNvSpPr/>
            <p:nvPr/>
          </p:nvSpPr>
          <p:spPr>
            <a:xfrm>
              <a:off x="4351416" y="2294024"/>
              <a:ext cx="224590" cy="397043"/>
            </a:xfrm>
            <a:prstGeom prst="ellipse">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4355427" y="2783309"/>
              <a:ext cx="224590" cy="397043"/>
            </a:xfrm>
            <a:prstGeom prst="ellipse">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4363447" y="3248529"/>
              <a:ext cx="224590" cy="397043"/>
            </a:xfrm>
            <a:prstGeom prst="ellipse">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4343395" y="3729793"/>
              <a:ext cx="224590" cy="397043"/>
            </a:xfrm>
            <a:prstGeom prst="ellipse">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剪去对角的矩形 46"/>
          <p:cNvSpPr/>
          <p:nvPr/>
        </p:nvSpPr>
        <p:spPr>
          <a:xfrm>
            <a:off x="735332" y="4131048"/>
            <a:ext cx="7403432" cy="850231"/>
          </a:xfrm>
          <a:prstGeom prst="snip2DiagRect">
            <a:avLst>
              <a:gd name="adj1" fmla="val 0"/>
              <a:gd name="adj2" fmla="val 25863"/>
            </a:avLst>
          </a:prstGeom>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rgbClr val="FFFF00"/>
                </a:solidFill>
                <a:latin typeface="微软雅黑" panose="020B0503020204020204" pitchFamily="34" charset="-122"/>
                <a:ea typeface="微软雅黑" panose="020B0503020204020204" pitchFamily="34" charset="-122"/>
              </a:rPr>
              <a:t> 同步计数器不存在延时累积，</a:t>
            </a:r>
            <a:r>
              <a:rPr lang="zh-CN" altLang="en-US" sz="2000" dirty="0">
                <a:solidFill>
                  <a:srgbClr val="000000"/>
                </a:solidFill>
              </a:rPr>
              <a:t> </a:t>
            </a:r>
            <a:r>
              <a:rPr lang="zh-CN" altLang="en-US" sz="2000" b="1" dirty="0">
                <a:solidFill>
                  <a:srgbClr val="FFFF00"/>
                </a:solidFill>
                <a:latin typeface="微软雅黑" panose="020B0503020204020204" pitchFamily="34" charset="-122"/>
                <a:ea typeface="微软雅黑" panose="020B0503020204020204" pitchFamily="34" charset="-122"/>
              </a:rPr>
              <a:t>其每个输出相对于时钟的延时均为一个</a:t>
            </a:r>
            <a:r>
              <a:rPr lang="en-US" altLang="zh-CN" sz="2000" b="1" i="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1" baseline="-2500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PD</a:t>
            </a:r>
            <a:r>
              <a:rPr lang="zh-CN" altLang="en-US" sz="20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的延时。</a:t>
            </a:r>
            <a:endParaRPr lang="zh-CN" altLang="en-US" sz="20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Rectangle 171"/>
          <p:cNvSpPr>
            <a:spLocks noChangeArrowheads="1"/>
          </p:cNvSpPr>
          <p:nvPr/>
        </p:nvSpPr>
        <p:spPr bwMode="auto">
          <a:xfrm>
            <a:off x="314994" y="1175519"/>
            <a:ext cx="3863975" cy="369332"/>
          </a:xfrm>
          <a:prstGeom prst="rect">
            <a:avLst/>
          </a:prstGeom>
          <a:solidFill>
            <a:srgbClr val="FFFFFF"/>
          </a:solidFill>
          <a:ln w="9525">
            <a:noFill/>
            <a:miter lim="800000"/>
          </a:ln>
        </p:spPr>
        <p:txBody>
          <a:bodyPr anchor="ctr">
            <a:spAutoFit/>
          </a:bodyPr>
          <a:lstStyle/>
          <a:p>
            <a:r>
              <a:rPr lang="zh-CN" altLang="en-US" b="1" dirty="0">
                <a:solidFill>
                  <a:srgbClr val="CC00CC"/>
                </a:solidFill>
                <a:latin typeface="微软雅黑" panose="020B0503020204020204" pitchFamily="34" charset="-122"/>
                <a:ea typeface="微软雅黑" panose="020B0503020204020204" pitchFamily="34" charset="-122"/>
              </a:rPr>
              <a:t>（</a:t>
            </a:r>
            <a:r>
              <a:rPr lang="en-US" altLang="zh-CN" b="1" dirty="0">
                <a:solidFill>
                  <a:srgbClr val="CC00CC"/>
                </a:solidFill>
                <a:latin typeface="微软雅黑" panose="020B0503020204020204" pitchFamily="34" charset="-122"/>
                <a:ea typeface="微软雅黑" panose="020B0503020204020204" pitchFamily="34" charset="-122"/>
              </a:rPr>
              <a:t>1</a:t>
            </a:r>
            <a:r>
              <a:rPr lang="zh-CN" altLang="en-US" b="1" dirty="0">
                <a:solidFill>
                  <a:srgbClr val="CC00CC"/>
                </a:solidFill>
                <a:latin typeface="微软雅黑" panose="020B0503020204020204" pitchFamily="34" charset="-122"/>
                <a:ea typeface="微软雅黑" panose="020B0503020204020204" pitchFamily="34" charset="-122"/>
              </a:rPr>
              <a:t>）同步二进制计数器</a:t>
            </a:r>
            <a:endParaRPr lang="zh-CN" altLang="en-US" b="1" dirty="0">
              <a:solidFill>
                <a:srgbClr val="CC00CC"/>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14:prism dir="d" isInverted="1"/>
      </p:transition>
    </mc:Choice>
    <mc:Fallback>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
          <p:cNvGrpSpPr/>
          <p:nvPr/>
        </p:nvGrpSpPr>
        <p:grpSpPr>
          <a:xfrm>
            <a:off x="392432" y="712860"/>
            <a:ext cx="1831741" cy="420971"/>
            <a:chOff x="670560" y="892917"/>
            <a:chExt cx="1831741" cy="420971"/>
          </a:xfrm>
        </p:grpSpPr>
        <p:sp>
          <p:nvSpPr>
            <p:cNvPr id="22" name="矩形 21"/>
            <p:cNvSpPr/>
            <p:nvPr/>
          </p:nvSpPr>
          <p:spPr>
            <a:xfrm>
              <a:off x="1035233" y="913778"/>
              <a:ext cx="146706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同步计数器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3"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24" name="Rectangle 171"/>
          <p:cNvSpPr>
            <a:spLocks noChangeArrowheads="1"/>
          </p:cNvSpPr>
          <p:nvPr/>
        </p:nvSpPr>
        <p:spPr bwMode="auto">
          <a:xfrm>
            <a:off x="314994" y="1175519"/>
            <a:ext cx="3863975" cy="369332"/>
          </a:xfrm>
          <a:prstGeom prst="rect">
            <a:avLst/>
          </a:prstGeom>
          <a:solidFill>
            <a:srgbClr val="FFFFFF"/>
          </a:solidFill>
          <a:ln w="9525">
            <a:noFill/>
            <a:miter lim="800000"/>
          </a:ln>
        </p:spPr>
        <p:txBody>
          <a:bodyPr anchor="ctr">
            <a:spAutoFit/>
          </a:bodyPr>
          <a:lstStyle/>
          <a:p>
            <a:r>
              <a:rPr lang="zh-CN" altLang="en-US" b="1" dirty="0">
                <a:solidFill>
                  <a:srgbClr val="CC00CC"/>
                </a:solidFill>
                <a:latin typeface="微软雅黑" panose="020B0503020204020204" pitchFamily="34" charset="-122"/>
                <a:ea typeface="微软雅黑" panose="020B0503020204020204" pitchFamily="34" charset="-122"/>
              </a:rPr>
              <a:t>（</a:t>
            </a:r>
            <a:r>
              <a:rPr lang="en-US" altLang="zh-CN" b="1" dirty="0">
                <a:solidFill>
                  <a:srgbClr val="CC00CC"/>
                </a:solidFill>
                <a:latin typeface="微软雅黑" panose="020B0503020204020204" pitchFamily="34" charset="-122"/>
                <a:ea typeface="微软雅黑" panose="020B0503020204020204" pitchFamily="34" charset="-122"/>
              </a:rPr>
              <a:t>2</a:t>
            </a:r>
            <a:r>
              <a:rPr lang="zh-CN" altLang="en-US" b="1" dirty="0">
                <a:solidFill>
                  <a:srgbClr val="CC00CC"/>
                </a:solidFill>
                <a:latin typeface="微软雅黑" panose="020B0503020204020204" pitchFamily="34" charset="-122"/>
                <a:ea typeface="微软雅黑" panose="020B0503020204020204" pitchFamily="34" charset="-122"/>
              </a:rPr>
              <a:t>）同步非二进制计数器</a:t>
            </a:r>
            <a:endParaRPr lang="zh-CN" altLang="en-US" b="1" dirty="0">
              <a:solidFill>
                <a:srgbClr val="CC00CC"/>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952755" y="1688025"/>
            <a:ext cx="7150279" cy="2084594"/>
            <a:chOff x="952755" y="1688025"/>
            <a:chExt cx="7150279" cy="2084594"/>
          </a:xfrm>
        </p:grpSpPr>
        <p:sp>
          <p:nvSpPr>
            <p:cNvPr id="12" name="矩形: 圆角 11"/>
            <p:cNvSpPr/>
            <p:nvPr/>
          </p:nvSpPr>
          <p:spPr>
            <a:xfrm>
              <a:off x="952755" y="1688026"/>
              <a:ext cx="7150279" cy="2084593"/>
            </a:xfrm>
            <a:prstGeom prst="roundRect">
              <a:avLst>
                <a:gd name="adj" fmla="val 517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对象 3"/>
            <p:cNvGraphicFramePr>
              <a:graphicFrameLocks noChangeAspect="1"/>
            </p:cNvGraphicFramePr>
            <p:nvPr/>
          </p:nvGraphicFramePr>
          <p:xfrm>
            <a:off x="1040966" y="1688025"/>
            <a:ext cx="6919693" cy="2084594"/>
          </p:xfrm>
          <a:graphic>
            <a:graphicData uri="http://schemas.openxmlformats.org/presentationml/2006/ole">
              <mc:AlternateContent xmlns:mc="http://schemas.openxmlformats.org/markup-compatibility/2006">
                <mc:Choice xmlns:v="urn:schemas-microsoft-com:vml" Requires="v">
                  <p:oleObj spid="_x0000_s36882" name="Visio" r:id="rId2" imgW="3800475" imgH="1152525" progId="Visio.Drawing.11">
                    <p:embed/>
                  </p:oleObj>
                </mc:Choice>
                <mc:Fallback>
                  <p:oleObj name="Visio" r:id="rId2" imgW="3800475" imgH="1152525" progId="Visio.Drawing.11">
                    <p:embed/>
                    <p:pic>
                      <p:nvPicPr>
                        <p:cNvPr id="0" name="对象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966" y="1688025"/>
                          <a:ext cx="6919693" cy="20845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9" name="组合 8"/>
          <p:cNvGrpSpPr/>
          <p:nvPr/>
        </p:nvGrpSpPr>
        <p:grpSpPr>
          <a:xfrm>
            <a:off x="952754" y="3844457"/>
            <a:ext cx="3863975" cy="1579790"/>
            <a:chOff x="952754" y="3844457"/>
            <a:chExt cx="3863975" cy="1579790"/>
          </a:xfrm>
        </p:grpSpPr>
        <p:sp>
          <p:nvSpPr>
            <p:cNvPr id="14" name="矩形: 剪去对角 13"/>
            <p:cNvSpPr/>
            <p:nvPr/>
          </p:nvSpPr>
          <p:spPr>
            <a:xfrm>
              <a:off x="952754" y="3844457"/>
              <a:ext cx="3863975" cy="1579790"/>
            </a:xfrm>
            <a:prstGeom prst="snip2DiagRect">
              <a:avLst>
                <a:gd name="adj1" fmla="val 0"/>
                <a:gd name="adj2" fmla="val 1083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对象 6"/>
            <p:cNvGraphicFramePr>
              <a:graphicFrameLocks noChangeAspect="1"/>
            </p:cNvGraphicFramePr>
            <p:nvPr/>
          </p:nvGraphicFramePr>
          <p:xfrm>
            <a:off x="1125356" y="3915794"/>
            <a:ext cx="3446644" cy="1437117"/>
          </p:xfrm>
          <a:graphic>
            <a:graphicData uri="http://schemas.openxmlformats.org/presentationml/2006/ole">
              <mc:AlternateContent xmlns:mc="http://schemas.openxmlformats.org/markup-compatibility/2006">
                <mc:Choice xmlns:v="urn:schemas-microsoft-com:vml" Requires="v">
                  <p:oleObj spid="_x0000_s36883" name="Visio" r:id="rId4" imgW="2305685" imgH="963295" progId="Visio.Drawing.11">
                    <p:embed/>
                  </p:oleObj>
                </mc:Choice>
                <mc:Fallback>
                  <p:oleObj name="Visio" r:id="rId4" imgW="2305685" imgH="963295" progId="Visio.Drawing.11">
                    <p:embed/>
                    <p:pic>
                      <p:nvPicPr>
                        <p:cNvPr id="0"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5356" y="3915794"/>
                          <a:ext cx="3446644" cy="14371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矩形: 剪去对角 15"/>
          <p:cNvSpPr/>
          <p:nvPr/>
        </p:nvSpPr>
        <p:spPr>
          <a:xfrm>
            <a:off x="5008895" y="3844457"/>
            <a:ext cx="3029313" cy="1579790"/>
          </a:xfrm>
          <a:prstGeom prst="snip2DiagRect">
            <a:avLst>
              <a:gd name="adj1" fmla="val 0"/>
              <a:gd name="adj2" fmla="val 1083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每输入</a:t>
            </a:r>
            <a:r>
              <a:rPr lang="en-US" alt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个计数脉冲完成一个循环并产生一个进位信号，计数器的模</a:t>
            </a:r>
            <a:r>
              <a:rPr lang="en-US" altLang="zh-CN" sz="1600" i="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输出</a:t>
            </a:r>
            <a:r>
              <a:rPr lang="zh-CN" altLang="en-US"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编码规则为</a:t>
            </a:r>
            <a:r>
              <a:rPr lang="en-US" alt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8421BCD</a:t>
            </a:r>
            <a:r>
              <a:rPr lang="zh-CN" alt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码，为</a:t>
            </a:r>
            <a:r>
              <a:rPr lang="en-US" alt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8421BCD</a:t>
            </a:r>
            <a:r>
              <a:rPr lang="zh-CN" alt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码的同步十进制计数器。</a:t>
            </a:r>
            <a:endParaRPr lang="zh-CN" altLang="en-US"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01090" y="1824567"/>
            <a:ext cx="6713220" cy="2072333"/>
            <a:chOff x="1101090" y="1824567"/>
            <a:chExt cx="6713220" cy="2072333"/>
          </a:xfrm>
        </p:grpSpPr>
        <p:grpSp>
          <p:nvGrpSpPr>
            <p:cNvPr id="17" name="组合 16"/>
            <p:cNvGrpSpPr/>
            <p:nvPr/>
          </p:nvGrpSpPr>
          <p:grpSpPr>
            <a:xfrm>
              <a:off x="1101090" y="1824567"/>
              <a:ext cx="1371600" cy="760000"/>
              <a:chOff x="910590" y="1565910"/>
              <a:chExt cx="1371600" cy="684000"/>
            </a:xfrm>
          </p:grpSpPr>
          <p:grpSp>
            <p:nvGrpSpPr>
              <p:cNvPr id="18" name="组合 17"/>
              <p:cNvGrpSpPr/>
              <p:nvPr/>
            </p:nvGrpSpPr>
            <p:grpSpPr>
              <a:xfrm>
                <a:off x="910590" y="1699260"/>
                <a:ext cx="1371600" cy="99060"/>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19" name="组合 18"/>
              <p:cNvGrpSpPr/>
              <p:nvPr/>
            </p:nvGrpSpPr>
            <p:grpSpPr>
              <a:xfrm rot="5400000">
                <a:off x="728610" y="1866000"/>
                <a:ext cx="684000" cy="83820"/>
                <a:chOff x="910590" y="1699260"/>
                <a:chExt cx="1371600" cy="99060"/>
              </a:xfrm>
            </p:grpSpPr>
            <p:cxnSp>
              <p:nvCxnSpPr>
                <p:cNvPr id="20" name="直接连接符 1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24" name="组合 23"/>
            <p:cNvGrpSpPr/>
            <p:nvPr/>
          </p:nvGrpSpPr>
          <p:grpSpPr>
            <a:xfrm rot="10800000">
              <a:off x="6442710" y="3136900"/>
              <a:ext cx="1371600" cy="760000"/>
              <a:chOff x="910590" y="1565910"/>
              <a:chExt cx="1371600" cy="684000"/>
            </a:xfrm>
          </p:grpSpPr>
          <p:grpSp>
            <p:nvGrpSpPr>
              <p:cNvPr id="26" name="组合 35"/>
              <p:cNvGrpSpPr/>
              <p:nvPr/>
            </p:nvGrpSpPr>
            <p:grpSpPr>
              <a:xfrm>
                <a:off x="910590" y="1699260"/>
                <a:ext cx="1371600" cy="99060"/>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7" name="组合 36"/>
              <p:cNvGrpSpPr/>
              <p:nvPr/>
            </p:nvGrpSpPr>
            <p:grpSpPr>
              <a:xfrm rot="5400000">
                <a:off x="728610" y="1866000"/>
                <a:ext cx="684000" cy="83820"/>
                <a:chOff x="910590" y="1699260"/>
                <a:chExt cx="1371600" cy="99060"/>
              </a:xfrm>
            </p:grpSpPr>
            <p:cxnSp>
              <p:nvCxnSpPr>
                <p:cNvPr id="28" name="直接连接符 2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0" name="直接连接符 2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33" name="文本框 6"/>
            <p:cNvSpPr txBox="1"/>
            <p:nvPr/>
          </p:nvSpPr>
          <p:spPr>
            <a:xfrm>
              <a:off x="1344194" y="1972734"/>
              <a:ext cx="6150077" cy="708592"/>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6</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时序逻辑电路</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
          <p:nvSpPr>
            <p:cNvPr id="34" name="矩形 33"/>
            <p:cNvSpPr/>
            <p:nvPr/>
          </p:nvSpPr>
          <p:spPr>
            <a:xfrm>
              <a:off x="2236670" y="2835571"/>
              <a:ext cx="4365123" cy="984885"/>
            </a:xfrm>
            <a:prstGeom prst="rect">
              <a:avLst/>
            </a:prstGeom>
          </p:spPr>
          <p:txBody>
            <a:bodyPr wrap="square">
              <a:spAutoFit/>
            </a:bodyPr>
            <a:lstStyle/>
            <a:p>
              <a:pPr algn="ctr">
                <a:spcBef>
                  <a:spcPts val="600"/>
                </a:spcBef>
              </a:pPr>
              <a:r>
                <a:rPr lang="en-US" altLang="zh-CN"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6.5 </a:t>
              </a:r>
              <a:r>
                <a:rPr lang="zh-CN" altLang="en-US"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计数器</a:t>
              </a:r>
              <a:endParaRPr lang="en-US" altLang="zh-CN"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spcBef>
                  <a:spcPts val="1200"/>
                </a:spcBef>
              </a:pPr>
              <a:r>
                <a:rPr lang="zh-CN" altLang="en-US"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a:t>
              </a:r>
              <a:r>
                <a:rPr lang="en-US" altLang="zh-CN"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2</a:t>
              </a:r>
              <a:r>
                <a:rPr lang="zh-CN" altLang="en-US"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）集成计数器及其应用</a:t>
              </a:r>
              <a:endParaRPr lang="zh-CN" altLang="en-US"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1789196" y="1612900"/>
            <a:ext cx="5516479" cy="3476626"/>
            <a:chOff x="1789196" y="1562100"/>
            <a:chExt cx="5516479" cy="3476626"/>
          </a:xfrm>
        </p:grpSpPr>
        <p:grpSp>
          <p:nvGrpSpPr>
            <p:cNvPr id="3" name="组合 8"/>
            <p:cNvGrpSpPr/>
            <p:nvPr/>
          </p:nvGrpSpPr>
          <p:grpSpPr>
            <a:xfrm>
              <a:off x="1789196" y="1743075"/>
              <a:ext cx="5516479" cy="3295651"/>
              <a:chOff x="1668379" y="1362540"/>
              <a:chExt cx="5662863" cy="3851146"/>
            </a:xfrm>
          </p:grpSpPr>
          <p:sp>
            <p:nvSpPr>
              <p:cNvPr id="8" name="圆角矩形 7"/>
              <p:cNvSpPr/>
              <p:nvPr/>
            </p:nvSpPr>
            <p:spPr>
              <a:xfrm>
                <a:off x="1668379" y="1362540"/>
                <a:ext cx="5662863" cy="3851146"/>
              </a:xfrm>
              <a:prstGeom prst="roundRect">
                <a:avLst>
                  <a:gd name="adj" fmla="val 5837"/>
                </a:avLst>
              </a:prstGeom>
              <a:solidFill>
                <a:schemeClr val="bg1"/>
              </a:solidFill>
              <a:ln w="38100"/>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1378" name="Picture 2"/>
              <p:cNvPicPr>
                <a:picLocks noChangeAspect="1" noChangeArrowheads="1"/>
              </p:cNvPicPr>
              <p:nvPr/>
            </p:nvPicPr>
            <p:blipFill>
              <a:blip r:embed="rId1" cstate="print"/>
              <a:srcRect/>
              <a:stretch>
                <a:fillRect/>
              </a:stretch>
            </p:blipFill>
            <p:spPr bwMode="auto">
              <a:xfrm>
                <a:off x="1745582" y="1692339"/>
                <a:ext cx="5365081" cy="3393351"/>
              </a:xfrm>
              <a:prstGeom prst="rect">
                <a:avLst/>
              </a:prstGeom>
              <a:noFill/>
              <a:ln w="9525">
                <a:noFill/>
                <a:miter lim="800000"/>
                <a:headEnd/>
                <a:tailEnd/>
              </a:ln>
            </p:spPr>
          </p:pic>
        </p:grpSp>
        <p:sp>
          <p:nvSpPr>
            <p:cNvPr id="24" name="圆角矩形 23"/>
            <p:cNvSpPr/>
            <p:nvPr/>
          </p:nvSpPr>
          <p:spPr>
            <a:xfrm>
              <a:off x="2352674" y="1562100"/>
              <a:ext cx="4581526" cy="390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FF00"/>
                  </a:solidFill>
                  <a:latin typeface="微软雅黑" panose="020B0503020204020204" pitchFamily="34" charset="-122"/>
                  <a:ea typeface="微软雅黑" panose="020B0503020204020204" pitchFamily="34" charset="-122"/>
                </a:rPr>
                <a:t>（四位同步二进制集成计数器）</a:t>
              </a:r>
              <a:endParaRPr lang="zh-CN" altLang="en-US" b="1" dirty="0">
                <a:solidFill>
                  <a:srgbClr val="FFFF00"/>
                </a:solidFill>
              </a:endParaRPr>
            </a:p>
          </p:txBody>
        </p:sp>
      </p:grpSp>
      <p:grpSp>
        <p:nvGrpSpPr>
          <p:cNvPr id="4" name="Group 9"/>
          <p:cNvGrpSpPr/>
          <p:nvPr/>
        </p:nvGrpSpPr>
        <p:grpSpPr bwMode="auto">
          <a:xfrm>
            <a:off x="735330" y="2371308"/>
            <a:ext cx="981343" cy="480477"/>
            <a:chOff x="95" y="1361"/>
            <a:chExt cx="577" cy="385"/>
          </a:xfrm>
        </p:grpSpPr>
        <p:sp>
          <p:nvSpPr>
            <p:cNvPr id="11" name="AutoShape 7"/>
            <p:cNvSpPr>
              <a:spLocks noChangeArrowheads="1"/>
            </p:cNvSpPr>
            <p:nvPr/>
          </p:nvSpPr>
          <p:spPr bwMode="auto">
            <a:xfrm>
              <a:off x="96" y="1362"/>
              <a:ext cx="576" cy="384"/>
            </a:xfrm>
            <a:prstGeom prst="wedgeRoundRectCallout">
              <a:avLst>
                <a:gd name="adj1" fmla="val 72856"/>
                <a:gd name="adj2" fmla="val 49602"/>
                <a:gd name="adj3" fmla="val 16667"/>
              </a:avLst>
            </a:prstGeom>
            <a:solidFill>
              <a:srgbClr val="FFFF66"/>
            </a:solidFill>
            <a:ln w="19050" algn="ctr">
              <a:solidFill>
                <a:srgbClr val="FF0000"/>
              </a:solidFill>
              <a:miter lim="800000"/>
            </a:ln>
            <a:effectLst/>
          </p:spPr>
          <p:txBody>
            <a:bodyPr lIns="0" rIns="0" anchor="ctr"/>
            <a:lstStyle/>
            <a:p>
              <a:pPr algn="ctr">
                <a:defRPr/>
              </a:pPr>
              <a:endParaRPr lang="zh-CN" altLang="en-US" sz="1600" dirty="0">
                <a:solidFill>
                  <a:srgbClr val="000000"/>
                </a:solidFill>
                <a:effectLst>
                  <a:outerShdw blurRad="38100" dist="38100" dir="2700000" algn="tl">
                    <a:srgbClr val="FFFFFF"/>
                  </a:outerShdw>
                </a:effectLst>
                <a:latin typeface="微软雅黑" panose="020B0503020204020204" pitchFamily="34" charset="-122"/>
                <a:ea typeface="微软雅黑" panose="020B0503020204020204" pitchFamily="34" charset="-122"/>
              </a:endParaRPr>
            </a:p>
          </p:txBody>
        </p:sp>
        <p:sp>
          <p:nvSpPr>
            <p:cNvPr id="12" name="AutoShape 8"/>
            <p:cNvSpPr>
              <a:spLocks noChangeArrowheads="1"/>
            </p:cNvSpPr>
            <p:nvPr/>
          </p:nvSpPr>
          <p:spPr bwMode="auto">
            <a:xfrm>
              <a:off x="95" y="1361"/>
              <a:ext cx="576" cy="384"/>
            </a:xfrm>
            <a:prstGeom prst="wedgeRoundRectCallout">
              <a:avLst>
                <a:gd name="adj1" fmla="val 74883"/>
                <a:gd name="adj2" fmla="val -31073"/>
                <a:gd name="adj3" fmla="val 16667"/>
              </a:avLst>
            </a:prstGeom>
            <a:solidFill>
              <a:srgbClr val="FFFF66"/>
            </a:solidFill>
            <a:ln w="19050" algn="ctr">
              <a:solidFill>
                <a:srgbClr val="FF0000"/>
              </a:solidFill>
              <a:miter lim="800000"/>
            </a:ln>
          </p:spPr>
          <p:txBody>
            <a:bodyPr lIns="0" rIns="0" anchor="ctr"/>
            <a:lstStyle/>
            <a:p>
              <a:pPr algn="ctr"/>
              <a:r>
                <a:rPr lang="zh-CN" altLang="en-US" sz="1400" dirty="0">
                  <a:solidFill>
                    <a:srgbClr val="000000"/>
                  </a:solidFill>
                  <a:latin typeface="微软雅黑" panose="020B0503020204020204" pitchFamily="34" charset="-122"/>
                  <a:ea typeface="微软雅黑" panose="020B0503020204020204" pitchFamily="34" charset="-122"/>
                </a:rPr>
                <a:t>使能端</a:t>
              </a:r>
              <a:endParaRPr lang="en-US" altLang="zh-CN" sz="1400" dirty="0">
                <a:solidFill>
                  <a:srgbClr val="000000"/>
                </a:solidFill>
                <a:latin typeface="微软雅黑" panose="020B0503020204020204" pitchFamily="34" charset="-122"/>
                <a:ea typeface="微软雅黑" panose="020B0503020204020204" pitchFamily="34" charset="-122"/>
              </a:endParaRPr>
            </a:p>
            <a:p>
              <a:pPr algn="ctr"/>
              <a:r>
                <a:rPr lang="zh-CN" altLang="en-US" sz="1400" dirty="0">
                  <a:solidFill>
                    <a:srgbClr val="000000"/>
                  </a:solidFill>
                  <a:latin typeface="微软雅黑" panose="020B0503020204020204" pitchFamily="34" charset="-122"/>
                  <a:ea typeface="微软雅黑" panose="020B0503020204020204" pitchFamily="34" charset="-122"/>
                </a:rPr>
                <a:t>（高有效）</a:t>
              </a:r>
              <a:endParaRPr lang="zh-CN" altLang="en-US" sz="1400" dirty="0">
                <a:solidFill>
                  <a:srgbClr val="000000"/>
                </a:solidFill>
                <a:latin typeface="微软雅黑" panose="020B0503020204020204" pitchFamily="34" charset="-122"/>
                <a:ea typeface="微软雅黑" panose="020B0503020204020204" pitchFamily="34" charset="-122"/>
              </a:endParaRPr>
            </a:p>
          </p:txBody>
        </p:sp>
      </p:grpSp>
      <p:sp>
        <p:nvSpPr>
          <p:cNvPr id="13" name="AutoShape 12"/>
          <p:cNvSpPr>
            <a:spLocks noChangeArrowheads="1"/>
          </p:cNvSpPr>
          <p:nvPr/>
        </p:nvSpPr>
        <p:spPr bwMode="auto">
          <a:xfrm>
            <a:off x="689610" y="2977516"/>
            <a:ext cx="1124652" cy="499110"/>
          </a:xfrm>
          <a:prstGeom prst="wedgeRoundRectCallout">
            <a:avLst>
              <a:gd name="adj1" fmla="val 69131"/>
              <a:gd name="adj2" fmla="val 49514"/>
              <a:gd name="adj3" fmla="val 16667"/>
            </a:avLst>
          </a:prstGeom>
          <a:solidFill>
            <a:srgbClr val="FFFF66"/>
          </a:solidFill>
          <a:ln w="19050" algn="ctr">
            <a:solidFill>
              <a:srgbClr val="FF0000"/>
            </a:solidFill>
            <a:miter lim="800000"/>
          </a:ln>
        </p:spPr>
        <p:txBody>
          <a:bodyPr lIns="0" rIns="0" anchor="ctr"/>
          <a:lstStyle/>
          <a:p>
            <a:pPr algn="ctr"/>
            <a:r>
              <a:rPr lang="zh-CN" altLang="en-US" sz="1400" dirty="0">
                <a:solidFill>
                  <a:srgbClr val="000000"/>
                </a:solidFill>
                <a:latin typeface="微软雅黑" panose="020B0503020204020204" pitchFamily="34" charset="-122"/>
                <a:ea typeface="微软雅黑" panose="020B0503020204020204" pitchFamily="34" charset="-122"/>
              </a:rPr>
              <a:t>并行置数使能（低有效）</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14" name="AutoShape 12"/>
          <p:cNvSpPr>
            <a:spLocks noChangeArrowheads="1"/>
          </p:cNvSpPr>
          <p:nvPr/>
        </p:nvSpPr>
        <p:spPr bwMode="auto">
          <a:xfrm>
            <a:off x="735330" y="4325854"/>
            <a:ext cx="1109011" cy="491289"/>
          </a:xfrm>
          <a:prstGeom prst="wedgeRoundRectCallout">
            <a:avLst>
              <a:gd name="adj1" fmla="val 63762"/>
              <a:gd name="adj2" fmla="val 1390"/>
              <a:gd name="adj3" fmla="val 16667"/>
            </a:avLst>
          </a:prstGeom>
          <a:solidFill>
            <a:srgbClr val="FFFF66"/>
          </a:solidFill>
          <a:ln w="19050" algn="ctr">
            <a:solidFill>
              <a:srgbClr val="FF0000"/>
            </a:solidFill>
            <a:miter lim="800000"/>
          </a:ln>
        </p:spPr>
        <p:txBody>
          <a:bodyPr lIns="0" rIns="0" anchor="ctr"/>
          <a:lstStyle/>
          <a:p>
            <a:pPr algn="ctr"/>
            <a:r>
              <a:rPr lang="zh-CN" altLang="en-US" sz="1400" dirty="0">
                <a:solidFill>
                  <a:srgbClr val="000000"/>
                </a:solidFill>
                <a:latin typeface="微软雅黑" panose="020B0503020204020204" pitchFamily="34" charset="-122"/>
                <a:ea typeface="微软雅黑" panose="020B0503020204020204" pitchFamily="34" charset="-122"/>
              </a:rPr>
              <a:t>异步清零端</a:t>
            </a:r>
            <a:endParaRPr lang="en-US" altLang="zh-CN" sz="1400" dirty="0">
              <a:solidFill>
                <a:srgbClr val="000000"/>
              </a:solidFill>
              <a:latin typeface="微软雅黑" panose="020B0503020204020204" pitchFamily="34" charset="-122"/>
              <a:ea typeface="微软雅黑" panose="020B0503020204020204" pitchFamily="34" charset="-122"/>
            </a:endParaRPr>
          </a:p>
          <a:p>
            <a:pPr algn="ctr"/>
            <a:r>
              <a:rPr lang="zh-CN" altLang="en-US" sz="1400" dirty="0">
                <a:solidFill>
                  <a:srgbClr val="000000"/>
                </a:solidFill>
                <a:latin typeface="微软雅黑" panose="020B0503020204020204" pitchFamily="34" charset="-122"/>
                <a:ea typeface="微软雅黑" panose="020B0503020204020204" pitchFamily="34" charset="-122"/>
              </a:rPr>
              <a:t>（低有效）</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15" name="AutoShape 17"/>
          <p:cNvSpPr>
            <a:spLocks noChangeArrowheads="1"/>
          </p:cNvSpPr>
          <p:nvPr/>
        </p:nvSpPr>
        <p:spPr bwMode="auto">
          <a:xfrm>
            <a:off x="7109248" y="4554619"/>
            <a:ext cx="872691" cy="453190"/>
          </a:xfrm>
          <a:prstGeom prst="wedgeRoundRectCallout">
            <a:avLst>
              <a:gd name="adj1" fmla="val -71481"/>
              <a:gd name="adj2" fmla="val 14092"/>
              <a:gd name="adj3" fmla="val 16667"/>
            </a:avLst>
          </a:prstGeom>
          <a:solidFill>
            <a:srgbClr val="FFFF66"/>
          </a:solidFill>
          <a:ln w="19050" algn="ctr">
            <a:solidFill>
              <a:srgbClr val="FF0000"/>
            </a:solidFill>
            <a:miter lim="800000"/>
          </a:ln>
        </p:spPr>
        <p:txBody>
          <a:bodyPr lIns="0" rIns="0" anchor="ctr"/>
          <a:lstStyle/>
          <a:p>
            <a:pPr algn="ctr"/>
            <a:r>
              <a:rPr lang="zh-CN" altLang="en-US" sz="1400" dirty="0">
                <a:solidFill>
                  <a:srgbClr val="000000"/>
                </a:solidFill>
                <a:latin typeface="微软雅黑" panose="020B0503020204020204" pitchFamily="34" charset="-122"/>
                <a:ea typeface="微软雅黑" panose="020B0503020204020204" pitchFamily="34" charset="-122"/>
              </a:rPr>
              <a:t>进位端</a:t>
            </a:r>
            <a:endParaRPr lang="en-US" altLang="zh-CN" sz="1400" dirty="0">
              <a:solidFill>
                <a:srgbClr val="000000"/>
              </a:solidFill>
              <a:latin typeface="微软雅黑" panose="020B0503020204020204" pitchFamily="34" charset="-122"/>
              <a:ea typeface="微软雅黑" panose="020B0503020204020204" pitchFamily="34" charset="-122"/>
            </a:endParaRPr>
          </a:p>
          <a:p>
            <a:pPr algn="ctr"/>
            <a:r>
              <a:rPr lang="zh-CN" altLang="en-US" sz="1400" dirty="0">
                <a:solidFill>
                  <a:srgbClr val="000000"/>
                </a:solidFill>
                <a:latin typeface="微软雅黑" panose="020B0503020204020204" pitchFamily="34" charset="-122"/>
                <a:ea typeface="微软雅黑" panose="020B0503020204020204" pitchFamily="34" charset="-122"/>
              </a:rPr>
              <a:t>（高有效）</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16" name="圆角矩形 15"/>
          <p:cNvSpPr/>
          <p:nvPr/>
        </p:nvSpPr>
        <p:spPr>
          <a:xfrm>
            <a:off x="2962945" y="2073274"/>
            <a:ext cx="2942555" cy="161925"/>
          </a:xfrm>
          <a:prstGeom prst="roundRect">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16"/>
          <p:cNvSpPr/>
          <p:nvPr/>
        </p:nvSpPr>
        <p:spPr>
          <a:xfrm>
            <a:off x="3645068" y="4791241"/>
            <a:ext cx="2955758" cy="168110"/>
          </a:xfrm>
          <a:prstGeom prst="roundRect">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AutoShape 16"/>
          <p:cNvSpPr>
            <a:spLocks noChangeArrowheads="1"/>
          </p:cNvSpPr>
          <p:nvPr/>
        </p:nvSpPr>
        <p:spPr bwMode="auto">
          <a:xfrm>
            <a:off x="2464468" y="4731838"/>
            <a:ext cx="991520" cy="287837"/>
          </a:xfrm>
          <a:prstGeom prst="wedgeRoundRectCallout">
            <a:avLst>
              <a:gd name="adj1" fmla="val 69860"/>
              <a:gd name="adj2" fmla="val 2075"/>
              <a:gd name="adj3" fmla="val 16667"/>
            </a:avLst>
          </a:prstGeom>
          <a:solidFill>
            <a:srgbClr val="FFFF66"/>
          </a:solidFill>
          <a:ln w="19050" algn="ctr">
            <a:solidFill>
              <a:srgbClr val="FF0000"/>
            </a:solidFill>
            <a:miter lim="800000"/>
          </a:ln>
        </p:spPr>
        <p:txBody>
          <a:bodyPr lIns="0" rIns="0" anchor="ctr"/>
          <a:lstStyle/>
          <a:p>
            <a:pPr algn="ctr"/>
            <a:r>
              <a:rPr lang="zh-CN" altLang="en-US" sz="1400" dirty="0">
                <a:solidFill>
                  <a:srgbClr val="000000"/>
                </a:solidFill>
                <a:latin typeface="微软雅黑" panose="020B0503020204020204" pitchFamily="34" charset="-122"/>
                <a:ea typeface="微软雅黑" panose="020B0503020204020204" pitchFamily="34" charset="-122"/>
              </a:rPr>
              <a:t>输出端</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19" name="AutoShape 16"/>
          <p:cNvSpPr>
            <a:spLocks noChangeArrowheads="1"/>
          </p:cNvSpPr>
          <p:nvPr/>
        </p:nvSpPr>
        <p:spPr bwMode="auto">
          <a:xfrm>
            <a:off x="6195929" y="2076450"/>
            <a:ext cx="1293896" cy="323850"/>
          </a:xfrm>
          <a:prstGeom prst="wedgeRoundRectCallout">
            <a:avLst>
              <a:gd name="adj1" fmla="val -69565"/>
              <a:gd name="adj2" fmla="val -20521"/>
              <a:gd name="adj3" fmla="val 16667"/>
            </a:avLst>
          </a:prstGeom>
          <a:solidFill>
            <a:srgbClr val="FFFF66"/>
          </a:solidFill>
          <a:ln w="19050" algn="ctr">
            <a:solidFill>
              <a:srgbClr val="FF0000"/>
            </a:solidFill>
            <a:miter lim="800000"/>
          </a:ln>
        </p:spPr>
        <p:txBody>
          <a:bodyPr lIns="0" rIns="0" anchor="ctr"/>
          <a:lstStyle/>
          <a:p>
            <a:pPr algn="ctr"/>
            <a:r>
              <a:rPr lang="zh-CN" altLang="en-US" sz="1400" dirty="0">
                <a:solidFill>
                  <a:srgbClr val="000000"/>
                </a:solidFill>
                <a:latin typeface="微软雅黑" panose="020B0503020204020204" pitchFamily="34" charset="-122"/>
                <a:ea typeface="微软雅黑" panose="020B0503020204020204" pitchFamily="34" charset="-122"/>
              </a:rPr>
              <a:t>并行数据输入端</a:t>
            </a:r>
            <a:endParaRPr lang="zh-CN" altLang="en-US" sz="1400" dirty="0">
              <a:solidFill>
                <a:srgbClr val="000000"/>
              </a:solidFill>
              <a:latin typeface="微软雅黑" panose="020B0503020204020204" pitchFamily="34" charset="-122"/>
              <a:ea typeface="微软雅黑" panose="020B0503020204020204" pitchFamily="34" charset="-122"/>
            </a:endParaRPr>
          </a:p>
        </p:txBody>
      </p:sp>
      <p:pic>
        <p:nvPicPr>
          <p:cNvPr id="20" name="Picture 21"/>
          <p:cNvPicPr>
            <a:picLocks noChangeAspect="1" noChangeArrowheads="1"/>
          </p:cNvPicPr>
          <p:nvPr/>
        </p:nvPicPr>
        <p:blipFill>
          <a:blip r:embed="rId2" cstate="print"/>
          <a:srcRect/>
          <a:stretch>
            <a:fillRect/>
          </a:stretch>
        </p:blipFill>
        <p:spPr bwMode="auto">
          <a:xfrm>
            <a:off x="2204871" y="2110440"/>
            <a:ext cx="4837279" cy="2554387"/>
          </a:xfrm>
          <a:prstGeom prst="rect">
            <a:avLst/>
          </a:prstGeom>
          <a:solidFill>
            <a:schemeClr val="accent1"/>
          </a:solidFill>
          <a:ln w="76200">
            <a:solidFill>
              <a:srgbClr val="CC00CC"/>
            </a:solidFill>
            <a:miter lim="800000"/>
            <a:headEnd/>
            <a:tailEnd/>
          </a:ln>
          <a:effectLst>
            <a:glow rad="101600">
              <a:schemeClr val="accent5">
                <a:satMod val="175000"/>
                <a:alpha val="40000"/>
              </a:schemeClr>
            </a:glow>
          </a:effectLst>
        </p:spPr>
      </p:pic>
      <p:sp>
        <p:nvSpPr>
          <p:cNvPr id="21" name="AutoShape 12"/>
          <p:cNvSpPr>
            <a:spLocks noChangeArrowheads="1"/>
          </p:cNvSpPr>
          <p:nvPr/>
        </p:nvSpPr>
        <p:spPr bwMode="auto">
          <a:xfrm>
            <a:off x="723391" y="3626710"/>
            <a:ext cx="1109011" cy="491289"/>
          </a:xfrm>
          <a:prstGeom prst="wedgeRoundRectCallout">
            <a:avLst>
              <a:gd name="adj1" fmla="val 66074"/>
              <a:gd name="adj2" fmla="val 92638"/>
              <a:gd name="adj3" fmla="val 16667"/>
            </a:avLst>
          </a:prstGeom>
          <a:solidFill>
            <a:srgbClr val="FFFF66"/>
          </a:solidFill>
          <a:ln w="19050" algn="ctr">
            <a:solidFill>
              <a:srgbClr val="FF0000"/>
            </a:solidFill>
            <a:miter lim="800000"/>
          </a:ln>
        </p:spPr>
        <p:txBody>
          <a:bodyPr lIns="0" rIns="0" anchor="ctr"/>
          <a:lstStyle/>
          <a:p>
            <a:pPr algn="ctr"/>
            <a:r>
              <a:rPr lang="zh-CN" altLang="en-US" sz="1400" dirty="0">
                <a:solidFill>
                  <a:srgbClr val="000000"/>
                </a:solidFill>
                <a:latin typeface="微软雅黑" panose="020B0503020204020204" pitchFamily="34" charset="-122"/>
                <a:ea typeface="微软雅黑" panose="020B0503020204020204" pitchFamily="34" charset="-122"/>
              </a:rPr>
              <a:t>时钟</a:t>
            </a:r>
            <a:r>
              <a:rPr lang="en-US" altLang="zh-CN" sz="1400" dirty="0">
                <a:solidFill>
                  <a:srgbClr val="000000"/>
                </a:solidFill>
                <a:latin typeface="微软雅黑" panose="020B0503020204020204" pitchFamily="34" charset="-122"/>
                <a:ea typeface="微软雅黑" panose="020B0503020204020204" pitchFamily="34" charset="-122"/>
              </a:rPr>
              <a:t>CP</a:t>
            </a:r>
            <a:endParaRPr lang="en-US" altLang="zh-CN" sz="1400" dirty="0">
              <a:solidFill>
                <a:srgbClr val="000000"/>
              </a:solidFill>
              <a:latin typeface="微软雅黑" panose="020B0503020204020204" pitchFamily="34" charset="-122"/>
              <a:ea typeface="微软雅黑" panose="020B0503020204020204" pitchFamily="34" charset="-122"/>
            </a:endParaRPr>
          </a:p>
          <a:p>
            <a:pPr algn="ctr"/>
            <a:r>
              <a:rPr lang="zh-CN" altLang="en-US" sz="1400" dirty="0">
                <a:solidFill>
                  <a:srgbClr val="000000"/>
                </a:solidFill>
                <a:latin typeface="微软雅黑" panose="020B0503020204020204" pitchFamily="34" charset="-122"/>
                <a:ea typeface="微软雅黑" panose="020B0503020204020204" pitchFamily="34" charset="-122"/>
              </a:rPr>
              <a:t>（上升沿）</a:t>
            </a:r>
            <a:endParaRPr lang="zh-CN" altLang="en-US" sz="1400" dirty="0">
              <a:solidFill>
                <a:srgbClr val="000000"/>
              </a:solidFill>
              <a:latin typeface="微软雅黑" panose="020B0503020204020204" pitchFamily="34" charset="-122"/>
              <a:ea typeface="微软雅黑" panose="020B0503020204020204" pitchFamily="34" charset="-122"/>
            </a:endParaRPr>
          </a:p>
        </p:txBody>
      </p:sp>
      <p:grpSp>
        <p:nvGrpSpPr>
          <p:cNvPr id="23" name="组合 2"/>
          <p:cNvGrpSpPr/>
          <p:nvPr/>
        </p:nvGrpSpPr>
        <p:grpSpPr>
          <a:xfrm>
            <a:off x="392432" y="712860"/>
            <a:ext cx="3100871" cy="420971"/>
            <a:chOff x="670560" y="892917"/>
            <a:chExt cx="3100871" cy="420971"/>
          </a:xfrm>
        </p:grpSpPr>
        <p:sp>
          <p:nvSpPr>
            <p:cNvPr id="26" name="矩形 25"/>
            <p:cNvSpPr/>
            <p:nvPr/>
          </p:nvSpPr>
          <p:spPr>
            <a:xfrm>
              <a:off x="1035233" y="913778"/>
              <a:ext cx="273619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集成计数器</a:t>
              </a:r>
              <a:r>
                <a:rPr lang="en-US" altLang="zh-CN" sz="2000" b="1" dirty="0">
                  <a:solidFill>
                    <a:srgbClr val="002060"/>
                  </a:solidFill>
                  <a:latin typeface="微软雅黑" panose="020B0503020204020204" pitchFamily="34" charset="-122"/>
                  <a:ea typeface="微软雅黑" panose="020B0503020204020204" pitchFamily="34" charset="-122"/>
                </a:rPr>
                <a:t>74LVC161</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7"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1000"/>
                                        <p:tgtEl>
                                          <p:spTgt spid="13"/>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1000"/>
                                        <p:tgtEl>
                                          <p:spTgt spid="14"/>
                                        </p:tgtEl>
                                      </p:cBhvr>
                                    </p:animEffect>
                                  </p:childTnLst>
                                </p:cTn>
                              </p:par>
                            </p:childTnLst>
                          </p:cTn>
                        </p:par>
                        <p:par>
                          <p:cTn id="16" fill="hold">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1000"/>
                                        <p:tgtEl>
                                          <p:spTgt spid="16"/>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left)">
                                      <p:cBhvr>
                                        <p:cTn id="23" dur="1000"/>
                                        <p:tgtEl>
                                          <p:spTgt spid="19"/>
                                        </p:tgtEl>
                                      </p:cBhvr>
                                    </p:animEffect>
                                  </p:childTnLst>
                                </p:cTn>
                              </p:par>
                            </p:childTnLst>
                          </p:cTn>
                        </p:par>
                        <p:par>
                          <p:cTn id="24" fill="hold">
                            <p:stCondLst>
                              <p:cond delay="5000"/>
                            </p:stCondLst>
                            <p:childTnLst>
                              <p:par>
                                <p:cTn id="25" presetID="12" presetClass="entr" presetSubtype="4"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slide(fromBottom)">
                                      <p:cBhvr>
                                        <p:cTn id="27" dur="1000"/>
                                        <p:tgtEl>
                                          <p:spTgt spid="17"/>
                                        </p:tgtEl>
                                      </p:cBhvr>
                                    </p:animEffect>
                                  </p:childTnLst>
                                </p:cTn>
                              </p:par>
                            </p:childTnLst>
                          </p:cTn>
                        </p:par>
                        <p:par>
                          <p:cTn id="28" fill="hold">
                            <p:stCondLst>
                              <p:cond delay="6000"/>
                            </p:stCondLst>
                            <p:childTnLst>
                              <p:par>
                                <p:cTn id="29" presetID="22" presetClass="entr" presetSubtype="2"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right)">
                                      <p:cBhvr>
                                        <p:cTn id="31" dur="1000"/>
                                        <p:tgtEl>
                                          <p:spTgt spid="18"/>
                                        </p:tgtEl>
                                      </p:cBhvr>
                                    </p:animEffect>
                                  </p:childTnLst>
                                </p:cTn>
                              </p:par>
                            </p:childTnLst>
                          </p:cTn>
                        </p:par>
                        <p:par>
                          <p:cTn id="32" fill="hold">
                            <p:stCondLst>
                              <p:cond delay="7000"/>
                            </p:stCondLst>
                            <p:childTnLst>
                              <p:par>
                                <p:cTn id="33" presetID="22" presetClass="entr" presetSubtype="8"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left)">
                                      <p:cBhvr>
                                        <p:cTn id="35" dur="1000"/>
                                        <p:tgtEl>
                                          <p:spTgt spid="15"/>
                                        </p:tgtEl>
                                      </p:cBhvr>
                                    </p:animEffect>
                                  </p:childTnLst>
                                </p:cTn>
                              </p:par>
                            </p:childTnLst>
                          </p:cTn>
                        </p:par>
                        <p:par>
                          <p:cTn id="36" fill="hold">
                            <p:stCondLst>
                              <p:cond delay="8000"/>
                            </p:stCondLst>
                            <p:childTnLst>
                              <p:par>
                                <p:cTn id="37" presetID="22" presetClass="entr" presetSubtype="8"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left)">
                                      <p:cBhvr>
                                        <p:cTn id="39" dur="100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8" presetClass="entr" presetSubtype="32" fill="hold"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diamond(out)">
                                      <p:cBhvr>
                                        <p:cTn id="44"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1"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
          <p:cNvGrpSpPr/>
          <p:nvPr/>
        </p:nvGrpSpPr>
        <p:grpSpPr>
          <a:xfrm>
            <a:off x="392432" y="712860"/>
            <a:ext cx="3100871" cy="420971"/>
            <a:chOff x="670560" y="892917"/>
            <a:chExt cx="3100871" cy="420971"/>
          </a:xfrm>
        </p:grpSpPr>
        <p:sp>
          <p:nvSpPr>
            <p:cNvPr id="23" name="矩形 22"/>
            <p:cNvSpPr/>
            <p:nvPr/>
          </p:nvSpPr>
          <p:spPr>
            <a:xfrm>
              <a:off x="1035233" y="913778"/>
              <a:ext cx="273619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集成计数器</a:t>
              </a:r>
              <a:r>
                <a:rPr lang="en-US" altLang="zh-CN" sz="2000" b="1" dirty="0">
                  <a:solidFill>
                    <a:srgbClr val="002060"/>
                  </a:solidFill>
                  <a:latin typeface="微软雅黑" panose="020B0503020204020204" pitchFamily="34" charset="-122"/>
                  <a:ea typeface="微软雅黑" panose="020B0503020204020204" pitchFamily="34" charset="-122"/>
                </a:rPr>
                <a:t>74LVC161</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5" name="组合 24"/>
          <p:cNvGrpSpPr/>
          <p:nvPr/>
        </p:nvGrpSpPr>
        <p:grpSpPr>
          <a:xfrm>
            <a:off x="1094322" y="1670050"/>
            <a:ext cx="6014954" cy="3232150"/>
            <a:chOff x="1020846" y="1670050"/>
            <a:chExt cx="6014954" cy="3232150"/>
          </a:xfrm>
        </p:grpSpPr>
        <p:sp>
          <p:nvSpPr>
            <p:cNvPr id="26" name="圆角矩形 13"/>
            <p:cNvSpPr/>
            <p:nvPr/>
          </p:nvSpPr>
          <p:spPr>
            <a:xfrm>
              <a:off x="1020846" y="1851025"/>
              <a:ext cx="6014954" cy="3051175"/>
            </a:xfrm>
            <a:prstGeom prst="roundRect">
              <a:avLst>
                <a:gd name="adj" fmla="val 5837"/>
              </a:avLst>
            </a:prstGeom>
            <a:solidFill>
              <a:schemeClr val="bg1"/>
            </a:solidFill>
            <a:ln w="38100"/>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1"/>
            <p:cNvSpPr/>
            <p:nvPr/>
          </p:nvSpPr>
          <p:spPr>
            <a:xfrm>
              <a:off x="2375735" y="1670050"/>
              <a:ext cx="3305176" cy="390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FFFF00"/>
                  </a:solidFill>
                  <a:latin typeface="微软雅黑" panose="020B0503020204020204" pitchFamily="34" charset="-122"/>
                  <a:ea typeface="微软雅黑" panose="020B0503020204020204" pitchFamily="34" charset="-122"/>
                </a:rPr>
                <a:t>74LVC161</a:t>
              </a:r>
              <a:r>
                <a:rPr lang="zh-CN" altLang="en-US" b="1" dirty="0">
                  <a:solidFill>
                    <a:srgbClr val="FFFF00"/>
                  </a:solidFill>
                  <a:latin typeface="微软雅黑" panose="020B0503020204020204" pitchFamily="34" charset="-122"/>
                  <a:ea typeface="微软雅黑" panose="020B0503020204020204" pitchFamily="34" charset="-122"/>
                </a:rPr>
                <a:t>功能表</a:t>
              </a:r>
              <a:endParaRPr lang="zh-CN" altLang="en-US" b="1" dirty="0">
                <a:solidFill>
                  <a:srgbClr val="FFFF00"/>
                </a:solidFill>
              </a:endParaRPr>
            </a:p>
          </p:txBody>
        </p:sp>
        <p:pic>
          <p:nvPicPr>
            <p:cNvPr id="28" name="Picture 2"/>
            <p:cNvPicPr>
              <a:picLocks noChangeAspect="1" noChangeArrowheads="1"/>
            </p:cNvPicPr>
            <p:nvPr/>
          </p:nvPicPr>
          <p:blipFill>
            <a:blip r:embed="rId2" cstate="print"/>
            <a:srcRect/>
            <a:stretch>
              <a:fillRect/>
            </a:stretch>
          </p:blipFill>
          <p:spPr bwMode="auto">
            <a:xfrm>
              <a:off x="1190624" y="2223533"/>
              <a:ext cx="5724525" cy="2557674"/>
            </a:xfrm>
            <a:prstGeom prst="rect">
              <a:avLst/>
            </a:prstGeom>
            <a:noFill/>
            <a:ln w="9525">
              <a:noFill/>
              <a:miter lim="800000"/>
              <a:headEnd/>
              <a:tailEnd/>
            </a:ln>
          </p:spPr>
        </p:pic>
      </p:grpSp>
      <p:sp>
        <p:nvSpPr>
          <p:cNvPr id="29" name="圆角矩形 17"/>
          <p:cNvSpPr/>
          <p:nvPr/>
        </p:nvSpPr>
        <p:spPr>
          <a:xfrm>
            <a:off x="1328436" y="3225460"/>
            <a:ext cx="5135628" cy="273389"/>
          </a:xfrm>
          <a:prstGeom prst="roundRect">
            <a:avLst>
              <a:gd name="adj" fmla="val 0"/>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圆角矩形 18"/>
          <p:cNvSpPr/>
          <p:nvPr/>
        </p:nvSpPr>
        <p:spPr>
          <a:xfrm>
            <a:off x="1328848" y="3848100"/>
            <a:ext cx="840128" cy="838200"/>
          </a:xfrm>
          <a:prstGeom prst="roundRect">
            <a:avLst>
              <a:gd name="adj" fmla="val 0"/>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20"/>
          <p:cNvSpPr/>
          <p:nvPr/>
        </p:nvSpPr>
        <p:spPr>
          <a:xfrm>
            <a:off x="2232686" y="4424552"/>
            <a:ext cx="4222540" cy="280798"/>
          </a:xfrm>
          <a:prstGeom prst="roundRect">
            <a:avLst>
              <a:gd name="adj" fmla="val 0"/>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Picture 21"/>
          <p:cNvPicPr>
            <a:picLocks noChangeAspect="1" noChangeArrowheads="1"/>
          </p:cNvPicPr>
          <p:nvPr/>
        </p:nvPicPr>
        <p:blipFill>
          <a:blip r:embed="rId3" cstate="print"/>
          <a:srcRect l="2893" t="2594" r="3512" b="6621"/>
          <a:stretch>
            <a:fillRect/>
          </a:stretch>
        </p:blipFill>
        <p:spPr bwMode="auto">
          <a:xfrm>
            <a:off x="6963522" y="671783"/>
            <a:ext cx="2142378" cy="1188767"/>
          </a:xfrm>
          <a:prstGeom prst="snip2DiagRect">
            <a:avLst/>
          </a:prstGeom>
          <a:solidFill>
            <a:srgbClr val="FFFFFF">
              <a:shade val="85000"/>
            </a:srgbClr>
          </a:solidFill>
          <a:ln w="19050" cap="sq">
            <a:solidFill>
              <a:srgbClr val="FF00FF"/>
            </a:solidFill>
            <a:miter lim="800000"/>
            <a:headEnd/>
            <a:tailEnd/>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33" name="圆角矩形 23"/>
          <p:cNvSpPr/>
          <p:nvPr/>
        </p:nvSpPr>
        <p:spPr>
          <a:xfrm>
            <a:off x="1328436" y="3542960"/>
            <a:ext cx="5135628" cy="267039"/>
          </a:xfrm>
          <a:prstGeom prst="roundRect">
            <a:avLst>
              <a:gd name="adj" fmla="val 0"/>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24"/>
          <p:cNvSpPr/>
          <p:nvPr/>
        </p:nvSpPr>
        <p:spPr>
          <a:xfrm>
            <a:off x="2232686" y="3857491"/>
            <a:ext cx="4222540" cy="524010"/>
          </a:xfrm>
          <a:prstGeom prst="roundRect">
            <a:avLst>
              <a:gd name="adj" fmla="val 0"/>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25"/>
          <p:cNvSpPr/>
          <p:nvPr/>
        </p:nvSpPr>
        <p:spPr>
          <a:xfrm>
            <a:off x="6554898" y="3238500"/>
            <a:ext cx="376578" cy="1466850"/>
          </a:xfrm>
          <a:prstGeom prst="roundRect">
            <a:avLst>
              <a:gd name="adj" fmla="val 0"/>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7035800" y="2577744"/>
            <a:ext cx="1862221" cy="317500"/>
            <a:chOff x="7167479" y="2514600"/>
            <a:chExt cx="1862221" cy="317500"/>
          </a:xfrm>
          <a:effectLst>
            <a:outerShdw blurRad="50800" dist="38100" dir="2700000" algn="tl" rotWithShape="0">
              <a:prstClr val="black">
                <a:alpha val="40000"/>
              </a:prstClr>
            </a:outerShdw>
          </a:effectLst>
        </p:grpSpPr>
        <p:sp>
          <p:nvSpPr>
            <p:cNvPr id="37" name="AutoShape 16"/>
            <p:cNvSpPr>
              <a:spLocks noChangeArrowheads="1"/>
            </p:cNvSpPr>
            <p:nvPr/>
          </p:nvSpPr>
          <p:spPr bwMode="auto">
            <a:xfrm>
              <a:off x="7167479" y="2514600"/>
              <a:ext cx="1862221" cy="317500"/>
            </a:xfrm>
            <a:prstGeom prst="wedgeRoundRectCallout">
              <a:avLst>
                <a:gd name="adj1" fmla="val -55926"/>
                <a:gd name="adj2" fmla="val 10177"/>
                <a:gd name="adj3" fmla="val 16667"/>
              </a:avLst>
            </a:prstGeom>
            <a:solidFill>
              <a:srgbClr val="FFFF66"/>
            </a:solidFill>
            <a:ln w="19050" algn="ctr">
              <a:solidFill>
                <a:srgbClr val="FF0000"/>
              </a:solidFill>
              <a:miter lim="800000"/>
            </a:ln>
          </p:spPr>
          <p:txBody>
            <a:bodyPr lIns="0" rIns="0" anchor="ctr"/>
            <a:lstStyle/>
            <a:p>
              <a:pPr algn="ctr"/>
              <a:endParaRPr lang="zh-CN" altLang="en-US" sz="1400" dirty="0">
                <a:solidFill>
                  <a:srgbClr val="000000"/>
                </a:solidFill>
                <a:latin typeface="微软雅黑" panose="020B0503020204020204" pitchFamily="34" charset="-122"/>
                <a:ea typeface="微软雅黑" panose="020B0503020204020204" pitchFamily="34" charset="-122"/>
              </a:endParaRPr>
            </a:p>
          </p:txBody>
        </p:sp>
        <p:graphicFrame>
          <p:nvGraphicFramePr>
            <p:cNvPr id="38" name="对象 37"/>
            <p:cNvGraphicFramePr>
              <a:graphicFrameLocks noChangeAspect="1"/>
            </p:cNvGraphicFramePr>
            <p:nvPr/>
          </p:nvGraphicFramePr>
          <p:xfrm>
            <a:off x="7200899" y="2565400"/>
            <a:ext cx="1763889" cy="254000"/>
          </p:xfrm>
          <a:graphic>
            <a:graphicData uri="http://schemas.openxmlformats.org/presentationml/2006/ole">
              <mc:AlternateContent xmlns:mc="http://schemas.openxmlformats.org/markup-compatibility/2006">
                <mc:Choice xmlns:v="urn:schemas-microsoft-com:vml" Requires="v">
                  <p:oleObj spid="_x0000_s37898" name="Equation" r:id="rId4" imgW="38100000" imgH="5486400" progId="">
                    <p:embed/>
                  </p:oleObj>
                </mc:Choice>
                <mc:Fallback>
                  <p:oleObj name="Equation" r:id="rId4" imgW="38100000" imgH="5486400" progId="">
                    <p:embed/>
                    <p:pic>
                      <p:nvPicPr>
                        <p:cNvPr id="0" name="对象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0899" y="2565400"/>
                          <a:ext cx="1763889"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9" name="AutoShape 12"/>
          <p:cNvSpPr>
            <a:spLocks noChangeArrowheads="1"/>
          </p:cNvSpPr>
          <p:nvPr/>
        </p:nvSpPr>
        <p:spPr bwMode="auto">
          <a:xfrm>
            <a:off x="392432" y="2901238"/>
            <a:ext cx="801168" cy="411055"/>
          </a:xfrm>
          <a:prstGeom prst="wedgeRoundRectCallout">
            <a:avLst>
              <a:gd name="adj1" fmla="val 71366"/>
              <a:gd name="adj2" fmla="val 60752"/>
              <a:gd name="adj3" fmla="val 16667"/>
            </a:avLst>
          </a:prstGeom>
          <a:solidFill>
            <a:srgbClr val="FFFF66"/>
          </a:solidFill>
          <a:ln w="19050" algn="ctr">
            <a:solidFill>
              <a:srgbClr val="FF0000"/>
            </a:solidFill>
            <a:miter lim="800000"/>
          </a:ln>
        </p:spPr>
        <p:txBody>
          <a:bodyPr lIns="0" rIns="0" anchor="ctr"/>
          <a:lstStyle/>
          <a:p>
            <a:pPr algn="ctr"/>
            <a:r>
              <a:rPr lang="zh-CN" altLang="en-US" sz="1400" dirty="0">
                <a:solidFill>
                  <a:srgbClr val="000000"/>
                </a:solidFill>
                <a:latin typeface="微软雅黑" panose="020B0503020204020204" pitchFamily="34" charset="-122"/>
                <a:ea typeface="微软雅黑" panose="020B0503020204020204" pitchFamily="34" charset="-122"/>
              </a:rPr>
              <a:t>异步清零</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0" name="AutoShape 12"/>
          <p:cNvSpPr>
            <a:spLocks noChangeArrowheads="1"/>
          </p:cNvSpPr>
          <p:nvPr/>
        </p:nvSpPr>
        <p:spPr bwMode="auto">
          <a:xfrm>
            <a:off x="372098" y="3470951"/>
            <a:ext cx="801168" cy="472399"/>
          </a:xfrm>
          <a:prstGeom prst="wedgeRoundRectCallout">
            <a:avLst>
              <a:gd name="adj1" fmla="val 75442"/>
              <a:gd name="adj2" fmla="val -4792"/>
              <a:gd name="adj3" fmla="val 16667"/>
            </a:avLst>
          </a:prstGeom>
          <a:solidFill>
            <a:srgbClr val="FFFF66"/>
          </a:solidFill>
          <a:ln w="19050" algn="ctr">
            <a:solidFill>
              <a:srgbClr val="FF0000"/>
            </a:solidFill>
            <a:miter lim="800000"/>
          </a:ln>
        </p:spPr>
        <p:txBody>
          <a:bodyPr lIns="0" rIns="0" anchor="ctr"/>
          <a:lstStyle/>
          <a:p>
            <a:pPr algn="ctr"/>
            <a:r>
              <a:rPr lang="zh-CN" altLang="en-US" sz="1400" dirty="0">
                <a:solidFill>
                  <a:srgbClr val="000000"/>
                </a:solidFill>
                <a:latin typeface="微软雅黑" panose="020B0503020204020204" pitchFamily="34" charset="-122"/>
                <a:ea typeface="微软雅黑" panose="020B0503020204020204" pitchFamily="34" charset="-122"/>
              </a:rPr>
              <a:t>同步并行置数</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1000"/>
                                        <p:tgtEl>
                                          <p:spTgt spid="29"/>
                                        </p:tgtEl>
                                      </p:cBhvr>
                                    </p:animEffect>
                                  </p:childTnLst>
                                </p:cTn>
                              </p:par>
                            </p:childTnLst>
                          </p:cTn>
                        </p:par>
                        <p:par>
                          <p:cTn id="8" fill="hold">
                            <p:stCondLst>
                              <p:cond delay="1000"/>
                            </p:stCondLst>
                            <p:childTnLst>
                              <p:par>
                                <p:cTn id="9" presetID="22" presetClass="entr" presetSubtype="2"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right)">
                                      <p:cBhvr>
                                        <p:cTn id="11" dur="10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left)">
                                      <p:cBhvr>
                                        <p:cTn id="16" dur="1000"/>
                                        <p:tgtEl>
                                          <p:spTgt spid="33"/>
                                        </p:tgtEl>
                                      </p:cBhvr>
                                    </p:animEffect>
                                  </p:childTnLst>
                                </p:cTn>
                              </p:par>
                            </p:childTnLst>
                          </p:cTn>
                        </p:par>
                        <p:par>
                          <p:cTn id="17" fill="hold">
                            <p:stCondLst>
                              <p:cond delay="1000"/>
                            </p:stCondLst>
                            <p:childTnLst>
                              <p:par>
                                <p:cTn id="18" presetID="22" presetClass="entr" presetSubtype="2"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wipe(right)">
                                      <p:cBhvr>
                                        <p:cTn id="20" dur="10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wipe(left)">
                                      <p:cBhvr>
                                        <p:cTn id="25" dur="1000"/>
                                        <p:tgtEl>
                                          <p:spTgt spid="30"/>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wipe(left)">
                                      <p:cBhvr>
                                        <p:cTn id="29" dur="10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wipe(left)">
                                      <p:cBhvr>
                                        <p:cTn id="34" dur="1000"/>
                                        <p:tgtEl>
                                          <p:spTgt spid="3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wipe(left)">
                                      <p:cBhvr>
                                        <p:cTn id="39" dur="1000"/>
                                        <p:tgtEl>
                                          <p:spTgt spid="36"/>
                                        </p:tgtEl>
                                      </p:cBhvr>
                                    </p:animEffect>
                                  </p:childTnLst>
                                </p:cTn>
                              </p:par>
                            </p:childTnLst>
                          </p:cTn>
                        </p:par>
                        <p:par>
                          <p:cTn id="40" fill="hold">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wipe(left)">
                                      <p:cBhvr>
                                        <p:cTn id="43"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3" grpId="0" animBg="1"/>
      <p:bldP spid="34" grpId="0" animBg="1"/>
      <p:bldP spid="35" grpId="0" animBg="1"/>
      <p:bldP spid="19" grpId="0" animBg="1"/>
      <p:bldP spid="20"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 name="组合 93"/>
          <p:cNvGrpSpPr/>
          <p:nvPr/>
        </p:nvGrpSpPr>
        <p:grpSpPr>
          <a:xfrm>
            <a:off x="4038600" y="730251"/>
            <a:ext cx="4968240" cy="4483099"/>
            <a:chOff x="4038600" y="730251"/>
            <a:chExt cx="4968240" cy="4483099"/>
          </a:xfrm>
        </p:grpSpPr>
        <p:grpSp>
          <p:nvGrpSpPr>
            <p:cNvPr id="95" name="组合 34"/>
            <p:cNvGrpSpPr/>
            <p:nvPr/>
          </p:nvGrpSpPr>
          <p:grpSpPr>
            <a:xfrm>
              <a:off x="4038600" y="869950"/>
              <a:ext cx="4968240" cy="4343400"/>
              <a:chOff x="3943350" y="726728"/>
              <a:chExt cx="4968240" cy="4486623"/>
            </a:xfrm>
          </p:grpSpPr>
          <p:sp>
            <p:nvSpPr>
              <p:cNvPr id="97" name="圆角矩形 20"/>
              <p:cNvSpPr/>
              <p:nvPr/>
            </p:nvSpPr>
            <p:spPr>
              <a:xfrm>
                <a:off x="3943350" y="726728"/>
                <a:ext cx="4968240" cy="4486623"/>
              </a:xfrm>
              <a:prstGeom prst="roundRect">
                <a:avLst>
                  <a:gd name="adj" fmla="val 3669"/>
                </a:avLst>
              </a:prstGeom>
              <a:solidFill>
                <a:schemeClr val="bg1"/>
              </a:solidFill>
              <a:ln w="19050"/>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9" name="Picture 1"/>
              <p:cNvPicPr>
                <a:picLocks noChangeAspect="1" noChangeArrowheads="1"/>
              </p:cNvPicPr>
              <p:nvPr/>
            </p:nvPicPr>
            <p:blipFill>
              <a:blip r:embed="rId1" cstate="print"/>
              <a:srcRect r="1525" b="1424"/>
              <a:stretch>
                <a:fillRect/>
              </a:stretch>
            </p:blipFill>
            <p:spPr bwMode="auto">
              <a:xfrm>
                <a:off x="4143874" y="1016501"/>
                <a:ext cx="4680086" cy="4165099"/>
              </a:xfrm>
              <a:prstGeom prst="rect">
                <a:avLst/>
              </a:prstGeom>
              <a:noFill/>
              <a:ln w="9525">
                <a:noFill/>
                <a:miter lim="800000"/>
                <a:headEnd/>
                <a:tailEnd/>
              </a:ln>
            </p:spPr>
          </p:pic>
          <p:graphicFrame>
            <p:nvGraphicFramePr>
              <p:cNvPr id="120" name="对象 119"/>
              <p:cNvGraphicFramePr>
                <a:graphicFrameLocks noChangeAspect="1"/>
              </p:cNvGraphicFramePr>
              <p:nvPr/>
            </p:nvGraphicFramePr>
            <p:xfrm>
              <a:off x="4177540" y="1025023"/>
              <a:ext cx="269039" cy="240719"/>
            </p:xfrm>
            <a:graphic>
              <a:graphicData uri="http://schemas.openxmlformats.org/presentationml/2006/ole">
                <mc:AlternateContent xmlns:mc="http://schemas.openxmlformats.org/markup-compatibility/2006">
                  <mc:Choice xmlns:v="urn:schemas-microsoft-com:vml" Requires="v">
                    <p:oleObj spid="_x0000_s39026" name="公式" r:id="rId2" imgW="5791200" imgH="5181600" progId="Equation.3">
                      <p:embed/>
                    </p:oleObj>
                  </mc:Choice>
                  <mc:Fallback>
                    <p:oleObj name="公式" r:id="rId2" imgW="5791200" imgH="5181600" progId="Equation.3">
                      <p:embed/>
                      <p:pic>
                        <p:nvPicPr>
                          <p:cNvPr id="0" name="对象 1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7540" y="1025023"/>
                            <a:ext cx="269039" cy="2407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 name="Object 3"/>
              <p:cNvGraphicFramePr>
                <a:graphicFrameLocks noChangeAspect="1"/>
              </p:cNvGraphicFramePr>
              <p:nvPr/>
            </p:nvGraphicFramePr>
            <p:xfrm>
              <a:off x="4176704" y="1320639"/>
              <a:ext cx="269875" cy="225425"/>
            </p:xfrm>
            <a:graphic>
              <a:graphicData uri="http://schemas.openxmlformats.org/presentationml/2006/ole">
                <mc:AlternateContent xmlns:mc="http://schemas.openxmlformats.org/markup-compatibility/2006">
                  <mc:Choice xmlns:v="urn:schemas-microsoft-com:vml" Requires="v">
                    <p:oleObj spid="_x0000_s39027" name="公式" r:id="rId4" imgW="5791200" imgH="4876800" progId="Equation.3">
                      <p:embed/>
                    </p:oleObj>
                  </mc:Choice>
                  <mc:Fallback>
                    <p:oleObj name="公式" r:id="rId4" imgW="5791200" imgH="4876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6704" y="1320639"/>
                            <a:ext cx="269875" cy="225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 name="Object 4"/>
              <p:cNvGraphicFramePr>
                <a:graphicFrameLocks noChangeAspect="1"/>
              </p:cNvGraphicFramePr>
              <p:nvPr/>
            </p:nvGraphicFramePr>
            <p:xfrm>
              <a:off x="4219566" y="1589999"/>
              <a:ext cx="227013" cy="254000"/>
            </p:xfrm>
            <a:graphic>
              <a:graphicData uri="http://schemas.openxmlformats.org/presentationml/2006/ole">
                <mc:AlternateContent xmlns:mc="http://schemas.openxmlformats.org/markup-compatibility/2006">
                  <mc:Choice xmlns:v="urn:schemas-microsoft-com:vml" Requires="v">
                    <p:oleObj spid="_x0000_s39028" name="公式" r:id="rId6" imgW="4876800" imgH="5486400" progId="Equation.3">
                      <p:embed/>
                    </p:oleObj>
                  </mc:Choice>
                  <mc:Fallback>
                    <p:oleObj name="公式" r:id="rId6" imgW="4876800" imgH="54864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19566" y="1589999"/>
                            <a:ext cx="227013"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 name="Object 5"/>
              <p:cNvGraphicFramePr>
                <a:graphicFrameLocks noChangeAspect="1"/>
              </p:cNvGraphicFramePr>
              <p:nvPr/>
            </p:nvGraphicFramePr>
            <p:xfrm>
              <a:off x="4233854" y="1843590"/>
              <a:ext cx="212725" cy="239712"/>
            </p:xfrm>
            <a:graphic>
              <a:graphicData uri="http://schemas.openxmlformats.org/presentationml/2006/ole">
                <mc:AlternateContent xmlns:mc="http://schemas.openxmlformats.org/markup-compatibility/2006">
                  <mc:Choice xmlns:v="urn:schemas-microsoft-com:vml" Requires="v">
                    <p:oleObj spid="_x0000_s39029" name="公式" r:id="rId8" imgW="4572000" imgH="5181600" progId="Equation.3">
                      <p:embed/>
                    </p:oleObj>
                  </mc:Choice>
                  <mc:Fallback>
                    <p:oleObj name="公式" r:id="rId8" imgW="4572000" imgH="51816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33854" y="1843590"/>
                            <a:ext cx="212725" cy="239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4" name="Object 6"/>
              <p:cNvGraphicFramePr>
                <a:graphicFrameLocks noChangeAspect="1"/>
              </p:cNvGraphicFramePr>
              <p:nvPr/>
            </p:nvGraphicFramePr>
            <p:xfrm>
              <a:off x="4219567" y="2112294"/>
              <a:ext cx="227012" cy="239712"/>
            </p:xfrm>
            <a:graphic>
              <a:graphicData uri="http://schemas.openxmlformats.org/presentationml/2006/ole">
                <mc:AlternateContent xmlns:mc="http://schemas.openxmlformats.org/markup-compatibility/2006">
                  <mc:Choice xmlns:v="urn:schemas-microsoft-com:vml" Requires="v">
                    <p:oleObj spid="_x0000_s39030" name="公式" r:id="rId10" imgW="4876800" imgH="5181600" progId="Equation.3">
                      <p:embed/>
                    </p:oleObj>
                  </mc:Choice>
                  <mc:Fallback>
                    <p:oleObj name="公式" r:id="rId10" imgW="4876800" imgH="518160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19567" y="2112294"/>
                            <a:ext cx="227012" cy="239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5" name="Object 7"/>
              <p:cNvGraphicFramePr>
                <a:graphicFrameLocks noChangeAspect="1"/>
              </p:cNvGraphicFramePr>
              <p:nvPr/>
            </p:nvGraphicFramePr>
            <p:xfrm>
              <a:off x="4219567" y="2353929"/>
              <a:ext cx="227012" cy="254000"/>
            </p:xfrm>
            <a:graphic>
              <a:graphicData uri="http://schemas.openxmlformats.org/presentationml/2006/ole">
                <mc:AlternateContent xmlns:mc="http://schemas.openxmlformats.org/markup-compatibility/2006">
                  <mc:Choice xmlns:v="urn:schemas-microsoft-com:vml" Requires="v">
                    <p:oleObj spid="_x0000_s39031" name="公式" r:id="rId12" imgW="4876800" imgH="5486400" progId="Equation.3">
                      <p:embed/>
                    </p:oleObj>
                  </mc:Choice>
                  <mc:Fallback>
                    <p:oleObj name="公式" r:id="rId12" imgW="4876800" imgH="5486400"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19567" y="2353929"/>
                            <a:ext cx="227012"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6" name="Object 8"/>
              <p:cNvGraphicFramePr>
                <a:graphicFrameLocks noChangeAspect="1"/>
              </p:cNvGraphicFramePr>
              <p:nvPr/>
            </p:nvGraphicFramePr>
            <p:xfrm>
              <a:off x="4176704" y="2650623"/>
              <a:ext cx="269875" cy="196850"/>
            </p:xfrm>
            <a:graphic>
              <a:graphicData uri="http://schemas.openxmlformats.org/presentationml/2006/ole">
                <mc:AlternateContent xmlns:mc="http://schemas.openxmlformats.org/markup-compatibility/2006">
                  <mc:Choice xmlns:v="urn:schemas-microsoft-com:vml" Requires="v">
                    <p:oleObj spid="_x0000_s39032" name="公式" r:id="rId14" imgW="5791200" imgH="4267200" progId="Equation.3">
                      <p:embed/>
                    </p:oleObj>
                  </mc:Choice>
                  <mc:Fallback>
                    <p:oleObj name="公式" r:id="rId14" imgW="5791200" imgH="4267200"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76704" y="2650623"/>
                            <a:ext cx="269875" cy="196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7" name="Object 9"/>
              <p:cNvGraphicFramePr>
                <a:graphicFrameLocks noChangeAspect="1"/>
              </p:cNvGraphicFramePr>
              <p:nvPr/>
            </p:nvGraphicFramePr>
            <p:xfrm>
              <a:off x="4078279" y="2931612"/>
              <a:ext cx="368300" cy="196850"/>
            </p:xfrm>
            <a:graphic>
              <a:graphicData uri="http://schemas.openxmlformats.org/presentationml/2006/ole">
                <mc:AlternateContent xmlns:mc="http://schemas.openxmlformats.org/markup-compatibility/2006">
                  <mc:Choice xmlns:v="urn:schemas-microsoft-com:vml" Requires="v">
                    <p:oleObj spid="_x0000_s39033" name="公式" r:id="rId16" imgW="7924800" imgH="4267200" progId="Equation.3">
                      <p:embed/>
                    </p:oleObj>
                  </mc:Choice>
                  <mc:Fallback>
                    <p:oleObj name="公式" r:id="rId16" imgW="7924800" imgH="4267200"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78279" y="2931612"/>
                            <a:ext cx="368300" cy="196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8" name="Object 10"/>
              <p:cNvGraphicFramePr>
                <a:graphicFrameLocks noChangeAspect="1"/>
              </p:cNvGraphicFramePr>
              <p:nvPr/>
            </p:nvGraphicFramePr>
            <p:xfrm>
              <a:off x="4063992" y="3171574"/>
              <a:ext cx="382587" cy="196850"/>
            </p:xfrm>
            <a:graphic>
              <a:graphicData uri="http://schemas.openxmlformats.org/presentationml/2006/ole">
                <mc:AlternateContent xmlns:mc="http://schemas.openxmlformats.org/markup-compatibility/2006">
                  <mc:Choice xmlns:v="urn:schemas-microsoft-com:vml" Requires="v">
                    <p:oleObj spid="_x0000_s39034" name="公式" r:id="rId18" imgW="8229600" imgH="4267200" progId="Equation.3">
                      <p:embed/>
                    </p:oleObj>
                  </mc:Choice>
                  <mc:Fallback>
                    <p:oleObj name="公式" r:id="rId18" imgW="8229600" imgH="4267200" progId="Equation.3">
                      <p:embed/>
                      <p:pic>
                        <p:nvPicPr>
                          <p:cNvPr id="0"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63992" y="3171574"/>
                            <a:ext cx="382587" cy="196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9" name="Object 11"/>
              <p:cNvGraphicFramePr>
                <a:graphicFrameLocks noChangeAspect="1"/>
              </p:cNvGraphicFramePr>
              <p:nvPr/>
            </p:nvGraphicFramePr>
            <p:xfrm>
              <a:off x="4233854" y="3389981"/>
              <a:ext cx="212725" cy="254000"/>
            </p:xfrm>
            <a:graphic>
              <a:graphicData uri="http://schemas.openxmlformats.org/presentationml/2006/ole">
                <mc:AlternateContent xmlns:mc="http://schemas.openxmlformats.org/markup-compatibility/2006">
                  <mc:Choice xmlns:v="urn:schemas-microsoft-com:vml" Requires="v">
                    <p:oleObj spid="_x0000_s39035" name="公式" r:id="rId20" imgW="4572000" imgH="5486400" progId="Equation.3">
                      <p:embed/>
                    </p:oleObj>
                  </mc:Choice>
                  <mc:Fallback>
                    <p:oleObj name="公式" r:id="rId20" imgW="4572000" imgH="5486400" progId="Equation.3">
                      <p:embed/>
                      <p:pic>
                        <p:nvPicPr>
                          <p:cNvPr id="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233854" y="3389981"/>
                            <a:ext cx="212725"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0" name="Object 12"/>
              <p:cNvGraphicFramePr>
                <a:graphicFrameLocks noChangeAspect="1"/>
              </p:cNvGraphicFramePr>
              <p:nvPr/>
            </p:nvGraphicFramePr>
            <p:xfrm>
              <a:off x="4248141" y="3679413"/>
              <a:ext cx="198438" cy="239712"/>
            </p:xfrm>
            <a:graphic>
              <a:graphicData uri="http://schemas.openxmlformats.org/presentationml/2006/ole">
                <mc:AlternateContent xmlns:mc="http://schemas.openxmlformats.org/markup-compatibility/2006">
                  <mc:Choice xmlns:v="urn:schemas-microsoft-com:vml" Requires="v">
                    <p:oleObj spid="_x0000_s39036" name="公式" r:id="rId22" imgW="4267200" imgH="5181600" progId="Equation.3">
                      <p:embed/>
                    </p:oleObj>
                  </mc:Choice>
                  <mc:Fallback>
                    <p:oleObj name="公式" r:id="rId22" imgW="4267200" imgH="5181600" progId="Equation.3">
                      <p:embed/>
                      <p:pic>
                        <p:nvPicPr>
                          <p:cNvPr id="0" name="Object 1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248141" y="3679413"/>
                            <a:ext cx="198438" cy="239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1" name="Object 13"/>
              <p:cNvGraphicFramePr>
                <a:graphicFrameLocks noChangeAspect="1"/>
              </p:cNvGraphicFramePr>
              <p:nvPr/>
            </p:nvGraphicFramePr>
            <p:xfrm>
              <a:off x="4219566" y="4001263"/>
              <a:ext cx="227013" cy="239712"/>
            </p:xfrm>
            <a:graphic>
              <a:graphicData uri="http://schemas.openxmlformats.org/presentationml/2006/ole">
                <mc:AlternateContent xmlns:mc="http://schemas.openxmlformats.org/markup-compatibility/2006">
                  <mc:Choice xmlns:v="urn:schemas-microsoft-com:vml" Requires="v">
                    <p:oleObj spid="_x0000_s39037" name="公式" r:id="rId24" imgW="4876800" imgH="5181600" progId="Equation.3">
                      <p:embed/>
                    </p:oleObj>
                  </mc:Choice>
                  <mc:Fallback>
                    <p:oleObj name="公式" r:id="rId24" imgW="4876800" imgH="5181600" progId="Equation.3">
                      <p:embed/>
                      <p:pic>
                        <p:nvPicPr>
                          <p:cNvPr id="0" name="Object 1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219566" y="4001263"/>
                            <a:ext cx="227013" cy="239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2" name="Object 14"/>
              <p:cNvGraphicFramePr>
                <a:graphicFrameLocks noChangeAspect="1"/>
              </p:cNvGraphicFramePr>
              <p:nvPr/>
            </p:nvGraphicFramePr>
            <p:xfrm>
              <a:off x="4233854" y="4326041"/>
              <a:ext cx="212725" cy="254000"/>
            </p:xfrm>
            <a:graphic>
              <a:graphicData uri="http://schemas.openxmlformats.org/presentationml/2006/ole">
                <mc:AlternateContent xmlns:mc="http://schemas.openxmlformats.org/markup-compatibility/2006">
                  <mc:Choice xmlns:v="urn:schemas-microsoft-com:vml" Requires="v">
                    <p:oleObj spid="_x0000_s39038" name="公式" r:id="rId26" imgW="4572000" imgH="5486400" progId="Equation.3">
                      <p:embed/>
                    </p:oleObj>
                  </mc:Choice>
                  <mc:Fallback>
                    <p:oleObj name="公式" r:id="rId26" imgW="4572000" imgH="5486400" progId="Equation.3">
                      <p:embed/>
                      <p:pic>
                        <p:nvPicPr>
                          <p:cNvPr id="0" name="Object 1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233854" y="4326041"/>
                            <a:ext cx="212725"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 name="Object 15"/>
              <p:cNvGraphicFramePr>
                <a:graphicFrameLocks noChangeAspect="1"/>
              </p:cNvGraphicFramePr>
              <p:nvPr/>
            </p:nvGraphicFramePr>
            <p:xfrm>
              <a:off x="4178292" y="4720567"/>
              <a:ext cx="268287" cy="198438"/>
            </p:xfrm>
            <a:graphic>
              <a:graphicData uri="http://schemas.openxmlformats.org/presentationml/2006/ole">
                <mc:AlternateContent xmlns:mc="http://schemas.openxmlformats.org/markup-compatibility/2006">
                  <mc:Choice xmlns:v="urn:schemas-microsoft-com:vml" Requires="v">
                    <p:oleObj spid="_x0000_s39039" name="公式" r:id="rId28" imgW="5791200" imgH="4267200" progId="Equation.3">
                      <p:embed/>
                    </p:oleObj>
                  </mc:Choice>
                  <mc:Fallback>
                    <p:oleObj name="公式" r:id="rId28" imgW="5791200" imgH="4267200" progId="Equation.3">
                      <p:embed/>
                      <p:pic>
                        <p:nvPicPr>
                          <p:cNvPr id="0" name="Object 1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178292" y="4720567"/>
                            <a:ext cx="268287" cy="198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96" name="圆角矩形 93"/>
            <p:cNvSpPr/>
            <p:nvPr/>
          </p:nvSpPr>
          <p:spPr>
            <a:xfrm>
              <a:off x="4870132" y="730251"/>
              <a:ext cx="3305176" cy="2921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FFFF00"/>
                  </a:solidFill>
                  <a:latin typeface="微软雅黑" panose="020B0503020204020204" pitchFamily="34" charset="-122"/>
                  <a:ea typeface="微软雅黑" panose="020B0503020204020204" pitchFamily="34" charset="-122"/>
                </a:rPr>
                <a:t>74LVC161</a:t>
              </a:r>
              <a:r>
                <a:rPr lang="zh-CN" altLang="en-US" b="1" dirty="0">
                  <a:solidFill>
                    <a:srgbClr val="FFFF00"/>
                  </a:solidFill>
                  <a:latin typeface="微软雅黑" panose="020B0503020204020204" pitchFamily="34" charset="-122"/>
                  <a:ea typeface="微软雅黑" panose="020B0503020204020204" pitchFamily="34" charset="-122"/>
                </a:rPr>
                <a:t>时序图</a:t>
              </a:r>
              <a:endParaRPr lang="zh-CN" altLang="en-US" b="1" dirty="0">
                <a:solidFill>
                  <a:srgbClr val="FFFF00"/>
                </a:solidFill>
              </a:endParaRPr>
            </a:p>
          </p:txBody>
        </p:sp>
      </p:grpSp>
      <p:sp>
        <p:nvSpPr>
          <p:cNvPr id="134" name="圆角矩形 35"/>
          <p:cNvSpPr/>
          <p:nvPr/>
        </p:nvSpPr>
        <p:spPr>
          <a:xfrm>
            <a:off x="4886160" y="1244600"/>
            <a:ext cx="340894" cy="3756526"/>
          </a:xfrm>
          <a:prstGeom prst="roundRect">
            <a:avLst>
              <a:gd name="adj" fmla="val 0"/>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圆角矩形 40"/>
          <p:cNvSpPr/>
          <p:nvPr/>
        </p:nvSpPr>
        <p:spPr>
          <a:xfrm>
            <a:off x="5335339" y="1250949"/>
            <a:ext cx="260682" cy="3762207"/>
          </a:xfrm>
          <a:prstGeom prst="roundRect">
            <a:avLst>
              <a:gd name="adj" fmla="val 0"/>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圆角矩形 42"/>
          <p:cNvSpPr/>
          <p:nvPr/>
        </p:nvSpPr>
        <p:spPr>
          <a:xfrm>
            <a:off x="5589673" y="1238249"/>
            <a:ext cx="1676398" cy="3770897"/>
          </a:xfrm>
          <a:prstGeom prst="roundRect">
            <a:avLst>
              <a:gd name="adj" fmla="val 0"/>
            </a:avLst>
          </a:prstGeom>
          <a:solidFill>
            <a:schemeClr val="accent1">
              <a:lumMod val="40000"/>
              <a:lumOff val="60000"/>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圆角矩形 43"/>
          <p:cNvSpPr/>
          <p:nvPr/>
        </p:nvSpPr>
        <p:spPr>
          <a:xfrm>
            <a:off x="7270083" y="1238250"/>
            <a:ext cx="1600199" cy="3774908"/>
          </a:xfrm>
          <a:prstGeom prst="roundRect">
            <a:avLst>
              <a:gd name="adj" fmla="val 0"/>
            </a:avLst>
          </a:prstGeom>
          <a:solidFill>
            <a:srgbClr val="00CC00">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圆角矩形 50"/>
          <p:cNvSpPr/>
          <p:nvPr/>
        </p:nvSpPr>
        <p:spPr>
          <a:xfrm>
            <a:off x="6351672" y="2984501"/>
            <a:ext cx="280735" cy="1968500"/>
          </a:xfrm>
          <a:prstGeom prst="roundRect">
            <a:avLst>
              <a:gd name="adj" fmla="val 0"/>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9" name="组合 102"/>
          <p:cNvGrpSpPr/>
          <p:nvPr/>
        </p:nvGrpSpPr>
        <p:grpSpPr>
          <a:xfrm>
            <a:off x="6740574" y="3475474"/>
            <a:ext cx="76944" cy="1102826"/>
            <a:chOff x="5338494" y="1484114"/>
            <a:chExt cx="76944" cy="1102826"/>
          </a:xfrm>
        </p:grpSpPr>
        <p:sp>
          <p:nvSpPr>
            <p:cNvPr id="140" name="矩形 139"/>
            <p:cNvSpPr/>
            <p:nvPr/>
          </p:nvSpPr>
          <p:spPr>
            <a:xfrm>
              <a:off x="5338494" y="148411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1" name="矩形 140"/>
            <p:cNvSpPr/>
            <p:nvPr/>
          </p:nvSpPr>
          <p:spPr>
            <a:xfrm>
              <a:off x="5338494" y="176859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2" name="矩形 141"/>
            <p:cNvSpPr/>
            <p:nvPr/>
          </p:nvSpPr>
          <p:spPr>
            <a:xfrm>
              <a:off x="5338494" y="208355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3" name="矩形 142"/>
            <p:cNvSpPr/>
            <p:nvPr/>
          </p:nvSpPr>
          <p:spPr>
            <a:xfrm>
              <a:off x="5338494" y="240740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44" name="组合 143"/>
          <p:cNvGrpSpPr/>
          <p:nvPr/>
        </p:nvGrpSpPr>
        <p:grpSpPr>
          <a:xfrm>
            <a:off x="374650" y="3314701"/>
            <a:ext cx="3581400" cy="1885949"/>
            <a:chOff x="374650" y="3314701"/>
            <a:chExt cx="3581400" cy="1885949"/>
          </a:xfrm>
        </p:grpSpPr>
        <p:grpSp>
          <p:nvGrpSpPr>
            <p:cNvPr id="145" name="组合 144"/>
            <p:cNvGrpSpPr/>
            <p:nvPr/>
          </p:nvGrpSpPr>
          <p:grpSpPr>
            <a:xfrm>
              <a:off x="374650" y="3314701"/>
              <a:ext cx="3581400" cy="1885949"/>
              <a:chOff x="374650" y="3314701"/>
              <a:chExt cx="3371850" cy="1885949"/>
            </a:xfrm>
          </p:grpSpPr>
          <p:sp>
            <p:nvSpPr>
              <p:cNvPr id="147" name="圆角矩形 193"/>
              <p:cNvSpPr/>
              <p:nvPr/>
            </p:nvSpPr>
            <p:spPr>
              <a:xfrm>
                <a:off x="374650" y="3454400"/>
                <a:ext cx="3371850" cy="1746250"/>
              </a:xfrm>
              <a:prstGeom prst="roundRect">
                <a:avLst>
                  <a:gd name="adj" fmla="val 3669"/>
                </a:avLst>
              </a:prstGeom>
              <a:solidFill>
                <a:schemeClr val="bg1"/>
              </a:solidFill>
              <a:ln w="19050"/>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圆角矩形 194"/>
              <p:cNvSpPr/>
              <p:nvPr/>
            </p:nvSpPr>
            <p:spPr>
              <a:xfrm>
                <a:off x="1047432" y="3314701"/>
                <a:ext cx="2002369" cy="2921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FFF00"/>
                    </a:solidFill>
                    <a:latin typeface="微软雅黑" panose="020B0503020204020204" pitchFamily="34" charset="-122"/>
                    <a:ea typeface="微软雅黑" panose="020B0503020204020204" pitchFamily="34" charset="-122"/>
                  </a:rPr>
                  <a:t>74LVC161</a:t>
                </a:r>
                <a:r>
                  <a:rPr lang="zh-CN" altLang="en-US" sz="1400" b="1" dirty="0">
                    <a:solidFill>
                      <a:srgbClr val="FFFF00"/>
                    </a:solidFill>
                    <a:latin typeface="微软雅黑" panose="020B0503020204020204" pitchFamily="34" charset="-122"/>
                    <a:ea typeface="微软雅黑" panose="020B0503020204020204" pitchFamily="34" charset="-122"/>
                  </a:rPr>
                  <a:t>同类产品</a:t>
                </a:r>
                <a:endParaRPr lang="zh-CN" altLang="en-US" sz="1400" b="1" dirty="0">
                  <a:solidFill>
                    <a:srgbClr val="FFFF00"/>
                  </a:solidFill>
                </a:endParaRPr>
              </a:p>
            </p:txBody>
          </p:sp>
        </p:grpSp>
        <p:sp>
          <p:nvSpPr>
            <p:cNvPr id="146" name="Rectangle 826"/>
            <p:cNvSpPr>
              <a:spLocks noChangeArrowheads="1"/>
            </p:cNvSpPr>
            <p:nvPr/>
          </p:nvSpPr>
          <p:spPr bwMode="auto">
            <a:xfrm>
              <a:off x="439720" y="3661093"/>
              <a:ext cx="3471880" cy="1354217"/>
            </a:xfrm>
            <a:prstGeom prst="rect">
              <a:avLst/>
            </a:prstGeom>
            <a:noFill/>
            <a:ln>
              <a:noFill/>
            </a:ln>
          </p:spPr>
          <p:style>
            <a:lnRef idx="1">
              <a:schemeClr val="accent4"/>
            </a:lnRef>
            <a:fillRef idx="2">
              <a:schemeClr val="accent4"/>
            </a:fillRef>
            <a:effectRef idx="1">
              <a:schemeClr val="accent4"/>
            </a:effectRef>
            <a:fontRef idx="minor">
              <a:schemeClr val="dk1"/>
            </a:fontRef>
          </p:style>
          <p:txBody>
            <a:bodyPr wrap="square" lIns="72000" rIns="0">
              <a:spAutoFit/>
            </a:bodyPr>
            <a:lstStyle/>
            <a:p>
              <a:r>
                <a:rPr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74LS161 / 74HC161</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功能同</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74LVC161)</a:t>
              </a:r>
              <a:endPar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(TTL)         (CMOS)</a:t>
              </a:r>
              <a:endPar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74×163</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同步清零，其它同</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74×161)</a:t>
              </a:r>
              <a:endPar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74×160</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异步清零</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同步置数</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进制计数器</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pic>
        <p:nvPicPr>
          <p:cNvPr id="149" name="Picture 21"/>
          <p:cNvPicPr>
            <a:picLocks noChangeAspect="1" noChangeArrowheads="1"/>
          </p:cNvPicPr>
          <p:nvPr/>
        </p:nvPicPr>
        <p:blipFill>
          <a:blip r:embed="rId30" cstate="print"/>
          <a:srcRect l="2893" t="2594" r="3512" b="6621"/>
          <a:stretch>
            <a:fillRect/>
          </a:stretch>
        </p:blipFill>
        <p:spPr bwMode="auto">
          <a:xfrm>
            <a:off x="872829" y="1376192"/>
            <a:ext cx="2394143" cy="1328467"/>
          </a:xfrm>
          <a:prstGeom prst="snip2DiagRect">
            <a:avLst/>
          </a:prstGeom>
          <a:solidFill>
            <a:srgbClr val="FFFFFF">
              <a:shade val="85000"/>
            </a:srgbClr>
          </a:solidFill>
          <a:ln w="19050" cap="sq">
            <a:solidFill>
              <a:srgbClr val="FF00FF"/>
            </a:solidFill>
            <a:miter lim="800000"/>
            <a:headEnd/>
            <a:tailEnd/>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grpSp>
        <p:nvGrpSpPr>
          <p:cNvPr id="150" name="组合 149"/>
          <p:cNvGrpSpPr/>
          <p:nvPr/>
        </p:nvGrpSpPr>
        <p:grpSpPr>
          <a:xfrm>
            <a:off x="5144502" y="1384300"/>
            <a:ext cx="5348" cy="3626530"/>
            <a:chOff x="5144502" y="1384300"/>
            <a:chExt cx="5348" cy="3626530"/>
          </a:xfrm>
        </p:grpSpPr>
        <p:cxnSp>
          <p:nvCxnSpPr>
            <p:cNvPr id="151" name="直接连接符 150"/>
            <p:cNvCxnSpPr/>
            <p:nvPr/>
          </p:nvCxnSpPr>
          <p:spPr>
            <a:xfrm flipH="1">
              <a:off x="5144502" y="1384300"/>
              <a:ext cx="5348" cy="362653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152" name="直接箭头连接符 151"/>
            <p:cNvCxnSpPr/>
            <p:nvPr/>
          </p:nvCxnSpPr>
          <p:spPr>
            <a:xfrm flipV="1">
              <a:off x="5149850" y="2743200"/>
              <a:ext cx="0" cy="108000"/>
            </a:xfrm>
            <a:prstGeom prst="straightConnector1">
              <a:avLst/>
            </a:prstGeom>
            <a:ln w="28575">
              <a:solidFill>
                <a:srgbClr val="0000FF"/>
              </a:solidFill>
              <a:tailEnd type="arrow" w="sm" len="sm"/>
            </a:ln>
          </p:spPr>
          <p:style>
            <a:lnRef idx="1">
              <a:schemeClr val="accent1"/>
            </a:lnRef>
            <a:fillRef idx="0">
              <a:schemeClr val="accent1"/>
            </a:fillRef>
            <a:effectRef idx="0">
              <a:schemeClr val="accent1"/>
            </a:effectRef>
            <a:fontRef idx="minor">
              <a:schemeClr val="tx1"/>
            </a:fontRef>
          </p:style>
        </p:cxnSp>
      </p:grpSp>
      <p:grpSp>
        <p:nvGrpSpPr>
          <p:cNvPr id="153" name="组合 152"/>
          <p:cNvGrpSpPr/>
          <p:nvPr/>
        </p:nvGrpSpPr>
        <p:grpSpPr>
          <a:xfrm>
            <a:off x="5441281" y="2743200"/>
            <a:ext cx="669" cy="2259767"/>
            <a:chOff x="5441281" y="2743200"/>
            <a:chExt cx="669" cy="2259767"/>
          </a:xfrm>
        </p:grpSpPr>
        <p:cxnSp>
          <p:nvCxnSpPr>
            <p:cNvPr id="154" name="直接连接符 153"/>
            <p:cNvCxnSpPr/>
            <p:nvPr/>
          </p:nvCxnSpPr>
          <p:spPr>
            <a:xfrm flipH="1">
              <a:off x="5441281" y="2787650"/>
              <a:ext cx="669" cy="2215317"/>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55" name="直接箭头连接符 154"/>
            <p:cNvCxnSpPr/>
            <p:nvPr/>
          </p:nvCxnSpPr>
          <p:spPr>
            <a:xfrm flipV="1">
              <a:off x="5441950" y="2743200"/>
              <a:ext cx="0" cy="108000"/>
            </a:xfrm>
            <a:prstGeom prst="straightConnector1">
              <a:avLst/>
            </a:prstGeom>
            <a:ln w="28575">
              <a:solidFill>
                <a:srgbClr val="0000FF"/>
              </a:solidFill>
              <a:tailEnd type="arrow" w="sm" len="sm"/>
            </a:ln>
          </p:spPr>
          <p:style>
            <a:lnRef idx="1">
              <a:schemeClr val="accent1"/>
            </a:lnRef>
            <a:fillRef idx="0">
              <a:schemeClr val="accent1"/>
            </a:fillRef>
            <a:effectRef idx="0">
              <a:schemeClr val="accent1"/>
            </a:effectRef>
            <a:fontRef idx="minor">
              <a:schemeClr val="tx1"/>
            </a:fontRef>
          </p:style>
        </p:cxnSp>
      </p:grpSp>
      <p:sp>
        <p:nvSpPr>
          <p:cNvPr id="156" name="矩形 155"/>
          <p:cNvSpPr/>
          <p:nvPr/>
        </p:nvSpPr>
        <p:spPr>
          <a:xfrm>
            <a:off x="5413424" y="1703824"/>
            <a:ext cx="76944" cy="179536"/>
          </a:xfrm>
          <a:prstGeom prst="rect">
            <a:avLst/>
          </a:prstGeom>
        </p:spPr>
        <p:txBody>
          <a:bodyPr wrap="none" lIns="0" tIns="0" rIns="0" bIns="0">
            <a:spAutoFit/>
          </a:bodyPr>
          <a:lstStyle/>
          <a:p>
            <a:pPr>
              <a:lnSpc>
                <a:spcPts val="1400"/>
              </a:lnSpc>
            </a:pPr>
            <a:r>
              <a:rPr lang="en-US" altLang="zh-CN" sz="12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7" name="矩形 156"/>
          <p:cNvSpPr/>
          <p:nvPr/>
        </p:nvSpPr>
        <p:spPr>
          <a:xfrm>
            <a:off x="5413424" y="1937504"/>
            <a:ext cx="76944" cy="179536"/>
          </a:xfrm>
          <a:prstGeom prst="rect">
            <a:avLst/>
          </a:prstGeom>
        </p:spPr>
        <p:txBody>
          <a:bodyPr wrap="none" lIns="0" tIns="0" rIns="0" bIns="0">
            <a:spAutoFit/>
          </a:bodyPr>
          <a:lstStyle/>
          <a:p>
            <a:pPr>
              <a:lnSpc>
                <a:spcPts val="1400"/>
              </a:lnSpc>
            </a:pPr>
            <a:r>
              <a:rPr lang="en-US" altLang="zh-CN" sz="12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8" name="矩形 157"/>
          <p:cNvSpPr/>
          <p:nvPr/>
        </p:nvSpPr>
        <p:spPr>
          <a:xfrm>
            <a:off x="5413424" y="2208014"/>
            <a:ext cx="76944" cy="179536"/>
          </a:xfrm>
          <a:prstGeom prst="rect">
            <a:avLst/>
          </a:prstGeom>
        </p:spPr>
        <p:txBody>
          <a:bodyPr wrap="none" lIns="0" tIns="0" rIns="0" bIns="0">
            <a:spAutoFit/>
          </a:bodyPr>
          <a:lstStyle/>
          <a:p>
            <a:pPr>
              <a:lnSpc>
                <a:spcPts val="1400"/>
              </a:lnSpc>
            </a:pPr>
            <a:r>
              <a:rPr lang="en-US" altLang="zh-CN" sz="12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9" name="矩形 158"/>
          <p:cNvSpPr/>
          <p:nvPr/>
        </p:nvSpPr>
        <p:spPr>
          <a:xfrm>
            <a:off x="5413424" y="2455664"/>
            <a:ext cx="76944" cy="179536"/>
          </a:xfrm>
          <a:prstGeom prst="rect">
            <a:avLst/>
          </a:prstGeom>
        </p:spPr>
        <p:txBody>
          <a:bodyPr wrap="none" lIns="0" tIns="0" rIns="0" bIns="0">
            <a:spAutoFit/>
          </a:bodyPr>
          <a:lstStyle/>
          <a:p>
            <a:pPr>
              <a:lnSpc>
                <a:spcPts val="1400"/>
              </a:lnSpc>
            </a:pPr>
            <a:r>
              <a:rPr lang="en-US" altLang="zh-CN" sz="12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60" name="组合 102"/>
          <p:cNvGrpSpPr/>
          <p:nvPr/>
        </p:nvGrpSpPr>
        <p:grpSpPr>
          <a:xfrm>
            <a:off x="7324774" y="3475474"/>
            <a:ext cx="76944" cy="1102826"/>
            <a:chOff x="5338494" y="1484114"/>
            <a:chExt cx="76944" cy="1102826"/>
          </a:xfrm>
        </p:grpSpPr>
        <p:sp>
          <p:nvSpPr>
            <p:cNvPr id="161" name="矩形 160"/>
            <p:cNvSpPr/>
            <p:nvPr/>
          </p:nvSpPr>
          <p:spPr>
            <a:xfrm>
              <a:off x="5338494" y="148411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2" name="矩形 161"/>
            <p:cNvSpPr/>
            <p:nvPr/>
          </p:nvSpPr>
          <p:spPr>
            <a:xfrm>
              <a:off x="5338494" y="176859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3" name="矩形 162"/>
            <p:cNvSpPr/>
            <p:nvPr/>
          </p:nvSpPr>
          <p:spPr>
            <a:xfrm>
              <a:off x="5338494" y="208355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4" name="矩形 163"/>
            <p:cNvSpPr/>
            <p:nvPr/>
          </p:nvSpPr>
          <p:spPr>
            <a:xfrm>
              <a:off x="5338494" y="240740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65" name="组合 102"/>
          <p:cNvGrpSpPr/>
          <p:nvPr/>
        </p:nvGrpSpPr>
        <p:grpSpPr>
          <a:xfrm>
            <a:off x="5864274" y="3475474"/>
            <a:ext cx="76944" cy="1102826"/>
            <a:chOff x="5338494" y="1484114"/>
            <a:chExt cx="76944" cy="1102826"/>
          </a:xfrm>
        </p:grpSpPr>
        <p:sp>
          <p:nvSpPr>
            <p:cNvPr id="166" name="矩形 165"/>
            <p:cNvSpPr/>
            <p:nvPr/>
          </p:nvSpPr>
          <p:spPr>
            <a:xfrm>
              <a:off x="5338494" y="148411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7" name="矩形 166"/>
            <p:cNvSpPr/>
            <p:nvPr/>
          </p:nvSpPr>
          <p:spPr>
            <a:xfrm>
              <a:off x="5338494" y="176859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8" name="矩形 167"/>
            <p:cNvSpPr/>
            <p:nvPr/>
          </p:nvSpPr>
          <p:spPr>
            <a:xfrm>
              <a:off x="5338494" y="208355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9" name="矩形 168"/>
            <p:cNvSpPr/>
            <p:nvPr/>
          </p:nvSpPr>
          <p:spPr>
            <a:xfrm>
              <a:off x="5338494" y="240740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70" name="组合 102"/>
          <p:cNvGrpSpPr/>
          <p:nvPr/>
        </p:nvGrpSpPr>
        <p:grpSpPr>
          <a:xfrm>
            <a:off x="6156374" y="3475474"/>
            <a:ext cx="76944" cy="1102826"/>
            <a:chOff x="5338494" y="1484114"/>
            <a:chExt cx="76944" cy="1102826"/>
          </a:xfrm>
        </p:grpSpPr>
        <p:sp>
          <p:nvSpPr>
            <p:cNvPr id="171" name="矩形 170"/>
            <p:cNvSpPr/>
            <p:nvPr/>
          </p:nvSpPr>
          <p:spPr>
            <a:xfrm>
              <a:off x="5338494" y="148411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2" name="矩形 171"/>
            <p:cNvSpPr/>
            <p:nvPr/>
          </p:nvSpPr>
          <p:spPr>
            <a:xfrm>
              <a:off x="5338494" y="176859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3" name="矩形 172"/>
            <p:cNvSpPr/>
            <p:nvPr/>
          </p:nvSpPr>
          <p:spPr>
            <a:xfrm>
              <a:off x="5338494" y="208355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4" name="矩形 173"/>
            <p:cNvSpPr/>
            <p:nvPr/>
          </p:nvSpPr>
          <p:spPr>
            <a:xfrm>
              <a:off x="5338494" y="240740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75" name="组合 102"/>
          <p:cNvGrpSpPr/>
          <p:nvPr/>
        </p:nvGrpSpPr>
        <p:grpSpPr>
          <a:xfrm>
            <a:off x="6435774" y="3475474"/>
            <a:ext cx="76944" cy="1102826"/>
            <a:chOff x="5338494" y="1484114"/>
            <a:chExt cx="76944" cy="1102826"/>
          </a:xfrm>
        </p:grpSpPr>
        <p:sp>
          <p:nvSpPr>
            <p:cNvPr id="176" name="矩形 175"/>
            <p:cNvSpPr/>
            <p:nvPr/>
          </p:nvSpPr>
          <p:spPr>
            <a:xfrm>
              <a:off x="5338494" y="148411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7" name="矩形 176"/>
            <p:cNvSpPr/>
            <p:nvPr/>
          </p:nvSpPr>
          <p:spPr>
            <a:xfrm>
              <a:off x="5338494" y="176859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8" name="矩形 177"/>
            <p:cNvSpPr/>
            <p:nvPr/>
          </p:nvSpPr>
          <p:spPr>
            <a:xfrm>
              <a:off x="5338494" y="208355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9" name="矩形 178"/>
            <p:cNvSpPr/>
            <p:nvPr/>
          </p:nvSpPr>
          <p:spPr>
            <a:xfrm>
              <a:off x="5338494" y="240740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80" name="组合 102"/>
          <p:cNvGrpSpPr/>
          <p:nvPr/>
        </p:nvGrpSpPr>
        <p:grpSpPr>
          <a:xfrm>
            <a:off x="7039024" y="3475474"/>
            <a:ext cx="76944" cy="1102826"/>
            <a:chOff x="5338494" y="1484114"/>
            <a:chExt cx="76944" cy="1102826"/>
          </a:xfrm>
        </p:grpSpPr>
        <p:sp>
          <p:nvSpPr>
            <p:cNvPr id="181" name="矩形 180"/>
            <p:cNvSpPr/>
            <p:nvPr/>
          </p:nvSpPr>
          <p:spPr>
            <a:xfrm>
              <a:off x="5338494" y="148411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2" name="矩形 181"/>
            <p:cNvSpPr/>
            <p:nvPr/>
          </p:nvSpPr>
          <p:spPr>
            <a:xfrm>
              <a:off x="5338494" y="176859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3" name="矩形 182"/>
            <p:cNvSpPr/>
            <p:nvPr/>
          </p:nvSpPr>
          <p:spPr>
            <a:xfrm>
              <a:off x="5338494" y="208355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4" name="矩形 183"/>
            <p:cNvSpPr/>
            <p:nvPr/>
          </p:nvSpPr>
          <p:spPr>
            <a:xfrm>
              <a:off x="5338494" y="2407404"/>
              <a:ext cx="76944" cy="179536"/>
            </a:xfrm>
            <a:prstGeom prst="rect">
              <a:avLst/>
            </a:prstGeom>
          </p:spPr>
          <p:txBody>
            <a:bodyPr wrap="none" lIns="0" tIns="0" rIns="0" bIns="0">
              <a:spAutoFit/>
            </a:bodyPr>
            <a:lstStyle/>
            <a:p>
              <a:pPr>
                <a:lnSpc>
                  <a:spcPts val="1400"/>
                </a:lnSpc>
              </a:pPr>
              <a:r>
                <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chemeClr val="accent1">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cxnSp>
        <p:nvCxnSpPr>
          <p:cNvPr id="185" name="直接连接符 184"/>
          <p:cNvCxnSpPr/>
          <p:nvPr/>
        </p:nvCxnSpPr>
        <p:spPr>
          <a:xfrm>
            <a:off x="4883150" y="1257300"/>
            <a:ext cx="668" cy="3785636"/>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186" name="组合 102"/>
          <p:cNvGrpSpPr/>
          <p:nvPr/>
        </p:nvGrpSpPr>
        <p:grpSpPr>
          <a:xfrm>
            <a:off x="4968924" y="3481824"/>
            <a:ext cx="76944" cy="1102826"/>
            <a:chOff x="5338494" y="1484114"/>
            <a:chExt cx="76944" cy="1102826"/>
          </a:xfrm>
        </p:grpSpPr>
        <p:sp>
          <p:nvSpPr>
            <p:cNvPr id="187" name="矩形 186"/>
            <p:cNvSpPr/>
            <p:nvPr/>
          </p:nvSpPr>
          <p:spPr>
            <a:xfrm>
              <a:off x="5338494" y="1484114"/>
              <a:ext cx="76944" cy="179536"/>
            </a:xfrm>
            <a:prstGeom prst="rect">
              <a:avLst/>
            </a:prstGeom>
          </p:spPr>
          <p:txBody>
            <a:bodyPr wrap="none" lIns="0" tIns="0" rIns="0" bIns="0">
              <a:spAutoFit/>
            </a:bodyPr>
            <a:lstStyle/>
            <a:p>
              <a:pPr>
                <a:lnSpc>
                  <a:spcPts val="1400"/>
                </a:lnSpc>
              </a:pPr>
              <a:r>
                <a:rPr lang="en-US" altLang="zh-CN" sz="12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8" name="矩形 187"/>
            <p:cNvSpPr/>
            <p:nvPr/>
          </p:nvSpPr>
          <p:spPr>
            <a:xfrm>
              <a:off x="5338494" y="1768594"/>
              <a:ext cx="76944" cy="179536"/>
            </a:xfrm>
            <a:prstGeom prst="rect">
              <a:avLst/>
            </a:prstGeom>
          </p:spPr>
          <p:txBody>
            <a:bodyPr wrap="none" lIns="0" tIns="0" rIns="0" bIns="0">
              <a:spAutoFit/>
            </a:bodyPr>
            <a:lstStyle/>
            <a:p>
              <a:pPr>
                <a:lnSpc>
                  <a:spcPts val="1400"/>
                </a:lnSpc>
              </a:pPr>
              <a:r>
                <a:rPr lang="en-US" altLang="zh-CN" sz="12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9" name="矩形 188"/>
            <p:cNvSpPr/>
            <p:nvPr/>
          </p:nvSpPr>
          <p:spPr>
            <a:xfrm>
              <a:off x="5338494" y="2083554"/>
              <a:ext cx="76944" cy="179536"/>
            </a:xfrm>
            <a:prstGeom prst="rect">
              <a:avLst/>
            </a:prstGeom>
          </p:spPr>
          <p:txBody>
            <a:bodyPr wrap="none" lIns="0" tIns="0" rIns="0" bIns="0">
              <a:spAutoFit/>
            </a:bodyPr>
            <a:lstStyle/>
            <a:p>
              <a:pPr>
                <a:lnSpc>
                  <a:spcPts val="1400"/>
                </a:lnSpc>
              </a:pPr>
              <a:r>
                <a:rPr lang="en-US" altLang="zh-CN" sz="12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0" name="矩形 189"/>
            <p:cNvSpPr/>
            <p:nvPr/>
          </p:nvSpPr>
          <p:spPr>
            <a:xfrm>
              <a:off x="5338494" y="2407404"/>
              <a:ext cx="76944" cy="179536"/>
            </a:xfrm>
            <a:prstGeom prst="rect">
              <a:avLst/>
            </a:prstGeom>
          </p:spPr>
          <p:txBody>
            <a:bodyPr wrap="none" lIns="0" tIns="0" rIns="0" bIns="0">
              <a:spAutoFit/>
            </a:bodyPr>
            <a:lstStyle/>
            <a:p>
              <a:pPr>
                <a:lnSpc>
                  <a:spcPts val="1400"/>
                </a:lnSpc>
              </a:pPr>
              <a:r>
                <a:rPr lang="en-US" altLang="zh-CN" sz="12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2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91" name="AutoShape 17"/>
          <p:cNvSpPr>
            <a:spLocks noChangeArrowheads="1"/>
          </p:cNvSpPr>
          <p:nvPr/>
        </p:nvSpPr>
        <p:spPr bwMode="auto">
          <a:xfrm>
            <a:off x="5388398" y="2243219"/>
            <a:ext cx="872691" cy="322181"/>
          </a:xfrm>
          <a:prstGeom prst="wedgeRoundRectCallout">
            <a:avLst>
              <a:gd name="adj1" fmla="val -70026"/>
              <a:gd name="adj2" fmla="val 88988"/>
              <a:gd name="adj3" fmla="val 16667"/>
            </a:avLst>
          </a:prstGeom>
          <a:solidFill>
            <a:srgbClr val="FFFF66"/>
          </a:solidFill>
          <a:ln w="19050" algn="ctr">
            <a:solidFill>
              <a:srgbClr val="FF0000"/>
            </a:solidFill>
            <a:miter lim="800000"/>
          </a:ln>
        </p:spPr>
        <p:txBody>
          <a:bodyPr lIns="0" rIns="0" anchor="ctr"/>
          <a:lstStyle/>
          <a:p>
            <a:pPr algn="ctr"/>
            <a:r>
              <a:rPr lang="zh-CN" altLang="en-US" sz="1400" dirty="0">
                <a:solidFill>
                  <a:srgbClr val="000000"/>
                </a:solidFill>
                <a:latin typeface="微软雅黑" panose="020B0503020204020204" pitchFamily="34" charset="-122"/>
                <a:ea typeface="微软雅黑" panose="020B0503020204020204" pitchFamily="34" charset="-122"/>
              </a:rPr>
              <a:t>同步清零</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192" name="AutoShape 17"/>
          <p:cNvSpPr>
            <a:spLocks noChangeArrowheads="1"/>
          </p:cNvSpPr>
          <p:nvPr/>
        </p:nvSpPr>
        <p:spPr bwMode="auto">
          <a:xfrm>
            <a:off x="5299498" y="1836819"/>
            <a:ext cx="872691" cy="322181"/>
          </a:xfrm>
          <a:prstGeom prst="wedgeRoundRectCallout">
            <a:avLst>
              <a:gd name="adj1" fmla="val -88945"/>
              <a:gd name="adj2" fmla="val 116581"/>
              <a:gd name="adj3" fmla="val 16667"/>
            </a:avLst>
          </a:prstGeom>
          <a:solidFill>
            <a:srgbClr val="FFFF66"/>
          </a:solidFill>
          <a:ln w="19050" algn="ctr">
            <a:solidFill>
              <a:srgbClr val="FF0000"/>
            </a:solidFill>
            <a:miter lim="800000"/>
          </a:ln>
        </p:spPr>
        <p:txBody>
          <a:bodyPr lIns="0" rIns="0" anchor="ctr"/>
          <a:lstStyle/>
          <a:p>
            <a:pPr algn="ctr"/>
            <a:r>
              <a:rPr lang="zh-CN" altLang="en-US" sz="1400" dirty="0">
                <a:solidFill>
                  <a:srgbClr val="000000"/>
                </a:solidFill>
                <a:latin typeface="微软雅黑" panose="020B0503020204020204" pitchFamily="34" charset="-122"/>
                <a:ea typeface="微软雅黑" panose="020B0503020204020204" pitchFamily="34" charset="-122"/>
              </a:rPr>
              <a:t>异步清零</a:t>
            </a:r>
            <a:endParaRPr lang="zh-CN" altLang="en-US" sz="1400" dirty="0">
              <a:solidFill>
                <a:srgbClr val="000000"/>
              </a:solidFill>
              <a:latin typeface="微软雅黑" panose="020B0503020204020204" pitchFamily="34" charset="-122"/>
              <a:ea typeface="微软雅黑" panose="020B0503020204020204" pitchFamily="34" charset="-122"/>
            </a:endParaRPr>
          </a:p>
        </p:txBody>
      </p:sp>
      <p:grpSp>
        <p:nvGrpSpPr>
          <p:cNvPr id="193" name="组合 192"/>
          <p:cNvGrpSpPr/>
          <p:nvPr/>
        </p:nvGrpSpPr>
        <p:grpSpPr>
          <a:xfrm>
            <a:off x="5746081" y="2755900"/>
            <a:ext cx="669" cy="2259767"/>
            <a:chOff x="5441281" y="2743200"/>
            <a:chExt cx="669" cy="2259767"/>
          </a:xfrm>
        </p:grpSpPr>
        <p:cxnSp>
          <p:nvCxnSpPr>
            <p:cNvPr id="194" name="直接连接符 193"/>
            <p:cNvCxnSpPr/>
            <p:nvPr/>
          </p:nvCxnSpPr>
          <p:spPr>
            <a:xfrm flipH="1">
              <a:off x="5441281" y="2787650"/>
              <a:ext cx="669" cy="2215317"/>
            </a:xfrm>
            <a:prstGeom prst="line">
              <a:avLst/>
            </a:prstGeom>
            <a:ln w="19050">
              <a:solidFill>
                <a:srgbClr val="0000FF"/>
              </a:solidFill>
              <a:prstDash val="sysDash"/>
            </a:ln>
          </p:spPr>
          <p:style>
            <a:lnRef idx="1">
              <a:schemeClr val="accent1"/>
            </a:lnRef>
            <a:fillRef idx="0">
              <a:schemeClr val="accent1"/>
            </a:fillRef>
            <a:effectRef idx="0">
              <a:schemeClr val="accent1"/>
            </a:effectRef>
            <a:fontRef idx="minor">
              <a:schemeClr val="tx1"/>
            </a:fontRef>
          </p:style>
        </p:cxnSp>
        <p:cxnSp>
          <p:nvCxnSpPr>
            <p:cNvPr id="195" name="直接箭头连接符 194"/>
            <p:cNvCxnSpPr/>
            <p:nvPr/>
          </p:nvCxnSpPr>
          <p:spPr>
            <a:xfrm flipV="1">
              <a:off x="5441950" y="2743200"/>
              <a:ext cx="0" cy="108000"/>
            </a:xfrm>
            <a:prstGeom prst="straightConnector1">
              <a:avLst/>
            </a:prstGeom>
            <a:ln w="19050">
              <a:solidFill>
                <a:srgbClr val="0000FF"/>
              </a:solidFill>
              <a:prstDash val="sysDash"/>
              <a:tailEnd type="arrow" w="sm" len="sm"/>
            </a:ln>
          </p:spPr>
          <p:style>
            <a:lnRef idx="1">
              <a:schemeClr val="accent1"/>
            </a:lnRef>
            <a:fillRef idx="0">
              <a:schemeClr val="accent1"/>
            </a:fillRef>
            <a:effectRef idx="0">
              <a:schemeClr val="accent1"/>
            </a:effectRef>
            <a:fontRef idx="minor">
              <a:schemeClr val="tx1"/>
            </a:fontRef>
          </p:style>
        </p:cxnSp>
      </p:grpSp>
      <p:grpSp>
        <p:nvGrpSpPr>
          <p:cNvPr id="196" name="组合 195"/>
          <p:cNvGrpSpPr/>
          <p:nvPr/>
        </p:nvGrpSpPr>
        <p:grpSpPr>
          <a:xfrm>
            <a:off x="6038181" y="2755900"/>
            <a:ext cx="669" cy="2259767"/>
            <a:chOff x="5441281" y="2743200"/>
            <a:chExt cx="669" cy="2259767"/>
          </a:xfrm>
        </p:grpSpPr>
        <p:cxnSp>
          <p:nvCxnSpPr>
            <p:cNvPr id="197" name="直接连接符 196"/>
            <p:cNvCxnSpPr/>
            <p:nvPr/>
          </p:nvCxnSpPr>
          <p:spPr>
            <a:xfrm flipH="1">
              <a:off x="5441281" y="2787650"/>
              <a:ext cx="669" cy="2215317"/>
            </a:xfrm>
            <a:prstGeom prst="line">
              <a:avLst/>
            </a:prstGeom>
            <a:ln w="19050">
              <a:solidFill>
                <a:srgbClr val="0000FF"/>
              </a:solidFill>
              <a:prstDash val="sysDash"/>
            </a:ln>
          </p:spPr>
          <p:style>
            <a:lnRef idx="1">
              <a:schemeClr val="accent1"/>
            </a:lnRef>
            <a:fillRef idx="0">
              <a:schemeClr val="accent1"/>
            </a:fillRef>
            <a:effectRef idx="0">
              <a:schemeClr val="accent1"/>
            </a:effectRef>
            <a:fontRef idx="minor">
              <a:schemeClr val="tx1"/>
            </a:fontRef>
          </p:style>
        </p:cxnSp>
        <p:cxnSp>
          <p:nvCxnSpPr>
            <p:cNvPr id="198" name="直接箭头连接符 197"/>
            <p:cNvCxnSpPr/>
            <p:nvPr/>
          </p:nvCxnSpPr>
          <p:spPr>
            <a:xfrm flipV="1">
              <a:off x="5441950" y="2743200"/>
              <a:ext cx="0" cy="108000"/>
            </a:xfrm>
            <a:prstGeom prst="straightConnector1">
              <a:avLst/>
            </a:prstGeom>
            <a:ln w="19050">
              <a:solidFill>
                <a:srgbClr val="0000FF"/>
              </a:solidFill>
              <a:prstDash val="sysDash"/>
              <a:tailEnd type="arrow" w="sm" len="sm"/>
            </a:ln>
          </p:spPr>
          <p:style>
            <a:lnRef idx="1">
              <a:schemeClr val="accent1"/>
            </a:lnRef>
            <a:fillRef idx="0">
              <a:schemeClr val="accent1"/>
            </a:fillRef>
            <a:effectRef idx="0">
              <a:schemeClr val="accent1"/>
            </a:effectRef>
            <a:fontRef idx="minor">
              <a:schemeClr val="tx1"/>
            </a:fontRef>
          </p:style>
        </p:cxnSp>
      </p:grpSp>
      <p:grpSp>
        <p:nvGrpSpPr>
          <p:cNvPr id="199" name="组合 198"/>
          <p:cNvGrpSpPr/>
          <p:nvPr/>
        </p:nvGrpSpPr>
        <p:grpSpPr>
          <a:xfrm>
            <a:off x="6336631" y="2774950"/>
            <a:ext cx="669" cy="2259767"/>
            <a:chOff x="5441281" y="2743200"/>
            <a:chExt cx="669" cy="2259767"/>
          </a:xfrm>
        </p:grpSpPr>
        <p:cxnSp>
          <p:nvCxnSpPr>
            <p:cNvPr id="200" name="直接连接符 199"/>
            <p:cNvCxnSpPr/>
            <p:nvPr/>
          </p:nvCxnSpPr>
          <p:spPr>
            <a:xfrm flipH="1">
              <a:off x="5441281" y="2787650"/>
              <a:ext cx="669" cy="2215317"/>
            </a:xfrm>
            <a:prstGeom prst="line">
              <a:avLst/>
            </a:prstGeom>
            <a:ln w="19050">
              <a:solidFill>
                <a:srgbClr val="0000FF"/>
              </a:solidFill>
              <a:prstDash val="sysDash"/>
            </a:ln>
          </p:spPr>
          <p:style>
            <a:lnRef idx="1">
              <a:schemeClr val="accent1"/>
            </a:lnRef>
            <a:fillRef idx="0">
              <a:schemeClr val="accent1"/>
            </a:fillRef>
            <a:effectRef idx="0">
              <a:schemeClr val="accent1"/>
            </a:effectRef>
            <a:fontRef idx="minor">
              <a:schemeClr val="tx1"/>
            </a:fontRef>
          </p:style>
        </p:cxnSp>
        <p:cxnSp>
          <p:nvCxnSpPr>
            <p:cNvPr id="201" name="直接箭头连接符 200"/>
            <p:cNvCxnSpPr/>
            <p:nvPr/>
          </p:nvCxnSpPr>
          <p:spPr>
            <a:xfrm flipV="1">
              <a:off x="5441950" y="2743200"/>
              <a:ext cx="0" cy="108000"/>
            </a:xfrm>
            <a:prstGeom prst="straightConnector1">
              <a:avLst/>
            </a:prstGeom>
            <a:ln w="19050">
              <a:solidFill>
                <a:srgbClr val="0000FF"/>
              </a:solidFill>
              <a:prstDash val="sysDash"/>
              <a:tailEnd type="arrow" w="sm" len="sm"/>
            </a:ln>
          </p:spPr>
          <p:style>
            <a:lnRef idx="1">
              <a:schemeClr val="accent1"/>
            </a:lnRef>
            <a:fillRef idx="0">
              <a:schemeClr val="accent1"/>
            </a:fillRef>
            <a:effectRef idx="0">
              <a:schemeClr val="accent1"/>
            </a:effectRef>
            <a:fontRef idx="minor">
              <a:schemeClr val="tx1"/>
            </a:fontRef>
          </p:style>
        </p:cxnSp>
      </p:grpSp>
      <p:grpSp>
        <p:nvGrpSpPr>
          <p:cNvPr id="202" name="组合 201"/>
          <p:cNvGrpSpPr/>
          <p:nvPr/>
        </p:nvGrpSpPr>
        <p:grpSpPr>
          <a:xfrm>
            <a:off x="6635081" y="2774950"/>
            <a:ext cx="669" cy="2259767"/>
            <a:chOff x="5441281" y="2743200"/>
            <a:chExt cx="669" cy="2259767"/>
          </a:xfrm>
        </p:grpSpPr>
        <p:cxnSp>
          <p:nvCxnSpPr>
            <p:cNvPr id="203" name="直接连接符 202"/>
            <p:cNvCxnSpPr/>
            <p:nvPr/>
          </p:nvCxnSpPr>
          <p:spPr>
            <a:xfrm flipH="1">
              <a:off x="5441281" y="2787650"/>
              <a:ext cx="669" cy="2215317"/>
            </a:xfrm>
            <a:prstGeom prst="line">
              <a:avLst/>
            </a:prstGeom>
            <a:ln w="19050">
              <a:solidFill>
                <a:srgbClr val="0000FF"/>
              </a:solidFill>
              <a:prstDash val="sysDash"/>
            </a:ln>
          </p:spPr>
          <p:style>
            <a:lnRef idx="1">
              <a:schemeClr val="accent1"/>
            </a:lnRef>
            <a:fillRef idx="0">
              <a:schemeClr val="accent1"/>
            </a:fillRef>
            <a:effectRef idx="0">
              <a:schemeClr val="accent1"/>
            </a:effectRef>
            <a:fontRef idx="minor">
              <a:schemeClr val="tx1"/>
            </a:fontRef>
          </p:style>
        </p:cxnSp>
        <p:cxnSp>
          <p:nvCxnSpPr>
            <p:cNvPr id="204" name="直接箭头连接符 203"/>
            <p:cNvCxnSpPr/>
            <p:nvPr/>
          </p:nvCxnSpPr>
          <p:spPr>
            <a:xfrm flipV="1">
              <a:off x="5441950" y="2743200"/>
              <a:ext cx="0" cy="108000"/>
            </a:xfrm>
            <a:prstGeom prst="straightConnector1">
              <a:avLst/>
            </a:prstGeom>
            <a:ln w="19050">
              <a:solidFill>
                <a:srgbClr val="0000FF"/>
              </a:solidFill>
              <a:prstDash val="sysDash"/>
              <a:tailEnd type="arrow" w="sm" len="sm"/>
            </a:ln>
          </p:spPr>
          <p:style>
            <a:lnRef idx="1">
              <a:schemeClr val="accent1"/>
            </a:lnRef>
            <a:fillRef idx="0">
              <a:schemeClr val="accent1"/>
            </a:fillRef>
            <a:effectRef idx="0">
              <a:schemeClr val="accent1"/>
            </a:effectRef>
            <a:fontRef idx="minor">
              <a:schemeClr val="tx1"/>
            </a:fontRef>
          </p:style>
        </p:cxnSp>
      </p:grpSp>
      <p:grpSp>
        <p:nvGrpSpPr>
          <p:cNvPr id="205" name="组合 204"/>
          <p:cNvGrpSpPr/>
          <p:nvPr/>
        </p:nvGrpSpPr>
        <p:grpSpPr>
          <a:xfrm>
            <a:off x="6927181" y="2768600"/>
            <a:ext cx="669" cy="2259767"/>
            <a:chOff x="5441281" y="2743200"/>
            <a:chExt cx="669" cy="2259767"/>
          </a:xfrm>
        </p:grpSpPr>
        <p:cxnSp>
          <p:nvCxnSpPr>
            <p:cNvPr id="206" name="直接连接符 205"/>
            <p:cNvCxnSpPr/>
            <p:nvPr/>
          </p:nvCxnSpPr>
          <p:spPr>
            <a:xfrm flipH="1">
              <a:off x="5441281" y="2787650"/>
              <a:ext cx="669" cy="2215317"/>
            </a:xfrm>
            <a:prstGeom prst="line">
              <a:avLst/>
            </a:prstGeom>
            <a:ln w="19050">
              <a:solidFill>
                <a:srgbClr val="0000FF"/>
              </a:solidFill>
              <a:prstDash val="sysDash"/>
            </a:ln>
          </p:spPr>
          <p:style>
            <a:lnRef idx="1">
              <a:schemeClr val="accent1"/>
            </a:lnRef>
            <a:fillRef idx="0">
              <a:schemeClr val="accent1"/>
            </a:fillRef>
            <a:effectRef idx="0">
              <a:schemeClr val="accent1"/>
            </a:effectRef>
            <a:fontRef idx="minor">
              <a:schemeClr val="tx1"/>
            </a:fontRef>
          </p:style>
        </p:cxnSp>
        <p:cxnSp>
          <p:nvCxnSpPr>
            <p:cNvPr id="207" name="直接箭头连接符 206"/>
            <p:cNvCxnSpPr/>
            <p:nvPr/>
          </p:nvCxnSpPr>
          <p:spPr>
            <a:xfrm flipV="1">
              <a:off x="5441950" y="2743200"/>
              <a:ext cx="0" cy="108000"/>
            </a:xfrm>
            <a:prstGeom prst="straightConnector1">
              <a:avLst/>
            </a:prstGeom>
            <a:ln w="19050">
              <a:solidFill>
                <a:srgbClr val="0000FF"/>
              </a:solidFill>
              <a:prstDash val="sysDash"/>
              <a:tailEnd type="arrow" w="sm" len="sm"/>
            </a:ln>
          </p:spPr>
          <p:style>
            <a:lnRef idx="1">
              <a:schemeClr val="accent1"/>
            </a:lnRef>
            <a:fillRef idx="0">
              <a:schemeClr val="accent1"/>
            </a:fillRef>
            <a:effectRef idx="0">
              <a:schemeClr val="accent1"/>
            </a:effectRef>
            <a:fontRef idx="minor">
              <a:schemeClr val="tx1"/>
            </a:fontRef>
          </p:style>
        </p:cxnSp>
      </p:grpSp>
      <p:grpSp>
        <p:nvGrpSpPr>
          <p:cNvPr id="208" name="组合 207"/>
          <p:cNvGrpSpPr/>
          <p:nvPr/>
        </p:nvGrpSpPr>
        <p:grpSpPr>
          <a:xfrm>
            <a:off x="7231981" y="2768600"/>
            <a:ext cx="669" cy="2259767"/>
            <a:chOff x="5441281" y="2743200"/>
            <a:chExt cx="669" cy="2259767"/>
          </a:xfrm>
        </p:grpSpPr>
        <p:cxnSp>
          <p:nvCxnSpPr>
            <p:cNvPr id="209" name="直接连接符 208"/>
            <p:cNvCxnSpPr/>
            <p:nvPr/>
          </p:nvCxnSpPr>
          <p:spPr>
            <a:xfrm flipH="1">
              <a:off x="5441281" y="2787650"/>
              <a:ext cx="669" cy="2215317"/>
            </a:xfrm>
            <a:prstGeom prst="line">
              <a:avLst/>
            </a:prstGeom>
            <a:ln w="19050">
              <a:solidFill>
                <a:srgbClr val="0000FF"/>
              </a:solidFill>
              <a:prstDash val="sysDash"/>
            </a:ln>
          </p:spPr>
          <p:style>
            <a:lnRef idx="1">
              <a:schemeClr val="accent1"/>
            </a:lnRef>
            <a:fillRef idx="0">
              <a:schemeClr val="accent1"/>
            </a:fillRef>
            <a:effectRef idx="0">
              <a:schemeClr val="accent1"/>
            </a:effectRef>
            <a:fontRef idx="minor">
              <a:schemeClr val="tx1"/>
            </a:fontRef>
          </p:style>
        </p:cxnSp>
        <p:cxnSp>
          <p:nvCxnSpPr>
            <p:cNvPr id="210" name="直接箭头连接符 209"/>
            <p:cNvCxnSpPr/>
            <p:nvPr/>
          </p:nvCxnSpPr>
          <p:spPr>
            <a:xfrm flipV="1">
              <a:off x="5441950" y="2743200"/>
              <a:ext cx="0" cy="108000"/>
            </a:xfrm>
            <a:prstGeom prst="straightConnector1">
              <a:avLst/>
            </a:prstGeom>
            <a:ln w="19050">
              <a:solidFill>
                <a:srgbClr val="0000FF"/>
              </a:solidFill>
              <a:prstDash val="sysDash"/>
              <a:tailEnd type="arrow" w="sm" len="sm"/>
            </a:ln>
          </p:spPr>
          <p:style>
            <a:lnRef idx="1">
              <a:schemeClr val="accent1"/>
            </a:lnRef>
            <a:fillRef idx="0">
              <a:schemeClr val="accent1"/>
            </a:fillRef>
            <a:effectRef idx="0">
              <a:schemeClr val="accent1"/>
            </a:effectRef>
            <a:fontRef idx="minor">
              <a:schemeClr val="tx1"/>
            </a:fontRef>
          </p:style>
        </p:cxnSp>
      </p:grpSp>
      <p:sp>
        <p:nvSpPr>
          <p:cNvPr id="211" name="AutoShape 17"/>
          <p:cNvSpPr>
            <a:spLocks noChangeArrowheads="1"/>
          </p:cNvSpPr>
          <p:nvPr/>
        </p:nvSpPr>
        <p:spPr bwMode="auto">
          <a:xfrm>
            <a:off x="5851948" y="2414669"/>
            <a:ext cx="872691" cy="322181"/>
          </a:xfrm>
          <a:prstGeom prst="wedgeRoundRectCallout">
            <a:avLst>
              <a:gd name="adj1" fmla="val -88945"/>
              <a:gd name="adj2" fmla="val 116581"/>
              <a:gd name="adj3" fmla="val 16667"/>
            </a:avLst>
          </a:prstGeom>
          <a:solidFill>
            <a:srgbClr val="FFFF66"/>
          </a:solidFill>
          <a:ln w="19050" algn="ctr">
            <a:solidFill>
              <a:srgbClr val="FF0000"/>
            </a:solidFill>
            <a:miter lim="800000"/>
          </a:ln>
        </p:spPr>
        <p:txBody>
          <a:bodyPr lIns="0" rIns="0" anchor="ctr"/>
          <a:lstStyle/>
          <a:p>
            <a:pPr algn="ctr"/>
            <a:r>
              <a:rPr lang="zh-CN" altLang="en-US" sz="1400" dirty="0">
                <a:solidFill>
                  <a:srgbClr val="000000"/>
                </a:solidFill>
                <a:latin typeface="微软雅黑" panose="020B0503020204020204" pitchFamily="34" charset="-122"/>
                <a:ea typeface="微软雅黑" panose="020B0503020204020204" pitchFamily="34" charset="-122"/>
              </a:rPr>
              <a:t>同步置数</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12" name="AutoShape 17"/>
          <p:cNvSpPr>
            <a:spLocks noChangeArrowheads="1"/>
          </p:cNvSpPr>
          <p:nvPr/>
        </p:nvSpPr>
        <p:spPr bwMode="auto">
          <a:xfrm>
            <a:off x="6899699" y="4218069"/>
            <a:ext cx="752052" cy="322181"/>
          </a:xfrm>
          <a:prstGeom prst="wedgeRoundRectCallout">
            <a:avLst>
              <a:gd name="adj1" fmla="val -90634"/>
              <a:gd name="adj2" fmla="val 124465"/>
              <a:gd name="adj3" fmla="val 16667"/>
            </a:avLst>
          </a:prstGeom>
          <a:solidFill>
            <a:srgbClr val="FFFF66"/>
          </a:solidFill>
          <a:ln w="19050" algn="ctr">
            <a:solidFill>
              <a:srgbClr val="FF0000"/>
            </a:solidFill>
            <a:miter lim="800000"/>
          </a:ln>
        </p:spPr>
        <p:txBody>
          <a:bodyPr lIns="0" rIns="0" anchor="ctr"/>
          <a:lstStyle/>
          <a:p>
            <a:pPr algn="ct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TC=1</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13" name="组合 2"/>
          <p:cNvGrpSpPr/>
          <p:nvPr/>
        </p:nvGrpSpPr>
        <p:grpSpPr>
          <a:xfrm>
            <a:off x="392432" y="712860"/>
            <a:ext cx="3100871" cy="420971"/>
            <a:chOff x="670560" y="892917"/>
            <a:chExt cx="3100871" cy="420971"/>
          </a:xfrm>
        </p:grpSpPr>
        <p:sp>
          <p:nvSpPr>
            <p:cNvPr id="214" name="矩形 213"/>
            <p:cNvSpPr/>
            <p:nvPr/>
          </p:nvSpPr>
          <p:spPr>
            <a:xfrm>
              <a:off x="1035233" y="913778"/>
              <a:ext cx="273619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集成计数器</a:t>
              </a:r>
              <a:r>
                <a:rPr lang="en-US" altLang="zh-CN" sz="2000" b="1" dirty="0">
                  <a:solidFill>
                    <a:srgbClr val="002060"/>
                  </a:solidFill>
                  <a:latin typeface="微软雅黑" panose="020B0503020204020204" pitchFamily="34" charset="-122"/>
                  <a:ea typeface="微软雅黑" panose="020B0503020204020204" pitchFamily="34" charset="-122"/>
                </a:rPr>
                <a:t>74LVC161</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15" name="Picture 3"/>
            <p:cNvPicPr>
              <a:picLocks noChangeAspect="1" noChangeArrowheads="1"/>
            </p:cNvPicPr>
            <p:nvPr/>
          </p:nvPicPr>
          <p:blipFill>
            <a:blip r:embed="rId31"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mc:AlternateContent xmlns:mc="http://schemas.openxmlformats.org/markup-compatibility/2006">
    <mc:Choice xmlns:p14="http://schemas.microsoft.com/office/powerpoint/2010/main" Requires="p14">
      <p:transition spd="slow" p14:dur="1200">
        <p14:prism di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4"/>
                                        </p:tgtEl>
                                        <p:attrNameLst>
                                          <p:attrName>style.visibility</p:attrName>
                                        </p:attrNameLst>
                                      </p:cBhvr>
                                      <p:to>
                                        <p:strVal val="visible"/>
                                      </p:to>
                                    </p:set>
                                    <p:animEffect transition="in" filter="wipe(up)">
                                      <p:cBhvr>
                                        <p:cTn id="7" dur="1000"/>
                                        <p:tgtEl>
                                          <p:spTgt spid="134"/>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185"/>
                                        </p:tgtEl>
                                        <p:attrNameLst>
                                          <p:attrName>style.visibility</p:attrName>
                                        </p:attrNameLst>
                                      </p:cBhvr>
                                      <p:to>
                                        <p:strVal val="visible"/>
                                      </p:to>
                                    </p:set>
                                    <p:animEffect transition="in" filter="wipe(up)">
                                      <p:cBhvr>
                                        <p:cTn id="11" dur="1000"/>
                                        <p:tgtEl>
                                          <p:spTgt spid="185"/>
                                        </p:tgtEl>
                                      </p:cBhvr>
                                    </p:animEffect>
                                  </p:childTnLst>
                                </p:cTn>
                              </p:par>
                            </p:childTnLst>
                          </p:cTn>
                        </p:par>
                        <p:par>
                          <p:cTn id="12" fill="hold">
                            <p:stCondLst>
                              <p:cond delay="2000"/>
                            </p:stCondLst>
                            <p:childTnLst>
                              <p:par>
                                <p:cTn id="13" presetID="12" presetClass="entr" presetSubtype="8" fill="hold" nodeType="afterEffect">
                                  <p:stCondLst>
                                    <p:cond delay="0"/>
                                  </p:stCondLst>
                                  <p:childTnLst>
                                    <p:set>
                                      <p:cBhvr>
                                        <p:cTn id="14" dur="1" fill="hold">
                                          <p:stCondLst>
                                            <p:cond delay="0"/>
                                          </p:stCondLst>
                                        </p:cTn>
                                        <p:tgtEl>
                                          <p:spTgt spid="186"/>
                                        </p:tgtEl>
                                        <p:attrNameLst>
                                          <p:attrName>style.visibility</p:attrName>
                                        </p:attrNameLst>
                                      </p:cBhvr>
                                      <p:to>
                                        <p:strVal val="visible"/>
                                      </p:to>
                                    </p:set>
                                    <p:animEffect transition="in" filter="slide(fromLeft)">
                                      <p:cBhvr>
                                        <p:cTn id="15" dur="1000"/>
                                        <p:tgtEl>
                                          <p:spTgt spid="186"/>
                                        </p:tgtEl>
                                      </p:cBhvr>
                                    </p:animEffect>
                                  </p:childTnLst>
                                </p:cTn>
                              </p:par>
                            </p:childTnLst>
                          </p:cTn>
                        </p:par>
                        <p:par>
                          <p:cTn id="16" fill="hold">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192"/>
                                        </p:tgtEl>
                                        <p:attrNameLst>
                                          <p:attrName>style.visibility</p:attrName>
                                        </p:attrNameLst>
                                      </p:cBhvr>
                                      <p:to>
                                        <p:strVal val="visible"/>
                                      </p:to>
                                    </p:set>
                                    <p:animEffect transition="in" filter="wipe(left)">
                                      <p:cBhvr>
                                        <p:cTn id="19" dur="1000"/>
                                        <p:tgtEl>
                                          <p:spTgt spid="192"/>
                                        </p:tgtEl>
                                      </p:cBhvr>
                                    </p:animEffect>
                                  </p:childTnLst>
                                </p:cTn>
                              </p:par>
                            </p:childTnLst>
                          </p:cTn>
                        </p:par>
                      </p:childTnLst>
                    </p:cTn>
                  </p:par>
                  <p:par>
                    <p:cTn id="20" fill="hold">
                      <p:stCondLst>
                        <p:cond delay="indefinite"/>
                      </p:stCondLst>
                      <p:childTnLst>
                        <p:par>
                          <p:cTn id="21" fill="hold">
                            <p:stCondLst>
                              <p:cond delay="0"/>
                            </p:stCondLst>
                            <p:childTnLst>
                              <p:par>
                                <p:cTn id="22" presetID="17" presetClass="entr" presetSubtype="8" fill="hold" nodeType="clickEffect">
                                  <p:stCondLst>
                                    <p:cond delay="0"/>
                                  </p:stCondLst>
                                  <p:childTnLst>
                                    <p:set>
                                      <p:cBhvr>
                                        <p:cTn id="23" dur="1" fill="hold">
                                          <p:stCondLst>
                                            <p:cond delay="0"/>
                                          </p:stCondLst>
                                        </p:cTn>
                                        <p:tgtEl>
                                          <p:spTgt spid="150"/>
                                        </p:tgtEl>
                                        <p:attrNameLst>
                                          <p:attrName>style.visibility</p:attrName>
                                        </p:attrNameLst>
                                      </p:cBhvr>
                                      <p:to>
                                        <p:strVal val="visible"/>
                                      </p:to>
                                    </p:set>
                                    <p:anim calcmode="lin" valueType="num">
                                      <p:cBhvr>
                                        <p:cTn id="24" dur="1000" fill="hold"/>
                                        <p:tgtEl>
                                          <p:spTgt spid="150"/>
                                        </p:tgtEl>
                                        <p:attrNameLst>
                                          <p:attrName>ppt_x</p:attrName>
                                        </p:attrNameLst>
                                      </p:cBhvr>
                                      <p:tavLst>
                                        <p:tav tm="0">
                                          <p:val>
                                            <p:strVal val="#ppt_x-#ppt_w/2"/>
                                          </p:val>
                                        </p:tav>
                                        <p:tav tm="100000">
                                          <p:val>
                                            <p:strVal val="#ppt_x"/>
                                          </p:val>
                                        </p:tav>
                                      </p:tavLst>
                                    </p:anim>
                                    <p:anim calcmode="lin" valueType="num">
                                      <p:cBhvr>
                                        <p:cTn id="25" dur="1000" fill="hold"/>
                                        <p:tgtEl>
                                          <p:spTgt spid="150"/>
                                        </p:tgtEl>
                                        <p:attrNameLst>
                                          <p:attrName>ppt_y</p:attrName>
                                        </p:attrNameLst>
                                      </p:cBhvr>
                                      <p:tavLst>
                                        <p:tav tm="0">
                                          <p:val>
                                            <p:strVal val="#ppt_y"/>
                                          </p:val>
                                        </p:tav>
                                        <p:tav tm="100000">
                                          <p:val>
                                            <p:strVal val="#ppt_y"/>
                                          </p:val>
                                        </p:tav>
                                      </p:tavLst>
                                    </p:anim>
                                    <p:anim calcmode="lin" valueType="num">
                                      <p:cBhvr>
                                        <p:cTn id="26" dur="1000" fill="hold"/>
                                        <p:tgtEl>
                                          <p:spTgt spid="150"/>
                                        </p:tgtEl>
                                        <p:attrNameLst>
                                          <p:attrName>ppt_w</p:attrName>
                                        </p:attrNameLst>
                                      </p:cBhvr>
                                      <p:tavLst>
                                        <p:tav tm="0">
                                          <p:val>
                                            <p:fltVal val="0"/>
                                          </p:val>
                                        </p:tav>
                                        <p:tav tm="100000">
                                          <p:val>
                                            <p:strVal val="#ppt_w"/>
                                          </p:val>
                                        </p:tav>
                                      </p:tavLst>
                                    </p:anim>
                                    <p:anim calcmode="lin" valueType="num">
                                      <p:cBhvr>
                                        <p:cTn id="27" dur="1000" fill="hold"/>
                                        <p:tgtEl>
                                          <p:spTgt spid="150"/>
                                        </p:tgtEl>
                                        <p:attrNameLst>
                                          <p:attrName>ppt_h</p:attrName>
                                        </p:attrNameLst>
                                      </p:cBhvr>
                                      <p:tavLst>
                                        <p:tav tm="0">
                                          <p:val>
                                            <p:strVal val="#ppt_h"/>
                                          </p:val>
                                        </p:tav>
                                        <p:tav tm="100000">
                                          <p:val>
                                            <p:strVal val="#ppt_h"/>
                                          </p:val>
                                        </p:tav>
                                      </p:tavLst>
                                    </p:anim>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191"/>
                                        </p:tgtEl>
                                        <p:attrNameLst>
                                          <p:attrName>style.visibility</p:attrName>
                                        </p:attrNameLst>
                                      </p:cBhvr>
                                      <p:to>
                                        <p:strVal val="visible"/>
                                      </p:to>
                                    </p:set>
                                    <p:animEffect transition="in" filter="wipe(left)">
                                      <p:cBhvr>
                                        <p:cTn id="31" dur="1000"/>
                                        <p:tgtEl>
                                          <p:spTgt spid="191"/>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xit" presetSubtype="2" fill="hold" nodeType="clickEffect">
                                  <p:stCondLst>
                                    <p:cond delay="0"/>
                                  </p:stCondLst>
                                  <p:childTnLst>
                                    <p:animEffect transition="out" filter="slide(fromRight)">
                                      <p:cBhvr>
                                        <p:cTn id="35" dur="500"/>
                                        <p:tgtEl>
                                          <p:spTgt spid="185"/>
                                        </p:tgtEl>
                                      </p:cBhvr>
                                    </p:animEffect>
                                    <p:set>
                                      <p:cBhvr>
                                        <p:cTn id="36" dur="1" fill="hold">
                                          <p:stCondLst>
                                            <p:cond delay="499"/>
                                          </p:stCondLst>
                                        </p:cTn>
                                        <p:tgtEl>
                                          <p:spTgt spid="185"/>
                                        </p:tgtEl>
                                        <p:attrNameLst>
                                          <p:attrName>style.visibility</p:attrName>
                                        </p:attrNameLst>
                                      </p:cBhvr>
                                      <p:to>
                                        <p:strVal val="hidden"/>
                                      </p:to>
                                    </p:set>
                                  </p:childTnLst>
                                </p:cTn>
                              </p:par>
                              <p:par>
                                <p:cTn id="37" presetID="12" presetClass="exit" presetSubtype="2" fill="hold" grpId="1" nodeType="withEffect">
                                  <p:stCondLst>
                                    <p:cond delay="0"/>
                                  </p:stCondLst>
                                  <p:childTnLst>
                                    <p:animEffect transition="out" filter="slide(fromRight)">
                                      <p:cBhvr>
                                        <p:cTn id="38" dur="500"/>
                                        <p:tgtEl>
                                          <p:spTgt spid="134"/>
                                        </p:tgtEl>
                                      </p:cBhvr>
                                    </p:animEffect>
                                    <p:set>
                                      <p:cBhvr>
                                        <p:cTn id="39" dur="1" fill="hold">
                                          <p:stCondLst>
                                            <p:cond delay="499"/>
                                          </p:stCondLst>
                                        </p:cTn>
                                        <p:tgtEl>
                                          <p:spTgt spid="134"/>
                                        </p:tgtEl>
                                        <p:attrNameLst>
                                          <p:attrName>style.visibility</p:attrName>
                                        </p:attrNameLst>
                                      </p:cBhvr>
                                      <p:to>
                                        <p:strVal val="hidden"/>
                                      </p:to>
                                    </p:set>
                                  </p:childTnLst>
                                </p:cTn>
                              </p:par>
                              <p:par>
                                <p:cTn id="40" presetID="12" presetClass="exit" presetSubtype="2" fill="hold" nodeType="withEffect">
                                  <p:stCondLst>
                                    <p:cond delay="0"/>
                                  </p:stCondLst>
                                  <p:childTnLst>
                                    <p:animEffect transition="out" filter="slide(fromRight)">
                                      <p:cBhvr>
                                        <p:cTn id="41" dur="500"/>
                                        <p:tgtEl>
                                          <p:spTgt spid="150"/>
                                        </p:tgtEl>
                                      </p:cBhvr>
                                    </p:animEffect>
                                    <p:set>
                                      <p:cBhvr>
                                        <p:cTn id="42" dur="1" fill="hold">
                                          <p:stCondLst>
                                            <p:cond delay="499"/>
                                          </p:stCondLst>
                                        </p:cTn>
                                        <p:tgtEl>
                                          <p:spTgt spid="150"/>
                                        </p:tgtEl>
                                        <p:attrNameLst>
                                          <p:attrName>style.visibility</p:attrName>
                                        </p:attrNameLst>
                                      </p:cBhvr>
                                      <p:to>
                                        <p:strVal val="hidden"/>
                                      </p:to>
                                    </p:set>
                                  </p:childTnLst>
                                </p:cTn>
                              </p:par>
                              <p:par>
                                <p:cTn id="43" presetID="22" presetClass="exit" presetSubtype="4" fill="hold" grpId="1" nodeType="withEffect">
                                  <p:stCondLst>
                                    <p:cond delay="0"/>
                                  </p:stCondLst>
                                  <p:childTnLst>
                                    <p:animEffect transition="out" filter="wipe(down)">
                                      <p:cBhvr>
                                        <p:cTn id="44" dur="500"/>
                                        <p:tgtEl>
                                          <p:spTgt spid="192"/>
                                        </p:tgtEl>
                                      </p:cBhvr>
                                    </p:animEffect>
                                    <p:set>
                                      <p:cBhvr>
                                        <p:cTn id="45" dur="1" fill="hold">
                                          <p:stCondLst>
                                            <p:cond delay="499"/>
                                          </p:stCondLst>
                                        </p:cTn>
                                        <p:tgtEl>
                                          <p:spTgt spid="192"/>
                                        </p:tgtEl>
                                        <p:attrNameLst>
                                          <p:attrName>style.visibility</p:attrName>
                                        </p:attrNameLst>
                                      </p:cBhvr>
                                      <p:to>
                                        <p:strVal val="hidden"/>
                                      </p:to>
                                    </p:set>
                                  </p:childTnLst>
                                </p:cTn>
                              </p:par>
                              <p:par>
                                <p:cTn id="46" presetID="22" presetClass="exit" presetSubtype="4" fill="hold" grpId="1" nodeType="withEffect">
                                  <p:stCondLst>
                                    <p:cond delay="0"/>
                                  </p:stCondLst>
                                  <p:childTnLst>
                                    <p:animEffect transition="out" filter="wipe(down)">
                                      <p:cBhvr>
                                        <p:cTn id="47" dur="500"/>
                                        <p:tgtEl>
                                          <p:spTgt spid="191"/>
                                        </p:tgtEl>
                                      </p:cBhvr>
                                    </p:animEffect>
                                    <p:set>
                                      <p:cBhvr>
                                        <p:cTn id="48" dur="1" fill="hold">
                                          <p:stCondLst>
                                            <p:cond delay="499"/>
                                          </p:stCondLst>
                                        </p:cTn>
                                        <p:tgtEl>
                                          <p:spTgt spid="191"/>
                                        </p:tgtEl>
                                        <p:attrNameLst>
                                          <p:attrName>style.visibility</p:attrName>
                                        </p:attrNameLst>
                                      </p:cBhvr>
                                      <p:to>
                                        <p:strVal val="hidden"/>
                                      </p:to>
                                    </p:set>
                                  </p:childTnLst>
                                </p:cTn>
                              </p:par>
                            </p:childTnLst>
                          </p:cTn>
                        </p:par>
                        <p:par>
                          <p:cTn id="49" fill="hold">
                            <p:stCondLst>
                              <p:cond delay="500"/>
                            </p:stCondLst>
                            <p:childTnLst>
                              <p:par>
                                <p:cTn id="50" presetID="22" presetClass="entr" presetSubtype="1" fill="hold" grpId="0" nodeType="afterEffect">
                                  <p:stCondLst>
                                    <p:cond delay="0"/>
                                  </p:stCondLst>
                                  <p:childTnLst>
                                    <p:set>
                                      <p:cBhvr>
                                        <p:cTn id="51" dur="1" fill="hold">
                                          <p:stCondLst>
                                            <p:cond delay="0"/>
                                          </p:stCondLst>
                                        </p:cTn>
                                        <p:tgtEl>
                                          <p:spTgt spid="135"/>
                                        </p:tgtEl>
                                        <p:attrNameLst>
                                          <p:attrName>style.visibility</p:attrName>
                                        </p:attrNameLst>
                                      </p:cBhvr>
                                      <p:to>
                                        <p:strVal val="visible"/>
                                      </p:to>
                                    </p:set>
                                    <p:animEffect transition="in" filter="wipe(up)">
                                      <p:cBhvr>
                                        <p:cTn id="52" dur="1000"/>
                                        <p:tgtEl>
                                          <p:spTgt spid="135"/>
                                        </p:tgtEl>
                                      </p:cBhvr>
                                    </p:animEffect>
                                  </p:childTnLst>
                                </p:cTn>
                              </p:par>
                            </p:childTnLst>
                          </p:cTn>
                        </p:par>
                        <p:par>
                          <p:cTn id="53" fill="hold">
                            <p:stCondLst>
                              <p:cond delay="1500"/>
                            </p:stCondLst>
                            <p:childTnLst>
                              <p:par>
                                <p:cTn id="54" presetID="17" presetClass="entr" presetSubtype="8" fill="hold" nodeType="afterEffect">
                                  <p:stCondLst>
                                    <p:cond delay="0"/>
                                  </p:stCondLst>
                                  <p:childTnLst>
                                    <p:set>
                                      <p:cBhvr>
                                        <p:cTn id="55" dur="1" fill="hold">
                                          <p:stCondLst>
                                            <p:cond delay="0"/>
                                          </p:stCondLst>
                                        </p:cTn>
                                        <p:tgtEl>
                                          <p:spTgt spid="153"/>
                                        </p:tgtEl>
                                        <p:attrNameLst>
                                          <p:attrName>style.visibility</p:attrName>
                                        </p:attrNameLst>
                                      </p:cBhvr>
                                      <p:to>
                                        <p:strVal val="visible"/>
                                      </p:to>
                                    </p:set>
                                    <p:anim calcmode="lin" valueType="num">
                                      <p:cBhvr>
                                        <p:cTn id="56" dur="1000" fill="hold"/>
                                        <p:tgtEl>
                                          <p:spTgt spid="153"/>
                                        </p:tgtEl>
                                        <p:attrNameLst>
                                          <p:attrName>ppt_x</p:attrName>
                                        </p:attrNameLst>
                                      </p:cBhvr>
                                      <p:tavLst>
                                        <p:tav tm="0">
                                          <p:val>
                                            <p:strVal val="#ppt_x-#ppt_w/2"/>
                                          </p:val>
                                        </p:tav>
                                        <p:tav tm="100000">
                                          <p:val>
                                            <p:strVal val="#ppt_x"/>
                                          </p:val>
                                        </p:tav>
                                      </p:tavLst>
                                    </p:anim>
                                    <p:anim calcmode="lin" valueType="num">
                                      <p:cBhvr>
                                        <p:cTn id="57" dur="1000" fill="hold"/>
                                        <p:tgtEl>
                                          <p:spTgt spid="153"/>
                                        </p:tgtEl>
                                        <p:attrNameLst>
                                          <p:attrName>ppt_y</p:attrName>
                                        </p:attrNameLst>
                                      </p:cBhvr>
                                      <p:tavLst>
                                        <p:tav tm="0">
                                          <p:val>
                                            <p:strVal val="#ppt_y"/>
                                          </p:val>
                                        </p:tav>
                                        <p:tav tm="100000">
                                          <p:val>
                                            <p:strVal val="#ppt_y"/>
                                          </p:val>
                                        </p:tav>
                                      </p:tavLst>
                                    </p:anim>
                                    <p:anim calcmode="lin" valueType="num">
                                      <p:cBhvr>
                                        <p:cTn id="58" dur="1000" fill="hold"/>
                                        <p:tgtEl>
                                          <p:spTgt spid="153"/>
                                        </p:tgtEl>
                                        <p:attrNameLst>
                                          <p:attrName>ppt_w</p:attrName>
                                        </p:attrNameLst>
                                      </p:cBhvr>
                                      <p:tavLst>
                                        <p:tav tm="0">
                                          <p:val>
                                            <p:fltVal val="0"/>
                                          </p:val>
                                        </p:tav>
                                        <p:tav tm="100000">
                                          <p:val>
                                            <p:strVal val="#ppt_w"/>
                                          </p:val>
                                        </p:tav>
                                      </p:tavLst>
                                    </p:anim>
                                    <p:anim calcmode="lin" valueType="num">
                                      <p:cBhvr>
                                        <p:cTn id="59" dur="1000" fill="hold"/>
                                        <p:tgtEl>
                                          <p:spTgt spid="153"/>
                                        </p:tgtEl>
                                        <p:attrNameLst>
                                          <p:attrName>ppt_h</p:attrName>
                                        </p:attrNameLst>
                                      </p:cBhvr>
                                      <p:tavLst>
                                        <p:tav tm="0">
                                          <p:val>
                                            <p:strVal val="#ppt_h"/>
                                          </p:val>
                                        </p:tav>
                                        <p:tav tm="100000">
                                          <p:val>
                                            <p:strVal val="#ppt_h"/>
                                          </p:val>
                                        </p:tav>
                                      </p:tavLst>
                                    </p:anim>
                                  </p:childTnLst>
                                </p:cTn>
                              </p:par>
                            </p:childTnLst>
                          </p:cTn>
                        </p:par>
                        <p:par>
                          <p:cTn id="60" fill="hold">
                            <p:stCondLst>
                              <p:cond delay="2500"/>
                            </p:stCondLst>
                            <p:childTnLst>
                              <p:par>
                                <p:cTn id="61" presetID="12" presetClass="entr" presetSubtype="8" fill="hold" grpId="0" nodeType="afterEffect">
                                  <p:stCondLst>
                                    <p:cond delay="0"/>
                                  </p:stCondLst>
                                  <p:childTnLst>
                                    <p:set>
                                      <p:cBhvr>
                                        <p:cTn id="62" dur="1" fill="hold">
                                          <p:stCondLst>
                                            <p:cond delay="0"/>
                                          </p:stCondLst>
                                        </p:cTn>
                                        <p:tgtEl>
                                          <p:spTgt spid="156"/>
                                        </p:tgtEl>
                                        <p:attrNameLst>
                                          <p:attrName>style.visibility</p:attrName>
                                        </p:attrNameLst>
                                      </p:cBhvr>
                                      <p:to>
                                        <p:strVal val="visible"/>
                                      </p:to>
                                    </p:set>
                                    <p:animEffect transition="in" filter="slide(fromLeft)">
                                      <p:cBhvr>
                                        <p:cTn id="63" dur="1000"/>
                                        <p:tgtEl>
                                          <p:spTgt spid="156"/>
                                        </p:tgtEl>
                                      </p:cBhvr>
                                    </p:animEffect>
                                  </p:childTnLst>
                                </p:cTn>
                              </p:par>
                              <p:par>
                                <p:cTn id="64" presetID="12" presetClass="entr" presetSubtype="8" fill="hold" grpId="0" nodeType="withEffect">
                                  <p:stCondLst>
                                    <p:cond delay="0"/>
                                  </p:stCondLst>
                                  <p:childTnLst>
                                    <p:set>
                                      <p:cBhvr>
                                        <p:cTn id="65" dur="1" fill="hold">
                                          <p:stCondLst>
                                            <p:cond delay="0"/>
                                          </p:stCondLst>
                                        </p:cTn>
                                        <p:tgtEl>
                                          <p:spTgt spid="157"/>
                                        </p:tgtEl>
                                        <p:attrNameLst>
                                          <p:attrName>style.visibility</p:attrName>
                                        </p:attrNameLst>
                                      </p:cBhvr>
                                      <p:to>
                                        <p:strVal val="visible"/>
                                      </p:to>
                                    </p:set>
                                    <p:animEffect transition="in" filter="slide(fromLeft)">
                                      <p:cBhvr>
                                        <p:cTn id="66" dur="1000"/>
                                        <p:tgtEl>
                                          <p:spTgt spid="157"/>
                                        </p:tgtEl>
                                      </p:cBhvr>
                                    </p:animEffect>
                                  </p:childTnLst>
                                </p:cTn>
                              </p:par>
                              <p:par>
                                <p:cTn id="67" presetID="12" presetClass="entr" presetSubtype="8" fill="hold" grpId="0" nodeType="withEffect">
                                  <p:stCondLst>
                                    <p:cond delay="0"/>
                                  </p:stCondLst>
                                  <p:childTnLst>
                                    <p:set>
                                      <p:cBhvr>
                                        <p:cTn id="68" dur="1" fill="hold">
                                          <p:stCondLst>
                                            <p:cond delay="0"/>
                                          </p:stCondLst>
                                        </p:cTn>
                                        <p:tgtEl>
                                          <p:spTgt spid="158"/>
                                        </p:tgtEl>
                                        <p:attrNameLst>
                                          <p:attrName>style.visibility</p:attrName>
                                        </p:attrNameLst>
                                      </p:cBhvr>
                                      <p:to>
                                        <p:strVal val="visible"/>
                                      </p:to>
                                    </p:set>
                                    <p:animEffect transition="in" filter="slide(fromLeft)">
                                      <p:cBhvr>
                                        <p:cTn id="69" dur="1000"/>
                                        <p:tgtEl>
                                          <p:spTgt spid="158"/>
                                        </p:tgtEl>
                                      </p:cBhvr>
                                    </p:animEffect>
                                  </p:childTnLst>
                                </p:cTn>
                              </p:par>
                              <p:par>
                                <p:cTn id="70" presetID="12" presetClass="entr" presetSubtype="8" fill="hold" grpId="0" nodeType="withEffect">
                                  <p:stCondLst>
                                    <p:cond delay="0"/>
                                  </p:stCondLst>
                                  <p:childTnLst>
                                    <p:set>
                                      <p:cBhvr>
                                        <p:cTn id="71" dur="1" fill="hold">
                                          <p:stCondLst>
                                            <p:cond delay="0"/>
                                          </p:stCondLst>
                                        </p:cTn>
                                        <p:tgtEl>
                                          <p:spTgt spid="159"/>
                                        </p:tgtEl>
                                        <p:attrNameLst>
                                          <p:attrName>style.visibility</p:attrName>
                                        </p:attrNameLst>
                                      </p:cBhvr>
                                      <p:to>
                                        <p:strVal val="visible"/>
                                      </p:to>
                                    </p:set>
                                    <p:animEffect transition="in" filter="slide(fromLeft)">
                                      <p:cBhvr>
                                        <p:cTn id="72" dur="1000"/>
                                        <p:tgtEl>
                                          <p:spTgt spid="159"/>
                                        </p:tgtEl>
                                      </p:cBhvr>
                                    </p:animEffect>
                                  </p:childTnLst>
                                </p:cTn>
                              </p:par>
                            </p:childTnLst>
                          </p:cTn>
                        </p:par>
                        <p:par>
                          <p:cTn id="73" fill="hold">
                            <p:stCondLst>
                              <p:cond delay="3500"/>
                            </p:stCondLst>
                            <p:childTnLst>
                              <p:par>
                                <p:cTn id="74" presetID="0" presetClass="path" presetSubtype="0" accel="50000" decel="50000" fill="hold" grpId="1" nodeType="afterEffect">
                                  <p:stCondLst>
                                    <p:cond delay="0"/>
                                  </p:stCondLst>
                                  <p:childTnLst>
                                    <p:animMotion origin="layout" path="M 0 0 C 0.0132 0.02139 0.02657 0.04278 0.02778 0.09445 C 0.029 0.14611 0.01823 0.22806 0.00764 0.31 " pathEditMode="relative" ptsTypes="aaA">
                                      <p:cBhvr>
                                        <p:cTn id="75" dur="2000" fill="hold"/>
                                        <p:tgtEl>
                                          <p:spTgt spid="156"/>
                                        </p:tgtEl>
                                        <p:attrNameLst>
                                          <p:attrName>ppt_x</p:attrName>
                                          <p:attrName>ppt_y</p:attrName>
                                        </p:attrNameLst>
                                      </p:cBhvr>
                                    </p:animMotion>
                                  </p:childTnLst>
                                </p:cTn>
                              </p:par>
                              <p:par>
                                <p:cTn id="76" presetID="0" presetClass="path" presetSubtype="0" accel="50000" decel="50000" fill="hold" grpId="1" nodeType="withEffect">
                                  <p:stCondLst>
                                    <p:cond delay="0"/>
                                  </p:stCondLst>
                                  <p:childTnLst>
                                    <p:animMotion origin="layout" path="M 0 0 C 0.01806 0.01528 0.03629 0.03056 0.0375 0.08334 C 0.03872 0.13611 0.02309 0.22639 0.00764 0.31667 " pathEditMode="relative" ptsTypes="aaA">
                                      <p:cBhvr>
                                        <p:cTn id="77" dur="2000" fill="hold"/>
                                        <p:tgtEl>
                                          <p:spTgt spid="157"/>
                                        </p:tgtEl>
                                        <p:attrNameLst>
                                          <p:attrName>ppt_x</p:attrName>
                                          <p:attrName>ppt_y</p:attrName>
                                        </p:attrNameLst>
                                      </p:cBhvr>
                                    </p:animMotion>
                                  </p:childTnLst>
                                </p:cTn>
                              </p:par>
                              <p:par>
                                <p:cTn id="78" presetID="0" presetClass="path" presetSubtype="0" accel="50000" decel="50000" fill="hold" grpId="1" nodeType="withEffect">
                                  <p:stCondLst>
                                    <p:cond delay="0"/>
                                  </p:stCondLst>
                                  <p:childTnLst>
                                    <p:animMotion origin="layout" path="M 0 0 C 0.02014 0.0075 0.04045 0.01528 0.04167 0.07 C 0.04289 0.12473 0.02518 0.22667 0.00764 0.32889 " pathEditMode="relative" ptsTypes="aaA">
                                      <p:cBhvr>
                                        <p:cTn id="79" dur="2000" fill="hold"/>
                                        <p:tgtEl>
                                          <p:spTgt spid="158"/>
                                        </p:tgtEl>
                                        <p:attrNameLst>
                                          <p:attrName>ppt_x</p:attrName>
                                          <p:attrName>ppt_y</p:attrName>
                                        </p:attrNameLst>
                                      </p:cBhvr>
                                    </p:animMotion>
                                  </p:childTnLst>
                                </p:cTn>
                              </p:par>
                              <p:par>
                                <p:cTn id="80" presetID="0" presetClass="path" presetSubtype="0" accel="50000" decel="50000" fill="hold" grpId="1" nodeType="withEffect">
                                  <p:stCondLst>
                                    <p:cond delay="0"/>
                                  </p:stCondLst>
                                  <p:childTnLst>
                                    <p:animMotion origin="layout" path="M 0 0 C 0.02257 0.01556 0.04532 0.03139 0.04653 0.08889 C 0.04775 0.14639 0.02761 0.24528 0.00764 0.34445 " pathEditMode="relative" ptsTypes="aaA">
                                      <p:cBhvr>
                                        <p:cTn id="81" dur="2000" fill="hold"/>
                                        <p:tgtEl>
                                          <p:spTgt spid="159"/>
                                        </p:tgtEl>
                                        <p:attrNameLst>
                                          <p:attrName>ppt_x</p:attrName>
                                          <p:attrName>ppt_y</p:attrName>
                                        </p:attrNameLst>
                                      </p:cBhvr>
                                    </p:animMotion>
                                  </p:childTnLst>
                                </p:cTn>
                              </p:par>
                            </p:childTnLst>
                          </p:cTn>
                        </p:par>
                        <p:par>
                          <p:cTn id="82" fill="hold">
                            <p:stCondLst>
                              <p:cond delay="5500"/>
                            </p:stCondLst>
                            <p:childTnLst>
                              <p:par>
                                <p:cTn id="83" presetID="22" presetClass="entr" presetSubtype="8" fill="hold" grpId="0" nodeType="afterEffect">
                                  <p:stCondLst>
                                    <p:cond delay="0"/>
                                  </p:stCondLst>
                                  <p:childTnLst>
                                    <p:set>
                                      <p:cBhvr>
                                        <p:cTn id="84" dur="1" fill="hold">
                                          <p:stCondLst>
                                            <p:cond delay="0"/>
                                          </p:stCondLst>
                                        </p:cTn>
                                        <p:tgtEl>
                                          <p:spTgt spid="211"/>
                                        </p:tgtEl>
                                        <p:attrNameLst>
                                          <p:attrName>style.visibility</p:attrName>
                                        </p:attrNameLst>
                                      </p:cBhvr>
                                      <p:to>
                                        <p:strVal val="visible"/>
                                      </p:to>
                                    </p:set>
                                    <p:animEffect transition="in" filter="wipe(left)">
                                      <p:cBhvr>
                                        <p:cTn id="85" dur="1000"/>
                                        <p:tgtEl>
                                          <p:spTgt spid="211"/>
                                        </p:tgtEl>
                                      </p:cBhvr>
                                    </p:animEffect>
                                  </p:childTnLst>
                                </p:cTn>
                              </p:par>
                            </p:childTnLst>
                          </p:cTn>
                        </p:par>
                      </p:childTnLst>
                    </p:cTn>
                  </p:par>
                  <p:par>
                    <p:cTn id="86" fill="hold">
                      <p:stCondLst>
                        <p:cond delay="indefinite"/>
                      </p:stCondLst>
                      <p:childTnLst>
                        <p:par>
                          <p:cTn id="87" fill="hold">
                            <p:stCondLst>
                              <p:cond delay="0"/>
                            </p:stCondLst>
                            <p:childTnLst>
                              <p:par>
                                <p:cTn id="88" presetID="12" presetClass="exit" presetSubtype="2" fill="hold" grpId="1" nodeType="clickEffect">
                                  <p:stCondLst>
                                    <p:cond delay="0"/>
                                  </p:stCondLst>
                                  <p:childTnLst>
                                    <p:animEffect transition="out" filter="slide(fromRight)">
                                      <p:cBhvr>
                                        <p:cTn id="89" dur="1000"/>
                                        <p:tgtEl>
                                          <p:spTgt spid="135"/>
                                        </p:tgtEl>
                                      </p:cBhvr>
                                    </p:animEffect>
                                    <p:set>
                                      <p:cBhvr>
                                        <p:cTn id="90" dur="1" fill="hold">
                                          <p:stCondLst>
                                            <p:cond delay="999"/>
                                          </p:stCondLst>
                                        </p:cTn>
                                        <p:tgtEl>
                                          <p:spTgt spid="135"/>
                                        </p:tgtEl>
                                        <p:attrNameLst>
                                          <p:attrName>style.visibility</p:attrName>
                                        </p:attrNameLst>
                                      </p:cBhvr>
                                      <p:to>
                                        <p:strVal val="hidden"/>
                                      </p:to>
                                    </p:set>
                                  </p:childTnLst>
                                </p:cTn>
                              </p:par>
                              <p:par>
                                <p:cTn id="91" presetID="22" presetClass="exit" presetSubtype="4" fill="hold" grpId="1" nodeType="withEffect">
                                  <p:stCondLst>
                                    <p:cond delay="0"/>
                                  </p:stCondLst>
                                  <p:childTnLst>
                                    <p:animEffect transition="out" filter="wipe(down)">
                                      <p:cBhvr>
                                        <p:cTn id="92" dur="500"/>
                                        <p:tgtEl>
                                          <p:spTgt spid="211"/>
                                        </p:tgtEl>
                                      </p:cBhvr>
                                    </p:animEffect>
                                    <p:set>
                                      <p:cBhvr>
                                        <p:cTn id="93" dur="1" fill="hold">
                                          <p:stCondLst>
                                            <p:cond delay="499"/>
                                          </p:stCondLst>
                                        </p:cTn>
                                        <p:tgtEl>
                                          <p:spTgt spid="211"/>
                                        </p:tgtEl>
                                        <p:attrNameLst>
                                          <p:attrName>style.visibility</p:attrName>
                                        </p:attrNameLst>
                                      </p:cBhvr>
                                      <p:to>
                                        <p:strVal val="hidden"/>
                                      </p:to>
                                    </p:set>
                                  </p:childTnLst>
                                </p:cTn>
                              </p:par>
                            </p:childTnLst>
                          </p:cTn>
                        </p:par>
                        <p:par>
                          <p:cTn id="94" fill="hold">
                            <p:stCondLst>
                              <p:cond delay="1000"/>
                            </p:stCondLst>
                            <p:childTnLst>
                              <p:par>
                                <p:cTn id="95" presetID="22" presetClass="entr" presetSubtype="1" fill="hold" grpId="0" nodeType="afterEffect">
                                  <p:stCondLst>
                                    <p:cond delay="0"/>
                                  </p:stCondLst>
                                  <p:childTnLst>
                                    <p:set>
                                      <p:cBhvr>
                                        <p:cTn id="96" dur="1" fill="hold">
                                          <p:stCondLst>
                                            <p:cond delay="0"/>
                                          </p:stCondLst>
                                        </p:cTn>
                                        <p:tgtEl>
                                          <p:spTgt spid="136"/>
                                        </p:tgtEl>
                                        <p:attrNameLst>
                                          <p:attrName>style.visibility</p:attrName>
                                        </p:attrNameLst>
                                      </p:cBhvr>
                                      <p:to>
                                        <p:strVal val="visible"/>
                                      </p:to>
                                    </p:set>
                                    <p:animEffect transition="in" filter="wipe(up)">
                                      <p:cBhvr>
                                        <p:cTn id="97" dur="1000"/>
                                        <p:tgtEl>
                                          <p:spTgt spid="136"/>
                                        </p:tgtEl>
                                      </p:cBhvr>
                                    </p:animEffect>
                                  </p:childTnLst>
                                </p:cTn>
                              </p:par>
                            </p:childTnLst>
                          </p:cTn>
                        </p:par>
                        <p:par>
                          <p:cTn id="98" fill="hold">
                            <p:stCondLst>
                              <p:cond delay="2000"/>
                            </p:stCondLst>
                            <p:childTnLst>
                              <p:par>
                                <p:cTn id="99" presetID="17" presetClass="entr" presetSubtype="8" fill="hold" nodeType="afterEffect">
                                  <p:stCondLst>
                                    <p:cond delay="0"/>
                                  </p:stCondLst>
                                  <p:childTnLst>
                                    <p:set>
                                      <p:cBhvr>
                                        <p:cTn id="100" dur="1" fill="hold">
                                          <p:stCondLst>
                                            <p:cond delay="0"/>
                                          </p:stCondLst>
                                        </p:cTn>
                                        <p:tgtEl>
                                          <p:spTgt spid="193"/>
                                        </p:tgtEl>
                                        <p:attrNameLst>
                                          <p:attrName>style.visibility</p:attrName>
                                        </p:attrNameLst>
                                      </p:cBhvr>
                                      <p:to>
                                        <p:strVal val="visible"/>
                                      </p:to>
                                    </p:set>
                                    <p:anim calcmode="lin" valueType="num">
                                      <p:cBhvr>
                                        <p:cTn id="101" dur="1000" fill="hold"/>
                                        <p:tgtEl>
                                          <p:spTgt spid="193"/>
                                        </p:tgtEl>
                                        <p:attrNameLst>
                                          <p:attrName>ppt_x</p:attrName>
                                        </p:attrNameLst>
                                      </p:cBhvr>
                                      <p:tavLst>
                                        <p:tav tm="0">
                                          <p:val>
                                            <p:strVal val="#ppt_x-#ppt_w/2"/>
                                          </p:val>
                                        </p:tav>
                                        <p:tav tm="100000">
                                          <p:val>
                                            <p:strVal val="#ppt_x"/>
                                          </p:val>
                                        </p:tav>
                                      </p:tavLst>
                                    </p:anim>
                                    <p:anim calcmode="lin" valueType="num">
                                      <p:cBhvr>
                                        <p:cTn id="102" dur="1000" fill="hold"/>
                                        <p:tgtEl>
                                          <p:spTgt spid="193"/>
                                        </p:tgtEl>
                                        <p:attrNameLst>
                                          <p:attrName>ppt_y</p:attrName>
                                        </p:attrNameLst>
                                      </p:cBhvr>
                                      <p:tavLst>
                                        <p:tav tm="0">
                                          <p:val>
                                            <p:strVal val="#ppt_y"/>
                                          </p:val>
                                        </p:tav>
                                        <p:tav tm="100000">
                                          <p:val>
                                            <p:strVal val="#ppt_y"/>
                                          </p:val>
                                        </p:tav>
                                      </p:tavLst>
                                    </p:anim>
                                    <p:anim calcmode="lin" valueType="num">
                                      <p:cBhvr>
                                        <p:cTn id="103" dur="1000" fill="hold"/>
                                        <p:tgtEl>
                                          <p:spTgt spid="193"/>
                                        </p:tgtEl>
                                        <p:attrNameLst>
                                          <p:attrName>ppt_w</p:attrName>
                                        </p:attrNameLst>
                                      </p:cBhvr>
                                      <p:tavLst>
                                        <p:tav tm="0">
                                          <p:val>
                                            <p:fltVal val="0"/>
                                          </p:val>
                                        </p:tav>
                                        <p:tav tm="100000">
                                          <p:val>
                                            <p:strVal val="#ppt_w"/>
                                          </p:val>
                                        </p:tav>
                                      </p:tavLst>
                                    </p:anim>
                                    <p:anim calcmode="lin" valueType="num">
                                      <p:cBhvr>
                                        <p:cTn id="104" dur="1000" fill="hold"/>
                                        <p:tgtEl>
                                          <p:spTgt spid="193"/>
                                        </p:tgtEl>
                                        <p:attrNameLst>
                                          <p:attrName>ppt_h</p:attrName>
                                        </p:attrNameLst>
                                      </p:cBhvr>
                                      <p:tavLst>
                                        <p:tav tm="0">
                                          <p:val>
                                            <p:strVal val="#ppt_h"/>
                                          </p:val>
                                        </p:tav>
                                        <p:tav tm="100000">
                                          <p:val>
                                            <p:strVal val="#ppt_h"/>
                                          </p:val>
                                        </p:tav>
                                      </p:tavLst>
                                    </p:anim>
                                  </p:childTnLst>
                                </p:cTn>
                              </p:par>
                              <p:par>
                                <p:cTn id="105" presetID="12" presetClass="entr" presetSubtype="8" fill="hold" nodeType="withEffect">
                                  <p:stCondLst>
                                    <p:cond delay="0"/>
                                  </p:stCondLst>
                                  <p:childTnLst>
                                    <p:set>
                                      <p:cBhvr>
                                        <p:cTn id="106" dur="1" fill="hold">
                                          <p:stCondLst>
                                            <p:cond delay="0"/>
                                          </p:stCondLst>
                                        </p:cTn>
                                        <p:tgtEl>
                                          <p:spTgt spid="165"/>
                                        </p:tgtEl>
                                        <p:attrNameLst>
                                          <p:attrName>style.visibility</p:attrName>
                                        </p:attrNameLst>
                                      </p:cBhvr>
                                      <p:to>
                                        <p:strVal val="visible"/>
                                      </p:to>
                                    </p:set>
                                    <p:animEffect transition="in" filter="slide(fromLeft)">
                                      <p:cBhvr>
                                        <p:cTn id="107" dur="1000"/>
                                        <p:tgtEl>
                                          <p:spTgt spid="165"/>
                                        </p:tgtEl>
                                      </p:cBhvr>
                                    </p:animEffect>
                                  </p:childTnLst>
                                </p:cTn>
                              </p:par>
                            </p:childTnLst>
                          </p:cTn>
                        </p:par>
                        <p:par>
                          <p:cTn id="108" fill="hold">
                            <p:stCondLst>
                              <p:cond delay="3000"/>
                            </p:stCondLst>
                            <p:childTnLst>
                              <p:par>
                                <p:cTn id="109" presetID="17" presetClass="entr" presetSubtype="8" fill="hold" nodeType="afterEffect">
                                  <p:stCondLst>
                                    <p:cond delay="0"/>
                                  </p:stCondLst>
                                  <p:childTnLst>
                                    <p:set>
                                      <p:cBhvr>
                                        <p:cTn id="110" dur="1" fill="hold">
                                          <p:stCondLst>
                                            <p:cond delay="0"/>
                                          </p:stCondLst>
                                        </p:cTn>
                                        <p:tgtEl>
                                          <p:spTgt spid="196"/>
                                        </p:tgtEl>
                                        <p:attrNameLst>
                                          <p:attrName>style.visibility</p:attrName>
                                        </p:attrNameLst>
                                      </p:cBhvr>
                                      <p:to>
                                        <p:strVal val="visible"/>
                                      </p:to>
                                    </p:set>
                                    <p:anim calcmode="lin" valueType="num">
                                      <p:cBhvr>
                                        <p:cTn id="111" dur="1000" fill="hold"/>
                                        <p:tgtEl>
                                          <p:spTgt spid="196"/>
                                        </p:tgtEl>
                                        <p:attrNameLst>
                                          <p:attrName>ppt_x</p:attrName>
                                        </p:attrNameLst>
                                      </p:cBhvr>
                                      <p:tavLst>
                                        <p:tav tm="0">
                                          <p:val>
                                            <p:strVal val="#ppt_x-#ppt_w/2"/>
                                          </p:val>
                                        </p:tav>
                                        <p:tav tm="100000">
                                          <p:val>
                                            <p:strVal val="#ppt_x"/>
                                          </p:val>
                                        </p:tav>
                                      </p:tavLst>
                                    </p:anim>
                                    <p:anim calcmode="lin" valueType="num">
                                      <p:cBhvr>
                                        <p:cTn id="112" dur="1000" fill="hold"/>
                                        <p:tgtEl>
                                          <p:spTgt spid="196"/>
                                        </p:tgtEl>
                                        <p:attrNameLst>
                                          <p:attrName>ppt_y</p:attrName>
                                        </p:attrNameLst>
                                      </p:cBhvr>
                                      <p:tavLst>
                                        <p:tav tm="0">
                                          <p:val>
                                            <p:strVal val="#ppt_y"/>
                                          </p:val>
                                        </p:tav>
                                        <p:tav tm="100000">
                                          <p:val>
                                            <p:strVal val="#ppt_y"/>
                                          </p:val>
                                        </p:tav>
                                      </p:tavLst>
                                    </p:anim>
                                    <p:anim calcmode="lin" valueType="num">
                                      <p:cBhvr>
                                        <p:cTn id="113" dur="1000" fill="hold"/>
                                        <p:tgtEl>
                                          <p:spTgt spid="196"/>
                                        </p:tgtEl>
                                        <p:attrNameLst>
                                          <p:attrName>ppt_w</p:attrName>
                                        </p:attrNameLst>
                                      </p:cBhvr>
                                      <p:tavLst>
                                        <p:tav tm="0">
                                          <p:val>
                                            <p:fltVal val="0"/>
                                          </p:val>
                                        </p:tav>
                                        <p:tav tm="100000">
                                          <p:val>
                                            <p:strVal val="#ppt_w"/>
                                          </p:val>
                                        </p:tav>
                                      </p:tavLst>
                                    </p:anim>
                                    <p:anim calcmode="lin" valueType="num">
                                      <p:cBhvr>
                                        <p:cTn id="114" dur="1000" fill="hold"/>
                                        <p:tgtEl>
                                          <p:spTgt spid="196"/>
                                        </p:tgtEl>
                                        <p:attrNameLst>
                                          <p:attrName>ppt_h</p:attrName>
                                        </p:attrNameLst>
                                      </p:cBhvr>
                                      <p:tavLst>
                                        <p:tav tm="0">
                                          <p:val>
                                            <p:strVal val="#ppt_h"/>
                                          </p:val>
                                        </p:tav>
                                        <p:tav tm="100000">
                                          <p:val>
                                            <p:strVal val="#ppt_h"/>
                                          </p:val>
                                        </p:tav>
                                      </p:tavLst>
                                    </p:anim>
                                  </p:childTnLst>
                                </p:cTn>
                              </p:par>
                              <p:par>
                                <p:cTn id="115" presetID="12" presetClass="entr" presetSubtype="8" fill="hold" nodeType="withEffect">
                                  <p:stCondLst>
                                    <p:cond delay="0"/>
                                  </p:stCondLst>
                                  <p:childTnLst>
                                    <p:set>
                                      <p:cBhvr>
                                        <p:cTn id="116" dur="1" fill="hold">
                                          <p:stCondLst>
                                            <p:cond delay="0"/>
                                          </p:stCondLst>
                                        </p:cTn>
                                        <p:tgtEl>
                                          <p:spTgt spid="170"/>
                                        </p:tgtEl>
                                        <p:attrNameLst>
                                          <p:attrName>style.visibility</p:attrName>
                                        </p:attrNameLst>
                                      </p:cBhvr>
                                      <p:to>
                                        <p:strVal val="visible"/>
                                      </p:to>
                                    </p:set>
                                    <p:animEffect transition="in" filter="slide(fromLeft)">
                                      <p:cBhvr>
                                        <p:cTn id="117" dur="1000"/>
                                        <p:tgtEl>
                                          <p:spTgt spid="170"/>
                                        </p:tgtEl>
                                      </p:cBhvr>
                                    </p:animEffect>
                                  </p:childTnLst>
                                </p:cTn>
                              </p:par>
                            </p:childTnLst>
                          </p:cTn>
                        </p:par>
                        <p:par>
                          <p:cTn id="118" fill="hold">
                            <p:stCondLst>
                              <p:cond delay="4000"/>
                            </p:stCondLst>
                            <p:childTnLst>
                              <p:par>
                                <p:cTn id="119" presetID="17" presetClass="entr" presetSubtype="8" fill="hold" nodeType="afterEffect">
                                  <p:stCondLst>
                                    <p:cond delay="0"/>
                                  </p:stCondLst>
                                  <p:childTnLst>
                                    <p:set>
                                      <p:cBhvr>
                                        <p:cTn id="120" dur="1" fill="hold">
                                          <p:stCondLst>
                                            <p:cond delay="0"/>
                                          </p:stCondLst>
                                        </p:cTn>
                                        <p:tgtEl>
                                          <p:spTgt spid="199"/>
                                        </p:tgtEl>
                                        <p:attrNameLst>
                                          <p:attrName>style.visibility</p:attrName>
                                        </p:attrNameLst>
                                      </p:cBhvr>
                                      <p:to>
                                        <p:strVal val="visible"/>
                                      </p:to>
                                    </p:set>
                                    <p:anim calcmode="lin" valueType="num">
                                      <p:cBhvr>
                                        <p:cTn id="121" dur="1000" fill="hold"/>
                                        <p:tgtEl>
                                          <p:spTgt spid="199"/>
                                        </p:tgtEl>
                                        <p:attrNameLst>
                                          <p:attrName>ppt_x</p:attrName>
                                        </p:attrNameLst>
                                      </p:cBhvr>
                                      <p:tavLst>
                                        <p:tav tm="0">
                                          <p:val>
                                            <p:strVal val="#ppt_x-#ppt_w/2"/>
                                          </p:val>
                                        </p:tav>
                                        <p:tav tm="100000">
                                          <p:val>
                                            <p:strVal val="#ppt_x"/>
                                          </p:val>
                                        </p:tav>
                                      </p:tavLst>
                                    </p:anim>
                                    <p:anim calcmode="lin" valueType="num">
                                      <p:cBhvr>
                                        <p:cTn id="122" dur="1000" fill="hold"/>
                                        <p:tgtEl>
                                          <p:spTgt spid="199"/>
                                        </p:tgtEl>
                                        <p:attrNameLst>
                                          <p:attrName>ppt_y</p:attrName>
                                        </p:attrNameLst>
                                      </p:cBhvr>
                                      <p:tavLst>
                                        <p:tav tm="0">
                                          <p:val>
                                            <p:strVal val="#ppt_y"/>
                                          </p:val>
                                        </p:tav>
                                        <p:tav tm="100000">
                                          <p:val>
                                            <p:strVal val="#ppt_y"/>
                                          </p:val>
                                        </p:tav>
                                      </p:tavLst>
                                    </p:anim>
                                    <p:anim calcmode="lin" valueType="num">
                                      <p:cBhvr>
                                        <p:cTn id="123" dur="1000" fill="hold"/>
                                        <p:tgtEl>
                                          <p:spTgt spid="199"/>
                                        </p:tgtEl>
                                        <p:attrNameLst>
                                          <p:attrName>ppt_w</p:attrName>
                                        </p:attrNameLst>
                                      </p:cBhvr>
                                      <p:tavLst>
                                        <p:tav tm="0">
                                          <p:val>
                                            <p:fltVal val="0"/>
                                          </p:val>
                                        </p:tav>
                                        <p:tav tm="100000">
                                          <p:val>
                                            <p:strVal val="#ppt_w"/>
                                          </p:val>
                                        </p:tav>
                                      </p:tavLst>
                                    </p:anim>
                                    <p:anim calcmode="lin" valueType="num">
                                      <p:cBhvr>
                                        <p:cTn id="124" dur="1000" fill="hold"/>
                                        <p:tgtEl>
                                          <p:spTgt spid="199"/>
                                        </p:tgtEl>
                                        <p:attrNameLst>
                                          <p:attrName>ppt_h</p:attrName>
                                        </p:attrNameLst>
                                      </p:cBhvr>
                                      <p:tavLst>
                                        <p:tav tm="0">
                                          <p:val>
                                            <p:strVal val="#ppt_h"/>
                                          </p:val>
                                        </p:tav>
                                        <p:tav tm="100000">
                                          <p:val>
                                            <p:strVal val="#ppt_h"/>
                                          </p:val>
                                        </p:tav>
                                      </p:tavLst>
                                    </p:anim>
                                  </p:childTnLst>
                                </p:cTn>
                              </p:par>
                              <p:par>
                                <p:cTn id="125" presetID="12" presetClass="entr" presetSubtype="8" fill="hold" nodeType="withEffect">
                                  <p:stCondLst>
                                    <p:cond delay="0"/>
                                  </p:stCondLst>
                                  <p:childTnLst>
                                    <p:set>
                                      <p:cBhvr>
                                        <p:cTn id="126" dur="1" fill="hold">
                                          <p:stCondLst>
                                            <p:cond delay="0"/>
                                          </p:stCondLst>
                                        </p:cTn>
                                        <p:tgtEl>
                                          <p:spTgt spid="175"/>
                                        </p:tgtEl>
                                        <p:attrNameLst>
                                          <p:attrName>style.visibility</p:attrName>
                                        </p:attrNameLst>
                                      </p:cBhvr>
                                      <p:to>
                                        <p:strVal val="visible"/>
                                      </p:to>
                                    </p:set>
                                    <p:animEffect transition="in" filter="slide(fromLeft)">
                                      <p:cBhvr>
                                        <p:cTn id="127" dur="1000"/>
                                        <p:tgtEl>
                                          <p:spTgt spid="175"/>
                                        </p:tgtEl>
                                      </p:cBhvr>
                                    </p:animEffect>
                                  </p:childTnLst>
                                </p:cTn>
                              </p:par>
                            </p:childTnLst>
                          </p:cTn>
                        </p:par>
                        <p:par>
                          <p:cTn id="128" fill="hold">
                            <p:stCondLst>
                              <p:cond delay="5000"/>
                            </p:stCondLst>
                            <p:childTnLst>
                              <p:par>
                                <p:cTn id="129" presetID="17" presetClass="entr" presetSubtype="8" fill="hold" nodeType="afterEffect">
                                  <p:stCondLst>
                                    <p:cond delay="0"/>
                                  </p:stCondLst>
                                  <p:childTnLst>
                                    <p:set>
                                      <p:cBhvr>
                                        <p:cTn id="130" dur="1" fill="hold">
                                          <p:stCondLst>
                                            <p:cond delay="0"/>
                                          </p:stCondLst>
                                        </p:cTn>
                                        <p:tgtEl>
                                          <p:spTgt spid="202"/>
                                        </p:tgtEl>
                                        <p:attrNameLst>
                                          <p:attrName>style.visibility</p:attrName>
                                        </p:attrNameLst>
                                      </p:cBhvr>
                                      <p:to>
                                        <p:strVal val="visible"/>
                                      </p:to>
                                    </p:set>
                                    <p:anim calcmode="lin" valueType="num">
                                      <p:cBhvr>
                                        <p:cTn id="131" dur="1000" fill="hold"/>
                                        <p:tgtEl>
                                          <p:spTgt spid="202"/>
                                        </p:tgtEl>
                                        <p:attrNameLst>
                                          <p:attrName>ppt_x</p:attrName>
                                        </p:attrNameLst>
                                      </p:cBhvr>
                                      <p:tavLst>
                                        <p:tav tm="0">
                                          <p:val>
                                            <p:strVal val="#ppt_x-#ppt_w/2"/>
                                          </p:val>
                                        </p:tav>
                                        <p:tav tm="100000">
                                          <p:val>
                                            <p:strVal val="#ppt_x"/>
                                          </p:val>
                                        </p:tav>
                                      </p:tavLst>
                                    </p:anim>
                                    <p:anim calcmode="lin" valueType="num">
                                      <p:cBhvr>
                                        <p:cTn id="132" dur="1000" fill="hold"/>
                                        <p:tgtEl>
                                          <p:spTgt spid="202"/>
                                        </p:tgtEl>
                                        <p:attrNameLst>
                                          <p:attrName>ppt_y</p:attrName>
                                        </p:attrNameLst>
                                      </p:cBhvr>
                                      <p:tavLst>
                                        <p:tav tm="0">
                                          <p:val>
                                            <p:strVal val="#ppt_y"/>
                                          </p:val>
                                        </p:tav>
                                        <p:tav tm="100000">
                                          <p:val>
                                            <p:strVal val="#ppt_y"/>
                                          </p:val>
                                        </p:tav>
                                      </p:tavLst>
                                    </p:anim>
                                    <p:anim calcmode="lin" valueType="num">
                                      <p:cBhvr>
                                        <p:cTn id="133" dur="1000" fill="hold"/>
                                        <p:tgtEl>
                                          <p:spTgt spid="202"/>
                                        </p:tgtEl>
                                        <p:attrNameLst>
                                          <p:attrName>ppt_w</p:attrName>
                                        </p:attrNameLst>
                                      </p:cBhvr>
                                      <p:tavLst>
                                        <p:tav tm="0">
                                          <p:val>
                                            <p:fltVal val="0"/>
                                          </p:val>
                                        </p:tav>
                                        <p:tav tm="100000">
                                          <p:val>
                                            <p:strVal val="#ppt_w"/>
                                          </p:val>
                                        </p:tav>
                                      </p:tavLst>
                                    </p:anim>
                                    <p:anim calcmode="lin" valueType="num">
                                      <p:cBhvr>
                                        <p:cTn id="134" dur="1000" fill="hold"/>
                                        <p:tgtEl>
                                          <p:spTgt spid="202"/>
                                        </p:tgtEl>
                                        <p:attrNameLst>
                                          <p:attrName>ppt_h</p:attrName>
                                        </p:attrNameLst>
                                      </p:cBhvr>
                                      <p:tavLst>
                                        <p:tav tm="0">
                                          <p:val>
                                            <p:strVal val="#ppt_h"/>
                                          </p:val>
                                        </p:tav>
                                        <p:tav tm="100000">
                                          <p:val>
                                            <p:strVal val="#ppt_h"/>
                                          </p:val>
                                        </p:tav>
                                      </p:tavLst>
                                    </p:anim>
                                  </p:childTnLst>
                                </p:cTn>
                              </p:par>
                              <p:par>
                                <p:cTn id="135" presetID="12" presetClass="entr" presetSubtype="8" fill="hold" nodeType="withEffect">
                                  <p:stCondLst>
                                    <p:cond delay="0"/>
                                  </p:stCondLst>
                                  <p:childTnLst>
                                    <p:set>
                                      <p:cBhvr>
                                        <p:cTn id="136" dur="1" fill="hold">
                                          <p:stCondLst>
                                            <p:cond delay="0"/>
                                          </p:stCondLst>
                                        </p:cTn>
                                        <p:tgtEl>
                                          <p:spTgt spid="139"/>
                                        </p:tgtEl>
                                        <p:attrNameLst>
                                          <p:attrName>style.visibility</p:attrName>
                                        </p:attrNameLst>
                                      </p:cBhvr>
                                      <p:to>
                                        <p:strVal val="visible"/>
                                      </p:to>
                                    </p:set>
                                    <p:animEffect transition="in" filter="slide(fromLeft)">
                                      <p:cBhvr>
                                        <p:cTn id="137" dur="1000"/>
                                        <p:tgtEl>
                                          <p:spTgt spid="139"/>
                                        </p:tgtEl>
                                      </p:cBhvr>
                                    </p:animEffect>
                                  </p:childTnLst>
                                </p:cTn>
                              </p:par>
                            </p:childTnLst>
                          </p:cTn>
                        </p:par>
                        <p:par>
                          <p:cTn id="138" fill="hold">
                            <p:stCondLst>
                              <p:cond delay="6000"/>
                            </p:stCondLst>
                            <p:childTnLst>
                              <p:par>
                                <p:cTn id="139" presetID="17" presetClass="entr" presetSubtype="8" fill="hold" nodeType="afterEffect">
                                  <p:stCondLst>
                                    <p:cond delay="0"/>
                                  </p:stCondLst>
                                  <p:childTnLst>
                                    <p:set>
                                      <p:cBhvr>
                                        <p:cTn id="140" dur="1" fill="hold">
                                          <p:stCondLst>
                                            <p:cond delay="0"/>
                                          </p:stCondLst>
                                        </p:cTn>
                                        <p:tgtEl>
                                          <p:spTgt spid="205"/>
                                        </p:tgtEl>
                                        <p:attrNameLst>
                                          <p:attrName>style.visibility</p:attrName>
                                        </p:attrNameLst>
                                      </p:cBhvr>
                                      <p:to>
                                        <p:strVal val="visible"/>
                                      </p:to>
                                    </p:set>
                                    <p:anim calcmode="lin" valueType="num">
                                      <p:cBhvr>
                                        <p:cTn id="141" dur="1000" fill="hold"/>
                                        <p:tgtEl>
                                          <p:spTgt spid="205"/>
                                        </p:tgtEl>
                                        <p:attrNameLst>
                                          <p:attrName>ppt_x</p:attrName>
                                        </p:attrNameLst>
                                      </p:cBhvr>
                                      <p:tavLst>
                                        <p:tav tm="0">
                                          <p:val>
                                            <p:strVal val="#ppt_x-#ppt_w/2"/>
                                          </p:val>
                                        </p:tav>
                                        <p:tav tm="100000">
                                          <p:val>
                                            <p:strVal val="#ppt_x"/>
                                          </p:val>
                                        </p:tav>
                                      </p:tavLst>
                                    </p:anim>
                                    <p:anim calcmode="lin" valueType="num">
                                      <p:cBhvr>
                                        <p:cTn id="142" dur="1000" fill="hold"/>
                                        <p:tgtEl>
                                          <p:spTgt spid="205"/>
                                        </p:tgtEl>
                                        <p:attrNameLst>
                                          <p:attrName>ppt_y</p:attrName>
                                        </p:attrNameLst>
                                      </p:cBhvr>
                                      <p:tavLst>
                                        <p:tav tm="0">
                                          <p:val>
                                            <p:strVal val="#ppt_y"/>
                                          </p:val>
                                        </p:tav>
                                        <p:tav tm="100000">
                                          <p:val>
                                            <p:strVal val="#ppt_y"/>
                                          </p:val>
                                        </p:tav>
                                      </p:tavLst>
                                    </p:anim>
                                    <p:anim calcmode="lin" valueType="num">
                                      <p:cBhvr>
                                        <p:cTn id="143" dur="1000" fill="hold"/>
                                        <p:tgtEl>
                                          <p:spTgt spid="205"/>
                                        </p:tgtEl>
                                        <p:attrNameLst>
                                          <p:attrName>ppt_w</p:attrName>
                                        </p:attrNameLst>
                                      </p:cBhvr>
                                      <p:tavLst>
                                        <p:tav tm="0">
                                          <p:val>
                                            <p:fltVal val="0"/>
                                          </p:val>
                                        </p:tav>
                                        <p:tav tm="100000">
                                          <p:val>
                                            <p:strVal val="#ppt_w"/>
                                          </p:val>
                                        </p:tav>
                                      </p:tavLst>
                                    </p:anim>
                                    <p:anim calcmode="lin" valueType="num">
                                      <p:cBhvr>
                                        <p:cTn id="144" dur="1000" fill="hold"/>
                                        <p:tgtEl>
                                          <p:spTgt spid="205"/>
                                        </p:tgtEl>
                                        <p:attrNameLst>
                                          <p:attrName>ppt_h</p:attrName>
                                        </p:attrNameLst>
                                      </p:cBhvr>
                                      <p:tavLst>
                                        <p:tav tm="0">
                                          <p:val>
                                            <p:strVal val="#ppt_h"/>
                                          </p:val>
                                        </p:tav>
                                        <p:tav tm="100000">
                                          <p:val>
                                            <p:strVal val="#ppt_h"/>
                                          </p:val>
                                        </p:tav>
                                      </p:tavLst>
                                    </p:anim>
                                  </p:childTnLst>
                                </p:cTn>
                              </p:par>
                              <p:par>
                                <p:cTn id="145" presetID="12" presetClass="entr" presetSubtype="8" fill="hold" nodeType="withEffect">
                                  <p:stCondLst>
                                    <p:cond delay="0"/>
                                  </p:stCondLst>
                                  <p:childTnLst>
                                    <p:set>
                                      <p:cBhvr>
                                        <p:cTn id="146" dur="1" fill="hold">
                                          <p:stCondLst>
                                            <p:cond delay="0"/>
                                          </p:stCondLst>
                                        </p:cTn>
                                        <p:tgtEl>
                                          <p:spTgt spid="180"/>
                                        </p:tgtEl>
                                        <p:attrNameLst>
                                          <p:attrName>style.visibility</p:attrName>
                                        </p:attrNameLst>
                                      </p:cBhvr>
                                      <p:to>
                                        <p:strVal val="visible"/>
                                      </p:to>
                                    </p:set>
                                    <p:animEffect transition="in" filter="slide(fromLeft)">
                                      <p:cBhvr>
                                        <p:cTn id="147" dur="1000"/>
                                        <p:tgtEl>
                                          <p:spTgt spid="180"/>
                                        </p:tgtEl>
                                      </p:cBhvr>
                                    </p:animEffect>
                                  </p:childTnLst>
                                </p:cTn>
                              </p:par>
                            </p:childTnLst>
                          </p:cTn>
                        </p:par>
                        <p:par>
                          <p:cTn id="148" fill="hold">
                            <p:stCondLst>
                              <p:cond delay="7000"/>
                            </p:stCondLst>
                            <p:childTnLst>
                              <p:par>
                                <p:cTn id="149" presetID="17" presetClass="entr" presetSubtype="8" fill="hold" nodeType="afterEffect">
                                  <p:stCondLst>
                                    <p:cond delay="0"/>
                                  </p:stCondLst>
                                  <p:childTnLst>
                                    <p:set>
                                      <p:cBhvr>
                                        <p:cTn id="150" dur="1" fill="hold">
                                          <p:stCondLst>
                                            <p:cond delay="0"/>
                                          </p:stCondLst>
                                        </p:cTn>
                                        <p:tgtEl>
                                          <p:spTgt spid="208"/>
                                        </p:tgtEl>
                                        <p:attrNameLst>
                                          <p:attrName>style.visibility</p:attrName>
                                        </p:attrNameLst>
                                      </p:cBhvr>
                                      <p:to>
                                        <p:strVal val="visible"/>
                                      </p:to>
                                    </p:set>
                                    <p:anim calcmode="lin" valueType="num">
                                      <p:cBhvr>
                                        <p:cTn id="151" dur="1000" fill="hold"/>
                                        <p:tgtEl>
                                          <p:spTgt spid="208"/>
                                        </p:tgtEl>
                                        <p:attrNameLst>
                                          <p:attrName>ppt_x</p:attrName>
                                        </p:attrNameLst>
                                      </p:cBhvr>
                                      <p:tavLst>
                                        <p:tav tm="0">
                                          <p:val>
                                            <p:strVal val="#ppt_x-#ppt_w/2"/>
                                          </p:val>
                                        </p:tav>
                                        <p:tav tm="100000">
                                          <p:val>
                                            <p:strVal val="#ppt_x"/>
                                          </p:val>
                                        </p:tav>
                                      </p:tavLst>
                                    </p:anim>
                                    <p:anim calcmode="lin" valueType="num">
                                      <p:cBhvr>
                                        <p:cTn id="152" dur="1000" fill="hold"/>
                                        <p:tgtEl>
                                          <p:spTgt spid="208"/>
                                        </p:tgtEl>
                                        <p:attrNameLst>
                                          <p:attrName>ppt_y</p:attrName>
                                        </p:attrNameLst>
                                      </p:cBhvr>
                                      <p:tavLst>
                                        <p:tav tm="0">
                                          <p:val>
                                            <p:strVal val="#ppt_y"/>
                                          </p:val>
                                        </p:tav>
                                        <p:tav tm="100000">
                                          <p:val>
                                            <p:strVal val="#ppt_y"/>
                                          </p:val>
                                        </p:tav>
                                      </p:tavLst>
                                    </p:anim>
                                    <p:anim calcmode="lin" valueType="num">
                                      <p:cBhvr>
                                        <p:cTn id="153" dur="1000" fill="hold"/>
                                        <p:tgtEl>
                                          <p:spTgt spid="208"/>
                                        </p:tgtEl>
                                        <p:attrNameLst>
                                          <p:attrName>ppt_w</p:attrName>
                                        </p:attrNameLst>
                                      </p:cBhvr>
                                      <p:tavLst>
                                        <p:tav tm="0">
                                          <p:val>
                                            <p:fltVal val="0"/>
                                          </p:val>
                                        </p:tav>
                                        <p:tav tm="100000">
                                          <p:val>
                                            <p:strVal val="#ppt_w"/>
                                          </p:val>
                                        </p:tav>
                                      </p:tavLst>
                                    </p:anim>
                                    <p:anim calcmode="lin" valueType="num">
                                      <p:cBhvr>
                                        <p:cTn id="154" dur="1000" fill="hold"/>
                                        <p:tgtEl>
                                          <p:spTgt spid="208"/>
                                        </p:tgtEl>
                                        <p:attrNameLst>
                                          <p:attrName>ppt_h</p:attrName>
                                        </p:attrNameLst>
                                      </p:cBhvr>
                                      <p:tavLst>
                                        <p:tav tm="0">
                                          <p:val>
                                            <p:strVal val="#ppt_h"/>
                                          </p:val>
                                        </p:tav>
                                        <p:tav tm="100000">
                                          <p:val>
                                            <p:strVal val="#ppt_h"/>
                                          </p:val>
                                        </p:tav>
                                      </p:tavLst>
                                    </p:anim>
                                  </p:childTnLst>
                                </p:cTn>
                              </p:par>
                              <p:par>
                                <p:cTn id="155" presetID="12" presetClass="entr" presetSubtype="8" fill="hold" nodeType="withEffect">
                                  <p:stCondLst>
                                    <p:cond delay="0"/>
                                  </p:stCondLst>
                                  <p:childTnLst>
                                    <p:set>
                                      <p:cBhvr>
                                        <p:cTn id="156" dur="1" fill="hold">
                                          <p:stCondLst>
                                            <p:cond delay="0"/>
                                          </p:stCondLst>
                                        </p:cTn>
                                        <p:tgtEl>
                                          <p:spTgt spid="160"/>
                                        </p:tgtEl>
                                        <p:attrNameLst>
                                          <p:attrName>style.visibility</p:attrName>
                                        </p:attrNameLst>
                                      </p:cBhvr>
                                      <p:to>
                                        <p:strVal val="visible"/>
                                      </p:to>
                                    </p:set>
                                    <p:animEffect transition="in" filter="slide(fromLeft)">
                                      <p:cBhvr>
                                        <p:cTn id="157" dur="1000"/>
                                        <p:tgtEl>
                                          <p:spTgt spid="160"/>
                                        </p:tgtEl>
                                      </p:cBhvr>
                                    </p:animEffect>
                                  </p:childTnLst>
                                </p:cTn>
                              </p:par>
                            </p:childTnLst>
                          </p:cTn>
                        </p:par>
                        <p:par>
                          <p:cTn id="158" fill="hold">
                            <p:stCondLst>
                              <p:cond delay="8000"/>
                            </p:stCondLst>
                            <p:childTnLst>
                              <p:par>
                                <p:cTn id="159" presetID="22" presetClass="entr" presetSubtype="1" fill="hold" grpId="0" nodeType="afterEffect">
                                  <p:stCondLst>
                                    <p:cond delay="0"/>
                                  </p:stCondLst>
                                  <p:childTnLst>
                                    <p:set>
                                      <p:cBhvr>
                                        <p:cTn id="160" dur="1" fill="hold">
                                          <p:stCondLst>
                                            <p:cond delay="0"/>
                                          </p:stCondLst>
                                        </p:cTn>
                                        <p:tgtEl>
                                          <p:spTgt spid="138"/>
                                        </p:tgtEl>
                                        <p:attrNameLst>
                                          <p:attrName>style.visibility</p:attrName>
                                        </p:attrNameLst>
                                      </p:cBhvr>
                                      <p:to>
                                        <p:strVal val="visible"/>
                                      </p:to>
                                    </p:set>
                                    <p:animEffect transition="in" filter="wipe(up)">
                                      <p:cBhvr>
                                        <p:cTn id="161" dur="1000"/>
                                        <p:tgtEl>
                                          <p:spTgt spid="138"/>
                                        </p:tgtEl>
                                      </p:cBhvr>
                                    </p:animEffect>
                                  </p:childTnLst>
                                </p:cTn>
                              </p:par>
                              <p:par>
                                <p:cTn id="162" presetID="22" presetClass="entr" presetSubtype="8" fill="hold" grpId="0" nodeType="withEffect">
                                  <p:stCondLst>
                                    <p:cond delay="0"/>
                                  </p:stCondLst>
                                  <p:childTnLst>
                                    <p:set>
                                      <p:cBhvr>
                                        <p:cTn id="163" dur="1" fill="hold">
                                          <p:stCondLst>
                                            <p:cond delay="0"/>
                                          </p:stCondLst>
                                        </p:cTn>
                                        <p:tgtEl>
                                          <p:spTgt spid="212"/>
                                        </p:tgtEl>
                                        <p:attrNameLst>
                                          <p:attrName>style.visibility</p:attrName>
                                        </p:attrNameLst>
                                      </p:cBhvr>
                                      <p:to>
                                        <p:strVal val="visible"/>
                                      </p:to>
                                    </p:set>
                                    <p:animEffect transition="in" filter="wipe(left)">
                                      <p:cBhvr>
                                        <p:cTn id="164" dur="1000"/>
                                        <p:tgtEl>
                                          <p:spTgt spid="212"/>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xit" presetSubtype="4" fill="hold" grpId="1" nodeType="clickEffect">
                                  <p:stCondLst>
                                    <p:cond delay="0"/>
                                  </p:stCondLst>
                                  <p:childTnLst>
                                    <p:animEffect transition="out" filter="wipe(down)">
                                      <p:cBhvr>
                                        <p:cTn id="168" dur="500"/>
                                        <p:tgtEl>
                                          <p:spTgt spid="212"/>
                                        </p:tgtEl>
                                      </p:cBhvr>
                                    </p:animEffect>
                                    <p:set>
                                      <p:cBhvr>
                                        <p:cTn id="169" dur="1" fill="hold">
                                          <p:stCondLst>
                                            <p:cond delay="499"/>
                                          </p:stCondLst>
                                        </p:cTn>
                                        <p:tgtEl>
                                          <p:spTgt spid="212"/>
                                        </p:tgtEl>
                                        <p:attrNameLst>
                                          <p:attrName>style.visibility</p:attrName>
                                        </p:attrNameLst>
                                      </p:cBhvr>
                                      <p:to>
                                        <p:strVal val="hidden"/>
                                      </p:to>
                                    </p:set>
                                  </p:childTnLst>
                                </p:cTn>
                              </p:par>
                              <p:par>
                                <p:cTn id="170" presetID="12" presetClass="exit" presetSubtype="2" fill="hold" grpId="1" nodeType="withEffect">
                                  <p:stCondLst>
                                    <p:cond delay="0"/>
                                  </p:stCondLst>
                                  <p:childTnLst>
                                    <p:animEffect transition="out" filter="slide(fromRight)">
                                      <p:cBhvr>
                                        <p:cTn id="171" dur="1000"/>
                                        <p:tgtEl>
                                          <p:spTgt spid="136"/>
                                        </p:tgtEl>
                                      </p:cBhvr>
                                    </p:animEffect>
                                    <p:set>
                                      <p:cBhvr>
                                        <p:cTn id="172" dur="1" fill="hold">
                                          <p:stCondLst>
                                            <p:cond delay="999"/>
                                          </p:stCondLst>
                                        </p:cTn>
                                        <p:tgtEl>
                                          <p:spTgt spid="136"/>
                                        </p:tgtEl>
                                        <p:attrNameLst>
                                          <p:attrName>style.visibility</p:attrName>
                                        </p:attrNameLst>
                                      </p:cBhvr>
                                      <p:to>
                                        <p:strVal val="hidden"/>
                                      </p:to>
                                    </p:set>
                                  </p:childTnLst>
                                </p:cTn>
                              </p:par>
                              <p:par>
                                <p:cTn id="173" presetID="12" presetClass="exit" presetSubtype="2" fill="hold" nodeType="withEffect">
                                  <p:stCondLst>
                                    <p:cond delay="0"/>
                                  </p:stCondLst>
                                  <p:childTnLst>
                                    <p:animEffect transition="out" filter="slide(fromRight)">
                                      <p:cBhvr>
                                        <p:cTn id="174" dur="1000"/>
                                        <p:tgtEl>
                                          <p:spTgt spid="193"/>
                                        </p:tgtEl>
                                      </p:cBhvr>
                                    </p:animEffect>
                                    <p:set>
                                      <p:cBhvr>
                                        <p:cTn id="175" dur="1" fill="hold">
                                          <p:stCondLst>
                                            <p:cond delay="999"/>
                                          </p:stCondLst>
                                        </p:cTn>
                                        <p:tgtEl>
                                          <p:spTgt spid="193"/>
                                        </p:tgtEl>
                                        <p:attrNameLst>
                                          <p:attrName>style.visibility</p:attrName>
                                        </p:attrNameLst>
                                      </p:cBhvr>
                                      <p:to>
                                        <p:strVal val="hidden"/>
                                      </p:to>
                                    </p:set>
                                  </p:childTnLst>
                                </p:cTn>
                              </p:par>
                              <p:par>
                                <p:cTn id="176" presetID="12" presetClass="exit" presetSubtype="2" fill="hold" nodeType="withEffect">
                                  <p:stCondLst>
                                    <p:cond delay="0"/>
                                  </p:stCondLst>
                                  <p:childTnLst>
                                    <p:animEffect transition="out" filter="slide(fromRight)">
                                      <p:cBhvr>
                                        <p:cTn id="177" dur="1000"/>
                                        <p:tgtEl>
                                          <p:spTgt spid="196"/>
                                        </p:tgtEl>
                                      </p:cBhvr>
                                    </p:animEffect>
                                    <p:set>
                                      <p:cBhvr>
                                        <p:cTn id="178" dur="1" fill="hold">
                                          <p:stCondLst>
                                            <p:cond delay="999"/>
                                          </p:stCondLst>
                                        </p:cTn>
                                        <p:tgtEl>
                                          <p:spTgt spid="196"/>
                                        </p:tgtEl>
                                        <p:attrNameLst>
                                          <p:attrName>style.visibility</p:attrName>
                                        </p:attrNameLst>
                                      </p:cBhvr>
                                      <p:to>
                                        <p:strVal val="hidden"/>
                                      </p:to>
                                    </p:set>
                                  </p:childTnLst>
                                </p:cTn>
                              </p:par>
                              <p:par>
                                <p:cTn id="179" presetID="12" presetClass="exit" presetSubtype="2" fill="hold" nodeType="withEffect">
                                  <p:stCondLst>
                                    <p:cond delay="0"/>
                                  </p:stCondLst>
                                  <p:childTnLst>
                                    <p:animEffect transition="out" filter="slide(fromRight)">
                                      <p:cBhvr>
                                        <p:cTn id="180" dur="1000"/>
                                        <p:tgtEl>
                                          <p:spTgt spid="199"/>
                                        </p:tgtEl>
                                      </p:cBhvr>
                                    </p:animEffect>
                                    <p:set>
                                      <p:cBhvr>
                                        <p:cTn id="181" dur="1" fill="hold">
                                          <p:stCondLst>
                                            <p:cond delay="999"/>
                                          </p:stCondLst>
                                        </p:cTn>
                                        <p:tgtEl>
                                          <p:spTgt spid="199"/>
                                        </p:tgtEl>
                                        <p:attrNameLst>
                                          <p:attrName>style.visibility</p:attrName>
                                        </p:attrNameLst>
                                      </p:cBhvr>
                                      <p:to>
                                        <p:strVal val="hidden"/>
                                      </p:to>
                                    </p:set>
                                  </p:childTnLst>
                                </p:cTn>
                              </p:par>
                              <p:par>
                                <p:cTn id="182" presetID="12" presetClass="exit" presetSubtype="2" fill="hold" nodeType="withEffect">
                                  <p:stCondLst>
                                    <p:cond delay="0"/>
                                  </p:stCondLst>
                                  <p:childTnLst>
                                    <p:animEffect transition="out" filter="slide(fromRight)">
                                      <p:cBhvr>
                                        <p:cTn id="183" dur="1000"/>
                                        <p:tgtEl>
                                          <p:spTgt spid="202"/>
                                        </p:tgtEl>
                                      </p:cBhvr>
                                    </p:animEffect>
                                    <p:set>
                                      <p:cBhvr>
                                        <p:cTn id="184" dur="1" fill="hold">
                                          <p:stCondLst>
                                            <p:cond delay="999"/>
                                          </p:stCondLst>
                                        </p:cTn>
                                        <p:tgtEl>
                                          <p:spTgt spid="202"/>
                                        </p:tgtEl>
                                        <p:attrNameLst>
                                          <p:attrName>style.visibility</p:attrName>
                                        </p:attrNameLst>
                                      </p:cBhvr>
                                      <p:to>
                                        <p:strVal val="hidden"/>
                                      </p:to>
                                    </p:set>
                                  </p:childTnLst>
                                </p:cTn>
                              </p:par>
                              <p:par>
                                <p:cTn id="185" presetID="12" presetClass="exit" presetSubtype="2" fill="hold" nodeType="withEffect">
                                  <p:stCondLst>
                                    <p:cond delay="0"/>
                                  </p:stCondLst>
                                  <p:childTnLst>
                                    <p:animEffect transition="out" filter="slide(fromRight)">
                                      <p:cBhvr>
                                        <p:cTn id="186" dur="1000"/>
                                        <p:tgtEl>
                                          <p:spTgt spid="205"/>
                                        </p:tgtEl>
                                      </p:cBhvr>
                                    </p:animEffect>
                                    <p:set>
                                      <p:cBhvr>
                                        <p:cTn id="187" dur="1" fill="hold">
                                          <p:stCondLst>
                                            <p:cond delay="999"/>
                                          </p:stCondLst>
                                        </p:cTn>
                                        <p:tgtEl>
                                          <p:spTgt spid="205"/>
                                        </p:tgtEl>
                                        <p:attrNameLst>
                                          <p:attrName>style.visibility</p:attrName>
                                        </p:attrNameLst>
                                      </p:cBhvr>
                                      <p:to>
                                        <p:strVal val="hidden"/>
                                      </p:to>
                                    </p:set>
                                  </p:childTnLst>
                                </p:cTn>
                              </p:par>
                              <p:par>
                                <p:cTn id="188" presetID="12" presetClass="exit" presetSubtype="2" fill="hold" nodeType="withEffect">
                                  <p:stCondLst>
                                    <p:cond delay="0"/>
                                  </p:stCondLst>
                                  <p:childTnLst>
                                    <p:animEffect transition="out" filter="slide(fromRight)">
                                      <p:cBhvr>
                                        <p:cTn id="189" dur="1000"/>
                                        <p:tgtEl>
                                          <p:spTgt spid="208"/>
                                        </p:tgtEl>
                                      </p:cBhvr>
                                    </p:animEffect>
                                    <p:set>
                                      <p:cBhvr>
                                        <p:cTn id="190" dur="1" fill="hold">
                                          <p:stCondLst>
                                            <p:cond delay="999"/>
                                          </p:stCondLst>
                                        </p:cTn>
                                        <p:tgtEl>
                                          <p:spTgt spid="208"/>
                                        </p:tgtEl>
                                        <p:attrNameLst>
                                          <p:attrName>style.visibility</p:attrName>
                                        </p:attrNameLst>
                                      </p:cBhvr>
                                      <p:to>
                                        <p:strVal val="hidden"/>
                                      </p:to>
                                    </p:set>
                                  </p:childTnLst>
                                </p:cTn>
                              </p:par>
                              <p:par>
                                <p:cTn id="191" presetID="12" presetClass="exit" presetSubtype="2" fill="hold" grpId="1" nodeType="withEffect">
                                  <p:stCondLst>
                                    <p:cond delay="0"/>
                                  </p:stCondLst>
                                  <p:childTnLst>
                                    <p:animEffect transition="out" filter="slide(fromRight)">
                                      <p:cBhvr>
                                        <p:cTn id="192" dur="1000"/>
                                        <p:tgtEl>
                                          <p:spTgt spid="138"/>
                                        </p:tgtEl>
                                      </p:cBhvr>
                                    </p:animEffect>
                                    <p:set>
                                      <p:cBhvr>
                                        <p:cTn id="193" dur="1" fill="hold">
                                          <p:stCondLst>
                                            <p:cond delay="999"/>
                                          </p:stCondLst>
                                        </p:cTn>
                                        <p:tgtEl>
                                          <p:spTgt spid="138"/>
                                        </p:tgtEl>
                                        <p:attrNameLst>
                                          <p:attrName>style.visibility</p:attrName>
                                        </p:attrNameLst>
                                      </p:cBhvr>
                                      <p:to>
                                        <p:strVal val="hidden"/>
                                      </p:to>
                                    </p:set>
                                  </p:childTnLst>
                                </p:cTn>
                              </p:par>
                              <p:par>
                                <p:cTn id="194" presetID="22" presetClass="entr" presetSubtype="1" fill="hold" grpId="0" nodeType="withEffect">
                                  <p:stCondLst>
                                    <p:cond delay="0"/>
                                  </p:stCondLst>
                                  <p:childTnLst>
                                    <p:set>
                                      <p:cBhvr>
                                        <p:cTn id="195" dur="1" fill="hold">
                                          <p:stCondLst>
                                            <p:cond delay="0"/>
                                          </p:stCondLst>
                                        </p:cTn>
                                        <p:tgtEl>
                                          <p:spTgt spid="137"/>
                                        </p:tgtEl>
                                        <p:attrNameLst>
                                          <p:attrName>style.visibility</p:attrName>
                                        </p:attrNameLst>
                                      </p:cBhvr>
                                      <p:to>
                                        <p:strVal val="visible"/>
                                      </p:to>
                                    </p:set>
                                    <p:animEffect transition="in" filter="wipe(up)">
                                      <p:cBhvr>
                                        <p:cTn id="196" dur="1000"/>
                                        <p:tgtEl>
                                          <p:spTgt spid="137"/>
                                        </p:tgtEl>
                                      </p:cBhvr>
                                    </p:animEffect>
                                  </p:childTnLst>
                                </p:cTn>
                              </p:par>
                            </p:childTnLst>
                          </p:cTn>
                        </p:par>
                      </p:childTnLst>
                    </p:cTn>
                  </p:par>
                  <p:par>
                    <p:cTn id="197" fill="hold">
                      <p:stCondLst>
                        <p:cond delay="indefinite"/>
                      </p:stCondLst>
                      <p:childTnLst>
                        <p:par>
                          <p:cTn id="198" fill="hold">
                            <p:stCondLst>
                              <p:cond delay="0"/>
                            </p:stCondLst>
                            <p:childTnLst>
                              <p:par>
                                <p:cTn id="199" presetID="12" presetClass="entr" presetSubtype="4" fill="hold" nodeType="clickEffect">
                                  <p:stCondLst>
                                    <p:cond delay="0"/>
                                  </p:stCondLst>
                                  <p:childTnLst>
                                    <p:set>
                                      <p:cBhvr>
                                        <p:cTn id="200" dur="1" fill="hold">
                                          <p:stCondLst>
                                            <p:cond delay="0"/>
                                          </p:stCondLst>
                                        </p:cTn>
                                        <p:tgtEl>
                                          <p:spTgt spid="144"/>
                                        </p:tgtEl>
                                        <p:attrNameLst>
                                          <p:attrName>style.visibility</p:attrName>
                                        </p:attrNameLst>
                                      </p:cBhvr>
                                      <p:to>
                                        <p:strVal val="visible"/>
                                      </p:to>
                                    </p:set>
                                    <p:animEffect transition="in" filter="slide(fromBottom)">
                                      <p:cBhvr>
                                        <p:cTn id="201" dur="10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animBg="1"/>
      <p:bldP spid="134" grpId="1" animBg="1"/>
      <p:bldP spid="135" grpId="0" animBg="1"/>
      <p:bldP spid="135" grpId="1" animBg="1"/>
      <p:bldP spid="136" grpId="0" animBg="1"/>
      <p:bldP spid="136" grpId="1" animBg="1"/>
      <p:bldP spid="137" grpId="0" animBg="1"/>
      <p:bldP spid="138" grpId="0" animBg="1"/>
      <p:bldP spid="138" grpId="1" animBg="1"/>
      <p:bldP spid="156" grpId="0"/>
      <p:bldP spid="156" grpId="1"/>
      <p:bldP spid="157" grpId="0"/>
      <p:bldP spid="157" grpId="1"/>
      <p:bldP spid="158" grpId="0"/>
      <p:bldP spid="158" grpId="1"/>
      <p:bldP spid="159" grpId="0"/>
      <p:bldP spid="159" grpId="1"/>
      <p:bldP spid="191" grpId="0" animBg="1"/>
      <p:bldP spid="191" grpId="1" animBg="1"/>
      <p:bldP spid="192" grpId="0" animBg="1"/>
      <p:bldP spid="192" grpId="1" animBg="1"/>
      <p:bldP spid="211" grpId="0" animBg="1"/>
      <p:bldP spid="211" grpId="1" animBg="1"/>
      <p:bldP spid="212" grpId="0" animBg="1"/>
      <p:bldP spid="212" grpId="1"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p:nvPr/>
        </p:nvGrpSpPr>
        <p:grpSpPr>
          <a:xfrm>
            <a:off x="392432" y="735720"/>
            <a:ext cx="6322066" cy="420971"/>
            <a:chOff x="670560" y="892917"/>
            <a:chExt cx="6322066" cy="420971"/>
          </a:xfrm>
        </p:grpSpPr>
        <p:sp>
          <p:nvSpPr>
            <p:cNvPr id="36" name="矩形 35"/>
            <p:cNvSpPr/>
            <p:nvPr/>
          </p:nvSpPr>
          <p:spPr>
            <a:xfrm>
              <a:off x="1035231" y="913778"/>
              <a:ext cx="5957395"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集成计数器的应用</a:t>
              </a:r>
              <a:r>
                <a:rPr lang="en-US" altLang="zh-CN" sz="2000" b="1" dirty="0">
                  <a:solidFill>
                    <a:srgbClr val="002060"/>
                  </a:solidFill>
                  <a:latin typeface="微软雅黑" panose="020B0503020204020204" pitchFamily="34" charset="-122"/>
                  <a:ea typeface="微软雅黑" panose="020B0503020204020204" pitchFamily="34" charset="-122"/>
                </a:rPr>
                <a:t>——</a:t>
              </a:r>
              <a:r>
                <a:rPr lang="zh-CN" altLang="en-US" sz="2000" b="1" dirty="0">
                  <a:solidFill>
                    <a:srgbClr val="002060"/>
                  </a:solidFill>
                  <a:latin typeface="微软雅黑" panose="020B0503020204020204" pitchFamily="34" charset="-122"/>
                  <a:ea typeface="微软雅黑" panose="020B0503020204020204" pitchFamily="34" charset="-122"/>
                </a:rPr>
                <a:t>构成任意进制计数器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7"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3" name="组合 45"/>
          <p:cNvGrpSpPr/>
          <p:nvPr/>
        </p:nvGrpSpPr>
        <p:grpSpPr>
          <a:xfrm>
            <a:off x="3310890" y="1320470"/>
            <a:ext cx="2240280" cy="1107685"/>
            <a:chOff x="3169920" y="2065020"/>
            <a:chExt cx="2240280" cy="1249680"/>
          </a:xfrm>
        </p:grpSpPr>
        <p:sp>
          <p:nvSpPr>
            <p:cNvPr id="44" name="圆角矩形 43"/>
            <p:cNvSpPr/>
            <p:nvPr/>
          </p:nvSpPr>
          <p:spPr>
            <a:xfrm>
              <a:off x="3169920" y="2065020"/>
              <a:ext cx="2240280" cy="1249680"/>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进制集成计数器</a:t>
              </a:r>
              <a:endParaRPr lang="en-US" altLang="zh-CN" sz="1600" dirty="0">
                <a:latin typeface="微软雅黑" panose="020B0503020204020204" pitchFamily="34" charset="-122"/>
                <a:ea typeface="微软雅黑" panose="020B0503020204020204" pitchFamily="34" charset="-122"/>
              </a:endParaRPr>
            </a:p>
            <a:p>
              <a:pPr algn="ctr"/>
              <a:endParaRPr lang="en-US" altLang="zh-CN" sz="1600" dirty="0">
                <a:latin typeface="微软雅黑" panose="020B0503020204020204" pitchFamily="34" charset="-122"/>
                <a:ea typeface="微软雅黑" panose="020B0503020204020204" pitchFamily="34" charset="-122"/>
              </a:endParaRPr>
            </a:p>
            <a:p>
              <a:pPr algn="ctr"/>
              <a:endParaRPr lang="en-US" altLang="zh-CN" sz="1600" dirty="0">
                <a:latin typeface="微软雅黑" panose="020B0503020204020204" pitchFamily="34" charset="-122"/>
                <a:ea typeface="微软雅黑" panose="020B0503020204020204" pitchFamily="34" charset="-122"/>
              </a:endParaRPr>
            </a:p>
            <a:p>
              <a:pPr algn="ct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进制计数器</a:t>
              </a:r>
              <a:endParaRPr lang="zh-CN" altLang="en-US" sz="1600" dirty="0"/>
            </a:p>
          </p:txBody>
        </p:sp>
        <p:sp>
          <p:nvSpPr>
            <p:cNvPr id="45" name="下箭头 44"/>
            <p:cNvSpPr/>
            <p:nvPr/>
          </p:nvSpPr>
          <p:spPr>
            <a:xfrm>
              <a:off x="4047744" y="2476500"/>
              <a:ext cx="484632" cy="434340"/>
            </a:xfrm>
            <a:prstGeom prst="downArrow">
              <a:avLst/>
            </a:prstGeom>
            <a:solidFill>
              <a:srgbClr val="FFFF00"/>
            </a:solidFill>
            <a:ln>
              <a:solidFill>
                <a:srgbClr val="FFFF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47" name="右箭头 46"/>
          <p:cNvSpPr/>
          <p:nvPr/>
        </p:nvSpPr>
        <p:spPr>
          <a:xfrm flipH="1">
            <a:off x="2244471" y="1530020"/>
            <a:ext cx="1016508" cy="736205"/>
          </a:xfrm>
          <a:prstGeom prst="rightArrow">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coolSlant"/>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M&gt;N</a:t>
            </a:r>
            <a:endParaRPr lang="zh-CN" altLang="en-US" sz="1600" dirty="0"/>
          </a:p>
        </p:txBody>
      </p:sp>
      <p:sp>
        <p:nvSpPr>
          <p:cNvPr id="49" name="圆角矩形 48"/>
          <p:cNvSpPr/>
          <p:nvPr/>
        </p:nvSpPr>
        <p:spPr>
          <a:xfrm>
            <a:off x="830580" y="1320470"/>
            <a:ext cx="1368000" cy="1107685"/>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只需一个</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进制集成计数器</a:t>
            </a:r>
            <a:endParaRPr lang="zh-CN" altLang="en-US" sz="1600" dirty="0">
              <a:latin typeface="微软雅黑" panose="020B0503020204020204" pitchFamily="34" charset="-122"/>
              <a:ea typeface="微软雅黑" panose="020B0503020204020204" pitchFamily="34" charset="-122"/>
            </a:endParaRPr>
          </a:p>
        </p:txBody>
      </p:sp>
      <p:sp>
        <p:nvSpPr>
          <p:cNvPr id="51" name="右箭头 50"/>
          <p:cNvSpPr/>
          <p:nvPr/>
        </p:nvSpPr>
        <p:spPr>
          <a:xfrm>
            <a:off x="5593461" y="1530020"/>
            <a:ext cx="1016508" cy="736205"/>
          </a:xfrm>
          <a:prstGeom prst="rightArrow">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coolSlant"/>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M&lt;N</a:t>
            </a:r>
            <a:endParaRPr lang="zh-CN" altLang="en-US" sz="1600" dirty="0"/>
          </a:p>
        </p:txBody>
      </p:sp>
      <p:sp>
        <p:nvSpPr>
          <p:cNvPr id="52" name="圆角矩形 51"/>
          <p:cNvSpPr/>
          <p:nvPr/>
        </p:nvSpPr>
        <p:spPr>
          <a:xfrm flipH="1">
            <a:off x="6667500" y="1320470"/>
            <a:ext cx="1368000" cy="1107685"/>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需要多个</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进制集成计数器</a:t>
            </a:r>
            <a:endParaRPr lang="zh-CN" altLang="en-US" sz="1600" dirty="0">
              <a:latin typeface="微软雅黑" panose="020B0503020204020204" pitchFamily="34" charset="-122"/>
              <a:ea typeface="微软雅黑" panose="020B0503020204020204" pitchFamily="34" charset="-122"/>
            </a:endParaRPr>
          </a:p>
        </p:txBody>
      </p:sp>
      <p:grpSp>
        <p:nvGrpSpPr>
          <p:cNvPr id="4" name="组合 11"/>
          <p:cNvGrpSpPr/>
          <p:nvPr/>
        </p:nvGrpSpPr>
        <p:grpSpPr>
          <a:xfrm>
            <a:off x="2345369" y="2806272"/>
            <a:ext cx="4107566" cy="411608"/>
            <a:chOff x="2323716" y="2529712"/>
            <a:chExt cx="3643256" cy="411608"/>
          </a:xfrm>
        </p:grpSpPr>
        <p:sp>
          <p:nvSpPr>
            <p:cNvPr id="13" name="圆角矩形 12"/>
            <p:cNvSpPr/>
            <p:nvPr/>
          </p:nvSpPr>
          <p:spPr>
            <a:xfrm>
              <a:off x="2323716" y="2545080"/>
              <a:ext cx="1379220" cy="396240"/>
            </a:xfrm>
            <a:prstGeom prst="roundRect">
              <a:avLst/>
            </a:prstGeom>
            <a:solidFill>
              <a:srgbClr val="FFFF00"/>
            </a:solidFill>
            <a:ln>
              <a:solidFill>
                <a:srgbClr val="0000FF"/>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FF0000"/>
                  </a:solidFill>
                  <a:latin typeface="微软雅黑" panose="020B0503020204020204" pitchFamily="34" charset="-122"/>
                  <a:ea typeface="微软雅黑" panose="020B0503020204020204" pitchFamily="34" charset="-122"/>
                </a:rPr>
                <a:t>反馈清零法</a:t>
              </a:r>
              <a:endParaRPr lang="zh-CN" altLang="en-US" dirty="0"/>
            </a:p>
          </p:txBody>
        </p:sp>
        <p:sp>
          <p:nvSpPr>
            <p:cNvPr id="14" name="圆角矩形 13"/>
            <p:cNvSpPr/>
            <p:nvPr/>
          </p:nvSpPr>
          <p:spPr>
            <a:xfrm>
              <a:off x="4587752" y="2529712"/>
              <a:ext cx="1379220" cy="396240"/>
            </a:xfrm>
            <a:prstGeom prst="roundRect">
              <a:avLst/>
            </a:prstGeom>
            <a:solidFill>
              <a:srgbClr val="FFFF00"/>
            </a:solidFill>
            <a:ln>
              <a:solidFill>
                <a:srgbClr val="0000FF"/>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FF0000"/>
                  </a:solidFill>
                  <a:latin typeface="微软雅黑" panose="020B0503020204020204" pitchFamily="34" charset="-122"/>
                  <a:ea typeface="微软雅黑" panose="020B0503020204020204" pitchFamily="34" charset="-122"/>
                </a:rPr>
                <a:t>反馈置数法</a:t>
              </a:r>
              <a:endParaRPr lang="zh-CN" altLang="en-US" dirty="0"/>
            </a:p>
          </p:txBody>
        </p:sp>
        <p:sp>
          <p:nvSpPr>
            <p:cNvPr id="15" name="左右箭头 14"/>
            <p:cNvSpPr/>
            <p:nvPr/>
          </p:nvSpPr>
          <p:spPr>
            <a:xfrm>
              <a:off x="3771900" y="2606040"/>
              <a:ext cx="739140" cy="256032"/>
            </a:xfrm>
            <a:prstGeom prst="leftRightArrow">
              <a:avLst/>
            </a:prstGeom>
            <a:solidFill>
              <a:srgbClr val="FF0000"/>
            </a:solidFill>
            <a:ln w="28575">
              <a:solidFill>
                <a:srgbClr val="0000FF"/>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圆角矩形标注 15"/>
          <p:cNvSpPr/>
          <p:nvPr/>
        </p:nvSpPr>
        <p:spPr>
          <a:xfrm>
            <a:off x="1144921" y="3438092"/>
            <a:ext cx="3348000" cy="468000"/>
          </a:xfrm>
          <a:prstGeom prst="wedgeRoundRectCallout">
            <a:avLst>
              <a:gd name="adj1" fmla="val -388"/>
              <a:gd name="adj2" fmla="val -90538"/>
              <a:gd name="adj3" fmla="val 16667"/>
            </a:avLst>
          </a:prstGeom>
          <a:solidFill>
            <a:srgbClr val="0070C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600" dirty="0">
                <a:latin typeface="微软雅黑" panose="020B0503020204020204" pitchFamily="34" charset="-122"/>
                <a:ea typeface="微软雅黑" panose="020B0503020204020204" pitchFamily="34" charset="-122"/>
              </a:rPr>
              <a:t>适用于有清零功能的集成计数器</a:t>
            </a:r>
            <a:endParaRPr lang="zh-CN" altLang="en-US" sz="1600" dirty="0">
              <a:latin typeface="微软雅黑" panose="020B0503020204020204" pitchFamily="34" charset="-122"/>
              <a:ea typeface="微软雅黑" panose="020B0503020204020204" pitchFamily="34" charset="-122"/>
            </a:endParaRPr>
          </a:p>
        </p:txBody>
      </p:sp>
      <p:sp>
        <p:nvSpPr>
          <p:cNvPr id="17" name="圆角矩形标注 16"/>
          <p:cNvSpPr/>
          <p:nvPr/>
        </p:nvSpPr>
        <p:spPr>
          <a:xfrm>
            <a:off x="4748735" y="3421443"/>
            <a:ext cx="3528000" cy="468000"/>
          </a:xfrm>
          <a:prstGeom prst="wedgeRoundRectCallout">
            <a:avLst>
              <a:gd name="adj1" fmla="val -27030"/>
              <a:gd name="adj2" fmla="val -95347"/>
              <a:gd name="adj3" fmla="val 16667"/>
            </a:avLst>
          </a:prstGeom>
          <a:solidFill>
            <a:srgbClr val="0070C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600" dirty="0">
                <a:latin typeface="微软雅黑" panose="020B0503020204020204" pitchFamily="34" charset="-122"/>
                <a:ea typeface="微软雅黑" panose="020B0503020204020204" pitchFamily="34" charset="-122"/>
              </a:rPr>
              <a:t>适用于有</a:t>
            </a:r>
            <a:r>
              <a:rPr lang="zh-CN" altLang="en-US" sz="1600" dirty="0">
                <a:latin typeface="微软雅黑" panose="020B0503020204020204" pitchFamily="34" charset="-122"/>
                <a:ea typeface="微软雅黑" panose="020B0503020204020204" pitchFamily="34" charset="-122"/>
              </a:rPr>
              <a:t>并行置数</a:t>
            </a:r>
            <a:r>
              <a:rPr lang="zh-CN" altLang="zh-CN" sz="1600" dirty="0">
                <a:latin typeface="微软雅黑" panose="020B0503020204020204" pitchFamily="34" charset="-122"/>
                <a:ea typeface="微软雅黑" panose="020B0503020204020204" pitchFamily="34" charset="-122"/>
              </a:rPr>
              <a:t>功能的集成计数器</a:t>
            </a:r>
            <a:endParaRPr lang="zh-CN" altLang="en-US" sz="1600" dirty="0">
              <a:latin typeface="微软雅黑" panose="020B0503020204020204" pitchFamily="34" charset="-122"/>
              <a:ea typeface="微软雅黑" panose="020B0503020204020204" pitchFamily="34" charset="-122"/>
            </a:endParaRPr>
          </a:p>
        </p:txBody>
      </p:sp>
      <p:sp>
        <p:nvSpPr>
          <p:cNvPr id="18" name="下箭头 17"/>
          <p:cNvSpPr/>
          <p:nvPr/>
        </p:nvSpPr>
        <p:spPr>
          <a:xfrm>
            <a:off x="2712463" y="3918857"/>
            <a:ext cx="484632" cy="31504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18"/>
          <p:cNvSpPr/>
          <p:nvPr/>
        </p:nvSpPr>
        <p:spPr>
          <a:xfrm>
            <a:off x="1052713" y="4256955"/>
            <a:ext cx="3496235" cy="822191"/>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在计数过程中利用某个状态产生清零信号对计数器清零并从清零后的状态重新开始新的计数周期。</a:t>
            </a:r>
            <a:endParaRPr lang="zh-CN" altLang="en-US" sz="1600" dirty="0">
              <a:latin typeface="微软雅黑" panose="020B0503020204020204" pitchFamily="34" charset="-122"/>
              <a:ea typeface="微软雅黑" panose="020B0503020204020204" pitchFamily="34" charset="-122"/>
            </a:endParaRPr>
          </a:p>
        </p:txBody>
      </p:sp>
      <p:sp>
        <p:nvSpPr>
          <p:cNvPr id="20" name="下箭头 19"/>
          <p:cNvSpPr/>
          <p:nvPr/>
        </p:nvSpPr>
        <p:spPr>
          <a:xfrm>
            <a:off x="6084473" y="3909893"/>
            <a:ext cx="484632" cy="31504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20"/>
          <p:cNvSpPr/>
          <p:nvPr/>
        </p:nvSpPr>
        <p:spPr>
          <a:xfrm>
            <a:off x="4716716" y="4247991"/>
            <a:ext cx="3574356" cy="822191"/>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在计数过程中利用某个状态产生并行置数信号对计数器进行置数并从置数后的状态重新开始新的计数周期。</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1000"/>
                                        <p:tgtEl>
                                          <p:spTgt spid="2"/>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1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2" fill="hold" grpId="0" nodeType="click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slide(fromRight)">
                                      <p:cBhvr>
                                        <p:cTn id="16" dur="1000"/>
                                        <p:tgtEl>
                                          <p:spTgt spid="47"/>
                                        </p:tgtEl>
                                      </p:cBhvr>
                                    </p:animEffect>
                                  </p:childTnLst>
                                </p:cTn>
                              </p:par>
                            </p:childTnLst>
                          </p:cTn>
                        </p:par>
                        <p:par>
                          <p:cTn id="17" fill="hold">
                            <p:stCondLst>
                              <p:cond delay="1000"/>
                            </p:stCondLst>
                            <p:childTnLst>
                              <p:par>
                                <p:cTn id="18" presetID="12" presetClass="entr" presetSubtype="2" fill="hold" grpId="0" nodeType="after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slide(fromRight)">
                                      <p:cBhvr>
                                        <p:cTn id="20" dur="1000"/>
                                        <p:tgtEl>
                                          <p:spTgt spid="49"/>
                                        </p:tgtEl>
                                      </p:cBhvr>
                                    </p:animEffect>
                                  </p:childTnLst>
                                </p:cTn>
                              </p:par>
                            </p:childTnLst>
                          </p:cTn>
                        </p:par>
                        <p:par>
                          <p:cTn id="21" fill="hold">
                            <p:stCondLst>
                              <p:cond delay="2000"/>
                            </p:stCondLst>
                            <p:childTnLst>
                              <p:par>
                                <p:cTn id="22" presetID="12" presetClass="entr" presetSubtype="8" fill="hold" grpId="0" nodeType="afterEffect">
                                  <p:stCondLst>
                                    <p:cond delay="0"/>
                                  </p:stCondLst>
                                  <p:childTnLst>
                                    <p:set>
                                      <p:cBhvr>
                                        <p:cTn id="23" dur="1" fill="hold">
                                          <p:stCondLst>
                                            <p:cond delay="0"/>
                                          </p:stCondLst>
                                        </p:cTn>
                                        <p:tgtEl>
                                          <p:spTgt spid="51"/>
                                        </p:tgtEl>
                                        <p:attrNameLst>
                                          <p:attrName>style.visibility</p:attrName>
                                        </p:attrNameLst>
                                      </p:cBhvr>
                                      <p:to>
                                        <p:strVal val="visible"/>
                                      </p:to>
                                    </p:set>
                                    <p:animEffect transition="in" filter="slide(fromLeft)">
                                      <p:cBhvr>
                                        <p:cTn id="24" dur="1000"/>
                                        <p:tgtEl>
                                          <p:spTgt spid="51"/>
                                        </p:tgtEl>
                                      </p:cBhvr>
                                    </p:animEffect>
                                  </p:childTnLst>
                                </p:cTn>
                              </p:par>
                            </p:childTnLst>
                          </p:cTn>
                        </p:par>
                        <p:par>
                          <p:cTn id="25" fill="hold">
                            <p:stCondLst>
                              <p:cond delay="3000"/>
                            </p:stCondLst>
                            <p:childTnLst>
                              <p:par>
                                <p:cTn id="26" presetID="12" presetClass="entr" presetSubtype="8" fill="hold" grpId="0" nodeType="after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slide(fromLeft)">
                                      <p:cBhvr>
                                        <p:cTn id="28" dur="1000"/>
                                        <p:tgtEl>
                                          <p:spTgt spid="52"/>
                                        </p:tgtEl>
                                      </p:cBhvr>
                                    </p:animEffect>
                                  </p:childTnLst>
                                </p:cTn>
                              </p:par>
                            </p:childTnLst>
                          </p:cTn>
                        </p:par>
                      </p:childTnLst>
                    </p:cTn>
                  </p:par>
                  <p:par>
                    <p:cTn id="29" fill="hold">
                      <p:stCondLst>
                        <p:cond delay="indefinite"/>
                      </p:stCondLst>
                      <p:childTnLst>
                        <p:par>
                          <p:cTn id="30" fill="hold">
                            <p:stCondLst>
                              <p:cond delay="0"/>
                            </p:stCondLst>
                            <p:childTnLst>
                              <p:par>
                                <p:cTn id="31" presetID="17" presetClass="entr" presetSubtype="1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1000" fill="hold"/>
                                        <p:tgtEl>
                                          <p:spTgt spid="4"/>
                                        </p:tgtEl>
                                        <p:attrNameLst>
                                          <p:attrName>ppt_w</p:attrName>
                                        </p:attrNameLst>
                                      </p:cBhvr>
                                      <p:tavLst>
                                        <p:tav tm="0">
                                          <p:val>
                                            <p:fltVal val="0"/>
                                          </p:val>
                                        </p:tav>
                                        <p:tav tm="100000">
                                          <p:val>
                                            <p:strVal val="#ppt_w"/>
                                          </p:val>
                                        </p:tav>
                                      </p:tavLst>
                                    </p:anim>
                                    <p:anim calcmode="lin" valueType="num">
                                      <p:cBhvr>
                                        <p:cTn id="34" dur="1000" fill="hold"/>
                                        <p:tgtEl>
                                          <p:spTgt spid="4"/>
                                        </p:tgtEl>
                                        <p:attrNameLst>
                                          <p:attrName>ppt_h</p:attrName>
                                        </p:attrNameLst>
                                      </p:cBhvr>
                                      <p:tavLst>
                                        <p:tav tm="0">
                                          <p:val>
                                            <p:strVal val="#ppt_h"/>
                                          </p:val>
                                        </p:tav>
                                        <p:tav tm="100000">
                                          <p:val>
                                            <p:strVal val="#ppt_h"/>
                                          </p:val>
                                        </p:tav>
                                      </p:tavLst>
                                    </p:anim>
                                  </p:childTnLst>
                                </p:cTn>
                              </p:par>
                            </p:childTnLst>
                          </p:cTn>
                        </p:par>
                        <p:par>
                          <p:cTn id="35" fill="hold">
                            <p:stCondLst>
                              <p:cond delay="1000"/>
                            </p:stCondLst>
                            <p:childTnLst>
                              <p:par>
                                <p:cTn id="36" presetID="22" presetClass="entr" presetSubtype="1"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up)">
                                      <p:cBhvr>
                                        <p:cTn id="38" dur="1000"/>
                                        <p:tgtEl>
                                          <p:spTgt spid="16"/>
                                        </p:tgtEl>
                                      </p:cBhvr>
                                    </p:animEffect>
                                  </p:childTnLst>
                                </p:cTn>
                              </p:par>
                            </p:childTnLst>
                          </p:cTn>
                        </p:par>
                        <p:par>
                          <p:cTn id="39" fill="hold">
                            <p:stCondLst>
                              <p:cond delay="2000"/>
                            </p:stCondLst>
                            <p:childTnLst>
                              <p:par>
                                <p:cTn id="40" presetID="12" presetClass="entr" presetSubtype="1" fill="hold" grpId="0"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slide(fromTop)">
                                      <p:cBhvr>
                                        <p:cTn id="42" dur="1000"/>
                                        <p:tgtEl>
                                          <p:spTgt spid="18"/>
                                        </p:tgtEl>
                                      </p:cBhvr>
                                    </p:animEffect>
                                  </p:childTnLst>
                                </p:cTn>
                              </p:par>
                            </p:childTnLst>
                          </p:cTn>
                        </p:par>
                        <p:par>
                          <p:cTn id="43" fill="hold">
                            <p:stCondLst>
                              <p:cond delay="3000"/>
                            </p:stCondLst>
                            <p:childTnLst>
                              <p:par>
                                <p:cTn id="44" presetID="12" presetClass="entr" presetSubtype="1" fill="hold" grpId="0"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slide(fromTop)">
                                      <p:cBhvr>
                                        <p:cTn id="46" dur="1000"/>
                                        <p:tgtEl>
                                          <p:spTgt spid="1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ipe(up)">
                                      <p:cBhvr>
                                        <p:cTn id="51" dur="1000"/>
                                        <p:tgtEl>
                                          <p:spTgt spid="17"/>
                                        </p:tgtEl>
                                      </p:cBhvr>
                                    </p:animEffect>
                                  </p:childTnLst>
                                </p:cTn>
                              </p:par>
                            </p:childTnLst>
                          </p:cTn>
                        </p:par>
                        <p:par>
                          <p:cTn id="52" fill="hold">
                            <p:stCondLst>
                              <p:cond delay="1000"/>
                            </p:stCondLst>
                            <p:childTnLst>
                              <p:par>
                                <p:cTn id="53" presetID="12" presetClass="entr" presetSubtype="1" fill="hold" grpId="0"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slide(fromTop)">
                                      <p:cBhvr>
                                        <p:cTn id="55" dur="1000"/>
                                        <p:tgtEl>
                                          <p:spTgt spid="20"/>
                                        </p:tgtEl>
                                      </p:cBhvr>
                                    </p:animEffect>
                                  </p:childTnLst>
                                </p:cTn>
                              </p:par>
                            </p:childTnLst>
                          </p:cTn>
                        </p:par>
                        <p:par>
                          <p:cTn id="56" fill="hold">
                            <p:stCondLst>
                              <p:cond delay="2000"/>
                            </p:stCondLst>
                            <p:childTnLst>
                              <p:par>
                                <p:cTn id="57" presetID="12" presetClass="entr" presetSubtype="1" fill="hold" grpId="0"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slide(fromTop)">
                                      <p:cBhvr>
                                        <p:cTn id="59"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9" grpId="0" animBg="1"/>
      <p:bldP spid="51" grpId="0" animBg="1"/>
      <p:bldP spid="52" grpId="0" animBg="1"/>
      <p:bldP spid="16" grpId="0" animBg="1"/>
      <p:bldP spid="17" grpId="0" animBg="1"/>
      <p:bldP spid="18" grpId="0" animBg="1"/>
      <p:bldP spid="19" grpId="0" animBg="1"/>
      <p:bldP spid="20" grpId="0" animBg="1"/>
      <p:bldP spid="21"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81"/>
          <p:cNvGrpSpPr/>
          <p:nvPr/>
        </p:nvGrpSpPr>
        <p:grpSpPr>
          <a:xfrm>
            <a:off x="400819" y="1294531"/>
            <a:ext cx="6128271" cy="374630"/>
            <a:chOff x="369777" y="1347760"/>
            <a:chExt cx="6128271" cy="374630"/>
          </a:xfrm>
        </p:grpSpPr>
        <p:sp>
          <p:nvSpPr>
            <p:cNvPr id="7" name="TextBox 83"/>
            <p:cNvSpPr txBox="1"/>
            <p:nvPr/>
          </p:nvSpPr>
          <p:spPr>
            <a:xfrm>
              <a:off x="723710" y="1350409"/>
              <a:ext cx="5774338" cy="369332"/>
            </a:xfrm>
            <a:prstGeom prst="rect">
              <a:avLst/>
            </a:prstGeom>
            <a:noFill/>
          </p:spPr>
          <p:txBody>
            <a:bodyPr wrap="none" rtlCol="0">
              <a:spAutoFit/>
            </a:bodyPr>
            <a:lstStyle/>
            <a:p>
              <a:pPr lvl="0"/>
              <a:r>
                <a:rPr lang="zh-CN" altLang="en-US"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例：</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用</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74LVC161/163</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构成模为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的十进制加法计数器。</a:t>
              </a:r>
              <a:endPar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8" name="Picture 4"/>
            <p:cNvPicPr>
              <a:picLocks noChangeAspect="1" noChangeArrowheads="1"/>
            </p:cNvPicPr>
            <p:nvPr/>
          </p:nvPicPr>
          <p:blipFill>
            <a:blip r:embed="rId1"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9" name="组合 87"/>
          <p:cNvGrpSpPr/>
          <p:nvPr/>
        </p:nvGrpSpPr>
        <p:grpSpPr>
          <a:xfrm>
            <a:off x="407493" y="1779845"/>
            <a:ext cx="8269008" cy="615553"/>
            <a:chOff x="4330854" y="1354964"/>
            <a:chExt cx="8269008" cy="615553"/>
          </a:xfrm>
        </p:grpSpPr>
        <p:sp>
          <p:nvSpPr>
            <p:cNvPr id="10" name="矩形 9"/>
            <p:cNvSpPr/>
            <p:nvPr/>
          </p:nvSpPr>
          <p:spPr>
            <a:xfrm>
              <a:off x="4637499" y="1354964"/>
              <a:ext cx="7962363" cy="615553"/>
            </a:xfrm>
            <a:prstGeom prst="rect">
              <a:avLst/>
            </a:prstGeom>
          </p:spPr>
          <p:txBody>
            <a:bodyPr wrap="square">
              <a:spAutoFit/>
            </a:bodyPr>
            <a:lstStyle/>
            <a:p>
              <a:pPr marL="358775" indent="-358775"/>
              <a:r>
                <a:rPr lang="zh-CN" altLang="en-US"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进制计数器应有</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个状态，而</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74LVC161/163</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在计数过程中有</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16</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个状态。设法跳过多余的</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个状态，则可实现模</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计数器。</a:t>
              </a:r>
              <a:endParaRPr lang="zh-CN" altLang="en-US" sz="1600"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1" name="Picture 5"/>
            <p:cNvPicPr>
              <a:picLocks noChangeAspect="1" noChangeArrowheads="1"/>
            </p:cNvPicPr>
            <p:nvPr/>
          </p:nvPicPr>
          <p:blipFill>
            <a:blip r:embed="rId2" cstate="print"/>
            <a:srcRect/>
            <a:stretch>
              <a:fillRect/>
            </a:stretch>
          </p:blipFill>
          <p:spPr bwMode="auto">
            <a:xfrm>
              <a:off x="4330854" y="1369617"/>
              <a:ext cx="348489" cy="340027"/>
            </a:xfrm>
            <a:prstGeom prst="rect">
              <a:avLst/>
            </a:prstGeom>
            <a:noFill/>
            <a:ln w="9525">
              <a:noFill/>
              <a:miter lim="800000"/>
              <a:headEnd/>
              <a:tailEnd/>
            </a:ln>
          </p:spPr>
        </p:pic>
      </p:grpSp>
      <p:sp>
        <p:nvSpPr>
          <p:cNvPr id="30" name="圆角矩形 29"/>
          <p:cNvSpPr/>
          <p:nvPr/>
        </p:nvSpPr>
        <p:spPr>
          <a:xfrm>
            <a:off x="458420" y="2867796"/>
            <a:ext cx="511436" cy="1827199"/>
          </a:xfrm>
          <a:prstGeom prst="roundRect">
            <a:avLst/>
          </a:prstGeom>
          <a:solidFill>
            <a:srgbClr val="FFFF00"/>
          </a:solidFill>
          <a:ln w="19050">
            <a:solidFill>
              <a:srgbClr val="0000FF"/>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反馈清零法</a:t>
            </a:r>
            <a:endParaRPr lang="zh-CN" altLang="en-US" dirty="0">
              <a:latin typeface="Times New Roman" panose="02020603050405020304" pitchFamily="18" charset="0"/>
              <a:cs typeface="Times New Roman" panose="02020603050405020304" pitchFamily="18" charset="0"/>
            </a:endParaRPr>
          </a:p>
        </p:txBody>
      </p:sp>
      <p:grpSp>
        <p:nvGrpSpPr>
          <p:cNvPr id="31" name="组合 34"/>
          <p:cNvGrpSpPr/>
          <p:nvPr/>
        </p:nvGrpSpPr>
        <p:grpSpPr>
          <a:xfrm>
            <a:off x="392432" y="735720"/>
            <a:ext cx="6649115" cy="420971"/>
            <a:chOff x="670560" y="892917"/>
            <a:chExt cx="6649115" cy="420971"/>
          </a:xfrm>
        </p:grpSpPr>
        <p:sp>
          <p:nvSpPr>
            <p:cNvPr id="32" name="矩形 31"/>
            <p:cNvSpPr/>
            <p:nvPr/>
          </p:nvSpPr>
          <p:spPr>
            <a:xfrm>
              <a:off x="1035231" y="913778"/>
              <a:ext cx="6284444" cy="400110"/>
            </a:xfrm>
            <a:prstGeom prst="rect">
              <a:avLst/>
            </a:prstGeom>
          </p:spPr>
          <p:txBody>
            <a:bodyPr wrap="square">
              <a:spAutoFit/>
            </a:bodyPr>
            <a:lstStyle/>
            <a:p>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集成计数器的应用</a:t>
              </a:r>
              <a:r>
                <a:rPr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构成任意进制计数器</a:t>
              </a:r>
              <a:r>
                <a:rPr lang="en-US" altLang="zh-CN" sz="20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(M&gt;N)</a:t>
              </a:r>
              <a:endPar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3"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91" name="AutoShape 17"/>
          <p:cNvSpPr>
            <a:spLocks noChangeArrowheads="1"/>
          </p:cNvSpPr>
          <p:nvPr/>
        </p:nvSpPr>
        <p:spPr bwMode="auto">
          <a:xfrm>
            <a:off x="1044664" y="4565723"/>
            <a:ext cx="1101562" cy="460180"/>
          </a:xfrm>
          <a:prstGeom prst="wedgeRoundRectCallout">
            <a:avLst>
              <a:gd name="adj1" fmla="val -3280"/>
              <a:gd name="adj2" fmla="val -113451"/>
              <a:gd name="adj3" fmla="val 16667"/>
            </a:avLst>
          </a:prstGeom>
          <a:solidFill>
            <a:srgbClr val="FFFF66"/>
          </a:solidFill>
          <a:ln w="19050" algn="ctr">
            <a:solidFill>
              <a:srgbClr val="FF0000"/>
            </a:solidFill>
            <a:miter lim="800000"/>
          </a:ln>
        </p:spPr>
        <p:txBody>
          <a:bodyPr lIns="0" rIns="0" anchor="ctr"/>
          <a:lstStyle/>
          <a:p>
            <a:pPr algn="ct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瞬间存在</a:t>
            </a:r>
            <a:endPar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过渡状态</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33" name="组合 132"/>
          <p:cNvGrpSpPr/>
          <p:nvPr/>
        </p:nvGrpSpPr>
        <p:grpSpPr>
          <a:xfrm>
            <a:off x="1245029" y="2898651"/>
            <a:ext cx="3892643" cy="1644200"/>
            <a:chOff x="1245029" y="2738470"/>
            <a:chExt cx="3892643" cy="1644200"/>
          </a:xfrm>
        </p:grpSpPr>
        <p:sp>
          <p:nvSpPr>
            <p:cNvPr id="40" name="椭圆 39"/>
            <p:cNvSpPr/>
            <p:nvPr/>
          </p:nvSpPr>
          <p:spPr>
            <a:xfrm>
              <a:off x="1455891" y="3741659"/>
              <a:ext cx="360000" cy="360000"/>
            </a:xfrm>
            <a:prstGeom prst="ellipse">
              <a:avLst/>
            </a:prstGeom>
            <a:solidFill>
              <a:schemeClr val="bg1"/>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1010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41" name="直接箭头连接符 40"/>
            <p:cNvCxnSpPr>
              <a:stCxn id="108" idx="0"/>
              <a:endCxn id="58" idx="4"/>
            </p:cNvCxnSpPr>
            <p:nvPr/>
          </p:nvCxnSpPr>
          <p:spPr>
            <a:xfrm flipV="1">
              <a:off x="2254899" y="3763862"/>
              <a:ext cx="0" cy="258808"/>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50" idx="4"/>
              <a:endCxn id="103" idx="0"/>
            </p:cNvCxnSpPr>
            <p:nvPr/>
          </p:nvCxnSpPr>
          <p:spPr>
            <a:xfrm>
              <a:off x="4957672" y="3763862"/>
              <a:ext cx="0" cy="258808"/>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nvGrpSpPr>
            <p:cNvPr id="132" name="组合 131"/>
            <p:cNvGrpSpPr/>
            <p:nvPr/>
          </p:nvGrpSpPr>
          <p:grpSpPr>
            <a:xfrm>
              <a:off x="1245029" y="2738470"/>
              <a:ext cx="919313" cy="612000"/>
              <a:chOff x="1245029" y="2738470"/>
              <a:chExt cx="919313" cy="612000"/>
            </a:xfrm>
          </p:grpSpPr>
          <p:sp>
            <p:nvSpPr>
              <p:cNvPr id="37" name="椭圆 36"/>
              <p:cNvSpPr/>
              <p:nvPr/>
            </p:nvSpPr>
            <p:spPr>
              <a:xfrm>
                <a:off x="1245029" y="2738470"/>
                <a:ext cx="612000" cy="61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Q</a:t>
                </a:r>
                <a:r>
                  <a:rPr lang="en-US" altLang="zh-CN" sz="1000" b="1" baseline="-25000" dirty="0">
                    <a:solidFill>
                      <a:schemeClr val="tx1"/>
                    </a:solidFill>
                    <a:latin typeface="Times New Roman" panose="02020603050405020304" pitchFamily="18" charset="0"/>
                    <a:cs typeface="Times New Roman" panose="02020603050405020304" pitchFamily="18" charset="0"/>
                  </a:rPr>
                  <a:t>3</a:t>
                </a:r>
                <a:r>
                  <a:rPr lang="en-US" altLang="zh-CN" sz="1000" b="1" dirty="0">
                    <a:solidFill>
                      <a:schemeClr val="tx1"/>
                    </a:solidFill>
                    <a:latin typeface="Times New Roman" panose="02020603050405020304" pitchFamily="18" charset="0"/>
                    <a:cs typeface="Times New Roman" panose="02020603050405020304" pitchFamily="18" charset="0"/>
                  </a:rPr>
                  <a:t>Q</a:t>
                </a:r>
                <a:r>
                  <a:rPr lang="en-US" altLang="zh-CN" sz="1000" b="1" baseline="-25000" dirty="0">
                    <a:solidFill>
                      <a:schemeClr val="tx1"/>
                    </a:solidFill>
                    <a:latin typeface="Times New Roman" panose="02020603050405020304" pitchFamily="18" charset="0"/>
                    <a:cs typeface="Times New Roman" panose="02020603050405020304" pitchFamily="18" charset="0"/>
                  </a:rPr>
                  <a:t>2</a:t>
                </a:r>
                <a:r>
                  <a:rPr lang="en-US" altLang="zh-CN" sz="1000" b="1" dirty="0">
                    <a:solidFill>
                      <a:schemeClr val="tx1"/>
                    </a:solidFill>
                    <a:latin typeface="Times New Roman" panose="02020603050405020304" pitchFamily="18" charset="0"/>
                    <a:cs typeface="Times New Roman" panose="02020603050405020304" pitchFamily="18" charset="0"/>
                  </a:rPr>
                  <a:t>Q</a:t>
                </a:r>
                <a:r>
                  <a:rPr lang="en-US" altLang="zh-CN" sz="1000" b="1" baseline="-25000" dirty="0">
                    <a:solidFill>
                      <a:schemeClr val="tx1"/>
                    </a:solidFill>
                    <a:latin typeface="Times New Roman" panose="02020603050405020304" pitchFamily="18" charset="0"/>
                    <a:cs typeface="Times New Roman" panose="02020603050405020304" pitchFamily="18" charset="0"/>
                  </a:rPr>
                  <a:t>1</a:t>
                </a:r>
                <a:r>
                  <a:rPr lang="en-US" altLang="zh-CN" sz="1000" b="1" dirty="0">
                    <a:solidFill>
                      <a:schemeClr val="tx1"/>
                    </a:solidFill>
                    <a:latin typeface="Times New Roman" panose="02020603050405020304" pitchFamily="18" charset="0"/>
                    <a:cs typeface="Times New Roman" panose="02020603050405020304" pitchFamily="18" charset="0"/>
                  </a:rPr>
                  <a:t>Q</a:t>
                </a:r>
                <a:r>
                  <a:rPr lang="en-US" altLang="zh-CN" sz="1000" b="1" baseline="-25000" dirty="0">
                    <a:solidFill>
                      <a:schemeClr val="tx1"/>
                    </a:solidFill>
                    <a:latin typeface="Times New Roman" panose="02020603050405020304" pitchFamily="18" charset="0"/>
                    <a:cs typeface="Times New Roman" panose="02020603050405020304" pitchFamily="18" charset="0"/>
                  </a:rPr>
                  <a:t>0</a:t>
                </a:r>
                <a:endParaRPr lang="zh-CN" altLang="en-US" sz="10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38" name="直接箭头连接符 37"/>
              <p:cNvCxnSpPr/>
              <p:nvPr/>
            </p:nvCxnSpPr>
            <p:spPr>
              <a:xfrm flipV="1">
                <a:off x="1865892" y="3064520"/>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nvGrpSpPr>
            <p:cNvPr id="101" name="组合 100"/>
            <p:cNvGrpSpPr/>
            <p:nvPr/>
          </p:nvGrpSpPr>
          <p:grpSpPr>
            <a:xfrm>
              <a:off x="2074899" y="3403862"/>
              <a:ext cx="3062773" cy="360000"/>
              <a:chOff x="1835117" y="3458377"/>
              <a:chExt cx="3062773" cy="360000"/>
            </a:xfrm>
          </p:grpSpPr>
          <p:sp>
            <p:nvSpPr>
              <p:cNvPr id="58" name="椭圆 57"/>
              <p:cNvSpPr/>
              <p:nvPr/>
            </p:nvSpPr>
            <p:spPr>
              <a:xfrm>
                <a:off x="1835117"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59" name="椭圆 58"/>
              <p:cNvSpPr/>
              <p:nvPr/>
            </p:nvSpPr>
            <p:spPr>
              <a:xfrm>
                <a:off x="3186505"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0010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60" name="椭圆 59"/>
              <p:cNvSpPr/>
              <p:nvPr/>
            </p:nvSpPr>
            <p:spPr>
              <a:xfrm>
                <a:off x="2510811"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61" name="直接箭头连接符 60"/>
              <p:cNvCxnSpPr/>
              <p:nvPr/>
            </p:nvCxnSpPr>
            <p:spPr>
              <a:xfrm flipV="1">
                <a:off x="2203739"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flipV="1">
                <a:off x="2879433"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50" name="椭圆 49"/>
              <p:cNvSpPr/>
              <p:nvPr/>
            </p:nvSpPr>
            <p:spPr>
              <a:xfrm flipH="1">
                <a:off x="4537890"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48" name="椭圆 47"/>
              <p:cNvSpPr/>
              <p:nvPr/>
            </p:nvSpPr>
            <p:spPr>
              <a:xfrm>
                <a:off x="3862199"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0011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99" name="直接箭头连接符 98"/>
              <p:cNvCxnSpPr/>
              <p:nvPr/>
            </p:nvCxnSpPr>
            <p:spPr>
              <a:xfrm flipV="1">
                <a:off x="3555127"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p:nvPr/>
            </p:nvCxnSpPr>
            <p:spPr>
              <a:xfrm flipV="1">
                <a:off x="4230821"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nvGrpSpPr>
            <p:cNvPr id="102" name="组合 101"/>
            <p:cNvGrpSpPr/>
            <p:nvPr/>
          </p:nvGrpSpPr>
          <p:grpSpPr>
            <a:xfrm flipH="1">
              <a:off x="2074899" y="4022670"/>
              <a:ext cx="3062773" cy="360000"/>
              <a:chOff x="1835117" y="3458377"/>
              <a:chExt cx="3062773" cy="360000"/>
            </a:xfrm>
          </p:grpSpPr>
          <p:sp>
            <p:nvSpPr>
              <p:cNvPr id="103" name="椭圆 102"/>
              <p:cNvSpPr/>
              <p:nvPr/>
            </p:nvSpPr>
            <p:spPr>
              <a:xfrm>
                <a:off x="1835117"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04" name="椭圆 103"/>
              <p:cNvSpPr/>
              <p:nvPr/>
            </p:nvSpPr>
            <p:spPr>
              <a:xfrm>
                <a:off x="3186505"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0111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05" name="椭圆 104"/>
              <p:cNvSpPr/>
              <p:nvPr/>
            </p:nvSpPr>
            <p:spPr>
              <a:xfrm>
                <a:off x="2510811"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0110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106" name="直接箭头连接符 105"/>
              <p:cNvCxnSpPr/>
              <p:nvPr/>
            </p:nvCxnSpPr>
            <p:spPr>
              <a:xfrm flipV="1">
                <a:off x="2203739"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p:nvPr/>
            </p:nvCxnSpPr>
            <p:spPr>
              <a:xfrm flipV="1">
                <a:off x="2879433"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108" name="椭圆 107"/>
              <p:cNvSpPr/>
              <p:nvPr/>
            </p:nvSpPr>
            <p:spPr>
              <a:xfrm flipH="1">
                <a:off x="4537890"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1001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09" name="椭圆 108"/>
              <p:cNvSpPr/>
              <p:nvPr/>
            </p:nvSpPr>
            <p:spPr>
              <a:xfrm>
                <a:off x="3862199"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1000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110" name="直接箭头连接符 109"/>
              <p:cNvCxnSpPr/>
              <p:nvPr/>
            </p:nvCxnSpPr>
            <p:spPr>
              <a:xfrm flipV="1">
                <a:off x="3555127"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flipV="1">
                <a:off x="4230821"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cxnSp>
          <p:nvCxnSpPr>
            <p:cNvPr id="116" name="直接箭头连接符 115"/>
            <p:cNvCxnSpPr>
              <a:stCxn id="40" idx="7"/>
              <a:endCxn id="58" idx="2"/>
            </p:cNvCxnSpPr>
            <p:nvPr/>
          </p:nvCxnSpPr>
          <p:spPr>
            <a:xfrm flipV="1">
              <a:off x="1763170" y="3583862"/>
              <a:ext cx="311729" cy="210518"/>
            </a:xfrm>
            <a:prstGeom prst="straightConnector1">
              <a:avLst/>
            </a:prstGeom>
            <a:ln w="12700">
              <a:solidFill>
                <a:schemeClr val="tx1"/>
              </a:solidFill>
              <a:prstDash val="sysDash"/>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118" name="直接箭头连接符 117"/>
            <p:cNvCxnSpPr>
              <a:stCxn id="108" idx="2"/>
              <a:endCxn id="40" idx="5"/>
            </p:cNvCxnSpPr>
            <p:nvPr/>
          </p:nvCxnSpPr>
          <p:spPr>
            <a:xfrm flipH="1" flipV="1">
              <a:off x="1763170" y="4048938"/>
              <a:ext cx="311729" cy="153732"/>
            </a:xfrm>
            <a:prstGeom prst="straightConnector1">
              <a:avLst/>
            </a:prstGeom>
            <a:ln w="12700">
              <a:solidFill>
                <a:schemeClr val="tx1"/>
              </a:solidFill>
              <a:prstDash val="solid"/>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sp>
        <p:nvSpPr>
          <p:cNvPr id="128" name="椭圆 127"/>
          <p:cNvSpPr/>
          <p:nvPr/>
        </p:nvSpPr>
        <p:spPr>
          <a:xfrm>
            <a:off x="1456586" y="3907541"/>
            <a:ext cx="360000" cy="360000"/>
          </a:xfrm>
          <a:prstGeom prst="ellipse">
            <a:avLst/>
          </a:prstGeom>
          <a:solidFill>
            <a:srgbClr val="92D050"/>
          </a:solidFill>
          <a:ln w="19050">
            <a:solidFill>
              <a:srgbClr val="CC00CC"/>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1010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36" name="椭圆 135"/>
          <p:cNvSpPr/>
          <p:nvPr/>
        </p:nvSpPr>
        <p:spPr>
          <a:xfrm>
            <a:off x="3426511" y="3564043"/>
            <a:ext cx="360000" cy="360000"/>
          </a:xfrm>
          <a:prstGeom prst="ellipse">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0010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37" name="椭圆 136"/>
          <p:cNvSpPr/>
          <p:nvPr/>
        </p:nvSpPr>
        <p:spPr>
          <a:xfrm>
            <a:off x="2750817" y="3564043"/>
            <a:ext cx="360000" cy="360000"/>
          </a:xfrm>
          <a:prstGeom prst="ellipse">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38" name="椭圆 137"/>
          <p:cNvSpPr/>
          <p:nvPr/>
        </p:nvSpPr>
        <p:spPr>
          <a:xfrm flipH="1">
            <a:off x="4777896" y="3564043"/>
            <a:ext cx="360000" cy="360000"/>
          </a:xfrm>
          <a:prstGeom prst="ellipse">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39" name="椭圆 138"/>
          <p:cNvSpPr/>
          <p:nvPr/>
        </p:nvSpPr>
        <p:spPr>
          <a:xfrm>
            <a:off x="4102205" y="3564043"/>
            <a:ext cx="360000" cy="360000"/>
          </a:xfrm>
          <a:prstGeom prst="ellipse">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0011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40" name="椭圆 139"/>
          <p:cNvSpPr/>
          <p:nvPr/>
        </p:nvSpPr>
        <p:spPr>
          <a:xfrm flipH="1">
            <a:off x="4777896" y="4182851"/>
            <a:ext cx="360000" cy="360000"/>
          </a:xfrm>
          <a:prstGeom prst="ellipse">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41" name="椭圆 140"/>
          <p:cNvSpPr/>
          <p:nvPr/>
        </p:nvSpPr>
        <p:spPr>
          <a:xfrm flipH="1">
            <a:off x="3426508" y="4182851"/>
            <a:ext cx="360000" cy="360000"/>
          </a:xfrm>
          <a:prstGeom prst="ellipse">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0111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42" name="椭圆 141"/>
          <p:cNvSpPr/>
          <p:nvPr/>
        </p:nvSpPr>
        <p:spPr>
          <a:xfrm flipH="1">
            <a:off x="4102202" y="4182851"/>
            <a:ext cx="360000" cy="360000"/>
          </a:xfrm>
          <a:prstGeom prst="ellipse">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0110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43" name="椭圆 142"/>
          <p:cNvSpPr/>
          <p:nvPr/>
        </p:nvSpPr>
        <p:spPr>
          <a:xfrm>
            <a:off x="2075123" y="4182851"/>
            <a:ext cx="360000" cy="360000"/>
          </a:xfrm>
          <a:prstGeom prst="ellipse">
            <a:avLst/>
          </a:prstGeom>
          <a:solidFill>
            <a:srgbClr val="FF00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1001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44" name="椭圆 143"/>
          <p:cNvSpPr/>
          <p:nvPr/>
        </p:nvSpPr>
        <p:spPr>
          <a:xfrm flipH="1">
            <a:off x="2750814" y="4182851"/>
            <a:ext cx="360000" cy="360000"/>
          </a:xfrm>
          <a:prstGeom prst="ellipse">
            <a:avLst/>
          </a:prstGeom>
          <a:solidFill>
            <a:schemeClr val="accent1">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1000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47" name="椭圆 146"/>
          <p:cNvSpPr/>
          <p:nvPr/>
        </p:nvSpPr>
        <p:spPr>
          <a:xfrm>
            <a:off x="2075123" y="3564043"/>
            <a:ext cx="360000" cy="360000"/>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grpSp>
        <p:nvGrpSpPr>
          <p:cNvPr id="3" name="组合 2"/>
          <p:cNvGrpSpPr/>
          <p:nvPr/>
        </p:nvGrpSpPr>
        <p:grpSpPr>
          <a:xfrm>
            <a:off x="3498120" y="2465525"/>
            <a:ext cx="1972378" cy="433123"/>
            <a:chOff x="3498120" y="2465525"/>
            <a:chExt cx="1972378" cy="433123"/>
          </a:xfrm>
        </p:grpSpPr>
        <p:sp>
          <p:nvSpPr>
            <p:cNvPr id="2" name="矩形: 圆角 1"/>
            <p:cNvSpPr/>
            <p:nvPr/>
          </p:nvSpPr>
          <p:spPr>
            <a:xfrm>
              <a:off x="3498120" y="2465525"/>
              <a:ext cx="1972378" cy="433123"/>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a:off x="3641921" y="2518304"/>
              <a:ext cx="1692771" cy="369332"/>
            </a:xfrm>
            <a:prstGeom prst="rect">
              <a:avLst/>
            </a:prstGeom>
          </p:spPr>
          <p:txBody>
            <a:bodyPr wrap="none">
              <a:spAutoFit/>
            </a:bodyPr>
            <a:lstStyle/>
            <a:p>
              <a:r>
                <a:rPr lang="en-US" altLang="zh-CN"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74LVC161</a:t>
              </a:r>
              <a:r>
                <a:rPr lang="zh-CN" altLang="en-US"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实现</a:t>
              </a:r>
              <a:endParaRPr lang="zh-CN" altLang="en-US" dirty="0">
                <a:solidFill>
                  <a:schemeClr val="bg1"/>
                </a:solidFill>
                <a:latin typeface="Times New Roman" panose="02020603050405020304" pitchFamily="18" charset="0"/>
                <a:cs typeface="Times New Roman" panose="02020603050405020304" pitchFamily="18" charset="0"/>
              </a:endParaRPr>
            </a:p>
          </p:txBody>
        </p:sp>
      </p:grpSp>
      <p:graphicFrame>
        <p:nvGraphicFramePr>
          <p:cNvPr id="150" name="对象 149"/>
          <p:cNvGraphicFramePr>
            <a:graphicFrameLocks noChangeAspect="1"/>
          </p:cNvGraphicFramePr>
          <p:nvPr/>
        </p:nvGraphicFramePr>
        <p:xfrm>
          <a:off x="5645882" y="2886520"/>
          <a:ext cx="3052349" cy="1872781"/>
        </p:xfrm>
        <a:graphic>
          <a:graphicData uri="http://schemas.openxmlformats.org/presentationml/2006/ole">
            <mc:AlternateContent xmlns:mc="http://schemas.openxmlformats.org/markup-compatibility/2006">
              <mc:Choice xmlns:v="urn:schemas-microsoft-com:vml" Requires="v">
                <p:oleObj spid="_x0000_s39946" name="Visio" r:id="rId4" imgW="1676400" imgH="952500" progId="Visio.Drawing.11">
                  <p:embed/>
                </p:oleObj>
              </mc:Choice>
              <mc:Fallback>
                <p:oleObj name="Visio" r:id="rId4" imgW="1676400" imgH="952500" progId="Visio.Drawing.11">
                  <p:embed/>
                  <p:pic>
                    <p:nvPicPr>
                      <p:cNvPr id="0" name="对象 1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5882" y="2886520"/>
                        <a:ext cx="3052349" cy="18727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63" name="直接箭头连接符 62"/>
          <p:cNvCxnSpPr>
            <a:stCxn id="144" idx="7"/>
            <a:endCxn id="147" idx="5"/>
          </p:cNvCxnSpPr>
          <p:nvPr/>
        </p:nvCxnSpPr>
        <p:spPr>
          <a:xfrm flipH="1" flipV="1">
            <a:off x="2382402" y="3871322"/>
            <a:ext cx="421133" cy="364250"/>
          </a:xfrm>
          <a:prstGeom prst="straightConnector1">
            <a:avLst/>
          </a:prstGeom>
          <a:ln w="28575">
            <a:solidFill>
              <a:srgbClr val="CC00CC"/>
            </a:solidFill>
            <a:prstDash val="sysDash"/>
            <a:headEnd type="none" w="med" len="med"/>
            <a:tailEnd type="triangle" w="sm" len="lg"/>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slide(fromLeft)">
                                      <p:cBhvr>
                                        <p:cTn id="26" dur="1000"/>
                                        <p:tgtEl>
                                          <p:spTgt spid="30"/>
                                        </p:tgtEl>
                                      </p:cBhvr>
                                    </p:animEffect>
                                  </p:childTnLst>
                                </p:cTn>
                              </p:par>
                            </p:childTnLst>
                          </p:cTn>
                        </p:par>
                        <p:par>
                          <p:cTn id="27" fill="hold">
                            <p:stCondLst>
                              <p:cond delay="1000"/>
                            </p:stCondLst>
                            <p:childTnLst>
                              <p:par>
                                <p:cTn id="28" presetID="42" presetClass="entr" presetSubtype="0" fill="hold" nodeType="after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1000"/>
                                        <p:tgtEl>
                                          <p:spTgt spid="3"/>
                                        </p:tgtEl>
                                      </p:cBhvr>
                                    </p:animEffect>
                                    <p:anim calcmode="lin" valueType="num">
                                      <p:cBhvr>
                                        <p:cTn id="31" dur="1000" fill="hold"/>
                                        <p:tgtEl>
                                          <p:spTgt spid="3"/>
                                        </p:tgtEl>
                                        <p:attrNameLst>
                                          <p:attrName>ppt_x</p:attrName>
                                        </p:attrNameLst>
                                      </p:cBhvr>
                                      <p:tavLst>
                                        <p:tav tm="0">
                                          <p:val>
                                            <p:strVal val="#ppt_x"/>
                                          </p:val>
                                        </p:tav>
                                        <p:tav tm="100000">
                                          <p:val>
                                            <p:strVal val="#ppt_x"/>
                                          </p:val>
                                        </p:tav>
                                      </p:tavLst>
                                    </p:anim>
                                    <p:anim calcmode="lin" valueType="num">
                                      <p:cBhvr>
                                        <p:cTn id="32" dur="1000" fill="hold"/>
                                        <p:tgtEl>
                                          <p:spTgt spid="3"/>
                                        </p:tgtEl>
                                        <p:attrNameLst>
                                          <p:attrName>ppt_y</p:attrName>
                                        </p:attrNameLst>
                                      </p:cBhvr>
                                      <p:tavLst>
                                        <p:tav tm="0">
                                          <p:val>
                                            <p:strVal val="#ppt_y+.1"/>
                                          </p:val>
                                        </p:tav>
                                        <p:tav tm="100000">
                                          <p:val>
                                            <p:strVal val="#ppt_y"/>
                                          </p:val>
                                        </p:tav>
                                      </p:tavLst>
                                    </p:anim>
                                  </p:childTnLst>
                                </p:cTn>
                              </p:par>
                            </p:childTnLst>
                          </p:cTn>
                        </p:par>
                        <p:par>
                          <p:cTn id="33" fill="hold">
                            <p:stCondLst>
                              <p:cond delay="2000"/>
                            </p:stCondLst>
                            <p:childTnLst>
                              <p:par>
                                <p:cTn id="34" presetID="42" presetClass="entr" presetSubtype="0" fill="hold" nodeType="afterEffect">
                                  <p:stCondLst>
                                    <p:cond delay="0"/>
                                  </p:stCondLst>
                                  <p:childTnLst>
                                    <p:set>
                                      <p:cBhvr>
                                        <p:cTn id="35" dur="1" fill="hold">
                                          <p:stCondLst>
                                            <p:cond delay="0"/>
                                          </p:stCondLst>
                                        </p:cTn>
                                        <p:tgtEl>
                                          <p:spTgt spid="133"/>
                                        </p:tgtEl>
                                        <p:attrNameLst>
                                          <p:attrName>style.visibility</p:attrName>
                                        </p:attrNameLst>
                                      </p:cBhvr>
                                      <p:to>
                                        <p:strVal val="visible"/>
                                      </p:to>
                                    </p:set>
                                    <p:animEffect transition="in" filter="fade">
                                      <p:cBhvr>
                                        <p:cTn id="36" dur="1000"/>
                                        <p:tgtEl>
                                          <p:spTgt spid="133"/>
                                        </p:tgtEl>
                                      </p:cBhvr>
                                    </p:animEffect>
                                    <p:anim calcmode="lin" valueType="num">
                                      <p:cBhvr>
                                        <p:cTn id="37" dur="1000" fill="hold"/>
                                        <p:tgtEl>
                                          <p:spTgt spid="133"/>
                                        </p:tgtEl>
                                        <p:attrNameLst>
                                          <p:attrName>ppt_x</p:attrName>
                                        </p:attrNameLst>
                                      </p:cBhvr>
                                      <p:tavLst>
                                        <p:tav tm="0">
                                          <p:val>
                                            <p:strVal val="#ppt_x"/>
                                          </p:val>
                                        </p:tav>
                                        <p:tav tm="100000">
                                          <p:val>
                                            <p:strVal val="#ppt_x"/>
                                          </p:val>
                                        </p:tav>
                                      </p:tavLst>
                                    </p:anim>
                                    <p:anim calcmode="lin" valueType="num">
                                      <p:cBhvr>
                                        <p:cTn id="38" dur="1000" fill="hold"/>
                                        <p:tgtEl>
                                          <p:spTgt spid="133"/>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147"/>
                                        </p:tgtEl>
                                        <p:attrNameLst>
                                          <p:attrName>style.visibility</p:attrName>
                                        </p:attrNameLst>
                                      </p:cBhvr>
                                      <p:to>
                                        <p:strVal val="visible"/>
                                      </p:to>
                                    </p:set>
                                    <p:anim calcmode="lin" valueType="num">
                                      <p:cBhvr>
                                        <p:cTn id="43" dur="1000" fill="hold"/>
                                        <p:tgtEl>
                                          <p:spTgt spid="147"/>
                                        </p:tgtEl>
                                        <p:attrNameLst>
                                          <p:attrName>ppt_w</p:attrName>
                                        </p:attrNameLst>
                                      </p:cBhvr>
                                      <p:tavLst>
                                        <p:tav tm="0">
                                          <p:val>
                                            <p:fltVal val="0"/>
                                          </p:val>
                                        </p:tav>
                                        <p:tav tm="100000">
                                          <p:val>
                                            <p:strVal val="#ppt_w"/>
                                          </p:val>
                                        </p:tav>
                                      </p:tavLst>
                                    </p:anim>
                                    <p:anim calcmode="lin" valueType="num">
                                      <p:cBhvr>
                                        <p:cTn id="44" dur="1000" fill="hold"/>
                                        <p:tgtEl>
                                          <p:spTgt spid="147"/>
                                        </p:tgtEl>
                                        <p:attrNameLst>
                                          <p:attrName>ppt_h</p:attrName>
                                        </p:attrNameLst>
                                      </p:cBhvr>
                                      <p:tavLst>
                                        <p:tav tm="0">
                                          <p:val>
                                            <p:fltVal val="0"/>
                                          </p:val>
                                        </p:tav>
                                        <p:tav tm="100000">
                                          <p:val>
                                            <p:strVal val="#ppt_h"/>
                                          </p:val>
                                        </p:tav>
                                      </p:tavLst>
                                    </p:anim>
                                  </p:childTnLst>
                                </p:cTn>
                              </p:par>
                            </p:childTnLst>
                          </p:cTn>
                        </p:par>
                        <p:par>
                          <p:cTn id="45" fill="hold">
                            <p:stCondLst>
                              <p:cond delay="1000"/>
                            </p:stCondLst>
                            <p:childTnLst>
                              <p:par>
                                <p:cTn id="46" presetID="23" presetClass="entr" presetSubtype="16" fill="hold" grpId="0" nodeType="afterEffect">
                                  <p:stCondLst>
                                    <p:cond delay="0"/>
                                  </p:stCondLst>
                                  <p:childTnLst>
                                    <p:set>
                                      <p:cBhvr>
                                        <p:cTn id="47" dur="1" fill="hold">
                                          <p:stCondLst>
                                            <p:cond delay="0"/>
                                          </p:stCondLst>
                                        </p:cTn>
                                        <p:tgtEl>
                                          <p:spTgt spid="137"/>
                                        </p:tgtEl>
                                        <p:attrNameLst>
                                          <p:attrName>style.visibility</p:attrName>
                                        </p:attrNameLst>
                                      </p:cBhvr>
                                      <p:to>
                                        <p:strVal val="visible"/>
                                      </p:to>
                                    </p:set>
                                    <p:anim calcmode="lin" valueType="num">
                                      <p:cBhvr>
                                        <p:cTn id="48" dur="1000" fill="hold"/>
                                        <p:tgtEl>
                                          <p:spTgt spid="137"/>
                                        </p:tgtEl>
                                        <p:attrNameLst>
                                          <p:attrName>ppt_w</p:attrName>
                                        </p:attrNameLst>
                                      </p:cBhvr>
                                      <p:tavLst>
                                        <p:tav tm="0">
                                          <p:val>
                                            <p:fltVal val="0"/>
                                          </p:val>
                                        </p:tav>
                                        <p:tav tm="100000">
                                          <p:val>
                                            <p:strVal val="#ppt_w"/>
                                          </p:val>
                                        </p:tav>
                                      </p:tavLst>
                                    </p:anim>
                                    <p:anim calcmode="lin" valueType="num">
                                      <p:cBhvr>
                                        <p:cTn id="49" dur="1000" fill="hold"/>
                                        <p:tgtEl>
                                          <p:spTgt spid="137"/>
                                        </p:tgtEl>
                                        <p:attrNameLst>
                                          <p:attrName>ppt_h</p:attrName>
                                        </p:attrNameLst>
                                      </p:cBhvr>
                                      <p:tavLst>
                                        <p:tav tm="0">
                                          <p:val>
                                            <p:fltVal val="0"/>
                                          </p:val>
                                        </p:tav>
                                        <p:tav tm="100000">
                                          <p:val>
                                            <p:strVal val="#ppt_h"/>
                                          </p:val>
                                        </p:tav>
                                      </p:tavLst>
                                    </p:anim>
                                  </p:childTnLst>
                                </p:cTn>
                              </p:par>
                            </p:childTnLst>
                          </p:cTn>
                        </p:par>
                        <p:par>
                          <p:cTn id="50" fill="hold">
                            <p:stCondLst>
                              <p:cond delay="2000"/>
                            </p:stCondLst>
                            <p:childTnLst>
                              <p:par>
                                <p:cTn id="51" presetID="23" presetClass="entr" presetSubtype="16" fill="hold" grpId="0" nodeType="afterEffect">
                                  <p:stCondLst>
                                    <p:cond delay="0"/>
                                  </p:stCondLst>
                                  <p:childTnLst>
                                    <p:set>
                                      <p:cBhvr>
                                        <p:cTn id="52" dur="1" fill="hold">
                                          <p:stCondLst>
                                            <p:cond delay="0"/>
                                          </p:stCondLst>
                                        </p:cTn>
                                        <p:tgtEl>
                                          <p:spTgt spid="136"/>
                                        </p:tgtEl>
                                        <p:attrNameLst>
                                          <p:attrName>style.visibility</p:attrName>
                                        </p:attrNameLst>
                                      </p:cBhvr>
                                      <p:to>
                                        <p:strVal val="visible"/>
                                      </p:to>
                                    </p:set>
                                    <p:anim calcmode="lin" valueType="num">
                                      <p:cBhvr>
                                        <p:cTn id="53" dur="1000" fill="hold"/>
                                        <p:tgtEl>
                                          <p:spTgt spid="136"/>
                                        </p:tgtEl>
                                        <p:attrNameLst>
                                          <p:attrName>ppt_w</p:attrName>
                                        </p:attrNameLst>
                                      </p:cBhvr>
                                      <p:tavLst>
                                        <p:tav tm="0">
                                          <p:val>
                                            <p:fltVal val="0"/>
                                          </p:val>
                                        </p:tav>
                                        <p:tav tm="100000">
                                          <p:val>
                                            <p:strVal val="#ppt_w"/>
                                          </p:val>
                                        </p:tav>
                                      </p:tavLst>
                                    </p:anim>
                                    <p:anim calcmode="lin" valueType="num">
                                      <p:cBhvr>
                                        <p:cTn id="54" dur="1000" fill="hold"/>
                                        <p:tgtEl>
                                          <p:spTgt spid="136"/>
                                        </p:tgtEl>
                                        <p:attrNameLst>
                                          <p:attrName>ppt_h</p:attrName>
                                        </p:attrNameLst>
                                      </p:cBhvr>
                                      <p:tavLst>
                                        <p:tav tm="0">
                                          <p:val>
                                            <p:fltVal val="0"/>
                                          </p:val>
                                        </p:tav>
                                        <p:tav tm="100000">
                                          <p:val>
                                            <p:strVal val="#ppt_h"/>
                                          </p:val>
                                        </p:tav>
                                      </p:tavLst>
                                    </p:anim>
                                  </p:childTnLst>
                                </p:cTn>
                              </p:par>
                            </p:childTnLst>
                          </p:cTn>
                        </p:par>
                        <p:par>
                          <p:cTn id="55" fill="hold">
                            <p:stCondLst>
                              <p:cond delay="3000"/>
                            </p:stCondLst>
                            <p:childTnLst>
                              <p:par>
                                <p:cTn id="56" presetID="23" presetClass="entr" presetSubtype="16" fill="hold" grpId="0" nodeType="afterEffect">
                                  <p:stCondLst>
                                    <p:cond delay="0"/>
                                  </p:stCondLst>
                                  <p:childTnLst>
                                    <p:set>
                                      <p:cBhvr>
                                        <p:cTn id="57" dur="1" fill="hold">
                                          <p:stCondLst>
                                            <p:cond delay="0"/>
                                          </p:stCondLst>
                                        </p:cTn>
                                        <p:tgtEl>
                                          <p:spTgt spid="139"/>
                                        </p:tgtEl>
                                        <p:attrNameLst>
                                          <p:attrName>style.visibility</p:attrName>
                                        </p:attrNameLst>
                                      </p:cBhvr>
                                      <p:to>
                                        <p:strVal val="visible"/>
                                      </p:to>
                                    </p:set>
                                    <p:anim calcmode="lin" valueType="num">
                                      <p:cBhvr>
                                        <p:cTn id="58" dur="1000" fill="hold"/>
                                        <p:tgtEl>
                                          <p:spTgt spid="139"/>
                                        </p:tgtEl>
                                        <p:attrNameLst>
                                          <p:attrName>ppt_w</p:attrName>
                                        </p:attrNameLst>
                                      </p:cBhvr>
                                      <p:tavLst>
                                        <p:tav tm="0">
                                          <p:val>
                                            <p:fltVal val="0"/>
                                          </p:val>
                                        </p:tav>
                                        <p:tav tm="100000">
                                          <p:val>
                                            <p:strVal val="#ppt_w"/>
                                          </p:val>
                                        </p:tav>
                                      </p:tavLst>
                                    </p:anim>
                                    <p:anim calcmode="lin" valueType="num">
                                      <p:cBhvr>
                                        <p:cTn id="59" dur="1000" fill="hold"/>
                                        <p:tgtEl>
                                          <p:spTgt spid="139"/>
                                        </p:tgtEl>
                                        <p:attrNameLst>
                                          <p:attrName>ppt_h</p:attrName>
                                        </p:attrNameLst>
                                      </p:cBhvr>
                                      <p:tavLst>
                                        <p:tav tm="0">
                                          <p:val>
                                            <p:fltVal val="0"/>
                                          </p:val>
                                        </p:tav>
                                        <p:tav tm="100000">
                                          <p:val>
                                            <p:strVal val="#ppt_h"/>
                                          </p:val>
                                        </p:tav>
                                      </p:tavLst>
                                    </p:anim>
                                  </p:childTnLst>
                                </p:cTn>
                              </p:par>
                            </p:childTnLst>
                          </p:cTn>
                        </p:par>
                        <p:par>
                          <p:cTn id="60" fill="hold">
                            <p:stCondLst>
                              <p:cond delay="4000"/>
                            </p:stCondLst>
                            <p:childTnLst>
                              <p:par>
                                <p:cTn id="61" presetID="23" presetClass="entr" presetSubtype="16" fill="hold" grpId="0" nodeType="afterEffect">
                                  <p:stCondLst>
                                    <p:cond delay="0"/>
                                  </p:stCondLst>
                                  <p:childTnLst>
                                    <p:set>
                                      <p:cBhvr>
                                        <p:cTn id="62" dur="1" fill="hold">
                                          <p:stCondLst>
                                            <p:cond delay="0"/>
                                          </p:stCondLst>
                                        </p:cTn>
                                        <p:tgtEl>
                                          <p:spTgt spid="138"/>
                                        </p:tgtEl>
                                        <p:attrNameLst>
                                          <p:attrName>style.visibility</p:attrName>
                                        </p:attrNameLst>
                                      </p:cBhvr>
                                      <p:to>
                                        <p:strVal val="visible"/>
                                      </p:to>
                                    </p:set>
                                    <p:anim calcmode="lin" valueType="num">
                                      <p:cBhvr>
                                        <p:cTn id="63" dur="1000" fill="hold"/>
                                        <p:tgtEl>
                                          <p:spTgt spid="138"/>
                                        </p:tgtEl>
                                        <p:attrNameLst>
                                          <p:attrName>ppt_w</p:attrName>
                                        </p:attrNameLst>
                                      </p:cBhvr>
                                      <p:tavLst>
                                        <p:tav tm="0">
                                          <p:val>
                                            <p:fltVal val="0"/>
                                          </p:val>
                                        </p:tav>
                                        <p:tav tm="100000">
                                          <p:val>
                                            <p:strVal val="#ppt_w"/>
                                          </p:val>
                                        </p:tav>
                                      </p:tavLst>
                                    </p:anim>
                                    <p:anim calcmode="lin" valueType="num">
                                      <p:cBhvr>
                                        <p:cTn id="64" dur="1000" fill="hold"/>
                                        <p:tgtEl>
                                          <p:spTgt spid="138"/>
                                        </p:tgtEl>
                                        <p:attrNameLst>
                                          <p:attrName>ppt_h</p:attrName>
                                        </p:attrNameLst>
                                      </p:cBhvr>
                                      <p:tavLst>
                                        <p:tav tm="0">
                                          <p:val>
                                            <p:fltVal val="0"/>
                                          </p:val>
                                        </p:tav>
                                        <p:tav tm="100000">
                                          <p:val>
                                            <p:strVal val="#ppt_h"/>
                                          </p:val>
                                        </p:tav>
                                      </p:tavLst>
                                    </p:anim>
                                  </p:childTnLst>
                                </p:cTn>
                              </p:par>
                            </p:childTnLst>
                          </p:cTn>
                        </p:par>
                        <p:par>
                          <p:cTn id="65" fill="hold">
                            <p:stCondLst>
                              <p:cond delay="5000"/>
                            </p:stCondLst>
                            <p:childTnLst>
                              <p:par>
                                <p:cTn id="66" presetID="23" presetClass="entr" presetSubtype="16" fill="hold" grpId="0" nodeType="afterEffect">
                                  <p:stCondLst>
                                    <p:cond delay="0"/>
                                  </p:stCondLst>
                                  <p:childTnLst>
                                    <p:set>
                                      <p:cBhvr>
                                        <p:cTn id="67" dur="1" fill="hold">
                                          <p:stCondLst>
                                            <p:cond delay="0"/>
                                          </p:stCondLst>
                                        </p:cTn>
                                        <p:tgtEl>
                                          <p:spTgt spid="140"/>
                                        </p:tgtEl>
                                        <p:attrNameLst>
                                          <p:attrName>style.visibility</p:attrName>
                                        </p:attrNameLst>
                                      </p:cBhvr>
                                      <p:to>
                                        <p:strVal val="visible"/>
                                      </p:to>
                                    </p:set>
                                    <p:anim calcmode="lin" valueType="num">
                                      <p:cBhvr>
                                        <p:cTn id="68" dur="1000" fill="hold"/>
                                        <p:tgtEl>
                                          <p:spTgt spid="140"/>
                                        </p:tgtEl>
                                        <p:attrNameLst>
                                          <p:attrName>ppt_w</p:attrName>
                                        </p:attrNameLst>
                                      </p:cBhvr>
                                      <p:tavLst>
                                        <p:tav tm="0">
                                          <p:val>
                                            <p:fltVal val="0"/>
                                          </p:val>
                                        </p:tav>
                                        <p:tav tm="100000">
                                          <p:val>
                                            <p:strVal val="#ppt_w"/>
                                          </p:val>
                                        </p:tav>
                                      </p:tavLst>
                                    </p:anim>
                                    <p:anim calcmode="lin" valueType="num">
                                      <p:cBhvr>
                                        <p:cTn id="69" dur="1000" fill="hold"/>
                                        <p:tgtEl>
                                          <p:spTgt spid="140"/>
                                        </p:tgtEl>
                                        <p:attrNameLst>
                                          <p:attrName>ppt_h</p:attrName>
                                        </p:attrNameLst>
                                      </p:cBhvr>
                                      <p:tavLst>
                                        <p:tav tm="0">
                                          <p:val>
                                            <p:fltVal val="0"/>
                                          </p:val>
                                        </p:tav>
                                        <p:tav tm="100000">
                                          <p:val>
                                            <p:strVal val="#ppt_h"/>
                                          </p:val>
                                        </p:tav>
                                      </p:tavLst>
                                    </p:anim>
                                  </p:childTnLst>
                                </p:cTn>
                              </p:par>
                            </p:childTnLst>
                          </p:cTn>
                        </p:par>
                        <p:par>
                          <p:cTn id="70" fill="hold">
                            <p:stCondLst>
                              <p:cond delay="6000"/>
                            </p:stCondLst>
                            <p:childTnLst>
                              <p:par>
                                <p:cTn id="71" presetID="23" presetClass="entr" presetSubtype="16" fill="hold" grpId="0" nodeType="afterEffect">
                                  <p:stCondLst>
                                    <p:cond delay="0"/>
                                  </p:stCondLst>
                                  <p:childTnLst>
                                    <p:set>
                                      <p:cBhvr>
                                        <p:cTn id="72" dur="1" fill="hold">
                                          <p:stCondLst>
                                            <p:cond delay="0"/>
                                          </p:stCondLst>
                                        </p:cTn>
                                        <p:tgtEl>
                                          <p:spTgt spid="142"/>
                                        </p:tgtEl>
                                        <p:attrNameLst>
                                          <p:attrName>style.visibility</p:attrName>
                                        </p:attrNameLst>
                                      </p:cBhvr>
                                      <p:to>
                                        <p:strVal val="visible"/>
                                      </p:to>
                                    </p:set>
                                    <p:anim calcmode="lin" valueType="num">
                                      <p:cBhvr>
                                        <p:cTn id="73" dur="1000" fill="hold"/>
                                        <p:tgtEl>
                                          <p:spTgt spid="142"/>
                                        </p:tgtEl>
                                        <p:attrNameLst>
                                          <p:attrName>ppt_w</p:attrName>
                                        </p:attrNameLst>
                                      </p:cBhvr>
                                      <p:tavLst>
                                        <p:tav tm="0">
                                          <p:val>
                                            <p:fltVal val="0"/>
                                          </p:val>
                                        </p:tav>
                                        <p:tav tm="100000">
                                          <p:val>
                                            <p:strVal val="#ppt_w"/>
                                          </p:val>
                                        </p:tav>
                                      </p:tavLst>
                                    </p:anim>
                                    <p:anim calcmode="lin" valueType="num">
                                      <p:cBhvr>
                                        <p:cTn id="74" dur="1000" fill="hold"/>
                                        <p:tgtEl>
                                          <p:spTgt spid="142"/>
                                        </p:tgtEl>
                                        <p:attrNameLst>
                                          <p:attrName>ppt_h</p:attrName>
                                        </p:attrNameLst>
                                      </p:cBhvr>
                                      <p:tavLst>
                                        <p:tav tm="0">
                                          <p:val>
                                            <p:fltVal val="0"/>
                                          </p:val>
                                        </p:tav>
                                        <p:tav tm="100000">
                                          <p:val>
                                            <p:strVal val="#ppt_h"/>
                                          </p:val>
                                        </p:tav>
                                      </p:tavLst>
                                    </p:anim>
                                  </p:childTnLst>
                                </p:cTn>
                              </p:par>
                            </p:childTnLst>
                          </p:cTn>
                        </p:par>
                        <p:par>
                          <p:cTn id="75" fill="hold">
                            <p:stCondLst>
                              <p:cond delay="7000"/>
                            </p:stCondLst>
                            <p:childTnLst>
                              <p:par>
                                <p:cTn id="76" presetID="23" presetClass="entr" presetSubtype="16" fill="hold" grpId="0" nodeType="afterEffect">
                                  <p:stCondLst>
                                    <p:cond delay="0"/>
                                  </p:stCondLst>
                                  <p:childTnLst>
                                    <p:set>
                                      <p:cBhvr>
                                        <p:cTn id="77" dur="1" fill="hold">
                                          <p:stCondLst>
                                            <p:cond delay="0"/>
                                          </p:stCondLst>
                                        </p:cTn>
                                        <p:tgtEl>
                                          <p:spTgt spid="141"/>
                                        </p:tgtEl>
                                        <p:attrNameLst>
                                          <p:attrName>style.visibility</p:attrName>
                                        </p:attrNameLst>
                                      </p:cBhvr>
                                      <p:to>
                                        <p:strVal val="visible"/>
                                      </p:to>
                                    </p:set>
                                    <p:anim calcmode="lin" valueType="num">
                                      <p:cBhvr>
                                        <p:cTn id="78" dur="1000" fill="hold"/>
                                        <p:tgtEl>
                                          <p:spTgt spid="141"/>
                                        </p:tgtEl>
                                        <p:attrNameLst>
                                          <p:attrName>ppt_w</p:attrName>
                                        </p:attrNameLst>
                                      </p:cBhvr>
                                      <p:tavLst>
                                        <p:tav tm="0">
                                          <p:val>
                                            <p:fltVal val="0"/>
                                          </p:val>
                                        </p:tav>
                                        <p:tav tm="100000">
                                          <p:val>
                                            <p:strVal val="#ppt_w"/>
                                          </p:val>
                                        </p:tav>
                                      </p:tavLst>
                                    </p:anim>
                                    <p:anim calcmode="lin" valueType="num">
                                      <p:cBhvr>
                                        <p:cTn id="79" dur="1000" fill="hold"/>
                                        <p:tgtEl>
                                          <p:spTgt spid="141"/>
                                        </p:tgtEl>
                                        <p:attrNameLst>
                                          <p:attrName>ppt_h</p:attrName>
                                        </p:attrNameLst>
                                      </p:cBhvr>
                                      <p:tavLst>
                                        <p:tav tm="0">
                                          <p:val>
                                            <p:fltVal val="0"/>
                                          </p:val>
                                        </p:tav>
                                        <p:tav tm="100000">
                                          <p:val>
                                            <p:strVal val="#ppt_h"/>
                                          </p:val>
                                        </p:tav>
                                      </p:tavLst>
                                    </p:anim>
                                  </p:childTnLst>
                                </p:cTn>
                              </p:par>
                            </p:childTnLst>
                          </p:cTn>
                        </p:par>
                        <p:par>
                          <p:cTn id="80" fill="hold">
                            <p:stCondLst>
                              <p:cond delay="8000"/>
                            </p:stCondLst>
                            <p:childTnLst>
                              <p:par>
                                <p:cTn id="81" presetID="23" presetClass="entr" presetSubtype="16" fill="hold" grpId="0" nodeType="afterEffect">
                                  <p:stCondLst>
                                    <p:cond delay="0"/>
                                  </p:stCondLst>
                                  <p:childTnLst>
                                    <p:set>
                                      <p:cBhvr>
                                        <p:cTn id="82" dur="1" fill="hold">
                                          <p:stCondLst>
                                            <p:cond delay="0"/>
                                          </p:stCondLst>
                                        </p:cTn>
                                        <p:tgtEl>
                                          <p:spTgt spid="144"/>
                                        </p:tgtEl>
                                        <p:attrNameLst>
                                          <p:attrName>style.visibility</p:attrName>
                                        </p:attrNameLst>
                                      </p:cBhvr>
                                      <p:to>
                                        <p:strVal val="visible"/>
                                      </p:to>
                                    </p:set>
                                    <p:anim calcmode="lin" valueType="num">
                                      <p:cBhvr>
                                        <p:cTn id="83" dur="1000" fill="hold"/>
                                        <p:tgtEl>
                                          <p:spTgt spid="144"/>
                                        </p:tgtEl>
                                        <p:attrNameLst>
                                          <p:attrName>ppt_w</p:attrName>
                                        </p:attrNameLst>
                                      </p:cBhvr>
                                      <p:tavLst>
                                        <p:tav tm="0">
                                          <p:val>
                                            <p:fltVal val="0"/>
                                          </p:val>
                                        </p:tav>
                                        <p:tav tm="100000">
                                          <p:val>
                                            <p:strVal val="#ppt_w"/>
                                          </p:val>
                                        </p:tav>
                                      </p:tavLst>
                                    </p:anim>
                                    <p:anim calcmode="lin" valueType="num">
                                      <p:cBhvr>
                                        <p:cTn id="84" dur="1000" fill="hold"/>
                                        <p:tgtEl>
                                          <p:spTgt spid="144"/>
                                        </p:tgtEl>
                                        <p:attrNameLst>
                                          <p:attrName>ppt_h</p:attrName>
                                        </p:attrNameLst>
                                      </p:cBhvr>
                                      <p:tavLst>
                                        <p:tav tm="0">
                                          <p:val>
                                            <p:fltVal val="0"/>
                                          </p:val>
                                        </p:tav>
                                        <p:tav tm="100000">
                                          <p:val>
                                            <p:strVal val="#ppt_h"/>
                                          </p:val>
                                        </p:tav>
                                      </p:tavLst>
                                    </p:anim>
                                  </p:childTnLst>
                                </p:cTn>
                              </p:par>
                            </p:childTnLst>
                          </p:cTn>
                        </p:par>
                        <p:par>
                          <p:cTn id="85" fill="hold">
                            <p:stCondLst>
                              <p:cond delay="9000"/>
                            </p:stCondLst>
                            <p:childTnLst>
                              <p:par>
                                <p:cTn id="86" presetID="23" presetClass="entr" presetSubtype="16" fill="hold" grpId="0" nodeType="afterEffect">
                                  <p:stCondLst>
                                    <p:cond delay="0"/>
                                  </p:stCondLst>
                                  <p:childTnLst>
                                    <p:set>
                                      <p:cBhvr>
                                        <p:cTn id="87" dur="1" fill="hold">
                                          <p:stCondLst>
                                            <p:cond delay="0"/>
                                          </p:stCondLst>
                                        </p:cTn>
                                        <p:tgtEl>
                                          <p:spTgt spid="143"/>
                                        </p:tgtEl>
                                        <p:attrNameLst>
                                          <p:attrName>style.visibility</p:attrName>
                                        </p:attrNameLst>
                                      </p:cBhvr>
                                      <p:to>
                                        <p:strVal val="visible"/>
                                      </p:to>
                                    </p:set>
                                    <p:anim calcmode="lin" valueType="num">
                                      <p:cBhvr>
                                        <p:cTn id="88" dur="1000" fill="hold"/>
                                        <p:tgtEl>
                                          <p:spTgt spid="143"/>
                                        </p:tgtEl>
                                        <p:attrNameLst>
                                          <p:attrName>ppt_w</p:attrName>
                                        </p:attrNameLst>
                                      </p:cBhvr>
                                      <p:tavLst>
                                        <p:tav tm="0">
                                          <p:val>
                                            <p:fltVal val="0"/>
                                          </p:val>
                                        </p:tav>
                                        <p:tav tm="100000">
                                          <p:val>
                                            <p:strVal val="#ppt_w"/>
                                          </p:val>
                                        </p:tav>
                                      </p:tavLst>
                                    </p:anim>
                                    <p:anim calcmode="lin" valueType="num">
                                      <p:cBhvr>
                                        <p:cTn id="89" dur="1000" fill="hold"/>
                                        <p:tgtEl>
                                          <p:spTgt spid="143"/>
                                        </p:tgtEl>
                                        <p:attrNameLst>
                                          <p:attrName>ppt_h</p:attrName>
                                        </p:attrNameLst>
                                      </p:cBhvr>
                                      <p:tavLst>
                                        <p:tav tm="0">
                                          <p:val>
                                            <p:fltVal val="0"/>
                                          </p:val>
                                        </p:tav>
                                        <p:tav tm="100000">
                                          <p:val>
                                            <p:strVal val="#ppt_h"/>
                                          </p:val>
                                        </p:tav>
                                      </p:tavLst>
                                    </p:anim>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nodeType="clickEffect">
                                  <p:stCondLst>
                                    <p:cond delay="0"/>
                                  </p:stCondLst>
                                  <p:childTnLst>
                                    <p:set>
                                      <p:cBhvr>
                                        <p:cTn id="93" dur="1" fill="hold">
                                          <p:stCondLst>
                                            <p:cond delay="0"/>
                                          </p:stCondLst>
                                        </p:cTn>
                                        <p:tgtEl>
                                          <p:spTgt spid="63"/>
                                        </p:tgtEl>
                                        <p:attrNameLst>
                                          <p:attrName>style.visibility</p:attrName>
                                        </p:attrNameLst>
                                      </p:cBhvr>
                                      <p:to>
                                        <p:strVal val="visible"/>
                                      </p:to>
                                    </p:set>
                                    <p:animEffect transition="in" filter="wipe(down)">
                                      <p:cBhvr>
                                        <p:cTn id="94" dur="1000"/>
                                        <p:tgtEl>
                                          <p:spTgt spid="63"/>
                                        </p:tgtEl>
                                      </p:cBhvr>
                                    </p:animEffect>
                                  </p:childTnLst>
                                </p:cTn>
                              </p:par>
                            </p:childTnLst>
                          </p:cTn>
                        </p:par>
                      </p:childTnLst>
                    </p:cTn>
                  </p:par>
                  <p:par>
                    <p:cTn id="95" fill="hold">
                      <p:stCondLst>
                        <p:cond delay="indefinite"/>
                      </p:stCondLst>
                      <p:childTnLst>
                        <p:par>
                          <p:cTn id="96" fill="hold">
                            <p:stCondLst>
                              <p:cond delay="0"/>
                            </p:stCondLst>
                            <p:childTnLst>
                              <p:par>
                                <p:cTn id="97" presetID="23" presetClass="entr" presetSubtype="16" fill="hold" grpId="0" nodeType="clickEffect">
                                  <p:stCondLst>
                                    <p:cond delay="0"/>
                                  </p:stCondLst>
                                  <p:childTnLst>
                                    <p:set>
                                      <p:cBhvr>
                                        <p:cTn id="98" dur="1" fill="hold">
                                          <p:stCondLst>
                                            <p:cond delay="0"/>
                                          </p:stCondLst>
                                        </p:cTn>
                                        <p:tgtEl>
                                          <p:spTgt spid="128"/>
                                        </p:tgtEl>
                                        <p:attrNameLst>
                                          <p:attrName>style.visibility</p:attrName>
                                        </p:attrNameLst>
                                      </p:cBhvr>
                                      <p:to>
                                        <p:strVal val="visible"/>
                                      </p:to>
                                    </p:set>
                                    <p:anim calcmode="lin" valueType="num">
                                      <p:cBhvr>
                                        <p:cTn id="99" dur="1000" fill="hold"/>
                                        <p:tgtEl>
                                          <p:spTgt spid="128"/>
                                        </p:tgtEl>
                                        <p:attrNameLst>
                                          <p:attrName>ppt_w</p:attrName>
                                        </p:attrNameLst>
                                      </p:cBhvr>
                                      <p:tavLst>
                                        <p:tav tm="0">
                                          <p:val>
                                            <p:fltVal val="0"/>
                                          </p:val>
                                        </p:tav>
                                        <p:tav tm="100000">
                                          <p:val>
                                            <p:strVal val="#ppt_w"/>
                                          </p:val>
                                        </p:tav>
                                      </p:tavLst>
                                    </p:anim>
                                    <p:anim calcmode="lin" valueType="num">
                                      <p:cBhvr>
                                        <p:cTn id="100" dur="1000" fill="hold"/>
                                        <p:tgtEl>
                                          <p:spTgt spid="128"/>
                                        </p:tgtEl>
                                        <p:attrNameLst>
                                          <p:attrName>ppt_h</p:attrName>
                                        </p:attrNameLst>
                                      </p:cBhvr>
                                      <p:tavLst>
                                        <p:tav tm="0">
                                          <p:val>
                                            <p:fltVal val="0"/>
                                          </p:val>
                                        </p:tav>
                                        <p:tav tm="100000">
                                          <p:val>
                                            <p:strVal val="#ppt_h"/>
                                          </p:val>
                                        </p:tav>
                                      </p:tavLst>
                                    </p:anim>
                                  </p:childTnLst>
                                </p:cTn>
                              </p:par>
                            </p:childTnLst>
                          </p:cTn>
                        </p:par>
                        <p:par>
                          <p:cTn id="101" fill="hold">
                            <p:stCondLst>
                              <p:cond delay="1000"/>
                            </p:stCondLst>
                            <p:childTnLst>
                              <p:par>
                                <p:cTn id="102" presetID="22" presetClass="entr" presetSubtype="1" fill="hold" grpId="0" nodeType="afterEffect">
                                  <p:stCondLst>
                                    <p:cond delay="0"/>
                                  </p:stCondLst>
                                  <p:childTnLst>
                                    <p:set>
                                      <p:cBhvr>
                                        <p:cTn id="103" dur="1" fill="hold">
                                          <p:stCondLst>
                                            <p:cond delay="0"/>
                                          </p:stCondLst>
                                        </p:cTn>
                                        <p:tgtEl>
                                          <p:spTgt spid="91"/>
                                        </p:tgtEl>
                                        <p:attrNameLst>
                                          <p:attrName>style.visibility</p:attrName>
                                        </p:attrNameLst>
                                      </p:cBhvr>
                                      <p:to>
                                        <p:strVal val="visible"/>
                                      </p:to>
                                    </p:set>
                                    <p:animEffect transition="in" filter="wipe(up)">
                                      <p:cBhvr>
                                        <p:cTn id="104" dur="1000"/>
                                        <p:tgtEl>
                                          <p:spTgt spid="91"/>
                                        </p:tgtEl>
                                      </p:cBhvr>
                                    </p:animEffect>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nodeType="clickEffect">
                                  <p:stCondLst>
                                    <p:cond delay="0"/>
                                  </p:stCondLst>
                                  <p:childTnLst>
                                    <p:set>
                                      <p:cBhvr>
                                        <p:cTn id="108" dur="1" fill="hold">
                                          <p:stCondLst>
                                            <p:cond delay="0"/>
                                          </p:stCondLst>
                                        </p:cTn>
                                        <p:tgtEl>
                                          <p:spTgt spid="150"/>
                                        </p:tgtEl>
                                        <p:attrNameLst>
                                          <p:attrName>style.visibility</p:attrName>
                                        </p:attrNameLst>
                                      </p:cBhvr>
                                      <p:to>
                                        <p:strVal val="visible"/>
                                      </p:to>
                                    </p:set>
                                    <p:animEffect transition="in" filter="fade">
                                      <p:cBhvr>
                                        <p:cTn id="109" dur="1000"/>
                                        <p:tgtEl>
                                          <p:spTgt spid="150"/>
                                        </p:tgtEl>
                                      </p:cBhvr>
                                    </p:animEffect>
                                    <p:anim calcmode="lin" valueType="num">
                                      <p:cBhvr>
                                        <p:cTn id="110" dur="1000" fill="hold"/>
                                        <p:tgtEl>
                                          <p:spTgt spid="150"/>
                                        </p:tgtEl>
                                        <p:attrNameLst>
                                          <p:attrName>ppt_x</p:attrName>
                                        </p:attrNameLst>
                                      </p:cBhvr>
                                      <p:tavLst>
                                        <p:tav tm="0">
                                          <p:val>
                                            <p:strVal val="#ppt_x"/>
                                          </p:val>
                                        </p:tav>
                                        <p:tav tm="100000">
                                          <p:val>
                                            <p:strVal val="#ppt_x"/>
                                          </p:val>
                                        </p:tav>
                                      </p:tavLst>
                                    </p:anim>
                                    <p:anim calcmode="lin" valueType="num">
                                      <p:cBhvr>
                                        <p:cTn id="111" dur="1000" fill="hold"/>
                                        <p:tgtEl>
                                          <p:spTgt spid="1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91" grpId="0" animBg="1"/>
      <p:bldP spid="128"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7"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458420" y="2867796"/>
            <a:ext cx="511436" cy="1827199"/>
          </a:xfrm>
          <a:prstGeom prst="roundRect">
            <a:avLst/>
          </a:prstGeom>
          <a:solidFill>
            <a:srgbClr val="FFFF00"/>
          </a:solidFill>
          <a:ln w="19050">
            <a:solidFill>
              <a:srgbClr val="0000FF"/>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latin typeface="微软雅黑" panose="020B0503020204020204" pitchFamily="34" charset="-122"/>
                <a:ea typeface="微软雅黑" panose="020B0503020204020204" pitchFamily="34" charset="-122"/>
              </a:rPr>
              <a:t>反馈清零法</a:t>
            </a:r>
            <a:endParaRPr lang="zh-CN" altLang="en-US" dirty="0"/>
          </a:p>
        </p:txBody>
      </p:sp>
      <p:grpSp>
        <p:nvGrpSpPr>
          <p:cNvPr id="133" name="组合 132"/>
          <p:cNvGrpSpPr/>
          <p:nvPr/>
        </p:nvGrpSpPr>
        <p:grpSpPr>
          <a:xfrm>
            <a:off x="1245029" y="2898651"/>
            <a:ext cx="3892643" cy="1644200"/>
            <a:chOff x="1245029" y="2738470"/>
            <a:chExt cx="3892643" cy="1644200"/>
          </a:xfrm>
        </p:grpSpPr>
        <p:cxnSp>
          <p:nvCxnSpPr>
            <p:cNvPr id="41" name="直接箭头连接符 40"/>
            <p:cNvCxnSpPr>
              <a:stCxn id="108" idx="0"/>
              <a:endCxn id="58" idx="4"/>
            </p:cNvCxnSpPr>
            <p:nvPr/>
          </p:nvCxnSpPr>
          <p:spPr>
            <a:xfrm flipV="1">
              <a:off x="2254899" y="3763862"/>
              <a:ext cx="0" cy="258808"/>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50" idx="4"/>
              <a:endCxn id="103" idx="0"/>
            </p:cNvCxnSpPr>
            <p:nvPr/>
          </p:nvCxnSpPr>
          <p:spPr>
            <a:xfrm>
              <a:off x="4957672" y="3763862"/>
              <a:ext cx="0" cy="258808"/>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nvGrpSpPr>
            <p:cNvPr id="132" name="组合 131"/>
            <p:cNvGrpSpPr/>
            <p:nvPr/>
          </p:nvGrpSpPr>
          <p:grpSpPr>
            <a:xfrm>
              <a:off x="1245029" y="2738470"/>
              <a:ext cx="919313" cy="612000"/>
              <a:chOff x="1245029" y="2738470"/>
              <a:chExt cx="919313" cy="612000"/>
            </a:xfrm>
          </p:grpSpPr>
          <p:sp>
            <p:nvSpPr>
              <p:cNvPr id="37" name="椭圆 36"/>
              <p:cNvSpPr/>
              <p:nvPr/>
            </p:nvSpPr>
            <p:spPr>
              <a:xfrm>
                <a:off x="1245029" y="2738470"/>
                <a:ext cx="612000" cy="61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Q</a:t>
                </a:r>
                <a:r>
                  <a:rPr lang="en-US" altLang="zh-CN" sz="1000" b="1" baseline="-25000" dirty="0">
                    <a:solidFill>
                      <a:schemeClr val="tx1"/>
                    </a:solidFill>
                    <a:latin typeface="Times New Roman" panose="02020603050405020304" pitchFamily="18" charset="0"/>
                    <a:cs typeface="Times New Roman" panose="02020603050405020304" pitchFamily="18" charset="0"/>
                  </a:rPr>
                  <a:t>3</a:t>
                </a:r>
                <a:r>
                  <a:rPr lang="en-US" altLang="zh-CN" sz="1000" b="1" dirty="0">
                    <a:solidFill>
                      <a:schemeClr val="tx1"/>
                    </a:solidFill>
                    <a:latin typeface="Times New Roman" panose="02020603050405020304" pitchFamily="18" charset="0"/>
                    <a:cs typeface="Times New Roman" panose="02020603050405020304" pitchFamily="18" charset="0"/>
                  </a:rPr>
                  <a:t>Q</a:t>
                </a:r>
                <a:r>
                  <a:rPr lang="en-US" altLang="zh-CN" sz="1000" b="1" baseline="-25000" dirty="0">
                    <a:solidFill>
                      <a:schemeClr val="tx1"/>
                    </a:solidFill>
                    <a:latin typeface="Times New Roman" panose="02020603050405020304" pitchFamily="18" charset="0"/>
                    <a:cs typeface="Times New Roman" panose="02020603050405020304" pitchFamily="18" charset="0"/>
                  </a:rPr>
                  <a:t>2</a:t>
                </a:r>
                <a:r>
                  <a:rPr lang="en-US" altLang="zh-CN" sz="1000" b="1" dirty="0">
                    <a:solidFill>
                      <a:schemeClr val="tx1"/>
                    </a:solidFill>
                    <a:latin typeface="Times New Roman" panose="02020603050405020304" pitchFamily="18" charset="0"/>
                    <a:cs typeface="Times New Roman" panose="02020603050405020304" pitchFamily="18" charset="0"/>
                  </a:rPr>
                  <a:t>Q</a:t>
                </a:r>
                <a:r>
                  <a:rPr lang="en-US" altLang="zh-CN" sz="1000" b="1" baseline="-25000" dirty="0">
                    <a:solidFill>
                      <a:schemeClr val="tx1"/>
                    </a:solidFill>
                    <a:latin typeface="Times New Roman" panose="02020603050405020304" pitchFamily="18" charset="0"/>
                    <a:cs typeface="Times New Roman" panose="02020603050405020304" pitchFamily="18" charset="0"/>
                  </a:rPr>
                  <a:t>1</a:t>
                </a:r>
                <a:r>
                  <a:rPr lang="en-US" altLang="zh-CN" sz="1000" b="1" dirty="0">
                    <a:solidFill>
                      <a:schemeClr val="tx1"/>
                    </a:solidFill>
                    <a:latin typeface="Times New Roman" panose="02020603050405020304" pitchFamily="18" charset="0"/>
                    <a:cs typeface="Times New Roman" panose="02020603050405020304" pitchFamily="18" charset="0"/>
                  </a:rPr>
                  <a:t>Q</a:t>
                </a:r>
                <a:r>
                  <a:rPr lang="en-US" altLang="zh-CN" sz="1000" b="1" baseline="-25000" dirty="0">
                    <a:solidFill>
                      <a:schemeClr val="tx1"/>
                    </a:solidFill>
                    <a:latin typeface="Times New Roman" panose="02020603050405020304" pitchFamily="18" charset="0"/>
                    <a:cs typeface="Times New Roman" panose="02020603050405020304" pitchFamily="18" charset="0"/>
                  </a:rPr>
                  <a:t>0</a:t>
                </a:r>
                <a:endParaRPr lang="zh-CN" altLang="en-US" sz="10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38" name="直接箭头连接符 37"/>
              <p:cNvCxnSpPr/>
              <p:nvPr/>
            </p:nvCxnSpPr>
            <p:spPr>
              <a:xfrm flipV="1">
                <a:off x="1865892" y="3064520"/>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nvGrpSpPr>
            <p:cNvPr id="101" name="组合 100"/>
            <p:cNvGrpSpPr/>
            <p:nvPr/>
          </p:nvGrpSpPr>
          <p:grpSpPr>
            <a:xfrm>
              <a:off x="2074899" y="3403862"/>
              <a:ext cx="3062773" cy="360000"/>
              <a:chOff x="1835117" y="3458377"/>
              <a:chExt cx="3062773" cy="360000"/>
            </a:xfrm>
          </p:grpSpPr>
          <p:sp>
            <p:nvSpPr>
              <p:cNvPr id="58" name="椭圆 57"/>
              <p:cNvSpPr/>
              <p:nvPr/>
            </p:nvSpPr>
            <p:spPr>
              <a:xfrm>
                <a:off x="1835117" y="3458377"/>
                <a:ext cx="360000" cy="360000"/>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59" name="椭圆 58"/>
              <p:cNvSpPr/>
              <p:nvPr/>
            </p:nvSpPr>
            <p:spPr>
              <a:xfrm>
                <a:off x="3186505"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0010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60" name="椭圆 59"/>
              <p:cNvSpPr/>
              <p:nvPr/>
            </p:nvSpPr>
            <p:spPr>
              <a:xfrm>
                <a:off x="2510811"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61" name="直接箭头连接符 60"/>
              <p:cNvCxnSpPr/>
              <p:nvPr/>
            </p:nvCxnSpPr>
            <p:spPr>
              <a:xfrm flipV="1">
                <a:off x="2203739"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flipV="1">
                <a:off x="2879433"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50" name="椭圆 49"/>
              <p:cNvSpPr/>
              <p:nvPr/>
            </p:nvSpPr>
            <p:spPr>
              <a:xfrm flipH="1">
                <a:off x="4537890"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48" name="椭圆 47"/>
              <p:cNvSpPr/>
              <p:nvPr/>
            </p:nvSpPr>
            <p:spPr>
              <a:xfrm>
                <a:off x="3862199"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0011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99" name="直接箭头连接符 98"/>
              <p:cNvCxnSpPr/>
              <p:nvPr/>
            </p:nvCxnSpPr>
            <p:spPr>
              <a:xfrm flipV="1">
                <a:off x="3555127"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p:nvPr/>
            </p:nvCxnSpPr>
            <p:spPr>
              <a:xfrm flipV="1">
                <a:off x="4230821"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nvGrpSpPr>
            <p:cNvPr id="102" name="组合 101"/>
            <p:cNvGrpSpPr/>
            <p:nvPr/>
          </p:nvGrpSpPr>
          <p:grpSpPr>
            <a:xfrm flipH="1">
              <a:off x="2074899" y="4022670"/>
              <a:ext cx="3062773" cy="360000"/>
              <a:chOff x="1835117" y="3458377"/>
              <a:chExt cx="3062773" cy="360000"/>
            </a:xfrm>
          </p:grpSpPr>
          <p:sp>
            <p:nvSpPr>
              <p:cNvPr id="103" name="椭圆 102"/>
              <p:cNvSpPr/>
              <p:nvPr/>
            </p:nvSpPr>
            <p:spPr>
              <a:xfrm>
                <a:off x="1835117"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04" name="椭圆 103"/>
              <p:cNvSpPr/>
              <p:nvPr/>
            </p:nvSpPr>
            <p:spPr>
              <a:xfrm>
                <a:off x="3186505"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0111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05" name="椭圆 104"/>
              <p:cNvSpPr/>
              <p:nvPr/>
            </p:nvSpPr>
            <p:spPr>
              <a:xfrm>
                <a:off x="2510811"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0110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106" name="直接箭头连接符 105"/>
              <p:cNvCxnSpPr/>
              <p:nvPr/>
            </p:nvCxnSpPr>
            <p:spPr>
              <a:xfrm flipV="1">
                <a:off x="2203739"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p:nvPr/>
            </p:nvCxnSpPr>
            <p:spPr>
              <a:xfrm flipV="1">
                <a:off x="2879433"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108" name="椭圆 107"/>
              <p:cNvSpPr/>
              <p:nvPr/>
            </p:nvSpPr>
            <p:spPr>
              <a:xfrm flipH="1">
                <a:off x="4537890" y="3458377"/>
                <a:ext cx="360000" cy="360000"/>
              </a:xfrm>
              <a:prstGeom prst="ellipse">
                <a:avLst/>
              </a:prstGeom>
              <a:solidFill>
                <a:srgbClr val="FF00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1001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09" name="椭圆 108"/>
              <p:cNvSpPr/>
              <p:nvPr/>
            </p:nvSpPr>
            <p:spPr>
              <a:xfrm>
                <a:off x="3862199"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1000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110" name="直接箭头连接符 109"/>
              <p:cNvCxnSpPr/>
              <p:nvPr/>
            </p:nvCxnSpPr>
            <p:spPr>
              <a:xfrm flipV="1">
                <a:off x="3555127"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flipV="1">
                <a:off x="4230821"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graphicFrame>
        <p:nvGraphicFramePr>
          <p:cNvPr id="56" name="对象 55"/>
          <p:cNvGraphicFramePr>
            <a:graphicFrameLocks noChangeAspect="1"/>
          </p:cNvGraphicFramePr>
          <p:nvPr/>
        </p:nvGraphicFramePr>
        <p:xfrm>
          <a:off x="5638575" y="2887636"/>
          <a:ext cx="3052349" cy="1872781"/>
        </p:xfrm>
        <a:graphic>
          <a:graphicData uri="http://schemas.openxmlformats.org/presentationml/2006/ole">
            <mc:AlternateContent xmlns:mc="http://schemas.openxmlformats.org/markup-compatibility/2006">
              <mc:Choice xmlns:v="urn:schemas-microsoft-com:vml" Requires="v">
                <p:oleObj spid="_x0000_s40970" name="Visio" r:id="rId1" imgW="1676400" imgH="952500" progId="Visio.Drawing.11">
                  <p:embed/>
                </p:oleObj>
              </mc:Choice>
              <mc:Fallback>
                <p:oleObj name="Visio" r:id="rId1" imgW="1676400" imgH="952500" progId="Visio.Drawing.11">
                  <p:embed/>
                  <p:pic>
                    <p:nvPicPr>
                      <p:cNvPr id="0" name="对象 5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575" y="2887636"/>
                        <a:ext cx="3052349" cy="18727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3" name="组合 42"/>
          <p:cNvGrpSpPr/>
          <p:nvPr/>
        </p:nvGrpSpPr>
        <p:grpSpPr>
          <a:xfrm>
            <a:off x="3498120" y="2465525"/>
            <a:ext cx="1972378" cy="433123"/>
            <a:chOff x="3498120" y="2465525"/>
            <a:chExt cx="1972378" cy="433123"/>
          </a:xfrm>
        </p:grpSpPr>
        <p:sp>
          <p:nvSpPr>
            <p:cNvPr id="44" name="矩形: 圆角 43"/>
            <p:cNvSpPr/>
            <p:nvPr/>
          </p:nvSpPr>
          <p:spPr>
            <a:xfrm>
              <a:off x="3498120" y="2465525"/>
              <a:ext cx="1972378" cy="433123"/>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3641921" y="2518304"/>
              <a:ext cx="1692771" cy="369332"/>
            </a:xfrm>
            <a:prstGeom prst="rect">
              <a:avLst/>
            </a:prstGeom>
          </p:spPr>
          <p:txBody>
            <a:bodyPr wrap="none">
              <a:spAutoFit/>
            </a:bodyPr>
            <a:lstStyle/>
            <a:p>
              <a:r>
                <a:rPr lang="en-US" altLang="zh-CN"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74LVC163</a:t>
              </a:r>
              <a:r>
                <a:rPr lang="zh-CN" altLang="en-US"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实现</a:t>
              </a:r>
              <a:endParaRPr lang="zh-CN" altLang="en-US" dirty="0">
                <a:solidFill>
                  <a:schemeClr val="bg1"/>
                </a:solidFill>
                <a:latin typeface="Times New Roman" panose="02020603050405020304" pitchFamily="18" charset="0"/>
                <a:cs typeface="Times New Roman" panose="02020603050405020304" pitchFamily="18" charset="0"/>
              </a:endParaRPr>
            </a:p>
          </p:txBody>
        </p:sp>
      </p:grpSp>
      <p:grpSp>
        <p:nvGrpSpPr>
          <p:cNvPr id="46" name="组合 81"/>
          <p:cNvGrpSpPr/>
          <p:nvPr/>
        </p:nvGrpSpPr>
        <p:grpSpPr>
          <a:xfrm>
            <a:off x="400819" y="1294531"/>
            <a:ext cx="6128271" cy="374630"/>
            <a:chOff x="369777" y="1347760"/>
            <a:chExt cx="6128271" cy="374630"/>
          </a:xfrm>
        </p:grpSpPr>
        <p:sp>
          <p:nvSpPr>
            <p:cNvPr id="47" name="TextBox 83"/>
            <p:cNvSpPr txBox="1"/>
            <p:nvPr/>
          </p:nvSpPr>
          <p:spPr>
            <a:xfrm>
              <a:off x="723710" y="1350409"/>
              <a:ext cx="5774338" cy="369332"/>
            </a:xfrm>
            <a:prstGeom prst="rect">
              <a:avLst/>
            </a:prstGeom>
            <a:noFill/>
          </p:spPr>
          <p:txBody>
            <a:bodyPr wrap="none" rtlCol="0">
              <a:spAutoFit/>
            </a:bodyPr>
            <a:lstStyle/>
            <a:p>
              <a:pPr lvl="0"/>
              <a:r>
                <a:rPr lang="zh-CN" altLang="en-US"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例：</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用</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74LVC161/163</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构成模为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的十进制加法计数器。</a:t>
              </a:r>
              <a:endPar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49" name="Picture 4"/>
            <p:cNvPicPr>
              <a:picLocks noChangeAspect="1" noChangeArrowheads="1"/>
            </p:cNvPicPr>
            <p:nvPr/>
          </p:nvPicPr>
          <p:blipFill>
            <a:blip r:embed="rId3"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51" name="组合 87"/>
          <p:cNvGrpSpPr/>
          <p:nvPr/>
        </p:nvGrpSpPr>
        <p:grpSpPr>
          <a:xfrm>
            <a:off x="407493" y="1779845"/>
            <a:ext cx="8269008" cy="615553"/>
            <a:chOff x="4330854" y="1354964"/>
            <a:chExt cx="8269008" cy="615553"/>
          </a:xfrm>
        </p:grpSpPr>
        <p:sp>
          <p:nvSpPr>
            <p:cNvPr id="52" name="矩形 51"/>
            <p:cNvSpPr/>
            <p:nvPr/>
          </p:nvSpPr>
          <p:spPr>
            <a:xfrm>
              <a:off x="4637499" y="1354964"/>
              <a:ext cx="7962363" cy="615553"/>
            </a:xfrm>
            <a:prstGeom prst="rect">
              <a:avLst/>
            </a:prstGeom>
          </p:spPr>
          <p:txBody>
            <a:bodyPr wrap="square">
              <a:spAutoFit/>
            </a:bodyPr>
            <a:lstStyle/>
            <a:p>
              <a:pPr marL="358775" indent="-358775"/>
              <a:r>
                <a:rPr lang="zh-CN" altLang="en-US"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进制计数器应有</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个状态，而</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74LVC161/163</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在计数过程中有</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16</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个状态。设法跳过多余的</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个状态，则可实现模</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计数器。</a:t>
              </a:r>
              <a:endParaRPr lang="zh-CN" altLang="en-US" sz="1600"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3" name="Picture 5"/>
            <p:cNvPicPr>
              <a:picLocks noChangeAspect="1" noChangeArrowheads="1"/>
            </p:cNvPicPr>
            <p:nvPr/>
          </p:nvPicPr>
          <p:blipFill>
            <a:blip r:embed="rId4" cstate="print"/>
            <a:srcRect/>
            <a:stretch>
              <a:fillRect/>
            </a:stretch>
          </p:blipFill>
          <p:spPr bwMode="auto">
            <a:xfrm>
              <a:off x="4330854" y="1369617"/>
              <a:ext cx="348489" cy="340027"/>
            </a:xfrm>
            <a:prstGeom prst="rect">
              <a:avLst/>
            </a:prstGeom>
            <a:noFill/>
            <a:ln w="9525">
              <a:noFill/>
              <a:miter lim="800000"/>
              <a:headEnd/>
              <a:tailEnd/>
            </a:ln>
          </p:spPr>
        </p:pic>
      </p:grpSp>
      <p:grpSp>
        <p:nvGrpSpPr>
          <p:cNvPr id="54" name="组合 34"/>
          <p:cNvGrpSpPr/>
          <p:nvPr/>
        </p:nvGrpSpPr>
        <p:grpSpPr>
          <a:xfrm>
            <a:off x="392432" y="735720"/>
            <a:ext cx="6649115" cy="420971"/>
            <a:chOff x="670560" y="892917"/>
            <a:chExt cx="6649115" cy="420971"/>
          </a:xfrm>
        </p:grpSpPr>
        <p:sp>
          <p:nvSpPr>
            <p:cNvPr id="55" name="矩形 54"/>
            <p:cNvSpPr/>
            <p:nvPr/>
          </p:nvSpPr>
          <p:spPr>
            <a:xfrm>
              <a:off x="1035231" y="913778"/>
              <a:ext cx="6284444" cy="400110"/>
            </a:xfrm>
            <a:prstGeom prst="rect">
              <a:avLst/>
            </a:prstGeom>
          </p:spPr>
          <p:txBody>
            <a:bodyPr wrap="square">
              <a:spAutoFit/>
            </a:bodyPr>
            <a:lstStyle/>
            <a:p>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集成计数器的应用</a:t>
              </a:r>
              <a:r>
                <a:rPr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构成任意进制计数器</a:t>
              </a:r>
              <a:r>
                <a:rPr lang="en-US" altLang="zh-CN" sz="20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(M&gt;N)</a:t>
              </a:r>
              <a:endPar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7" name="Picture 3"/>
            <p:cNvPicPr>
              <a:picLocks noChangeAspect="1" noChangeArrowheads="1"/>
            </p:cNvPicPr>
            <p:nvPr/>
          </p:nvPicPr>
          <p:blipFill>
            <a:blip r:embed="rId5"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mc:AlternateContent xmlns:mc="http://schemas.openxmlformats.org/markup-compatibility/2006">
    <mc:Choice xmlns:p14="http://schemas.microsoft.com/office/powerpoint/2010/main" Requires="p14">
      <p:transition spd="slow" p14:dur="1200">
        <p14:prism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1000"/>
                                        <p:tgtEl>
                                          <p:spTgt spid="43"/>
                                        </p:tgtEl>
                                      </p:cBhvr>
                                    </p:animEffect>
                                    <p:anim calcmode="lin" valueType="num">
                                      <p:cBhvr>
                                        <p:cTn id="8" dur="1000" fill="hold"/>
                                        <p:tgtEl>
                                          <p:spTgt spid="43"/>
                                        </p:tgtEl>
                                        <p:attrNameLst>
                                          <p:attrName>ppt_x</p:attrName>
                                        </p:attrNameLst>
                                      </p:cBhvr>
                                      <p:tavLst>
                                        <p:tav tm="0">
                                          <p:val>
                                            <p:strVal val="#ppt_x"/>
                                          </p:val>
                                        </p:tav>
                                        <p:tav tm="100000">
                                          <p:val>
                                            <p:strVal val="#ppt_x"/>
                                          </p:val>
                                        </p:tav>
                                      </p:tavLst>
                                    </p:anim>
                                    <p:anim calcmode="lin" valueType="num">
                                      <p:cBhvr>
                                        <p:cTn id="9" dur="1000" fill="hold"/>
                                        <p:tgtEl>
                                          <p:spTgt spid="4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33"/>
                                        </p:tgtEl>
                                        <p:attrNameLst>
                                          <p:attrName>style.visibility</p:attrName>
                                        </p:attrNameLst>
                                      </p:cBhvr>
                                      <p:to>
                                        <p:strVal val="visible"/>
                                      </p:to>
                                    </p:set>
                                    <p:animEffect transition="in" filter="fade">
                                      <p:cBhvr>
                                        <p:cTn id="13" dur="1000"/>
                                        <p:tgtEl>
                                          <p:spTgt spid="133"/>
                                        </p:tgtEl>
                                      </p:cBhvr>
                                    </p:animEffect>
                                    <p:anim calcmode="lin" valueType="num">
                                      <p:cBhvr>
                                        <p:cTn id="14" dur="1000" fill="hold"/>
                                        <p:tgtEl>
                                          <p:spTgt spid="133"/>
                                        </p:tgtEl>
                                        <p:attrNameLst>
                                          <p:attrName>ppt_x</p:attrName>
                                        </p:attrNameLst>
                                      </p:cBhvr>
                                      <p:tavLst>
                                        <p:tav tm="0">
                                          <p:val>
                                            <p:strVal val="#ppt_x"/>
                                          </p:val>
                                        </p:tav>
                                        <p:tav tm="100000">
                                          <p:val>
                                            <p:strVal val="#ppt_x"/>
                                          </p:val>
                                        </p:tav>
                                      </p:tavLst>
                                    </p:anim>
                                    <p:anim calcmode="lin" valueType="num">
                                      <p:cBhvr>
                                        <p:cTn id="15" dur="1000" fill="hold"/>
                                        <p:tgtEl>
                                          <p:spTgt spid="133"/>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fade">
                                      <p:cBhvr>
                                        <p:cTn id="19" dur="1000"/>
                                        <p:tgtEl>
                                          <p:spTgt spid="56"/>
                                        </p:tgtEl>
                                      </p:cBhvr>
                                    </p:animEffect>
                                    <p:anim calcmode="lin" valueType="num">
                                      <p:cBhvr>
                                        <p:cTn id="20" dur="1000" fill="hold"/>
                                        <p:tgtEl>
                                          <p:spTgt spid="56"/>
                                        </p:tgtEl>
                                        <p:attrNameLst>
                                          <p:attrName>ppt_x</p:attrName>
                                        </p:attrNameLst>
                                      </p:cBhvr>
                                      <p:tavLst>
                                        <p:tav tm="0">
                                          <p:val>
                                            <p:strVal val="#ppt_x"/>
                                          </p:val>
                                        </p:tav>
                                        <p:tav tm="100000">
                                          <p:val>
                                            <p:strVal val="#ppt_x"/>
                                          </p:val>
                                        </p:tav>
                                      </p:tavLst>
                                    </p:anim>
                                    <p:anim calcmode="lin" valueType="num">
                                      <p:cBhvr>
                                        <p:cTn id="21"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458420" y="2867796"/>
            <a:ext cx="511436" cy="1827199"/>
          </a:xfrm>
          <a:prstGeom prst="roundRect">
            <a:avLst/>
          </a:prstGeom>
          <a:solidFill>
            <a:srgbClr val="FFFF00"/>
          </a:solidFill>
          <a:ln w="19050">
            <a:solidFill>
              <a:srgbClr val="0000FF"/>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latin typeface="微软雅黑" panose="020B0503020204020204" pitchFamily="34" charset="-122"/>
                <a:ea typeface="微软雅黑" panose="020B0503020204020204" pitchFamily="34" charset="-122"/>
              </a:rPr>
              <a:t>反馈清零法</a:t>
            </a:r>
            <a:endParaRPr lang="zh-CN" altLang="en-US" dirty="0"/>
          </a:p>
        </p:txBody>
      </p:sp>
      <p:grpSp>
        <p:nvGrpSpPr>
          <p:cNvPr id="2" name="组合 1"/>
          <p:cNvGrpSpPr/>
          <p:nvPr/>
        </p:nvGrpSpPr>
        <p:grpSpPr>
          <a:xfrm>
            <a:off x="1407022" y="2395398"/>
            <a:ext cx="7269479" cy="1644200"/>
            <a:chOff x="1407022" y="2395398"/>
            <a:chExt cx="7269479" cy="1644200"/>
          </a:xfrm>
        </p:grpSpPr>
        <p:grpSp>
          <p:nvGrpSpPr>
            <p:cNvPr id="133" name="组合 132"/>
            <p:cNvGrpSpPr/>
            <p:nvPr/>
          </p:nvGrpSpPr>
          <p:grpSpPr>
            <a:xfrm>
              <a:off x="5244398" y="2395398"/>
              <a:ext cx="3432103" cy="1644200"/>
              <a:chOff x="1705569" y="2738470"/>
              <a:chExt cx="3432103" cy="1644200"/>
            </a:xfrm>
          </p:grpSpPr>
          <p:cxnSp>
            <p:nvCxnSpPr>
              <p:cNvPr id="41" name="直接箭头连接符 40"/>
              <p:cNvCxnSpPr>
                <a:stCxn id="108" idx="0"/>
                <a:endCxn id="58" idx="4"/>
              </p:cNvCxnSpPr>
              <p:nvPr/>
            </p:nvCxnSpPr>
            <p:spPr>
              <a:xfrm flipV="1">
                <a:off x="2254899" y="3763862"/>
                <a:ext cx="0" cy="258808"/>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50" idx="4"/>
                <a:endCxn id="103" idx="0"/>
              </p:cNvCxnSpPr>
              <p:nvPr/>
            </p:nvCxnSpPr>
            <p:spPr>
              <a:xfrm>
                <a:off x="4957672" y="3763862"/>
                <a:ext cx="0" cy="258808"/>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nvGrpSpPr>
              <p:cNvPr id="132" name="组合 131"/>
              <p:cNvGrpSpPr/>
              <p:nvPr/>
            </p:nvGrpSpPr>
            <p:grpSpPr>
              <a:xfrm>
                <a:off x="1705569" y="2738470"/>
                <a:ext cx="919313" cy="612000"/>
                <a:chOff x="1705569" y="2738470"/>
                <a:chExt cx="919313" cy="612000"/>
              </a:xfrm>
            </p:grpSpPr>
            <p:sp>
              <p:nvSpPr>
                <p:cNvPr id="37" name="椭圆 36"/>
                <p:cNvSpPr/>
                <p:nvPr/>
              </p:nvSpPr>
              <p:spPr>
                <a:xfrm>
                  <a:off x="1705569" y="2738470"/>
                  <a:ext cx="612000" cy="61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Q</a:t>
                  </a:r>
                  <a:r>
                    <a:rPr lang="en-US" altLang="zh-CN" sz="1000" b="1" baseline="-25000" dirty="0">
                      <a:solidFill>
                        <a:schemeClr val="tx1"/>
                      </a:solidFill>
                      <a:latin typeface="Times New Roman" panose="02020603050405020304" pitchFamily="18" charset="0"/>
                      <a:cs typeface="Times New Roman" panose="02020603050405020304" pitchFamily="18" charset="0"/>
                    </a:rPr>
                    <a:t>3</a:t>
                  </a:r>
                  <a:r>
                    <a:rPr lang="en-US" altLang="zh-CN" sz="1000" b="1" dirty="0">
                      <a:solidFill>
                        <a:schemeClr val="tx1"/>
                      </a:solidFill>
                      <a:latin typeface="Times New Roman" panose="02020603050405020304" pitchFamily="18" charset="0"/>
                      <a:cs typeface="Times New Roman" panose="02020603050405020304" pitchFamily="18" charset="0"/>
                    </a:rPr>
                    <a:t>Q</a:t>
                  </a:r>
                  <a:r>
                    <a:rPr lang="en-US" altLang="zh-CN" sz="1000" b="1" baseline="-25000" dirty="0">
                      <a:solidFill>
                        <a:schemeClr val="tx1"/>
                      </a:solidFill>
                      <a:latin typeface="Times New Roman" panose="02020603050405020304" pitchFamily="18" charset="0"/>
                      <a:cs typeface="Times New Roman" panose="02020603050405020304" pitchFamily="18" charset="0"/>
                    </a:rPr>
                    <a:t>2</a:t>
                  </a:r>
                  <a:r>
                    <a:rPr lang="en-US" altLang="zh-CN" sz="1000" b="1" dirty="0">
                      <a:solidFill>
                        <a:schemeClr val="tx1"/>
                      </a:solidFill>
                      <a:latin typeface="Times New Roman" panose="02020603050405020304" pitchFamily="18" charset="0"/>
                      <a:cs typeface="Times New Roman" panose="02020603050405020304" pitchFamily="18" charset="0"/>
                    </a:rPr>
                    <a:t>Q</a:t>
                  </a:r>
                  <a:r>
                    <a:rPr lang="en-US" altLang="zh-CN" sz="1000" b="1" baseline="-25000" dirty="0">
                      <a:solidFill>
                        <a:schemeClr val="tx1"/>
                      </a:solidFill>
                      <a:latin typeface="Times New Roman" panose="02020603050405020304" pitchFamily="18" charset="0"/>
                      <a:cs typeface="Times New Roman" panose="02020603050405020304" pitchFamily="18" charset="0"/>
                    </a:rPr>
                    <a:t>1</a:t>
                  </a:r>
                  <a:r>
                    <a:rPr lang="en-US" altLang="zh-CN" sz="1000" b="1" dirty="0">
                      <a:solidFill>
                        <a:schemeClr val="tx1"/>
                      </a:solidFill>
                      <a:latin typeface="Times New Roman" panose="02020603050405020304" pitchFamily="18" charset="0"/>
                      <a:cs typeface="Times New Roman" panose="02020603050405020304" pitchFamily="18" charset="0"/>
                    </a:rPr>
                    <a:t>Q</a:t>
                  </a:r>
                  <a:r>
                    <a:rPr lang="en-US" altLang="zh-CN" sz="1000" b="1" baseline="-25000" dirty="0">
                      <a:solidFill>
                        <a:schemeClr val="tx1"/>
                      </a:solidFill>
                      <a:latin typeface="Times New Roman" panose="02020603050405020304" pitchFamily="18" charset="0"/>
                      <a:cs typeface="Times New Roman" panose="02020603050405020304" pitchFamily="18" charset="0"/>
                    </a:rPr>
                    <a:t>0</a:t>
                  </a:r>
                  <a:endParaRPr lang="zh-CN" altLang="en-US" sz="10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38" name="直接箭头连接符 37"/>
                <p:cNvCxnSpPr/>
                <p:nvPr/>
              </p:nvCxnSpPr>
              <p:spPr>
                <a:xfrm flipV="1">
                  <a:off x="2326432" y="3064520"/>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nvGrpSpPr>
              <p:cNvPr id="101" name="组合 100"/>
              <p:cNvGrpSpPr/>
              <p:nvPr/>
            </p:nvGrpSpPr>
            <p:grpSpPr>
              <a:xfrm>
                <a:off x="2074899" y="3403862"/>
                <a:ext cx="3062773" cy="360000"/>
                <a:chOff x="1835117" y="3458377"/>
                <a:chExt cx="3062773" cy="360000"/>
              </a:xfrm>
            </p:grpSpPr>
            <p:sp>
              <p:nvSpPr>
                <p:cNvPr id="58" name="椭圆 57"/>
                <p:cNvSpPr/>
                <p:nvPr/>
              </p:nvSpPr>
              <p:spPr>
                <a:xfrm>
                  <a:off x="1835117" y="3458377"/>
                  <a:ext cx="360000" cy="360000"/>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59" name="椭圆 58"/>
                <p:cNvSpPr/>
                <p:nvPr/>
              </p:nvSpPr>
              <p:spPr>
                <a:xfrm>
                  <a:off x="3186505"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0010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60" name="椭圆 59"/>
                <p:cNvSpPr/>
                <p:nvPr/>
              </p:nvSpPr>
              <p:spPr>
                <a:xfrm>
                  <a:off x="2510811"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61" name="直接箭头连接符 60"/>
                <p:cNvCxnSpPr/>
                <p:nvPr/>
              </p:nvCxnSpPr>
              <p:spPr>
                <a:xfrm flipV="1">
                  <a:off x="2203739"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flipV="1">
                  <a:off x="2879433"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50" name="椭圆 49"/>
                <p:cNvSpPr/>
                <p:nvPr/>
              </p:nvSpPr>
              <p:spPr>
                <a:xfrm flipH="1">
                  <a:off x="4537890"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48" name="椭圆 47"/>
                <p:cNvSpPr/>
                <p:nvPr/>
              </p:nvSpPr>
              <p:spPr>
                <a:xfrm>
                  <a:off x="3862199"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0011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99" name="直接箭头连接符 98"/>
                <p:cNvCxnSpPr/>
                <p:nvPr/>
              </p:nvCxnSpPr>
              <p:spPr>
                <a:xfrm flipV="1">
                  <a:off x="3555127"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p:nvPr/>
              </p:nvCxnSpPr>
              <p:spPr>
                <a:xfrm flipV="1">
                  <a:off x="4230821"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nvGrpSpPr>
              <p:cNvPr id="102" name="组合 101"/>
              <p:cNvGrpSpPr/>
              <p:nvPr/>
            </p:nvGrpSpPr>
            <p:grpSpPr>
              <a:xfrm flipH="1">
                <a:off x="2074899" y="4022670"/>
                <a:ext cx="3062773" cy="360000"/>
                <a:chOff x="1835117" y="3458377"/>
                <a:chExt cx="3062773" cy="360000"/>
              </a:xfrm>
            </p:grpSpPr>
            <p:sp>
              <p:nvSpPr>
                <p:cNvPr id="103" name="椭圆 102"/>
                <p:cNvSpPr/>
                <p:nvPr/>
              </p:nvSpPr>
              <p:spPr>
                <a:xfrm>
                  <a:off x="1835117"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04" name="椭圆 103"/>
                <p:cNvSpPr/>
                <p:nvPr/>
              </p:nvSpPr>
              <p:spPr>
                <a:xfrm>
                  <a:off x="3186505"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0111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05" name="椭圆 104"/>
                <p:cNvSpPr/>
                <p:nvPr/>
              </p:nvSpPr>
              <p:spPr>
                <a:xfrm>
                  <a:off x="2510811"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0110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106" name="直接箭头连接符 105"/>
                <p:cNvCxnSpPr/>
                <p:nvPr/>
              </p:nvCxnSpPr>
              <p:spPr>
                <a:xfrm flipV="1">
                  <a:off x="2203739"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p:nvPr/>
              </p:nvCxnSpPr>
              <p:spPr>
                <a:xfrm flipV="1">
                  <a:off x="2879433"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108" name="椭圆 107"/>
                <p:cNvSpPr/>
                <p:nvPr/>
              </p:nvSpPr>
              <p:spPr>
                <a:xfrm flipH="1">
                  <a:off x="4537890" y="3458377"/>
                  <a:ext cx="360000" cy="360000"/>
                </a:xfrm>
                <a:prstGeom prst="ellipse">
                  <a:avLst/>
                </a:prstGeom>
                <a:solidFill>
                  <a:srgbClr val="FF00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1001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109" name="椭圆 108"/>
                <p:cNvSpPr/>
                <p:nvPr/>
              </p:nvSpPr>
              <p:spPr>
                <a:xfrm>
                  <a:off x="3862199"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1000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110" name="直接箭头连接符 109"/>
                <p:cNvCxnSpPr/>
                <p:nvPr/>
              </p:nvCxnSpPr>
              <p:spPr>
                <a:xfrm flipV="1">
                  <a:off x="3555127"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flipV="1">
                  <a:off x="4230821"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grpSp>
          <p:nvGrpSpPr>
            <p:cNvPr id="40" name="组合 39"/>
            <p:cNvGrpSpPr/>
            <p:nvPr/>
          </p:nvGrpSpPr>
          <p:grpSpPr>
            <a:xfrm>
              <a:off x="1407022" y="2395398"/>
              <a:ext cx="3681781" cy="1644200"/>
              <a:chOff x="1455891" y="2738470"/>
              <a:chExt cx="3681781" cy="1644200"/>
            </a:xfrm>
          </p:grpSpPr>
          <p:sp>
            <p:nvSpPr>
              <p:cNvPr id="43" name="椭圆 42"/>
              <p:cNvSpPr/>
              <p:nvPr/>
            </p:nvSpPr>
            <p:spPr>
              <a:xfrm>
                <a:off x="1455891" y="3741659"/>
                <a:ext cx="360000" cy="360000"/>
              </a:xfrm>
              <a:prstGeom prst="ellipse">
                <a:avLst/>
              </a:prstGeom>
              <a:solidFill>
                <a:schemeClr val="bg1"/>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1010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44" name="直接箭头连接符 43"/>
              <p:cNvCxnSpPr>
                <a:stCxn id="64" idx="0"/>
                <a:endCxn id="68" idx="4"/>
              </p:cNvCxnSpPr>
              <p:nvPr/>
            </p:nvCxnSpPr>
            <p:spPr>
              <a:xfrm flipV="1">
                <a:off x="2254899" y="3763862"/>
                <a:ext cx="0" cy="258808"/>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73" idx="4"/>
                <a:endCxn id="53" idx="0"/>
              </p:cNvCxnSpPr>
              <p:nvPr/>
            </p:nvCxnSpPr>
            <p:spPr>
              <a:xfrm>
                <a:off x="4957672" y="3763862"/>
                <a:ext cx="0" cy="258808"/>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1572076" y="2738470"/>
                <a:ext cx="919313" cy="612000"/>
                <a:chOff x="1572076" y="2738470"/>
                <a:chExt cx="919313" cy="612000"/>
              </a:xfrm>
            </p:grpSpPr>
            <p:sp>
              <p:nvSpPr>
                <p:cNvPr id="77" name="椭圆 76"/>
                <p:cNvSpPr/>
                <p:nvPr/>
              </p:nvSpPr>
              <p:spPr>
                <a:xfrm>
                  <a:off x="1572076" y="2738470"/>
                  <a:ext cx="612000" cy="61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Q</a:t>
                  </a:r>
                  <a:r>
                    <a:rPr lang="en-US" altLang="zh-CN" sz="1000" b="1" baseline="-25000" dirty="0">
                      <a:solidFill>
                        <a:schemeClr val="tx1"/>
                      </a:solidFill>
                      <a:latin typeface="Times New Roman" panose="02020603050405020304" pitchFamily="18" charset="0"/>
                      <a:cs typeface="Times New Roman" panose="02020603050405020304" pitchFamily="18" charset="0"/>
                    </a:rPr>
                    <a:t>3</a:t>
                  </a:r>
                  <a:r>
                    <a:rPr lang="en-US" altLang="zh-CN" sz="1000" b="1" dirty="0">
                      <a:solidFill>
                        <a:schemeClr val="tx1"/>
                      </a:solidFill>
                      <a:latin typeface="Times New Roman" panose="02020603050405020304" pitchFamily="18" charset="0"/>
                      <a:cs typeface="Times New Roman" panose="02020603050405020304" pitchFamily="18" charset="0"/>
                    </a:rPr>
                    <a:t>Q</a:t>
                  </a:r>
                  <a:r>
                    <a:rPr lang="en-US" altLang="zh-CN" sz="1000" b="1" baseline="-25000" dirty="0">
                      <a:solidFill>
                        <a:schemeClr val="tx1"/>
                      </a:solidFill>
                      <a:latin typeface="Times New Roman" panose="02020603050405020304" pitchFamily="18" charset="0"/>
                      <a:cs typeface="Times New Roman" panose="02020603050405020304" pitchFamily="18" charset="0"/>
                    </a:rPr>
                    <a:t>2</a:t>
                  </a:r>
                  <a:r>
                    <a:rPr lang="en-US" altLang="zh-CN" sz="1000" b="1" dirty="0">
                      <a:solidFill>
                        <a:schemeClr val="tx1"/>
                      </a:solidFill>
                      <a:latin typeface="Times New Roman" panose="02020603050405020304" pitchFamily="18" charset="0"/>
                      <a:cs typeface="Times New Roman" panose="02020603050405020304" pitchFamily="18" charset="0"/>
                    </a:rPr>
                    <a:t>Q</a:t>
                  </a:r>
                  <a:r>
                    <a:rPr lang="en-US" altLang="zh-CN" sz="1000" b="1" baseline="-25000" dirty="0">
                      <a:solidFill>
                        <a:schemeClr val="tx1"/>
                      </a:solidFill>
                      <a:latin typeface="Times New Roman" panose="02020603050405020304" pitchFamily="18" charset="0"/>
                      <a:cs typeface="Times New Roman" panose="02020603050405020304" pitchFamily="18" charset="0"/>
                    </a:rPr>
                    <a:t>1</a:t>
                  </a:r>
                  <a:r>
                    <a:rPr lang="en-US" altLang="zh-CN" sz="1000" b="1" dirty="0">
                      <a:solidFill>
                        <a:schemeClr val="tx1"/>
                      </a:solidFill>
                      <a:latin typeface="Times New Roman" panose="02020603050405020304" pitchFamily="18" charset="0"/>
                      <a:cs typeface="Times New Roman" panose="02020603050405020304" pitchFamily="18" charset="0"/>
                    </a:rPr>
                    <a:t>Q</a:t>
                  </a:r>
                  <a:r>
                    <a:rPr lang="en-US" altLang="zh-CN" sz="1000" b="1" baseline="-25000" dirty="0">
                      <a:solidFill>
                        <a:schemeClr val="tx1"/>
                      </a:solidFill>
                      <a:latin typeface="Times New Roman" panose="02020603050405020304" pitchFamily="18" charset="0"/>
                      <a:cs typeface="Times New Roman" panose="02020603050405020304" pitchFamily="18" charset="0"/>
                    </a:rPr>
                    <a:t>0</a:t>
                  </a:r>
                  <a:endParaRPr lang="zh-CN" altLang="en-US" sz="10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78" name="直接箭头连接符 77"/>
                <p:cNvCxnSpPr/>
                <p:nvPr/>
              </p:nvCxnSpPr>
              <p:spPr>
                <a:xfrm flipV="1">
                  <a:off x="2192939" y="3064520"/>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nvGrpSpPr>
            <p:grpSpPr>
              <a:xfrm>
                <a:off x="2074899" y="3403862"/>
                <a:ext cx="3062773" cy="360000"/>
                <a:chOff x="1835117" y="3458377"/>
                <a:chExt cx="3062773" cy="360000"/>
              </a:xfrm>
            </p:grpSpPr>
            <p:sp>
              <p:nvSpPr>
                <p:cNvPr id="68" name="椭圆 67"/>
                <p:cNvSpPr/>
                <p:nvPr/>
              </p:nvSpPr>
              <p:spPr>
                <a:xfrm>
                  <a:off x="1835117"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69" name="椭圆 68"/>
                <p:cNvSpPr/>
                <p:nvPr/>
              </p:nvSpPr>
              <p:spPr>
                <a:xfrm>
                  <a:off x="3186505"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0010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70" name="椭圆 69"/>
                <p:cNvSpPr/>
                <p:nvPr/>
              </p:nvSpPr>
              <p:spPr>
                <a:xfrm>
                  <a:off x="2510811"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71" name="直接箭头连接符 70"/>
                <p:cNvCxnSpPr/>
                <p:nvPr/>
              </p:nvCxnSpPr>
              <p:spPr>
                <a:xfrm flipV="1">
                  <a:off x="2203739"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flipV="1">
                  <a:off x="2879433"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73" name="椭圆 72"/>
                <p:cNvSpPr/>
                <p:nvPr/>
              </p:nvSpPr>
              <p:spPr>
                <a:xfrm flipH="1">
                  <a:off x="4537890"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74" name="椭圆 73"/>
                <p:cNvSpPr/>
                <p:nvPr/>
              </p:nvSpPr>
              <p:spPr>
                <a:xfrm>
                  <a:off x="3862199"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0011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75" name="直接箭头连接符 74"/>
                <p:cNvCxnSpPr/>
                <p:nvPr/>
              </p:nvCxnSpPr>
              <p:spPr>
                <a:xfrm flipV="1">
                  <a:off x="3555127"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flipV="1">
                  <a:off x="4230821"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nvGrpSpPr>
              <p:cNvPr id="49" name="组合 48"/>
              <p:cNvGrpSpPr/>
              <p:nvPr/>
            </p:nvGrpSpPr>
            <p:grpSpPr>
              <a:xfrm flipH="1">
                <a:off x="2074899" y="4022670"/>
                <a:ext cx="3062773" cy="360000"/>
                <a:chOff x="1835117" y="3458377"/>
                <a:chExt cx="3062773" cy="360000"/>
              </a:xfrm>
            </p:grpSpPr>
            <p:sp>
              <p:nvSpPr>
                <p:cNvPr id="53" name="椭圆 52"/>
                <p:cNvSpPr/>
                <p:nvPr/>
              </p:nvSpPr>
              <p:spPr>
                <a:xfrm>
                  <a:off x="1835117"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54" name="椭圆 53"/>
                <p:cNvSpPr/>
                <p:nvPr/>
              </p:nvSpPr>
              <p:spPr>
                <a:xfrm>
                  <a:off x="3186505"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0111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55" name="椭圆 54"/>
                <p:cNvSpPr/>
                <p:nvPr/>
              </p:nvSpPr>
              <p:spPr>
                <a:xfrm>
                  <a:off x="2510811"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0110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57" name="直接箭头连接符 56"/>
                <p:cNvCxnSpPr/>
                <p:nvPr/>
              </p:nvCxnSpPr>
              <p:spPr>
                <a:xfrm flipV="1">
                  <a:off x="2203739"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flipV="1">
                  <a:off x="2879433"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64" name="椭圆 63"/>
                <p:cNvSpPr/>
                <p:nvPr/>
              </p:nvSpPr>
              <p:spPr>
                <a:xfrm flipH="1">
                  <a:off x="4537890"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1001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65" name="椭圆 64"/>
                <p:cNvSpPr/>
                <p:nvPr/>
              </p:nvSpPr>
              <p:spPr>
                <a:xfrm>
                  <a:off x="3862199" y="3458377"/>
                  <a:ext cx="360000" cy="360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1000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cxnSp>
              <p:nvCxnSpPr>
                <p:cNvPr id="66" name="直接箭头连接符 65"/>
                <p:cNvCxnSpPr/>
                <p:nvPr/>
              </p:nvCxnSpPr>
              <p:spPr>
                <a:xfrm flipV="1">
                  <a:off x="3555127"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a:xfrm flipV="1">
                  <a:off x="4230821" y="3638377"/>
                  <a:ext cx="298450" cy="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cxnSp>
            <p:nvCxnSpPr>
              <p:cNvPr id="51" name="直接箭头连接符 50"/>
              <p:cNvCxnSpPr>
                <a:stCxn id="43" idx="7"/>
                <a:endCxn id="68" idx="2"/>
              </p:cNvCxnSpPr>
              <p:nvPr/>
            </p:nvCxnSpPr>
            <p:spPr>
              <a:xfrm flipV="1">
                <a:off x="1763170" y="3583862"/>
                <a:ext cx="311729" cy="210518"/>
              </a:xfrm>
              <a:prstGeom prst="straightConnector1">
                <a:avLst/>
              </a:prstGeom>
              <a:ln w="12700">
                <a:solidFill>
                  <a:schemeClr val="tx1"/>
                </a:solidFill>
                <a:prstDash val="sysDash"/>
                <a:headEnd type="none" w="med" len="med"/>
                <a:tailEnd type="triangle" w="sm" len="lg"/>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64" idx="2"/>
                <a:endCxn id="43" idx="5"/>
              </p:cNvCxnSpPr>
              <p:nvPr/>
            </p:nvCxnSpPr>
            <p:spPr>
              <a:xfrm flipH="1" flipV="1">
                <a:off x="1763170" y="4048938"/>
                <a:ext cx="311729" cy="153732"/>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sp>
          <p:nvSpPr>
            <p:cNvPr id="79" name="椭圆 78"/>
            <p:cNvSpPr/>
            <p:nvPr/>
          </p:nvSpPr>
          <p:spPr>
            <a:xfrm>
              <a:off x="1415576" y="3398587"/>
              <a:ext cx="360000" cy="360000"/>
            </a:xfrm>
            <a:prstGeom prst="ellipse">
              <a:avLst/>
            </a:prstGeom>
            <a:solidFill>
              <a:srgbClr val="92D050"/>
            </a:solidFill>
            <a:ln w="19050">
              <a:solidFill>
                <a:srgbClr val="CC00CC"/>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1010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grpSp>
          <p:nvGrpSpPr>
            <p:cNvPr id="80" name="组合 79"/>
            <p:cNvGrpSpPr/>
            <p:nvPr/>
          </p:nvGrpSpPr>
          <p:grpSpPr>
            <a:xfrm>
              <a:off x="2026254" y="3060790"/>
              <a:ext cx="3062773" cy="978808"/>
              <a:chOff x="2227299" y="3556262"/>
              <a:chExt cx="3062773" cy="978808"/>
            </a:xfrm>
            <a:solidFill>
              <a:schemeClr val="accent1">
                <a:lumMod val="20000"/>
                <a:lumOff val="80000"/>
              </a:schemeClr>
            </a:solidFill>
          </p:grpSpPr>
          <p:sp>
            <p:nvSpPr>
              <p:cNvPr id="81" name="椭圆 80"/>
              <p:cNvSpPr/>
              <p:nvPr/>
            </p:nvSpPr>
            <p:spPr>
              <a:xfrm>
                <a:off x="3578687" y="3556262"/>
                <a:ext cx="360000" cy="360000"/>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0010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82" name="椭圆 81"/>
              <p:cNvSpPr/>
              <p:nvPr/>
            </p:nvSpPr>
            <p:spPr>
              <a:xfrm>
                <a:off x="2902993" y="3556262"/>
                <a:ext cx="360000" cy="360000"/>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83" name="椭圆 82"/>
              <p:cNvSpPr/>
              <p:nvPr/>
            </p:nvSpPr>
            <p:spPr>
              <a:xfrm flipH="1">
                <a:off x="4930072" y="3556262"/>
                <a:ext cx="360000" cy="360000"/>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84" name="椭圆 83"/>
              <p:cNvSpPr/>
              <p:nvPr/>
            </p:nvSpPr>
            <p:spPr>
              <a:xfrm>
                <a:off x="4254381" y="3556262"/>
                <a:ext cx="360000" cy="360000"/>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0011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85" name="椭圆 84"/>
              <p:cNvSpPr/>
              <p:nvPr/>
            </p:nvSpPr>
            <p:spPr>
              <a:xfrm flipH="1">
                <a:off x="4930072" y="4175070"/>
                <a:ext cx="360000" cy="360000"/>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86" name="椭圆 85"/>
              <p:cNvSpPr/>
              <p:nvPr/>
            </p:nvSpPr>
            <p:spPr>
              <a:xfrm flipH="1">
                <a:off x="3578684" y="4175070"/>
                <a:ext cx="360000" cy="360000"/>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0111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87" name="椭圆 86"/>
              <p:cNvSpPr/>
              <p:nvPr/>
            </p:nvSpPr>
            <p:spPr>
              <a:xfrm flipH="1">
                <a:off x="4254378" y="4175070"/>
                <a:ext cx="360000" cy="360000"/>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0110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88" name="椭圆 87"/>
              <p:cNvSpPr/>
              <p:nvPr/>
            </p:nvSpPr>
            <p:spPr>
              <a:xfrm>
                <a:off x="2227299" y="4175070"/>
                <a:ext cx="360000" cy="360000"/>
              </a:xfrm>
              <a:prstGeom prst="ellipse">
                <a:avLst/>
              </a:prstGeom>
              <a:solidFill>
                <a:srgbClr val="FF00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1001</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sp>
            <p:nvSpPr>
              <p:cNvPr id="89" name="椭圆 88"/>
              <p:cNvSpPr/>
              <p:nvPr/>
            </p:nvSpPr>
            <p:spPr>
              <a:xfrm flipH="1">
                <a:off x="2902990" y="4175070"/>
                <a:ext cx="360000" cy="360000"/>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1000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grpSp>
        <p:sp>
          <p:nvSpPr>
            <p:cNvPr id="90" name="椭圆 89"/>
            <p:cNvSpPr/>
            <p:nvPr/>
          </p:nvSpPr>
          <p:spPr>
            <a:xfrm>
              <a:off x="2026254" y="3060790"/>
              <a:ext cx="360000" cy="360000"/>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a:solidFill>
                    <a:schemeClr val="tx1"/>
                  </a:solidFill>
                  <a:latin typeface="Times New Roman" panose="02020603050405020304" pitchFamily="18" charset="0"/>
                  <a:cs typeface="Times New Roman" panose="02020603050405020304" pitchFamily="18" charset="0"/>
                </a:rPr>
                <a:t>0000</a:t>
              </a:r>
              <a:endParaRPr lang="zh-CN" altLang="en-US" sz="1000" b="1" dirty="0">
                <a:solidFill>
                  <a:schemeClr val="tx1"/>
                </a:solidFill>
                <a:latin typeface="Times New Roman" panose="02020603050405020304" pitchFamily="18" charset="0"/>
                <a:cs typeface="Times New Roman" panose="02020603050405020304" pitchFamily="18" charset="0"/>
              </a:endParaRPr>
            </a:p>
          </p:txBody>
        </p:sp>
      </p:grpSp>
      <p:sp>
        <p:nvSpPr>
          <p:cNvPr id="3" name="剪去对角的矩形 2"/>
          <p:cNvSpPr/>
          <p:nvPr/>
        </p:nvSpPr>
        <p:spPr>
          <a:xfrm>
            <a:off x="1334891" y="4218044"/>
            <a:ext cx="7341610" cy="1087464"/>
          </a:xfrm>
          <a:prstGeom prst="snip2Diag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60680">
              <a:lnSpc>
                <a:spcPct val="150000"/>
              </a:lnSpc>
            </a:pPr>
            <a:r>
              <a:rPr lang="zh-CN" altLang="zh-CN" sz="1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利用反馈清零构成一个模</a:t>
            </a:r>
            <a:r>
              <a:rPr lang="en-GB" altLang="zh-CN" sz="1400"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zh-CN" sz="1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的计数器时，若集成计数器的清零为异步清零，需要选择</a:t>
            </a:r>
            <a:r>
              <a:rPr lang="en-GB" altLang="zh-CN" sz="1400"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a:t>
            </a:r>
            <a:r>
              <a:rPr lang="en-GB" altLang="zh-CN" sz="1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个状态，并用第</a:t>
            </a:r>
            <a:r>
              <a:rPr lang="en-GB" altLang="zh-CN" sz="1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GB" altLang="zh-CN" sz="1400"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a:t>
            </a:r>
            <a:r>
              <a:rPr lang="en-GB" altLang="zh-CN" sz="1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+1)</a:t>
            </a:r>
            <a:r>
              <a:rPr lang="zh-CN" altLang="zh-CN" sz="1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个计数状态产生清零信号；若集成计数器的清零为同步清零，则只需选择</a:t>
            </a:r>
            <a:r>
              <a:rPr lang="en-GB" altLang="zh-CN" sz="1400"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zh-CN" sz="1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个状态，并用第</a:t>
            </a:r>
            <a:r>
              <a:rPr lang="en-GB" altLang="zh-CN" sz="1400"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a:t>
            </a:r>
            <a:r>
              <a:rPr lang="en-GB" altLang="zh-CN" sz="1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个计数状态产生清零信号。</a:t>
            </a:r>
            <a:endParaRPr lang="zh-CN" altLang="en-US" sz="1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91" name="组合 81"/>
          <p:cNvGrpSpPr/>
          <p:nvPr/>
        </p:nvGrpSpPr>
        <p:grpSpPr>
          <a:xfrm>
            <a:off x="400819" y="1294531"/>
            <a:ext cx="6128271" cy="374630"/>
            <a:chOff x="369777" y="1347760"/>
            <a:chExt cx="6128271" cy="374630"/>
          </a:xfrm>
        </p:grpSpPr>
        <p:sp>
          <p:nvSpPr>
            <p:cNvPr id="92" name="TextBox 83"/>
            <p:cNvSpPr txBox="1"/>
            <p:nvPr/>
          </p:nvSpPr>
          <p:spPr>
            <a:xfrm>
              <a:off x="723710" y="1350409"/>
              <a:ext cx="5774338" cy="369332"/>
            </a:xfrm>
            <a:prstGeom prst="rect">
              <a:avLst/>
            </a:prstGeom>
            <a:noFill/>
          </p:spPr>
          <p:txBody>
            <a:bodyPr wrap="none" rtlCol="0">
              <a:spAutoFit/>
            </a:bodyPr>
            <a:lstStyle/>
            <a:p>
              <a:pPr lvl="0"/>
              <a:r>
                <a:rPr lang="zh-CN" altLang="en-US"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例：</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用</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74LVC161/163</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构成模为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的十进制加法计数器。</a:t>
              </a:r>
              <a:endPar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93" name="Picture 4"/>
            <p:cNvPicPr>
              <a:picLocks noChangeAspect="1" noChangeArrowheads="1"/>
            </p:cNvPicPr>
            <p:nvPr/>
          </p:nvPicPr>
          <p:blipFill>
            <a:blip r:embed="rId1"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94" name="组合 87"/>
          <p:cNvGrpSpPr/>
          <p:nvPr/>
        </p:nvGrpSpPr>
        <p:grpSpPr>
          <a:xfrm>
            <a:off x="407493" y="1779845"/>
            <a:ext cx="8269008" cy="615553"/>
            <a:chOff x="4330854" y="1354964"/>
            <a:chExt cx="8269008" cy="615553"/>
          </a:xfrm>
        </p:grpSpPr>
        <p:sp>
          <p:nvSpPr>
            <p:cNvPr id="95" name="矩形 94"/>
            <p:cNvSpPr/>
            <p:nvPr/>
          </p:nvSpPr>
          <p:spPr>
            <a:xfrm>
              <a:off x="4637499" y="1354964"/>
              <a:ext cx="7962363" cy="615553"/>
            </a:xfrm>
            <a:prstGeom prst="rect">
              <a:avLst/>
            </a:prstGeom>
          </p:spPr>
          <p:txBody>
            <a:bodyPr wrap="square">
              <a:spAutoFit/>
            </a:bodyPr>
            <a:lstStyle/>
            <a:p>
              <a:pPr marL="358775" indent="-358775"/>
              <a:r>
                <a:rPr lang="zh-CN" altLang="en-US"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进制计数器应有</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个状态，而</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74LVC161/163</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在计数过程中有</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16</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个状态。设法跳过多余的</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个状态，则可实现模</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计数器。</a:t>
              </a:r>
              <a:endParaRPr lang="zh-CN" altLang="en-US" sz="1600"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6" name="Picture 5"/>
            <p:cNvPicPr>
              <a:picLocks noChangeAspect="1" noChangeArrowheads="1"/>
            </p:cNvPicPr>
            <p:nvPr/>
          </p:nvPicPr>
          <p:blipFill>
            <a:blip r:embed="rId2" cstate="print"/>
            <a:srcRect/>
            <a:stretch>
              <a:fillRect/>
            </a:stretch>
          </p:blipFill>
          <p:spPr bwMode="auto">
            <a:xfrm>
              <a:off x="4330854" y="1369617"/>
              <a:ext cx="348489" cy="340027"/>
            </a:xfrm>
            <a:prstGeom prst="rect">
              <a:avLst/>
            </a:prstGeom>
            <a:noFill/>
            <a:ln w="9525">
              <a:noFill/>
              <a:miter lim="800000"/>
              <a:headEnd/>
              <a:tailEnd/>
            </a:ln>
          </p:spPr>
        </p:pic>
      </p:grpSp>
      <p:grpSp>
        <p:nvGrpSpPr>
          <p:cNvPr id="97" name="组合 34"/>
          <p:cNvGrpSpPr/>
          <p:nvPr/>
        </p:nvGrpSpPr>
        <p:grpSpPr>
          <a:xfrm>
            <a:off x="392432" y="735720"/>
            <a:ext cx="6649115" cy="420971"/>
            <a:chOff x="670560" y="892917"/>
            <a:chExt cx="6649115" cy="420971"/>
          </a:xfrm>
        </p:grpSpPr>
        <p:sp>
          <p:nvSpPr>
            <p:cNvPr id="98" name="矩形 97"/>
            <p:cNvSpPr/>
            <p:nvPr/>
          </p:nvSpPr>
          <p:spPr>
            <a:xfrm>
              <a:off x="1035231" y="913778"/>
              <a:ext cx="6284444" cy="400110"/>
            </a:xfrm>
            <a:prstGeom prst="rect">
              <a:avLst/>
            </a:prstGeom>
          </p:spPr>
          <p:txBody>
            <a:bodyPr wrap="square">
              <a:spAutoFit/>
            </a:bodyPr>
            <a:lstStyle/>
            <a:p>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集成计数器的应用</a:t>
              </a:r>
              <a:r>
                <a:rPr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构成任意进制计数器</a:t>
              </a:r>
              <a:r>
                <a:rPr lang="en-US" altLang="zh-CN" sz="20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(M&gt;N)</a:t>
              </a:r>
              <a:endPar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12"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mc:AlternateContent xmlns:mc="http://schemas.openxmlformats.org/markup-compatibility/2006">
    <mc:Choice xmlns:p14="http://schemas.microsoft.com/office/powerpoint/2010/main" Requires="p14">
      <p:transition spd="slow" p14:dur="1200">
        <p14:prism di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458420" y="2867796"/>
            <a:ext cx="511436" cy="1827199"/>
          </a:xfrm>
          <a:prstGeom prst="roundRect">
            <a:avLst/>
          </a:prstGeom>
          <a:solidFill>
            <a:schemeClr val="accent1">
              <a:lumMod val="20000"/>
              <a:lumOff val="80000"/>
            </a:schemeClr>
          </a:solidFill>
          <a:ln w="19050">
            <a:solidFill>
              <a:srgbClr val="0000FF"/>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latin typeface="微软雅黑" panose="020B0503020204020204" pitchFamily="34" charset="-122"/>
                <a:ea typeface="微软雅黑" panose="020B0503020204020204" pitchFamily="34" charset="-122"/>
              </a:rPr>
              <a:t>反馈</a:t>
            </a:r>
            <a:endParaRPr lang="en-US" altLang="zh-CN" dirty="0">
              <a:solidFill>
                <a:srgbClr val="FF0000"/>
              </a:solidFill>
              <a:latin typeface="微软雅黑" panose="020B0503020204020204" pitchFamily="34" charset="-122"/>
              <a:ea typeface="微软雅黑" panose="020B0503020204020204" pitchFamily="34" charset="-122"/>
            </a:endParaRPr>
          </a:p>
          <a:p>
            <a:pPr algn="ctr"/>
            <a:r>
              <a:rPr lang="zh-CN" altLang="en-US" dirty="0">
                <a:solidFill>
                  <a:srgbClr val="FF0000"/>
                </a:solidFill>
                <a:latin typeface="微软雅黑" panose="020B0503020204020204" pitchFamily="34" charset="-122"/>
                <a:ea typeface="微软雅黑" panose="020B0503020204020204" pitchFamily="34" charset="-122"/>
              </a:rPr>
              <a:t>置数法</a:t>
            </a:r>
            <a:endParaRPr lang="zh-CN" altLang="en-US" dirty="0"/>
          </a:p>
        </p:txBody>
      </p:sp>
      <p:graphicFrame>
        <p:nvGraphicFramePr>
          <p:cNvPr id="4" name="对象 3"/>
          <p:cNvGraphicFramePr>
            <a:graphicFrameLocks noChangeAspect="1"/>
          </p:cNvGraphicFramePr>
          <p:nvPr/>
        </p:nvGraphicFramePr>
        <p:xfrm>
          <a:off x="2025606" y="2395398"/>
          <a:ext cx="5531909" cy="1495808"/>
        </p:xfrm>
        <a:graphic>
          <a:graphicData uri="http://schemas.openxmlformats.org/presentationml/2006/ole">
            <mc:AlternateContent xmlns:mc="http://schemas.openxmlformats.org/markup-compatibility/2006">
              <mc:Choice xmlns:v="urn:schemas-microsoft-com:vml" Requires="v">
                <p:oleObj spid="_x0000_s42002" name="Visio" r:id="rId1" imgW="3409950" imgH="933450" progId="Visio.Drawing.11">
                  <p:embed/>
                </p:oleObj>
              </mc:Choice>
              <mc:Fallback>
                <p:oleObj name="Visio" r:id="rId1" imgW="3409950" imgH="93345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5606" y="2395398"/>
                        <a:ext cx="5531909" cy="14958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 name="AutoShape 17"/>
          <p:cNvSpPr>
            <a:spLocks noChangeArrowheads="1"/>
          </p:cNvSpPr>
          <p:nvPr/>
        </p:nvSpPr>
        <p:spPr bwMode="auto">
          <a:xfrm>
            <a:off x="1174425" y="2558372"/>
            <a:ext cx="1101562" cy="460180"/>
          </a:xfrm>
          <a:prstGeom prst="wedgeRoundRectCallout">
            <a:avLst>
              <a:gd name="adj1" fmla="val 56705"/>
              <a:gd name="adj2" fmla="val 48995"/>
              <a:gd name="adj3" fmla="val 16667"/>
            </a:avLst>
          </a:prstGeom>
          <a:solidFill>
            <a:srgbClr val="FFFF66"/>
          </a:solidFill>
          <a:ln w="19050" algn="ctr">
            <a:solidFill>
              <a:srgbClr val="FF0000"/>
            </a:solidFill>
            <a:miter lim="800000"/>
          </a:ln>
        </p:spPr>
        <p:txBody>
          <a:bodyPr lIns="0" rIns="0" anchor="ctr"/>
          <a:lstStyle/>
          <a:p>
            <a:pPr algn="ct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置“零”</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法</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2" name="AutoShape 17"/>
          <p:cNvSpPr>
            <a:spLocks noChangeArrowheads="1"/>
          </p:cNvSpPr>
          <p:nvPr/>
        </p:nvSpPr>
        <p:spPr bwMode="auto">
          <a:xfrm>
            <a:off x="7686736" y="2374337"/>
            <a:ext cx="1101562" cy="460180"/>
          </a:xfrm>
          <a:prstGeom prst="wedgeRoundRectCallout">
            <a:avLst>
              <a:gd name="adj1" fmla="val -80836"/>
              <a:gd name="adj2" fmla="val 78003"/>
              <a:gd name="adj3" fmla="val 16667"/>
            </a:avLst>
          </a:prstGeom>
          <a:solidFill>
            <a:srgbClr val="FFFF66"/>
          </a:solidFill>
          <a:ln w="19050" algn="ctr">
            <a:solidFill>
              <a:srgbClr val="FF0000"/>
            </a:solidFill>
            <a:miter lim="800000"/>
          </a:ln>
        </p:spPr>
        <p:txBody>
          <a:bodyPr lIns="0" rIns="0" anchor="ctr"/>
          <a:lstStyle/>
          <a:p>
            <a:pPr algn="ct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进位置数法</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2" name="对象 11"/>
          <p:cNvGraphicFramePr>
            <a:graphicFrameLocks noChangeAspect="1"/>
          </p:cNvGraphicFramePr>
          <p:nvPr/>
        </p:nvGraphicFramePr>
        <p:xfrm>
          <a:off x="1854200" y="3822700"/>
          <a:ext cx="6584950" cy="1676400"/>
        </p:xfrm>
        <a:graphic>
          <a:graphicData uri="http://schemas.openxmlformats.org/presentationml/2006/ole">
            <mc:AlternateContent xmlns:mc="http://schemas.openxmlformats.org/markup-compatibility/2006">
              <mc:Choice xmlns:v="urn:schemas-microsoft-com:vml" Requires="v">
                <p:oleObj spid="_x0000_s42003" name="Visio" r:id="rId3" imgW="5252720" imgH="1439545" progId="Visio.Drawing.11">
                  <p:embed/>
                </p:oleObj>
              </mc:Choice>
              <mc:Fallback>
                <p:oleObj name="Visio" r:id="rId3" imgW="5252720" imgH="1439545" progId="Visio.Drawing.11">
                  <p:embed/>
                  <p:pic>
                    <p:nvPicPr>
                      <p:cNvPr id="0" name="对象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4200" y="3822700"/>
                        <a:ext cx="6584950"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5" name="组合 14"/>
          <p:cNvGrpSpPr/>
          <p:nvPr/>
        </p:nvGrpSpPr>
        <p:grpSpPr>
          <a:xfrm>
            <a:off x="2795587" y="4399777"/>
            <a:ext cx="284400" cy="684661"/>
            <a:chOff x="2795587" y="4399777"/>
            <a:chExt cx="284400" cy="684661"/>
          </a:xfrm>
        </p:grpSpPr>
        <p:sp>
          <p:nvSpPr>
            <p:cNvPr id="93" name="椭圆 92"/>
            <p:cNvSpPr/>
            <p:nvPr/>
          </p:nvSpPr>
          <p:spPr>
            <a:xfrm>
              <a:off x="2795587" y="4399777"/>
              <a:ext cx="284400" cy="270000"/>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700" b="1" dirty="0">
                  <a:solidFill>
                    <a:schemeClr val="tx1"/>
                  </a:solidFill>
                  <a:latin typeface="Times New Roman" panose="02020603050405020304" pitchFamily="18" charset="0"/>
                  <a:cs typeface="Times New Roman" panose="02020603050405020304" pitchFamily="18" charset="0"/>
                </a:rPr>
                <a:t>0000</a:t>
              </a:r>
              <a:endParaRPr lang="zh-CN" altLang="en-US" sz="700" b="1" dirty="0">
                <a:solidFill>
                  <a:schemeClr val="tx1"/>
                </a:solidFill>
                <a:latin typeface="Times New Roman" panose="02020603050405020304" pitchFamily="18" charset="0"/>
                <a:cs typeface="Times New Roman" panose="02020603050405020304" pitchFamily="18" charset="0"/>
              </a:endParaRPr>
            </a:p>
          </p:txBody>
        </p:sp>
        <p:sp>
          <p:nvSpPr>
            <p:cNvPr id="94" name="椭圆 93"/>
            <p:cNvSpPr/>
            <p:nvPr/>
          </p:nvSpPr>
          <p:spPr>
            <a:xfrm>
              <a:off x="2795587" y="4814438"/>
              <a:ext cx="284400" cy="270000"/>
            </a:xfrm>
            <a:prstGeom prst="ellipse">
              <a:avLst/>
            </a:prstGeom>
            <a:solidFill>
              <a:srgbClr val="FF00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700" b="1" dirty="0">
                  <a:solidFill>
                    <a:schemeClr val="tx1"/>
                  </a:solidFill>
                  <a:latin typeface="Times New Roman" panose="02020603050405020304" pitchFamily="18" charset="0"/>
                  <a:cs typeface="Times New Roman" panose="02020603050405020304" pitchFamily="18" charset="0"/>
                </a:rPr>
                <a:t>1001</a:t>
              </a:r>
              <a:endParaRPr lang="zh-CN" altLang="en-US" sz="700" b="1" dirty="0">
                <a:solidFill>
                  <a:schemeClr val="tx1"/>
                </a:solidFill>
                <a:latin typeface="Times New Roman" panose="02020603050405020304" pitchFamily="18" charset="0"/>
                <a:cs typeface="Times New Roman" panose="02020603050405020304" pitchFamily="18" charset="0"/>
              </a:endParaRPr>
            </a:p>
          </p:txBody>
        </p:sp>
      </p:grpSp>
      <p:sp>
        <p:nvSpPr>
          <p:cNvPr id="14" name="圆角矩形 13"/>
          <p:cNvSpPr/>
          <p:nvPr/>
        </p:nvSpPr>
        <p:spPr>
          <a:xfrm>
            <a:off x="3079987" y="2382471"/>
            <a:ext cx="914400" cy="220257"/>
          </a:xfrm>
          <a:prstGeom prst="roundRect">
            <a:avLst>
              <a:gd name="adj" fmla="val 13017"/>
            </a:avLst>
          </a:prstGeom>
          <a:solidFill>
            <a:schemeClr val="accent1">
              <a:alpha val="3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a:off x="5831252" y="2454917"/>
            <a:ext cx="914400" cy="220257"/>
          </a:xfrm>
          <a:prstGeom prst="roundRect">
            <a:avLst>
              <a:gd name="adj" fmla="val 13017"/>
            </a:avLst>
          </a:prstGeom>
          <a:solidFill>
            <a:schemeClr val="accent1">
              <a:alpha val="3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圆角矩形 95"/>
          <p:cNvSpPr/>
          <p:nvPr/>
        </p:nvSpPr>
        <p:spPr>
          <a:xfrm>
            <a:off x="3824461" y="3510762"/>
            <a:ext cx="427165" cy="380444"/>
          </a:xfrm>
          <a:prstGeom prst="roundRect">
            <a:avLst>
              <a:gd name="adj" fmla="val 13017"/>
            </a:avLst>
          </a:prstGeom>
          <a:solidFill>
            <a:schemeClr val="accent1">
              <a:alpha val="3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a:off x="6918076" y="2809628"/>
            <a:ext cx="430497" cy="479612"/>
          </a:xfrm>
          <a:prstGeom prst="roundRect">
            <a:avLst>
              <a:gd name="adj" fmla="val 13017"/>
            </a:avLst>
          </a:prstGeom>
          <a:solidFill>
            <a:schemeClr val="accent1">
              <a:alpha val="3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6432638" y="4399777"/>
            <a:ext cx="284400" cy="684661"/>
            <a:chOff x="6421208" y="4399777"/>
            <a:chExt cx="284400" cy="684661"/>
          </a:xfrm>
        </p:grpSpPr>
        <p:sp>
          <p:nvSpPr>
            <p:cNvPr id="98" name="椭圆 97"/>
            <p:cNvSpPr/>
            <p:nvPr/>
          </p:nvSpPr>
          <p:spPr>
            <a:xfrm>
              <a:off x="6421208" y="4399777"/>
              <a:ext cx="284400" cy="270000"/>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700" b="1" dirty="0">
                  <a:solidFill>
                    <a:schemeClr val="tx1"/>
                  </a:solidFill>
                  <a:latin typeface="Times New Roman" panose="02020603050405020304" pitchFamily="18" charset="0"/>
                  <a:cs typeface="Times New Roman" panose="02020603050405020304" pitchFamily="18" charset="0"/>
                </a:rPr>
                <a:t>0110</a:t>
              </a:r>
              <a:endParaRPr lang="zh-CN" altLang="en-US" sz="700" b="1" dirty="0">
                <a:solidFill>
                  <a:schemeClr val="tx1"/>
                </a:solidFill>
                <a:latin typeface="Times New Roman" panose="02020603050405020304" pitchFamily="18" charset="0"/>
                <a:cs typeface="Times New Roman" panose="02020603050405020304" pitchFamily="18" charset="0"/>
              </a:endParaRPr>
            </a:p>
          </p:txBody>
        </p:sp>
        <p:sp>
          <p:nvSpPr>
            <p:cNvPr id="112" name="椭圆 111"/>
            <p:cNvSpPr/>
            <p:nvPr/>
          </p:nvSpPr>
          <p:spPr>
            <a:xfrm>
              <a:off x="6421208" y="4814438"/>
              <a:ext cx="284400" cy="270000"/>
            </a:xfrm>
            <a:prstGeom prst="ellipse">
              <a:avLst/>
            </a:prstGeom>
            <a:solidFill>
              <a:srgbClr val="FF00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700" b="1" dirty="0">
                  <a:solidFill>
                    <a:schemeClr val="tx1"/>
                  </a:solidFill>
                  <a:latin typeface="Times New Roman" panose="02020603050405020304" pitchFamily="18" charset="0"/>
                  <a:cs typeface="Times New Roman" panose="02020603050405020304" pitchFamily="18" charset="0"/>
                </a:rPr>
                <a:t>1111</a:t>
              </a:r>
              <a:endParaRPr lang="zh-CN" altLang="en-US" sz="700" b="1" dirty="0">
                <a:solidFill>
                  <a:schemeClr val="tx1"/>
                </a:solidFill>
                <a:latin typeface="Times New Roman" panose="02020603050405020304" pitchFamily="18" charset="0"/>
                <a:cs typeface="Times New Roman" panose="02020603050405020304" pitchFamily="18" charset="0"/>
              </a:endParaRPr>
            </a:p>
          </p:txBody>
        </p:sp>
      </p:grpSp>
      <p:grpSp>
        <p:nvGrpSpPr>
          <p:cNvPr id="26" name="组合 81"/>
          <p:cNvGrpSpPr/>
          <p:nvPr/>
        </p:nvGrpSpPr>
        <p:grpSpPr>
          <a:xfrm>
            <a:off x="400819" y="1294531"/>
            <a:ext cx="6128271" cy="374630"/>
            <a:chOff x="369777" y="1347760"/>
            <a:chExt cx="6128271" cy="374630"/>
          </a:xfrm>
        </p:grpSpPr>
        <p:sp>
          <p:nvSpPr>
            <p:cNvPr id="27" name="TextBox 83"/>
            <p:cNvSpPr txBox="1"/>
            <p:nvPr/>
          </p:nvSpPr>
          <p:spPr>
            <a:xfrm>
              <a:off x="723710" y="1350409"/>
              <a:ext cx="5774338" cy="369332"/>
            </a:xfrm>
            <a:prstGeom prst="rect">
              <a:avLst/>
            </a:prstGeom>
            <a:noFill/>
          </p:spPr>
          <p:txBody>
            <a:bodyPr wrap="none" rtlCol="0">
              <a:spAutoFit/>
            </a:bodyPr>
            <a:lstStyle/>
            <a:p>
              <a:pPr lvl="0"/>
              <a:r>
                <a:rPr lang="zh-CN" altLang="en-US"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例：</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用</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74LVC161/163</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构成模为</a:t>
              </a:r>
              <a:r>
                <a:rPr lang="en-US" altLang="zh-CN"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10</a:t>
              </a:r>
              <a:r>
                <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rPr>
                <a:t>的十进制加法计数器。</a:t>
              </a:r>
              <a:endParaRPr lang="zh-CN" altLang="en-US" b="1"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8" name="Picture 4"/>
            <p:cNvPicPr>
              <a:picLocks noChangeAspect="1" noChangeArrowheads="1"/>
            </p:cNvPicPr>
            <p:nvPr/>
          </p:nvPicPr>
          <p:blipFill>
            <a:blip r:embed="rId5"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29" name="组合 87"/>
          <p:cNvGrpSpPr/>
          <p:nvPr/>
        </p:nvGrpSpPr>
        <p:grpSpPr>
          <a:xfrm>
            <a:off x="407493" y="1779845"/>
            <a:ext cx="8269008" cy="615553"/>
            <a:chOff x="4330854" y="1354964"/>
            <a:chExt cx="8269008" cy="615553"/>
          </a:xfrm>
        </p:grpSpPr>
        <p:sp>
          <p:nvSpPr>
            <p:cNvPr id="34" name="矩形 33"/>
            <p:cNvSpPr/>
            <p:nvPr/>
          </p:nvSpPr>
          <p:spPr>
            <a:xfrm>
              <a:off x="4637499" y="1354964"/>
              <a:ext cx="7962363" cy="615553"/>
            </a:xfrm>
            <a:prstGeom prst="rect">
              <a:avLst/>
            </a:prstGeom>
          </p:spPr>
          <p:txBody>
            <a:bodyPr wrap="square">
              <a:spAutoFit/>
            </a:bodyPr>
            <a:lstStyle/>
            <a:p>
              <a:pPr marL="358775" indent="-358775"/>
              <a:r>
                <a:rPr lang="zh-CN" altLang="en-US"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进制计数器应有</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个状态，而</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74LVC161/163</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在计数过程中有</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16</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个状态。设法跳过多余的</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个状态，则可实现模</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计数器。</a:t>
              </a:r>
              <a:endParaRPr lang="zh-CN" altLang="en-US" sz="1600"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5" name="Picture 5"/>
            <p:cNvPicPr>
              <a:picLocks noChangeAspect="1" noChangeArrowheads="1"/>
            </p:cNvPicPr>
            <p:nvPr/>
          </p:nvPicPr>
          <p:blipFill>
            <a:blip r:embed="rId6" cstate="print"/>
            <a:srcRect/>
            <a:stretch>
              <a:fillRect/>
            </a:stretch>
          </p:blipFill>
          <p:spPr bwMode="auto">
            <a:xfrm>
              <a:off x="4330854" y="1369617"/>
              <a:ext cx="348489" cy="340027"/>
            </a:xfrm>
            <a:prstGeom prst="rect">
              <a:avLst/>
            </a:prstGeom>
            <a:noFill/>
            <a:ln w="9525">
              <a:noFill/>
              <a:miter lim="800000"/>
              <a:headEnd/>
              <a:tailEnd/>
            </a:ln>
          </p:spPr>
        </p:pic>
      </p:grpSp>
      <p:grpSp>
        <p:nvGrpSpPr>
          <p:cNvPr id="36" name="组合 34"/>
          <p:cNvGrpSpPr/>
          <p:nvPr/>
        </p:nvGrpSpPr>
        <p:grpSpPr>
          <a:xfrm>
            <a:off x="392432" y="735720"/>
            <a:ext cx="6649115" cy="420971"/>
            <a:chOff x="670560" y="892917"/>
            <a:chExt cx="6649115" cy="420971"/>
          </a:xfrm>
        </p:grpSpPr>
        <p:sp>
          <p:nvSpPr>
            <p:cNvPr id="37" name="矩形 36"/>
            <p:cNvSpPr/>
            <p:nvPr/>
          </p:nvSpPr>
          <p:spPr>
            <a:xfrm>
              <a:off x="1035231" y="913778"/>
              <a:ext cx="6284444" cy="400110"/>
            </a:xfrm>
            <a:prstGeom prst="rect">
              <a:avLst/>
            </a:prstGeom>
          </p:spPr>
          <p:txBody>
            <a:bodyPr wrap="square">
              <a:spAutoFit/>
            </a:bodyPr>
            <a:lstStyle/>
            <a:p>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集成计数器的应用</a:t>
              </a:r>
              <a:r>
                <a:rPr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构成任意进制计数器</a:t>
              </a:r>
              <a:r>
                <a:rPr lang="en-US" altLang="zh-CN" sz="20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(M&gt;N)</a:t>
              </a:r>
              <a:endPar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8" name="Picture 3"/>
            <p:cNvPicPr>
              <a:picLocks noChangeAspect="1" noChangeArrowheads="1"/>
            </p:cNvPicPr>
            <p:nvPr/>
          </p:nvPicPr>
          <p:blipFill>
            <a:blip r:embed="rId7"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slide(fromLeft)">
                                      <p:cBhvr>
                                        <p:cTn id="7" dur="1000"/>
                                        <p:tgtEl>
                                          <p:spTgt spid="30"/>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par>
                          <p:cTn id="14" fill="hold">
                            <p:stCondLst>
                              <p:cond delay="2000"/>
                            </p:stCondLst>
                            <p:childTnLst>
                              <p:par>
                                <p:cTn id="15" presetID="42" presetClass="entr" presetSubtype="0" fill="hold"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96"/>
                                        </p:tgtEl>
                                        <p:attrNameLst>
                                          <p:attrName>style.visibility</p:attrName>
                                        </p:attrNameLst>
                                      </p:cBhvr>
                                      <p:to>
                                        <p:strVal val="visible"/>
                                      </p:to>
                                    </p:set>
                                    <p:anim calcmode="lin" valueType="num">
                                      <p:cBhvr>
                                        <p:cTn id="24" dur="1000" fill="hold"/>
                                        <p:tgtEl>
                                          <p:spTgt spid="96"/>
                                        </p:tgtEl>
                                        <p:attrNameLst>
                                          <p:attrName>ppt_w</p:attrName>
                                        </p:attrNameLst>
                                      </p:cBhvr>
                                      <p:tavLst>
                                        <p:tav tm="0">
                                          <p:val>
                                            <p:fltVal val="0"/>
                                          </p:val>
                                        </p:tav>
                                        <p:tav tm="100000">
                                          <p:val>
                                            <p:strVal val="#ppt_w"/>
                                          </p:val>
                                        </p:tav>
                                      </p:tavLst>
                                    </p:anim>
                                    <p:anim calcmode="lin" valueType="num">
                                      <p:cBhvr>
                                        <p:cTn id="25" dur="1000" fill="hold"/>
                                        <p:tgtEl>
                                          <p:spTgt spid="96"/>
                                        </p:tgtEl>
                                        <p:attrNameLst>
                                          <p:attrName>ppt_h</p:attrName>
                                        </p:attrNameLst>
                                      </p:cBhvr>
                                      <p:tavLst>
                                        <p:tav tm="0">
                                          <p:val>
                                            <p:fltVal val="0"/>
                                          </p:val>
                                        </p:tav>
                                        <p:tav tm="100000">
                                          <p:val>
                                            <p:strVal val="#ppt_h"/>
                                          </p:val>
                                        </p:tav>
                                      </p:tavLst>
                                    </p:anim>
                                  </p:childTnLst>
                                </p:cTn>
                              </p:par>
                            </p:childTnLst>
                          </p:cTn>
                        </p:par>
                        <p:par>
                          <p:cTn id="26" fill="hold">
                            <p:stCondLst>
                              <p:cond delay="1000"/>
                            </p:stCondLst>
                            <p:childTnLst>
                              <p:par>
                                <p:cTn id="27" presetID="23" presetClass="entr" presetSubtype="16"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1000" fill="hold"/>
                                        <p:tgtEl>
                                          <p:spTgt spid="14"/>
                                        </p:tgtEl>
                                        <p:attrNameLst>
                                          <p:attrName>ppt_w</p:attrName>
                                        </p:attrNameLst>
                                      </p:cBhvr>
                                      <p:tavLst>
                                        <p:tav tm="0">
                                          <p:val>
                                            <p:fltVal val="0"/>
                                          </p:val>
                                        </p:tav>
                                        <p:tav tm="100000">
                                          <p:val>
                                            <p:strVal val="#ppt_w"/>
                                          </p:val>
                                        </p:tav>
                                      </p:tavLst>
                                    </p:anim>
                                    <p:anim calcmode="lin" valueType="num">
                                      <p:cBhvr>
                                        <p:cTn id="30" dur="1000" fill="hold"/>
                                        <p:tgtEl>
                                          <p:spTgt spid="14"/>
                                        </p:tgtEl>
                                        <p:attrNameLst>
                                          <p:attrName>ppt_h</p:attrName>
                                        </p:attrNameLst>
                                      </p:cBhvr>
                                      <p:tavLst>
                                        <p:tav tm="0">
                                          <p:val>
                                            <p:fltVal val="0"/>
                                          </p:val>
                                        </p:tav>
                                        <p:tav tm="100000">
                                          <p:val>
                                            <p:strVal val="#ppt_h"/>
                                          </p:val>
                                        </p:tav>
                                      </p:tavLst>
                                    </p:anim>
                                  </p:childTnLst>
                                </p:cTn>
                              </p:par>
                            </p:childTnLst>
                          </p:cTn>
                        </p:par>
                        <p:par>
                          <p:cTn id="31" fill="hold">
                            <p:stCondLst>
                              <p:cond delay="2000"/>
                            </p:stCondLst>
                            <p:childTnLst>
                              <p:par>
                                <p:cTn id="32" presetID="17" presetClass="entr" presetSubtype="4" fill="hold" nodeType="afterEffect">
                                  <p:stCondLst>
                                    <p:cond delay="0"/>
                                  </p:stCondLst>
                                  <p:childTnLst>
                                    <p:set>
                                      <p:cBhvr>
                                        <p:cTn id="33" dur="1" fill="hold">
                                          <p:stCondLst>
                                            <p:cond delay="0"/>
                                          </p:stCondLst>
                                        </p:cTn>
                                        <p:tgtEl>
                                          <p:spTgt spid="15"/>
                                        </p:tgtEl>
                                        <p:attrNameLst>
                                          <p:attrName>style.visibility</p:attrName>
                                        </p:attrNameLst>
                                      </p:cBhvr>
                                      <p:to>
                                        <p:strVal val="visible"/>
                                      </p:to>
                                    </p:set>
                                    <p:anim calcmode="lin" valueType="num">
                                      <p:cBhvr>
                                        <p:cTn id="34" dur="1000" fill="hold"/>
                                        <p:tgtEl>
                                          <p:spTgt spid="15"/>
                                        </p:tgtEl>
                                        <p:attrNameLst>
                                          <p:attrName>ppt_x</p:attrName>
                                        </p:attrNameLst>
                                      </p:cBhvr>
                                      <p:tavLst>
                                        <p:tav tm="0">
                                          <p:val>
                                            <p:strVal val="#ppt_x"/>
                                          </p:val>
                                        </p:tav>
                                        <p:tav tm="100000">
                                          <p:val>
                                            <p:strVal val="#ppt_x"/>
                                          </p:val>
                                        </p:tav>
                                      </p:tavLst>
                                    </p:anim>
                                    <p:anim calcmode="lin" valueType="num">
                                      <p:cBhvr>
                                        <p:cTn id="35" dur="1000" fill="hold"/>
                                        <p:tgtEl>
                                          <p:spTgt spid="15"/>
                                        </p:tgtEl>
                                        <p:attrNameLst>
                                          <p:attrName>ppt_y</p:attrName>
                                        </p:attrNameLst>
                                      </p:cBhvr>
                                      <p:tavLst>
                                        <p:tav tm="0">
                                          <p:val>
                                            <p:strVal val="#ppt_y+#ppt_h/2"/>
                                          </p:val>
                                        </p:tav>
                                        <p:tav tm="100000">
                                          <p:val>
                                            <p:strVal val="#ppt_y"/>
                                          </p:val>
                                        </p:tav>
                                      </p:tavLst>
                                    </p:anim>
                                    <p:anim calcmode="lin" valueType="num">
                                      <p:cBhvr>
                                        <p:cTn id="36" dur="1000" fill="hold"/>
                                        <p:tgtEl>
                                          <p:spTgt spid="15"/>
                                        </p:tgtEl>
                                        <p:attrNameLst>
                                          <p:attrName>ppt_w</p:attrName>
                                        </p:attrNameLst>
                                      </p:cBhvr>
                                      <p:tavLst>
                                        <p:tav tm="0">
                                          <p:val>
                                            <p:strVal val="#ppt_w"/>
                                          </p:val>
                                        </p:tav>
                                        <p:tav tm="100000">
                                          <p:val>
                                            <p:strVal val="#ppt_w"/>
                                          </p:val>
                                        </p:tav>
                                      </p:tavLst>
                                    </p:anim>
                                    <p:anim calcmode="lin" valueType="num">
                                      <p:cBhvr>
                                        <p:cTn id="37" dur="10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grpId="0" nodeType="clickEffect">
                                  <p:stCondLst>
                                    <p:cond delay="0"/>
                                  </p:stCondLst>
                                  <p:childTnLst>
                                    <p:set>
                                      <p:cBhvr>
                                        <p:cTn id="41" dur="1" fill="hold">
                                          <p:stCondLst>
                                            <p:cond delay="0"/>
                                          </p:stCondLst>
                                        </p:cTn>
                                        <p:tgtEl>
                                          <p:spTgt spid="91"/>
                                        </p:tgtEl>
                                        <p:attrNameLst>
                                          <p:attrName>style.visibility</p:attrName>
                                        </p:attrNameLst>
                                      </p:cBhvr>
                                      <p:to>
                                        <p:strVal val="visible"/>
                                      </p:to>
                                    </p:set>
                                    <p:animEffect transition="in" filter="wipe(right)">
                                      <p:cBhvr>
                                        <p:cTn id="42" dur="1000"/>
                                        <p:tgtEl>
                                          <p:spTgt spid="91"/>
                                        </p:tgtEl>
                                      </p:cBhvr>
                                    </p:animEffect>
                                  </p:childTnLst>
                                </p:cTn>
                              </p:par>
                            </p:childTnLst>
                          </p:cTn>
                        </p:par>
                      </p:childTnLst>
                    </p:cTn>
                  </p:par>
                  <p:par>
                    <p:cTn id="43" fill="hold">
                      <p:stCondLst>
                        <p:cond delay="indefinite"/>
                      </p:stCondLst>
                      <p:childTnLst>
                        <p:par>
                          <p:cTn id="44" fill="hold">
                            <p:stCondLst>
                              <p:cond delay="0"/>
                            </p:stCondLst>
                            <p:childTnLst>
                              <p:par>
                                <p:cTn id="45" presetID="23" presetClass="entr" presetSubtype="16" fill="hold" grpId="0" nodeType="clickEffect">
                                  <p:stCondLst>
                                    <p:cond delay="0"/>
                                  </p:stCondLst>
                                  <p:childTnLst>
                                    <p:set>
                                      <p:cBhvr>
                                        <p:cTn id="46" dur="1" fill="hold">
                                          <p:stCondLst>
                                            <p:cond delay="0"/>
                                          </p:stCondLst>
                                        </p:cTn>
                                        <p:tgtEl>
                                          <p:spTgt spid="97"/>
                                        </p:tgtEl>
                                        <p:attrNameLst>
                                          <p:attrName>style.visibility</p:attrName>
                                        </p:attrNameLst>
                                      </p:cBhvr>
                                      <p:to>
                                        <p:strVal val="visible"/>
                                      </p:to>
                                    </p:set>
                                    <p:anim calcmode="lin" valueType="num">
                                      <p:cBhvr>
                                        <p:cTn id="47" dur="1000" fill="hold"/>
                                        <p:tgtEl>
                                          <p:spTgt spid="97"/>
                                        </p:tgtEl>
                                        <p:attrNameLst>
                                          <p:attrName>ppt_w</p:attrName>
                                        </p:attrNameLst>
                                      </p:cBhvr>
                                      <p:tavLst>
                                        <p:tav tm="0">
                                          <p:val>
                                            <p:fltVal val="0"/>
                                          </p:val>
                                        </p:tav>
                                        <p:tav tm="100000">
                                          <p:val>
                                            <p:strVal val="#ppt_w"/>
                                          </p:val>
                                        </p:tav>
                                      </p:tavLst>
                                    </p:anim>
                                    <p:anim calcmode="lin" valueType="num">
                                      <p:cBhvr>
                                        <p:cTn id="48" dur="1000" fill="hold"/>
                                        <p:tgtEl>
                                          <p:spTgt spid="97"/>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23" presetClass="entr" presetSubtype="16" fill="hold" grpId="0" nodeType="clickEffect">
                                  <p:stCondLst>
                                    <p:cond delay="0"/>
                                  </p:stCondLst>
                                  <p:childTnLst>
                                    <p:set>
                                      <p:cBhvr>
                                        <p:cTn id="52" dur="1" fill="hold">
                                          <p:stCondLst>
                                            <p:cond delay="0"/>
                                          </p:stCondLst>
                                        </p:cTn>
                                        <p:tgtEl>
                                          <p:spTgt spid="95"/>
                                        </p:tgtEl>
                                        <p:attrNameLst>
                                          <p:attrName>style.visibility</p:attrName>
                                        </p:attrNameLst>
                                      </p:cBhvr>
                                      <p:to>
                                        <p:strVal val="visible"/>
                                      </p:to>
                                    </p:set>
                                    <p:anim calcmode="lin" valueType="num">
                                      <p:cBhvr>
                                        <p:cTn id="53" dur="1000" fill="hold"/>
                                        <p:tgtEl>
                                          <p:spTgt spid="95"/>
                                        </p:tgtEl>
                                        <p:attrNameLst>
                                          <p:attrName>ppt_w</p:attrName>
                                        </p:attrNameLst>
                                      </p:cBhvr>
                                      <p:tavLst>
                                        <p:tav tm="0">
                                          <p:val>
                                            <p:fltVal val="0"/>
                                          </p:val>
                                        </p:tav>
                                        <p:tav tm="100000">
                                          <p:val>
                                            <p:strVal val="#ppt_w"/>
                                          </p:val>
                                        </p:tav>
                                      </p:tavLst>
                                    </p:anim>
                                    <p:anim calcmode="lin" valueType="num">
                                      <p:cBhvr>
                                        <p:cTn id="54" dur="1000" fill="hold"/>
                                        <p:tgtEl>
                                          <p:spTgt spid="95"/>
                                        </p:tgtEl>
                                        <p:attrNameLst>
                                          <p:attrName>ppt_h</p:attrName>
                                        </p:attrNameLst>
                                      </p:cBhvr>
                                      <p:tavLst>
                                        <p:tav tm="0">
                                          <p:val>
                                            <p:fltVal val="0"/>
                                          </p:val>
                                        </p:tav>
                                        <p:tav tm="100000">
                                          <p:val>
                                            <p:strVal val="#ppt_h"/>
                                          </p:val>
                                        </p:tav>
                                      </p:tavLst>
                                    </p:anim>
                                  </p:childTnLst>
                                </p:cTn>
                              </p:par>
                            </p:childTnLst>
                          </p:cTn>
                        </p:par>
                        <p:par>
                          <p:cTn id="55" fill="hold">
                            <p:stCondLst>
                              <p:cond delay="1000"/>
                            </p:stCondLst>
                            <p:childTnLst>
                              <p:par>
                                <p:cTn id="56" presetID="17" presetClass="entr" presetSubtype="4" fill="hold" nodeType="after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p:cTn id="58" dur="1000" fill="hold"/>
                                        <p:tgtEl>
                                          <p:spTgt spid="16"/>
                                        </p:tgtEl>
                                        <p:attrNameLst>
                                          <p:attrName>ppt_x</p:attrName>
                                        </p:attrNameLst>
                                      </p:cBhvr>
                                      <p:tavLst>
                                        <p:tav tm="0">
                                          <p:val>
                                            <p:strVal val="#ppt_x"/>
                                          </p:val>
                                        </p:tav>
                                        <p:tav tm="100000">
                                          <p:val>
                                            <p:strVal val="#ppt_x"/>
                                          </p:val>
                                        </p:tav>
                                      </p:tavLst>
                                    </p:anim>
                                    <p:anim calcmode="lin" valueType="num">
                                      <p:cBhvr>
                                        <p:cTn id="59" dur="1000" fill="hold"/>
                                        <p:tgtEl>
                                          <p:spTgt spid="16"/>
                                        </p:tgtEl>
                                        <p:attrNameLst>
                                          <p:attrName>ppt_y</p:attrName>
                                        </p:attrNameLst>
                                      </p:cBhvr>
                                      <p:tavLst>
                                        <p:tav tm="0">
                                          <p:val>
                                            <p:strVal val="#ppt_y+#ppt_h/2"/>
                                          </p:val>
                                        </p:tav>
                                        <p:tav tm="100000">
                                          <p:val>
                                            <p:strVal val="#ppt_y"/>
                                          </p:val>
                                        </p:tav>
                                      </p:tavLst>
                                    </p:anim>
                                    <p:anim calcmode="lin" valueType="num">
                                      <p:cBhvr>
                                        <p:cTn id="60" dur="1000" fill="hold"/>
                                        <p:tgtEl>
                                          <p:spTgt spid="16"/>
                                        </p:tgtEl>
                                        <p:attrNameLst>
                                          <p:attrName>ppt_w</p:attrName>
                                        </p:attrNameLst>
                                      </p:cBhvr>
                                      <p:tavLst>
                                        <p:tav tm="0">
                                          <p:val>
                                            <p:strVal val="#ppt_w"/>
                                          </p:val>
                                        </p:tav>
                                        <p:tav tm="100000">
                                          <p:val>
                                            <p:strVal val="#ppt_w"/>
                                          </p:val>
                                        </p:tav>
                                      </p:tavLst>
                                    </p:anim>
                                    <p:anim calcmode="lin" valueType="num">
                                      <p:cBhvr>
                                        <p:cTn id="61" dur="10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92"/>
                                        </p:tgtEl>
                                        <p:attrNameLst>
                                          <p:attrName>style.visibility</p:attrName>
                                        </p:attrNameLst>
                                      </p:cBhvr>
                                      <p:to>
                                        <p:strVal val="visible"/>
                                      </p:to>
                                    </p:set>
                                    <p:animEffect transition="in" filter="wipe(left)">
                                      <p:cBhvr>
                                        <p:cTn id="66" dur="10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91" grpId="0" animBg="1"/>
      <p:bldP spid="92" grpId="0" animBg="1"/>
      <p:bldP spid="14" grpId="0" animBg="1"/>
      <p:bldP spid="95" grpId="0" animBg="1"/>
      <p:bldP spid="96" grpId="0" animBg="1"/>
      <p:bldP spid="97"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3885148" y="2385871"/>
            <a:ext cx="4770048" cy="2270396"/>
            <a:chOff x="3885148" y="2630283"/>
            <a:chExt cx="4770048" cy="2270396"/>
          </a:xfrm>
        </p:grpSpPr>
        <p:sp>
          <p:nvSpPr>
            <p:cNvPr id="32" name="AutoShape 17"/>
            <p:cNvSpPr>
              <a:spLocks noChangeArrowheads="1"/>
            </p:cNvSpPr>
            <p:nvPr/>
          </p:nvSpPr>
          <p:spPr bwMode="auto">
            <a:xfrm>
              <a:off x="3885148" y="2630283"/>
              <a:ext cx="4770048" cy="2139766"/>
            </a:xfrm>
            <a:prstGeom prst="wedgeRoundRectCallout">
              <a:avLst>
                <a:gd name="adj1" fmla="val -30794"/>
                <a:gd name="adj2" fmla="val -38842"/>
                <a:gd name="adj3" fmla="val 16667"/>
              </a:avLst>
            </a:prstGeom>
            <a:solidFill>
              <a:schemeClr val="bg1"/>
            </a:solidFill>
            <a:ln w="19050" algn="ctr">
              <a:solidFill>
                <a:srgbClr val="0000FF"/>
              </a:solidFill>
              <a:miter lim="800000"/>
            </a:ln>
          </p:spPr>
          <p:txBody>
            <a:bodyPr lIns="0" rIns="0" anchor="ctr"/>
            <a:lstStyle/>
            <a:p>
              <a:pPr marL="539750" indent="-539750">
                <a:lnSpc>
                  <a:spcPct val="125000"/>
                </a:lnSpc>
              </a:pPr>
              <a:endParaRPr lang="zh-CN" altLang="en-US" sz="1400" dirty="0">
                <a:solidFill>
                  <a:srgbClr val="FF00FF"/>
                </a:solidFill>
                <a:latin typeface="微软雅黑" panose="020B0503020204020204" pitchFamily="34" charset="-122"/>
                <a:ea typeface="微软雅黑" panose="020B0503020204020204" pitchFamily="34" charset="-122"/>
              </a:endParaRPr>
            </a:p>
          </p:txBody>
        </p:sp>
        <p:sp>
          <p:nvSpPr>
            <p:cNvPr id="33" name="圆角矩形 32"/>
            <p:cNvSpPr/>
            <p:nvPr/>
          </p:nvSpPr>
          <p:spPr>
            <a:xfrm>
              <a:off x="5473762" y="4618353"/>
              <a:ext cx="1538046" cy="282326"/>
            </a:xfrm>
            <a:prstGeom prst="roundRect">
              <a:avLst>
                <a:gd name="adj" fmla="val 14824"/>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共</a:t>
              </a:r>
              <a:r>
                <a:rPr lang="en-US" altLang="zh-CN" dirty="0">
                  <a:latin typeface="微软雅黑" panose="020B0503020204020204" pitchFamily="34" charset="-122"/>
                  <a:ea typeface="微软雅黑" panose="020B0503020204020204" pitchFamily="34" charset="-122"/>
                </a:rPr>
                <a:t>16</a:t>
              </a:r>
              <a:r>
                <a:rPr lang="zh-CN" altLang="en-US" dirty="0">
                  <a:latin typeface="微软雅黑" panose="020B0503020204020204" pitchFamily="34" charset="-122"/>
                  <a:ea typeface="微软雅黑" panose="020B0503020204020204" pitchFamily="34" charset="-122"/>
                </a:rPr>
                <a:t>种组合</a:t>
              </a:r>
              <a:endParaRPr lang="zh-CN" altLang="en-US" dirty="0">
                <a:latin typeface="微软雅黑" panose="020B0503020204020204" pitchFamily="34" charset="-122"/>
                <a:ea typeface="微软雅黑" panose="020B0503020204020204" pitchFamily="34" charset="-122"/>
              </a:endParaRPr>
            </a:p>
          </p:txBody>
        </p:sp>
      </p:grpSp>
      <p:sp>
        <p:nvSpPr>
          <p:cNvPr id="15" name="圆角矩形 14"/>
          <p:cNvSpPr/>
          <p:nvPr/>
        </p:nvSpPr>
        <p:spPr>
          <a:xfrm>
            <a:off x="573080" y="1289431"/>
            <a:ext cx="5423192" cy="419338"/>
          </a:xfrm>
          <a:prstGeom prst="roundRect">
            <a:avLst>
              <a:gd name="adj" fmla="val 21126"/>
            </a:avLst>
          </a:prstGeom>
          <a:solidFill>
            <a:srgbClr val="FFFF66"/>
          </a:solidFill>
          <a:ln w="19050" algn="ctr">
            <a:solidFill>
              <a:srgbClr val="00B050"/>
            </a:solidFill>
            <a:miter lim="800000"/>
          </a:ln>
        </p:spPr>
        <p:txBody>
          <a:bodyPr wrap="square" lIns="0" rIns="0">
            <a:spAutoFit/>
          </a:bodyPr>
          <a:lstStyle/>
          <a:p>
            <a:r>
              <a:rPr kumimoji="1" lang="zh-CN" altLang="en-US" dirty="0">
                <a:solidFill>
                  <a:srgbClr val="FF0000"/>
                </a:solidFill>
                <a:latin typeface="黑体" panose="02010609060101010101" pitchFamily="49" charset="-122"/>
                <a:ea typeface="黑体" panose="02010609060101010101" pitchFamily="49" charset="-122"/>
              </a:rPr>
              <a:t>思考（</a:t>
            </a:r>
            <a:r>
              <a:rPr kumimoji="1" lang="en-US" altLang="zh-CN" dirty="0">
                <a:solidFill>
                  <a:srgbClr val="FF0000"/>
                </a:solidFill>
                <a:latin typeface="黑体" panose="02010609060101010101" pitchFamily="49" charset="-122"/>
                <a:ea typeface="黑体" panose="02010609060101010101" pitchFamily="49" charset="-122"/>
              </a:rPr>
              <a:t>1</a:t>
            </a:r>
            <a:r>
              <a:rPr kumimoji="1" lang="zh-CN" altLang="en-US" dirty="0">
                <a:solidFill>
                  <a:srgbClr val="FF0000"/>
                </a:solidFill>
                <a:latin typeface="黑体" panose="02010609060101010101" pitchFamily="49" charset="-122"/>
                <a:ea typeface="黑体" panose="02010609060101010101" pitchFamily="49" charset="-122"/>
              </a:rPr>
              <a:t>）：还有没有其他的方法构成</a:t>
            </a:r>
            <a:r>
              <a:rPr kumimoji="1" lang="en-US" altLang="zh-CN" dirty="0">
                <a:solidFill>
                  <a:srgbClr val="FF0000"/>
                </a:solidFill>
                <a:latin typeface="黑体" panose="02010609060101010101" pitchFamily="49" charset="-122"/>
                <a:ea typeface="黑体" panose="02010609060101010101" pitchFamily="49" charset="-122"/>
              </a:rPr>
              <a:t>10</a:t>
            </a:r>
            <a:r>
              <a:rPr kumimoji="1" lang="zh-CN" altLang="en-US" dirty="0">
                <a:solidFill>
                  <a:srgbClr val="FF0000"/>
                </a:solidFill>
                <a:latin typeface="黑体" panose="02010609060101010101" pitchFamily="49" charset="-122"/>
                <a:ea typeface="黑体" panose="02010609060101010101" pitchFamily="49" charset="-122"/>
              </a:rPr>
              <a:t>进制计数器？</a:t>
            </a:r>
            <a:endParaRPr kumimoji="1" lang="zh-CN" altLang="en-US" dirty="0">
              <a:solidFill>
                <a:srgbClr val="FF0000"/>
              </a:solidFill>
              <a:latin typeface="黑体" panose="02010609060101010101" pitchFamily="49" charset="-122"/>
              <a:ea typeface="黑体" panose="02010609060101010101" pitchFamily="49" charset="-122"/>
            </a:endParaRPr>
          </a:p>
        </p:txBody>
      </p:sp>
      <p:graphicFrame>
        <p:nvGraphicFramePr>
          <p:cNvPr id="65538" name="Object 5"/>
          <p:cNvGraphicFramePr>
            <a:graphicFrameLocks noChangeAspect="1"/>
          </p:cNvGraphicFramePr>
          <p:nvPr/>
        </p:nvGraphicFramePr>
        <p:xfrm>
          <a:off x="855406" y="2123757"/>
          <a:ext cx="2908622" cy="2707535"/>
        </p:xfrm>
        <a:graphic>
          <a:graphicData uri="http://schemas.openxmlformats.org/presentationml/2006/ole">
            <mc:AlternateContent xmlns:mc="http://schemas.openxmlformats.org/markup-compatibility/2006">
              <mc:Choice xmlns:v="urn:schemas-microsoft-com:vml" Requires="v">
                <p:oleObj spid="_x0000_s45064" name="Visio" r:id="rId1" imgW="1858010" imgH="1779905" progId="Visio.Drawing.11">
                  <p:embed/>
                </p:oleObj>
              </mc:Choice>
              <mc:Fallback>
                <p:oleObj name="Visio" r:id="rId1" imgW="1858010" imgH="1779905" progId="Visio.Drawing.11">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406" y="2123757"/>
                        <a:ext cx="2908622" cy="270753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nvGrpSpPr>
          <p:cNvPr id="21" name="组合 20"/>
          <p:cNvGrpSpPr/>
          <p:nvPr/>
        </p:nvGrpSpPr>
        <p:grpSpPr>
          <a:xfrm>
            <a:off x="1122981" y="2536710"/>
            <a:ext cx="2378708" cy="1841441"/>
            <a:chOff x="1131409" y="2819048"/>
            <a:chExt cx="2378708" cy="1841441"/>
          </a:xfrm>
        </p:grpSpPr>
        <p:sp>
          <p:nvSpPr>
            <p:cNvPr id="20" name="椭圆 19"/>
            <p:cNvSpPr/>
            <p:nvPr/>
          </p:nvSpPr>
          <p:spPr>
            <a:xfrm>
              <a:off x="1305232" y="2819048"/>
              <a:ext cx="2031063" cy="1841441"/>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19" name="矩形 18"/>
            <p:cNvSpPr/>
            <p:nvPr/>
          </p:nvSpPr>
          <p:spPr>
            <a:xfrm>
              <a:off x="1131409" y="2998412"/>
              <a:ext cx="2378708" cy="1569660"/>
            </a:xfrm>
            <a:prstGeom prst="rect">
              <a:avLst/>
            </a:prstGeom>
          </p:spPr>
          <p:txBody>
            <a:bodyPr wrap="square">
              <a:spAutoFit/>
            </a:bodyPr>
            <a:lstStyle/>
            <a:p>
              <a:pPr algn="ctr"/>
              <a:r>
                <a:rPr kumimoji="1" lang="zh-CN" altLang="en-US"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rPr>
                <a:t>从</a:t>
              </a:r>
              <a:r>
                <a:rPr kumimoji="1" lang="en-US" altLang="zh-CN"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rPr>
                <a:t>74161/163</a:t>
              </a:r>
              <a:endParaRPr kumimoji="1" lang="en-US" altLang="zh-CN"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endParaRPr>
            </a:p>
            <a:p>
              <a:pPr algn="ctr"/>
              <a:r>
                <a:rPr kumimoji="1" lang="zh-CN" altLang="en-US"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rPr>
                <a:t>的原始状态转换</a:t>
              </a:r>
              <a:endParaRPr kumimoji="1" lang="en-US" altLang="zh-CN"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endParaRPr>
            </a:p>
            <a:p>
              <a:pPr algn="ctr"/>
              <a:r>
                <a:rPr kumimoji="1" lang="zh-CN" altLang="en-US"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rPr>
                <a:t>图构成的环中任意</a:t>
              </a:r>
              <a:endParaRPr kumimoji="1" lang="en-US" altLang="zh-CN"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endParaRPr>
            </a:p>
            <a:p>
              <a:pPr algn="ctr"/>
              <a:r>
                <a:rPr kumimoji="1" lang="zh-CN" altLang="en-US"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rPr>
                <a:t>连续选择</a:t>
              </a:r>
              <a:r>
                <a:rPr kumimoji="1" lang="en-US" altLang="zh-CN"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rPr>
                <a:t>10</a:t>
              </a:r>
              <a:r>
                <a:rPr kumimoji="1" lang="zh-CN" altLang="en-US"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rPr>
                <a:t>个状态即</a:t>
              </a:r>
              <a:endParaRPr kumimoji="1" lang="en-US" altLang="zh-CN"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endParaRPr>
            </a:p>
            <a:p>
              <a:pPr algn="ctr"/>
              <a:r>
                <a:rPr kumimoji="1" lang="zh-CN" altLang="en-US"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rPr>
                <a:t>可构成一个</a:t>
              </a:r>
              <a:r>
                <a:rPr kumimoji="1" lang="en-US" altLang="zh-CN"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rPr>
                <a:t>10</a:t>
              </a:r>
              <a:r>
                <a:rPr kumimoji="1" lang="zh-CN" altLang="en-US"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rPr>
                <a:t>进</a:t>
              </a:r>
              <a:endParaRPr kumimoji="1" lang="en-US" altLang="zh-CN"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endParaRPr>
            </a:p>
            <a:p>
              <a:pPr algn="ctr"/>
              <a:r>
                <a:rPr kumimoji="1" lang="zh-CN" altLang="en-US"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rPr>
                <a:t>制计数器。</a:t>
              </a:r>
              <a:endParaRPr lang="zh-CN" altLang="en-US" sz="1600" b="1" dirty="0">
                <a:solidFill>
                  <a:srgbClr val="0000FF"/>
                </a:solidFill>
                <a:latin typeface="楷体" panose="02010609060101010101" pitchFamily="49" charset="-122"/>
                <a:ea typeface="楷体" panose="02010609060101010101" pitchFamily="49" charset="-122"/>
                <a:cs typeface="Times New Roman" panose="02020603050405020304" pitchFamily="18" charset="0"/>
              </a:endParaRPr>
            </a:p>
          </p:txBody>
        </p:sp>
      </p:grpSp>
      <p:sp>
        <p:nvSpPr>
          <p:cNvPr id="22" name="矩形 21"/>
          <p:cNvSpPr>
            <a:spLocks noChangeArrowheads="1"/>
          </p:cNvSpPr>
          <p:nvPr/>
        </p:nvSpPr>
        <p:spPr bwMode="auto">
          <a:xfrm>
            <a:off x="3923408" y="2461301"/>
            <a:ext cx="5047825" cy="730072"/>
          </a:xfrm>
          <a:prstGeom prst="rect">
            <a:avLst/>
          </a:prstGeom>
          <a:noFill/>
          <a:ln w="9525">
            <a:noFill/>
            <a:miter lim="800000"/>
          </a:ln>
        </p:spPr>
        <p:txBody>
          <a:bodyPr wrap="square">
            <a:spAutoFit/>
          </a:bodyPr>
          <a:lstStyle/>
          <a:p>
            <a:pPr>
              <a:lnSpc>
                <a:spcPct val="125000"/>
              </a:lnSpc>
            </a:pPr>
            <a:r>
              <a:rPr kumimoji="1" lang="zh-CN" altLang="en-US" sz="1600" dirty="0">
                <a:solidFill>
                  <a:srgbClr val="CC00CC"/>
                </a:solidFill>
                <a:ea typeface="微软雅黑" panose="020B0503020204020204" pitchFamily="34" charset="-122"/>
              </a:rPr>
              <a:t>（</a:t>
            </a:r>
            <a:r>
              <a:rPr kumimoji="1" lang="en-US" altLang="zh-CN" sz="1600" dirty="0">
                <a:solidFill>
                  <a:srgbClr val="CC00CC"/>
                </a:solidFill>
                <a:ea typeface="微软雅黑" panose="020B0503020204020204" pitchFamily="34" charset="-122"/>
              </a:rPr>
              <a:t>1</a:t>
            </a:r>
            <a:r>
              <a:rPr kumimoji="1" lang="zh-CN" altLang="en-US" sz="1600" dirty="0">
                <a:solidFill>
                  <a:srgbClr val="CC00CC"/>
                </a:solidFill>
                <a:ea typeface="微软雅黑" panose="020B0503020204020204" pitchFamily="34" charset="-122"/>
              </a:rPr>
              <a:t>） 起始状态小于结束状态</a:t>
            </a:r>
            <a:r>
              <a:rPr kumimoji="1" lang="zh-CN" altLang="en-US" sz="1600" dirty="0">
                <a:solidFill>
                  <a:srgbClr val="0000FF"/>
                </a:solidFill>
                <a:ea typeface="微软雅黑" panose="020B0503020204020204" pitchFamily="34" charset="-122"/>
              </a:rPr>
              <a:t>：</a:t>
            </a:r>
            <a:endParaRPr kumimoji="1" lang="zh-CN" altLang="en-US" sz="1600" dirty="0">
              <a:solidFill>
                <a:srgbClr val="0000FF"/>
              </a:solidFill>
              <a:ea typeface="微软雅黑" panose="020B0503020204020204" pitchFamily="34" charset="-122"/>
            </a:endParaRPr>
          </a:p>
          <a:p>
            <a:pPr>
              <a:lnSpc>
                <a:spcPct val="150000"/>
              </a:lnSpc>
            </a:pPr>
            <a:r>
              <a:rPr kumimoji="1" lang="en-US" altLang="zh-CN" sz="1600" dirty="0">
                <a:solidFill>
                  <a:srgbClr val="0000FF"/>
                </a:solidFill>
                <a:ea typeface="微软雅黑" panose="020B0503020204020204" pitchFamily="34" charset="-122"/>
              </a:rPr>
              <a:t>           0000—1001</a:t>
            </a:r>
            <a:r>
              <a:rPr kumimoji="1" lang="zh-CN" altLang="en-US" sz="1600" dirty="0">
                <a:solidFill>
                  <a:srgbClr val="0000FF"/>
                </a:solidFill>
                <a:ea typeface="微软雅黑" panose="020B0503020204020204" pitchFamily="34" charset="-122"/>
              </a:rPr>
              <a:t>、</a:t>
            </a:r>
            <a:r>
              <a:rPr kumimoji="1" lang="en-US" altLang="zh-CN" sz="1600" dirty="0">
                <a:solidFill>
                  <a:srgbClr val="0000FF"/>
                </a:solidFill>
                <a:ea typeface="微软雅黑" panose="020B0503020204020204" pitchFamily="34" charset="-122"/>
              </a:rPr>
              <a:t>0001—1010</a:t>
            </a:r>
            <a:r>
              <a:rPr kumimoji="1" lang="zh-CN" altLang="en-US" sz="1600" dirty="0">
                <a:solidFill>
                  <a:srgbClr val="0000FF"/>
                </a:solidFill>
                <a:ea typeface="微软雅黑" panose="020B0503020204020204" pitchFamily="34" charset="-122"/>
              </a:rPr>
              <a:t>、</a:t>
            </a:r>
            <a:r>
              <a:rPr kumimoji="1" lang="en-US" altLang="zh-CN" sz="1600" dirty="0">
                <a:solidFill>
                  <a:srgbClr val="0000FF"/>
                </a:solidFill>
                <a:ea typeface="微软雅黑" panose="020B0503020204020204" pitchFamily="34" charset="-122"/>
              </a:rPr>
              <a:t>…..</a:t>
            </a:r>
            <a:r>
              <a:rPr kumimoji="1" lang="zh-CN" altLang="en-US" sz="1600" dirty="0">
                <a:solidFill>
                  <a:srgbClr val="0000FF"/>
                </a:solidFill>
                <a:ea typeface="微软雅黑" panose="020B0503020204020204" pitchFamily="34" charset="-122"/>
              </a:rPr>
              <a:t>、</a:t>
            </a:r>
            <a:r>
              <a:rPr kumimoji="1" lang="en-US" altLang="zh-CN" sz="1600" dirty="0">
                <a:solidFill>
                  <a:srgbClr val="0000FF"/>
                </a:solidFill>
                <a:ea typeface="微软雅黑" panose="020B0503020204020204" pitchFamily="34" charset="-122"/>
              </a:rPr>
              <a:t>0110—1111</a:t>
            </a:r>
            <a:r>
              <a:rPr kumimoji="1" lang="zh-CN" altLang="en-US" sz="1600" dirty="0">
                <a:solidFill>
                  <a:srgbClr val="0000FF"/>
                </a:solidFill>
                <a:ea typeface="微软雅黑" panose="020B0503020204020204" pitchFamily="34" charset="-122"/>
              </a:rPr>
              <a:t>；</a:t>
            </a:r>
            <a:endParaRPr kumimoji="1" lang="en-US" altLang="zh-CN" sz="1600" dirty="0">
              <a:solidFill>
                <a:srgbClr val="0000FF"/>
              </a:solidFill>
              <a:ea typeface="微软雅黑" panose="020B0503020204020204" pitchFamily="34" charset="-122"/>
            </a:endParaRPr>
          </a:p>
        </p:txBody>
      </p:sp>
      <p:sp>
        <p:nvSpPr>
          <p:cNvPr id="27" name="矩形 26"/>
          <p:cNvSpPr/>
          <p:nvPr/>
        </p:nvSpPr>
        <p:spPr>
          <a:xfrm>
            <a:off x="3923408" y="3395610"/>
            <a:ext cx="4957564" cy="730072"/>
          </a:xfrm>
          <a:prstGeom prst="rect">
            <a:avLst/>
          </a:prstGeom>
        </p:spPr>
        <p:txBody>
          <a:bodyPr wrap="square">
            <a:spAutoFit/>
          </a:bodyPr>
          <a:lstStyle/>
          <a:p>
            <a:pPr>
              <a:lnSpc>
                <a:spcPct val="125000"/>
              </a:lnSpc>
            </a:pPr>
            <a:r>
              <a:rPr kumimoji="1" lang="zh-CN" altLang="en-US" sz="1600" dirty="0">
                <a:solidFill>
                  <a:srgbClr val="CC00CC"/>
                </a:solidFill>
                <a:ea typeface="微软雅黑" panose="020B0503020204020204" pitchFamily="34" charset="-122"/>
              </a:rPr>
              <a:t>（</a:t>
            </a:r>
            <a:r>
              <a:rPr kumimoji="1" lang="en-US" altLang="zh-CN" sz="1600" dirty="0">
                <a:solidFill>
                  <a:srgbClr val="CC00CC"/>
                </a:solidFill>
                <a:ea typeface="微软雅黑" panose="020B0503020204020204" pitchFamily="34" charset="-122"/>
              </a:rPr>
              <a:t>2</a:t>
            </a:r>
            <a:r>
              <a:rPr kumimoji="1" lang="zh-CN" altLang="en-US" sz="1600" dirty="0">
                <a:solidFill>
                  <a:srgbClr val="CC00CC"/>
                </a:solidFill>
                <a:ea typeface="微软雅黑" panose="020B0503020204020204" pitchFamily="34" charset="-122"/>
              </a:rPr>
              <a:t>） 起始状态大于结束状态</a:t>
            </a:r>
            <a:r>
              <a:rPr kumimoji="1" lang="en-US" altLang="zh-CN" sz="1600" dirty="0">
                <a:solidFill>
                  <a:srgbClr val="0000FF"/>
                </a:solidFill>
                <a:ea typeface="微软雅黑" panose="020B0503020204020204" pitchFamily="34" charset="-122"/>
              </a:rPr>
              <a:t>(</a:t>
            </a:r>
            <a:r>
              <a:rPr kumimoji="1" lang="zh-CN" altLang="en-US" sz="1600" dirty="0">
                <a:solidFill>
                  <a:srgbClr val="0000FF"/>
                </a:solidFill>
                <a:ea typeface="微软雅黑" panose="020B0503020204020204" pitchFamily="34" charset="-122"/>
              </a:rPr>
              <a:t>状态越过</a:t>
            </a:r>
            <a:r>
              <a:rPr kumimoji="1" lang="en-US" altLang="zh-CN" sz="1600" dirty="0">
                <a:solidFill>
                  <a:srgbClr val="0000FF"/>
                </a:solidFill>
                <a:ea typeface="微软雅黑" panose="020B0503020204020204" pitchFamily="34" charset="-122"/>
              </a:rPr>
              <a:t>1111—0000)</a:t>
            </a:r>
            <a:endParaRPr kumimoji="1" lang="zh-CN" altLang="en-US" sz="1600" dirty="0">
              <a:solidFill>
                <a:srgbClr val="0000FF"/>
              </a:solidFill>
              <a:ea typeface="微软雅黑" panose="020B0503020204020204" pitchFamily="34" charset="-122"/>
            </a:endParaRPr>
          </a:p>
          <a:p>
            <a:pPr>
              <a:lnSpc>
                <a:spcPct val="150000"/>
              </a:lnSpc>
            </a:pPr>
            <a:r>
              <a:rPr kumimoji="1" lang="en-US" altLang="zh-CN" sz="1600" dirty="0">
                <a:solidFill>
                  <a:srgbClr val="0000FF"/>
                </a:solidFill>
                <a:ea typeface="微软雅黑" panose="020B0503020204020204" pitchFamily="34" charset="-122"/>
              </a:rPr>
              <a:t>          0111—0000</a:t>
            </a:r>
            <a:r>
              <a:rPr kumimoji="1" lang="zh-CN" altLang="en-US" sz="1600" dirty="0">
                <a:solidFill>
                  <a:srgbClr val="0000FF"/>
                </a:solidFill>
                <a:ea typeface="微软雅黑" panose="020B0503020204020204" pitchFamily="34" charset="-122"/>
              </a:rPr>
              <a:t>、</a:t>
            </a:r>
            <a:r>
              <a:rPr kumimoji="1" lang="en-US" altLang="zh-CN" sz="1600" dirty="0">
                <a:solidFill>
                  <a:srgbClr val="0000FF"/>
                </a:solidFill>
                <a:ea typeface="微软雅黑" panose="020B0503020204020204" pitchFamily="34" charset="-122"/>
              </a:rPr>
              <a:t>100—0001</a:t>
            </a:r>
            <a:r>
              <a:rPr kumimoji="1" lang="zh-CN" altLang="en-US" sz="1600" dirty="0">
                <a:solidFill>
                  <a:srgbClr val="0000FF"/>
                </a:solidFill>
                <a:ea typeface="微软雅黑" panose="020B0503020204020204" pitchFamily="34" charset="-122"/>
              </a:rPr>
              <a:t>、</a:t>
            </a:r>
            <a:r>
              <a:rPr kumimoji="1" lang="en-US" altLang="zh-CN" sz="1600" dirty="0">
                <a:solidFill>
                  <a:srgbClr val="0000FF"/>
                </a:solidFill>
                <a:ea typeface="微软雅黑" panose="020B0503020204020204" pitchFamily="34" charset="-122"/>
              </a:rPr>
              <a:t> …..</a:t>
            </a:r>
            <a:r>
              <a:rPr kumimoji="1" lang="zh-CN" altLang="en-US" sz="1600" dirty="0">
                <a:solidFill>
                  <a:srgbClr val="0000FF"/>
                </a:solidFill>
                <a:ea typeface="微软雅黑" panose="020B0503020204020204" pitchFamily="34" charset="-122"/>
              </a:rPr>
              <a:t>、</a:t>
            </a:r>
            <a:r>
              <a:rPr kumimoji="1" lang="en-US" altLang="zh-CN" sz="1600" dirty="0">
                <a:solidFill>
                  <a:srgbClr val="0000FF"/>
                </a:solidFill>
                <a:ea typeface="微软雅黑" panose="020B0503020204020204" pitchFamily="34" charset="-122"/>
              </a:rPr>
              <a:t>1111—1000</a:t>
            </a:r>
            <a:endParaRPr kumimoji="1" lang="zh-CN" altLang="en-US" sz="1600" dirty="0">
              <a:solidFill>
                <a:srgbClr val="0000FF"/>
              </a:solidFill>
              <a:ea typeface="微软雅黑" panose="020B0503020204020204" pitchFamily="34" charset="-122"/>
            </a:endParaRPr>
          </a:p>
        </p:txBody>
      </p:sp>
      <p:grpSp>
        <p:nvGrpSpPr>
          <p:cNvPr id="24" name="组合 34"/>
          <p:cNvGrpSpPr/>
          <p:nvPr/>
        </p:nvGrpSpPr>
        <p:grpSpPr>
          <a:xfrm>
            <a:off x="392432" y="735720"/>
            <a:ext cx="6649115" cy="420971"/>
            <a:chOff x="670560" y="892917"/>
            <a:chExt cx="6649115" cy="420971"/>
          </a:xfrm>
        </p:grpSpPr>
        <p:sp>
          <p:nvSpPr>
            <p:cNvPr id="31" name="矩形 30"/>
            <p:cNvSpPr/>
            <p:nvPr/>
          </p:nvSpPr>
          <p:spPr>
            <a:xfrm>
              <a:off x="1035231" y="913778"/>
              <a:ext cx="6284444" cy="400110"/>
            </a:xfrm>
            <a:prstGeom prst="rect">
              <a:avLst/>
            </a:prstGeom>
          </p:spPr>
          <p:txBody>
            <a:bodyPr wrap="square">
              <a:spAutoFit/>
            </a:bodyPr>
            <a:lstStyle/>
            <a:p>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集成计数器的应用</a:t>
              </a:r>
              <a:r>
                <a:rPr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构成任意进制计数器</a:t>
              </a:r>
              <a:r>
                <a:rPr lang="en-US" altLang="zh-CN" sz="20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(M&gt;N)</a:t>
              </a:r>
              <a:endPar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5"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lide(fromBottom)">
                                      <p:cBhvr>
                                        <p:cTn id="7" dur="1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288" fill="hold" nodeType="clickEffect">
                                  <p:stCondLst>
                                    <p:cond delay="0"/>
                                  </p:stCondLst>
                                  <p:childTnLst>
                                    <p:set>
                                      <p:cBhvr>
                                        <p:cTn id="11" dur="1" fill="hold">
                                          <p:stCondLst>
                                            <p:cond delay="0"/>
                                          </p:stCondLst>
                                        </p:cTn>
                                        <p:tgtEl>
                                          <p:spTgt spid="65538"/>
                                        </p:tgtEl>
                                        <p:attrNameLst>
                                          <p:attrName>style.visibility</p:attrName>
                                        </p:attrNameLst>
                                      </p:cBhvr>
                                      <p:to>
                                        <p:strVal val="visible"/>
                                      </p:to>
                                    </p:set>
                                    <p:anim calcmode="lin" valueType="num">
                                      <p:cBhvr>
                                        <p:cTn id="12" dur="1000" fill="hold"/>
                                        <p:tgtEl>
                                          <p:spTgt spid="65538"/>
                                        </p:tgtEl>
                                        <p:attrNameLst>
                                          <p:attrName>ppt_w</p:attrName>
                                        </p:attrNameLst>
                                      </p:cBhvr>
                                      <p:tavLst>
                                        <p:tav tm="0">
                                          <p:val>
                                            <p:strVal val="4/3*#ppt_w"/>
                                          </p:val>
                                        </p:tav>
                                        <p:tav tm="100000">
                                          <p:val>
                                            <p:strVal val="#ppt_w"/>
                                          </p:val>
                                        </p:tav>
                                      </p:tavLst>
                                    </p:anim>
                                    <p:anim calcmode="lin" valueType="num">
                                      <p:cBhvr>
                                        <p:cTn id="13" dur="1000" fill="hold"/>
                                        <p:tgtEl>
                                          <p:spTgt spid="65538"/>
                                        </p:tgtEl>
                                        <p:attrNameLst>
                                          <p:attrName>ppt_h</p:attrName>
                                        </p:attrNameLst>
                                      </p:cBhvr>
                                      <p:tavLst>
                                        <p:tav tm="0">
                                          <p:val>
                                            <p:strVal val="4/3*#ppt_h"/>
                                          </p:val>
                                        </p:tav>
                                        <p:tav tm="100000">
                                          <p:val>
                                            <p:strVal val="#ppt_h"/>
                                          </p:val>
                                        </p:tav>
                                      </p:tavLst>
                                    </p:anim>
                                  </p:childTnLst>
                                </p:cTn>
                              </p:par>
                            </p:childTnLst>
                          </p:cTn>
                        </p:par>
                        <p:par>
                          <p:cTn id="14" fill="hold">
                            <p:stCondLst>
                              <p:cond delay="1000"/>
                            </p:stCondLst>
                            <p:childTnLst>
                              <p:par>
                                <p:cTn id="15" presetID="23" presetClass="entr" presetSubtype="16"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1000" fill="hold"/>
                                        <p:tgtEl>
                                          <p:spTgt spid="21"/>
                                        </p:tgtEl>
                                        <p:attrNameLst>
                                          <p:attrName>ppt_w</p:attrName>
                                        </p:attrNameLst>
                                      </p:cBhvr>
                                      <p:tavLst>
                                        <p:tav tm="0">
                                          <p:val>
                                            <p:fltVal val="0"/>
                                          </p:val>
                                        </p:tav>
                                        <p:tav tm="100000">
                                          <p:val>
                                            <p:strVal val="#ppt_w"/>
                                          </p:val>
                                        </p:tav>
                                      </p:tavLst>
                                    </p:anim>
                                    <p:anim calcmode="lin" valueType="num">
                                      <p:cBhvr>
                                        <p:cTn id="18" dur="1000" fill="hold"/>
                                        <p:tgtEl>
                                          <p:spTgt spid="21"/>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slide(fromBottom)">
                                      <p:cBhvr>
                                        <p:cTn id="23" dur="1000"/>
                                        <p:tgtEl>
                                          <p:spTgt spid="22"/>
                                        </p:tgtEl>
                                      </p:cBhvr>
                                    </p:animEffect>
                                  </p:childTnLst>
                                </p:cTn>
                              </p:par>
                            </p:childTnLst>
                          </p:cTn>
                        </p:par>
                        <p:par>
                          <p:cTn id="24" fill="hold">
                            <p:stCondLst>
                              <p:cond delay="1000"/>
                            </p:stCondLst>
                            <p:childTnLst>
                              <p:par>
                                <p:cTn id="25" presetID="55" presetClass="exit" presetSubtype="0" fill="hold" nodeType="afterEffect">
                                  <p:stCondLst>
                                    <p:cond delay="0"/>
                                  </p:stCondLst>
                                  <p:childTnLst>
                                    <p:anim calcmode="lin" valueType="num">
                                      <p:cBhvr>
                                        <p:cTn id="26" dur="1000"/>
                                        <p:tgtEl>
                                          <p:spTgt spid="21"/>
                                        </p:tgtEl>
                                        <p:attrNameLst>
                                          <p:attrName>ppt_w</p:attrName>
                                        </p:attrNameLst>
                                      </p:cBhvr>
                                      <p:tavLst>
                                        <p:tav tm="0">
                                          <p:val>
                                            <p:strVal val="ppt_w"/>
                                          </p:val>
                                        </p:tav>
                                        <p:tav tm="100000">
                                          <p:val>
                                            <p:strVal val="ppt_w*0.70"/>
                                          </p:val>
                                        </p:tav>
                                      </p:tavLst>
                                    </p:anim>
                                    <p:anim calcmode="lin" valueType="num">
                                      <p:cBhvr>
                                        <p:cTn id="27" dur="1000"/>
                                        <p:tgtEl>
                                          <p:spTgt spid="21"/>
                                        </p:tgtEl>
                                        <p:attrNameLst>
                                          <p:attrName>ppt_h</p:attrName>
                                        </p:attrNameLst>
                                      </p:cBhvr>
                                      <p:tavLst>
                                        <p:tav tm="0">
                                          <p:val>
                                            <p:strVal val="ppt_h"/>
                                          </p:val>
                                        </p:tav>
                                        <p:tav tm="100000">
                                          <p:val>
                                            <p:strVal val="ppt_h"/>
                                          </p:val>
                                        </p:tav>
                                      </p:tavLst>
                                    </p:anim>
                                    <p:animEffect transition="out" filter="fade">
                                      <p:cBhvr>
                                        <p:cTn id="28" dur="1000"/>
                                        <p:tgtEl>
                                          <p:spTgt spid="21"/>
                                        </p:tgtEl>
                                      </p:cBhvr>
                                    </p:animEffect>
                                    <p:set>
                                      <p:cBhvr>
                                        <p:cTn id="29" dur="1" fill="hold">
                                          <p:stCondLst>
                                            <p:cond delay="999"/>
                                          </p:stCondLst>
                                        </p:cTn>
                                        <p:tgtEl>
                                          <p:spTgt spid="21"/>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slide(fromBottom)">
                                      <p:cBhvr>
                                        <p:cTn id="34" dur="10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wipe(up)">
                                      <p:cBhvr>
                                        <p:cTn id="39"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2" grpId="0"/>
      <p:bldP spid="2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81"/>
          <p:cNvGrpSpPr/>
          <p:nvPr/>
        </p:nvGrpSpPr>
        <p:grpSpPr>
          <a:xfrm>
            <a:off x="400513" y="1874882"/>
            <a:ext cx="6594744" cy="374630"/>
            <a:chOff x="369777" y="1347760"/>
            <a:chExt cx="6594744" cy="374630"/>
          </a:xfrm>
        </p:grpSpPr>
        <p:sp>
          <p:nvSpPr>
            <p:cNvPr id="13" name="TextBox 12"/>
            <p:cNvSpPr txBox="1"/>
            <p:nvPr/>
          </p:nvSpPr>
          <p:spPr>
            <a:xfrm>
              <a:off x="723710" y="1350409"/>
              <a:ext cx="6240811" cy="369332"/>
            </a:xfrm>
            <a:prstGeom prst="rect">
              <a:avLst/>
            </a:prstGeom>
            <a:noFill/>
          </p:spPr>
          <p:txBody>
            <a:bodyPr wrap="none" rtlCol="0">
              <a:spAutoFit/>
            </a:bodyPr>
            <a:lstStyle/>
            <a:p>
              <a:pPr lvl="0"/>
              <a:r>
                <a:rPr lang="zh-CN" altLang="en-US" b="1" dirty="0">
                  <a:solidFill>
                    <a:srgbClr val="CC00CC"/>
                  </a:solidFill>
                  <a:latin typeface="黑体" panose="02010609060101010101" pitchFamily="49" charset="-122"/>
                  <a:ea typeface="黑体" panose="02010609060101010101" pitchFamily="49" charset="-122"/>
                </a:rPr>
                <a:t>例：</a:t>
              </a:r>
              <a:r>
                <a:rPr lang="zh-CN" altLang="en-US" b="1" dirty="0">
                  <a:solidFill>
                    <a:srgbClr val="6600FF"/>
                  </a:solidFill>
                  <a:latin typeface="黑体" panose="02010609060101010101" pitchFamily="49" charset="-122"/>
                  <a:ea typeface="黑体" panose="02010609060101010101" pitchFamily="49" charset="-122"/>
                </a:rPr>
                <a:t>如何用</a:t>
              </a:r>
              <a:r>
                <a:rPr lang="en-US" altLang="zh-CN" b="1" dirty="0">
                  <a:solidFill>
                    <a:srgbClr val="6600FF"/>
                  </a:solidFill>
                  <a:latin typeface="黑体" panose="02010609060101010101" pitchFamily="49" charset="-122"/>
                  <a:ea typeface="黑体" panose="02010609060101010101" pitchFamily="49" charset="-122"/>
                </a:rPr>
                <a:t>74161/163</a:t>
              </a:r>
              <a:r>
                <a:rPr lang="zh-CN" altLang="en-US" b="1" dirty="0">
                  <a:solidFill>
                    <a:srgbClr val="6600FF"/>
                  </a:solidFill>
                  <a:latin typeface="黑体" panose="02010609060101010101" pitchFamily="49" charset="-122"/>
                  <a:ea typeface="黑体" panose="02010609060101010101" pitchFamily="49" charset="-122"/>
                </a:rPr>
                <a:t>构成一个</a:t>
              </a:r>
              <a:r>
                <a:rPr lang="en-US" altLang="zh-CN" b="1" dirty="0">
                  <a:solidFill>
                    <a:srgbClr val="6600FF"/>
                  </a:solidFill>
                  <a:latin typeface="黑体" panose="02010609060101010101" pitchFamily="49" charset="-122"/>
                  <a:ea typeface="黑体" panose="02010609060101010101" pitchFamily="49" charset="-122"/>
                </a:rPr>
                <a:t>5421BCD</a:t>
              </a:r>
              <a:r>
                <a:rPr lang="zh-CN" altLang="en-US" b="1" dirty="0">
                  <a:solidFill>
                    <a:srgbClr val="6600FF"/>
                  </a:solidFill>
                  <a:latin typeface="黑体" panose="02010609060101010101" pitchFamily="49" charset="-122"/>
                  <a:ea typeface="黑体" panose="02010609060101010101" pitchFamily="49" charset="-122"/>
                </a:rPr>
                <a:t>码的</a:t>
              </a:r>
              <a:r>
                <a:rPr lang="en-US" altLang="zh-CN" b="1" dirty="0">
                  <a:solidFill>
                    <a:srgbClr val="6600FF"/>
                  </a:solidFill>
                  <a:latin typeface="黑体" panose="02010609060101010101" pitchFamily="49" charset="-122"/>
                  <a:ea typeface="黑体" panose="02010609060101010101" pitchFamily="49" charset="-122"/>
                </a:rPr>
                <a:t>10</a:t>
              </a:r>
              <a:r>
                <a:rPr lang="zh-CN" altLang="en-US" b="1" dirty="0">
                  <a:solidFill>
                    <a:srgbClr val="6600FF"/>
                  </a:solidFill>
                  <a:latin typeface="黑体" panose="02010609060101010101" pitchFamily="49" charset="-122"/>
                  <a:ea typeface="黑体" panose="02010609060101010101" pitchFamily="49" charset="-122"/>
                </a:rPr>
                <a:t>进制计数器。</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14" name="Picture 4"/>
            <p:cNvPicPr>
              <a:picLocks noChangeAspect="1" noChangeArrowheads="1"/>
            </p:cNvPicPr>
            <p:nvPr/>
          </p:nvPicPr>
          <p:blipFill>
            <a:blip r:embed="rId1" cstate="print"/>
            <a:srcRect/>
            <a:stretch>
              <a:fillRect/>
            </a:stretch>
          </p:blipFill>
          <p:spPr bwMode="auto">
            <a:xfrm>
              <a:off x="369777" y="1347760"/>
              <a:ext cx="373669" cy="374630"/>
            </a:xfrm>
            <a:prstGeom prst="rect">
              <a:avLst/>
            </a:prstGeom>
            <a:noFill/>
            <a:ln w="9525">
              <a:noFill/>
              <a:miter lim="800000"/>
              <a:headEnd/>
              <a:tailEnd/>
            </a:ln>
          </p:spPr>
        </p:pic>
      </p:grpSp>
      <p:sp>
        <p:nvSpPr>
          <p:cNvPr id="9" name="圆角矩形 8"/>
          <p:cNvSpPr/>
          <p:nvPr/>
        </p:nvSpPr>
        <p:spPr>
          <a:xfrm>
            <a:off x="573080" y="1289431"/>
            <a:ext cx="5549608" cy="419338"/>
          </a:xfrm>
          <a:prstGeom prst="roundRect">
            <a:avLst>
              <a:gd name="adj" fmla="val 21126"/>
            </a:avLst>
          </a:prstGeom>
          <a:solidFill>
            <a:srgbClr val="FFFF66"/>
          </a:solidFill>
          <a:ln w="19050" algn="ctr">
            <a:solidFill>
              <a:srgbClr val="00B050"/>
            </a:solidFill>
            <a:miter lim="800000"/>
          </a:ln>
        </p:spPr>
        <p:txBody>
          <a:bodyPr wrap="square" lIns="0" rIns="0">
            <a:spAutoFit/>
          </a:bodyPr>
          <a:lstStyle/>
          <a:p>
            <a:r>
              <a:rPr kumimoji="1" lang="zh-CN" altLang="en-US" dirty="0">
                <a:solidFill>
                  <a:srgbClr val="FF0000"/>
                </a:solidFill>
                <a:latin typeface="黑体" panose="02010609060101010101" pitchFamily="49" charset="-122"/>
                <a:ea typeface="黑体" panose="02010609060101010101" pitchFamily="49" charset="-122"/>
              </a:rPr>
              <a:t>思考（</a:t>
            </a:r>
            <a:r>
              <a:rPr kumimoji="1" lang="en-US" altLang="zh-CN" dirty="0">
                <a:solidFill>
                  <a:srgbClr val="FF0000"/>
                </a:solidFill>
                <a:latin typeface="黑体" panose="02010609060101010101" pitchFamily="49" charset="-122"/>
                <a:ea typeface="黑体" panose="02010609060101010101" pitchFamily="49" charset="-122"/>
              </a:rPr>
              <a:t>2</a:t>
            </a:r>
            <a:r>
              <a:rPr kumimoji="1" lang="zh-CN" altLang="en-US" dirty="0">
                <a:solidFill>
                  <a:srgbClr val="FF0000"/>
                </a:solidFill>
                <a:latin typeface="黑体" panose="02010609060101010101" pitchFamily="49" charset="-122"/>
                <a:ea typeface="黑体" panose="02010609060101010101" pitchFamily="49" charset="-122"/>
              </a:rPr>
              <a:t>）：待实现的计数器的状态不连续如何实现？</a:t>
            </a:r>
            <a:endParaRPr kumimoji="1" lang="zh-CN" altLang="en-US" dirty="0">
              <a:solidFill>
                <a:srgbClr val="FF0000"/>
              </a:solidFill>
              <a:latin typeface="黑体" panose="02010609060101010101" pitchFamily="49" charset="-122"/>
              <a:ea typeface="黑体" panose="02010609060101010101" pitchFamily="49" charset="-122"/>
            </a:endParaRPr>
          </a:p>
        </p:txBody>
      </p:sp>
      <p:graphicFrame>
        <p:nvGraphicFramePr>
          <p:cNvPr id="10" name="Object 5"/>
          <p:cNvGraphicFramePr>
            <a:graphicFrameLocks noChangeAspect="1"/>
          </p:cNvGraphicFramePr>
          <p:nvPr/>
        </p:nvGraphicFramePr>
        <p:xfrm>
          <a:off x="1513335" y="2383933"/>
          <a:ext cx="2843374" cy="2719009"/>
        </p:xfrm>
        <a:graphic>
          <a:graphicData uri="http://schemas.openxmlformats.org/presentationml/2006/ole">
            <mc:AlternateContent xmlns:mc="http://schemas.openxmlformats.org/markup-compatibility/2006">
              <mc:Choice xmlns:v="urn:schemas-microsoft-com:vml" Requires="v">
                <p:oleObj spid="_x0000_s46094" name="Visio" r:id="rId2" imgW="1858010" imgH="1779905" progId="Visio.Drawing.11">
                  <p:embed/>
                </p:oleObj>
              </mc:Choice>
              <mc:Fallback>
                <p:oleObj name="Visio" r:id="rId2" imgW="1858010" imgH="1779905"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3335" y="2383933"/>
                        <a:ext cx="2843374" cy="271900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15" name="任意多边形 14"/>
          <p:cNvSpPr/>
          <p:nvPr/>
        </p:nvSpPr>
        <p:spPr>
          <a:xfrm>
            <a:off x="1828800" y="2705276"/>
            <a:ext cx="2238244" cy="2081629"/>
          </a:xfrm>
          <a:custGeom>
            <a:avLst/>
            <a:gdLst>
              <a:gd name="connsiteX0" fmla="*/ 1360363 w 2250183"/>
              <a:gd name="connsiteY0" fmla="*/ 0 h 2078820"/>
              <a:gd name="connsiteX1" fmla="*/ 1760677 w 2250183"/>
              <a:gd name="connsiteY1" fmla="*/ 168553 h 2078820"/>
              <a:gd name="connsiteX2" fmla="*/ 2030361 w 2250183"/>
              <a:gd name="connsiteY2" fmla="*/ 505659 h 2078820"/>
              <a:gd name="connsiteX3" fmla="*/ 2169418 w 2250183"/>
              <a:gd name="connsiteY3" fmla="*/ 863834 h 2078820"/>
              <a:gd name="connsiteX4" fmla="*/ 2169418 w 2250183"/>
              <a:gd name="connsiteY4" fmla="*/ 1188299 h 2078820"/>
              <a:gd name="connsiteX5" fmla="*/ 1684828 w 2250183"/>
              <a:gd name="connsiteY5" fmla="*/ 1580185 h 2078820"/>
              <a:gd name="connsiteX6" fmla="*/ 1010616 w 2250183"/>
              <a:gd name="connsiteY6" fmla="*/ 2022636 h 2078820"/>
              <a:gd name="connsiteX7" fmla="*/ 568164 w 2250183"/>
              <a:gd name="connsiteY7" fmla="*/ 1917291 h 2078820"/>
              <a:gd name="connsiteX8" fmla="*/ 172065 w 2250183"/>
              <a:gd name="connsiteY8" fmla="*/ 1592826 h 2078820"/>
              <a:gd name="connsiteX9" fmla="*/ 41436 w 2250183"/>
              <a:gd name="connsiteY9" fmla="*/ 1213582 h 2078820"/>
              <a:gd name="connsiteX10" fmla="*/ 45650 w 2250183"/>
              <a:gd name="connsiteY10" fmla="*/ 846979 h 2078820"/>
              <a:gd name="connsiteX11" fmla="*/ 315335 w 2250183"/>
              <a:gd name="connsiteY11" fmla="*/ 602577 h 2078820"/>
              <a:gd name="connsiteX12" fmla="*/ 1174955 w 2250183"/>
              <a:gd name="connsiteY12" fmla="*/ 50566 h 207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50183" h="2078820">
                <a:moveTo>
                  <a:pt x="1360363" y="0"/>
                </a:moveTo>
                <a:cubicBezTo>
                  <a:pt x="1504687" y="42138"/>
                  <a:pt x="1649011" y="84277"/>
                  <a:pt x="1760677" y="168553"/>
                </a:cubicBezTo>
                <a:cubicBezTo>
                  <a:pt x="1872343" y="252829"/>
                  <a:pt x="1962238" y="389779"/>
                  <a:pt x="2030361" y="505659"/>
                </a:cubicBezTo>
                <a:cubicBezTo>
                  <a:pt x="2098484" y="621539"/>
                  <a:pt x="2146242" y="750061"/>
                  <a:pt x="2169418" y="863834"/>
                </a:cubicBezTo>
                <a:cubicBezTo>
                  <a:pt x="2192594" y="977607"/>
                  <a:pt x="2250183" y="1068907"/>
                  <a:pt x="2169418" y="1188299"/>
                </a:cubicBezTo>
                <a:cubicBezTo>
                  <a:pt x="2088653" y="1307691"/>
                  <a:pt x="1877962" y="1441129"/>
                  <a:pt x="1684828" y="1580185"/>
                </a:cubicBezTo>
                <a:cubicBezTo>
                  <a:pt x="1491694" y="1719241"/>
                  <a:pt x="1196727" y="1966452"/>
                  <a:pt x="1010616" y="2022636"/>
                </a:cubicBezTo>
                <a:cubicBezTo>
                  <a:pt x="824505" y="2078820"/>
                  <a:pt x="707923" y="1988926"/>
                  <a:pt x="568164" y="1917291"/>
                </a:cubicBezTo>
                <a:cubicBezTo>
                  <a:pt x="428406" y="1845656"/>
                  <a:pt x="259853" y="1710111"/>
                  <a:pt x="172065" y="1592826"/>
                </a:cubicBezTo>
                <a:cubicBezTo>
                  <a:pt x="84277" y="1475541"/>
                  <a:pt x="62505" y="1337890"/>
                  <a:pt x="41436" y="1213582"/>
                </a:cubicBezTo>
                <a:cubicBezTo>
                  <a:pt x="20367" y="1089274"/>
                  <a:pt x="0" y="948813"/>
                  <a:pt x="45650" y="846979"/>
                </a:cubicBezTo>
                <a:cubicBezTo>
                  <a:pt x="91300" y="745145"/>
                  <a:pt x="127118" y="735312"/>
                  <a:pt x="315335" y="602577"/>
                </a:cubicBezTo>
                <a:cubicBezTo>
                  <a:pt x="503552" y="469842"/>
                  <a:pt x="839253" y="260204"/>
                  <a:pt x="1174955" y="50566"/>
                </a:cubicBezTo>
              </a:path>
            </a:pathLst>
          </a:custGeom>
          <a:ln w="38100">
            <a:solidFill>
              <a:srgbClr val="FF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4" name="组合 23"/>
          <p:cNvGrpSpPr/>
          <p:nvPr/>
        </p:nvGrpSpPr>
        <p:grpSpPr>
          <a:xfrm>
            <a:off x="2848545" y="4024203"/>
            <a:ext cx="2338673" cy="985696"/>
            <a:chOff x="4095838" y="3986278"/>
            <a:chExt cx="2338673" cy="985696"/>
          </a:xfrm>
        </p:grpSpPr>
        <p:cxnSp>
          <p:nvCxnSpPr>
            <p:cNvPr id="17" name="直接箭头连接符 16"/>
            <p:cNvCxnSpPr/>
            <p:nvPr/>
          </p:nvCxnSpPr>
          <p:spPr>
            <a:xfrm flipH="1">
              <a:off x="4095838" y="3986278"/>
              <a:ext cx="1186440" cy="859621"/>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3" name="圆角矩形标注 22"/>
            <p:cNvSpPr/>
            <p:nvPr/>
          </p:nvSpPr>
          <p:spPr>
            <a:xfrm>
              <a:off x="5341418" y="4483510"/>
              <a:ext cx="1093093" cy="488464"/>
            </a:xfrm>
            <a:prstGeom prst="wedgeRoundRectCallout">
              <a:avLst>
                <a:gd name="adj1" fmla="val -92417"/>
                <a:gd name="adj2" fmla="val -65418"/>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0000FF"/>
                  </a:solidFill>
                  <a:latin typeface="微软雅黑" panose="020B0503020204020204" pitchFamily="34" charset="-122"/>
                  <a:ea typeface="微软雅黑" panose="020B0503020204020204" pitchFamily="34" charset="-122"/>
                </a:rPr>
                <a:t>置   数</a:t>
              </a:r>
              <a:endParaRPr lang="zh-CN" altLang="en-US" sz="1600" dirty="0">
                <a:solidFill>
                  <a:srgbClr val="0000FF"/>
                </a:solidFill>
                <a:latin typeface="微软雅黑" panose="020B0503020204020204" pitchFamily="34" charset="-122"/>
                <a:ea typeface="微软雅黑" panose="020B0503020204020204" pitchFamily="34" charset="-122"/>
              </a:endParaRPr>
            </a:p>
          </p:txBody>
        </p:sp>
      </p:grpSp>
      <p:grpSp>
        <p:nvGrpSpPr>
          <p:cNvPr id="25" name="组合 24"/>
          <p:cNvGrpSpPr/>
          <p:nvPr/>
        </p:nvGrpSpPr>
        <p:grpSpPr>
          <a:xfrm>
            <a:off x="614208" y="2512142"/>
            <a:ext cx="2440814" cy="956539"/>
            <a:chOff x="2876331" y="3889360"/>
            <a:chExt cx="2440814" cy="956539"/>
          </a:xfrm>
        </p:grpSpPr>
        <p:cxnSp>
          <p:nvCxnSpPr>
            <p:cNvPr id="26" name="直接箭头连接符 25"/>
            <p:cNvCxnSpPr/>
            <p:nvPr/>
          </p:nvCxnSpPr>
          <p:spPr>
            <a:xfrm flipH="1">
              <a:off x="4095838" y="4027714"/>
              <a:ext cx="1221307" cy="818185"/>
            </a:xfrm>
            <a:prstGeom prst="straightConnector1">
              <a:avLst/>
            </a:prstGeom>
            <a:ln w="38100">
              <a:solidFill>
                <a:srgbClr val="0000FF"/>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圆角矩形标注 26"/>
            <p:cNvSpPr/>
            <p:nvPr/>
          </p:nvSpPr>
          <p:spPr>
            <a:xfrm>
              <a:off x="2876331" y="3889360"/>
              <a:ext cx="1093093" cy="488464"/>
            </a:xfrm>
            <a:prstGeom prst="wedgeRoundRectCallout">
              <a:avLst>
                <a:gd name="adj1" fmla="val 91850"/>
                <a:gd name="adj2" fmla="val 79510"/>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0000FF"/>
                  </a:solidFill>
                  <a:latin typeface="微软雅黑" panose="020B0503020204020204" pitchFamily="34" charset="-122"/>
                  <a:ea typeface="微软雅黑" panose="020B0503020204020204" pitchFamily="34" charset="-122"/>
                </a:rPr>
                <a:t>清   零</a:t>
              </a:r>
              <a:endParaRPr lang="zh-CN" altLang="en-US" sz="1600" dirty="0">
                <a:solidFill>
                  <a:srgbClr val="0000FF"/>
                </a:solidFill>
                <a:latin typeface="微软雅黑" panose="020B0503020204020204" pitchFamily="34" charset="-122"/>
                <a:ea typeface="微软雅黑" panose="020B0503020204020204" pitchFamily="34" charset="-122"/>
              </a:endParaRPr>
            </a:p>
          </p:txBody>
        </p:sp>
      </p:grpSp>
      <p:grpSp>
        <p:nvGrpSpPr>
          <p:cNvPr id="32" name="组合 31"/>
          <p:cNvGrpSpPr/>
          <p:nvPr/>
        </p:nvGrpSpPr>
        <p:grpSpPr>
          <a:xfrm>
            <a:off x="5288818" y="2453998"/>
            <a:ext cx="3559716" cy="2312892"/>
            <a:chOff x="5288818" y="2453998"/>
            <a:chExt cx="3559716" cy="2312892"/>
          </a:xfrm>
        </p:grpSpPr>
        <p:sp>
          <p:nvSpPr>
            <p:cNvPr id="31" name="圆角矩形 30"/>
            <p:cNvSpPr/>
            <p:nvPr/>
          </p:nvSpPr>
          <p:spPr>
            <a:xfrm>
              <a:off x="5322059" y="2453998"/>
              <a:ext cx="3526475" cy="2312892"/>
            </a:xfrm>
            <a:prstGeom prst="roundRect">
              <a:avLst>
                <a:gd name="adj" fmla="val 6731"/>
              </a:avLst>
            </a:prstGeom>
            <a:solidFill>
              <a:schemeClr val="bg1"/>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8611" name="Object 7"/>
            <p:cNvGraphicFramePr>
              <a:graphicFrameLocks noChangeAspect="1"/>
            </p:cNvGraphicFramePr>
            <p:nvPr/>
          </p:nvGraphicFramePr>
          <p:xfrm>
            <a:off x="5288818" y="2475044"/>
            <a:ext cx="3360738" cy="2043112"/>
          </p:xfrm>
          <a:graphic>
            <a:graphicData uri="http://schemas.openxmlformats.org/presentationml/2006/ole">
              <mc:AlternateContent xmlns:mc="http://schemas.openxmlformats.org/markup-compatibility/2006">
                <mc:Choice xmlns:v="urn:schemas-microsoft-com:vml" Requires="v">
                  <p:oleObj spid="_x0000_s46095" name="Visio" r:id="rId4" imgW="1543050" imgH="1152525" progId="Visio.Drawing.11">
                    <p:embed/>
                  </p:oleObj>
                </mc:Choice>
                <mc:Fallback>
                  <p:oleObj name="Visio" r:id="rId4" imgW="1543050" imgH="1152525" progId="Visio.Drawing.11">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b="9500"/>
                        <a:stretch>
                          <a:fillRect/>
                        </a:stretch>
                      </p:blipFill>
                      <p:spPr bwMode="auto">
                        <a:xfrm>
                          <a:off x="5288818" y="2475044"/>
                          <a:ext cx="3360738" cy="2043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0" name="组合 34"/>
          <p:cNvGrpSpPr/>
          <p:nvPr/>
        </p:nvGrpSpPr>
        <p:grpSpPr>
          <a:xfrm>
            <a:off x="392432" y="735720"/>
            <a:ext cx="6649115" cy="420971"/>
            <a:chOff x="670560" y="892917"/>
            <a:chExt cx="6649115" cy="420971"/>
          </a:xfrm>
        </p:grpSpPr>
        <p:sp>
          <p:nvSpPr>
            <p:cNvPr id="21" name="矩形 20"/>
            <p:cNvSpPr/>
            <p:nvPr/>
          </p:nvSpPr>
          <p:spPr>
            <a:xfrm>
              <a:off x="1035231" y="913778"/>
              <a:ext cx="6284444" cy="400110"/>
            </a:xfrm>
            <a:prstGeom prst="rect">
              <a:avLst/>
            </a:prstGeom>
          </p:spPr>
          <p:txBody>
            <a:bodyPr wrap="square">
              <a:spAutoFit/>
            </a:bodyPr>
            <a:lstStyle/>
            <a:p>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集成计数器的应用</a:t>
              </a:r>
              <a:r>
                <a:rPr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构成任意进制计数器</a:t>
              </a:r>
              <a:r>
                <a:rPr lang="en-US" altLang="zh-CN" sz="20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(M&gt;N)</a:t>
              </a:r>
              <a:endPar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2" name="Picture 3"/>
            <p:cNvPicPr>
              <a:picLocks noChangeAspect="1" noChangeArrowheads="1"/>
            </p:cNvPicPr>
            <p:nvPr/>
          </p:nvPicPr>
          <p:blipFill>
            <a:blip r:embed="rId6"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slide(fromBottom)">
                                      <p:cBhvr>
                                        <p:cTn id="12" dur="10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1000" fill="hold"/>
                                        <p:tgtEl>
                                          <p:spTgt spid="10"/>
                                        </p:tgtEl>
                                        <p:attrNameLst>
                                          <p:attrName>ppt_w</p:attrName>
                                        </p:attrNameLst>
                                      </p:cBhvr>
                                      <p:tavLst>
                                        <p:tav tm="0">
                                          <p:val>
                                            <p:fltVal val="0"/>
                                          </p:val>
                                        </p:tav>
                                        <p:tav tm="100000">
                                          <p:val>
                                            <p:strVal val="#ppt_w"/>
                                          </p:val>
                                        </p:tav>
                                      </p:tavLst>
                                    </p:anim>
                                    <p:anim calcmode="lin" valueType="num">
                                      <p:cBhvr>
                                        <p:cTn id="18" dur="1000" fill="hold"/>
                                        <p:tgtEl>
                                          <p:spTgt spid="10"/>
                                        </p:tgtEl>
                                        <p:attrNameLst>
                                          <p:attrName>ppt_h</p:attrName>
                                        </p:attrNameLst>
                                      </p:cBhvr>
                                      <p:tavLst>
                                        <p:tav tm="0">
                                          <p:val>
                                            <p:fltVal val="0"/>
                                          </p:val>
                                        </p:tav>
                                        <p:tav tm="100000">
                                          <p:val>
                                            <p:strVal val="#ppt_h"/>
                                          </p:val>
                                        </p:tav>
                                      </p:tavLst>
                                    </p:anim>
                                  </p:childTnLst>
                                </p:cTn>
                              </p:par>
                            </p:childTnLst>
                          </p:cTn>
                        </p:par>
                        <p:par>
                          <p:cTn id="19" fill="hold">
                            <p:stCondLst>
                              <p:cond delay="1000"/>
                            </p:stCondLst>
                            <p:childTnLst>
                              <p:par>
                                <p:cTn id="20" presetID="31" presetClass="entr" presetSubtype="0" fill="hold" grpId="0" nodeType="afterEffect">
                                  <p:stCondLst>
                                    <p:cond delay="0"/>
                                  </p:stCondLst>
                                  <p:iterate type="lt">
                                    <p:tmPct val="5000"/>
                                  </p:iterate>
                                  <p:childTnLst>
                                    <p:set>
                                      <p:cBhvr>
                                        <p:cTn id="21" dur="1" fill="hold">
                                          <p:stCondLst>
                                            <p:cond delay="0"/>
                                          </p:stCondLst>
                                        </p:cTn>
                                        <p:tgtEl>
                                          <p:spTgt spid="15"/>
                                        </p:tgtEl>
                                        <p:attrNameLst>
                                          <p:attrName>style.visibility</p:attrName>
                                        </p:attrNameLst>
                                      </p:cBhvr>
                                      <p:to>
                                        <p:strVal val="visible"/>
                                      </p:to>
                                    </p:set>
                                    <p:anim calcmode="lin" valueType="num">
                                      <p:cBhvr>
                                        <p:cTn id="22" dur="1000" fill="hold"/>
                                        <p:tgtEl>
                                          <p:spTgt spid="15"/>
                                        </p:tgtEl>
                                        <p:attrNameLst>
                                          <p:attrName>ppt_w</p:attrName>
                                        </p:attrNameLst>
                                      </p:cBhvr>
                                      <p:tavLst>
                                        <p:tav tm="0">
                                          <p:val>
                                            <p:fltVal val="0"/>
                                          </p:val>
                                        </p:tav>
                                        <p:tav tm="100000">
                                          <p:val>
                                            <p:strVal val="#ppt_w"/>
                                          </p:val>
                                        </p:tav>
                                      </p:tavLst>
                                    </p:anim>
                                    <p:anim calcmode="lin" valueType="num">
                                      <p:cBhvr>
                                        <p:cTn id="23" dur="1000" fill="hold"/>
                                        <p:tgtEl>
                                          <p:spTgt spid="15"/>
                                        </p:tgtEl>
                                        <p:attrNameLst>
                                          <p:attrName>ppt_h</p:attrName>
                                        </p:attrNameLst>
                                      </p:cBhvr>
                                      <p:tavLst>
                                        <p:tav tm="0">
                                          <p:val>
                                            <p:fltVal val="0"/>
                                          </p:val>
                                        </p:tav>
                                        <p:tav tm="100000">
                                          <p:val>
                                            <p:strVal val="#ppt_h"/>
                                          </p:val>
                                        </p:tav>
                                      </p:tavLst>
                                    </p:anim>
                                    <p:anim calcmode="lin" valueType="num">
                                      <p:cBhvr>
                                        <p:cTn id="24" dur="1000" fill="hold"/>
                                        <p:tgtEl>
                                          <p:spTgt spid="15"/>
                                        </p:tgtEl>
                                        <p:attrNameLst>
                                          <p:attrName>style.rotation</p:attrName>
                                        </p:attrNameLst>
                                      </p:cBhvr>
                                      <p:tavLst>
                                        <p:tav tm="0">
                                          <p:val>
                                            <p:fltVal val="90"/>
                                          </p:val>
                                        </p:tav>
                                        <p:tav tm="100000">
                                          <p:val>
                                            <p:fltVal val="0"/>
                                          </p:val>
                                        </p:tav>
                                      </p:tavLst>
                                    </p:anim>
                                    <p:animEffect transition="in" filter="fade">
                                      <p:cBhvr>
                                        <p:cTn id="25" dur="10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slide(fromBottom)">
                                      <p:cBhvr>
                                        <p:cTn id="30" dur="10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8"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slide(fromLeft)">
                                      <p:cBhvr>
                                        <p:cTn id="35" dur="1000"/>
                                        <p:tgtEl>
                                          <p:spTgt spid="25"/>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nodeType="click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slide(fromBottom)">
                                      <p:cBhvr>
                                        <p:cTn id="40"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73080" y="1289431"/>
            <a:ext cx="5549608" cy="419338"/>
          </a:xfrm>
          <a:prstGeom prst="roundRect">
            <a:avLst>
              <a:gd name="adj" fmla="val 21126"/>
            </a:avLst>
          </a:prstGeom>
          <a:solidFill>
            <a:srgbClr val="FFFF66"/>
          </a:solidFill>
          <a:ln w="19050" algn="ctr">
            <a:solidFill>
              <a:srgbClr val="00B050"/>
            </a:solidFill>
            <a:miter lim="800000"/>
          </a:ln>
        </p:spPr>
        <p:txBody>
          <a:bodyPr wrap="square" lIns="0" rIns="0">
            <a:spAutoFit/>
          </a:bodyPr>
          <a:lstStyle/>
          <a:p>
            <a:r>
              <a:rPr kumimoji="1" lang="zh-CN" altLang="en-US" dirty="0">
                <a:solidFill>
                  <a:srgbClr val="FF0000"/>
                </a:solidFill>
                <a:latin typeface="黑体" panose="02010609060101010101" pitchFamily="49" charset="-122"/>
                <a:ea typeface="黑体" panose="02010609060101010101" pitchFamily="49" charset="-122"/>
              </a:rPr>
              <a:t>思考（</a:t>
            </a:r>
            <a:r>
              <a:rPr kumimoji="1" lang="en-US" altLang="zh-CN" dirty="0">
                <a:solidFill>
                  <a:srgbClr val="FF0000"/>
                </a:solidFill>
                <a:latin typeface="黑体" panose="02010609060101010101" pitchFamily="49" charset="-122"/>
                <a:ea typeface="黑体" panose="02010609060101010101" pitchFamily="49" charset="-122"/>
              </a:rPr>
              <a:t>3</a:t>
            </a:r>
            <a:r>
              <a:rPr kumimoji="1" lang="zh-CN" altLang="en-US" dirty="0">
                <a:solidFill>
                  <a:srgbClr val="FF0000"/>
                </a:solidFill>
                <a:latin typeface="黑体" panose="02010609060101010101" pitchFamily="49" charset="-122"/>
                <a:ea typeface="黑体" panose="02010609060101010101" pitchFamily="49" charset="-122"/>
              </a:rPr>
              <a:t>）：如何构成带控制端的可变进制计数器？</a:t>
            </a:r>
            <a:endParaRPr kumimoji="1" lang="zh-CN" altLang="en-US" dirty="0">
              <a:solidFill>
                <a:srgbClr val="FF0000"/>
              </a:solidFill>
              <a:latin typeface="黑体" panose="02010609060101010101" pitchFamily="49" charset="-122"/>
              <a:ea typeface="黑体" panose="02010609060101010101" pitchFamily="49" charset="-122"/>
            </a:endParaRPr>
          </a:p>
        </p:txBody>
      </p:sp>
      <p:grpSp>
        <p:nvGrpSpPr>
          <p:cNvPr id="11" name="组合 10"/>
          <p:cNvGrpSpPr/>
          <p:nvPr/>
        </p:nvGrpSpPr>
        <p:grpSpPr>
          <a:xfrm>
            <a:off x="822396" y="1983901"/>
            <a:ext cx="3243944" cy="1442642"/>
            <a:chOff x="602575" y="1864063"/>
            <a:chExt cx="3050811" cy="1292092"/>
          </a:xfrm>
        </p:grpSpPr>
        <p:sp>
          <p:nvSpPr>
            <p:cNvPr id="10" name="圆角矩形 9"/>
            <p:cNvSpPr/>
            <p:nvPr/>
          </p:nvSpPr>
          <p:spPr>
            <a:xfrm>
              <a:off x="602575" y="1864063"/>
              <a:ext cx="3050811" cy="1292092"/>
            </a:xfrm>
            <a:prstGeom prst="roundRect">
              <a:avLst>
                <a:gd name="adj" fmla="val 6731"/>
              </a:avLst>
            </a:prstGeom>
            <a:solidFill>
              <a:schemeClr val="bg1"/>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7586" name="Object 8"/>
            <p:cNvGraphicFramePr>
              <a:graphicFrameLocks noChangeAspect="1"/>
            </p:cNvGraphicFramePr>
            <p:nvPr/>
          </p:nvGraphicFramePr>
          <p:xfrm>
            <a:off x="705980" y="1946326"/>
            <a:ext cx="2844000" cy="1127567"/>
          </p:xfrm>
          <a:graphic>
            <a:graphicData uri="http://schemas.openxmlformats.org/presentationml/2006/ole">
              <mc:AlternateContent xmlns:mc="http://schemas.openxmlformats.org/markup-compatibility/2006">
                <mc:Choice xmlns:v="urn:schemas-microsoft-com:vml" Requires="v">
                  <p:oleObj spid="_x0000_s47124" name="Visio" r:id="rId1" imgW="2033270" imgH="807085" progId="Visio.Drawing.11">
                    <p:embed/>
                  </p:oleObj>
                </mc:Choice>
                <mc:Fallback>
                  <p:oleObj name="Visio" r:id="rId1" imgW="2033270" imgH="807085" progId="Visio.Drawing.11">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980" y="1946326"/>
                          <a:ext cx="2844000" cy="112756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nvGrpSpPr>
          <p:cNvPr id="15" name="组合 14"/>
          <p:cNvGrpSpPr/>
          <p:nvPr/>
        </p:nvGrpSpPr>
        <p:grpSpPr>
          <a:xfrm>
            <a:off x="4652763" y="1983901"/>
            <a:ext cx="3243944" cy="1442642"/>
            <a:chOff x="556925" y="3373758"/>
            <a:chExt cx="3050811" cy="1292092"/>
          </a:xfrm>
        </p:grpSpPr>
        <p:graphicFrame>
          <p:nvGraphicFramePr>
            <p:cNvPr id="67587" name="Object 9"/>
            <p:cNvGraphicFramePr>
              <a:graphicFrameLocks noChangeAspect="1"/>
            </p:cNvGraphicFramePr>
            <p:nvPr/>
          </p:nvGraphicFramePr>
          <p:xfrm>
            <a:off x="660330" y="3456100"/>
            <a:ext cx="2844000" cy="1127409"/>
          </p:xfrm>
          <a:graphic>
            <a:graphicData uri="http://schemas.openxmlformats.org/presentationml/2006/ole">
              <mc:AlternateContent xmlns:mc="http://schemas.openxmlformats.org/markup-compatibility/2006">
                <mc:Choice xmlns:v="urn:schemas-microsoft-com:vml" Requires="v">
                  <p:oleObj spid="_x0000_s47125" name="Visio" r:id="rId3" imgW="2033270" imgH="807085" progId="Visio.Drawing.11">
                    <p:embed/>
                  </p:oleObj>
                </mc:Choice>
                <mc:Fallback>
                  <p:oleObj name="Visio" r:id="rId3" imgW="2033270" imgH="807085" progId="Visio.Drawing.11">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330" y="3456100"/>
                          <a:ext cx="2844000" cy="112740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13" name="圆角矩形 12"/>
            <p:cNvSpPr/>
            <p:nvPr/>
          </p:nvSpPr>
          <p:spPr>
            <a:xfrm>
              <a:off x="556925" y="3373758"/>
              <a:ext cx="3050811" cy="1292092"/>
            </a:xfrm>
            <a:prstGeom prst="roundRect">
              <a:avLst>
                <a:gd name="adj" fmla="val 6731"/>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2706678" y="3614652"/>
            <a:ext cx="3243944" cy="1442642"/>
            <a:chOff x="4392208" y="1802703"/>
            <a:chExt cx="3050811" cy="1292092"/>
          </a:xfrm>
        </p:grpSpPr>
        <p:graphicFrame>
          <p:nvGraphicFramePr>
            <p:cNvPr id="67588" name="Object 10"/>
            <p:cNvGraphicFramePr>
              <a:graphicFrameLocks noChangeAspect="1"/>
            </p:cNvGraphicFramePr>
            <p:nvPr/>
          </p:nvGraphicFramePr>
          <p:xfrm>
            <a:off x="4495613" y="1884966"/>
            <a:ext cx="2844000" cy="1127567"/>
          </p:xfrm>
          <a:graphic>
            <a:graphicData uri="http://schemas.openxmlformats.org/presentationml/2006/ole">
              <mc:AlternateContent xmlns:mc="http://schemas.openxmlformats.org/markup-compatibility/2006">
                <mc:Choice xmlns:v="urn:schemas-microsoft-com:vml" Requires="v">
                  <p:oleObj spid="_x0000_s47126" name="Visio" r:id="rId5" imgW="2033270" imgH="807085" progId="Visio.Drawing.11">
                    <p:embed/>
                  </p:oleObj>
                </mc:Choice>
                <mc:Fallback>
                  <p:oleObj name="Visio" r:id="rId5" imgW="2033270" imgH="807085" progId="Visio.Drawing.11">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613" y="1884966"/>
                          <a:ext cx="2844000" cy="112756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16" name="圆角矩形 15"/>
            <p:cNvSpPr/>
            <p:nvPr/>
          </p:nvSpPr>
          <p:spPr>
            <a:xfrm>
              <a:off x="4392208" y="1802703"/>
              <a:ext cx="3050811" cy="1292092"/>
            </a:xfrm>
            <a:prstGeom prst="roundRect">
              <a:avLst>
                <a:gd name="adj" fmla="val 6731"/>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34"/>
          <p:cNvGrpSpPr/>
          <p:nvPr/>
        </p:nvGrpSpPr>
        <p:grpSpPr>
          <a:xfrm>
            <a:off x="392432" y="735720"/>
            <a:ext cx="6649115" cy="420971"/>
            <a:chOff x="670560" y="892917"/>
            <a:chExt cx="6649115" cy="420971"/>
          </a:xfrm>
        </p:grpSpPr>
        <p:sp>
          <p:nvSpPr>
            <p:cNvPr id="19" name="矩形 18"/>
            <p:cNvSpPr/>
            <p:nvPr/>
          </p:nvSpPr>
          <p:spPr>
            <a:xfrm>
              <a:off x="1035231" y="913778"/>
              <a:ext cx="6284444" cy="400110"/>
            </a:xfrm>
            <a:prstGeom prst="rect">
              <a:avLst/>
            </a:prstGeom>
          </p:spPr>
          <p:txBody>
            <a:bodyPr wrap="square">
              <a:spAutoFit/>
            </a:bodyPr>
            <a:lstStyle/>
            <a:p>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集成计数器的应用</a:t>
              </a:r>
              <a:r>
                <a:rPr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构成任意进制计数器</a:t>
              </a:r>
              <a:r>
                <a:rPr lang="en-US" altLang="zh-CN" sz="20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(M&gt;N)</a:t>
              </a:r>
              <a:endPar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0" name="Picture 3"/>
            <p:cNvPicPr>
              <a:picLocks noChangeAspect="1" noChangeArrowheads="1"/>
            </p:cNvPicPr>
            <p:nvPr/>
          </p:nvPicPr>
          <p:blipFill>
            <a:blip r:embed="rId7"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4"/>
          <p:cNvGrpSpPr/>
          <p:nvPr/>
        </p:nvGrpSpPr>
        <p:grpSpPr>
          <a:xfrm>
            <a:off x="392432" y="735720"/>
            <a:ext cx="6649115" cy="420971"/>
            <a:chOff x="670560" y="892917"/>
            <a:chExt cx="6649115" cy="420971"/>
          </a:xfrm>
        </p:grpSpPr>
        <p:sp>
          <p:nvSpPr>
            <p:cNvPr id="32" name="矩形 31"/>
            <p:cNvSpPr/>
            <p:nvPr/>
          </p:nvSpPr>
          <p:spPr>
            <a:xfrm>
              <a:off x="1035231" y="913778"/>
              <a:ext cx="6284444" cy="400110"/>
            </a:xfrm>
            <a:prstGeom prst="rect">
              <a:avLst/>
            </a:prstGeom>
          </p:spPr>
          <p:txBody>
            <a:bodyPr wrap="square">
              <a:spAutoFit/>
            </a:bodyPr>
            <a:lstStyle/>
            <a:p>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集成计数器的应用</a:t>
              </a:r>
              <a:r>
                <a:rPr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构成任意进制计数器</a:t>
              </a:r>
              <a:r>
                <a:rPr lang="en-US" altLang="zh-CN" sz="20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(M&lt;N)</a:t>
              </a:r>
              <a:endPar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3"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aphicFrame>
        <p:nvGraphicFramePr>
          <p:cNvPr id="3" name="对象 2"/>
          <p:cNvGraphicFramePr>
            <a:graphicFrameLocks noChangeAspect="1"/>
          </p:cNvGraphicFramePr>
          <p:nvPr/>
        </p:nvGraphicFramePr>
        <p:xfrm>
          <a:off x="2013111" y="1201559"/>
          <a:ext cx="4657456" cy="1369840"/>
        </p:xfrm>
        <a:graphic>
          <a:graphicData uri="http://schemas.openxmlformats.org/presentationml/2006/ole">
            <mc:AlternateContent xmlns:mc="http://schemas.openxmlformats.org/markup-compatibility/2006">
              <mc:Choice xmlns:v="urn:schemas-microsoft-com:vml" Requires="v">
                <p:oleObj spid="_x0000_s43026" name="Visio" r:id="rId2" imgW="2981325" imgH="885825" progId="Visio.Drawing.11">
                  <p:embed/>
                </p:oleObj>
              </mc:Choice>
              <mc:Fallback>
                <p:oleObj name="Visio" r:id="rId2" imgW="2981325" imgH="885825" progId="Visio.Drawing.11">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3111" y="1201559"/>
                        <a:ext cx="4657456" cy="13698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nvGraphicFramePr>
        <p:xfrm>
          <a:off x="2013111" y="3349775"/>
          <a:ext cx="4694817" cy="1444559"/>
        </p:xfrm>
        <a:graphic>
          <a:graphicData uri="http://schemas.openxmlformats.org/presentationml/2006/ole">
            <mc:AlternateContent xmlns:mc="http://schemas.openxmlformats.org/markup-compatibility/2006">
              <mc:Choice xmlns:v="urn:schemas-microsoft-com:vml" Requires="v">
                <p:oleObj spid="_x0000_s43027" name="Visio" r:id="rId4" imgW="3000375" imgH="933450" progId="Visio.Drawing.11">
                  <p:embed/>
                </p:oleObj>
              </mc:Choice>
              <mc:Fallback>
                <p:oleObj name="Visio" r:id="rId4" imgW="3000375" imgH="933450" progId="Visio.Drawing.11">
                  <p:embed/>
                  <p:pic>
                    <p:nvPicPr>
                      <p:cNvPr id="0" name="对象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3111" y="3349775"/>
                        <a:ext cx="4694817" cy="14445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圆角矩形 33"/>
          <p:cNvSpPr/>
          <p:nvPr/>
        </p:nvSpPr>
        <p:spPr>
          <a:xfrm>
            <a:off x="1048247" y="1534357"/>
            <a:ext cx="805688" cy="656565"/>
          </a:xfrm>
          <a:prstGeom prst="roundRect">
            <a:avLst/>
          </a:prstGeom>
          <a:solidFill>
            <a:schemeClr val="accent4">
              <a:lumMod val="20000"/>
              <a:lumOff val="80000"/>
            </a:schemeClr>
          </a:solidFill>
          <a:ln w="38100">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0000FF"/>
                </a:solidFill>
                <a:latin typeface="微软雅黑" panose="020B0503020204020204" pitchFamily="34" charset="-122"/>
                <a:ea typeface="微软雅黑" panose="020B0503020204020204" pitchFamily="34" charset="-122"/>
              </a:rPr>
              <a:t>串行进位</a:t>
            </a:r>
            <a:endParaRPr lang="zh-CN" altLang="en-US" sz="1600" dirty="0">
              <a:solidFill>
                <a:srgbClr val="0000FF"/>
              </a:solidFill>
              <a:latin typeface="微软雅黑" panose="020B0503020204020204" pitchFamily="34" charset="-122"/>
              <a:ea typeface="微软雅黑" panose="020B0503020204020204" pitchFamily="34" charset="-122"/>
            </a:endParaRPr>
          </a:p>
        </p:txBody>
      </p:sp>
      <p:sp>
        <p:nvSpPr>
          <p:cNvPr id="35" name="左右箭头标注 34"/>
          <p:cNvSpPr/>
          <p:nvPr/>
        </p:nvSpPr>
        <p:spPr>
          <a:xfrm rot="5400000">
            <a:off x="720588" y="2639770"/>
            <a:ext cx="1420091" cy="712551"/>
          </a:xfrm>
          <a:prstGeom prst="leftRightArrowCallout">
            <a:avLst/>
          </a:prstGeom>
          <a:ln w="38100">
            <a:solidFill>
              <a:schemeClr val="accent3">
                <a:lumMod val="50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r>
              <a:rPr lang="zh-CN" altLang="en-US" dirty="0">
                <a:solidFill>
                  <a:srgbClr val="FFFF00"/>
                </a:solidFill>
                <a:latin typeface="微软雅黑" panose="020B0503020204020204" pitchFamily="34" charset="-122"/>
                <a:ea typeface="微软雅黑" panose="020B0503020204020204" pitchFamily="34" charset="-122"/>
              </a:rPr>
              <a:t>级联</a:t>
            </a:r>
            <a:endParaRPr lang="zh-CN" altLang="en-US" dirty="0">
              <a:solidFill>
                <a:srgbClr val="FFFF00"/>
              </a:solidFill>
              <a:latin typeface="微软雅黑" panose="020B0503020204020204" pitchFamily="34" charset="-122"/>
              <a:ea typeface="微软雅黑" panose="020B0503020204020204" pitchFamily="34" charset="-122"/>
            </a:endParaRPr>
          </a:p>
        </p:txBody>
      </p:sp>
      <p:sp>
        <p:nvSpPr>
          <p:cNvPr id="36" name="圆角矩形 35"/>
          <p:cNvSpPr/>
          <p:nvPr/>
        </p:nvSpPr>
        <p:spPr>
          <a:xfrm>
            <a:off x="1010421" y="3800138"/>
            <a:ext cx="776488" cy="710901"/>
          </a:xfrm>
          <a:prstGeom prst="roundRect">
            <a:avLst/>
          </a:prstGeom>
          <a:solidFill>
            <a:schemeClr val="accent4">
              <a:lumMod val="20000"/>
              <a:lumOff val="80000"/>
            </a:schemeClr>
          </a:solidFill>
          <a:ln w="38100">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0000FF"/>
                </a:solidFill>
                <a:latin typeface="微软雅黑" panose="020B0503020204020204" pitchFamily="34" charset="-122"/>
                <a:ea typeface="微软雅黑" panose="020B0503020204020204" pitchFamily="34" charset="-122"/>
              </a:rPr>
              <a:t>并行进位</a:t>
            </a:r>
            <a:endParaRPr lang="zh-CN" altLang="en-US" sz="1600" dirty="0">
              <a:solidFill>
                <a:srgbClr val="0000FF"/>
              </a:solidFill>
              <a:latin typeface="微软雅黑" panose="020B0503020204020204" pitchFamily="34" charset="-122"/>
              <a:ea typeface="微软雅黑" panose="020B0503020204020204" pitchFamily="34" charset="-122"/>
            </a:endParaRPr>
          </a:p>
        </p:txBody>
      </p:sp>
      <p:sp>
        <p:nvSpPr>
          <p:cNvPr id="37" name="右箭头 36"/>
          <p:cNvSpPr/>
          <p:nvPr/>
        </p:nvSpPr>
        <p:spPr>
          <a:xfrm>
            <a:off x="175260" y="2680970"/>
            <a:ext cx="816304" cy="571500"/>
          </a:xfrm>
          <a:prstGeom prst="rightArrow">
            <a:avLst>
              <a:gd name="adj1" fmla="val 100000"/>
              <a:gd name="adj2" fmla="val 28667"/>
            </a:avLst>
          </a:prstGeom>
          <a:ln w="38100">
            <a:solidFill>
              <a:schemeClr val="accent3">
                <a:lumMod val="50000"/>
              </a:schemeClr>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solidFill>
                  <a:srgbClr val="FFFF00"/>
                </a:solidFill>
                <a:latin typeface="微软雅黑" panose="020B0503020204020204" pitchFamily="34" charset="-122"/>
                <a:ea typeface="微软雅黑" panose="020B0503020204020204" pitchFamily="34" charset="-122"/>
              </a:rPr>
              <a:t>M&lt;N</a:t>
            </a:r>
            <a:endParaRPr lang="zh-CN" altLang="en-US" dirty="0">
              <a:solidFill>
                <a:srgbClr val="FFFF00"/>
              </a:solidFill>
              <a:latin typeface="微软雅黑" panose="020B0503020204020204" pitchFamily="34" charset="-122"/>
              <a:ea typeface="微软雅黑" panose="020B0503020204020204" pitchFamily="34" charset="-122"/>
            </a:endParaRPr>
          </a:p>
        </p:txBody>
      </p:sp>
      <p:grpSp>
        <p:nvGrpSpPr>
          <p:cNvPr id="23" name="组合 22"/>
          <p:cNvGrpSpPr/>
          <p:nvPr/>
        </p:nvGrpSpPr>
        <p:grpSpPr>
          <a:xfrm>
            <a:off x="2260888" y="1568037"/>
            <a:ext cx="2658251" cy="530797"/>
            <a:chOff x="2946688" y="1705197"/>
            <a:chExt cx="2658251" cy="530797"/>
          </a:xfrm>
        </p:grpSpPr>
        <p:cxnSp>
          <p:nvCxnSpPr>
            <p:cNvPr id="41" name="直接连接符 40"/>
            <p:cNvCxnSpPr/>
            <p:nvPr/>
          </p:nvCxnSpPr>
          <p:spPr>
            <a:xfrm>
              <a:off x="2946688" y="2215602"/>
              <a:ext cx="324000" cy="8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42" name="组合 41"/>
            <p:cNvGrpSpPr/>
            <p:nvPr/>
          </p:nvGrpSpPr>
          <p:grpSpPr>
            <a:xfrm>
              <a:off x="4726743" y="1705197"/>
              <a:ext cx="878196" cy="530797"/>
              <a:chOff x="4816796" y="3355340"/>
              <a:chExt cx="878196" cy="530797"/>
            </a:xfrm>
          </p:grpSpPr>
          <p:sp>
            <p:nvSpPr>
              <p:cNvPr id="43" name="圆角矩形 42"/>
              <p:cNvSpPr/>
              <p:nvPr/>
            </p:nvSpPr>
            <p:spPr>
              <a:xfrm>
                <a:off x="4986714" y="3355340"/>
                <a:ext cx="174184" cy="269076"/>
              </a:xfrm>
              <a:prstGeom prst="roundRect">
                <a:avLst>
                  <a:gd name="adj" fmla="val 220"/>
                </a:avLst>
              </a:prstGeom>
              <a:solidFill>
                <a:schemeClr val="bg1">
                  <a:alpha val="19000"/>
                </a:scheme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连接符 43"/>
              <p:cNvCxnSpPr/>
              <p:nvPr/>
            </p:nvCxnSpPr>
            <p:spPr>
              <a:xfrm>
                <a:off x="4816796" y="3484170"/>
                <a:ext cx="180000" cy="8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5203825" y="3466275"/>
                <a:ext cx="36000" cy="8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5334992" y="3863440"/>
                <a:ext cx="360000" cy="8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5334992" y="3478911"/>
                <a:ext cx="826" cy="4072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0" name="椭圆 39"/>
            <p:cNvSpPr/>
            <p:nvPr/>
          </p:nvSpPr>
          <p:spPr>
            <a:xfrm>
              <a:off x="5081155" y="1796420"/>
              <a:ext cx="72000" cy="72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连接符 49"/>
            <p:cNvCxnSpPr/>
            <p:nvPr/>
          </p:nvCxnSpPr>
          <p:spPr>
            <a:xfrm>
              <a:off x="5149772" y="1841450"/>
              <a:ext cx="115200" cy="8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3871425" y="2569296"/>
            <a:ext cx="2544611" cy="576569"/>
            <a:chOff x="3871425" y="2569296"/>
            <a:chExt cx="2544611" cy="576569"/>
          </a:xfrm>
        </p:grpSpPr>
        <p:grpSp>
          <p:nvGrpSpPr>
            <p:cNvPr id="52" name="组合 51"/>
            <p:cNvGrpSpPr/>
            <p:nvPr/>
          </p:nvGrpSpPr>
          <p:grpSpPr>
            <a:xfrm>
              <a:off x="3871425" y="2569296"/>
              <a:ext cx="2544611" cy="311981"/>
              <a:chOff x="3519071" y="4353044"/>
              <a:chExt cx="2808709" cy="345485"/>
            </a:xfrm>
          </p:grpSpPr>
          <p:grpSp>
            <p:nvGrpSpPr>
              <p:cNvPr id="53" name="组合 56"/>
              <p:cNvGrpSpPr/>
              <p:nvPr/>
            </p:nvGrpSpPr>
            <p:grpSpPr>
              <a:xfrm>
                <a:off x="3519071" y="4360664"/>
                <a:ext cx="1919269" cy="337865"/>
                <a:chOff x="3519071" y="4360664"/>
                <a:chExt cx="1919269" cy="337865"/>
              </a:xfrm>
            </p:grpSpPr>
            <p:sp>
              <p:nvSpPr>
                <p:cNvPr id="64" name="TextBox 20"/>
                <p:cNvSpPr txBox="1"/>
                <p:nvPr/>
              </p:nvSpPr>
              <p:spPr>
                <a:xfrm>
                  <a:off x="3519071" y="4425865"/>
                  <a:ext cx="550630" cy="272664"/>
                </a:xfrm>
                <a:prstGeom prst="rect">
                  <a:avLst/>
                </a:prstGeom>
                <a:noFill/>
              </p:spPr>
              <p:txBody>
                <a:bodyPr wrap="none" rtlCol="0">
                  <a:spAutoFit/>
                </a:bodyPr>
                <a:lstStyle/>
                <a:p>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TC(0)</a:t>
                  </a:r>
                  <a:endParaRPr lang="zh-CN" altLang="en-US" sz="1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5" name="矩形 64"/>
                <p:cNvSpPr/>
                <p:nvPr/>
              </p:nvSpPr>
              <p:spPr>
                <a:xfrm>
                  <a:off x="4334882" y="4360664"/>
                  <a:ext cx="958917" cy="246221"/>
                </a:xfrm>
                <a:prstGeom prst="rect">
                  <a:avLst/>
                </a:prstGeom>
              </p:spPr>
              <p:txBody>
                <a:bodyPr wrap="none">
                  <a:spAutoFit/>
                </a:bodyPr>
                <a:lstStyle/>
                <a:p>
                  <a:r>
                    <a:rPr lang="en-US" sz="1000" dirty="0">
                      <a:latin typeface="Times New Roman" panose="02020603050405020304" pitchFamily="18" charset="0"/>
                      <a:cs typeface="Times New Roman" panose="02020603050405020304" pitchFamily="18" charset="0"/>
                    </a:rPr>
                    <a:t>0000   ~   1110</a:t>
                  </a:r>
                  <a:endParaRPr lang="zh-CN" altLang="en-US" sz="1000" dirty="0">
                    <a:latin typeface="Times New Roman" panose="02020603050405020304" pitchFamily="18" charset="0"/>
                    <a:cs typeface="Times New Roman" panose="02020603050405020304" pitchFamily="18" charset="0"/>
                  </a:endParaRPr>
                </a:p>
              </p:txBody>
            </p:sp>
            <p:grpSp>
              <p:nvGrpSpPr>
                <p:cNvPr id="66" name="组合 54"/>
                <p:cNvGrpSpPr/>
                <p:nvPr/>
              </p:nvGrpSpPr>
              <p:grpSpPr>
                <a:xfrm>
                  <a:off x="4069080" y="4629150"/>
                  <a:ext cx="1369260" cy="0"/>
                  <a:chOff x="4069080" y="4629150"/>
                  <a:chExt cx="1369260" cy="0"/>
                </a:xfrm>
              </p:grpSpPr>
              <p:cxnSp>
                <p:nvCxnSpPr>
                  <p:cNvPr id="67" name="直接连接符 66"/>
                  <p:cNvCxnSpPr/>
                  <p:nvPr/>
                </p:nvCxnSpPr>
                <p:spPr>
                  <a:xfrm>
                    <a:off x="4069080" y="4629150"/>
                    <a:ext cx="432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4442460" y="4629150"/>
                    <a:ext cx="612000" cy="0"/>
                  </a:xfrm>
                  <a:prstGeom prst="line">
                    <a:avLst/>
                  </a:prstGeom>
                  <a:ln w="28575">
                    <a:solidFill>
                      <a:srgbClr val="0000FF"/>
                    </a:solidFill>
                    <a:prstDash val="sysDash"/>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006340" y="4629150"/>
                    <a:ext cx="432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grpSp>
          <p:grpSp>
            <p:nvGrpSpPr>
              <p:cNvPr id="54" name="组合 58"/>
              <p:cNvGrpSpPr/>
              <p:nvPr/>
            </p:nvGrpSpPr>
            <p:grpSpPr>
              <a:xfrm>
                <a:off x="5385186" y="4360664"/>
                <a:ext cx="500634" cy="276106"/>
                <a:chOff x="5385186" y="4360664"/>
                <a:chExt cx="500634" cy="276106"/>
              </a:xfrm>
            </p:grpSpPr>
            <p:sp>
              <p:nvSpPr>
                <p:cNvPr id="60" name="矩形 59"/>
                <p:cNvSpPr/>
                <p:nvPr/>
              </p:nvSpPr>
              <p:spPr>
                <a:xfrm>
                  <a:off x="5385186" y="4360664"/>
                  <a:ext cx="441146" cy="246221"/>
                </a:xfrm>
                <a:prstGeom prst="rect">
                  <a:avLst/>
                </a:prstGeom>
              </p:spPr>
              <p:txBody>
                <a:bodyPr wrap="none">
                  <a:spAutoFit/>
                </a:bodyPr>
                <a:lstStyle/>
                <a:p>
                  <a:r>
                    <a:rPr lang="en-US" sz="1000" dirty="0">
                      <a:latin typeface="Times New Roman" panose="02020603050405020304" pitchFamily="18" charset="0"/>
                      <a:cs typeface="Times New Roman" panose="02020603050405020304" pitchFamily="18" charset="0"/>
                    </a:rPr>
                    <a:t>1111</a:t>
                  </a:r>
                  <a:endParaRPr lang="zh-CN" altLang="en-US" sz="1000" dirty="0"/>
                </a:p>
              </p:txBody>
            </p:sp>
            <p:grpSp>
              <p:nvGrpSpPr>
                <p:cNvPr id="61" name="组合 38"/>
                <p:cNvGrpSpPr/>
                <p:nvPr/>
              </p:nvGrpSpPr>
              <p:grpSpPr>
                <a:xfrm>
                  <a:off x="5417820" y="4400550"/>
                  <a:ext cx="468000" cy="236220"/>
                  <a:chOff x="5394960" y="4488180"/>
                  <a:chExt cx="468000" cy="304800"/>
                </a:xfrm>
              </p:grpSpPr>
              <p:cxnSp>
                <p:nvCxnSpPr>
                  <p:cNvPr id="62" name="直接连接符 61"/>
                  <p:cNvCxnSpPr/>
                  <p:nvPr/>
                </p:nvCxnSpPr>
                <p:spPr>
                  <a:xfrm rot="5400000" flipH="1" flipV="1">
                    <a:off x="5257800" y="4640580"/>
                    <a:ext cx="3048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94960" y="4488180"/>
                    <a:ext cx="468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grpSp>
          <p:grpSp>
            <p:nvGrpSpPr>
              <p:cNvPr id="55" name="组合 59"/>
              <p:cNvGrpSpPr/>
              <p:nvPr/>
            </p:nvGrpSpPr>
            <p:grpSpPr>
              <a:xfrm>
                <a:off x="5850006" y="4353044"/>
                <a:ext cx="477774" cy="283726"/>
                <a:chOff x="5850006" y="4353044"/>
                <a:chExt cx="477774" cy="283726"/>
              </a:xfrm>
            </p:grpSpPr>
            <p:grpSp>
              <p:nvGrpSpPr>
                <p:cNvPr id="56" name="组合 42"/>
                <p:cNvGrpSpPr/>
                <p:nvPr/>
              </p:nvGrpSpPr>
              <p:grpSpPr>
                <a:xfrm flipV="1">
                  <a:off x="5859780" y="4400550"/>
                  <a:ext cx="468000" cy="236220"/>
                  <a:chOff x="5394960" y="4488180"/>
                  <a:chExt cx="468000" cy="304800"/>
                </a:xfrm>
              </p:grpSpPr>
              <p:cxnSp>
                <p:nvCxnSpPr>
                  <p:cNvPr id="58" name="直接连接符 57"/>
                  <p:cNvCxnSpPr/>
                  <p:nvPr/>
                </p:nvCxnSpPr>
                <p:spPr>
                  <a:xfrm rot="5400000" flipH="1" flipV="1">
                    <a:off x="5257800" y="4640580"/>
                    <a:ext cx="3048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5394960" y="4488180"/>
                    <a:ext cx="468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sp>
              <p:nvSpPr>
                <p:cNvPr id="57" name="矩形 56"/>
                <p:cNvSpPr/>
                <p:nvPr/>
              </p:nvSpPr>
              <p:spPr>
                <a:xfrm>
                  <a:off x="5850006" y="4353044"/>
                  <a:ext cx="441146" cy="246221"/>
                </a:xfrm>
                <a:prstGeom prst="rect">
                  <a:avLst/>
                </a:prstGeom>
              </p:spPr>
              <p:txBody>
                <a:bodyPr wrap="none">
                  <a:spAutoFit/>
                </a:bodyPr>
                <a:lstStyle/>
                <a:p>
                  <a:r>
                    <a:rPr lang="en-US" sz="1000" dirty="0">
                      <a:latin typeface="Times New Roman" panose="02020603050405020304" pitchFamily="18" charset="0"/>
                      <a:cs typeface="Times New Roman" panose="02020603050405020304" pitchFamily="18" charset="0"/>
                    </a:rPr>
                    <a:t>0000</a:t>
                  </a:r>
                  <a:endParaRPr lang="zh-CN" altLang="en-US" sz="1000" dirty="0"/>
                </a:p>
              </p:txBody>
            </p:sp>
          </p:grpSp>
        </p:grpSp>
        <p:grpSp>
          <p:nvGrpSpPr>
            <p:cNvPr id="70" name="组合 69"/>
            <p:cNvGrpSpPr/>
            <p:nvPr/>
          </p:nvGrpSpPr>
          <p:grpSpPr>
            <a:xfrm>
              <a:off x="3879049" y="2854362"/>
              <a:ext cx="2520710" cy="291503"/>
              <a:chOff x="3543300" y="4712970"/>
              <a:chExt cx="2782326" cy="327660"/>
            </a:xfrm>
          </p:grpSpPr>
          <p:grpSp>
            <p:nvGrpSpPr>
              <p:cNvPr id="71" name="组合 57"/>
              <p:cNvGrpSpPr/>
              <p:nvPr/>
            </p:nvGrpSpPr>
            <p:grpSpPr>
              <a:xfrm>
                <a:off x="3543300" y="4712970"/>
                <a:ext cx="1895040" cy="276761"/>
                <a:chOff x="3543300" y="4712970"/>
                <a:chExt cx="1895040" cy="276761"/>
              </a:xfrm>
            </p:grpSpPr>
            <p:sp>
              <p:nvSpPr>
                <p:cNvPr id="80" name="TextBox 23"/>
                <p:cNvSpPr txBox="1"/>
                <p:nvPr/>
              </p:nvSpPr>
              <p:spPr>
                <a:xfrm>
                  <a:off x="3543300" y="4712970"/>
                  <a:ext cx="490840" cy="276761"/>
                </a:xfrm>
                <a:prstGeom prst="rect">
                  <a:avLst/>
                </a:prstGeom>
                <a:noFill/>
              </p:spPr>
              <p:txBody>
                <a:bodyPr wrap="none" rtlCol="0">
                  <a:spAutoFit/>
                </a:bodyPr>
                <a:lstStyle/>
                <a:p>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CP(1)</a:t>
                  </a:r>
                  <a:endParaRPr lang="zh-CN" altLang="en-US" sz="10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81" name="组合 55"/>
                <p:cNvGrpSpPr/>
                <p:nvPr/>
              </p:nvGrpSpPr>
              <p:grpSpPr>
                <a:xfrm>
                  <a:off x="4069080" y="4834890"/>
                  <a:ext cx="1369260" cy="0"/>
                  <a:chOff x="4069080" y="4834890"/>
                  <a:chExt cx="1369260" cy="0"/>
                </a:xfrm>
              </p:grpSpPr>
              <p:cxnSp>
                <p:nvCxnSpPr>
                  <p:cNvPr id="82" name="直接连接符 81"/>
                  <p:cNvCxnSpPr/>
                  <p:nvPr/>
                </p:nvCxnSpPr>
                <p:spPr>
                  <a:xfrm>
                    <a:off x="4069080" y="4834890"/>
                    <a:ext cx="432000"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4442460" y="4834890"/>
                    <a:ext cx="612000" cy="0"/>
                  </a:xfrm>
                  <a:prstGeom prst="line">
                    <a:avLst/>
                  </a:prstGeom>
                  <a:ln w="28575">
                    <a:solidFill>
                      <a:srgbClr val="CC00CC"/>
                    </a:solidFill>
                    <a:prstDash val="sysDash"/>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5006340" y="4834890"/>
                    <a:ext cx="432000"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grpSp>
          <p:grpSp>
            <p:nvGrpSpPr>
              <p:cNvPr id="72" name="组合 39"/>
              <p:cNvGrpSpPr/>
              <p:nvPr/>
            </p:nvGrpSpPr>
            <p:grpSpPr>
              <a:xfrm flipV="1">
                <a:off x="5417820" y="4819650"/>
                <a:ext cx="468000" cy="213360"/>
                <a:chOff x="5394960" y="4488180"/>
                <a:chExt cx="468000" cy="304800"/>
              </a:xfrm>
            </p:grpSpPr>
            <p:cxnSp>
              <p:nvCxnSpPr>
                <p:cNvPr id="78" name="直接连接符 77"/>
                <p:cNvCxnSpPr/>
                <p:nvPr/>
              </p:nvCxnSpPr>
              <p:spPr>
                <a:xfrm rot="5400000" flipH="1" flipV="1">
                  <a:off x="5257800" y="4640580"/>
                  <a:ext cx="304800"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5394960" y="4488180"/>
                  <a:ext cx="468000"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grpSp>
            <p:nvGrpSpPr>
              <p:cNvPr id="73" name="组合 53"/>
              <p:cNvGrpSpPr/>
              <p:nvPr/>
            </p:nvGrpSpPr>
            <p:grpSpPr>
              <a:xfrm>
                <a:off x="5857626" y="4827270"/>
                <a:ext cx="468000" cy="213360"/>
                <a:chOff x="5857626" y="4884420"/>
                <a:chExt cx="468000" cy="213360"/>
              </a:xfrm>
            </p:grpSpPr>
            <p:grpSp>
              <p:nvGrpSpPr>
                <p:cNvPr id="74" name="组合 49"/>
                <p:cNvGrpSpPr/>
                <p:nvPr/>
              </p:nvGrpSpPr>
              <p:grpSpPr>
                <a:xfrm>
                  <a:off x="5857626" y="4884420"/>
                  <a:ext cx="468000" cy="213360"/>
                  <a:chOff x="5394960" y="4488180"/>
                  <a:chExt cx="468000" cy="304800"/>
                </a:xfrm>
              </p:grpSpPr>
              <p:cxnSp>
                <p:nvCxnSpPr>
                  <p:cNvPr id="76" name="直接连接符 75"/>
                  <p:cNvCxnSpPr/>
                  <p:nvPr/>
                </p:nvCxnSpPr>
                <p:spPr>
                  <a:xfrm rot="5400000" flipH="1" flipV="1">
                    <a:off x="5257800" y="4640580"/>
                    <a:ext cx="304800"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5394960" y="4488180"/>
                    <a:ext cx="468000"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cxnSp>
              <p:nvCxnSpPr>
                <p:cNvPr id="75" name="直接连接符 74"/>
                <p:cNvCxnSpPr/>
                <p:nvPr/>
              </p:nvCxnSpPr>
              <p:spPr>
                <a:xfrm rot="5400000" flipH="1" flipV="1">
                  <a:off x="5800866" y="4971660"/>
                  <a:ext cx="144000" cy="0"/>
                </a:xfrm>
                <a:prstGeom prst="line">
                  <a:avLst/>
                </a:prstGeom>
                <a:ln w="28575">
                  <a:solidFill>
                    <a:srgbClr val="CC00CC"/>
                  </a:solidFill>
                  <a:tailEnd type="stealth" w="lg" len="lg"/>
                </a:ln>
              </p:spPr>
              <p:style>
                <a:lnRef idx="1">
                  <a:schemeClr val="accent1"/>
                </a:lnRef>
                <a:fillRef idx="0">
                  <a:schemeClr val="accent1"/>
                </a:fillRef>
                <a:effectRef idx="0">
                  <a:schemeClr val="accent1"/>
                </a:effectRef>
                <a:fontRef idx="minor">
                  <a:schemeClr val="tx1"/>
                </a:fontRef>
              </p:style>
            </p:cxnSp>
          </p:grpSp>
        </p:grpSp>
      </p:grpSp>
      <p:grpSp>
        <p:nvGrpSpPr>
          <p:cNvPr id="27" name="组合 26"/>
          <p:cNvGrpSpPr/>
          <p:nvPr/>
        </p:nvGrpSpPr>
        <p:grpSpPr>
          <a:xfrm>
            <a:off x="2268508" y="3841262"/>
            <a:ext cx="2681164" cy="867898"/>
            <a:chOff x="2268508" y="3841262"/>
            <a:chExt cx="2681164" cy="867898"/>
          </a:xfrm>
        </p:grpSpPr>
        <p:grpSp>
          <p:nvGrpSpPr>
            <p:cNvPr id="85" name="组合 79"/>
            <p:cNvGrpSpPr/>
            <p:nvPr/>
          </p:nvGrpSpPr>
          <p:grpSpPr>
            <a:xfrm>
              <a:off x="2268508" y="4223255"/>
              <a:ext cx="2662667" cy="485905"/>
              <a:chOff x="2938462" y="2233611"/>
              <a:chExt cx="2742520" cy="518288"/>
            </a:xfrm>
          </p:grpSpPr>
          <p:cxnSp>
            <p:nvCxnSpPr>
              <p:cNvPr id="86" name="直接连接符 85"/>
              <p:cNvCxnSpPr/>
              <p:nvPr/>
            </p:nvCxnSpPr>
            <p:spPr>
              <a:xfrm>
                <a:off x="2938462" y="2733675"/>
                <a:ext cx="2376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rot="5400000" flipH="1" flipV="1">
                <a:off x="5077238" y="2499898"/>
                <a:ext cx="504000"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5310186" y="2242312"/>
                <a:ext cx="370796" cy="8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3162300" y="2247075"/>
                <a:ext cx="144000" cy="8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rot="5400000" flipH="1" flipV="1">
                <a:off x="2904128" y="2485610"/>
                <a:ext cx="504000"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99" name="直接连接符 98"/>
            <p:cNvCxnSpPr/>
            <p:nvPr/>
          </p:nvCxnSpPr>
          <p:spPr>
            <a:xfrm>
              <a:off x="4072734" y="3855176"/>
              <a:ext cx="864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a:off x="4589672" y="4007576"/>
              <a:ext cx="360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V="1">
              <a:off x="4593057" y="3841262"/>
              <a:ext cx="0" cy="1800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02" name="矩形 101"/>
          <p:cNvSpPr/>
          <p:nvPr/>
        </p:nvSpPr>
        <p:spPr>
          <a:xfrm>
            <a:off x="2960458" y="4479254"/>
            <a:ext cx="922918" cy="184666"/>
          </a:xfrm>
          <a:prstGeom prst="rect">
            <a:avLst/>
          </a:prstGeom>
          <a:solidFill>
            <a:schemeClr val="bg1"/>
          </a:solidFill>
        </p:spPr>
        <p:txBody>
          <a:bodyPr wrap="square" lIns="0" tIns="0" rIns="0" bIns="0">
            <a:spAutoFit/>
          </a:bodyPr>
          <a:lstStyle/>
          <a:p>
            <a:pPr algn="ctr"/>
            <a:r>
              <a:rPr lang="en-US" sz="1200" dirty="0">
                <a:solidFill>
                  <a:srgbClr val="0000FF"/>
                </a:solidFill>
                <a:latin typeface="Times New Roman" panose="02020603050405020304" pitchFamily="18" charset="0"/>
                <a:cs typeface="Times New Roman" panose="02020603050405020304" pitchFamily="18" charset="0"/>
              </a:rPr>
              <a:t>0000~</a:t>
            </a:r>
            <a:r>
              <a:rPr lang="en-US" altLang="zh-CN" sz="1200" dirty="0">
                <a:solidFill>
                  <a:srgbClr val="0000FF"/>
                </a:solidFill>
                <a:latin typeface="Times New Roman" panose="02020603050405020304" pitchFamily="18" charset="0"/>
                <a:cs typeface="Times New Roman" panose="02020603050405020304" pitchFamily="18" charset="0"/>
              </a:rPr>
              <a:t>1111</a:t>
            </a:r>
            <a:endParaRPr lang="zh-CN" altLang="en-US" sz="1200" dirty="0">
              <a:solidFill>
                <a:srgbClr val="0000FF"/>
              </a:solidFill>
              <a:latin typeface="Times New Roman" panose="02020603050405020304" pitchFamily="18" charset="0"/>
              <a:cs typeface="Times New Roman" panose="02020603050405020304" pitchFamily="18" charset="0"/>
            </a:endParaRPr>
          </a:p>
        </p:txBody>
      </p:sp>
      <p:grpSp>
        <p:nvGrpSpPr>
          <p:cNvPr id="103" name="组合 102"/>
          <p:cNvGrpSpPr/>
          <p:nvPr/>
        </p:nvGrpSpPr>
        <p:grpSpPr>
          <a:xfrm>
            <a:off x="3460750" y="3901164"/>
            <a:ext cx="753432" cy="761999"/>
            <a:chOff x="4190043" y="1924050"/>
            <a:chExt cx="753432" cy="761999"/>
          </a:xfrm>
        </p:grpSpPr>
        <p:sp>
          <p:nvSpPr>
            <p:cNvPr id="104" name="任意多边形 103"/>
            <p:cNvSpPr/>
            <p:nvPr/>
          </p:nvSpPr>
          <p:spPr>
            <a:xfrm rot="496554">
              <a:off x="4429125" y="1924050"/>
              <a:ext cx="514350" cy="552450"/>
            </a:xfrm>
            <a:custGeom>
              <a:avLst/>
              <a:gdLst>
                <a:gd name="connsiteX0" fmla="*/ 38100 w 514350"/>
                <a:gd name="connsiteY0" fmla="*/ 552450 h 552450"/>
                <a:gd name="connsiteX1" fmla="*/ 79375 w 514350"/>
                <a:gd name="connsiteY1" fmla="*/ 190500 h 552450"/>
                <a:gd name="connsiteX2" fmla="*/ 514350 w 514350"/>
                <a:gd name="connsiteY2" fmla="*/ 0 h 552450"/>
              </a:gdLst>
              <a:ahLst/>
              <a:cxnLst>
                <a:cxn ang="0">
                  <a:pos x="connsiteX0" y="connsiteY0"/>
                </a:cxn>
                <a:cxn ang="0">
                  <a:pos x="connsiteX1" y="connsiteY1"/>
                </a:cxn>
                <a:cxn ang="0">
                  <a:pos x="connsiteX2" y="connsiteY2"/>
                </a:cxn>
              </a:cxnLst>
              <a:rect l="l" t="t" r="r" b="b"/>
              <a:pathLst>
                <a:path w="514350" h="552450">
                  <a:moveTo>
                    <a:pt x="38100" y="552450"/>
                  </a:moveTo>
                  <a:cubicBezTo>
                    <a:pt x="19050" y="417512"/>
                    <a:pt x="0" y="282575"/>
                    <a:pt x="79375" y="190500"/>
                  </a:cubicBezTo>
                  <a:cubicBezTo>
                    <a:pt x="158750" y="98425"/>
                    <a:pt x="336550" y="49212"/>
                    <a:pt x="514350" y="0"/>
                  </a:cubicBezTo>
                </a:path>
              </a:pathLst>
            </a:custGeom>
            <a:ln w="28575">
              <a:solidFill>
                <a:srgbClr val="FF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 name="圆角矩形 104"/>
            <p:cNvSpPr/>
            <p:nvPr/>
          </p:nvSpPr>
          <p:spPr>
            <a:xfrm>
              <a:off x="4190043" y="2498450"/>
              <a:ext cx="352174" cy="187599"/>
            </a:xfrm>
            <a:prstGeom prst="roundRect">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6" name="椭圆 105"/>
          <p:cNvSpPr/>
          <p:nvPr/>
        </p:nvSpPr>
        <p:spPr>
          <a:xfrm>
            <a:off x="4272814" y="3815325"/>
            <a:ext cx="213360" cy="25146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t>1</a:t>
            </a:r>
            <a:endParaRPr lang="zh-CN" altLang="en-US" dirty="0"/>
          </a:p>
        </p:txBody>
      </p:sp>
      <p:sp>
        <p:nvSpPr>
          <p:cNvPr id="107" name="圆角矩形标注 106"/>
          <p:cNvSpPr/>
          <p:nvPr/>
        </p:nvSpPr>
        <p:spPr>
          <a:xfrm>
            <a:off x="7137959" y="4066785"/>
            <a:ext cx="1224000" cy="575614"/>
          </a:xfrm>
          <a:prstGeom prst="wedgeRoundRectCallout">
            <a:avLst>
              <a:gd name="adj1" fmla="val -71687"/>
              <a:gd name="adj2" fmla="val -40977"/>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0000FF"/>
                </a:solidFill>
                <a:latin typeface="微软雅黑" panose="020B0503020204020204" pitchFamily="34" charset="-122"/>
                <a:ea typeface="微软雅黑" panose="020B0503020204020204" pitchFamily="34" charset="-122"/>
              </a:rPr>
              <a:t>同步时序逻辑电路</a:t>
            </a:r>
            <a:endParaRPr lang="zh-CN" altLang="en-US" sz="1600" dirty="0">
              <a:solidFill>
                <a:srgbClr val="0000FF"/>
              </a:solidFill>
              <a:latin typeface="微软雅黑" panose="020B0503020204020204" pitchFamily="34" charset="-122"/>
              <a:ea typeface="微软雅黑" panose="020B0503020204020204" pitchFamily="34" charset="-122"/>
            </a:endParaRPr>
          </a:p>
        </p:txBody>
      </p:sp>
      <p:sp>
        <p:nvSpPr>
          <p:cNvPr id="108" name="圆角矩形标注 107"/>
          <p:cNvSpPr/>
          <p:nvPr/>
        </p:nvSpPr>
        <p:spPr>
          <a:xfrm>
            <a:off x="7175578" y="1501249"/>
            <a:ext cx="1224000" cy="575614"/>
          </a:xfrm>
          <a:prstGeom prst="wedgeRoundRectCallout">
            <a:avLst>
              <a:gd name="adj1" fmla="val -83101"/>
              <a:gd name="adj2" fmla="val -1814"/>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0000FF"/>
                </a:solidFill>
                <a:latin typeface="微软雅黑" panose="020B0503020204020204" pitchFamily="34" charset="-122"/>
                <a:ea typeface="微软雅黑" panose="020B0503020204020204" pitchFamily="34" charset="-122"/>
              </a:rPr>
              <a:t>异步时序逻辑电路</a:t>
            </a:r>
            <a:endParaRPr lang="zh-CN" altLang="en-US" sz="1600" dirty="0">
              <a:solidFill>
                <a:srgbClr val="0000FF"/>
              </a:solidFill>
              <a:latin typeface="微软雅黑" panose="020B0503020204020204" pitchFamily="34" charset="-122"/>
              <a:ea typeface="微软雅黑" panose="020B0503020204020204" pitchFamily="34" charset="-122"/>
            </a:endParaRPr>
          </a:p>
        </p:txBody>
      </p:sp>
      <p:grpSp>
        <p:nvGrpSpPr>
          <p:cNvPr id="109" name="组合 65"/>
          <p:cNvGrpSpPr/>
          <p:nvPr/>
        </p:nvGrpSpPr>
        <p:grpSpPr>
          <a:xfrm>
            <a:off x="6895601" y="2588893"/>
            <a:ext cx="1181100" cy="1117198"/>
            <a:chOff x="7772400" y="2647949"/>
            <a:chExt cx="1181100" cy="666751"/>
          </a:xfrm>
        </p:grpSpPr>
        <p:sp>
          <p:nvSpPr>
            <p:cNvPr id="110" name="圆角矩形标注 109"/>
            <p:cNvSpPr/>
            <p:nvPr/>
          </p:nvSpPr>
          <p:spPr>
            <a:xfrm>
              <a:off x="7772400" y="2657474"/>
              <a:ext cx="1181100" cy="657226"/>
            </a:xfrm>
            <a:prstGeom prst="wedgeRoundRectCallout">
              <a:avLst>
                <a:gd name="adj1" fmla="val -49898"/>
                <a:gd name="adj2" fmla="val 70443"/>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0000FF"/>
                  </a:solidFill>
                  <a:latin typeface="微软雅黑" panose="020B0503020204020204" pitchFamily="34" charset="-122"/>
                  <a:ea typeface="微软雅黑" panose="020B0503020204020204" pitchFamily="34" charset="-122"/>
                </a:rPr>
                <a:t>模：</a:t>
              </a:r>
              <a:r>
                <a:rPr lang="en-US" altLang="zh-CN" sz="1600" dirty="0">
                  <a:solidFill>
                    <a:srgbClr val="0000FF"/>
                  </a:solidFill>
                  <a:latin typeface="微软雅黑" panose="020B0503020204020204" pitchFamily="34" charset="-122"/>
                  <a:ea typeface="微软雅黑" panose="020B0503020204020204" pitchFamily="34" charset="-122"/>
                </a:rPr>
                <a:t>2</a:t>
              </a:r>
              <a:r>
                <a:rPr lang="en-US" altLang="zh-CN" sz="1600" baseline="30000" dirty="0">
                  <a:solidFill>
                    <a:srgbClr val="0000FF"/>
                  </a:solidFill>
                  <a:latin typeface="微软雅黑" panose="020B0503020204020204" pitchFamily="34" charset="-122"/>
                  <a:ea typeface="微软雅黑" panose="020B0503020204020204" pitchFamily="34" charset="-122"/>
                </a:rPr>
                <a:t>3</a:t>
              </a:r>
              <a:r>
                <a:rPr lang="en-US" altLang="zh-CN" sz="1600" dirty="0">
                  <a:solidFill>
                    <a:srgbClr val="0000FF"/>
                  </a:solidFill>
                  <a:latin typeface="微软雅黑" panose="020B0503020204020204" pitchFamily="34" charset="-122"/>
                  <a:ea typeface="微软雅黑" panose="020B0503020204020204" pitchFamily="34" charset="-122"/>
                </a:rPr>
                <a:t>=256</a:t>
              </a:r>
              <a:endParaRPr lang="zh-CN" altLang="en-US" sz="1600" dirty="0">
                <a:solidFill>
                  <a:srgbClr val="0000FF"/>
                </a:solidFill>
                <a:latin typeface="微软雅黑" panose="020B0503020204020204" pitchFamily="34" charset="-122"/>
                <a:ea typeface="微软雅黑" panose="020B0503020204020204" pitchFamily="34" charset="-122"/>
              </a:endParaRPr>
            </a:p>
          </p:txBody>
        </p:sp>
        <p:sp>
          <p:nvSpPr>
            <p:cNvPr id="111" name="圆角矩形标注 110"/>
            <p:cNvSpPr/>
            <p:nvPr/>
          </p:nvSpPr>
          <p:spPr>
            <a:xfrm>
              <a:off x="7772400" y="2647949"/>
              <a:ext cx="1181100" cy="657226"/>
            </a:xfrm>
            <a:prstGeom prst="wedgeRoundRectCallout">
              <a:avLst>
                <a:gd name="adj1" fmla="val -51473"/>
                <a:gd name="adj2" fmla="val -77383"/>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600" dirty="0">
                  <a:solidFill>
                    <a:srgbClr val="0000FF"/>
                  </a:solidFill>
                  <a:latin typeface="微软雅黑" panose="020B0503020204020204" pitchFamily="34" charset="-122"/>
                  <a:ea typeface="微软雅黑" panose="020B0503020204020204" pitchFamily="34" charset="-122"/>
                </a:rPr>
                <a:t>模</a:t>
              </a:r>
              <a:r>
                <a:rPr lang="en-US" altLang="zh-CN" sz="1600" dirty="0">
                  <a:solidFill>
                    <a:srgbClr val="0000FF"/>
                  </a:solidFill>
                  <a:latin typeface="微软雅黑" panose="020B0503020204020204" pitchFamily="34" charset="-122"/>
                  <a:ea typeface="微软雅黑" panose="020B0503020204020204" pitchFamily="34" charset="-122"/>
                </a:rPr>
                <a:t>=2</a:t>
              </a:r>
              <a:r>
                <a:rPr lang="en-US" altLang="zh-CN" sz="1600" baseline="30000" dirty="0">
                  <a:solidFill>
                    <a:srgbClr val="0000FF"/>
                  </a:solidFill>
                  <a:latin typeface="微软雅黑" panose="020B0503020204020204" pitchFamily="34" charset="-122"/>
                  <a:ea typeface="微软雅黑" panose="020B0503020204020204" pitchFamily="34" charset="-122"/>
                </a:rPr>
                <a:t>8</a:t>
              </a:r>
              <a:r>
                <a:rPr lang="en-US" altLang="zh-CN" sz="1600" dirty="0">
                  <a:solidFill>
                    <a:srgbClr val="0000FF"/>
                  </a:solidFill>
                  <a:latin typeface="微软雅黑" panose="020B0503020204020204" pitchFamily="34" charset="-122"/>
                  <a:ea typeface="微软雅黑" panose="020B0503020204020204" pitchFamily="34" charset="-122"/>
                </a:rPr>
                <a:t>=256</a:t>
              </a:r>
              <a:endParaRPr lang="zh-CN" altLang="en-US" sz="1600" dirty="0">
                <a:solidFill>
                  <a:srgbClr val="0000FF"/>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di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slide(fromBottom)">
                                      <p:cBhvr>
                                        <p:cTn id="7" dur="1000"/>
                                        <p:tgtEl>
                                          <p:spTgt spid="31"/>
                                        </p:tgtEl>
                                      </p:cBhvr>
                                    </p:animEffect>
                                  </p:childTnLst>
                                </p:cTn>
                              </p:par>
                            </p:childTnLst>
                          </p:cTn>
                        </p:par>
                        <p:par>
                          <p:cTn id="8" fill="hold">
                            <p:stCondLst>
                              <p:cond delay="1000"/>
                            </p:stCondLst>
                            <p:childTnLst>
                              <p:par>
                                <p:cTn id="9" presetID="12" presetClass="entr" presetSubtype="8"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slide(fromLeft)">
                                      <p:cBhvr>
                                        <p:cTn id="11" dur="1000"/>
                                        <p:tgtEl>
                                          <p:spTgt spid="37"/>
                                        </p:tgtEl>
                                      </p:cBhvr>
                                    </p:animEffect>
                                  </p:childTnLst>
                                </p:cTn>
                              </p:par>
                            </p:childTnLst>
                          </p:cTn>
                        </p:par>
                        <p:par>
                          <p:cTn id="12" fill="hold">
                            <p:stCondLst>
                              <p:cond delay="2000"/>
                            </p:stCondLst>
                            <p:childTnLst>
                              <p:par>
                                <p:cTn id="13" presetID="17" presetClass="entr" presetSubtype="10"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p:cTn id="15" dur="1000" fill="hold"/>
                                        <p:tgtEl>
                                          <p:spTgt spid="35"/>
                                        </p:tgtEl>
                                        <p:attrNameLst>
                                          <p:attrName>ppt_w</p:attrName>
                                        </p:attrNameLst>
                                      </p:cBhvr>
                                      <p:tavLst>
                                        <p:tav tm="0">
                                          <p:val>
                                            <p:fltVal val="0"/>
                                          </p:val>
                                        </p:tav>
                                        <p:tav tm="100000">
                                          <p:val>
                                            <p:strVal val="#ppt_w"/>
                                          </p:val>
                                        </p:tav>
                                      </p:tavLst>
                                    </p:anim>
                                    <p:anim calcmode="lin" valueType="num">
                                      <p:cBhvr>
                                        <p:cTn id="16" dur="1000" fill="hold"/>
                                        <p:tgtEl>
                                          <p:spTgt spid="35"/>
                                        </p:tgtEl>
                                        <p:attrNameLst>
                                          <p:attrName>ppt_h</p:attrName>
                                        </p:attrNameLst>
                                      </p:cBhvr>
                                      <p:tavLst>
                                        <p:tav tm="0">
                                          <p:val>
                                            <p:strVal val="#ppt_h"/>
                                          </p:val>
                                        </p:tav>
                                        <p:tav tm="100000">
                                          <p:val>
                                            <p:strVal val="#ppt_h"/>
                                          </p:val>
                                        </p:tav>
                                      </p:tavLst>
                                    </p:anim>
                                  </p:childTnLst>
                                </p:cTn>
                              </p:par>
                            </p:childTnLst>
                          </p:cTn>
                        </p:par>
                        <p:par>
                          <p:cTn id="17" fill="hold">
                            <p:stCondLst>
                              <p:cond delay="3000"/>
                            </p:stCondLst>
                            <p:childTnLst>
                              <p:par>
                                <p:cTn id="18" presetID="12" presetClass="entr" presetSubtype="4" fill="hold" grpId="0" nodeType="after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slide(fromBottom)">
                                      <p:cBhvr>
                                        <p:cTn id="20" dur="1000"/>
                                        <p:tgtEl>
                                          <p:spTgt spid="34"/>
                                        </p:tgtEl>
                                      </p:cBhvr>
                                    </p:animEffect>
                                  </p:childTnLst>
                                </p:cTn>
                              </p:par>
                              <p:par>
                                <p:cTn id="21" presetID="12" presetClass="entr" presetSubtype="1"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slide(fromTop)">
                                      <p:cBhvr>
                                        <p:cTn id="23" dur="1000"/>
                                        <p:tgtEl>
                                          <p:spTgt spid="36"/>
                                        </p:tgtEl>
                                      </p:cBhvr>
                                    </p:animEffect>
                                  </p:childTnLst>
                                </p:cTn>
                              </p:par>
                            </p:childTnLst>
                          </p:cTn>
                        </p:par>
                        <p:par>
                          <p:cTn id="24" fill="hold">
                            <p:stCondLst>
                              <p:cond delay="4000"/>
                            </p:stCondLst>
                            <p:childTnLst>
                              <p:par>
                                <p:cTn id="25" presetID="22" presetClass="entr" presetSubtype="8"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1000"/>
                                        <p:tgtEl>
                                          <p:spTgt spid="3"/>
                                        </p:tgtEl>
                                      </p:cBhvr>
                                    </p:animEffect>
                                  </p:childTnLst>
                                </p:cTn>
                              </p:par>
                              <p:par>
                                <p:cTn id="28" presetID="22" presetClass="entr" presetSubtype="8"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10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p:cTn id="35" dur="1000" fill="hold"/>
                                        <p:tgtEl>
                                          <p:spTgt spid="23"/>
                                        </p:tgtEl>
                                        <p:attrNameLst>
                                          <p:attrName>ppt_w</p:attrName>
                                        </p:attrNameLst>
                                      </p:cBhvr>
                                      <p:tavLst>
                                        <p:tav tm="0">
                                          <p:val>
                                            <p:fltVal val="0"/>
                                          </p:val>
                                        </p:tav>
                                        <p:tav tm="100000">
                                          <p:val>
                                            <p:strVal val="#ppt_w"/>
                                          </p:val>
                                        </p:tav>
                                      </p:tavLst>
                                    </p:anim>
                                    <p:anim calcmode="lin" valueType="num">
                                      <p:cBhvr>
                                        <p:cTn id="36" dur="1000" fill="hold"/>
                                        <p:tgtEl>
                                          <p:spTgt spid="23"/>
                                        </p:tgtEl>
                                        <p:attrNameLst>
                                          <p:attrName>ppt_h</p:attrName>
                                        </p:attrNameLst>
                                      </p:cBhvr>
                                      <p:tavLst>
                                        <p:tav tm="0">
                                          <p:val>
                                            <p:fltVal val="0"/>
                                          </p:val>
                                        </p:tav>
                                        <p:tav tm="100000">
                                          <p:val>
                                            <p:strVal val="#ppt_h"/>
                                          </p:val>
                                        </p:tav>
                                      </p:tavLst>
                                    </p:anim>
                                  </p:childTnLst>
                                </p:cTn>
                              </p:par>
                            </p:childTnLst>
                          </p:cTn>
                        </p:par>
                        <p:par>
                          <p:cTn id="37" fill="hold">
                            <p:stCondLst>
                              <p:cond delay="1000"/>
                            </p:stCondLst>
                            <p:childTnLst>
                              <p:par>
                                <p:cTn id="38" presetID="42" presetClass="entr" presetSubtype="0" fill="hold" nodeType="after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fade">
                                      <p:cBhvr>
                                        <p:cTn id="40" dur="1000"/>
                                        <p:tgtEl>
                                          <p:spTgt spid="2"/>
                                        </p:tgtEl>
                                      </p:cBhvr>
                                    </p:animEffect>
                                    <p:anim calcmode="lin" valueType="num">
                                      <p:cBhvr>
                                        <p:cTn id="41" dur="1000" fill="hold"/>
                                        <p:tgtEl>
                                          <p:spTgt spid="2"/>
                                        </p:tgtEl>
                                        <p:attrNameLst>
                                          <p:attrName>ppt_x</p:attrName>
                                        </p:attrNameLst>
                                      </p:cBhvr>
                                      <p:tavLst>
                                        <p:tav tm="0">
                                          <p:val>
                                            <p:strVal val="#ppt_x"/>
                                          </p:val>
                                        </p:tav>
                                        <p:tav tm="100000">
                                          <p:val>
                                            <p:strVal val="#ppt_x"/>
                                          </p:val>
                                        </p:tav>
                                      </p:tavLst>
                                    </p:anim>
                                    <p:anim calcmode="lin" valueType="num">
                                      <p:cBhvr>
                                        <p:cTn id="4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3" presetClass="entr" presetSubtype="16"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p:cTn id="47" dur="1000" fill="hold"/>
                                        <p:tgtEl>
                                          <p:spTgt spid="27"/>
                                        </p:tgtEl>
                                        <p:attrNameLst>
                                          <p:attrName>ppt_w</p:attrName>
                                        </p:attrNameLst>
                                      </p:cBhvr>
                                      <p:tavLst>
                                        <p:tav tm="0">
                                          <p:val>
                                            <p:fltVal val="0"/>
                                          </p:val>
                                        </p:tav>
                                        <p:tav tm="100000">
                                          <p:val>
                                            <p:strVal val="#ppt_w"/>
                                          </p:val>
                                        </p:tav>
                                      </p:tavLst>
                                    </p:anim>
                                    <p:anim calcmode="lin" valueType="num">
                                      <p:cBhvr>
                                        <p:cTn id="48" dur="1000" fill="hold"/>
                                        <p:tgtEl>
                                          <p:spTgt spid="27"/>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2" presetClass="entr" presetSubtype="4" fill="hold" grpId="0" nodeType="clickEffect">
                                  <p:stCondLst>
                                    <p:cond delay="0"/>
                                  </p:stCondLst>
                                  <p:childTnLst>
                                    <p:set>
                                      <p:cBhvr>
                                        <p:cTn id="52" dur="1" fill="hold">
                                          <p:stCondLst>
                                            <p:cond delay="0"/>
                                          </p:stCondLst>
                                        </p:cTn>
                                        <p:tgtEl>
                                          <p:spTgt spid="102"/>
                                        </p:tgtEl>
                                        <p:attrNameLst>
                                          <p:attrName>style.visibility</p:attrName>
                                        </p:attrNameLst>
                                      </p:cBhvr>
                                      <p:to>
                                        <p:strVal val="visible"/>
                                      </p:to>
                                    </p:set>
                                    <p:animEffect transition="in" filter="slide(fromBottom)">
                                      <p:cBhvr>
                                        <p:cTn id="53" dur="1000"/>
                                        <p:tgtEl>
                                          <p:spTgt spid="102"/>
                                        </p:tgtEl>
                                      </p:cBhvr>
                                    </p:animEffect>
                                  </p:childTnLst>
                                </p:cTn>
                              </p:par>
                            </p:childTnLst>
                          </p:cTn>
                        </p:par>
                        <p:par>
                          <p:cTn id="54" fill="hold">
                            <p:stCondLst>
                              <p:cond delay="1000"/>
                            </p:stCondLst>
                            <p:childTnLst>
                              <p:par>
                                <p:cTn id="55" presetID="22" presetClass="entr" presetSubtype="4" fill="hold" nodeType="afterEffect">
                                  <p:stCondLst>
                                    <p:cond delay="0"/>
                                  </p:stCondLst>
                                  <p:childTnLst>
                                    <p:set>
                                      <p:cBhvr>
                                        <p:cTn id="56" dur="1" fill="hold">
                                          <p:stCondLst>
                                            <p:cond delay="0"/>
                                          </p:stCondLst>
                                        </p:cTn>
                                        <p:tgtEl>
                                          <p:spTgt spid="103"/>
                                        </p:tgtEl>
                                        <p:attrNameLst>
                                          <p:attrName>style.visibility</p:attrName>
                                        </p:attrNameLst>
                                      </p:cBhvr>
                                      <p:to>
                                        <p:strVal val="visible"/>
                                      </p:to>
                                    </p:set>
                                    <p:animEffect transition="in" filter="wipe(down)">
                                      <p:cBhvr>
                                        <p:cTn id="57" dur="1000"/>
                                        <p:tgtEl>
                                          <p:spTgt spid="103"/>
                                        </p:tgtEl>
                                      </p:cBhvr>
                                    </p:animEffect>
                                  </p:childTnLst>
                                </p:cTn>
                              </p:par>
                            </p:childTnLst>
                          </p:cTn>
                        </p:par>
                        <p:par>
                          <p:cTn id="58" fill="hold">
                            <p:stCondLst>
                              <p:cond delay="2000"/>
                            </p:stCondLst>
                            <p:childTnLst>
                              <p:par>
                                <p:cTn id="59" presetID="12" presetClass="entr" presetSubtype="8" fill="hold" grpId="0" nodeType="afterEffect">
                                  <p:stCondLst>
                                    <p:cond delay="0"/>
                                  </p:stCondLst>
                                  <p:childTnLst>
                                    <p:set>
                                      <p:cBhvr>
                                        <p:cTn id="60" dur="1" fill="hold">
                                          <p:stCondLst>
                                            <p:cond delay="0"/>
                                          </p:stCondLst>
                                        </p:cTn>
                                        <p:tgtEl>
                                          <p:spTgt spid="106"/>
                                        </p:tgtEl>
                                        <p:attrNameLst>
                                          <p:attrName>style.visibility</p:attrName>
                                        </p:attrNameLst>
                                      </p:cBhvr>
                                      <p:to>
                                        <p:strVal val="visible"/>
                                      </p:to>
                                    </p:set>
                                    <p:anim calcmode="lin" valueType="num">
                                      <p:cBhvr additive="base">
                                        <p:cTn id="61" dur="1000"/>
                                        <p:tgtEl>
                                          <p:spTgt spid="106"/>
                                        </p:tgtEl>
                                        <p:attrNameLst>
                                          <p:attrName>ppt_x</p:attrName>
                                        </p:attrNameLst>
                                      </p:cBhvr>
                                      <p:tavLst>
                                        <p:tav tm="0">
                                          <p:val>
                                            <p:strVal val="#ppt_x-#ppt_w*1.125000"/>
                                          </p:val>
                                        </p:tav>
                                        <p:tav tm="100000">
                                          <p:val>
                                            <p:strVal val="#ppt_x"/>
                                          </p:val>
                                        </p:tav>
                                      </p:tavLst>
                                    </p:anim>
                                    <p:animEffect transition="in" filter="wipe(right)">
                                      <p:cBhvr>
                                        <p:cTn id="62" dur="1000"/>
                                        <p:tgtEl>
                                          <p:spTgt spid="106"/>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8" fill="hold" nodeType="clickEffect">
                                  <p:stCondLst>
                                    <p:cond delay="0"/>
                                  </p:stCondLst>
                                  <p:childTnLst>
                                    <p:set>
                                      <p:cBhvr>
                                        <p:cTn id="66" dur="1" fill="hold">
                                          <p:stCondLst>
                                            <p:cond delay="0"/>
                                          </p:stCondLst>
                                        </p:cTn>
                                        <p:tgtEl>
                                          <p:spTgt spid="109"/>
                                        </p:tgtEl>
                                        <p:attrNameLst>
                                          <p:attrName>style.visibility</p:attrName>
                                        </p:attrNameLst>
                                      </p:cBhvr>
                                      <p:to>
                                        <p:strVal val="visible"/>
                                      </p:to>
                                    </p:set>
                                    <p:animEffect transition="in" filter="slide(fromLeft)">
                                      <p:cBhvr>
                                        <p:cTn id="67" dur="1000"/>
                                        <p:tgtEl>
                                          <p:spTgt spid="10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108"/>
                                        </p:tgtEl>
                                        <p:attrNameLst>
                                          <p:attrName>style.visibility</p:attrName>
                                        </p:attrNameLst>
                                      </p:cBhvr>
                                      <p:to>
                                        <p:strVal val="visible"/>
                                      </p:to>
                                    </p:set>
                                    <p:animEffect transition="in" filter="wipe(up)">
                                      <p:cBhvr>
                                        <p:cTn id="72" dur="1000"/>
                                        <p:tgtEl>
                                          <p:spTgt spid="108"/>
                                        </p:tgtEl>
                                      </p:cBhvr>
                                    </p:animEffect>
                                  </p:childTnLst>
                                </p:cTn>
                              </p:par>
                            </p:childTnLst>
                          </p:cTn>
                        </p:par>
                        <p:par>
                          <p:cTn id="73" fill="hold">
                            <p:stCondLst>
                              <p:cond delay="1000"/>
                            </p:stCondLst>
                            <p:childTnLst>
                              <p:par>
                                <p:cTn id="74" presetID="22" presetClass="entr" presetSubtype="1" fill="hold" grpId="0" nodeType="afterEffect">
                                  <p:stCondLst>
                                    <p:cond delay="0"/>
                                  </p:stCondLst>
                                  <p:childTnLst>
                                    <p:set>
                                      <p:cBhvr>
                                        <p:cTn id="75" dur="1" fill="hold">
                                          <p:stCondLst>
                                            <p:cond delay="0"/>
                                          </p:stCondLst>
                                        </p:cTn>
                                        <p:tgtEl>
                                          <p:spTgt spid="107"/>
                                        </p:tgtEl>
                                        <p:attrNameLst>
                                          <p:attrName>style.visibility</p:attrName>
                                        </p:attrNameLst>
                                      </p:cBhvr>
                                      <p:to>
                                        <p:strVal val="visible"/>
                                      </p:to>
                                    </p:set>
                                    <p:animEffect transition="in" filter="wipe(up)">
                                      <p:cBhvr>
                                        <p:cTn id="76" dur="10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102" grpId="0" animBg="1"/>
      <p:bldP spid="106" grpId="0" animBg="1"/>
      <p:bldP spid="107" grpId="0" animBg="1"/>
      <p:bldP spid="108"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组合 64"/>
          <p:cNvGrpSpPr/>
          <p:nvPr/>
        </p:nvGrpSpPr>
        <p:grpSpPr>
          <a:xfrm>
            <a:off x="1824586" y="1708127"/>
            <a:ext cx="5541414" cy="2308225"/>
            <a:chOff x="1824586" y="1708127"/>
            <a:chExt cx="5541414" cy="2308225"/>
          </a:xfrm>
        </p:grpSpPr>
        <p:graphicFrame>
          <p:nvGraphicFramePr>
            <p:cNvPr id="70658" name="Object 1"/>
            <p:cNvGraphicFramePr>
              <a:graphicFrameLocks noChangeAspect="1"/>
            </p:cNvGraphicFramePr>
            <p:nvPr/>
          </p:nvGraphicFramePr>
          <p:xfrm>
            <a:off x="1887538" y="1708127"/>
            <a:ext cx="5478462" cy="2308225"/>
          </p:xfrm>
          <a:graphic>
            <a:graphicData uri="http://schemas.openxmlformats.org/presentationml/2006/ole">
              <mc:AlternateContent xmlns:mc="http://schemas.openxmlformats.org/markup-compatibility/2006">
                <mc:Choice xmlns:v="urn:schemas-microsoft-com:vml" Requires="v">
                  <p:oleObj spid="_x0000_s48132" name="Visio" r:id="rId1" imgW="2120900" imgH="921385" progId="Visio.Drawing.11">
                    <p:embed/>
                  </p:oleObj>
                </mc:Choice>
                <mc:Fallback>
                  <p:oleObj name="Visio" r:id="rId1" imgW="2120900" imgH="921385"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538" y="1708127"/>
                          <a:ext cx="5478462" cy="2308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4" name="剪去对角的矩形 63"/>
            <p:cNvSpPr/>
            <p:nvPr/>
          </p:nvSpPr>
          <p:spPr>
            <a:xfrm>
              <a:off x="1824586" y="1740310"/>
              <a:ext cx="5414765" cy="2199615"/>
            </a:xfrm>
            <a:prstGeom prst="snip2DiagRect">
              <a:avLst>
                <a:gd name="adj1" fmla="val 11220"/>
                <a:gd name="adj2" fmla="val 0"/>
              </a:avLst>
            </a:prstGeom>
            <a:no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81"/>
          <p:cNvGrpSpPr/>
          <p:nvPr/>
        </p:nvGrpSpPr>
        <p:grpSpPr>
          <a:xfrm>
            <a:off x="400513" y="1331276"/>
            <a:ext cx="4465956" cy="374630"/>
            <a:chOff x="369777" y="1347760"/>
            <a:chExt cx="4465956" cy="374630"/>
          </a:xfrm>
        </p:grpSpPr>
        <p:sp>
          <p:nvSpPr>
            <p:cNvPr id="6" name="TextBox 5"/>
            <p:cNvSpPr txBox="1"/>
            <p:nvPr/>
          </p:nvSpPr>
          <p:spPr>
            <a:xfrm>
              <a:off x="723710" y="1350409"/>
              <a:ext cx="4112023" cy="369332"/>
            </a:xfrm>
            <a:prstGeom prst="rect">
              <a:avLst/>
            </a:prstGeom>
            <a:noFill/>
          </p:spPr>
          <p:txBody>
            <a:bodyPr wrap="none" rtlCol="0">
              <a:spAutoFit/>
            </a:bodyPr>
            <a:lstStyle/>
            <a:p>
              <a:pPr lvl="0"/>
              <a:r>
                <a:rPr lang="zh-CN" altLang="en-US" b="1" dirty="0">
                  <a:solidFill>
                    <a:srgbClr val="CC00CC"/>
                  </a:solidFill>
                  <a:latin typeface="黑体" panose="02010609060101010101" pitchFamily="49" charset="-122"/>
                  <a:ea typeface="黑体" panose="02010609060101010101" pitchFamily="49" charset="-122"/>
                </a:rPr>
                <a:t>例：</a:t>
              </a:r>
              <a:r>
                <a:rPr lang="zh-CN" altLang="en-US" b="1" dirty="0">
                  <a:solidFill>
                    <a:srgbClr val="6600FF"/>
                  </a:solidFill>
                  <a:latin typeface="黑体" panose="02010609060101010101" pitchFamily="49" charset="-122"/>
                  <a:ea typeface="黑体" panose="02010609060101010101" pitchFamily="49" charset="-122"/>
                </a:rPr>
                <a:t>分析图示时序电路，求电路的模。</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7" name="Picture 4"/>
            <p:cNvPicPr>
              <a:picLocks noChangeAspect="1" noChangeArrowheads="1"/>
            </p:cNvPicPr>
            <p:nvPr/>
          </p:nvPicPr>
          <p:blipFill>
            <a:blip r:embed="rId3"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8" name="组合 9"/>
          <p:cNvGrpSpPr/>
          <p:nvPr/>
        </p:nvGrpSpPr>
        <p:grpSpPr>
          <a:xfrm>
            <a:off x="2014537" y="2880973"/>
            <a:ext cx="2809854" cy="835432"/>
            <a:chOff x="2938462" y="2233611"/>
            <a:chExt cx="2809854" cy="504000"/>
          </a:xfrm>
        </p:grpSpPr>
        <p:cxnSp>
          <p:nvCxnSpPr>
            <p:cNvPr id="11" name="直接连接符 10"/>
            <p:cNvCxnSpPr/>
            <p:nvPr/>
          </p:nvCxnSpPr>
          <p:spPr>
            <a:xfrm>
              <a:off x="2938462" y="2733675"/>
              <a:ext cx="2628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flipH="1" flipV="1">
              <a:off x="5343705" y="2492568"/>
              <a:ext cx="477799"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568316" y="2248083"/>
              <a:ext cx="180000" cy="8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162300" y="2247075"/>
              <a:ext cx="180000" cy="8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5400000" flipH="1" flipV="1">
              <a:off x="2919825" y="2485610"/>
              <a:ext cx="504000"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9" name="组合 18"/>
          <p:cNvGrpSpPr/>
          <p:nvPr/>
        </p:nvGrpSpPr>
        <p:grpSpPr>
          <a:xfrm>
            <a:off x="4325304" y="2418419"/>
            <a:ext cx="506512" cy="252000"/>
            <a:chOff x="3801429" y="2516867"/>
            <a:chExt cx="506512" cy="252000"/>
          </a:xfrm>
        </p:grpSpPr>
        <p:cxnSp>
          <p:nvCxnSpPr>
            <p:cNvPr id="16" name="直接连接符 15"/>
            <p:cNvCxnSpPr/>
            <p:nvPr/>
          </p:nvCxnSpPr>
          <p:spPr>
            <a:xfrm rot="5400000" flipH="1" flipV="1">
              <a:off x="3980231" y="2642866"/>
              <a:ext cx="252000"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801429" y="2521781"/>
              <a:ext cx="504000" cy="68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4091941" y="2750382"/>
              <a:ext cx="216000" cy="68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3914775" y="1844652"/>
            <a:ext cx="2781300" cy="571500"/>
            <a:chOff x="3914775" y="1844652"/>
            <a:chExt cx="2781300" cy="571500"/>
          </a:xfrm>
        </p:grpSpPr>
        <p:sp>
          <p:nvSpPr>
            <p:cNvPr id="20" name="圆角矩形 19"/>
            <p:cNvSpPr/>
            <p:nvPr/>
          </p:nvSpPr>
          <p:spPr>
            <a:xfrm>
              <a:off x="3914775" y="1859892"/>
              <a:ext cx="259080" cy="556260"/>
            </a:xfrm>
            <a:prstGeom prst="roundRect">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20"/>
            <p:cNvSpPr/>
            <p:nvPr/>
          </p:nvSpPr>
          <p:spPr>
            <a:xfrm>
              <a:off x="6436995" y="1844652"/>
              <a:ext cx="259080" cy="556260"/>
            </a:xfrm>
            <a:prstGeom prst="roundRect">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圆角矩形 21"/>
          <p:cNvSpPr/>
          <p:nvPr/>
        </p:nvSpPr>
        <p:spPr>
          <a:xfrm>
            <a:off x="6475095" y="3147672"/>
            <a:ext cx="426720" cy="556260"/>
          </a:xfrm>
          <a:prstGeom prst="roundRect">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24"/>
          <p:cNvGrpSpPr/>
          <p:nvPr/>
        </p:nvGrpSpPr>
        <p:grpSpPr>
          <a:xfrm>
            <a:off x="2428875" y="2195172"/>
            <a:ext cx="4297680" cy="922020"/>
            <a:chOff x="1905000" y="2308860"/>
            <a:chExt cx="4297680" cy="922020"/>
          </a:xfrm>
        </p:grpSpPr>
        <p:sp>
          <p:nvSpPr>
            <p:cNvPr id="23" name="圆角矩形 22"/>
            <p:cNvSpPr/>
            <p:nvPr/>
          </p:nvSpPr>
          <p:spPr>
            <a:xfrm>
              <a:off x="1905000" y="2308860"/>
              <a:ext cx="1897380" cy="922020"/>
            </a:xfrm>
            <a:prstGeom prst="roundRect">
              <a:avLst>
                <a:gd name="adj" fmla="val 0"/>
              </a:avLst>
            </a:prstGeom>
            <a:solidFill>
              <a:srgbClr val="FFFF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23"/>
            <p:cNvSpPr/>
            <p:nvPr/>
          </p:nvSpPr>
          <p:spPr>
            <a:xfrm>
              <a:off x="4305300" y="2329122"/>
              <a:ext cx="1897380" cy="891540"/>
            </a:xfrm>
            <a:prstGeom prst="roundRect">
              <a:avLst>
                <a:gd name="adj" fmla="val 0"/>
              </a:avLst>
            </a:prstGeom>
            <a:solidFill>
              <a:srgbClr val="FFFF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组合 51"/>
          <p:cNvGrpSpPr/>
          <p:nvPr/>
        </p:nvGrpSpPr>
        <p:grpSpPr>
          <a:xfrm>
            <a:off x="2752725" y="2843212"/>
            <a:ext cx="3686181" cy="219074"/>
            <a:chOff x="2752725" y="2843212"/>
            <a:chExt cx="3686181" cy="219074"/>
          </a:xfrm>
        </p:grpSpPr>
        <p:sp>
          <p:nvSpPr>
            <p:cNvPr id="50" name="圆角矩形 49"/>
            <p:cNvSpPr/>
            <p:nvPr/>
          </p:nvSpPr>
          <p:spPr>
            <a:xfrm>
              <a:off x="5210174" y="2843212"/>
              <a:ext cx="1228732" cy="209549"/>
            </a:xfrm>
            <a:prstGeom prst="roundRect">
              <a:avLst>
                <a:gd name="adj" fmla="val 5209"/>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4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5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6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7</a:t>
              </a:r>
              <a:endParaRPr lang="en-US" altLang="zh-CN" sz="1400" baseline="-25000" dirty="0">
                <a:latin typeface="Times New Roman" panose="02020603050405020304" pitchFamily="18" charset="0"/>
                <a:cs typeface="Times New Roman" panose="02020603050405020304" pitchFamily="18" charset="0"/>
              </a:endParaRPr>
            </a:p>
          </p:txBody>
        </p:sp>
        <p:sp>
          <p:nvSpPr>
            <p:cNvPr id="51" name="圆角矩形 50"/>
            <p:cNvSpPr/>
            <p:nvPr/>
          </p:nvSpPr>
          <p:spPr>
            <a:xfrm>
              <a:off x="2752725" y="2852737"/>
              <a:ext cx="1228732" cy="209549"/>
            </a:xfrm>
            <a:prstGeom prst="roundRect">
              <a:avLst>
                <a:gd name="adj" fmla="val 5209"/>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0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1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2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3</a:t>
              </a:r>
              <a:endParaRPr lang="en-US" altLang="zh-CN" sz="1400" baseline="-25000" dirty="0">
                <a:latin typeface="Times New Roman" panose="02020603050405020304" pitchFamily="18" charset="0"/>
                <a:cs typeface="Times New Roman" panose="02020603050405020304" pitchFamily="18" charset="0"/>
              </a:endParaRPr>
            </a:p>
          </p:txBody>
        </p:sp>
      </p:grpSp>
      <p:grpSp>
        <p:nvGrpSpPr>
          <p:cNvPr id="91" name="组合 90"/>
          <p:cNvGrpSpPr/>
          <p:nvPr/>
        </p:nvGrpSpPr>
        <p:grpSpPr>
          <a:xfrm>
            <a:off x="362653" y="4133850"/>
            <a:ext cx="7371647" cy="732370"/>
            <a:chOff x="305503" y="4077995"/>
            <a:chExt cx="7709445" cy="778700"/>
          </a:xfrm>
        </p:grpSpPr>
        <p:grpSp>
          <p:nvGrpSpPr>
            <p:cNvPr id="55" name="组合 54"/>
            <p:cNvGrpSpPr/>
            <p:nvPr/>
          </p:nvGrpSpPr>
          <p:grpSpPr>
            <a:xfrm>
              <a:off x="305503" y="4077995"/>
              <a:ext cx="2216289" cy="323850"/>
              <a:chOff x="457201" y="4090988"/>
              <a:chExt cx="2216289" cy="323850"/>
            </a:xfrm>
          </p:grpSpPr>
          <p:cxnSp>
            <p:nvCxnSpPr>
              <p:cNvPr id="33" name="直接箭头连接符 32"/>
              <p:cNvCxnSpPr/>
              <p:nvPr/>
            </p:nvCxnSpPr>
            <p:spPr>
              <a:xfrm flipV="1">
                <a:off x="2234840" y="4259765"/>
                <a:ext cx="438650" cy="0"/>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54" name="圆角矩形 53"/>
              <p:cNvSpPr/>
              <p:nvPr/>
            </p:nvSpPr>
            <p:spPr>
              <a:xfrm>
                <a:off x="457201" y="4090988"/>
                <a:ext cx="1776414" cy="323850"/>
              </a:xfrm>
              <a:prstGeom prst="roundRect">
                <a:avLst>
                  <a:gd name="adj" fmla="val 40204"/>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7</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6</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5</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4</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3</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2</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1</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0</a:t>
                </a:r>
                <a:endParaRPr lang="zh-CN" altLang="en-US" sz="1400" b="1" dirty="0">
                  <a:solidFill>
                    <a:srgbClr val="7030A0"/>
                  </a:solidFill>
                </a:endParaRPr>
              </a:p>
            </p:txBody>
          </p:sp>
        </p:grpSp>
        <p:grpSp>
          <p:nvGrpSpPr>
            <p:cNvPr id="90" name="组合 89"/>
            <p:cNvGrpSpPr/>
            <p:nvPr/>
          </p:nvGrpSpPr>
          <p:grpSpPr>
            <a:xfrm>
              <a:off x="2814740" y="4082443"/>
              <a:ext cx="5200208" cy="774252"/>
              <a:chOff x="2844236" y="4006594"/>
              <a:chExt cx="5200208" cy="774252"/>
            </a:xfrm>
          </p:grpSpPr>
          <p:grpSp>
            <p:nvGrpSpPr>
              <p:cNvPr id="87" name="组合 86"/>
              <p:cNvGrpSpPr/>
              <p:nvPr/>
            </p:nvGrpSpPr>
            <p:grpSpPr>
              <a:xfrm>
                <a:off x="2844236" y="4006594"/>
                <a:ext cx="5200208" cy="774252"/>
                <a:chOff x="2859476" y="4002784"/>
                <a:chExt cx="5200208" cy="774252"/>
              </a:xfrm>
            </p:grpSpPr>
            <p:grpSp>
              <p:nvGrpSpPr>
                <p:cNvPr id="60" name="组合 59"/>
                <p:cNvGrpSpPr/>
                <p:nvPr/>
              </p:nvGrpSpPr>
              <p:grpSpPr>
                <a:xfrm>
                  <a:off x="2859476" y="4002784"/>
                  <a:ext cx="1269553" cy="323850"/>
                  <a:chOff x="3057526" y="4038600"/>
                  <a:chExt cx="1269553" cy="323850"/>
                </a:xfrm>
              </p:grpSpPr>
              <p:sp>
                <p:nvSpPr>
                  <p:cNvPr id="56" name="圆角矩形 55"/>
                  <p:cNvSpPr/>
                  <p:nvPr/>
                </p:nvSpPr>
                <p:spPr>
                  <a:xfrm>
                    <a:off x="3057526" y="4038600"/>
                    <a:ext cx="900000" cy="323850"/>
                  </a:xfrm>
                  <a:prstGeom prst="round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dirty="0">
                        <a:solidFill>
                          <a:srgbClr val="7030A0"/>
                        </a:solidFill>
                        <a:latin typeface="Times New Roman" panose="02020603050405020304" pitchFamily="18" charset="0"/>
                        <a:cs typeface="Times New Roman" panose="02020603050405020304" pitchFamily="18" charset="0"/>
                      </a:rPr>
                      <a:t>0000 0000</a:t>
                    </a:r>
                    <a:endParaRPr lang="zh-CN" altLang="en-US" sz="1400" b="1" dirty="0">
                      <a:solidFill>
                        <a:srgbClr val="7030A0"/>
                      </a:solidFill>
                    </a:endParaRPr>
                  </a:p>
                </p:txBody>
              </p:sp>
              <p:cxnSp>
                <p:nvCxnSpPr>
                  <p:cNvPr id="58" name="直接箭头连接符 57"/>
                  <p:cNvCxnSpPr/>
                  <p:nvPr/>
                </p:nvCxnSpPr>
                <p:spPr>
                  <a:xfrm flipV="1">
                    <a:off x="3967079" y="4200525"/>
                    <a:ext cx="360000" cy="0"/>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nvGrpSpPr>
                <p:cNvPr id="66" name="组合 65"/>
                <p:cNvGrpSpPr/>
                <p:nvPr/>
              </p:nvGrpSpPr>
              <p:grpSpPr>
                <a:xfrm>
                  <a:off x="4145394" y="4002784"/>
                  <a:ext cx="1701553" cy="323850"/>
                  <a:chOff x="3057526" y="4038600"/>
                  <a:chExt cx="1701553" cy="323850"/>
                </a:xfrm>
              </p:grpSpPr>
              <p:sp>
                <p:nvSpPr>
                  <p:cNvPr id="67" name="圆角矩形 66"/>
                  <p:cNvSpPr/>
                  <p:nvPr/>
                </p:nvSpPr>
                <p:spPr>
                  <a:xfrm>
                    <a:off x="3057526" y="4038600"/>
                    <a:ext cx="900000" cy="323850"/>
                  </a:xfrm>
                  <a:prstGeom prst="round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dirty="0">
                        <a:solidFill>
                          <a:srgbClr val="7030A0"/>
                        </a:solidFill>
                        <a:latin typeface="Times New Roman" panose="02020603050405020304" pitchFamily="18" charset="0"/>
                        <a:cs typeface="Times New Roman" panose="02020603050405020304" pitchFamily="18" charset="0"/>
                      </a:rPr>
                      <a:t>0000 0001</a:t>
                    </a:r>
                    <a:endParaRPr lang="zh-CN" altLang="en-US" sz="1400" b="1" dirty="0">
                      <a:solidFill>
                        <a:srgbClr val="7030A0"/>
                      </a:solidFill>
                    </a:endParaRPr>
                  </a:p>
                </p:txBody>
              </p:sp>
              <p:cxnSp>
                <p:nvCxnSpPr>
                  <p:cNvPr id="68" name="直接箭头连接符 67"/>
                  <p:cNvCxnSpPr/>
                  <p:nvPr/>
                </p:nvCxnSpPr>
                <p:spPr>
                  <a:xfrm flipV="1">
                    <a:off x="3967079" y="4200525"/>
                    <a:ext cx="792000" cy="0"/>
                  </a:xfrm>
                  <a:prstGeom prst="straightConnector1">
                    <a:avLst/>
                  </a:prstGeom>
                  <a:ln w="19050">
                    <a:solidFill>
                      <a:schemeClr val="tx1"/>
                    </a:solidFill>
                    <a:prstDash val="lgDash"/>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nvGrpSpPr>
                <p:cNvPr id="69" name="组合 68"/>
                <p:cNvGrpSpPr/>
                <p:nvPr/>
              </p:nvGrpSpPr>
              <p:grpSpPr>
                <a:xfrm>
                  <a:off x="5886406" y="4002784"/>
                  <a:ext cx="1269553" cy="323850"/>
                  <a:chOff x="3057526" y="4038600"/>
                  <a:chExt cx="1269553" cy="323850"/>
                </a:xfrm>
              </p:grpSpPr>
              <p:sp>
                <p:nvSpPr>
                  <p:cNvPr id="70" name="圆角矩形 69"/>
                  <p:cNvSpPr/>
                  <p:nvPr/>
                </p:nvSpPr>
                <p:spPr>
                  <a:xfrm>
                    <a:off x="3057526" y="4038600"/>
                    <a:ext cx="900000" cy="323850"/>
                  </a:xfrm>
                  <a:prstGeom prst="round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dirty="0">
                        <a:solidFill>
                          <a:srgbClr val="7030A0"/>
                        </a:solidFill>
                        <a:latin typeface="Times New Roman" panose="02020603050405020304" pitchFamily="18" charset="0"/>
                        <a:cs typeface="Times New Roman" panose="02020603050405020304" pitchFamily="18" charset="0"/>
                      </a:rPr>
                      <a:t>0110 0011</a:t>
                    </a:r>
                    <a:endParaRPr lang="zh-CN" altLang="en-US" sz="1400" b="1" dirty="0">
                      <a:solidFill>
                        <a:srgbClr val="7030A0"/>
                      </a:solidFill>
                    </a:endParaRPr>
                  </a:p>
                </p:txBody>
              </p:sp>
              <p:cxnSp>
                <p:nvCxnSpPr>
                  <p:cNvPr id="71" name="直接箭头连接符 70"/>
                  <p:cNvCxnSpPr/>
                  <p:nvPr/>
                </p:nvCxnSpPr>
                <p:spPr>
                  <a:xfrm flipV="1">
                    <a:off x="3967079" y="4200525"/>
                    <a:ext cx="360000" cy="0"/>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sp>
              <p:nvSpPr>
                <p:cNvPr id="73" name="圆角矩形 72"/>
                <p:cNvSpPr/>
                <p:nvPr/>
              </p:nvSpPr>
              <p:spPr>
                <a:xfrm>
                  <a:off x="7159684" y="4002784"/>
                  <a:ext cx="900000" cy="323850"/>
                </a:xfrm>
                <a:prstGeom prst="roundRect">
                  <a:avLst/>
                </a:prstGeom>
                <a:solidFill>
                  <a:schemeClr val="bg1"/>
                </a:solidFill>
                <a:ln w="19050">
                  <a:solidFill>
                    <a:srgbClr val="FF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dirty="0">
                      <a:solidFill>
                        <a:srgbClr val="7030A0"/>
                      </a:solidFill>
                      <a:latin typeface="Times New Roman" panose="02020603050405020304" pitchFamily="18" charset="0"/>
                      <a:cs typeface="Times New Roman" panose="02020603050405020304" pitchFamily="18" charset="0"/>
                    </a:rPr>
                    <a:t>0</a:t>
                  </a:r>
                  <a:r>
                    <a:rPr lang="en-US" altLang="zh-CN" sz="1400" b="1" dirty="0">
                      <a:solidFill>
                        <a:srgbClr val="FF0000"/>
                      </a:solidFill>
                      <a:latin typeface="Times New Roman" panose="02020603050405020304" pitchFamily="18" charset="0"/>
                      <a:cs typeface="Times New Roman" panose="02020603050405020304" pitchFamily="18" charset="0"/>
                    </a:rPr>
                    <a:t>11</a:t>
                  </a:r>
                  <a:r>
                    <a:rPr lang="en-US" altLang="zh-CN" sz="1400" b="1" dirty="0">
                      <a:solidFill>
                        <a:srgbClr val="7030A0"/>
                      </a:solidFill>
                      <a:latin typeface="Times New Roman" panose="02020603050405020304" pitchFamily="18" charset="0"/>
                      <a:cs typeface="Times New Roman" panose="02020603050405020304" pitchFamily="18" charset="0"/>
                    </a:rPr>
                    <a:t>0 0</a:t>
                  </a:r>
                  <a:r>
                    <a:rPr lang="en-US" altLang="zh-CN" sz="1400" b="1" dirty="0">
                      <a:solidFill>
                        <a:srgbClr val="FF0000"/>
                      </a:solidFill>
                      <a:latin typeface="Times New Roman" panose="02020603050405020304" pitchFamily="18" charset="0"/>
                      <a:cs typeface="Times New Roman" panose="02020603050405020304" pitchFamily="18" charset="0"/>
                    </a:rPr>
                    <a:t>1</a:t>
                  </a:r>
                  <a:r>
                    <a:rPr lang="en-US" altLang="zh-CN" sz="1400" b="1" dirty="0">
                      <a:solidFill>
                        <a:srgbClr val="7030A0"/>
                      </a:solidFill>
                      <a:latin typeface="Times New Roman" panose="02020603050405020304" pitchFamily="18" charset="0"/>
                      <a:cs typeface="Times New Roman" panose="02020603050405020304" pitchFamily="18" charset="0"/>
                    </a:rPr>
                    <a:t>00</a:t>
                  </a:r>
                  <a:endParaRPr lang="zh-CN" altLang="en-US" sz="1400" b="1" dirty="0">
                    <a:solidFill>
                      <a:srgbClr val="7030A0"/>
                    </a:solidFill>
                  </a:endParaRPr>
                </a:p>
              </p:txBody>
            </p:sp>
            <p:grpSp>
              <p:nvGrpSpPr>
                <p:cNvPr id="83" name="组合 82"/>
                <p:cNvGrpSpPr/>
                <p:nvPr/>
              </p:nvGrpSpPr>
              <p:grpSpPr>
                <a:xfrm>
                  <a:off x="3309476" y="4329810"/>
                  <a:ext cx="4300208" cy="447226"/>
                  <a:chOff x="3309476" y="4329810"/>
                  <a:chExt cx="4300208" cy="447226"/>
                </a:xfrm>
              </p:grpSpPr>
              <p:cxnSp>
                <p:nvCxnSpPr>
                  <p:cNvPr id="76" name="肘形连接符 75"/>
                  <p:cNvCxnSpPr/>
                  <p:nvPr/>
                </p:nvCxnSpPr>
                <p:spPr>
                  <a:xfrm rot="5400000">
                    <a:off x="5319230" y="2482772"/>
                    <a:ext cx="443416" cy="4137492"/>
                  </a:xfrm>
                  <a:prstGeom prst="bentConnector2">
                    <a:avLst/>
                  </a:prstGeom>
                  <a:ln w="19050">
                    <a:solidFill>
                      <a:srgbClr val="FF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肘形连接符 79"/>
                  <p:cNvCxnSpPr/>
                  <p:nvPr/>
                </p:nvCxnSpPr>
                <p:spPr>
                  <a:xfrm rot="16200000" flipV="1">
                    <a:off x="3171233" y="4471863"/>
                    <a:ext cx="443416" cy="166930"/>
                  </a:xfrm>
                  <a:prstGeom prst="bentConnector3">
                    <a:avLst>
                      <a:gd name="adj1" fmla="val 584"/>
                    </a:avLst>
                  </a:prstGeom>
                  <a:ln w="19050">
                    <a:solidFill>
                      <a:srgbClr val="FF00FF"/>
                    </a:solidFill>
                    <a:tailEnd type="arrow"/>
                  </a:ln>
                </p:spPr>
                <p:style>
                  <a:lnRef idx="1">
                    <a:schemeClr val="accent1"/>
                  </a:lnRef>
                  <a:fillRef idx="0">
                    <a:schemeClr val="accent1"/>
                  </a:fillRef>
                  <a:effectRef idx="0">
                    <a:schemeClr val="accent1"/>
                  </a:effectRef>
                  <a:fontRef idx="minor">
                    <a:schemeClr val="tx1"/>
                  </a:fontRef>
                </p:style>
              </p:cxnSp>
            </p:grpSp>
            <p:grpSp>
              <p:nvGrpSpPr>
                <p:cNvPr id="84" name="组合 83"/>
                <p:cNvGrpSpPr/>
                <p:nvPr/>
              </p:nvGrpSpPr>
              <p:grpSpPr>
                <a:xfrm>
                  <a:off x="3305666" y="4326000"/>
                  <a:ext cx="3049414" cy="447226"/>
                  <a:chOff x="3309476" y="4329810"/>
                  <a:chExt cx="4300208" cy="447226"/>
                </a:xfrm>
              </p:grpSpPr>
              <p:cxnSp>
                <p:nvCxnSpPr>
                  <p:cNvPr id="85" name="肘形连接符 75"/>
                  <p:cNvCxnSpPr/>
                  <p:nvPr/>
                </p:nvCxnSpPr>
                <p:spPr>
                  <a:xfrm rot="5400000">
                    <a:off x="5319230" y="2482772"/>
                    <a:ext cx="443416" cy="4137492"/>
                  </a:xfrm>
                  <a:prstGeom prst="bentConnector2">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肘形连接符 85"/>
                  <p:cNvCxnSpPr/>
                  <p:nvPr/>
                </p:nvCxnSpPr>
                <p:spPr>
                  <a:xfrm rot="16200000" flipV="1">
                    <a:off x="3171233" y="4471863"/>
                    <a:ext cx="443416" cy="166930"/>
                  </a:xfrm>
                  <a:prstGeom prst="bentConnector3">
                    <a:avLst>
                      <a:gd name="adj1" fmla="val 584"/>
                    </a:avLst>
                  </a:prstGeom>
                  <a:ln w="19050">
                    <a:tailEnd type="arrow"/>
                  </a:ln>
                </p:spPr>
                <p:style>
                  <a:lnRef idx="1">
                    <a:schemeClr val="accent1"/>
                  </a:lnRef>
                  <a:fillRef idx="0">
                    <a:schemeClr val="accent1"/>
                  </a:fillRef>
                  <a:effectRef idx="0">
                    <a:schemeClr val="accent1"/>
                  </a:effectRef>
                  <a:fontRef idx="minor">
                    <a:schemeClr val="tx1"/>
                  </a:fontRef>
                </p:style>
              </p:cxnSp>
            </p:grpSp>
          </p:grpSp>
          <p:sp>
            <p:nvSpPr>
              <p:cNvPr id="89" name="任意多边形 88"/>
              <p:cNvSpPr/>
              <p:nvPr/>
            </p:nvSpPr>
            <p:spPr>
              <a:xfrm>
                <a:off x="3541395" y="4446270"/>
                <a:ext cx="2383155" cy="257175"/>
              </a:xfrm>
              <a:custGeom>
                <a:avLst/>
                <a:gdLst>
                  <a:gd name="connsiteX0" fmla="*/ 375285 w 2813050"/>
                  <a:gd name="connsiteY0" fmla="*/ 0 h 257175"/>
                  <a:gd name="connsiteX1" fmla="*/ 2078355 w 2813050"/>
                  <a:gd name="connsiteY1" fmla="*/ 3810 h 257175"/>
                  <a:gd name="connsiteX2" fmla="*/ 2665095 w 2813050"/>
                  <a:gd name="connsiteY2" fmla="*/ 102870 h 257175"/>
                  <a:gd name="connsiteX3" fmla="*/ 2436495 w 2813050"/>
                  <a:gd name="connsiteY3" fmla="*/ 224790 h 257175"/>
                  <a:gd name="connsiteX4" fmla="*/ 405765 w 2813050"/>
                  <a:gd name="connsiteY4" fmla="*/ 228600 h 257175"/>
                  <a:gd name="connsiteX5" fmla="*/ 1905 w 2813050"/>
                  <a:gd name="connsiteY5" fmla="*/ 53340 h 25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3050" h="257175">
                    <a:moveTo>
                      <a:pt x="375285" y="0"/>
                    </a:moveTo>
                    <a:lnTo>
                      <a:pt x="2078355" y="3810"/>
                    </a:lnTo>
                    <a:cubicBezTo>
                      <a:pt x="2459990" y="20955"/>
                      <a:pt x="2605405" y="66040"/>
                      <a:pt x="2665095" y="102870"/>
                    </a:cubicBezTo>
                    <a:cubicBezTo>
                      <a:pt x="2724785" y="139700"/>
                      <a:pt x="2813050" y="203835"/>
                      <a:pt x="2436495" y="224790"/>
                    </a:cubicBezTo>
                    <a:cubicBezTo>
                      <a:pt x="2059940" y="245745"/>
                      <a:pt x="811530" y="257175"/>
                      <a:pt x="405765" y="228600"/>
                    </a:cubicBezTo>
                    <a:cubicBezTo>
                      <a:pt x="0" y="200025"/>
                      <a:pt x="952" y="126682"/>
                      <a:pt x="1905" y="53340"/>
                    </a:cubicBezTo>
                  </a:path>
                </a:pathLst>
              </a:custGeom>
              <a:ln w="28575">
                <a:solidFill>
                  <a:srgbClr val="FF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400"/>
              </a:p>
            </p:txBody>
          </p:sp>
        </p:grpSp>
      </p:grpSp>
      <p:grpSp>
        <p:nvGrpSpPr>
          <p:cNvPr id="96" name="组合 95"/>
          <p:cNvGrpSpPr/>
          <p:nvPr/>
        </p:nvGrpSpPr>
        <p:grpSpPr>
          <a:xfrm>
            <a:off x="3431053" y="3089718"/>
            <a:ext cx="2724098" cy="251460"/>
            <a:chOff x="3431053" y="3089718"/>
            <a:chExt cx="2724098" cy="251460"/>
          </a:xfrm>
        </p:grpSpPr>
        <p:sp>
          <p:nvSpPr>
            <p:cNvPr id="92" name="椭圆 91"/>
            <p:cNvSpPr/>
            <p:nvPr/>
          </p:nvSpPr>
          <p:spPr>
            <a:xfrm>
              <a:off x="5941791" y="3089718"/>
              <a:ext cx="213360" cy="25146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t>1</a:t>
              </a:r>
              <a:endParaRPr lang="zh-CN" altLang="en-US" dirty="0"/>
            </a:p>
          </p:txBody>
        </p:sp>
        <p:sp>
          <p:nvSpPr>
            <p:cNvPr id="93" name="椭圆 92"/>
            <p:cNvSpPr/>
            <p:nvPr/>
          </p:nvSpPr>
          <p:spPr>
            <a:xfrm>
              <a:off x="5613814" y="3089718"/>
              <a:ext cx="213360" cy="25146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t>1</a:t>
              </a:r>
              <a:endParaRPr lang="zh-CN" altLang="en-US" dirty="0"/>
            </a:p>
          </p:txBody>
        </p:sp>
        <p:sp>
          <p:nvSpPr>
            <p:cNvPr id="94" name="椭圆 93"/>
            <p:cNvSpPr/>
            <p:nvPr/>
          </p:nvSpPr>
          <p:spPr>
            <a:xfrm>
              <a:off x="3431053" y="3089718"/>
              <a:ext cx="213360" cy="25146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t>1</a:t>
              </a:r>
              <a:endParaRPr lang="zh-CN" altLang="en-US" dirty="0"/>
            </a:p>
          </p:txBody>
        </p:sp>
      </p:grpSp>
      <p:grpSp>
        <p:nvGrpSpPr>
          <p:cNvPr id="97" name="组合 96"/>
          <p:cNvGrpSpPr/>
          <p:nvPr/>
        </p:nvGrpSpPr>
        <p:grpSpPr>
          <a:xfrm>
            <a:off x="3933200" y="1813634"/>
            <a:ext cx="2724098" cy="251460"/>
            <a:chOff x="3414197" y="3089718"/>
            <a:chExt cx="2724098" cy="251460"/>
          </a:xfrm>
        </p:grpSpPr>
        <p:sp>
          <p:nvSpPr>
            <p:cNvPr id="98" name="椭圆 97"/>
            <p:cNvSpPr/>
            <p:nvPr/>
          </p:nvSpPr>
          <p:spPr>
            <a:xfrm>
              <a:off x="5924935" y="3089718"/>
              <a:ext cx="213360" cy="25146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t>0</a:t>
              </a:r>
              <a:endParaRPr lang="zh-CN" altLang="en-US" dirty="0"/>
            </a:p>
          </p:txBody>
        </p:sp>
        <p:sp>
          <p:nvSpPr>
            <p:cNvPr id="100" name="椭圆 99"/>
            <p:cNvSpPr/>
            <p:nvPr/>
          </p:nvSpPr>
          <p:spPr>
            <a:xfrm>
              <a:off x="3414197" y="3089718"/>
              <a:ext cx="213360" cy="25146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t>0</a:t>
              </a:r>
              <a:endParaRPr lang="zh-CN" altLang="en-US" dirty="0"/>
            </a:p>
          </p:txBody>
        </p:sp>
      </p:grpSp>
      <p:sp>
        <p:nvSpPr>
          <p:cNvPr id="61" name="圆角矩形标注 60"/>
          <p:cNvSpPr/>
          <p:nvPr/>
        </p:nvSpPr>
        <p:spPr>
          <a:xfrm>
            <a:off x="7453910" y="3488750"/>
            <a:ext cx="962524" cy="439255"/>
          </a:xfrm>
          <a:prstGeom prst="wedgeRoundRectCallout">
            <a:avLst>
              <a:gd name="adj1" fmla="val -49898"/>
              <a:gd name="adj2" fmla="val 70443"/>
              <a:gd name="adj3" fmla="val 16667"/>
            </a:avLst>
          </a:prstGeom>
          <a:solidFill>
            <a:srgbClr val="66FF66"/>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0000FF"/>
                </a:solidFill>
                <a:latin typeface="微软雅黑" panose="020B0503020204020204" pitchFamily="34" charset="-122"/>
                <a:ea typeface="微软雅黑" panose="020B0503020204020204" pitchFamily="34" charset="-122"/>
              </a:rPr>
              <a:t>M=?</a:t>
            </a:r>
            <a:endParaRPr lang="zh-CN" altLang="en-US" sz="1600" dirty="0">
              <a:solidFill>
                <a:srgbClr val="0000FF"/>
              </a:solidFill>
              <a:latin typeface="微软雅黑" panose="020B0503020204020204" pitchFamily="34" charset="-122"/>
              <a:ea typeface="微软雅黑" panose="020B0503020204020204" pitchFamily="34" charset="-122"/>
            </a:endParaRPr>
          </a:p>
        </p:txBody>
      </p:sp>
      <p:sp>
        <p:nvSpPr>
          <p:cNvPr id="59" name="圆角矩形标注 58"/>
          <p:cNvSpPr/>
          <p:nvPr/>
        </p:nvSpPr>
        <p:spPr>
          <a:xfrm>
            <a:off x="7386486" y="3316704"/>
            <a:ext cx="1475872" cy="603688"/>
          </a:xfrm>
          <a:prstGeom prst="wedgeRoundRectCallout">
            <a:avLst>
              <a:gd name="adj1" fmla="val -49898"/>
              <a:gd name="adj2" fmla="val 70443"/>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0000FF"/>
                </a:solidFill>
                <a:latin typeface="微软雅黑" panose="020B0503020204020204" pitchFamily="34" charset="-122"/>
                <a:ea typeface="微软雅黑" panose="020B0503020204020204" pitchFamily="34" charset="-122"/>
              </a:rPr>
              <a:t>M=99-0+1</a:t>
            </a:r>
            <a:endParaRPr lang="en-US" altLang="zh-CN" sz="1600" dirty="0">
              <a:solidFill>
                <a:srgbClr val="0000FF"/>
              </a:solidFill>
              <a:latin typeface="微软雅黑" panose="020B0503020204020204" pitchFamily="34" charset="-122"/>
              <a:ea typeface="微软雅黑" panose="020B0503020204020204" pitchFamily="34" charset="-122"/>
            </a:endParaRPr>
          </a:p>
          <a:p>
            <a:r>
              <a:rPr lang="en-US" altLang="zh-CN" sz="1600" dirty="0">
                <a:solidFill>
                  <a:srgbClr val="0000FF"/>
                </a:solidFill>
                <a:latin typeface="微软雅黑" panose="020B0503020204020204" pitchFamily="34" charset="-122"/>
                <a:ea typeface="微软雅黑" panose="020B0503020204020204" pitchFamily="34" charset="-122"/>
              </a:rPr>
              <a:t>      =100</a:t>
            </a:r>
            <a:endParaRPr lang="zh-CN" altLang="en-US" sz="1600" dirty="0">
              <a:solidFill>
                <a:srgbClr val="0000FF"/>
              </a:solidFill>
              <a:latin typeface="微软雅黑" panose="020B0503020204020204" pitchFamily="34" charset="-122"/>
              <a:ea typeface="微软雅黑" panose="020B0503020204020204" pitchFamily="34" charset="-122"/>
            </a:endParaRPr>
          </a:p>
        </p:txBody>
      </p:sp>
      <p:sp>
        <p:nvSpPr>
          <p:cNvPr id="62" name="圆角矩形标注 61"/>
          <p:cNvSpPr/>
          <p:nvPr/>
        </p:nvSpPr>
        <p:spPr>
          <a:xfrm>
            <a:off x="7117150" y="952324"/>
            <a:ext cx="1807731" cy="636288"/>
          </a:xfrm>
          <a:prstGeom prst="wedgeRoundRectCallout">
            <a:avLst>
              <a:gd name="adj1" fmla="val -49898"/>
              <a:gd name="adj2" fmla="val 70443"/>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rgbClr val="0000FF"/>
                </a:solidFill>
                <a:latin typeface="微软雅黑" panose="020B0503020204020204" pitchFamily="34" charset="-122"/>
                <a:ea typeface="微软雅黑" panose="020B0503020204020204" pitchFamily="34" charset="-122"/>
              </a:rPr>
              <a:t>并行进位</a:t>
            </a:r>
            <a:endParaRPr lang="en-US" altLang="zh-CN" sz="1600" b="1" dirty="0">
              <a:solidFill>
                <a:srgbClr val="0000FF"/>
              </a:solidFill>
              <a:latin typeface="微软雅黑" panose="020B0503020204020204" pitchFamily="34" charset="-122"/>
              <a:ea typeface="微软雅黑" panose="020B0503020204020204" pitchFamily="34" charset="-122"/>
            </a:endParaRPr>
          </a:p>
          <a:p>
            <a:pPr algn="ctr"/>
            <a:r>
              <a:rPr lang="zh-CN" altLang="en-US" sz="1400" dirty="0">
                <a:solidFill>
                  <a:srgbClr val="0000FF"/>
                </a:solidFill>
                <a:latin typeface="微软雅黑" panose="020B0503020204020204" pitchFamily="34" charset="-122"/>
                <a:ea typeface="微软雅黑" panose="020B0503020204020204" pitchFamily="34" charset="-122"/>
              </a:rPr>
              <a:t>（同步时序逻辑电路）</a:t>
            </a:r>
            <a:endParaRPr lang="zh-CN" altLang="en-US" sz="1400" dirty="0">
              <a:solidFill>
                <a:srgbClr val="0000FF"/>
              </a:solidFill>
              <a:latin typeface="微软雅黑" panose="020B0503020204020204" pitchFamily="34" charset="-122"/>
              <a:ea typeface="微软雅黑" panose="020B0503020204020204" pitchFamily="34" charset="-122"/>
            </a:endParaRPr>
          </a:p>
        </p:txBody>
      </p:sp>
      <p:grpSp>
        <p:nvGrpSpPr>
          <p:cNvPr id="72" name="组合 34"/>
          <p:cNvGrpSpPr/>
          <p:nvPr/>
        </p:nvGrpSpPr>
        <p:grpSpPr>
          <a:xfrm>
            <a:off x="392432" y="735720"/>
            <a:ext cx="6649115" cy="420971"/>
            <a:chOff x="670560" y="892917"/>
            <a:chExt cx="6649115" cy="420971"/>
          </a:xfrm>
        </p:grpSpPr>
        <p:sp>
          <p:nvSpPr>
            <p:cNvPr id="74" name="矩形 73"/>
            <p:cNvSpPr/>
            <p:nvPr/>
          </p:nvSpPr>
          <p:spPr>
            <a:xfrm>
              <a:off x="1035231" y="913778"/>
              <a:ext cx="6284444" cy="400110"/>
            </a:xfrm>
            <a:prstGeom prst="rect">
              <a:avLst/>
            </a:prstGeom>
          </p:spPr>
          <p:txBody>
            <a:bodyPr wrap="square">
              <a:spAutoFit/>
            </a:bodyPr>
            <a:lstStyle/>
            <a:p>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集成计数器的应用</a:t>
              </a:r>
              <a:r>
                <a:rPr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构成任意进制计数器</a:t>
              </a:r>
              <a:r>
                <a:rPr lang="en-US" altLang="zh-CN" sz="20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(M&lt;N)</a:t>
              </a:r>
              <a:endPar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5"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1000"/>
                                        <p:tgtEl>
                                          <p:spTgt spid="5"/>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slide(fromBottom)">
                                      <p:cBhvr>
                                        <p:cTn id="11" dur="1000"/>
                                        <p:tgtEl>
                                          <p:spTgt spid="65"/>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288"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p:cTn id="16" dur="1000" fill="hold"/>
                                        <p:tgtEl>
                                          <p:spTgt spid="10"/>
                                        </p:tgtEl>
                                        <p:attrNameLst>
                                          <p:attrName>ppt_w</p:attrName>
                                        </p:attrNameLst>
                                      </p:cBhvr>
                                      <p:tavLst>
                                        <p:tav tm="0">
                                          <p:val>
                                            <p:strVal val="4/3*#ppt_w"/>
                                          </p:val>
                                        </p:tav>
                                        <p:tav tm="100000">
                                          <p:val>
                                            <p:strVal val="#ppt_w"/>
                                          </p:val>
                                        </p:tav>
                                      </p:tavLst>
                                    </p:anim>
                                    <p:anim calcmode="lin" valueType="num">
                                      <p:cBhvr>
                                        <p:cTn id="17" dur="1000" fill="hold"/>
                                        <p:tgtEl>
                                          <p:spTgt spid="10"/>
                                        </p:tgtEl>
                                        <p:attrNameLst>
                                          <p:attrName>ppt_h</p:attrName>
                                        </p:attrNameLst>
                                      </p:cBhvr>
                                      <p:tavLst>
                                        <p:tav tm="0">
                                          <p:val>
                                            <p:strVal val="4/3*#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3" presetClass="entr" presetSubtype="32"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p:cTn id="22" dur="1000" fill="hold"/>
                                        <p:tgtEl>
                                          <p:spTgt spid="9"/>
                                        </p:tgtEl>
                                        <p:attrNameLst>
                                          <p:attrName>ppt_w</p:attrName>
                                        </p:attrNameLst>
                                      </p:cBhvr>
                                      <p:tavLst>
                                        <p:tav tm="0">
                                          <p:val>
                                            <p:strVal val="4*#ppt_w"/>
                                          </p:val>
                                        </p:tav>
                                        <p:tav tm="100000">
                                          <p:val>
                                            <p:strVal val="#ppt_w"/>
                                          </p:val>
                                        </p:tav>
                                      </p:tavLst>
                                    </p:anim>
                                    <p:anim calcmode="lin" valueType="num">
                                      <p:cBhvr>
                                        <p:cTn id="23" dur="1000" fill="hold"/>
                                        <p:tgtEl>
                                          <p:spTgt spid="9"/>
                                        </p:tgtEl>
                                        <p:attrNameLst>
                                          <p:attrName>ppt_h</p:attrName>
                                        </p:attrNameLst>
                                      </p:cBhvr>
                                      <p:tavLst>
                                        <p:tav tm="0">
                                          <p:val>
                                            <p:strVal val="4*#ppt_h"/>
                                          </p:val>
                                        </p:tav>
                                        <p:tav tm="100000">
                                          <p:val>
                                            <p:strVal val="#ppt_h"/>
                                          </p:val>
                                        </p:tav>
                                      </p:tavLst>
                                    </p:anim>
                                  </p:childTnLst>
                                </p:cTn>
                              </p:par>
                            </p:childTnLst>
                          </p:cTn>
                        </p:par>
                        <p:par>
                          <p:cTn id="24" fill="hold">
                            <p:stCondLst>
                              <p:cond delay="1000"/>
                            </p:stCondLst>
                            <p:childTnLst>
                              <p:par>
                                <p:cTn id="25" presetID="23" presetClass="entr" presetSubtype="288"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1000" fill="hold"/>
                                        <p:tgtEl>
                                          <p:spTgt spid="8"/>
                                        </p:tgtEl>
                                        <p:attrNameLst>
                                          <p:attrName>ppt_w</p:attrName>
                                        </p:attrNameLst>
                                      </p:cBhvr>
                                      <p:tavLst>
                                        <p:tav tm="0">
                                          <p:val>
                                            <p:strVal val="4/3*#ppt_w"/>
                                          </p:val>
                                        </p:tav>
                                        <p:tav tm="100000">
                                          <p:val>
                                            <p:strVal val="#ppt_w"/>
                                          </p:val>
                                        </p:tav>
                                      </p:tavLst>
                                    </p:anim>
                                    <p:anim calcmode="lin" valueType="num">
                                      <p:cBhvr>
                                        <p:cTn id="28" dur="1000" fill="hold"/>
                                        <p:tgtEl>
                                          <p:spTgt spid="8"/>
                                        </p:tgtEl>
                                        <p:attrNameLst>
                                          <p:attrName>ppt_h</p:attrName>
                                        </p:attrNameLst>
                                      </p:cBhvr>
                                      <p:tavLst>
                                        <p:tav tm="0">
                                          <p:val>
                                            <p:strVal val="4/3*#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62"/>
                                        </p:tgtEl>
                                        <p:attrNameLst>
                                          <p:attrName>style.visibility</p:attrName>
                                        </p:attrNameLst>
                                      </p:cBhvr>
                                      <p:to>
                                        <p:strVal val="visible"/>
                                      </p:to>
                                    </p:set>
                                    <p:animEffect transition="in" filter="wipe(up)">
                                      <p:cBhvr>
                                        <p:cTn id="33" dur="1000"/>
                                        <p:tgtEl>
                                          <p:spTgt spid="62"/>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8"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slide(fromLeft)">
                                      <p:cBhvr>
                                        <p:cTn id="38" dur="1000"/>
                                        <p:tgtEl>
                                          <p:spTgt spid="22"/>
                                        </p:tgtEl>
                                      </p:cBhvr>
                                    </p:animEffect>
                                  </p:childTnLst>
                                </p:cTn>
                              </p:par>
                            </p:childTnLst>
                          </p:cTn>
                        </p:par>
                        <p:par>
                          <p:cTn id="39" fill="hold">
                            <p:stCondLst>
                              <p:cond delay="1000"/>
                            </p:stCondLst>
                            <p:childTnLst>
                              <p:par>
                                <p:cTn id="40" presetID="12" presetClass="entr" presetSubtype="1" fill="hold" nodeType="after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slide(fromTop)">
                                      <p:cBhvr>
                                        <p:cTn id="42" dur="10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nodeType="clickEffect">
                                  <p:stCondLst>
                                    <p:cond delay="0"/>
                                  </p:stCondLst>
                                  <p:childTnLst>
                                    <p:set>
                                      <p:cBhvr>
                                        <p:cTn id="46" dur="1" fill="hold">
                                          <p:stCondLst>
                                            <p:cond delay="0"/>
                                          </p:stCondLst>
                                        </p:cTn>
                                        <p:tgtEl>
                                          <p:spTgt spid="52"/>
                                        </p:tgtEl>
                                        <p:attrNameLst>
                                          <p:attrName>style.visibility</p:attrName>
                                        </p:attrNameLst>
                                      </p:cBhvr>
                                      <p:to>
                                        <p:strVal val="visible"/>
                                      </p:to>
                                    </p:set>
                                    <p:animEffect transition="in" filter="slide(fromBottom)">
                                      <p:cBhvr>
                                        <p:cTn id="47" dur="500"/>
                                        <p:tgtEl>
                                          <p:spTgt spid="52"/>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1" fill="hold" nodeType="clickEffect">
                                  <p:stCondLst>
                                    <p:cond delay="0"/>
                                  </p:stCondLst>
                                  <p:childTnLst>
                                    <p:set>
                                      <p:cBhvr>
                                        <p:cTn id="51" dur="1" fill="hold">
                                          <p:stCondLst>
                                            <p:cond delay="0"/>
                                          </p:stCondLst>
                                        </p:cTn>
                                        <p:tgtEl>
                                          <p:spTgt spid="96"/>
                                        </p:tgtEl>
                                        <p:attrNameLst>
                                          <p:attrName>style.visibility</p:attrName>
                                        </p:attrNameLst>
                                      </p:cBhvr>
                                      <p:to>
                                        <p:strVal val="visible"/>
                                      </p:to>
                                    </p:set>
                                    <p:animEffect transition="in" filter="slide(fromTop)">
                                      <p:cBhvr>
                                        <p:cTn id="52" dur="1000"/>
                                        <p:tgtEl>
                                          <p:spTgt spid="96"/>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1" fill="hold" nodeType="clickEffect">
                                  <p:stCondLst>
                                    <p:cond delay="0"/>
                                  </p:stCondLst>
                                  <p:childTnLst>
                                    <p:set>
                                      <p:cBhvr>
                                        <p:cTn id="56" dur="1" fill="hold">
                                          <p:stCondLst>
                                            <p:cond delay="0"/>
                                          </p:stCondLst>
                                        </p:cTn>
                                        <p:tgtEl>
                                          <p:spTgt spid="97"/>
                                        </p:tgtEl>
                                        <p:attrNameLst>
                                          <p:attrName>style.visibility</p:attrName>
                                        </p:attrNameLst>
                                      </p:cBhvr>
                                      <p:to>
                                        <p:strVal val="visible"/>
                                      </p:to>
                                    </p:set>
                                    <p:animEffect transition="in" filter="slide(fromTop)">
                                      <p:cBhvr>
                                        <p:cTn id="57" dur="1000"/>
                                        <p:tgtEl>
                                          <p:spTgt spid="97"/>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4" fill="hold" nodeType="clickEffect">
                                  <p:stCondLst>
                                    <p:cond delay="0"/>
                                  </p:stCondLst>
                                  <p:childTnLst>
                                    <p:set>
                                      <p:cBhvr>
                                        <p:cTn id="61" dur="1" fill="hold">
                                          <p:stCondLst>
                                            <p:cond delay="0"/>
                                          </p:stCondLst>
                                        </p:cTn>
                                        <p:tgtEl>
                                          <p:spTgt spid="91"/>
                                        </p:tgtEl>
                                        <p:attrNameLst>
                                          <p:attrName>style.visibility</p:attrName>
                                        </p:attrNameLst>
                                      </p:cBhvr>
                                      <p:to>
                                        <p:strVal val="visible"/>
                                      </p:to>
                                    </p:set>
                                    <p:animEffect transition="in" filter="slide(fromBottom)">
                                      <p:cBhvr>
                                        <p:cTn id="62" dur="500"/>
                                        <p:tgtEl>
                                          <p:spTgt spid="9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61"/>
                                        </p:tgtEl>
                                        <p:attrNameLst>
                                          <p:attrName>style.visibility</p:attrName>
                                        </p:attrNameLst>
                                      </p:cBhvr>
                                      <p:to>
                                        <p:strVal val="visible"/>
                                      </p:to>
                                    </p:set>
                                    <p:animEffect transition="in" filter="wipe(up)">
                                      <p:cBhvr>
                                        <p:cTn id="67" dur="1000"/>
                                        <p:tgtEl>
                                          <p:spTgt spid="6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59"/>
                                        </p:tgtEl>
                                        <p:attrNameLst>
                                          <p:attrName>style.visibility</p:attrName>
                                        </p:attrNameLst>
                                      </p:cBhvr>
                                      <p:to>
                                        <p:strVal val="visible"/>
                                      </p:to>
                                    </p:set>
                                    <p:animEffect transition="in" filter="wipe(up)">
                                      <p:cBhvr>
                                        <p:cTn id="72" dur="1000"/>
                                        <p:tgtEl>
                                          <p:spTgt spid="59"/>
                                        </p:tgtEl>
                                      </p:cBhvr>
                                    </p:animEffect>
                                  </p:childTnLst>
                                </p:cTn>
                              </p:par>
                            </p:childTnLst>
                          </p:cTn>
                        </p:par>
                        <p:par>
                          <p:cTn id="73" fill="hold">
                            <p:stCondLst>
                              <p:cond delay="1000"/>
                            </p:stCondLst>
                            <p:childTnLst>
                              <p:par>
                                <p:cTn id="74" presetID="12" presetClass="entr" presetSubtype="4" fill="hold" nodeType="afterEffect">
                                  <p:stCondLst>
                                    <p:cond delay="0"/>
                                  </p:stCondLst>
                                  <p:childTnLst>
                                    <p:set>
                                      <p:cBhvr>
                                        <p:cTn id="75" dur="1" fill="hold">
                                          <p:stCondLst>
                                            <p:cond delay="0"/>
                                          </p:stCondLst>
                                        </p:cTn>
                                        <p:tgtEl>
                                          <p:spTgt spid="72"/>
                                        </p:tgtEl>
                                        <p:attrNameLst>
                                          <p:attrName>style.visibility</p:attrName>
                                        </p:attrNameLst>
                                      </p:cBhvr>
                                      <p:to>
                                        <p:strVal val="visible"/>
                                      </p:to>
                                    </p:set>
                                    <p:animEffect transition="in" filter="slide(fromBottom)">
                                      <p:cBhvr>
                                        <p:cTn id="76" dur="1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61" grpId="0" animBg="1"/>
      <p:bldP spid="59" grpId="0" animBg="1"/>
      <p:bldP spid="62"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81"/>
          <p:cNvGrpSpPr/>
          <p:nvPr/>
        </p:nvGrpSpPr>
        <p:grpSpPr>
          <a:xfrm>
            <a:off x="400513" y="1331276"/>
            <a:ext cx="4465956" cy="374630"/>
            <a:chOff x="369777" y="1347760"/>
            <a:chExt cx="4465956" cy="374630"/>
          </a:xfrm>
        </p:grpSpPr>
        <p:sp>
          <p:nvSpPr>
            <p:cNvPr id="6" name="TextBox 5"/>
            <p:cNvSpPr txBox="1"/>
            <p:nvPr/>
          </p:nvSpPr>
          <p:spPr>
            <a:xfrm>
              <a:off x="723710" y="1350409"/>
              <a:ext cx="4112023" cy="369332"/>
            </a:xfrm>
            <a:prstGeom prst="rect">
              <a:avLst/>
            </a:prstGeom>
            <a:noFill/>
          </p:spPr>
          <p:txBody>
            <a:bodyPr wrap="none" rtlCol="0">
              <a:spAutoFit/>
            </a:bodyPr>
            <a:lstStyle/>
            <a:p>
              <a:pPr lvl="0"/>
              <a:r>
                <a:rPr lang="zh-CN" altLang="en-US" b="1" dirty="0">
                  <a:solidFill>
                    <a:srgbClr val="CC00CC"/>
                  </a:solidFill>
                  <a:latin typeface="黑体" panose="02010609060101010101" pitchFamily="49" charset="-122"/>
                  <a:ea typeface="黑体" panose="02010609060101010101" pitchFamily="49" charset="-122"/>
                </a:rPr>
                <a:t>例：</a:t>
              </a:r>
              <a:r>
                <a:rPr lang="zh-CN" altLang="en-US" b="1" dirty="0">
                  <a:solidFill>
                    <a:srgbClr val="6600FF"/>
                  </a:solidFill>
                  <a:latin typeface="黑体" panose="02010609060101010101" pitchFamily="49" charset="-122"/>
                  <a:ea typeface="黑体" panose="02010609060101010101" pitchFamily="49" charset="-122"/>
                </a:rPr>
                <a:t>分析图示时序电路，求电路的模。</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7" name="Picture 4"/>
            <p:cNvPicPr>
              <a:picLocks noChangeAspect="1" noChangeArrowheads="1"/>
            </p:cNvPicPr>
            <p:nvPr/>
          </p:nvPicPr>
          <p:blipFill>
            <a:blip r:embed="rId1"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8" name="组合 24"/>
          <p:cNvGrpSpPr/>
          <p:nvPr/>
        </p:nvGrpSpPr>
        <p:grpSpPr>
          <a:xfrm>
            <a:off x="2424094" y="2203114"/>
            <a:ext cx="4297680" cy="922020"/>
            <a:chOff x="1905000" y="2308860"/>
            <a:chExt cx="4297680" cy="922020"/>
          </a:xfrm>
        </p:grpSpPr>
        <p:sp>
          <p:nvSpPr>
            <p:cNvPr id="26" name="圆角矩形 25"/>
            <p:cNvSpPr/>
            <p:nvPr/>
          </p:nvSpPr>
          <p:spPr>
            <a:xfrm>
              <a:off x="1905000" y="2308860"/>
              <a:ext cx="1897380" cy="922020"/>
            </a:xfrm>
            <a:prstGeom prst="roundRect">
              <a:avLst>
                <a:gd name="adj" fmla="val 0"/>
              </a:avLst>
            </a:prstGeom>
            <a:solidFill>
              <a:srgbClr val="FFFF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nvSpPr>
          <p:spPr>
            <a:xfrm>
              <a:off x="4305300" y="2316480"/>
              <a:ext cx="1897380" cy="891540"/>
            </a:xfrm>
            <a:prstGeom prst="roundRect">
              <a:avLst>
                <a:gd name="adj" fmla="val 0"/>
              </a:avLst>
            </a:prstGeom>
            <a:solidFill>
              <a:srgbClr val="FFFF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9"/>
          <p:cNvGrpSpPr/>
          <p:nvPr/>
        </p:nvGrpSpPr>
        <p:grpSpPr>
          <a:xfrm>
            <a:off x="2014537" y="2880973"/>
            <a:ext cx="2809854" cy="835432"/>
            <a:chOff x="2938462" y="2233611"/>
            <a:chExt cx="2809854" cy="504000"/>
          </a:xfrm>
        </p:grpSpPr>
        <p:cxnSp>
          <p:nvCxnSpPr>
            <p:cNvPr id="44" name="直接连接符 43"/>
            <p:cNvCxnSpPr/>
            <p:nvPr/>
          </p:nvCxnSpPr>
          <p:spPr>
            <a:xfrm>
              <a:off x="2938462" y="2733675"/>
              <a:ext cx="2628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rot="5400000" flipH="1" flipV="1">
              <a:off x="5343705" y="2492568"/>
              <a:ext cx="477799"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5568316" y="2248083"/>
              <a:ext cx="180000" cy="8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3162300" y="2247075"/>
              <a:ext cx="180000" cy="8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rot="5400000" flipH="1" flipV="1">
              <a:off x="2919825" y="2485610"/>
              <a:ext cx="504000"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9" name="组合 18"/>
          <p:cNvGrpSpPr/>
          <p:nvPr/>
        </p:nvGrpSpPr>
        <p:grpSpPr>
          <a:xfrm>
            <a:off x="4325304" y="2418419"/>
            <a:ext cx="506512" cy="252000"/>
            <a:chOff x="3801429" y="2516867"/>
            <a:chExt cx="506512" cy="252000"/>
          </a:xfrm>
        </p:grpSpPr>
        <p:cxnSp>
          <p:nvCxnSpPr>
            <p:cNvPr id="50" name="直接连接符 49"/>
            <p:cNvCxnSpPr/>
            <p:nvPr/>
          </p:nvCxnSpPr>
          <p:spPr>
            <a:xfrm rot="5400000" flipH="1" flipV="1">
              <a:off x="3980231" y="2642866"/>
              <a:ext cx="252000"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3801429" y="2521781"/>
              <a:ext cx="504000" cy="68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4091941" y="2750382"/>
              <a:ext cx="216000" cy="68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3" name="组合 52"/>
          <p:cNvGrpSpPr/>
          <p:nvPr/>
        </p:nvGrpSpPr>
        <p:grpSpPr>
          <a:xfrm>
            <a:off x="3914775" y="1844652"/>
            <a:ext cx="2781300" cy="571500"/>
            <a:chOff x="3914775" y="1844652"/>
            <a:chExt cx="2781300" cy="571500"/>
          </a:xfrm>
        </p:grpSpPr>
        <p:sp>
          <p:nvSpPr>
            <p:cNvPr id="54" name="圆角矩形 53"/>
            <p:cNvSpPr/>
            <p:nvPr/>
          </p:nvSpPr>
          <p:spPr>
            <a:xfrm>
              <a:off x="3914775" y="1859892"/>
              <a:ext cx="259080" cy="556260"/>
            </a:xfrm>
            <a:prstGeom prst="roundRect">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a:off x="6436995" y="1844652"/>
              <a:ext cx="259080" cy="556260"/>
            </a:xfrm>
            <a:prstGeom prst="roundRect">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圆角矩形 55"/>
          <p:cNvSpPr/>
          <p:nvPr/>
        </p:nvSpPr>
        <p:spPr>
          <a:xfrm>
            <a:off x="6475095" y="3147672"/>
            <a:ext cx="426720" cy="556260"/>
          </a:xfrm>
          <a:prstGeom prst="roundRect">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组合 56"/>
          <p:cNvGrpSpPr/>
          <p:nvPr/>
        </p:nvGrpSpPr>
        <p:grpSpPr>
          <a:xfrm>
            <a:off x="2752725" y="2843212"/>
            <a:ext cx="3686181" cy="219074"/>
            <a:chOff x="2752725" y="2843212"/>
            <a:chExt cx="3686181" cy="219074"/>
          </a:xfrm>
        </p:grpSpPr>
        <p:sp>
          <p:nvSpPr>
            <p:cNvPr id="58" name="圆角矩形 57"/>
            <p:cNvSpPr/>
            <p:nvPr/>
          </p:nvSpPr>
          <p:spPr>
            <a:xfrm>
              <a:off x="5210174" y="2843212"/>
              <a:ext cx="1228732" cy="209549"/>
            </a:xfrm>
            <a:prstGeom prst="roundRect">
              <a:avLst>
                <a:gd name="adj" fmla="val 5209"/>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4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5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6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7</a:t>
              </a:r>
              <a:endParaRPr lang="en-US" altLang="zh-CN" sz="1400" baseline="-25000" dirty="0">
                <a:latin typeface="Times New Roman" panose="02020603050405020304" pitchFamily="18" charset="0"/>
                <a:cs typeface="Times New Roman" panose="02020603050405020304" pitchFamily="18" charset="0"/>
              </a:endParaRPr>
            </a:p>
          </p:txBody>
        </p:sp>
        <p:sp>
          <p:nvSpPr>
            <p:cNvPr id="59" name="圆角矩形 58"/>
            <p:cNvSpPr/>
            <p:nvPr/>
          </p:nvSpPr>
          <p:spPr>
            <a:xfrm>
              <a:off x="2752725" y="2852737"/>
              <a:ext cx="1228732" cy="209549"/>
            </a:xfrm>
            <a:prstGeom prst="roundRect">
              <a:avLst>
                <a:gd name="adj" fmla="val 5209"/>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0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1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2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3</a:t>
              </a:r>
              <a:endParaRPr lang="en-US" altLang="zh-CN" sz="1400" baseline="-25000" dirty="0">
                <a:latin typeface="Times New Roman" panose="02020603050405020304" pitchFamily="18" charset="0"/>
                <a:cs typeface="Times New Roman" panose="02020603050405020304" pitchFamily="18" charset="0"/>
              </a:endParaRPr>
            </a:p>
          </p:txBody>
        </p:sp>
      </p:grpSp>
      <p:grpSp>
        <p:nvGrpSpPr>
          <p:cNvPr id="67" name="组合 66"/>
          <p:cNvGrpSpPr/>
          <p:nvPr/>
        </p:nvGrpSpPr>
        <p:grpSpPr>
          <a:xfrm>
            <a:off x="305503" y="4077995"/>
            <a:ext cx="7709445" cy="778700"/>
            <a:chOff x="305503" y="4077995"/>
            <a:chExt cx="7709445" cy="778700"/>
          </a:xfrm>
        </p:grpSpPr>
        <p:grpSp>
          <p:nvGrpSpPr>
            <p:cNvPr id="68" name="组合 54"/>
            <p:cNvGrpSpPr/>
            <p:nvPr/>
          </p:nvGrpSpPr>
          <p:grpSpPr>
            <a:xfrm>
              <a:off x="305503" y="4077995"/>
              <a:ext cx="2216289" cy="323850"/>
              <a:chOff x="457201" y="4090988"/>
              <a:chExt cx="2216289" cy="323850"/>
            </a:xfrm>
          </p:grpSpPr>
          <p:cxnSp>
            <p:nvCxnSpPr>
              <p:cNvPr id="88" name="直接箭头连接符 87"/>
              <p:cNvCxnSpPr/>
              <p:nvPr/>
            </p:nvCxnSpPr>
            <p:spPr>
              <a:xfrm flipV="1">
                <a:off x="2234840" y="4259765"/>
                <a:ext cx="438650" cy="0"/>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89" name="圆角矩形 88"/>
              <p:cNvSpPr/>
              <p:nvPr/>
            </p:nvSpPr>
            <p:spPr>
              <a:xfrm>
                <a:off x="457201" y="4090988"/>
                <a:ext cx="1776414" cy="323850"/>
              </a:xfrm>
              <a:prstGeom prst="roundRect">
                <a:avLst>
                  <a:gd name="adj" fmla="val 40204"/>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7</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6</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5</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4</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3</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2</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1</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0</a:t>
                </a:r>
                <a:endParaRPr lang="zh-CN" altLang="en-US" sz="1400" b="1" dirty="0">
                  <a:solidFill>
                    <a:srgbClr val="7030A0"/>
                  </a:solidFill>
                </a:endParaRPr>
              </a:p>
            </p:txBody>
          </p:sp>
        </p:grpSp>
        <p:grpSp>
          <p:nvGrpSpPr>
            <p:cNvPr id="69" name="组合 89"/>
            <p:cNvGrpSpPr/>
            <p:nvPr/>
          </p:nvGrpSpPr>
          <p:grpSpPr>
            <a:xfrm>
              <a:off x="2814740" y="4082443"/>
              <a:ext cx="5200208" cy="774252"/>
              <a:chOff x="2844236" y="4006594"/>
              <a:chExt cx="5200208" cy="774252"/>
            </a:xfrm>
          </p:grpSpPr>
          <p:grpSp>
            <p:nvGrpSpPr>
              <p:cNvPr id="70" name="组合 86"/>
              <p:cNvGrpSpPr/>
              <p:nvPr/>
            </p:nvGrpSpPr>
            <p:grpSpPr>
              <a:xfrm>
                <a:off x="2844236" y="4006594"/>
                <a:ext cx="5200208" cy="774252"/>
                <a:chOff x="2859476" y="4002784"/>
                <a:chExt cx="5200208" cy="774252"/>
              </a:xfrm>
            </p:grpSpPr>
            <p:grpSp>
              <p:nvGrpSpPr>
                <p:cNvPr id="72" name="组合 59"/>
                <p:cNvGrpSpPr/>
                <p:nvPr/>
              </p:nvGrpSpPr>
              <p:grpSpPr>
                <a:xfrm>
                  <a:off x="2859476" y="4002784"/>
                  <a:ext cx="1269553" cy="323850"/>
                  <a:chOff x="3057526" y="4038600"/>
                  <a:chExt cx="1269553" cy="323850"/>
                </a:xfrm>
              </p:grpSpPr>
              <p:sp>
                <p:nvSpPr>
                  <p:cNvPr id="86" name="圆角矩形 85"/>
                  <p:cNvSpPr/>
                  <p:nvPr/>
                </p:nvSpPr>
                <p:spPr>
                  <a:xfrm>
                    <a:off x="3057526" y="4038600"/>
                    <a:ext cx="900000" cy="323850"/>
                  </a:xfrm>
                  <a:prstGeom prst="round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dirty="0">
                        <a:solidFill>
                          <a:srgbClr val="7030A0"/>
                        </a:solidFill>
                        <a:latin typeface="Times New Roman" panose="02020603050405020304" pitchFamily="18" charset="0"/>
                        <a:cs typeface="Times New Roman" panose="02020603050405020304" pitchFamily="18" charset="0"/>
                      </a:rPr>
                      <a:t>0000 0000</a:t>
                    </a:r>
                    <a:endParaRPr lang="zh-CN" altLang="en-US" sz="1400" b="1" dirty="0">
                      <a:solidFill>
                        <a:srgbClr val="7030A0"/>
                      </a:solidFill>
                    </a:endParaRPr>
                  </a:p>
                </p:txBody>
              </p:sp>
              <p:cxnSp>
                <p:nvCxnSpPr>
                  <p:cNvPr id="87" name="直接箭头连接符 86"/>
                  <p:cNvCxnSpPr/>
                  <p:nvPr/>
                </p:nvCxnSpPr>
                <p:spPr>
                  <a:xfrm flipV="1">
                    <a:off x="3967079" y="4200525"/>
                    <a:ext cx="360000" cy="0"/>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nvGrpSpPr>
                <p:cNvPr id="73" name="组合 65"/>
                <p:cNvGrpSpPr/>
                <p:nvPr/>
              </p:nvGrpSpPr>
              <p:grpSpPr>
                <a:xfrm>
                  <a:off x="4145394" y="4002784"/>
                  <a:ext cx="1701553" cy="323850"/>
                  <a:chOff x="3057526" y="4038600"/>
                  <a:chExt cx="1701553" cy="323850"/>
                </a:xfrm>
              </p:grpSpPr>
              <p:sp>
                <p:nvSpPr>
                  <p:cNvPr id="84" name="圆角矩形 83"/>
                  <p:cNvSpPr/>
                  <p:nvPr/>
                </p:nvSpPr>
                <p:spPr>
                  <a:xfrm>
                    <a:off x="3057526" y="4038600"/>
                    <a:ext cx="900000" cy="323850"/>
                  </a:xfrm>
                  <a:prstGeom prst="round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dirty="0">
                        <a:solidFill>
                          <a:srgbClr val="7030A0"/>
                        </a:solidFill>
                        <a:latin typeface="Times New Roman" panose="02020603050405020304" pitchFamily="18" charset="0"/>
                        <a:cs typeface="Times New Roman" panose="02020603050405020304" pitchFamily="18" charset="0"/>
                      </a:rPr>
                      <a:t>0000 0001</a:t>
                    </a:r>
                    <a:endParaRPr lang="zh-CN" altLang="en-US" sz="1400" b="1" dirty="0">
                      <a:solidFill>
                        <a:srgbClr val="7030A0"/>
                      </a:solidFill>
                    </a:endParaRPr>
                  </a:p>
                </p:txBody>
              </p:sp>
              <p:cxnSp>
                <p:nvCxnSpPr>
                  <p:cNvPr id="85" name="直接箭头连接符 84"/>
                  <p:cNvCxnSpPr/>
                  <p:nvPr/>
                </p:nvCxnSpPr>
                <p:spPr>
                  <a:xfrm flipV="1">
                    <a:off x="3967079" y="4200525"/>
                    <a:ext cx="792000" cy="0"/>
                  </a:xfrm>
                  <a:prstGeom prst="straightConnector1">
                    <a:avLst/>
                  </a:prstGeom>
                  <a:ln w="19050">
                    <a:solidFill>
                      <a:schemeClr val="tx1"/>
                    </a:solidFill>
                    <a:prstDash val="lgDash"/>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nvGrpSpPr>
                <p:cNvPr id="74" name="组合 68"/>
                <p:cNvGrpSpPr/>
                <p:nvPr/>
              </p:nvGrpSpPr>
              <p:grpSpPr>
                <a:xfrm>
                  <a:off x="5886406" y="4002784"/>
                  <a:ext cx="1269553" cy="323850"/>
                  <a:chOff x="3057526" y="4038600"/>
                  <a:chExt cx="1269553" cy="323850"/>
                </a:xfrm>
              </p:grpSpPr>
              <p:sp>
                <p:nvSpPr>
                  <p:cNvPr id="82" name="圆角矩形 81"/>
                  <p:cNvSpPr/>
                  <p:nvPr/>
                </p:nvSpPr>
                <p:spPr>
                  <a:xfrm>
                    <a:off x="3057526" y="4038600"/>
                    <a:ext cx="900000" cy="323850"/>
                  </a:xfrm>
                  <a:prstGeom prst="round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dirty="0">
                        <a:solidFill>
                          <a:srgbClr val="7030A0"/>
                        </a:solidFill>
                        <a:latin typeface="Times New Roman" panose="02020603050405020304" pitchFamily="18" charset="0"/>
                        <a:cs typeface="Times New Roman" panose="02020603050405020304" pitchFamily="18" charset="0"/>
                      </a:rPr>
                      <a:t>0110 0011</a:t>
                    </a:r>
                    <a:endParaRPr lang="zh-CN" altLang="en-US" sz="1400" b="1" dirty="0">
                      <a:solidFill>
                        <a:srgbClr val="7030A0"/>
                      </a:solidFill>
                    </a:endParaRPr>
                  </a:p>
                </p:txBody>
              </p:sp>
              <p:cxnSp>
                <p:nvCxnSpPr>
                  <p:cNvPr id="83" name="直接箭头连接符 82"/>
                  <p:cNvCxnSpPr/>
                  <p:nvPr/>
                </p:nvCxnSpPr>
                <p:spPr>
                  <a:xfrm flipV="1">
                    <a:off x="3967079" y="4200525"/>
                    <a:ext cx="360000" cy="0"/>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sp>
              <p:nvSpPr>
                <p:cNvPr id="75" name="圆角矩形 74"/>
                <p:cNvSpPr/>
                <p:nvPr/>
              </p:nvSpPr>
              <p:spPr>
                <a:xfrm>
                  <a:off x="7159684" y="4002784"/>
                  <a:ext cx="900000" cy="323850"/>
                </a:xfrm>
                <a:prstGeom prst="roundRect">
                  <a:avLst/>
                </a:prstGeom>
                <a:solidFill>
                  <a:schemeClr val="bg1"/>
                </a:solidFill>
                <a:ln w="19050">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dirty="0">
                      <a:solidFill>
                        <a:srgbClr val="7030A0"/>
                      </a:solidFill>
                      <a:latin typeface="Times New Roman" panose="02020603050405020304" pitchFamily="18" charset="0"/>
                      <a:cs typeface="Times New Roman" panose="02020603050405020304" pitchFamily="18" charset="0"/>
                    </a:rPr>
                    <a:t>0</a:t>
                  </a:r>
                  <a:r>
                    <a:rPr lang="en-US" altLang="zh-CN" sz="1400" b="1" dirty="0">
                      <a:solidFill>
                        <a:srgbClr val="FF0000"/>
                      </a:solidFill>
                      <a:latin typeface="Times New Roman" panose="02020603050405020304" pitchFamily="18" charset="0"/>
                      <a:cs typeface="Times New Roman" panose="02020603050405020304" pitchFamily="18" charset="0"/>
                    </a:rPr>
                    <a:t>11</a:t>
                  </a:r>
                  <a:r>
                    <a:rPr lang="en-US" altLang="zh-CN" sz="1400" b="1" dirty="0">
                      <a:solidFill>
                        <a:srgbClr val="7030A0"/>
                      </a:solidFill>
                      <a:latin typeface="Times New Roman" panose="02020603050405020304" pitchFamily="18" charset="0"/>
                      <a:cs typeface="Times New Roman" panose="02020603050405020304" pitchFamily="18" charset="0"/>
                    </a:rPr>
                    <a:t>0 0</a:t>
                  </a:r>
                  <a:r>
                    <a:rPr lang="en-US" altLang="zh-CN" sz="1400" b="1" dirty="0">
                      <a:solidFill>
                        <a:srgbClr val="FF0000"/>
                      </a:solidFill>
                      <a:latin typeface="Times New Roman" panose="02020603050405020304" pitchFamily="18" charset="0"/>
                      <a:cs typeface="Times New Roman" panose="02020603050405020304" pitchFamily="18" charset="0"/>
                    </a:rPr>
                    <a:t>1</a:t>
                  </a:r>
                  <a:r>
                    <a:rPr lang="en-US" altLang="zh-CN" sz="1400" b="1" dirty="0">
                      <a:solidFill>
                        <a:srgbClr val="7030A0"/>
                      </a:solidFill>
                      <a:latin typeface="Times New Roman" panose="02020603050405020304" pitchFamily="18" charset="0"/>
                      <a:cs typeface="Times New Roman" panose="02020603050405020304" pitchFamily="18" charset="0"/>
                    </a:rPr>
                    <a:t>00</a:t>
                  </a:r>
                  <a:endParaRPr lang="zh-CN" altLang="en-US" sz="1400" b="1" dirty="0">
                    <a:solidFill>
                      <a:srgbClr val="7030A0"/>
                    </a:solidFill>
                  </a:endParaRPr>
                </a:p>
              </p:txBody>
            </p:sp>
            <p:grpSp>
              <p:nvGrpSpPr>
                <p:cNvPr id="76" name="组合 82"/>
                <p:cNvGrpSpPr/>
                <p:nvPr/>
              </p:nvGrpSpPr>
              <p:grpSpPr>
                <a:xfrm>
                  <a:off x="3309476" y="4329810"/>
                  <a:ext cx="4300208" cy="447226"/>
                  <a:chOff x="3309476" y="4329810"/>
                  <a:chExt cx="4300208" cy="447226"/>
                </a:xfrm>
              </p:grpSpPr>
              <p:cxnSp>
                <p:nvCxnSpPr>
                  <p:cNvPr id="80" name="肘形连接符 75"/>
                  <p:cNvCxnSpPr/>
                  <p:nvPr/>
                </p:nvCxnSpPr>
                <p:spPr>
                  <a:xfrm rot="5400000">
                    <a:off x="5319230" y="2482772"/>
                    <a:ext cx="443416" cy="4137492"/>
                  </a:xfrm>
                  <a:prstGeom prst="bentConnector2">
                    <a:avLst/>
                  </a:prstGeom>
                  <a:ln w="19050">
                    <a:solidFill>
                      <a:srgbClr val="FF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肘形连接符 80"/>
                  <p:cNvCxnSpPr/>
                  <p:nvPr/>
                </p:nvCxnSpPr>
                <p:spPr>
                  <a:xfrm rot="16200000" flipV="1">
                    <a:off x="3171233" y="4471863"/>
                    <a:ext cx="443416" cy="166930"/>
                  </a:xfrm>
                  <a:prstGeom prst="bentConnector3">
                    <a:avLst>
                      <a:gd name="adj1" fmla="val 584"/>
                    </a:avLst>
                  </a:prstGeom>
                  <a:ln w="19050">
                    <a:solidFill>
                      <a:srgbClr val="FF00FF"/>
                    </a:solidFill>
                    <a:tailEnd type="arrow"/>
                  </a:ln>
                </p:spPr>
                <p:style>
                  <a:lnRef idx="1">
                    <a:schemeClr val="accent1"/>
                  </a:lnRef>
                  <a:fillRef idx="0">
                    <a:schemeClr val="accent1"/>
                  </a:fillRef>
                  <a:effectRef idx="0">
                    <a:schemeClr val="accent1"/>
                  </a:effectRef>
                  <a:fontRef idx="minor">
                    <a:schemeClr val="tx1"/>
                  </a:fontRef>
                </p:style>
              </p:cxnSp>
            </p:grpSp>
          </p:grpSp>
          <p:sp>
            <p:nvSpPr>
              <p:cNvPr id="71" name="任意多边形 70"/>
              <p:cNvSpPr/>
              <p:nvPr/>
            </p:nvSpPr>
            <p:spPr>
              <a:xfrm>
                <a:off x="3541395" y="4446270"/>
                <a:ext cx="3862295" cy="257175"/>
              </a:xfrm>
              <a:custGeom>
                <a:avLst/>
                <a:gdLst>
                  <a:gd name="connsiteX0" fmla="*/ 375285 w 2813050"/>
                  <a:gd name="connsiteY0" fmla="*/ 0 h 257175"/>
                  <a:gd name="connsiteX1" fmla="*/ 2078355 w 2813050"/>
                  <a:gd name="connsiteY1" fmla="*/ 3810 h 257175"/>
                  <a:gd name="connsiteX2" fmla="*/ 2665095 w 2813050"/>
                  <a:gd name="connsiteY2" fmla="*/ 102870 h 257175"/>
                  <a:gd name="connsiteX3" fmla="*/ 2436495 w 2813050"/>
                  <a:gd name="connsiteY3" fmla="*/ 224790 h 257175"/>
                  <a:gd name="connsiteX4" fmla="*/ 405765 w 2813050"/>
                  <a:gd name="connsiteY4" fmla="*/ 228600 h 257175"/>
                  <a:gd name="connsiteX5" fmla="*/ 1905 w 2813050"/>
                  <a:gd name="connsiteY5" fmla="*/ 53340 h 25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3050" h="257175">
                    <a:moveTo>
                      <a:pt x="375285" y="0"/>
                    </a:moveTo>
                    <a:lnTo>
                      <a:pt x="2078355" y="3810"/>
                    </a:lnTo>
                    <a:cubicBezTo>
                      <a:pt x="2459990" y="20955"/>
                      <a:pt x="2605405" y="66040"/>
                      <a:pt x="2665095" y="102870"/>
                    </a:cubicBezTo>
                    <a:cubicBezTo>
                      <a:pt x="2724785" y="139700"/>
                      <a:pt x="2813050" y="203835"/>
                      <a:pt x="2436495" y="224790"/>
                    </a:cubicBezTo>
                    <a:cubicBezTo>
                      <a:pt x="2059940" y="245745"/>
                      <a:pt x="811530" y="257175"/>
                      <a:pt x="405765" y="228600"/>
                    </a:cubicBezTo>
                    <a:cubicBezTo>
                      <a:pt x="0" y="200025"/>
                      <a:pt x="952" y="126682"/>
                      <a:pt x="1905" y="53340"/>
                    </a:cubicBezTo>
                  </a:path>
                </a:pathLst>
              </a:custGeom>
              <a:ln w="28575">
                <a:solidFill>
                  <a:srgbClr val="FF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400"/>
              </a:p>
            </p:txBody>
          </p:sp>
        </p:grpSp>
      </p:grpSp>
      <p:sp>
        <p:nvSpPr>
          <p:cNvPr id="65" name="圆角矩形标注 64"/>
          <p:cNvSpPr/>
          <p:nvPr/>
        </p:nvSpPr>
        <p:spPr>
          <a:xfrm>
            <a:off x="7525544" y="3497178"/>
            <a:ext cx="962524" cy="439255"/>
          </a:xfrm>
          <a:prstGeom prst="wedgeRoundRectCallout">
            <a:avLst>
              <a:gd name="adj1" fmla="val -49898"/>
              <a:gd name="adj2" fmla="val 70443"/>
              <a:gd name="adj3" fmla="val 16667"/>
            </a:avLst>
          </a:prstGeom>
          <a:solidFill>
            <a:srgbClr val="66FF66"/>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0000FF"/>
                </a:solidFill>
                <a:latin typeface="微软雅黑" panose="020B0503020204020204" pitchFamily="34" charset="-122"/>
                <a:ea typeface="微软雅黑" panose="020B0503020204020204" pitchFamily="34" charset="-122"/>
              </a:rPr>
              <a:t>M=?</a:t>
            </a:r>
            <a:endParaRPr lang="zh-CN" altLang="en-US" sz="1600" dirty="0">
              <a:solidFill>
                <a:srgbClr val="0000FF"/>
              </a:solidFill>
              <a:latin typeface="微软雅黑" panose="020B0503020204020204" pitchFamily="34" charset="-122"/>
              <a:ea typeface="微软雅黑" panose="020B0503020204020204" pitchFamily="34" charset="-122"/>
            </a:endParaRPr>
          </a:p>
        </p:txBody>
      </p:sp>
      <p:sp>
        <p:nvSpPr>
          <p:cNvPr id="64" name="圆角矩形标注 63"/>
          <p:cNvSpPr/>
          <p:nvPr/>
        </p:nvSpPr>
        <p:spPr>
          <a:xfrm>
            <a:off x="7470761" y="3337774"/>
            <a:ext cx="1475872" cy="603688"/>
          </a:xfrm>
          <a:prstGeom prst="wedgeRoundRectCallout">
            <a:avLst>
              <a:gd name="adj1" fmla="val -49898"/>
              <a:gd name="adj2" fmla="val 70443"/>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0000FF"/>
                </a:solidFill>
                <a:latin typeface="微软雅黑" panose="020B0503020204020204" pitchFamily="34" charset="-122"/>
                <a:ea typeface="微软雅黑" panose="020B0503020204020204" pitchFamily="34" charset="-122"/>
              </a:rPr>
              <a:t>M=100-0+1</a:t>
            </a:r>
            <a:endParaRPr lang="en-US" altLang="zh-CN" sz="1600" dirty="0">
              <a:solidFill>
                <a:srgbClr val="0000FF"/>
              </a:solidFill>
              <a:latin typeface="微软雅黑" panose="020B0503020204020204" pitchFamily="34" charset="-122"/>
              <a:ea typeface="微软雅黑" panose="020B0503020204020204" pitchFamily="34" charset="-122"/>
            </a:endParaRPr>
          </a:p>
          <a:p>
            <a:r>
              <a:rPr lang="en-US" altLang="zh-CN" sz="1600" dirty="0">
                <a:solidFill>
                  <a:srgbClr val="0000FF"/>
                </a:solidFill>
                <a:latin typeface="微软雅黑" panose="020B0503020204020204" pitchFamily="34" charset="-122"/>
                <a:ea typeface="微软雅黑" panose="020B0503020204020204" pitchFamily="34" charset="-122"/>
              </a:rPr>
              <a:t>      =101</a:t>
            </a:r>
            <a:endParaRPr lang="zh-CN" altLang="en-US" sz="1600" dirty="0">
              <a:solidFill>
                <a:srgbClr val="0000FF"/>
              </a:solidFill>
              <a:latin typeface="微软雅黑" panose="020B0503020204020204" pitchFamily="34" charset="-122"/>
              <a:ea typeface="微软雅黑" panose="020B0503020204020204" pitchFamily="34" charset="-122"/>
            </a:endParaRPr>
          </a:p>
        </p:txBody>
      </p:sp>
      <p:grpSp>
        <p:nvGrpSpPr>
          <p:cNvPr id="79" name="组合 78"/>
          <p:cNvGrpSpPr/>
          <p:nvPr/>
        </p:nvGrpSpPr>
        <p:grpSpPr>
          <a:xfrm>
            <a:off x="1824586" y="1711325"/>
            <a:ext cx="5536652" cy="2308225"/>
            <a:chOff x="1824586" y="1711325"/>
            <a:chExt cx="5536652" cy="2308225"/>
          </a:xfrm>
        </p:grpSpPr>
        <p:graphicFrame>
          <p:nvGraphicFramePr>
            <p:cNvPr id="10" name="Object 1"/>
            <p:cNvGraphicFramePr>
              <a:graphicFrameLocks noChangeAspect="1"/>
            </p:cNvGraphicFramePr>
            <p:nvPr/>
          </p:nvGraphicFramePr>
          <p:xfrm>
            <a:off x="1882775" y="1711325"/>
            <a:ext cx="5478463" cy="2308225"/>
          </p:xfrm>
          <a:graphic>
            <a:graphicData uri="http://schemas.openxmlformats.org/presentationml/2006/ole">
              <mc:AlternateContent xmlns:mc="http://schemas.openxmlformats.org/markup-compatibility/2006">
                <mc:Choice xmlns:v="urn:schemas-microsoft-com:vml" Requires="v">
                  <p:oleObj spid="_x0000_s49156" name="Visio" r:id="rId2" imgW="2120900" imgH="921385" progId="Visio.Drawing.11">
                    <p:embed/>
                  </p:oleObj>
                </mc:Choice>
                <mc:Fallback>
                  <p:oleObj name="Visio" r:id="rId2" imgW="2120900" imgH="92138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2775" y="1711325"/>
                          <a:ext cx="5478463" cy="2308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 name="剪去对角的矩形 77"/>
            <p:cNvSpPr/>
            <p:nvPr/>
          </p:nvSpPr>
          <p:spPr>
            <a:xfrm>
              <a:off x="1824586" y="1740310"/>
              <a:ext cx="5414765" cy="2199615"/>
            </a:xfrm>
            <a:prstGeom prst="snip2DiagRect">
              <a:avLst>
                <a:gd name="adj1" fmla="val 11220"/>
                <a:gd name="adj2" fmla="val 0"/>
              </a:avLst>
            </a:prstGeom>
            <a:no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34"/>
          <p:cNvGrpSpPr/>
          <p:nvPr/>
        </p:nvGrpSpPr>
        <p:grpSpPr>
          <a:xfrm>
            <a:off x="392432" y="735720"/>
            <a:ext cx="6649115" cy="420971"/>
            <a:chOff x="670560" y="892917"/>
            <a:chExt cx="6649115" cy="420971"/>
          </a:xfrm>
        </p:grpSpPr>
        <p:sp>
          <p:nvSpPr>
            <p:cNvPr id="61" name="矩形 60"/>
            <p:cNvSpPr/>
            <p:nvPr/>
          </p:nvSpPr>
          <p:spPr>
            <a:xfrm>
              <a:off x="1035231" y="913778"/>
              <a:ext cx="6284444" cy="400110"/>
            </a:xfrm>
            <a:prstGeom prst="rect">
              <a:avLst/>
            </a:prstGeom>
          </p:spPr>
          <p:txBody>
            <a:bodyPr wrap="square">
              <a:spAutoFit/>
            </a:bodyPr>
            <a:lstStyle/>
            <a:p>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集成计数器的应用</a:t>
              </a:r>
              <a:r>
                <a:rPr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构成任意进制计数器</a:t>
              </a:r>
              <a:r>
                <a:rPr lang="en-US" altLang="zh-CN" sz="20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(M&lt;N)</a:t>
              </a:r>
              <a:endPar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2"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79"/>
                                        </p:tgtEl>
                                        <p:attrNameLst>
                                          <p:attrName>style.visibility</p:attrName>
                                        </p:attrNameLst>
                                      </p:cBhvr>
                                      <p:to>
                                        <p:strVal val="visible"/>
                                      </p:to>
                                    </p:set>
                                    <p:anim calcmode="lin" valueType="num">
                                      <p:cBhvr>
                                        <p:cTn id="7" dur="1000" fill="hold"/>
                                        <p:tgtEl>
                                          <p:spTgt spid="79"/>
                                        </p:tgtEl>
                                        <p:attrNameLst>
                                          <p:attrName>ppt_w</p:attrName>
                                        </p:attrNameLst>
                                      </p:cBhvr>
                                      <p:tavLst>
                                        <p:tav tm="0">
                                          <p:val>
                                            <p:fltVal val="0"/>
                                          </p:val>
                                        </p:tav>
                                        <p:tav tm="100000">
                                          <p:val>
                                            <p:strVal val="#ppt_w"/>
                                          </p:val>
                                        </p:tav>
                                      </p:tavLst>
                                    </p:anim>
                                    <p:anim calcmode="lin" valueType="num">
                                      <p:cBhvr>
                                        <p:cTn id="8" dur="1000" fill="hold"/>
                                        <p:tgtEl>
                                          <p:spTgt spid="79"/>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288"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1000" fill="hold"/>
                                        <p:tgtEl>
                                          <p:spTgt spid="8"/>
                                        </p:tgtEl>
                                        <p:attrNameLst>
                                          <p:attrName>ppt_w</p:attrName>
                                        </p:attrNameLst>
                                      </p:cBhvr>
                                      <p:tavLst>
                                        <p:tav tm="0">
                                          <p:val>
                                            <p:strVal val="4/3*#ppt_w"/>
                                          </p:val>
                                        </p:tav>
                                        <p:tav tm="100000">
                                          <p:val>
                                            <p:strVal val="#ppt_w"/>
                                          </p:val>
                                        </p:tav>
                                      </p:tavLst>
                                    </p:anim>
                                    <p:anim calcmode="lin" valueType="num">
                                      <p:cBhvr>
                                        <p:cTn id="14" dur="1000" fill="hold"/>
                                        <p:tgtEl>
                                          <p:spTgt spid="8"/>
                                        </p:tgtEl>
                                        <p:attrNameLst>
                                          <p:attrName>ppt_h</p:attrName>
                                        </p:attrNameLst>
                                      </p:cBhvr>
                                      <p:tavLst>
                                        <p:tav tm="0">
                                          <p:val>
                                            <p:strVal val="4/3*#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32" fill="hold" nodeType="clickEffect">
                                  <p:stCondLst>
                                    <p:cond delay="0"/>
                                  </p:stCondLst>
                                  <p:childTnLst>
                                    <p:set>
                                      <p:cBhvr>
                                        <p:cTn id="18" dur="1" fill="hold">
                                          <p:stCondLst>
                                            <p:cond delay="0"/>
                                          </p:stCondLst>
                                        </p:cTn>
                                        <p:tgtEl>
                                          <p:spTgt spid="49"/>
                                        </p:tgtEl>
                                        <p:attrNameLst>
                                          <p:attrName>style.visibility</p:attrName>
                                        </p:attrNameLst>
                                      </p:cBhvr>
                                      <p:to>
                                        <p:strVal val="visible"/>
                                      </p:to>
                                    </p:set>
                                    <p:anim calcmode="lin" valueType="num">
                                      <p:cBhvr>
                                        <p:cTn id="19" dur="1000" fill="hold"/>
                                        <p:tgtEl>
                                          <p:spTgt spid="49"/>
                                        </p:tgtEl>
                                        <p:attrNameLst>
                                          <p:attrName>ppt_w</p:attrName>
                                        </p:attrNameLst>
                                      </p:cBhvr>
                                      <p:tavLst>
                                        <p:tav tm="0">
                                          <p:val>
                                            <p:strVal val="4*#ppt_w"/>
                                          </p:val>
                                        </p:tav>
                                        <p:tav tm="100000">
                                          <p:val>
                                            <p:strVal val="#ppt_w"/>
                                          </p:val>
                                        </p:tav>
                                      </p:tavLst>
                                    </p:anim>
                                    <p:anim calcmode="lin" valueType="num">
                                      <p:cBhvr>
                                        <p:cTn id="20" dur="1000" fill="hold"/>
                                        <p:tgtEl>
                                          <p:spTgt spid="49"/>
                                        </p:tgtEl>
                                        <p:attrNameLst>
                                          <p:attrName>ppt_h</p:attrName>
                                        </p:attrNameLst>
                                      </p:cBhvr>
                                      <p:tavLst>
                                        <p:tav tm="0">
                                          <p:val>
                                            <p:strVal val="4*#ppt_h"/>
                                          </p:val>
                                        </p:tav>
                                        <p:tav tm="100000">
                                          <p:val>
                                            <p:strVal val="#ppt_h"/>
                                          </p:val>
                                        </p:tav>
                                      </p:tavLst>
                                    </p:anim>
                                  </p:childTnLst>
                                </p:cTn>
                              </p:par>
                            </p:childTnLst>
                          </p:cTn>
                        </p:par>
                        <p:par>
                          <p:cTn id="21" fill="hold">
                            <p:stCondLst>
                              <p:cond delay="1000"/>
                            </p:stCondLst>
                            <p:childTnLst>
                              <p:par>
                                <p:cTn id="22" presetID="23" presetClass="entr" presetSubtype="288" fill="hold" nodeType="afterEffect">
                                  <p:stCondLst>
                                    <p:cond delay="0"/>
                                  </p:stCondLst>
                                  <p:childTnLst>
                                    <p:set>
                                      <p:cBhvr>
                                        <p:cTn id="23" dur="1" fill="hold">
                                          <p:stCondLst>
                                            <p:cond delay="0"/>
                                          </p:stCondLst>
                                        </p:cTn>
                                        <p:tgtEl>
                                          <p:spTgt spid="43"/>
                                        </p:tgtEl>
                                        <p:attrNameLst>
                                          <p:attrName>style.visibility</p:attrName>
                                        </p:attrNameLst>
                                      </p:cBhvr>
                                      <p:to>
                                        <p:strVal val="visible"/>
                                      </p:to>
                                    </p:set>
                                    <p:anim calcmode="lin" valueType="num">
                                      <p:cBhvr>
                                        <p:cTn id="24" dur="1000" fill="hold"/>
                                        <p:tgtEl>
                                          <p:spTgt spid="43"/>
                                        </p:tgtEl>
                                        <p:attrNameLst>
                                          <p:attrName>ppt_w</p:attrName>
                                        </p:attrNameLst>
                                      </p:cBhvr>
                                      <p:tavLst>
                                        <p:tav tm="0">
                                          <p:val>
                                            <p:strVal val="4/3*#ppt_w"/>
                                          </p:val>
                                        </p:tav>
                                        <p:tav tm="100000">
                                          <p:val>
                                            <p:strVal val="#ppt_w"/>
                                          </p:val>
                                        </p:tav>
                                      </p:tavLst>
                                    </p:anim>
                                    <p:anim calcmode="lin" valueType="num">
                                      <p:cBhvr>
                                        <p:cTn id="25" dur="1000" fill="hold"/>
                                        <p:tgtEl>
                                          <p:spTgt spid="43"/>
                                        </p:tgtEl>
                                        <p:attrNameLst>
                                          <p:attrName>ppt_h</p:attrName>
                                        </p:attrNameLst>
                                      </p:cBhvr>
                                      <p:tavLst>
                                        <p:tav tm="0">
                                          <p:val>
                                            <p:strVal val="4/3*#ppt_h"/>
                                          </p:val>
                                        </p:tav>
                                        <p:tav tm="100000">
                                          <p:val>
                                            <p:strVal val="#ppt_h"/>
                                          </p:val>
                                        </p:tav>
                                      </p:tavLst>
                                    </p:anim>
                                  </p:childTnLst>
                                </p:cTn>
                              </p:par>
                            </p:childTnLst>
                          </p:cTn>
                        </p:par>
                        <p:par>
                          <p:cTn id="26" fill="hold">
                            <p:stCondLst>
                              <p:cond delay="2000"/>
                            </p:stCondLst>
                            <p:childTnLst>
                              <p:par>
                                <p:cTn id="27" presetID="12" presetClass="entr" presetSubtype="8" fill="hold" grpId="0" nodeType="after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slide(fromLeft)">
                                      <p:cBhvr>
                                        <p:cTn id="29" dur="1000"/>
                                        <p:tgtEl>
                                          <p:spTgt spid="56"/>
                                        </p:tgtEl>
                                      </p:cBhvr>
                                    </p:animEffect>
                                  </p:childTnLst>
                                </p:cTn>
                              </p:par>
                            </p:childTnLst>
                          </p:cTn>
                        </p:par>
                        <p:par>
                          <p:cTn id="30" fill="hold">
                            <p:stCondLst>
                              <p:cond delay="3000"/>
                            </p:stCondLst>
                            <p:childTnLst>
                              <p:par>
                                <p:cTn id="31" presetID="12" presetClass="entr" presetSubtype="1" fill="hold" nodeType="afterEffect">
                                  <p:stCondLst>
                                    <p:cond delay="0"/>
                                  </p:stCondLst>
                                  <p:childTnLst>
                                    <p:set>
                                      <p:cBhvr>
                                        <p:cTn id="32" dur="1" fill="hold">
                                          <p:stCondLst>
                                            <p:cond delay="0"/>
                                          </p:stCondLst>
                                        </p:cTn>
                                        <p:tgtEl>
                                          <p:spTgt spid="53"/>
                                        </p:tgtEl>
                                        <p:attrNameLst>
                                          <p:attrName>style.visibility</p:attrName>
                                        </p:attrNameLst>
                                      </p:cBhvr>
                                      <p:to>
                                        <p:strVal val="visible"/>
                                      </p:to>
                                    </p:set>
                                    <p:animEffect transition="in" filter="slide(fromTop)">
                                      <p:cBhvr>
                                        <p:cTn id="33" dur="1000"/>
                                        <p:tgtEl>
                                          <p:spTgt spid="53"/>
                                        </p:tgtEl>
                                      </p:cBhvr>
                                    </p:animEffect>
                                  </p:childTnLst>
                                </p:cTn>
                              </p:par>
                            </p:childTnLst>
                          </p:cTn>
                        </p:par>
                        <p:par>
                          <p:cTn id="34" fill="hold">
                            <p:stCondLst>
                              <p:cond delay="4000"/>
                            </p:stCondLst>
                            <p:childTnLst>
                              <p:par>
                                <p:cTn id="35" presetID="12" presetClass="entr" presetSubtype="4" fill="hold" nodeType="after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slide(fromBottom)">
                                      <p:cBhvr>
                                        <p:cTn id="37" dur="500"/>
                                        <p:tgtEl>
                                          <p:spTgt spid="57"/>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67"/>
                                        </p:tgtEl>
                                        <p:attrNameLst>
                                          <p:attrName>style.visibility</p:attrName>
                                        </p:attrNameLst>
                                      </p:cBhvr>
                                      <p:to>
                                        <p:strVal val="visible"/>
                                      </p:to>
                                    </p:set>
                                    <p:animEffect transition="in" filter="slide(fromBottom)">
                                      <p:cBhvr>
                                        <p:cTn id="42" dur="500"/>
                                        <p:tgtEl>
                                          <p:spTgt spid="6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65"/>
                                        </p:tgtEl>
                                        <p:attrNameLst>
                                          <p:attrName>style.visibility</p:attrName>
                                        </p:attrNameLst>
                                      </p:cBhvr>
                                      <p:to>
                                        <p:strVal val="visible"/>
                                      </p:to>
                                    </p:set>
                                    <p:animEffect transition="in" filter="wipe(up)">
                                      <p:cBhvr>
                                        <p:cTn id="47" dur="1000"/>
                                        <p:tgtEl>
                                          <p:spTgt spid="6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64"/>
                                        </p:tgtEl>
                                        <p:attrNameLst>
                                          <p:attrName>style.visibility</p:attrName>
                                        </p:attrNameLst>
                                      </p:cBhvr>
                                      <p:to>
                                        <p:strVal val="visible"/>
                                      </p:to>
                                    </p:set>
                                    <p:animEffect transition="in" filter="wipe(up)">
                                      <p:cBhvr>
                                        <p:cTn id="52" dur="1000"/>
                                        <p:tgtEl>
                                          <p:spTgt spid="64"/>
                                        </p:tgtEl>
                                      </p:cBhvr>
                                    </p:animEffect>
                                  </p:childTnLst>
                                </p:cTn>
                              </p:par>
                            </p:childTnLst>
                          </p:cTn>
                        </p:par>
                        <p:par>
                          <p:cTn id="53" fill="hold">
                            <p:stCondLst>
                              <p:cond delay="1000"/>
                            </p:stCondLst>
                            <p:childTnLst>
                              <p:par>
                                <p:cTn id="54" presetID="12" presetClass="entr" presetSubtype="4" fill="hold" nodeType="afterEffect">
                                  <p:stCondLst>
                                    <p:cond delay="0"/>
                                  </p:stCondLst>
                                  <p:childTnLst>
                                    <p:set>
                                      <p:cBhvr>
                                        <p:cTn id="55" dur="1" fill="hold">
                                          <p:stCondLst>
                                            <p:cond delay="0"/>
                                          </p:stCondLst>
                                        </p:cTn>
                                        <p:tgtEl>
                                          <p:spTgt spid="60"/>
                                        </p:tgtEl>
                                        <p:attrNameLst>
                                          <p:attrName>style.visibility</p:attrName>
                                        </p:attrNameLst>
                                      </p:cBhvr>
                                      <p:to>
                                        <p:strVal val="visible"/>
                                      </p:to>
                                    </p:set>
                                    <p:animEffect transition="in" filter="slide(fromBottom)">
                                      <p:cBhvr>
                                        <p:cTn id="56" dur="10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65" grpId="0" animBg="1"/>
      <p:bldP spid="64"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组合 59"/>
          <p:cNvGrpSpPr/>
          <p:nvPr/>
        </p:nvGrpSpPr>
        <p:grpSpPr>
          <a:xfrm>
            <a:off x="1824586" y="1706427"/>
            <a:ext cx="5540553" cy="2233498"/>
            <a:chOff x="1824586" y="1706427"/>
            <a:chExt cx="5540553" cy="2233498"/>
          </a:xfrm>
        </p:grpSpPr>
        <p:graphicFrame>
          <p:nvGraphicFramePr>
            <p:cNvPr id="10" name="Object 1"/>
            <p:cNvGraphicFramePr>
              <a:graphicFrameLocks noChangeAspect="1"/>
            </p:cNvGraphicFramePr>
            <p:nvPr/>
          </p:nvGraphicFramePr>
          <p:xfrm>
            <a:off x="1886676" y="1706427"/>
            <a:ext cx="5478463" cy="2179638"/>
          </p:xfrm>
          <a:graphic>
            <a:graphicData uri="http://schemas.openxmlformats.org/presentationml/2006/ole">
              <mc:AlternateContent xmlns:mc="http://schemas.openxmlformats.org/markup-compatibility/2006">
                <mc:Choice xmlns:v="urn:schemas-microsoft-com:vml" Requires="v">
                  <p:oleObj spid="_x0000_s50180" name="Visio" r:id="rId1" imgW="2937510" imgH="1196340" progId="Visio.Drawing.11">
                    <p:embed/>
                  </p:oleObj>
                </mc:Choice>
                <mc:Fallback>
                  <p:oleObj name="Visio" r:id="rId1" imgW="2937510" imgH="119634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6676" y="1706427"/>
                          <a:ext cx="5478463" cy="2179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 name="剪去对角的矩形 58"/>
            <p:cNvSpPr/>
            <p:nvPr/>
          </p:nvSpPr>
          <p:spPr>
            <a:xfrm>
              <a:off x="1824586" y="1740310"/>
              <a:ext cx="5414765" cy="2199615"/>
            </a:xfrm>
            <a:prstGeom prst="snip2DiagRect">
              <a:avLst>
                <a:gd name="adj1" fmla="val 11220"/>
                <a:gd name="adj2" fmla="val 0"/>
              </a:avLst>
            </a:prstGeom>
            <a:no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81"/>
          <p:cNvGrpSpPr/>
          <p:nvPr/>
        </p:nvGrpSpPr>
        <p:grpSpPr>
          <a:xfrm>
            <a:off x="400513" y="1331276"/>
            <a:ext cx="4465956" cy="374630"/>
            <a:chOff x="369777" y="1347760"/>
            <a:chExt cx="4465956" cy="374630"/>
          </a:xfrm>
        </p:grpSpPr>
        <p:sp>
          <p:nvSpPr>
            <p:cNvPr id="6" name="TextBox 5"/>
            <p:cNvSpPr txBox="1"/>
            <p:nvPr/>
          </p:nvSpPr>
          <p:spPr>
            <a:xfrm>
              <a:off x="723710" y="1350409"/>
              <a:ext cx="4112023" cy="369332"/>
            </a:xfrm>
            <a:prstGeom prst="rect">
              <a:avLst/>
            </a:prstGeom>
            <a:noFill/>
          </p:spPr>
          <p:txBody>
            <a:bodyPr wrap="none" rtlCol="0">
              <a:spAutoFit/>
            </a:bodyPr>
            <a:lstStyle/>
            <a:p>
              <a:pPr lvl="0"/>
              <a:r>
                <a:rPr lang="zh-CN" altLang="en-US" b="1" dirty="0">
                  <a:solidFill>
                    <a:srgbClr val="CC00CC"/>
                  </a:solidFill>
                  <a:latin typeface="黑体" panose="02010609060101010101" pitchFamily="49" charset="-122"/>
                  <a:ea typeface="黑体" panose="02010609060101010101" pitchFamily="49" charset="-122"/>
                </a:rPr>
                <a:t>例：</a:t>
              </a:r>
              <a:r>
                <a:rPr lang="zh-CN" altLang="en-US" b="1" dirty="0">
                  <a:solidFill>
                    <a:srgbClr val="6600FF"/>
                  </a:solidFill>
                  <a:latin typeface="黑体" panose="02010609060101010101" pitchFamily="49" charset="-122"/>
                  <a:ea typeface="黑体" panose="02010609060101010101" pitchFamily="49" charset="-122"/>
                </a:rPr>
                <a:t>分析图示时序电路，求电路的模。</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7" name="Picture 4"/>
            <p:cNvPicPr>
              <a:picLocks noChangeAspect="1" noChangeArrowheads="1"/>
            </p:cNvPicPr>
            <p:nvPr/>
          </p:nvPicPr>
          <p:blipFill>
            <a:blip r:embed="rId3"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9" name="组合 9"/>
          <p:cNvGrpSpPr/>
          <p:nvPr/>
        </p:nvGrpSpPr>
        <p:grpSpPr>
          <a:xfrm>
            <a:off x="2042614" y="2872545"/>
            <a:ext cx="2781777" cy="835432"/>
            <a:chOff x="2966539" y="2233611"/>
            <a:chExt cx="2781777" cy="504000"/>
          </a:xfrm>
        </p:grpSpPr>
        <p:cxnSp>
          <p:nvCxnSpPr>
            <p:cNvPr id="11" name="直接连接符 10"/>
            <p:cNvCxnSpPr/>
            <p:nvPr/>
          </p:nvCxnSpPr>
          <p:spPr>
            <a:xfrm>
              <a:off x="2966539" y="2733675"/>
              <a:ext cx="26280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flipH="1" flipV="1">
              <a:off x="5343705" y="2492568"/>
              <a:ext cx="477799"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568316" y="2248083"/>
              <a:ext cx="180000" cy="8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162300" y="2247075"/>
              <a:ext cx="180000" cy="8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5400000" flipH="1" flipV="1">
              <a:off x="2919825" y="2485610"/>
              <a:ext cx="504000"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6" name="组合 18"/>
          <p:cNvGrpSpPr/>
          <p:nvPr/>
        </p:nvGrpSpPr>
        <p:grpSpPr>
          <a:xfrm>
            <a:off x="4325304" y="2409991"/>
            <a:ext cx="506512" cy="252000"/>
            <a:chOff x="3801429" y="2516867"/>
            <a:chExt cx="506512" cy="252000"/>
          </a:xfrm>
        </p:grpSpPr>
        <p:cxnSp>
          <p:nvCxnSpPr>
            <p:cNvPr id="17" name="直接连接符 16"/>
            <p:cNvCxnSpPr/>
            <p:nvPr/>
          </p:nvCxnSpPr>
          <p:spPr>
            <a:xfrm rot="5400000" flipH="1" flipV="1">
              <a:off x="3980231" y="2642866"/>
              <a:ext cx="252000" cy="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3801429" y="2521781"/>
              <a:ext cx="504000" cy="68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4091941" y="2750382"/>
              <a:ext cx="216000" cy="68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a:off x="3914775" y="1836224"/>
            <a:ext cx="2781300" cy="571500"/>
            <a:chOff x="3914775" y="1844652"/>
            <a:chExt cx="2781300" cy="571500"/>
          </a:xfrm>
        </p:grpSpPr>
        <p:sp>
          <p:nvSpPr>
            <p:cNvPr id="21" name="圆角矩形 20"/>
            <p:cNvSpPr/>
            <p:nvPr/>
          </p:nvSpPr>
          <p:spPr>
            <a:xfrm>
              <a:off x="3914775" y="1859892"/>
              <a:ext cx="259080" cy="556260"/>
            </a:xfrm>
            <a:prstGeom prst="roundRect">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圆角矩形 21"/>
            <p:cNvSpPr/>
            <p:nvPr/>
          </p:nvSpPr>
          <p:spPr>
            <a:xfrm>
              <a:off x="6436995" y="1844652"/>
              <a:ext cx="259080" cy="556260"/>
            </a:xfrm>
            <a:prstGeom prst="roundRect">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圆角矩形 22"/>
          <p:cNvSpPr/>
          <p:nvPr/>
        </p:nvSpPr>
        <p:spPr>
          <a:xfrm>
            <a:off x="6475095" y="3139244"/>
            <a:ext cx="426720" cy="556260"/>
          </a:xfrm>
          <a:prstGeom prst="roundRect">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2752725" y="2843212"/>
            <a:ext cx="3686181" cy="219074"/>
            <a:chOff x="2752725" y="2843212"/>
            <a:chExt cx="3686181" cy="219074"/>
          </a:xfrm>
        </p:grpSpPr>
        <p:sp>
          <p:nvSpPr>
            <p:cNvPr id="26" name="圆角矩形 25"/>
            <p:cNvSpPr/>
            <p:nvPr/>
          </p:nvSpPr>
          <p:spPr>
            <a:xfrm>
              <a:off x="5210174" y="2843212"/>
              <a:ext cx="1228732" cy="209549"/>
            </a:xfrm>
            <a:prstGeom prst="roundRect">
              <a:avLst>
                <a:gd name="adj" fmla="val 5209"/>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4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5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6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7</a:t>
              </a:r>
              <a:endParaRPr lang="en-US" altLang="zh-CN" sz="1400" baseline="-25000" dirty="0">
                <a:latin typeface="Times New Roman" panose="02020603050405020304" pitchFamily="18" charset="0"/>
                <a:cs typeface="Times New Roman" panose="02020603050405020304" pitchFamily="18" charset="0"/>
              </a:endParaRPr>
            </a:p>
          </p:txBody>
        </p:sp>
        <p:sp>
          <p:nvSpPr>
            <p:cNvPr id="27" name="圆角矩形 26"/>
            <p:cNvSpPr/>
            <p:nvPr/>
          </p:nvSpPr>
          <p:spPr>
            <a:xfrm>
              <a:off x="2752725" y="2852737"/>
              <a:ext cx="1228732" cy="209549"/>
            </a:xfrm>
            <a:prstGeom prst="roundRect">
              <a:avLst>
                <a:gd name="adj" fmla="val 5209"/>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0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1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2   </a:t>
              </a:r>
              <a:r>
                <a:rPr lang="en-US" altLang="zh-CN" sz="1400" dirty="0">
                  <a:latin typeface="Times New Roman" panose="02020603050405020304" pitchFamily="18" charset="0"/>
                  <a:cs typeface="Times New Roman" panose="02020603050405020304" pitchFamily="18" charset="0"/>
                </a:rPr>
                <a:t>Q</a:t>
              </a:r>
              <a:r>
                <a:rPr lang="en-US" altLang="zh-CN" sz="1400" baseline="-25000" dirty="0">
                  <a:latin typeface="Times New Roman" panose="02020603050405020304" pitchFamily="18" charset="0"/>
                  <a:cs typeface="Times New Roman" panose="02020603050405020304" pitchFamily="18" charset="0"/>
                </a:rPr>
                <a:t>3</a:t>
              </a:r>
              <a:endParaRPr lang="en-US" altLang="zh-CN" sz="1400" baseline="-25000" dirty="0">
                <a:latin typeface="Times New Roman" panose="02020603050405020304" pitchFamily="18" charset="0"/>
                <a:cs typeface="Times New Roman" panose="02020603050405020304" pitchFamily="18" charset="0"/>
              </a:endParaRPr>
            </a:p>
          </p:txBody>
        </p:sp>
      </p:grpSp>
      <p:grpSp>
        <p:nvGrpSpPr>
          <p:cNvPr id="33" name="组合 32"/>
          <p:cNvGrpSpPr/>
          <p:nvPr/>
        </p:nvGrpSpPr>
        <p:grpSpPr>
          <a:xfrm>
            <a:off x="2785357" y="3069665"/>
            <a:ext cx="3654541" cy="251460"/>
            <a:chOff x="2785357" y="3069665"/>
            <a:chExt cx="3654541" cy="251460"/>
          </a:xfrm>
        </p:grpSpPr>
        <p:sp>
          <p:nvSpPr>
            <p:cNvPr id="29" name="椭圆 28"/>
            <p:cNvSpPr/>
            <p:nvPr/>
          </p:nvSpPr>
          <p:spPr>
            <a:xfrm>
              <a:off x="6226538" y="3069665"/>
              <a:ext cx="213360" cy="25146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t>1</a:t>
              </a:r>
              <a:endParaRPr lang="zh-CN" altLang="en-US" dirty="0"/>
            </a:p>
          </p:txBody>
        </p:sp>
        <p:sp>
          <p:nvSpPr>
            <p:cNvPr id="30" name="椭圆 29"/>
            <p:cNvSpPr/>
            <p:nvPr/>
          </p:nvSpPr>
          <p:spPr>
            <a:xfrm>
              <a:off x="5268908" y="3069665"/>
              <a:ext cx="213360" cy="25146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t>1</a:t>
              </a:r>
              <a:endParaRPr lang="zh-CN" altLang="en-US" dirty="0"/>
            </a:p>
          </p:txBody>
        </p:sp>
        <p:sp>
          <p:nvSpPr>
            <p:cNvPr id="31" name="椭圆 30"/>
            <p:cNvSpPr/>
            <p:nvPr/>
          </p:nvSpPr>
          <p:spPr>
            <a:xfrm>
              <a:off x="3106200" y="3069665"/>
              <a:ext cx="213360" cy="25146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t>1</a:t>
              </a:r>
              <a:endParaRPr lang="zh-CN" altLang="en-US" dirty="0"/>
            </a:p>
          </p:txBody>
        </p:sp>
        <p:sp>
          <p:nvSpPr>
            <p:cNvPr id="32" name="椭圆 31"/>
            <p:cNvSpPr/>
            <p:nvPr/>
          </p:nvSpPr>
          <p:spPr>
            <a:xfrm>
              <a:off x="2785357" y="3069665"/>
              <a:ext cx="213360" cy="25146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t>1</a:t>
              </a:r>
              <a:endParaRPr lang="zh-CN" altLang="en-US" dirty="0"/>
            </a:p>
          </p:txBody>
        </p:sp>
      </p:grpSp>
      <p:grpSp>
        <p:nvGrpSpPr>
          <p:cNvPr id="36" name="组合 35"/>
          <p:cNvGrpSpPr/>
          <p:nvPr/>
        </p:nvGrpSpPr>
        <p:grpSpPr>
          <a:xfrm>
            <a:off x="2643437" y="1979806"/>
            <a:ext cx="3777416" cy="458593"/>
            <a:chOff x="2643437" y="1979807"/>
            <a:chExt cx="3777416" cy="432000"/>
          </a:xfrm>
          <a:solidFill>
            <a:schemeClr val="accent1">
              <a:alpha val="19000"/>
            </a:schemeClr>
          </a:solidFill>
        </p:grpSpPr>
        <p:sp>
          <p:nvSpPr>
            <p:cNvPr id="34" name="圆角矩形 33"/>
            <p:cNvSpPr/>
            <p:nvPr/>
          </p:nvSpPr>
          <p:spPr>
            <a:xfrm>
              <a:off x="2643437" y="1979807"/>
              <a:ext cx="1174583" cy="432000"/>
            </a:xfrm>
            <a:prstGeom prst="roundRect">
              <a:avLst>
                <a:gd name="adj" fmla="val 6573"/>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a:off x="5057774" y="1979807"/>
              <a:ext cx="1363079" cy="432000"/>
            </a:xfrm>
            <a:prstGeom prst="roundRect">
              <a:avLst>
                <a:gd name="adj" fmla="val 6573"/>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p:cNvGrpSpPr/>
          <p:nvPr/>
        </p:nvGrpSpPr>
        <p:grpSpPr>
          <a:xfrm>
            <a:off x="305503" y="4077995"/>
            <a:ext cx="7709445" cy="778700"/>
            <a:chOff x="305503" y="4077995"/>
            <a:chExt cx="7709445" cy="778700"/>
          </a:xfrm>
        </p:grpSpPr>
        <p:grpSp>
          <p:nvGrpSpPr>
            <p:cNvPr id="38" name="组合 54"/>
            <p:cNvGrpSpPr/>
            <p:nvPr/>
          </p:nvGrpSpPr>
          <p:grpSpPr>
            <a:xfrm>
              <a:off x="305503" y="4077995"/>
              <a:ext cx="2216289" cy="323850"/>
              <a:chOff x="457201" y="4090988"/>
              <a:chExt cx="2216289" cy="323850"/>
            </a:xfrm>
          </p:grpSpPr>
          <p:cxnSp>
            <p:nvCxnSpPr>
              <p:cNvPr id="55" name="直接箭头连接符 54"/>
              <p:cNvCxnSpPr/>
              <p:nvPr/>
            </p:nvCxnSpPr>
            <p:spPr>
              <a:xfrm flipV="1">
                <a:off x="2234840" y="4259765"/>
                <a:ext cx="438650" cy="0"/>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56" name="圆角矩形 55"/>
              <p:cNvSpPr/>
              <p:nvPr/>
            </p:nvSpPr>
            <p:spPr>
              <a:xfrm>
                <a:off x="457201" y="4090988"/>
                <a:ext cx="1776414" cy="323850"/>
              </a:xfrm>
              <a:prstGeom prst="roundRect">
                <a:avLst>
                  <a:gd name="adj" fmla="val 40204"/>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7</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6</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5</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4</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3</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2</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1</a:t>
                </a:r>
                <a:r>
                  <a:rPr lang="en-US" altLang="zh-CN" sz="1400" b="1" dirty="0">
                    <a:solidFill>
                      <a:srgbClr val="7030A0"/>
                    </a:solidFill>
                    <a:latin typeface="Times New Roman" panose="02020603050405020304" pitchFamily="18" charset="0"/>
                    <a:cs typeface="Times New Roman" panose="02020603050405020304" pitchFamily="18" charset="0"/>
                  </a:rPr>
                  <a:t>Q</a:t>
                </a:r>
                <a:r>
                  <a:rPr lang="en-US" altLang="zh-CN" sz="1400" b="1" baseline="-25000" dirty="0">
                    <a:solidFill>
                      <a:srgbClr val="7030A0"/>
                    </a:solidFill>
                    <a:latin typeface="Times New Roman" panose="02020603050405020304" pitchFamily="18" charset="0"/>
                    <a:cs typeface="Times New Roman" panose="02020603050405020304" pitchFamily="18" charset="0"/>
                  </a:rPr>
                  <a:t>0</a:t>
                </a:r>
                <a:endParaRPr lang="zh-CN" altLang="en-US" sz="1400" b="1" dirty="0">
                  <a:solidFill>
                    <a:srgbClr val="7030A0"/>
                  </a:solidFill>
                </a:endParaRPr>
              </a:p>
            </p:txBody>
          </p:sp>
        </p:grpSp>
        <p:grpSp>
          <p:nvGrpSpPr>
            <p:cNvPr id="39" name="组合 89"/>
            <p:cNvGrpSpPr/>
            <p:nvPr/>
          </p:nvGrpSpPr>
          <p:grpSpPr>
            <a:xfrm>
              <a:off x="2814740" y="4082443"/>
              <a:ext cx="5200208" cy="774252"/>
              <a:chOff x="2844236" y="4006594"/>
              <a:chExt cx="5200208" cy="774252"/>
            </a:xfrm>
          </p:grpSpPr>
          <p:grpSp>
            <p:nvGrpSpPr>
              <p:cNvPr id="40" name="组合 86"/>
              <p:cNvGrpSpPr/>
              <p:nvPr/>
            </p:nvGrpSpPr>
            <p:grpSpPr>
              <a:xfrm>
                <a:off x="2844236" y="4006594"/>
                <a:ext cx="5200208" cy="774252"/>
                <a:chOff x="2859476" y="4002784"/>
                <a:chExt cx="5200208" cy="774252"/>
              </a:xfrm>
            </p:grpSpPr>
            <p:grpSp>
              <p:nvGrpSpPr>
                <p:cNvPr id="42" name="组合 59"/>
                <p:cNvGrpSpPr/>
                <p:nvPr/>
              </p:nvGrpSpPr>
              <p:grpSpPr>
                <a:xfrm>
                  <a:off x="2859476" y="4002784"/>
                  <a:ext cx="1269553" cy="323850"/>
                  <a:chOff x="3057526" y="4038600"/>
                  <a:chExt cx="1269553" cy="323850"/>
                </a:xfrm>
              </p:grpSpPr>
              <p:sp>
                <p:nvSpPr>
                  <p:cNvPr id="53" name="圆角矩形 52"/>
                  <p:cNvSpPr/>
                  <p:nvPr/>
                </p:nvSpPr>
                <p:spPr>
                  <a:xfrm>
                    <a:off x="3057526" y="4038600"/>
                    <a:ext cx="900000" cy="323850"/>
                  </a:xfrm>
                  <a:prstGeom prst="round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dirty="0">
                        <a:solidFill>
                          <a:srgbClr val="7030A0"/>
                        </a:solidFill>
                        <a:latin typeface="Times New Roman" panose="02020603050405020304" pitchFamily="18" charset="0"/>
                        <a:cs typeface="Times New Roman" panose="02020603050405020304" pitchFamily="18" charset="0"/>
                      </a:rPr>
                      <a:t>0011 0000</a:t>
                    </a:r>
                    <a:endParaRPr lang="zh-CN" altLang="en-US" sz="1400" b="1" dirty="0">
                      <a:solidFill>
                        <a:srgbClr val="7030A0"/>
                      </a:solidFill>
                    </a:endParaRPr>
                  </a:p>
                </p:txBody>
              </p:sp>
              <p:cxnSp>
                <p:nvCxnSpPr>
                  <p:cNvPr id="54" name="直接箭头连接符 53"/>
                  <p:cNvCxnSpPr/>
                  <p:nvPr/>
                </p:nvCxnSpPr>
                <p:spPr>
                  <a:xfrm flipV="1">
                    <a:off x="3967079" y="4200525"/>
                    <a:ext cx="360000" cy="0"/>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nvGrpSpPr>
                <p:cNvPr id="43" name="组合 65"/>
                <p:cNvGrpSpPr/>
                <p:nvPr/>
              </p:nvGrpSpPr>
              <p:grpSpPr>
                <a:xfrm>
                  <a:off x="4145394" y="4002784"/>
                  <a:ext cx="1701553" cy="323850"/>
                  <a:chOff x="3057526" y="4038600"/>
                  <a:chExt cx="1701553" cy="323850"/>
                </a:xfrm>
              </p:grpSpPr>
              <p:sp>
                <p:nvSpPr>
                  <p:cNvPr id="51" name="圆角矩形 50"/>
                  <p:cNvSpPr/>
                  <p:nvPr/>
                </p:nvSpPr>
                <p:spPr>
                  <a:xfrm>
                    <a:off x="3057526" y="4038600"/>
                    <a:ext cx="900000" cy="323850"/>
                  </a:xfrm>
                  <a:prstGeom prst="round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dirty="0">
                        <a:solidFill>
                          <a:srgbClr val="7030A0"/>
                        </a:solidFill>
                        <a:latin typeface="Times New Roman" panose="02020603050405020304" pitchFamily="18" charset="0"/>
                        <a:cs typeface="Times New Roman" panose="02020603050405020304" pitchFamily="18" charset="0"/>
                      </a:rPr>
                      <a:t>0011 0001</a:t>
                    </a:r>
                    <a:endParaRPr lang="zh-CN" altLang="en-US" sz="1400" b="1" dirty="0">
                      <a:solidFill>
                        <a:srgbClr val="7030A0"/>
                      </a:solidFill>
                    </a:endParaRPr>
                  </a:p>
                </p:txBody>
              </p:sp>
              <p:cxnSp>
                <p:nvCxnSpPr>
                  <p:cNvPr id="52" name="直接箭头连接符 51"/>
                  <p:cNvCxnSpPr/>
                  <p:nvPr/>
                </p:nvCxnSpPr>
                <p:spPr>
                  <a:xfrm flipV="1">
                    <a:off x="3967079" y="4200525"/>
                    <a:ext cx="792000" cy="0"/>
                  </a:xfrm>
                  <a:prstGeom prst="straightConnector1">
                    <a:avLst/>
                  </a:prstGeom>
                  <a:ln w="19050">
                    <a:solidFill>
                      <a:schemeClr val="tx1"/>
                    </a:solidFill>
                    <a:prstDash val="lgDash"/>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nvGrpSpPr>
                <p:cNvPr id="44" name="组合 68"/>
                <p:cNvGrpSpPr/>
                <p:nvPr/>
              </p:nvGrpSpPr>
              <p:grpSpPr>
                <a:xfrm>
                  <a:off x="5886406" y="4002784"/>
                  <a:ext cx="1269553" cy="323850"/>
                  <a:chOff x="3057526" y="4038600"/>
                  <a:chExt cx="1269553" cy="323850"/>
                </a:xfrm>
              </p:grpSpPr>
              <p:sp>
                <p:nvSpPr>
                  <p:cNvPr id="49" name="圆角矩形 48"/>
                  <p:cNvSpPr/>
                  <p:nvPr/>
                </p:nvSpPr>
                <p:spPr>
                  <a:xfrm>
                    <a:off x="3057526" y="4038600"/>
                    <a:ext cx="900000" cy="323850"/>
                  </a:xfrm>
                  <a:prstGeom prst="round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dirty="0">
                        <a:solidFill>
                          <a:srgbClr val="7030A0"/>
                        </a:solidFill>
                        <a:latin typeface="Times New Roman" panose="02020603050405020304" pitchFamily="18" charset="0"/>
                        <a:cs typeface="Times New Roman" panose="02020603050405020304" pitchFamily="18" charset="0"/>
                      </a:rPr>
                      <a:t>1001 0010</a:t>
                    </a:r>
                    <a:endParaRPr lang="zh-CN" altLang="en-US" sz="1400" b="1" dirty="0">
                      <a:solidFill>
                        <a:srgbClr val="7030A0"/>
                      </a:solidFill>
                    </a:endParaRPr>
                  </a:p>
                </p:txBody>
              </p:sp>
              <p:cxnSp>
                <p:nvCxnSpPr>
                  <p:cNvPr id="50" name="直接箭头连接符 49"/>
                  <p:cNvCxnSpPr/>
                  <p:nvPr/>
                </p:nvCxnSpPr>
                <p:spPr>
                  <a:xfrm flipV="1">
                    <a:off x="3967079" y="4200525"/>
                    <a:ext cx="360000" cy="0"/>
                  </a:xfrm>
                  <a:prstGeom prst="straightConnector1">
                    <a:avLst/>
                  </a:prstGeom>
                  <a:ln w="1905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sp>
              <p:nvSpPr>
                <p:cNvPr id="45" name="圆角矩形 44"/>
                <p:cNvSpPr/>
                <p:nvPr/>
              </p:nvSpPr>
              <p:spPr>
                <a:xfrm>
                  <a:off x="7159684" y="4002784"/>
                  <a:ext cx="900000" cy="323850"/>
                </a:xfrm>
                <a:prstGeom prst="roundRect">
                  <a:avLst/>
                </a:prstGeom>
                <a:solidFill>
                  <a:schemeClr val="bg1"/>
                </a:solidFill>
                <a:ln w="19050">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dirty="0">
                      <a:solidFill>
                        <a:srgbClr val="FF0000"/>
                      </a:solidFill>
                      <a:latin typeface="Times New Roman" panose="02020603050405020304" pitchFamily="18" charset="0"/>
                      <a:cs typeface="Times New Roman" panose="02020603050405020304" pitchFamily="18" charset="0"/>
                    </a:rPr>
                    <a:t>1</a:t>
                  </a:r>
                  <a:r>
                    <a:rPr lang="en-US" altLang="zh-CN" sz="1400" b="1" dirty="0">
                      <a:solidFill>
                        <a:srgbClr val="7030A0"/>
                      </a:solidFill>
                      <a:latin typeface="Times New Roman" panose="02020603050405020304" pitchFamily="18" charset="0"/>
                      <a:cs typeface="Times New Roman" panose="02020603050405020304" pitchFamily="18" charset="0"/>
                    </a:rPr>
                    <a:t>00</a:t>
                  </a:r>
                  <a:r>
                    <a:rPr lang="en-US" altLang="zh-CN" sz="1400" b="1" dirty="0">
                      <a:solidFill>
                        <a:srgbClr val="FF0000"/>
                      </a:solidFill>
                      <a:latin typeface="Times New Roman" panose="02020603050405020304" pitchFamily="18" charset="0"/>
                      <a:cs typeface="Times New Roman" panose="02020603050405020304" pitchFamily="18" charset="0"/>
                    </a:rPr>
                    <a:t>1</a:t>
                  </a:r>
                  <a:r>
                    <a:rPr lang="en-US" altLang="zh-CN" sz="1400" b="1" dirty="0">
                      <a:solidFill>
                        <a:srgbClr val="7030A0"/>
                      </a:solidFill>
                      <a:latin typeface="Times New Roman" panose="02020603050405020304" pitchFamily="18" charset="0"/>
                      <a:cs typeface="Times New Roman" panose="02020603050405020304" pitchFamily="18" charset="0"/>
                    </a:rPr>
                    <a:t> 00</a:t>
                  </a:r>
                  <a:r>
                    <a:rPr lang="en-US" altLang="zh-CN" sz="1400" b="1" dirty="0">
                      <a:solidFill>
                        <a:srgbClr val="FF0000"/>
                      </a:solidFill>
                      <a:latin typeface="Times New Roman" panose="02020603050405020304" pitchFamily="18" charset="0"/>
                      <a:cs typeface="Times New Roman" panose="02020603050405020304" pitchFamily="18" charset="0"/>
                    </a:rPr>
                    <a:t>11</a:t>
                  </a:r>
                  <a:endParaRPr lang="zh-CN" altLang="en-US" sz="1400" b="1" dirty="0">
                    <a:solidFill>
                      <a:srgbClr val="FF0000"/>
                    </a:solidFill>
                  </a:endParaRPr>
                </a:p>
              </p:txBody>
            </p:sp>
            <p:grpSp>
              <p:nvGrpSpPr>
                <p:cNvPr id="46" name="组合 82"/>
                <p:cNvGrpSpPr/>
                <p:nvPr/>
              </p:nvGrpSpPr>
              <p:grpSpPr>
                <a:xfrm>
                  <a:off x="3309476" y="4329810"/>
                  <a:ext cx="4300208" cy="447226"/>
                  <a:chOff x="3309476" y="4329810"/>
                  <a:chExt cx="4300208" cy="447226"/>
                </a:xfrm>
              </p:grpSpPr>
              <p:cxnSp>
                <p:nvCxnSpPr>
                  <p:cNvPr id="47" name="肘形连接符 75"/>
                  <p:cNvCxnSpPr/>
                  <p:nvPr/>
                </p:nvCxnSpPr>
                <p:spPr>
                  <a:xfrm rot="5400000">
                    <a:off x="5319230" y="2482772"/>
                    <a:ext cx="443416" cy="4137492"/>
                  </a:xfrm>
                  <a:prstGeom prst="bentConnector2">
                    <a:avLst/>
                  </a:prstGeom>
                  <a:ln w="19050">
                    <a:solidFill>
                      <a:srgbClr val="FF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肘形连接符 47"/>
                  <p:cNvCxnSpPr/>
                  <p:nvPr/>
                </p:nvCxnSpPr>
                <p:spPr>
                  <a:xfrm rot="16200000" flipV="1">
                    <a:off x="3171233" y="4471863"/>
                    <a:ext cx="443416" cy="166930"/>
                  </a:xfrm>
                  <a:prstGeom prst="bentConnector3">
                    <a:avLst>
                      <a:gd name="adj1" fmla="val 584"/>
                    </a:avLst>
                  </a:prstGeom>
                  <a:ln w="19050">
                    <a:solidFill>
                      <a:srgbClr val="FF00FF"/>
                    </a:solidFill>
                    <a:tailEnd type="arrow"/>
                  </a:ln>
                </p:spPr>
                <p:style>
                  <a:lnRef idx="1">
                    <a:schemeClr val="accent1"/>
                  </a:lnRef>
                  <a:fillRef idx="0">
                    <a:schemeClr val="accent1"/>
                  </a:fillRef>
                  <a:effectRef idx="0">
                    <a:schemeClr val="accent1"/>
                  </a:effectRef>
                  <a:fontRef idx="minor">
                    <a:schemeClr val="tx1"/>
                  </a:fontRef>
                </p:style>
              </p:cxnSp>
            </p:grpSp>
          </p:grpSp>
          <p:sp>
            <p:nvSpPr>
              <p:cNvPr id="41" name="任意多边形 40"/>
              <p:cNvSpPr/>
              <p:nvPr/>
            </p:nvSpPr>
            <p:spPr>
              <a:xfrm>
                <a:off x="3541395" y="4446270"/>
                <a:ext cx="3862295" cy="257175"/>
              </a:xfrm>
              <a:custGeom>
                <a:avLst/>
                <a:gdLst>
                  <a:gd name="connsiteX0" fmla="*/ 375285 w 2813050"/>
                  <a:gd name="connsiteY0" fmla="*/ 0 h 257175"/>
                  <a:gd name="connsiteX1" fmla="*/ 2078355 w 2813050"/>
                  <a:gd name="connsiteY1" fmla="*/ 3810 h 257175"/>
                  <a:gd name="connsiteX2" fmla="*/ 2665095 w 2813050"/>
                  <a:gd name="connsiteY2" fmla="*/ 102870 h 257175"/>
                  <a:gd name="connsiteX3" fmla="*/ 2436495 w 2813050"/>
                  <a:gd name="connsiteY3" fmla="*/ 224790 h 257175"/>
                  <a:gd name="connsiteX4" fmla="*/ 405765 w 2813050"/>
                  <a:gd name="connsiteY4" fmla="*/ 228600 h 257175"/>
                  <a:gd name="connsiteX5" fmla="*/ 1905 w 2813050"/>
                  <a:gd name="connsiteY5" fmla="*/ 53340 h 25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3050" h="257175">
                    <a:moveTo>
                      <a:pt x="375285" y="0"/>
                    </a:moveTo>
                    <a:lnTo>
                      <a:pt x="2078355" y="3810"/>
                    </a:lnTo>
                    <a:cubicBezTo>
                      <a:pt x="2459990" y="20955"/>
                      <a:pt x="2605405" y="66040"/>
                      <a:pt x="2665095" y="102870"/>
                    </a:cubicBezTo>
                    <a:cubicBezTo>
                      <a:pt x="2724785" y="139700"/>
                      <a:pt x="2813050" y="203835"/>
                      <a:pt x="2436495" y="224790"/>
                    </a:cubicBezTo>
                    <a:cubicBezTo>
                      <a:pt x="2059940" y="245745"/>
                      <a:pt x="811530" y="257175"/>
                      <a:pt x="405765" y="228600"/>
                    </a:cubicBezTo>
                    <a:cubicBezTo>
                      <a:pt x="0" y="200025"/>
                      <a:pt x="952" y="126682"/>
                      <a:pt x="1905" y="53340"/>
                    </a:cubicBezTo>
                  </a:path>
                </a:pathLst>
              </a:custGeom>
              <a:ln w="28575">
                <a:solidFill>
                  <a:srgbClr val="FF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400"/>
              </a:p>
            </p:txBody>
          </p:sp>
        </p:grpSp>
      </p:grpSp>
      <p:sp>
        <p:nvSpPr>
          <p:cNvPr id="57" name="圆角矩形标注 56"/>
          <p:cNvSpPr/>
          <p:nvPr/>
        </p:nvSpPr>
        <p:spPr>
          <a:xfrm>
            <a:off x="7500260" y="3476109"/>
            <a:ext cx="962524" cy="439255"/>
          </a:xfrm>
          <a:prstGeom prst="wedgeRoundRectCallout">
            <a:avLst>
              <a:gd name="adj1" fmla="val -49898"/>
              <a:gd name="adj2" fmla="val 70443"/>
              <a:gd name="adj3" fmla="val 16667"/>
            </a:avLst>
          </a:prstGeom>
          <a:solidFill>
            <a:srgbClr val="66FF66"/>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0000FF"/>
                </a:solidFill>
                <a:latin typeface="微软雅黑" panose="020B0503020204020204" pitchFamily="34" charset="-122"/>
                <a:ea typeface="微软雅黑" panose="020B0503020204020204" pitchFamily="34" charset="-122"/>
              </a:rPr>
              <a:t>M=?</a:t>
            </a:r>
            <a:endParaRPr lang="zh-CN" altLang="en-US" sz="1600" dirty="0">
              <a:solidFill>
                <a:srgbClr val="0000FF"/>
              </a:solidFill>
              <a:latin typeface="微软雅黑" panose="020B0503020204020204" pitchFamily="34" charset="-122"/>
              <a:ea typeface="微软雅黑" panose="020B0503020204020204" pitchFamily="34" charset="-122"/>
            </a:endParaRPr>
          </a:p>
        </p:txBody>
      </p:sp>
      <p:sp>
        <p:nvSpPr>
          <p:cNvPr id="58" name="圆角矩形标注 57"/>
          <p:cNvSpPr/>
          <p:nvPr/>
        </p:nvSpPr>
        <p:spPr>
          <a:xfrm>
            <a:off x="7445477" y="3316705"/>
            <a:ext cx="1475872" cy="603688"/>
          </a:xfrm>
          <a:prstGeom prst="wedgeRoundRectCallout">
            <a:avLst>
              <a:gd name="adj1" fmla="val -49898"/>
              <a:gd name="adj2" fmla="val 70443"/>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0000FF"/>
                </a:solidFill>
                <a:latin typeface="微软雅黑" panose="020B0503020204020204" pitchFamily="34" charset="-122"/>
                <a:ea typeface="微软雅黑" panose="020B0503020204020204" pitchFamily="34" charset="-122"/>
              </a:rPr>
              <a:t>M=147-48+1</a:t>
            </a:r>
            <a:endParaRPr lang="en-US" altLang="zh-CN" sz="1600" dirty="0">
              <a:solidFill>
                <a:srgbClr val="0000FF"/>
              </a:solidFill>
              <a:latin typeface="微软雅黑" panose="020B0503020204020204" pitchFamily="34" charset="-122"/>
              <a:ea typeface="微软雅黑" panose="020B0503020204020204" pitchFamily="34" charset="-122"/>
            </a:endParaRPr>
          </a:p>
          <a:p>
            <a:r>
              <a:rPr lang="en-US" altLang="zh-CN" sz="1600" dirty="0">
                <a:solidFill>
                  <a:srgbClr val="0000FF"/>
                </a:solidFill>
                <a:latin typeface="微软雅黑" panose="020B0503020204020204" pitchFamily="34" charset="-122"/>
                <a:ea typeface="微软雅黑" panose="020B0503020204020204" pitchFamily="34" charset="-122"/>
              </a:rPr>
              <a:t>      =100</a:t>
            </a:r>
            <a:endParaRPr lang="zh-CN" altLang="en-US" sz="1600" dirty="0">
              <a:solidFill>
                <a:srgbClr val="0000FF"/>
              </a:solidFill>
              <a:latin typeface="微软雅黑" panose="020B0503020204020204" pitchFamily="34" charset="-122"/>
              <a:ea typeface="微软雅黑" panose="020B0503020204020204" pitchFamily="34" charset="-122"/>
            </a:endParaRPr>
          </a:p>
        </p:txBody>
      </p:sp>
      <p:grpSp>
        <p:nvGrpSpPr>
          <p:cNvPr id="61" name="组合 34"/>
          <p:cNvGrpSpPr/>
          <p:nvPr/>
        </p:nvGrpSpPr>
        <p:grpSpPr>
          <a:xfrm>
            <a:off x="392432" y="735720"/>
            <a:ext cx="6649115" cy="420971"/>
            <a:chOff x="670560" y="892917"/>
            <a:chExt cx="6649115" cy="420971"/>
          </a:xfrm>
        </p:grpSpPr>
        <p:sp>
          <p:nvSpPr>
            <p:cNvPr id="62" name="矩形 61"/>
            <p:cNvSpPr/>
            <p:nvPr/>
          </p:nvSpPr>
          <p:spPr>
            <a:xfrm>
              <a:off x="1035231" y="913778"/>
              <a:ext cx="6284444" cy="400110"/>
            </a:xfrm>
            <a:prstGeom prst="rect">
              <a:avLst/>
            </a:prstGeom>
          </p:spPr>
          <p:txBody>
            <a:bodyPr wrap="square">
              <a:spAutoFit/>
            </a:bodyPr>
            <a:lstStyle/>
            <a:p>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集成计数器的应用</a:t>
              </a:r>
              <a:r>
                <a:rPr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构成任意进制计数器</a:t>
              </a:r>
              <a:r>
                <a:rPr lang="en-US" altLang="zh-CN" sz="20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(M&lt;N)</a:t>
              </a:r>
              <a:endPar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3"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p:cTn id="7" dur="1000" fill="hold"/>
                                        <p:tgtEl>
                                          <p:spTgt spid="60"/>
                                        </p:tgtEl>
                                        <p:attrNameLst>
                                          <p:attrName>ppt_w</p:attrName>
                                        </p:attrNameLst>
                                      </p:cBhvr>
                                      <p:tavLst>
                                        <p:tav tm="0">
                                          <p:val>
                                            <p:fltVal val="0"/>
                                          </p:val>
                                        </p:tav>
                                        <p:tav tm="100000">
                                          <p:val>
                                            <p:strVal val="#ppt_w"/>
                                          </p:val>
                                        </p:tav>
                                      </p:tavLst>
                                    </p:anim>
                                    <p:anim calcmode="lin" valueType="num">
                                      <p:cBhvr>
                                        <p:cTn id="8" dur="1000" fill="hold"/>
                                        <p:tgtEl>
                                          <p:spTgt spid="60"/>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32"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p:cTn id="13" dur="1000" fill="hold"/>
                                        <p:tgtEl>
                                          <p:spTgt spid="16"/>
                                        </p:tgtEl>
                                        <p:attrNameLst>
                                          <p:attrName>ppt_w</p:attrName>
                                        </p:attrNameLst>
                                      </p:cBhvr>
                                      <p:tavLst>
                                        <p:tav tm="0">
                                          <p:val>
                                            <p:strVal val="4*#ppt_w"/>
                                          </p:val>
                                        </p:tav>
                                        <p:tav tm="100000">
                                          <p:val>
                                            <p:strVal val="#ppt_w"/>
                                          </p:val>
                                        </p:tav>
                                      </p:tavLst>
                                    </p:anim>
                                    <p:anim calcmode="lin" valueType="num">
                                      <p:cBhvr>
                                        <p:cTn id="14" dur="1000" fill="hold"/>
                                        <p:tgtEl>
                                          <p:spTgt spid="16"/>
                                        </p:tgtEl>
                                        <p:attrNameLst>
                                          <p:attrName>ppt_h</p:attrName>
                                        </p:attrNameLst>
                                      </p:cBhvr>
                                      <p:tavLst>
                                        <p:tav tm="0">
                                          <p:val>
                                            <p:strVal val="4*#ppt_h"/>
                                          </p:val>
                                        </p:tav>
                                        <p:tav tm="100000">
                                          <p:val>
                                            <p:strVal val="#ppt_h"/>
                                          </p:val>
                                        </p:tav>
                                      </p:tavLst>
                                    </p:anim>
                                  </p:childTnLst>
                                </p:cTn>
                              </p:par>
                            </p:childTnLst>
                          </p:cTn>
                        </p:par>
                        <p:par>
                          <p:cTn id="15" fill="hold">
                            <p:stCondLst>
                              <p:cond delay="1000"/>
                            </p:stCondLst>
                            <p:childTnLst>
                              <p:par>
                                <p:cTn id="16" presetID="23" presetClass="entr" presetSubtype="288" fill="hold" nodeType="after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1000" fill="hold"/>
                                        <p:tgtEl>
                                          <p:spTgt spid="9"/>
                                        </p:tgtEl>
                                        <p:attrNameLst>
                                          <p:attrName>ppt_w</p:attrName>
                                        </p:attrNameLst>
                                      </p:cBhvr>
                                      <p:tavLst>
                                        <p:tav tm="0">
                                          <p:val>
                                            <p:strVal val="4/3*#ppt_w"/>
                                          </p:val>
                                        </p:tav>
                                        <p:tav tm="100000">
                                          <p:val>
                                            <p:strVal val="#ppt_w"/>
                                          </p:val>
                                        </p:tav>
                                      </p:tavLst>
                                    </p:anim>
                                    <p:anim calcmode="lin" valueType="num">
                                      <p:cBhvr>
                                        <p:cTn id="19" dur="1000" fill="hold"/>
                                        <p:tgtEl>
                                          <p:spTgt spid="9"/>
                                        </p:tgtEl>
                                        <p:attrNameLst>
                                          <p:attrName>ppt_h</p:attrName>
                                        </p:attrNameLst>
                                      </p:cBhvr>
                                      <p:tavLst>
                                        <p:tav tm="0">
                                          <p:val>
                                            <p:strVal val="4/3*#ppt_h"/>
                                          </p:val>
                                        </p:tav>
                                        <p:tav tm="100000">
                                          <p:val>
                                            <p:strVal val="#ppt_h"/>
                                          </p:val>
                                        </p:tav>
                                      </p:tavLst>
                                    </p:anim>
                                  </p:childTnLst>
                                </p:cTn>
                              </p:par>
                            </p:childTnLst>
                          </p:cTn>
                        </p:par>
                        <p:par>
                          <p:cTn id="20" fill="hold">
                            <p:stCondLst>
                              <p:cond delay="2000"/>
                            </p:stCondLst>
                            <p:childTnLst>
                              <p:par>
                                <p:cTn id="21" presetID="12" presetClass="entr" presetSubtype="8"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slide(fromLeft)">
                                      <p:cBhvr>
                                        <p:cTn id="23" dur="1000"/>
                                        <p:tgtEl>
                                          <p:spTgt spid="23"/>
                                        </p:tgtEl>
                                      </p:cBhvr>
                                    </p:animEffect>
                                  </p:childTnLst>
                                </p:cTn>
                              </p:par>
                            </p:childTnLst>
                          </p:cTn>
                        </p:par>
                        <p:par>
                          <p:cTn id="24" fill="hold">
                            <p:stCondLst>
                              <p:cond delay="3000"/>
                            </p:stCondLst>
                            <p:childTnLst>
                              <p:par>
                                <p:cTn id="25" presetID="12" presetClass="entr" presetSubtype="1"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slide(fromTop)">
                                      <p:cBhvr>
                                        <p:cTn id="27" dur="1000"/>
                                        <p:tgtEl>
                                          <p:spTgt spid="20"/>
                                        </p:tgtEl>
                                      </p:cBhvr>
                                    </p:animEffect>
                                  </p:childTnLst>
                                </p:cTn>
                              </p:par>
                            </p:childTnLst>
                          </p:cTn>
                        </p:par>
                        <p:par>
                          <p:cTn id="28" fill="hold">
                            <p:stCondLst>
                              <p:cond delay="4000"/>
                            </p:stCondLst>
                            <p:childTnLst>
                              <p:par>
                                <p:cTn id="29" presetID="12" presetClass="entr" presetSubtype="4"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slide(fromBottom)">
                                      <p:cBhvr>
                                        <p:cTn id="31" dur="500"/>
                                        <p:tgtEl>
                                          <p:spTgt spid="25"/>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slide(fromBottom)">
                                      <p:cBhvr>
                                        <p:cTn id="36" dur="1000"/>
                                        <p:tgtEl>
                                          <p:spTgt spid="33"/>
                                        </p:tgtEl>
                                      </p:cBhvr>
                                    </p:animEffect>
                                  </p:childTnLst>
                                </p:cTn>
                              </p:par>
                            </p:childTnLst>
                          </p:cTn>
                        </p:par>
                        <p:par>
                          <p:cTn id="37" fill="hold">
                            <p:stCondLst>
                              <p:cond delay="1000"/>
                            </p:stCondLst>
                            <p:childTnLst>
                              <p:par>
                                <p:cTn id="38" presetID="12" presetClass="entr" presetSubtype="1" fill="hold" nodeType="after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slide(fromTop)">
                                      <p:cBhvr>
                                        <p:cTn id="40" dur="500"/>
                                        <p:tgtEl>
                                          <p:spTgt spid="36"/>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4" fill="hold" nodeType="click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slide(fromBottom)">
                                      <p:cBhvr>
                                        <p:cTn id="45" dur="500"/>
                                        <p:tgtEl>
                                          <p:spTgt spid="3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57"/>
                                        </p:tgtEl>
                                        <p:attrNameLst>
                                          <p:attrName>style.visibility</p:attrName>
                                        </p:attrNameLst>
                                      </p:cBhvr>
                                      <p:to>
                                        <p:strVal val="visible"/>
                                      </p:to>
                                    </p:set>
                                    <p:animEffect transition="in" filter="wipe(up)">
                                      <p:cBhvr>
                                        <p:cTn id="50" dur="1000"/>
                                        <p:tgtEl>
                                          <p:spTgt spid="5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58"/>
                                        </p:tgtEl>
                                        <p:attrNameLst>
                                          <p:attrName>style.visibility</p:attrName>
                                        </p:attrNameLst>
                                      </p:cBhvr>
                                      <p:to>
                                        <p:strVal val="visible"/>
                                      </p:to>
                                    </p:set>
                                    <p:animEffect transition="in" filter="wipe(up)">
                                      <p:cBhvr>
                                        <p:cTn id="55" dur="1000"/>
                                        <p:tgtEl>
                                          <p:spTgt spid="58"/>
                                        </p:tgtEl>
                                      </p:cBhvr>
                                    </p:animEffect>
                                  </p:childTnLst>
                                </p:cTn>
                              </p:par>
                            </p:childTnLst>
                          </p:cTn>
                        </p:par>
                        <p:par>
                          <p:cTn id="56" fill="hold">
                            <p:stCondLst>
                              <p:cond delay="1000"/>
                            </p:stCondLst>
                            <p:childTnLst>
                              <p:par>
                                <p:cTn id="57" presetID="12" presetClass="entr" presetSubtype="4" fill="hold" nodeType="afterEffect">
                                  <p:stCondLst>
                                    <p:cond delay="0"/>
                                  </p:stCondLst>
                                  <p:childTnLst>
                                    <p:set>
                                      <p:cBhvr>
                                        <p:cTn id="58" dur="1" fill="hold">
                                          <p:stCondLst>
                                            <p:cond delay="0"/>
                                          </p:stCondLst>
                                        </p:cTn>
                                        <p:tgtEl>
                                          <p:spTgt spid="61"/>
                                        </p:tgtEl>
                                        <p:attrNameLst>
                                          <p:attrName>style.visibility</p:attrName>
                                        </p:attrNameLst>
                                      </p:cBhvr>
                                      <p:to>
                                        <p:strVal val="visible"/>
                                      </p:to>
                                    </p:set>
                                    <p:animEffect transition="in" filter="slide(fromBottom)">
                                      <p:cBhvr>
                                        <p:cTn id="59" dur="1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57" grpId="0" animBg="1"/>
      <p:bldP spid="58"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1824212" y="1854084"/>
            <a:ext cx="5434012" cy="2199615"/>
            <a:chOff x="1824212" y="1740310"/>
            <a:chExt cx="5434012" cy="2199615"/>
          </a:xfrm>
        </p:grpSpPr>
        <p:graphicFrame>
          <p:nvGraphicFramePr>
            <p:cNvPr id="70659" name="Object 3"/>
            <p:cNvGraphicFramePr>
              <a:graphicFrameLocks noChangeAspect="1"/>
            </p:cNvGraphicFramePr>
            <p:nvPr/>
          </p:nvGraphicFramePr>
          <p:xfrm>
            <a:off x="1824212" y="1849964"/>
            <a:ext cx="5434012" cy="2008187"/>
          </p:xfrm>
          <a:graphic>
            <a:graphicData uri="http://schemas.openxmlformats.org/presentationml/2006/ole">
              <mc:AlternateContent xmlns:mc="http://schemas.openxmlformats.org/markup-compatibility/2006">
                <mc:Choice xmlns:v="urn:schemas-microsoft-com:vml" Requires="v">
                  <p:oleObj spid="_x0000_s51204" name="Visio" r:id="rId1" imgW="2335530" imgH="868680" progId="Visio.Drawing.11">
                    <p:embed/>
                  </p:oleObj>
                </mc:Choice>
                <mc:Fallback>
                  <p:oleObj name="Visio" r:id="rId1" imgW="2335530" imgH="868680"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4212" y="1849964"/>
                          <a:ext cx="5434012" cy="2008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剪去对角的矩形 12"/>
            <p:cNvSpPr/>
            <p:nvPr/>
          </p:nvSpPr>
          <p:spPr>
            <a:xfrm>
              <a:off x="1824586" y="1740310"/>
              <a:ext cx="5414765" cy="2199615"/>
            </a:xfrm>
            <a:prstGeom prst="snip2DiagRect">
              <a:avLst>
                <a:gd name="adj1" fmla="val 11220"/>
                <a:gd name="adj2" fmla="val 0"/>
              </a:avLst>
            </a:prstGeom>
            <a:no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81"/>
          <p:cNvGrpSpPr/>
          <p:nvPr/>
        </p:nvGrpSpPr>
        <p:grpSpPr>
          <a:xfrm>
            <a:off x="400513" y="1331276"/>
            <a:ext cx="4465956" cy="374630"/>
            <a:chOff x="369777" y="1347760"/>
            <a:chExt cx="4465956" cy="374630"/>
          </a:xfrm>
        </p:grpSpPr>
        <p:sp>
          <p:nvSpPr>
            <p:cNvPr id="6" name="TextBox 5"/>
            <p:cNvSpPr txBox="1"/>
            <p:nvPr/>
          </p:nvSpPr>
          <p:spPr>
            <a:xfrm>
              <a:off x="723710" y="1350409"/>
              <a:ext cx="4112023" cy="369332"/>
            </a:xfrm>
            <a:prstGeom prst="rect">
              <a:avLst/>
            </a:prstGeom>
            <a:noFill/>
          </p:spPr>
          <p:txBody>
            <a:bodyPr wrap="none" rtlCol="0">
              <a:spAutoFit/>
            </a:bodyPr>
            <a:lstStyle/>
            <a:p>
              <a:pPr lvl="0"/>
              <a:r>
                <a:rPr lang="zh-CN" altLang="en-US" b="1" dirty="0">
                  <a:solidFill>
                    <a:srgbClr val="CC00CC"/>
                  </a:solidFill>
                  <a:latin typeface="黑体" panose="02010609060101010101" pitchFamily="49" charset="-122"/>
                  <a:ea typeface="黑体" panose="02010609060101010101" pitchFamily="49" charset="-122"/>
                </a:rPr>
                <a:t>例：</a:t>
              </a:r>
              <a:r>
                <a:rPr lang="zh-CN" altLang="en-US" b="1" dirty="0">
                  <a:solidFill>
                    <a:srgbClr val="6600FF"/>
                  </a:solidFill>
                  <a:latin typeface="黑体" panose="02010609060101010101" pitchFamily="49" charset="-122"/>
                  <a:ea typeface="黑体" panose="02010609060101010101" pitchFamily="49" charset="-122"/>
                </a:rPr>
                <a:t>分析图示时序电路，求电路的模。</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7" name="Picture 4"/>
            <p:cNvPicPr>
              <a:picLocks noChangeAspect="1" noChangeArrowheads="1"/>
            </p:cNvPicPr>
            <p:nvPr/>
          </p:nvPicPr>
          <p:blipFill>
            <a:blip r:embed="rId3" cstate="print"/>
            <a:srcRect/>
            <a:stretch>
              <a:fillRect/>
            </a:stretch>
          </p:blipFill>
          <p:spPr bwMode="auto">
            <a:xfrm>
              <a:off x="369777" y="1347760"/>
              <a:ext cx="373669" cy="374630"/>
            </a:xfrm>
            <a:prstGeom prst="rect">
              <a:avLst/>
            </a:prstGeom>
            <a:noFill/>
            <a:ln w="9525">
              <a:noFill/>
              <a:miter lim="800000"/>
              <a:headEnd/>
              <a:tailEnd/>
            </a:ln>
          </p:spPr>
        </p:pic>
      </p:grpSp>
      <p:sp>
        <p:nvSpPr>
          <p:cNvPr id="9" name="圆角矩形 8"/>
          <p:cNvSpPr/>
          <p:nvPr/>
        </p:nvSpPr>
        <p:spPr>
          <a:xfrm>
            <a:off x="3963680" y="2526160"/>
            <a:ext cx="802181" cy="552067"/>
          </a:xfrm>
          <a:prstGeom prst="roundRect">
            <a:avLst>
              <a:gd name="adj" fmla="val 9034"/>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标注 11"/>
          <p:cNvSpPr/>
          <p:nvPr/>
        </p:nvSpPr>
        <p:spPr>
          <a:xfrm>
            <a:off x="7045515" y="1045028"/>
            <a:ext cx="1807731" cy="636288"/>
          </a:xfrm>
          <a:prstGeom prst="wedgeRoundRectCallout">
            <a:avLst>
              <a:gd name="adj1" fmla="val -49898"/>
              <a:gd name="adj2" fmla="val 70443"/>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rgbClr val="0000FF"/>
                </a:solidFill>
                <a:latin typeface="微软雅黑" panose="020B0503020204020204" pitchFamily="34" charset="-122"/>
                <a:ea typeface="微软雅黑" panose="020B0503020204020204" pitchFamily="34" charset="-122"/>
              </a:rPr>
              <a:t>串行进位</a:t>
            </a:r>
            <a:endParaRPr lang="en-US" altLang="zh-CN" sz="1600" b="1" dirty="0">
              <a:solidFill>
                <a:srgbClr val="0000FF"/>
              </a:solidFill>
              <a:latin typeface="微软雅黑" panose="020B0503020204020204" pitchFamily="34" charset="-122"/>
              <a:ea typeface="微软雅黑" panose="020B0503020204020204" pitchFamily="34" charset="-122"/>
            </a:endParaRPr>
          </a:p>
          <a:p>
            <a:pPr algn="ctr"/>
            <a:r>
              <a:rPr lang="zh-CN" altLang="en-US" sz="1400" dirty="0">
                <a:solidFill>
                  <a:srgbClr val="0000FF"/>
                </a:solidFill>
                <a:latin typeface="微软雅黑" panose="020B0503020204020204" pitchFamily="34" charset="-122"/>
                <a:ea typeface="微软雅黑" panose="020B0503020204020204" pitchFamily="34" charset="-122"/>
              </a:rPr>
              <a:t>（异步时序逻辑电路）</a:t>
            </a:r>
            <a:endParaRPr lang="zh-CN" altLang="en-US" sz="1400" dirty="0">
              <a:solidFill>
                <a:srgbClr val="0000FF"/>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2845433" y="3096042"/>
            <a:ext cx="3657729" cy="219074"/>
            <a:chOff x="2866503" y="2843212"/>
            <a:chExt cx="3657729" cy="219074"/>
          </a:xfrm>
        </p:grpSpPr>
        <p:sp>
          <p:nvSpPr>
            <p:cNvPr id="16" name="圆角矩形 15"/>
            <p:cNvSpPr/>
            <p:nvPr/>
          </p:nvSpPr>
          <p:spPr>
            <a:xfrm>
              <a:off x="5408232" y="2843212"/>
              <a:ext cx="1116000" cy="209549"/>
            </a:xfrm>
            <a:prstGeom prst="roundRect">
              <a:avLst>
                <a:gd name="adj" fmla="val 5209"/>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300" dirty="0">
                  <a:latin typeface="Times New Roman" panose="02020603050405020304" pitchFamily="18" charset="0"/>
                  <a:cs typeface="Times New Roman" panose="02020603050405020304" pitchFamily="18" charset="0"/>
                </a:rPr>
                <a:t>Q</a:t>
              </a:r>
              <a:r>
                <a:rPr lang="en-US" altLang="zh-CN" sz="1300" baseline="-25000" dirty="0">
                  <a:latin typeface="Times New Roman" panose="02020603050405020304" pitchFamily="18" charset="0"/>
                  <a:cs typeface="Times New Roman" panose="02020603050405020304" pitchFamily="18" charset="0"/>
                </a:rPr>
                <a:t>4    </a:t>
              </a:r>
              <a:r>
                <a:rPr lang="en-US" altLang="zh-CN" sz="1300" dirty="0">
                  <a:latin typeface="Times New Roman" panose="02020603050405020304" pitchFamily="18" charset="0"/>
                  <a:cs typeface="Times New Roman" panose="02020603050405020304" pitchFamily="18" charset="0"/>
                </a:rPr>
                <a:t>Q</a:t>
              </a:r>
              <a:r>
                <a:rPr lang="en-US" altLang="zh-CN" sz="1300" baseline="-25000" dirty="0">
                  <a:latin typeface="Times New Roman" panose="02020603050405020304" pitchFamily="18" charset="0"/>
                  <a:cs typeface="Times New Roman" panose="02020603050405020304" pitchFamily="18" charset="0"/>
                </a:rPr>
                <a:t>5    </a:t>
              </a:r>
              <a:r>
                <a:rPr lang="en-US" altLang="zh-CN" sz="1300" dirty="0">
                  <a:latin typeface="Times New Roman" panose="02020603050405020304" pitchFamily="18" charset="0"/>
                  <a:cs typeface="Times New Roman" panose="02020603050405020304" pitchFamily="18" charset="0"/>
                </a:rPr>
                <a:t>Q</a:t>
              </a:r>
              <a:r>
                <a:rPr lang="en-US" altLang="zh-CN" sz="1300" baseline="-25000" dirty="0">
                  <a:latin typeface="Times New Roman" panose="02020603050405020304" pitchFamily="18" charset="0"/>
                  <a:cs typeface="Times New Roman" panose="02020603050405020304" pitchFamily="18" charset="0"/>
                </a:rPr>
                <a:t>6    </a:t>
              </a:r>
              <a:r>
                <a:rPr lang="en-US" altLang="zh-CN" sz="1300" dirty="0">
                  <a:latin typeface="Times New Roman" panose="02020603050405020304" pitchFamily="18" charset="0"/>
                  <a:cs typeface="Times New Roman" panose="02020603050405020304" pitchFamily="18" charset="0"/>
                </a:rPr>
                <a:t>Q</a:t>
              </a:r>
              <a:r>
                <a:rPr lang="en-US" altLang="zh-CN" sz="1300" baseline="-25000" dirty="0">
                  <a:latin typeface="Times New Roman" panose="02020603050405020304" pitchFamily="18" charset="0"/>
                  <a:cs typeface="Times New Roman" panose="02020603050405020304" pitchFamily="18" charset="0"/>
                </a:rPr>
                <a:t>7</a:t>
              </a:r>
              <a:endParaRPr lang="en-US" altLang="zh-CN" sz="1300" baseline="-25000" dirty="0">
                <a:latin typeface="Times New Roman" panose="02020603050405020304" pitchFamily="18" charset="0"/>
                <a:cs typeface="Times New Roman" panose="02020603050405020304" pitchFamily="18" charset="0"/>
              </a:endParaRPr>
            </a:p>
          </p:txBody>
        </p:sp>
        <p:sp>
          <p:nvSpPr>
            <p:cNvPr id="17" name="圆角矩形 16"/>
            <p:cNvSpPr/>
            <p:nvPr/>
          </p:nvSpPr>
          <p:spPr>
            <a:xfrm>
              <a:off x="2866503" y="2852737"/>
              <a:ext cx="1008000" cy="209549"/>
            </a:xfrm>
            <a:prstGeom prst="roundRect">
              <a:avLst>
                <a:gd name="adj" fmla="val 5209"/>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300" dirty="0">
                  <a:latin typeface="Times New Roman" panose="02020603050405020304" pitchFamily="18" charset="0"/>
                  <a:cs typeface="Times New Roman" panose="02020603050405020304" pitchFamily="18" charset="0"/>
                </a:rPr>
                <a:t>Q</a:t>
              </a:r>
              <a:r>
                <a:rPr lang="en-US" altLang="zh-CN" sz="1300" baseline="-25000" dirty="0">
                  <a:latin typeface="Times New Roman" panose="02020603050405020304" pitchFamily="18" charset="0"/>
                  <a:cs typeface="Times New Roman" panose="02020603050405020304" pitchFamily="18" charset="0"/>
                </a:rPr>
                <a:t>0    </a:t>
              </a:r>
              <a:r>
                <a:rPr lang="en-US" altLang="zh-CN" sz="1300" dirty="0">
                  <a:latin typeface="Times New Roman" panose="02020603050405020304" pitchFamily="18" charset="0"/>
                  <a:cs typeface="Times New Roman" panose="02020603050405020304" pitchFamily="18" charset="0"/>
                </a:rPr>
                <a:t>Q</a:t>
              </a:r>
              <a:r>
                <a:rPr lang="en-US" altLang="zh-CN" sz="1300" baseline="-25000" dirty="0">
                  <a:latin typeface="Times New Roman" panose="02020603050405020304" pitchFamily="18" charset="0"/>
                  <a:cs typeface="Times New Roman" panose="02020603050405020304" pitchFamily="18" charset="0"/>
                </a:rPr>
                <a:t>1   </a:t>
              </a:r>
              <a:r>
                <a:rPr lang="en-US" altLang="zh-CN" sz="1300" dirty="0">
                  <a:latin typeface="Times New Roman" panose="02020603050405020304" pitchFamily="18" charset="0"/>
                  <a:cs typeface="Times New Roman" panose="02020603050405020304" pitchFamily="18" charset="0"/>
                </a:rPr>
                <a:t>Q</a:t>
              </a:r>
              <a:r>
                <a:rPr lang="en-US" altLang="zh-CN" sz="1300" baseline="-25000" dirty="0">
                  <a:latin typeface="Times New Roman" panose="02020603050405020304" pitchFamily="18" charset="0"/>
                  <a:cs typeface="Times New Roman" panose="02020603050405020304" pitchFamily="18" charset="0"/>
                </a:rPr>
                <a:t>2   </a:t>
              </a:r>
              <a:r>
                <a:rPr lang="en-US" altLang="zh-CN" sz="1300" dirty="0">
                  <a:latin typeface="Times New Roman" panose="02020603050405020304" pitchFamily="18" charset="0"/>
                  <a:cs typeface="Times New Roman" panose="02020603050405020304" pitchFamily="18" charset="0"/>
                </a:rPr>
                <a:t>Q</a:t>
              </a:r>
              <a:r>
                <a:rPr lang="en-US" altLang="zh-CN" sz="1300" baseline="-25000" dirty="0">
                  <a:latin typeface="Times New Roman" panose="02020603050405020304" pitchFamily="18" charset="0"/>
                  <a:cs typeface="Times New Roman" panose="02020603050405020304" pitchFamily="18" charset="0"/>
                </a:rPr>
                <a:t>3</a:t>
              </a:r>
              <a:endParaRPr lang="en-US" altLang="zh-CN" sz="1300" baseline="-25000" dirty="0">
                <a:latin typeface="Times New Roman" panose="02020603050405020304" pitchFamily="18" charset="0"/>
                <a:cs typeface="Times New Roman" panose="02020603050405020304" pitchFamily="18" charset="0"/>
              </a:endParaRPr>
            </a:p>
          </p:txBody>
        </p:sp>
      </p:grpSp>
      <p:grpSp>
        <p:nvGrpSpPr>
          <p:cNvPr id="27" name="组合 26"/>
          <p:cNvGrpSpPr/>
          <p:nvPr/>
        </p:nvGrpSpPr>
        <p:grpSpPr>
          <a:xfrm>
            <a:off x="2204868" y="2587624"/>
            <a:ext cx="2830150" cy="603597"/>
            <a:chOff x="2204868" y="2587624"/>
            <a:chExt cx="2830150" cy="603597"/>
          </a:xfrm>
        </p:grpSpPr>
        <p:grpSp>
          <p:nvGrpSpPr>
            <p:cNvPr id="25" name="组合 24"/>
            <p:cNvGrpSpPr/>
            <p:nvPr/>
          </p:nvGrpSpPr>
          <p:grpSpPr>
            <a:xfrm>
              <a:off x="4198768" y="2587624"/>
              <a:ext cx="836250" cy="603597"/>
              <a:chOff x="4198768" y="2587624"/>
              <a:chExt cx="836250" cy="603597"/>
            </a:xfrm>
          </p:grpSpPr>
          <p:cxnSp>
            <p:nvCxnSpPr>
              <p:cNvPr id="10" name="直接连接符 9"/>
              <p:cNvCxnSpPr/>
              <p:nvPr/>
            </p:nvCxnSpPr>
            <p:spPr>
              <a:xfrm>
                <a:off x="4198768" y="2699921"/>
                <a:ext cx="108000" cy="68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4316411" y="2587624"/>
                <a:ext cx="176214" cy="24288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4563893" y="2706271"/>
                <a:ext cx="108000" cy="68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4684543" y="2687221"/>
                <a:ext cx="0" cy="5040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675018" y="3172996"/>
                <a:ext cx="360000" cy="68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26" name="直接连接符 25"/>
            <p:cNvCxnSpPr/>
            <p:nvPr/>
          </p:nvCxnSpPr>
          <p:spPr>
            <a:xfrm>
              <a:off x="2204868" y="3160296"/>
              <a:ext cx="288000" cy="68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8" name="圆角矩形 27"/>
          <p:cNvSpPr/>
          <p:nvPr/>
        </p:nvSpPr>
        <p:spPr>
          <a:xfrm>
            <a:off x="6433684" y="3091515"/>
            <a:ext cx="721392" cy="890550"/>
          </a:xfrm>
          <a:prstGeom prst="roundRect">
            <a:avLst>
              <a:gd name="adj" fmla="val 9034"/>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圆角矩形 28"/>
          <p:cNvSpPr/>
          <p:nvPr/>
        </p:nvSpPr>
        <p:spPr>
          <a:xfrm>
            <a:off x="2759230" y="1974851"/>
            <a:ext cx="1113276" cy="755708"/>
          </a:xfrm>
          <a:prstGeom prst="roundRect">
            <a:avLst>
              <a:gd name="adj" fmla="val 9034"/>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圆角矩形标注 49"/>
          <p:cNvSpPr/>
          <p:nvPr/>
        </p:nvSpPr>
        <p:spPr>
          <a:xfrm>
            <a:off x="7555036" y="3872506"/>
            <a:ext cx="1133871" cy="473484"/>
          </a:xfrm>
          <a:prstGeom prst="wedgeRoundRectCallout">
            <a:avLst>
              <a:gd name="adj1" fmla="val -68851"/>
              <a:gd name="adj2" fmla="val -92420"/>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0000FF"/>
                </a:solidFill>
                <a:latin typeface="微软雅黑" panose="020B0503020204020204" pitchFamily="34" charset="-122"/>
                <a:ea typeface="微软雅黑" panose="020B0503020204020204" pitchFamily="34" charset="-122"/>
              </a:rPr>
              <a:t>M=</a:t>
            </a:r>
            <a:r>
              <a:rPr lang="zh-CN" altLang="en-US" sz="1600" dirty="0">
                <a:solidFill>
                  <a:srgbClr val="0000FF"/>
                </a:solidFill>
                <a:latin typeface="微软雅黑" panose="020B0503020204020204" pitchFamily="34" charset="-122"/>
                <a:ea typeface="微软雅黑" panose="020B0503020204020204" pitchFamily="34" charset="-122"/>
              </a:rPr>
              <a:t>？</a:t>
            </a:r>
            <a:endParaRPr lang="zh-CN" altLang="en-US" sz="1600" dirty="0">
              <a:solidFill>
                <a:srgbClr val="0000FF"/>
              </a:solidFill>
              <a:latin typeface="微软雅黑" panose="020B0503020204020204" pitchFamily="34" charset="-122"/>
              <a:ea typeface="微软雅黑" panose="020B0503020204020204" pitchFamily="34" charset="-122"/>
            </a:endParaRPr>
          </a:p>
        </p:txBody>
      </p:sp>
      <p:grpSp>
        <p:nvGrpSpPr>
          <p:cNvPr id="30" name="组合 34"/>
          <p:cNvGrpSpPr/>
          <p:nvPr/>
        </p:nvGrpSpPr>
        <p:grpSpPr>
          <a:xfrm>
            <a:off x="392432" y="735720"/>
            <a:ext cx="6649115" cy="420971"/>
            <a:chOff x="670560" y="892917"/>
            <a:chExt cx="6649115" cy="420971"/>
          </a:xfrm>
        </p:grpSpPr>
        <p:sp>
          <p:nvSpPr>
            <p:cNvPr id="31" name="矩形 30"/>
            <p:cNvSpPr/>
            <p:nvPr/>
          </p:nvSpPr>
          <p:spPr>
            <a:xfrm>
              <a:off x="1035231" y="913778"/>
              <a:ext cx="6284444" cy="400110"/>
            </a:xfrm>
            <a:prstGeom prst="rect">
              <a:avLst/>
            </a:prstGeom>
          </p:spPr>
          <p:txBody>
            <a:bodyPr wrap="square">
              <a:spAutoFit/>
            </a:bodyPr>
            <a:lstStyle/>
            <a:p>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集成计数器的应用</a:t>
              </a:r>
              <a:r>
                <a:rPr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构成任意进制计数器</a:t>
              </a:r>
              <a:r>
                <a:rPr lang="en-US" altLang="zh-CN" sz="20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(M&lt;N)</a:t>
              </a:r>
              <a:endPar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2"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10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cBhvr>
                                        <p:cTn id="12" dur="1000" fill="hold"/>
                                        <p:tgtEl>
                                          <p:spTgt spid="27"/>
                                        </p:tgtEl>
                                        <p:attrNameLst>
                                          <p:attrName>ppt_w</p:attrName>
                                        </p:attrNameLst>
                                      </p:cBhvr>
                                      <p:tavLst>
                                        <p:tav tm="0">
                                          <p:val>
                                            <p:fltVal val="0"/>
                                          </p:val>
                                        </p:tav>
                                        <p:tav tm="100000">
                                          <p:val>
                                            <p:strVal val="#ppt_w"/>
                                          </p:val>
                                        </p:tav>
                                      </p:tavLst>
                                    </p:anim>
                                    <p:anim calcmode="lin" valueType="num">
                                      <p:cBhvr>
                                        <p:cTn id="13" dur="1000" fill="hold"/>
                                        <p:tgtEl>
                                          <p:spTgt spid="27"/>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2"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slide(fromRight)">
                                      <p:cBhvr>
                                        <p:cTn id="18" dur="10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slide(fromBottom)">
                                      <p:cBhvr>
                                        <p:cTn id="23" dur="10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1000" fill="hold"/>
                                        <p:tgtEl>
                                          <p:spTgt spid="9"/>
                                        </p:tgtEl>
                                        <p:attrNameLst>
                                          <p:attrName>ppt_w</p:attrName>
                                        </p:attrNameLst>
                                      </p:cBhvr>
                                      <p:tavLst>
                                        <p:tav tm="0">
                                          <p:val>
                                            <p:fltVal val="0"/>
                                          </p:val>
                                        </p:tav>
                                        <p:tav tm="100000">
                                          <p:val>
                                            <p:strVal val="#ppt_w"/>
                                          </p:val>
                                        </p:tav>
                                      </p:tavLst>
                                    </p:anim>
                                    <p:anim calcmode="lin" valueType="num">
                                      <p:cBhvr>
                                        <p:cTn id="29" dur="1000" fill="hold"/>
                                        <p:tgtEl>
                                          <p:spTgt spid="9"/>
                                        </p:tgtEl>
                                        <p:attrNameLst>
                                          <p:attrName>ppt_h</p:attrName>
                                        </p:attrNameLst>
                                      </p:cBhvr>
                                      <p:tavLst>
                                        <p:tav tm="0">
                                          <p:val>
                                            <p:fltVal val="0"/>
                                          </p:val>
                                        </p:tav>
                                        <p:tav tm="100000">
                                          <p:val>
                                            <p:strVal val="#ppt_h"/>
                                          </p:val>
                                        </p:tav>
                                      </p:tavLst>
                                    </p:anim>
                                  </p:childTnLst>
                                </p:cTn>
                              </p:par>
                            </p:childTnLst>
                          </p:cTn>
                        </p:par>
                        <p:par>
                          <p:cTn id="30" fill="hold">
                            <p:stCondLst>
                              <p:cond delay="1000"/>
                            </p:stCondLst>
                            <p:childTnLst>
                              <p:par>
                                <p:cTn id="31" presetID="23" presetClass="entr" presetSubtype="16" fill="hold" grpId="0" nodeType="after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p:cTn id="33" dur="1000" fill="hold"/>
                                        <p:tgtEl>
                                          <p:spTgt spid="29"/>
                                        </p:tgtEl>
                                        <p:attrNameLst>
                                          <p:attrName>ppt_w</p:attrName>
                                        </p:attrNameLst>
                                      </p:cBhvr>
                                      <p:tavLst>
                                        <p:tav tm="0">
                                          <p:val>
                                            <p:fltVal val="0"/>
                                          </p:val>
                                        </p:tav>
                                        <p:tav tm="100000">
                                          <p:val>
                                            <p:strVal val="#ppt_w"/>
                                          </p:val>
                                        </p:tav>
                                      </p:tavLst>
                                    </p:anim>
                                    <p:anim calcmode="lin" valueType="num">
                                      <p:cBhvr>
                                        <p:cTn id="34" dur="1000" fill="hold"/>
                                        <p:tgtEl>
                                          <p:spTgt spid="29"/>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23" presetClass="entr" presetSubtype="16"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anim calcmode="lin" valueType="num">
                                      <p:cBhvr>
                                        <p:cTn id="39" dur="1000" fill="hold"/>
                                        <p:tgtEl>
                                          <p:spTgt spid="28"/>
                                        </p:tgtEl>
                                        <p:attrNameLst>
                                          <p:attrName>ppt_w</p:attrName>
                                        </p:attrNameLst>
                                      </p:cBhvr>
                                      <p:tavLst>
                                        <p:tav tm="0">
                                          <p:val>
                                            <p:fltVal val="0"/>
                                          </p:val>
                                        </p:tav>
                                        <p:tav tm="100000">
                                          <p:val>
                                            <p:strVal val="#ppt_w"/>
                                          </p:val>
                                        </p:tav>
                                      </p:tavLst>
                                    </p:anim>
                                    <p:anim calcmode="lin" valueType="num">
                                      <p:cBhvr>
                                        <p:cTn id="40" dur="1000" fill="hold"/>
                                        <p:tgtEl>
                                          <p:spTgt spid="28"/>
                                        </p:tgtEl>
                                        <p:attrNameLst>
                                          <p:attrName>ppt_h</p:attrName>
                                        </p:attrNameLst>
                                      </p:cBhvr>
                                      <p:tavLst>
                                        <p:tav tm="0">
                                          <p:val>
                                            <p:fltVal val="0"/>
                                          </p:val>
                                        </p:tav>
                                        <p:tav tm="100000">
                                          <p:val>
                                            <p:strVal val="#ppt_h"/>
                                          </p:val>
                                        </p:tav>
                                      </p:tavLst>
                                    </p:anim>
                                  </p:childTnLst>
                                </p:cTn>
                              </p:par>
                            </p:childTnLst>
                          </p:cTn>
                        </p:par>
                        <p:par>
                          <p:cTn id="41" fill="hold">
                            <p:stCondLst>
                              <p:cond delay="1000"/>
                            </p:stCondLst>
                            <p:childTnLst>
                              <p:par>
                                <p:cTn id="42" presetID="22" presetClass="entr" presetSubtype="1" fill="hold" grpId="0" nodeType="after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wipe(up)">
                                      <p:cBhvr>
                                        <p:cTn id="44" dur="1000"/>
                                        <p:tgtEl>
                                          <p:spTgt spid="50"/>
                                        </p:tgtEl>
                                      </p:cBhvr>
                                    </p:animEffect>
                                  </p:childTnLst>
                                </p:cTn>
                              </p:par>
                            </p:childTnLst>
                          </p:cTn>
                        </p:par>
                        <p:par>
                          <p:cTn id="45" fill="hold">
                            <p:stCondLst>
                              <p:cond delay="2000"/>
                            </p:stCondLst>
                            <p:childTnLst>
                              <p:par>
                                <p:cTn id="46" presetID="12" presetClass="entr" presetSubtype="4" fill="hold" nodeType="after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slide(fromBottom)">
                                      <p:cBhvr>
                                        <p:cTn id="48"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28" grpId="0" animBg="1"/>
      <p:bldP spid="29" grpId="0" animBg="1"/>
      <p:bldP spid="50"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81"/>
          <p:cNvGrpSpPr/>
          <p:nvPr/>
        </p:nvGrpSpPr>
        <p:grpSpPr>
          <a:xfrm>
            <a:off x="400513" y="1331276"/>
            <a:ext cx="4465956" cy="374630"/>
            <a:chOff x="369777" y="1347760"/>
            <a:chExt cx="4465956" cy="374630"/>
          </a:xfrm>
        </p:grpSpPr>
        <p:sp>
          <p:nvSpPr>
            <p:cNvPr id="6" name="TextBox 5"/>
            <p:cNvSpPr txBox="1"/>
            <p:nvPr/>
          </p:nvSpPr>
          <p:spPr>
            <a:xfrm>
              <a:off x="723710" y="1350409"/>
              <a:ext cx="4112023" cy="369332"/>
            </a:xfrm>
            <a:prstGeom prst="rect">
              <a:avLst/>
            </a:prstGeom>
            <a:noFill/>
          </p:spPr>
          <p:txBody>
            <a:bodyPr wrap="none" rtlCol="0">
              <a:spAutoFit/>
            </a:bodyPr>
            <a:lstStyle/>
            <a:p>
              <a:pPr lvl="0"/>
              <a:r>
                <a:rPr lang="zh-CN" altLang="en-US" b="1" dirty="0">
                  <a:solidFill>
                    <a:srgbClr val="CC00CC"/>
                  </a:solidFill>
                  <a:latin typeface="黑体" panose="02010609060101010101" pitchFamily="49" charset="-122"/>
                  <a:ea typeface="黑体" panose="02010609060101010101" pitchFamily="49" charset="-122"/>
                </a:rPr>
                <a:t>例：</a:t>
              </a:r>
              <a:r>
                <a:rPr lang="zh-CN" altLang="en-US" b="1" dirty="0">
                  <a:solidFill>
                    <a:srgbClr val="6600FF"/>
                  </a:solidFill>
                  <a:latin typeface="黑体" panose="02010609060101010101" pitchFamily="49" charset="-122"/>
                  <a:ea typeface="黑体" panose="02010609060101010101" pitchFamily="49" charset="-122"/>
                </a:rPr>
                <a:t>分析图示时序电路，求电路的模。</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7" name="Picture 4"/>
            <p:cNvPicPr>
              <a:picLocks noChangeAspect="1" noChangeArrowheads="1"/>
            </p:cNvPicPr>
            <p:nvPr/>
          </p:nvPicPr>
          <p:blipFill>
            <a:blip r:embed="rId1" cstate="print"/>
            <a:srcRect/>
            <a:stretch>
              <a:fillRect/>
            </a:stretch>
          </p:blipFill>
          <p:spPr bwMode="auto">
            <a:xfrm>
              <a:off x="369777" y="1347760"/>
              <a:ext cx="373669" cy="374630"/>
            </a:xfrm>
            <a:prstGeom prst="rect">
              <a:avLst/>
            </a:prstGeom>
            <a:noFill/>
            <a:ln w="9525">
              <a:noFill/>
              <a:miter lim="800000"/>
              <a:headEnd/>
              <a:tailEnd/>
            </a:ln>
          </p:spPr>
        </p:pic>
      </p:grpSp>
      <p:sp>
        <p:nvSpPr>
          <p:cNvPr id="12" name="圆角矩形标注 11"/>
          <p:cNvSpPr/>
          <p:nvPr/>
        </p:nvSpPr>
        <p:spPr>
          <a:xfrm>
            <a:off x="7074090" y="1092653"/>
            <a:ext cx="1807731" cy="636288"/>
          </a:xfrm>
          <a:prstGeom prst="wedgeRoundRectCallout">
            <a:avLst>
              <a:gd name="adj1" fmla="val -49898"/>
              <a:gd name="adj2" fmla="val 70443"/>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rgbClr val="0000FF"/>
                </a:solidFill>
                <a:latin typeface="微软雅黑" panose="020B0503020204020204" pitchFamily="34" charset="-122"/>
                <a:ea typeface="微软雅黑" panose="020B0503020204020204" pitchFamily="34" charset="-122"/>
              </a:rPr>
              <a:t>并行进位</a:t>
            </a:r>
            <a:endParaRPr lang="en-US" altLang="zh-CN" sz="1600" b="1" dirty="0">
              <a:solidFill>
                <a:srgbClr val="0000FF"/>
              </a:solidFill>
              <a:latin typeface="微软雅黑" panose="020B0503020204020204" pitchFamily="34" charset="-122"/>
              <a:ea typeface="微软雅黑" panose="020B0503020204020204" pitchFamily="34" charset="-122"/>
            </a:endParaRPr>
          </a:p>
          <a:p>
            <a:pPr algn="ctr"/>
            <a:r>
              <a:rPr lang="zh-CN" altLang="en-US" sz="1400" dirty="0">
                <a:solidFill>
                  <a:srgbClr val="0000FF"/>
                </a:solidFill>
                <a:latin typeface="微软雅黑" panose="020B0503020204020204" pitchFamily="34" charset="-122"/>
                <a:ea typeface="微软雅黑" panose="020B0503020204020204" pitchFamily="34" charset="-122"/>
              </a:rPr>
              <a:t>（同步时序逻辑电路）</a:t>
            </a:r>
            <a:endParaRPr lang="zh-CN" altLang="en-US" sz="1400" dirty="0">
              <a:solidFill>
                <a:srgbClr val="0000FF"/>
              </a:solidFill>
              <a:latin typeface="微软雅黑" panose="020B0503020204020204" pitchFamily="34" charset="-122"/>
              <a:ea typeface="微软雅黑" panose="020B0503020204020204" pitchFamily="34" charset="-122"/>
            </a:endParaRPr>
          </a:p>
        </p:txBody>
      </p:sp>
      <p:graphicFrame>
        <p:nvGraphicFramePr>
          <p:cNvPr id="71682" name="Object 2"/>
          <p:cNvGraphicFramePr>
            <a:graphicFrameLocks noChangeAspect="1"/>
          </p:cNvGraphicFramePr>
          <p:nvPr/>
        </p:nvGraphicFramePr>
        <p:xfrm>
          <a:off x="1787525" y="1895475"/>
          <a:ext cx="5453063" cy="1870075"/>
        </p:xfrm>
        <a:graphic>
          <a:graphicData uri="http://schemas.openxmlformats.org/presentationml/2006/ole">
            <mc:AlternateContent xmlns:mc="http://schemas.openxmlformats.org/markup-compatibility/2006">
              <mc:Choice xmlns:v="urn:schemas-microsoft-com:vml" Requires="v">
                <p:oleObj spid="_x0000_s52228" name="Visio" r:id="rId2" imgW="2247265" imgH="777240" progId="Visio.Drawing.11">
                  <p:embed/>
                </p:oleObj>
              </mc:Choice>
              <mc:Fallback>
                <p:oleObj name="Visio" r:id="rId2" imgW="2247265" imgH="777240" progId="Visio.Drawing.11">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7525" y="1895475"/>
                        <a:ext cx="5453063" cy="1870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 name="剪去对角的矩形 50"/>
          <p:cNvSpPr/>
          <p:nvPr/>
        </p:nvSpPr>
        <p:spPr>
          <a:xfrm>
            <a:off x="1824586" y="1854084"/>
            <a:ext cx="5414765" cy="2199615"/>
          </a:xfrm>
          <a:prstGeom prst="snip2DiagRect">
            <a:avLst>
              <a:gd name="adj1" fmla="val 11220"/>
              <a:gd name="adj2" fmla="val 0"/>
            </a:avLst>
          </a:prstGeom>
          <a:no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608898" y="4270986"/>
            <a:ext cx="7877745" cy="646331"/>
          </a:xfrm>
          <a:prstGeom prst="rect">
            <a:avLst/>
          </a:prstGeom>
        </p:spPr>
        <p:txBody>
          <a:bodyPr wrap="square">
            <a:spAutoFit/>
          </a:bodyPr>
          <a:lstStyle/>
          <a:p>
            <a:pPr marL="1165225" indent="-1165225" eaLnBrk="0" hangingPunct="0"/>
            <a:r>
              <a:rPr lang="zh-CN" altLang="en-US" dirty="0">
                <a:solidFill>
                  <a:srgbClr val="FF0000"/>
                </a:solidFill>
                <a:latin typeface="微软雅黑" panose="020B0503020204020204" pitchFamily="34" charset="-122"/>
                <a:ea typeface="微软雅黑" panose="020B0503020204020204" pitchFamily="34" charset="-122"/>
              </a:rPr>
              <a:t>课下练习：利用</a:t>
            </a:r>
            <a:r>
              <a:rPr lang="en-US" altLang="zh-CN" dirty="0">
                <a:solidFill>
                  <a:srgbClr val="FF0000"/>
                </a:solidFill>
                <a:latin typeface="微软雅黑" panose="020B0503020204020204" pitchFamily="34" charset="-122"/>
                <a:ea typeface="微软雅黑" panose="020B0503020204020204" pitchFamily="34" charset="-122"/>
              </a:rPr>
              <a:t>74163</a:t>
            </a:r>
            <a:r>
              <a:rPr lang="zh-CN" altLang="en-US" dirty="0">
                <a:solidFill>
                  <a:srgbClr val="FF0000"/>
                </a:solidFill>
                <a:latin typeface="微软雅黑" panose="020B0503020204020204" pitchFamily="34" charset="-122"/>
                <a:ea typeface="微软雅黑" panose="020B0503020204020204" pitchFamily="34" charset="-122"/>
              </a:rPr>
              <a:t>（</a:t>
            </a:r>
            <a:r>
              <a:rPr lang="en-US" altLang="zh-CN" dirty="0">
                <a:solidFill>
                  <a:srgbClr val="FF0000"/>
                </a:solidFill>
                <a:latin typeface="微软雅黑" panose="020B0503020204020204" pitchFamily="34" charset="-122"/>
                <a:ea typeface="微软雅黑" panose="020B0503020204020204" pitchFamily="34" charset="-122"/>
              </a:rPr>
              <a:t>74161</a:t>
            </a:r>
            <a:r>
              <a:rPr lang="zh-CN" altLang="en-US" dirty="0">
                <a:solidFill>
                  <a:srgbClr val="FF0000"/>
                </a:solidFill>
                <a:latin typeface="微软雅黑" panose="020B0503020204020204" pitchFamily="34" charset="-122"/>
                <a:ea typeface="微软雅黑" panose="020B0503020204020204" pitchFamily="34" charset="-122"/>
              </a:rPr>
              <a:t>）构成一个模为</a:t>
            </a:r>
            <a:r>
              <a:rPr lang="en-US" altLang="zh-CN" dirty="0">
                <a:solidFill>
                  <a:srgbClr val="FF0000"/>
                </a:solidFill>
                <a:latin typeface="微软雅黑" panose="020B0503020204020204" pitchFamily="34" charset="-122"/>
                <a:ea typeface="微软雅黑" panose="020B0503020204020204" pitchFamily="34" charset="-122"/>
              </a:rPr>
              <a:t>24</a:t>
            </a:r>
            <a:r>
              <a:rPr lang="zh-CN" altLang="en-US" dirty="0">
                <a:solidFill>
                  <a:srgbClr val="FF0000"/>
                </a:solidFill>
                <a:latin typeface="微软雅黑" panose="020B0503020204020204" pitchFamily="34" charset="-122"/>
                <a:ea typeface="微软雅黑" panose="020B0503020204020204" pitchFamily="34" charset="-122"/>
              </a:rPr>
              <a:t>、</a:t>
            </a:r>
            <a:r>
              <a:rPr lang="en-US" altLang="zh-CN" dirty="0">
                <a:solidFill>
                  <a:srgbClr val="FF0000"/>
                </a:solidFill>
                <a:latin typeface="微软雅黑" panose="020B0503020204020204" pitchFamily="34" charset="-122"/>
                <a:ea typeface="微软雅黑" panose="020B0503020204020204" pitchFamily="34" charset="-122"/>
              </a:rPr>
              <a:t>60</a:t>
            </a:r>
            <a:r>
              <a:rPr lang="zh-CN" altLang="en-US" dirty="0">
                <a:solidFill>
                  <a:srgbClr val="FF0000"/>
                </a:solidFill>
                <a:latin typeface="微软雅黑" panose="020B0503020204020204" pitchFamily="34" charset="-122"/>
                <a:ea typeface="微软雅黑" panose="020B0503020204020204" pitchFamily="34" charset="-122"/>
              </a:rPr>
              <a:t>的</a:t>
            </a:r>
            <a:r>
              <a:rPr lang="en-US" altLang="zh-CN" dirty="0">
                <a:solidFill>
                  <a:srgbClr val="FF0000"/>
                </a:solidFill>
                <a:latin typeface="微软雅黑" panose="020B0503020204020204" pitchFamily="34" charset="-122"/>
                <a:ea typeface="微软雅黑" panose="020B0503020204020204" pitchFamily="34" charset="-122"/>
              </a:rPr>
              <a:t>8421BCD</a:t>
            </a:r>
            <a:r>
              <a:rPr lang="zh-CN" altLang="en-US" dirty="0">
                <a:solidFill>
                  <a:srgbClr val="FF0000"/>
                </a:solidFill>
                <a:latin typeface="微软雅黑" panose="020B0503020204020204" pitchFamily="34" charset="-122"/>
                <a:ea typeface="微软雅黑" panose="020B0503020204020204" pitchFamily="34" charset="-122"/>
              </a:rPr>
              <a:t>码的十进制计数器并用实验板验证。（要求：</a:t>
            </a:r>
            <a:r>
              <a:rPr lang="en-US" altLang="zh-CN" dirty="0">
                <a:solidFill>
                  <a:srgbClr val="FF0000"/>
                </a:solidFill>
                <a:latin typeface="微软雅黑" panose="020B0503020204020204" pitchFamily="34" charset="-122"/>
                <a:ea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rPr>
              <a:t>利用数码管显示计数过程）</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3" name="圆角矩形标注 12"/>
          <p:cNvSpPr/>
          <p:nvPr/>
        </p:nvSpPr>
        <p:spPr>
          <a:xfrm>
            <a:off x="7555036" y="3872506"/>
            <a:ext cx="1133871" cy="473484"/>
          </a:xfrm>
          <a:prstGeom prst="wedgeRoundRectCallout">
            <a:avLst>
              <a:gd name="adj1" fmla="val -68851"/>
              <a:gd name="adj2" fmla="val -92420"/>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0000FF"/>
                </a:solidFill>
                <a:latin typeface="微软雅黑" panose="020B0503020204020204" pitchFamily="34" charset="-122"/>
                <a:ea typeface="微软雅黑" panose="020B0503020204020204" pitchFamily="34" charset="-122"/>
              </a:rPr>
              <a:t>M=</a:t>
            </a:r>
            <a:r>
              <a:rPr lang="zh-CN" altLang="en-US" sz="1600" dirty="0">
                <a:solidFill>
                  <a:srgbClr val="0000FF"/>
                </a:solidFill>
                <a:latin typeface="微软雅黑" panose="020B0503020204020204" pitchFamily="34" charset="-122"/>
                <a:ea typeface="微软雅黑" panose="020B0503020204020204" pitchFamily="34" charset="-122"/>
              </a:rPr>
              <a:t>？</a:t>
            </a:r>
            <a:endParaRPr lang="zh-CN" altLang="en-US" sz="1600" dirty="0">
              <a:solidFill>
                <a:srgbClr val="0000FF"/>
              </a:solidFill>
              <a:latin typeface="微软雅黑" panose="020B0503020204020204" pitchFamily="34" charset="-122"/>
              <a:ea typeface="微软雅黑" panose="020B0503020204020204" pitchFamily="34" charset="-122"/>
            </a:endParaRPr>
          </a:p>
        </p:txBody>
      </p:sp>
      <p:grpSp>
        <p:nvGrpSpPr>
          <p:cNvPr id="14" name="组合 34"/>
          <p:cNvGrpSpPr/>
          <p:nvPr/>
        </p:nvGrpSpPr>
        <p:grpSpPr>
          <a:xfrm>
            <a:off x="392432" y="735720"/>
            <a:ext cx="6649115" cy="420971"/>
            <a:chOff x="670560" y="892917"/>
            <a:chExt cx="6649115" cy="420971"/>
          </a:xfrm>
        </p:grpSpPr>
        <p:sp>
          <p:nvSpPr>
            <p:cNvPr id="15" name="矩形 14"/>
            <p:cNvSpPr/>
            <p:nvPr/>
          </p:nvSpPr>
          <p:spPr>
            <a:xfrm>
              <a:off x="1035231" y="913778"/>
              <a:ext cx="6284444" cy="400110"/>
            </a:xfrm>
            <a:prstGeom prst="rect">
              <a:avLst/>
            </a:prstGeom>
          </p:spPr>
          <p:txBody>
            <a:bodyPr wrap="square">
              <a:spAutoFit/>
            </a:bodyPr>
            <a:lstStyle/>
            <a:p>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集成计数器的应用</a:t>
              </a:r>
              <a:r>
                <a:rPr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构成任意进制计数器</a:t>
              </a:r>
              <a:r>
                <a:rPr lang="en-US" altLang="zh-CN" sz="20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(M&lt;N)</a:t>
              </a:r>
              <a:endParaRPr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6"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71682"/>
                                        </p:tgtEl>
                                        <p:attrNameLst>
                                          <p:attrName>style.visibility</p:attrName>
                                        </p:attrNameLst>
                                      </p:cBhvr>
                                      <p:to>
                                        <p:strVal val="visible"/>
                                      </p:to>
                                    </p:set>
                                    <p:animEffect transition="in" filter="slide(fromBottom)">
                                      <p:cBhvr>
                                        <p:cTn id="7" dur="1000"/>
                                        <p:tgtEl>
                                          <p:spTgt spid="71682"/>
                                        </p:tgtEl>
                                      </p:cBhvr>
                                    </p:animEffect>
                                  </p:childTnLst>
                                </p:cTn>
                              </p:par>
                            </p:childTnLst>
                          </p:cTn>
                        </p:par>
                        <p:par>
                          <p:cTn id="8" fill="hold">
                            <p:stCondLst>
                              <p:cond delay="1000"/>
                            </p:stCondLst>
                            <p:childTnLst>
                              <p:par>
                                <p:cTn id="9" presetID="2" presetClass="entr" presetSubtype="3"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childTnLst>
                          </p:cTn>
                        </p:par>
                        <p:par>
                          <p:cTn id="13" fill="hold">
                            <p:stCondLst>
                              <p:cond delay="1500"/>
                            </p:stCondLst>
                            <p:childTnLst>
                              <p:par>
                                <p:cTn id="14" presetID="22" presetClass="entr" presetSubtype="1"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up)">
                                      <p:cBhvr>
                                        <p:cTn id="16" dur="10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59"/>
                                        </p:tgtEl>
                                        <p:attrNameLst>
                                          <p:attrName>style.visibility</p:attrName>
                                        </p:attrNameLst>
                                      </p:cBhvr>
                                      <p:to>
                                        <p:strVal val="visible"/>
                                      </p:to>
                                    </p:set>
                                    <p:animEffect transition="in" filter="slide(fromBottom)">
                                      <p:cBhvr>
                                        <p:cTn id="21" dur="1000"/>
                                        <p:tgtEl>
                                          <p:spTgt spid="59"/>
                                        </p:tgtEl>
                                      </p:cBhvr>
                                    </p:animEffect>
                                  </p:childTnLst>
                                </p:cTn>
                              </p:par>
                            </p:childTnLst>
                          </p:cTn>
                        </p:par>
                        <p:par>
                          <p:cTn id="22" fill="hold">
                            <p:stCondLst>
                              <p:cond delay="1000"/>
                            </p:stCondLst>
                            <p:childTnLst>
                              <p:par>
                                <p:cTn id="23" presetID="12" presetClass="entr" presetSubtype="4" fill="hold"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slide(fromBottom)">
                                      <p:cBhvr>
                                        <p:cTn id="25"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59" grpId="0"/>
      <p:bldP spid="13"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1"/>
          <p:cNvGrpSpPr/>
          <p:nvPr/>
        </p:nvGrpSpPr>
        <p:grpSpPr>
          <a:xfrm>
            <a:off x="392432" y="735720"/>
            <a:ext cx="5513068" cy="420971"/>
            <a:chOff x="670560" y="892917"/>
            <a:chExt cx="5513068" cy="420971"/>
          </a:xfrm>
        </p:grpSpPr>
        <p:sp>
          <p:nvSpPr>
            <p:cNvPr id="3" name="矩形 2"/>
            <p:cNvSpPr/>
            <p:nvPr/>
          </p:nvSpPr>
          <p:spPr>
            <a:xfrm>
              <a:off x="1035232" y="913778"/>
              <a:ext cx="514839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集成计数器构成分频器</a:t>
              </a:r>
              <a:endParaRPr lang="zh-CN" altLang="en-US" sz="2000" b="1" dirty="0">
                <a:solidFill>
                  <a:srgbClr val="CC00CC"/>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6" name="矩形 21"/>
          <p:cNvSpPr>
            <a:spLocks noChangeArrowheads="1"/>
          </p:cNvSpPr>
          <p:nvPr/>
        </p:nvSpPr>
        <p:spPr bwMode="auto">
          <a:xfrm>
            <a:off x="448159" y="1297611"/>
            <a:ext cx="5946015" cy="984885"/>
          </a:xfrm>
          <a:prstGeom prst="rect">
            <a:avLst/>
          </a:prstGeom>
          <a:noFill/>
          <a:ln w="9525">
            <a:noFill/>
            <a:miter lim="800000"/>
          </a:ln>
        </p:spPr>
        <p:txBody>
          <a:bodyPr wrap="square">
            <a:spAutoFit/>
          </a:bodyPr>
          <a:lstStyle/>
          <a:p>
            <a:pPr marL="323850" indent="-323850">
              <a:spcBef>
                <a:spcPts val="600"/>
              </a:spcBef>
              <a:buFont typeface="Wingdings" panose="05000000000000000000" pitchFamily="2" charset="2"/>
              <a:buChar char="u"/>
            </a:pPr>
            <a:r>
              <a:rPr kumimoji="1" lang="zh-CN" altLang="en-US" sz="1600" dirty="0">
                <a:latin typeface="微软雅黑" panose="020B0503020204020204" pitchFamily="34" charset="-122"/>
                <a:ea typeface="微软雅黑" panose="020B0503020204020204" pitchFamily="34" charset="-122"/>
              </a:rPr>
              <a:t>计数器不仅可以用来做计数器，还可以做</a:t>
            </a:r>
            <a:r>
              <a:rPr kumimoji="1" lang="zh-CN" altLang="en-US" sz="1600" dirty="0">
                <a:solidFill>
                  <a:srgbClr val="6600FF"/>
                </a:solidFill>
                <a:latin typeface="微软雅黑" panose="020B0503020204020204" pitchFamily="34" charset="-122"/>
                <a:ea typeface="微软雅黑" panose="020B0503020204020204" pitchFamily="34" charset="-122"/>
              </a:rPr>
              <a:t>分频器</a:t>
            </a:r>
            <a:r>
              <a:rPr kumimoji="1" lang="zh-CN" altLang="en-US" sz="1600" dirty="0">
                <a:latin typeface="微软雅黑" panose="020B0503020204020204" pitchFamily="34" charset="-122"/>
                <a:ea typeface="微软雅黑" panose="020B0503020204020204" pitchFamily="34" charset="-122"/>
              </a:rPr>
              <a:t>。</a:t>
            </a:r>
            <a:endParaRPr kumimoji="1" lang="en-US" altLang="zh-CN" sz="1600" dirty="0">
              <a:latin typeface="微软雅黑" panose="020B0503020204020204" pitchFamily="34" charset="-122"/>
              <a:ea typeface="微软雅黑" panose="020B0503020204020204" pitchFamily="34" charset="-122"/>
            </a:endParaRPr>
          </a:p>
          <a:p>
            <a:pPr marL="323850" indent="-323850">
              <a:spcBef>
                <a:spcPts val="600"/>
              </a:spcBef>
            </a:pPr>
            <a:r>
              <a:rPr kumimoji="1" lang="zh-CN" altLang="en-US" sz="1600" dirty="0">
                <a:latin typeface="微软雅黑" panose="020B0503020204020204" pitchFamily="34" charset="-122"/>
                <a:ea typeface="微软雅黑" panose="020B0503020204020204" pitchFamily="34" charset="-122"/>
              </a:rPr>
              <a:t>      如</a:t>
            </a:r>
            <a:r>
              <a:rPr kumimoji="1" lang="en-US" altLang="zh-CN" sz="1600" dirty="0">
                <a:latin typeface="微软雅黑" panose="020B0503020204020204" pitchFamily="34" charset="-122"/>
                <a:ea typeface="微软雅黑" panose="020B0503020204020204" pitchFamily="34" charset="-122"/>
              </a:rPr>
              <a:t>74161/163</a:t>
            </a:r>
            <a:r>
              <a:rPr kumimoji="1" lang="zh-CN" altLang="en-US" sz="1600" dirty="0">
                <a:latin typeface="微软雅黑" panose="020B0503020204020204" pitchFamily="34" charset="-122"/>
                <a:ea typeface="微软雅黑" panose="020B0503020204020204" pitchFamily="34" charset="-122"/>
              </a:rPr>
              <a:t>本身</a:t>
            </a:r>
            <a:r>
              <a:rPr kumimoji="1" lang="zh-CN" altLang="en-US" sz="1600" dirty="0">
                <a:solidFill>
                  <a:srgbClr val="6600FF"/>
                </a:solidFill>
                <a:latin typeface="微软雅黑" panose="020B0503020204020204" pitchFamily="34" charset="-122"/>
                <a:ea typeface="微软雅黑" panose="020B0503020204020204" pitchFamily="34" charset="-122"/>
              </a:rPr>
              <a:t>各输出端的输出对时钟就是一个分频器</a:t>
            </a:r>
            <a:r>
              <a:rPr kumimoji="1" lang="zh-CN" altLang="en-US" sz="1600" dirty="0">
                <a:latin typeface="微软雅黑" panose="020B0503020204020204" pitchFamily="34" charset="-122"/>
                <a:ea typeface="微软雅黑" panose="020B0503020204020204" pitchFamily="34" charset="-122"/>
              </a:rPr>
              <a:t>。</a:t>
            </a:r>
            <a:endParaRPr kumimoji="1" lang="en-US" altLang="zh-CN" sz="1600" dirty="0">
              <a:latin typeface="微软雅黑" panose="020B0503020204020204" pitchFamily="34" charset="-122"/>
              <a:ea typeface="微软雅黑" panose="020B0503020204020204" pitchFamily="34" charset="-122"/>
            </a:endParaRPr>
          </a:p>
          <a:p>
            <a:pPr marL="323850" indent="-323850">
              <a:spcBef>
                <a:spcPts val="600"/>
              </a:spcBef>
            </a:pPr>
            <a:r>
              <a:rPr kumimoji="1" lang="zh-CN" altLang="en-US" sz="1600" dirty="0">
                <a:latin typeface="微软雅黑" panose="020B0503020204020204" pitchFamily="34" charset="-122"/>
                <a:ea typeface="微软雅黑" panose="020B0503020204020204" pitchFamily="34" charset="-122"/>
              </a:rPr>
              <a:t>     各输出端的</a:t>
            </a:r>
            <a:r>
              <a:rPr kumimoji="1" lang="zh-CN" altLang="en-US" sz="1600" dirty="0">
                <a:solidFill>
                  <a:srgbClr val="6600FF"/>
                </a:solidFill>
                <a:latin typeface="微软雅黑" panose="020B0503020204020204" pitchFamily="34" charset="-122"/>
                <a:ea typeface="微软雅黑" panose="020B0503020204020204" pitchFamily="34" charset="-122"/>
              </a:rPr>
              <a:t>自然分频比是多少</a:t>
            </a:r>
            <a:r>
              <a:rPr kumimoji="1" lang="zh-CN" altLang="en-US" sz="1600" dirty="0">
                <a:latin typeface="微软雅黑" panose="020B0503020204020204" pitchFamily="34" charset="-122"/>
                <a:ea typeface="微软雅黑" panose="020B0503020204020204" pitchFamily="34" charset="-122"/>
              </a:rPr>
              <a:t>？</a:t>
            </a:r>
            <a:r>
              <a:rPr kumimoji="1" lang="zh-CN" altLang="en-US" sz="1600" dirty="0">
                <a:solidFill>
                  <a:srgbClr val="6600FF"/>
                </a:solidFill>
                <a:latin typeface="微软雅黑" panose="020B0503020204020204" pitchFamily="34" charset="-122"/>
                <a:ea typeface="微软雅黑" panose="020B0503020204020204" pitchFamily="34" charset="-122"/>
              </a:rPr>
              <a:t>最大分频比是多少</a:t>
            </a:r>
            <a:r>
              <a:rPr kumimoji="1" lang="zh-CN" altLang="en-US" sz="1600" dirty="0">
                <a:latin typeface="微软雅黑" panose="020B0503020204020204" pitchFamily="34" charset="-122"/>
                <a:ea typeface="微软雅黑" panose="020B0503020204020204" pitchFamily="34" charset="-122"/>
              </a:rPr>
              <a:t>？</a:t>
            </a:r>
            <a:endParaRPr kumimoji="1" lang="en-US" altLang="zh-CN" sz="1600" dirty="0">
              <a:latin typeface="微软雅黑" panose="020B0503020204020204" pitchFamily="34" charset="-122"/>
              <a:ea typeface="微软雅黑" panose="020B0503020204020204" pitchFamily="34" charset="-122"/>
            </a:endParaRPr>
          </a:p>
        </p:txBody>
      </p:sp>
      <p:grpSp>
        <p:nvGrpSpPr>
          <p:cNvPr id="5" name="组合 17"/>
          <p:cNvGrpSpPr/>
          <p:nvPr/>
        </p:nvGrpSpPr>
        <p:grpSpPr>
          <a:xfrm>
            <a:off x="612564" y="2531163"/>
            <a:ext cx="5622584" cy="2173360"/>
            <a:chOff x="672198" y="132520"/>
            <a:chExt cx="4940097" cy="1824068"/>
          </a:xfrm>
          <a:effectLst>
            <a:glow rad="101600">
              <a:schemeClr val="accent5">
                <a:satMod val="175000"/>
                <a:alpha val="40000"/>
              </a:schemeClr>
            </a:glow>
          </a:effectLst>
        </p:grpSpPr>
        <p:sp>
          <p:nvSpPr>
            <p:cNvPr id="14" name="圆角矩形 13"/>
            <p:cNvSpPr/>
            <p:nvPr/>
          </p:nvSpPr>
          <p:spPr>
            <a:xfrm>
              <a:off x="672198" y="364434"/>
              <a:ext cx="4940097" cy="1592154"/>
            </a:xfrm>
            <a:prstGeom prst="roundRect">
              <a:avLst>
                <a:gd name="adj" fmla="val 7119"/>
              </a:avLst>
            </a:prstGeom>
            <a:solidFill>
              <a:schemeClr val="bg1"/>
            </a:solidFill>
            <a:ln>
              <a:noFill/>
            </a:ln>
            <a:effectLst>
              <a:glow rad="63500">
                <a:schemeClr val="accent5">
                  <a:satMod val="175000"/>
                  <a:alpha val="40000"/>
                </a:schemeClr>
              </a:glow>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indent="450850">
                <a:lnSpc>
                  <a:spcPct val="125000"/>
                </a:lnSpc>
              </a:pPr>
              <a:r>
                <a:rPr kumimoji="1" lang="zh-CN" altLang="en-US" sz="1600" dirty="0">
                  <a:solidFill>
                    <a:schemeClr val="tx1"/>
                  </a:solidFill>
                  <a:latin typeface="微软雅黑" panose="020B0503020204020204" pitchFamily="34" charset="-122"/>
                  <a:ea typeface="微软雅黑" panose="020B0503020204020204" pitchFamily="34" charset="-122"/>
                </a:rPr>
                <a:t>用集成计数器构成分频器时，需要先</a:t>
              </a:r>
              <a:r>
                <a:rPr kumimoji="1" lang="zh-CN" altLang="en-US" sz="1600" dirty="0">
                  <a:solidFill>
                    <a:srgbClr val="CC00CC"/>
                  </a:solidFill>
                  <a:latin typeface="微软雅黑" panose="020B0503020204020204" pitchFamily="34" charset="-122"/>
                  <a:ea typeface="微软雅黑" panose="020B0503020204020204" pitchFamily="34" charset="-122"/>
                </a:rPr>
                <a:t>将集成计数器构成模与分频比相同的计数器</a:t>
              </a:r>
              <a:r>
                <a:rPr kumimoji="1" lang="zh-CN" altLang="en-US" sz="1600" dirty="0">
                  <a:solidFill>
                    <a:schemeClr val="tx1"/>
                  </a:solidFill>
                  <a:latin typeface="微软雅黑" panose="020B0503020204020204" pitchFamily="34" charset="-122"/>
                  <a:ea typeface="微软雅黑" panose="020B0503020204020204" pitchFamily="34" charset="-122"/>
                </a:rPr>
                <a:t>，然后以新构成的计数器的</a:t>
              </a:r>
              <a:r>
                <a:rPr kumimoji="1" lang="zh-CN" altLang="en-US" sz="1600" dirty="0">
                  <a:solidFill>
                    <a:srgbClr val="CC00CC"/>
                  </a:solidFill>
                  <a:latin typeface="微软雅黑" panose="020B0503020204020204" pitchFamily="34" charset="-122"/>
                  <a:ea typeface="微软雅黑" panose="020B0503020204020204" pitchFamily="34" charset="-122"/>
                </a:rPr>
                <a:t>状态作为输入变量，设计一个组合逻辑电路</a:t>
              </a:r>
              <a:r>
                <a:rPr kumimoji="1" lang="zh-CN" altLang="en-US" sz="1600" dirty="0">
                  <a:solidFill>
                    <a:schemeClr val="tx1"/>
                  </a:solidFill>
                  <a:latin typeface="微软雅黑" panose="020B0503020204020204" pitchFamily="34" charset="-122"/>
                  <a:ea typeface="微软雅黑" panose="020B0503020204020204" pitchFamily="34" charset="-122"/>
                </a:rPr>
                <a:t>，对应所构成的计数器的状态循环，该组合逻辑电路的</a:t>
              </a:r>
              <a:r>
                <a:rPr kumimoji="1" lang="zh-CN" altLang="en-US" sz="1600" dirty="0">
                  <a:solidFill>
                    <a:srgbClr val="CC00CC"/>
                  </a:solidFill>
                  <a:latin typeface="微软雅黑" panose="020B0503020204020204" pitchFamily="34" charset="-122"/>
                  <a:ea typeface="微软雅黑" panose="020B0503020204020204" pitchFamily="34" charset="-122"/>
                </a:rPr>
                <a:t>输出中</a:t>
              </a:r>
              <a:r>
                <a:rPr kumimoji="1" lang="en-US" altLang="zh-CN" sz="1600" dirty="0">
                  <a:solidFill>
                    <a:srgbClr val="CC00CC"/>
                  </a:solidFill>
                  <a:latin typeface="微软雅黑" panose="020B0503020204020204" pitchFamily="34" charset="-122"/>
                  <a:ea typeface="微软雅黑" panose="020B0503020204020204" pitchFamily="34" charset="-122"/>
                </a:rPr>
                <a:t>0</a:t>
              </a:r>
              <a:r>
                <a:rPr kumimoji="1" lang="zh-CN" altLang="en-US" sz="1600" dirty="0">
                  <a:solidFill>
                    <a:srgbClr val="CC00CC"/>
                  </a:solidFill>
                  <a:latin typeface="微软雅黑" panose="020B0503020204020204" pitchFamily="34" charset="-122"/>
                  <a:ea typeface="微软雅黑" panose="020B0503020204020204" pitchFamily="34" charset="-122"/>
                </a:rPr>
                <a:t>和</a:t>
              </a:r>
              <a:r>
                <a:rPr kumimoji="1" lang="en-US" altLang="zh-CN" sz="1600" dirty="0">
                  <a:solidFill>
                    <a:srgbClr val="CC00CC"/>
                  </a:solidFill>
                  <a:latin typeface="微软雅黑" panose="020B0503020204020204" pitchFamily="34" charset="-122"/>
                  <a:ea typeface="微软雅黑" panose="020B0503020204020204" pitchFamily="34" charset="-122"/>
                </a:rPr>
                <a:t>1</a:t>
              </a:r>
              <a:r>
                <a:rPr kumimoji="1" lang="zh-CN" altLang="en-US" sz="1600" dirty="0">
                  <a:solidFill>
                    <a:srgbClr val="CC00CC"/>
                  </a:solidFill>
                  <a:latin typeface="微软雅黑" panose="020B0503020204020204" pitchFamily="34" charset="-122"/>
                  <a:ea typeface="微软雅黑" panose="020B0503020204020204" pitchFamily="34" charset="-122"/>
                </a:rPr>
                <a:t>是连续</a:t>
              </a:r>
              <a:r>
                <a:rPr kumimoji="1" lang="zh-CN" altLang="en-US" sz="1600" dirty="0">
                  <a:solidFill>
                    <a:schemeClr val="tx1"/>
                  </a:solidFill>
                  <a:latin typeface="微软雅黑" panose="020B0503020204020204" pitchFamily="34" charset="-122"/>
                  <a:ea typeface="微软雅黑" panose="020B0503020204020204" pitchFamily="34" charset="-122"/>
                </a:rPr>
                <a:t>的，同时</a:t>
              </a:r>
              <a:r>
                <a:rPr kumimoji="1" lang="en-US" altLang="zh-CN" sz="1600" dirty="0">
                  <a:solidFill>
                    <a:schemeClr val="tx1"/>
                  </a:solidFill>
                  <a:latin typeface="微软雅黑" panose="020B0503020204020204" pitchFamily="34" charset="-122"/>
                  <a:ea typeface="微软雅黑" panose="020B0503020204020204" pitchFamily="34" charset="-122"/>
                </a:rPr>
                <a:t>0</a:t>
              </a:r>
              <a:r>
                <a:rPr kumimoji="1" lang="zh-CN" altLang="en-US" sz="1600" dirty="0">
                  <a:solidFill>
                    <a:schemeClr val="tx1"/>
                  </a:solidFill>
                  <a:latin typeface="微软雅黑" panose="020B0503020204020204" pitchFamily="34" charset="-122"/>
                  <a:ea typeface="微软雅黑" panose="020B0503020204020204" pitchFamily="34" charset="-122"/>
                </a:rPr>
                <a:t>和</a:t>
              </a:r>
              <a:r>
                <a:rPr kumimoji="1" lang="en-US" altLang="zh-CN" sz="1600" dirty="0">
                  <a:solidFill>
                    <a:schemeClr val="tx1"/>
                  </a:solidFill>
                  <a:latin typeface="微软雅黑" panose="020B0503020204020204" pitchFamily="34" charset="-122"/>
                  <a:ea typeface="微软雅黑" panose="020B0503020204020204" pitchFamily="34" charset="-122"/>
                </a:rPr>
                <a:t>1</a:t>
              </a:r>
              <a:r>
                <a:rPr kumimoji="1" lang="zh-CN" altLang="en-US" sz="1600" dirty="0">
                  <a:solidFill>
                    <a:schemeClr val="tx1"/>
                  </a:solidFill>
                  <a:latin typeface="微软雅黑" panose="020B0503020204020204" pitchFamily="34" charset="-122"/>
                  <a:ea typeface="微软雅黑" panose="020B0503020204020204" pitchFamily="34" charset="-122"/>
                </a:rPr>
                <a:t>的个数由占空比决定。</a:t>
              </a:r>
              <a:endParaRPr kumimoji="1" lang="en-US" altLang="zh-CN" sz="1600" dirty="0">
                <a:solidFill>
                  <a:schemeClr val="tx1"/>
                </a:solidFill>
                <a:latin typeface="微软雅黑" panose="020B0503020204020204" pitchFamily="34" charset="-122"/>
                <a:ea typeface="微软雅黑" panose="020B0503020204020204" pitchFamily="34" charset="-122"/>
              </a:endParaRPr>
            </a:p>
          </p:txBody>
        </p:sp>
        <p:sp>
          <p:nvSpPr>
            <p:cNvPr id="15" name="圆角矩形 14"/>
            <p:cNvSpPr/>
            <p:nvPr/>
          </p:nvSpPr>
          <p:spPr>
            <a:xfrm>
              <a:off x="1571607" y="132520"/>
              <a:ext cx="3325071" cy="357810"/>
            </a:xfrm>
            <a:prstGeom prst="roundRect">
              <a:avLst/>
            </a:prstGeom>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rgbClr val="FFFF00"/>
                  </a:solidFill>
                  <a:latin typeface="微软雅黑" panose="020B0503020204020204" pitchFamily="34" charset="-122"/>
                  <a:ea typeface="微软雅黑" panose="020B0503020204020204" pitchFamily="34" charset="-122"/>
                </a:rPr>
                <a:t>用集成计数器构成分频器一般方法</a:t>
              </a:r>
              <a:endParaRPr lang="zh-CN" altLang="en-US" sz="16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aphicFrame>
        <p:nvGraphicFramePr>
          <p:cNvPr id="31" name="表格 30"/>
          <p:cNvGraphicFramePr>
            <a:graphicFrameLocks noGrp="1"/>
          </p:cNvGraphicFramePr>
          <p:nvPr/>
        </p:nvGraphicFramePr>
        <p:xfrm>
          <a:off x="6682758" y="860199"/>
          <a:ext cx="1573346" cy="3612960"/>
        </p:xfrm>
        <a:graphic>
          <a:graphicData uri="http://schemas.openxmlformats.org/drawingml/2006/table">
            <a:tbl>
              <a:tblPr firstRow="1" bandRow="1">
                <a:tableStyleId>{5C22544A-7EE6-4342-B048-85BDC9FD1C3A}</a:tableStyleId>
              </a:tblPr>
              <a:tblGrid>
                <a:gridCol w="359552"/>
                <a:gridCol w="404191"/>
                <a:gridCol w="390939"/>
                <a:gridCol w="418664"/>
              </a:tblGrid>
              <a:tr h="252000">
                <a:tc gridSpan="4">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74161/163</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的状态</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hMerge="1">
                  <a:tcPr marL="0" marR="0" marT="0" marB="0"/>
                </a:tc>
                <a:tc hMerge="1">
                  <a:tcPr marL="0" marR="0" marT="0" marB="0"/>
                </a:tc>
                <a:tc hMerge="1">
                  <a:tcPr marL="0" marR="0" marT="0" marB="0"/>
                </a:tc>
              </a:tr>
              <a:tr h="252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6" name="圆角矩形标注 15"/>
          <p:cNvSpPr/>
          <p:nvPr/>
        </p:nvSpPr>
        <p:spPr>
          <a:xfrm>
            <a:off x="6526216" y="4636802"/>
            <a:ext cx="1895061" cy="339824"/>
          </a:xfrm>
          <a:prstGeom prst="wedgeRoundRectCallout">
            <a:avLst>
              <a:gd name="adj1" fmla="val 24782"/>
              <a:gd name="adj2" fmla="val -108141"/>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2</a:t>
            </a:r>
            <a:r>
              <a:rPr lang="zh-CN" altLang="en-US" sz="1200" dirty="0">
                <a:solidFill>
                  <a:srgbClr val="0000FF"/>
                </a:solidFill>
                <a:latin typeface="微软雅黑" panose="020B0503020204020204" pitchFamily="34" charset="-122"/>
                <a:ea typeface="微软雅黑" panose="020B0503020204020204" pitchFamily="34" charset="-122"/>
              </a:rPr>
              <a:t>分频（最大</a:t>
            </a:r>
            <a:r>
              <a:rPr lang="en-US" altLang="zh-CN" sz="1200" dirty="0">
                <a:solidFill>
                  <a:srgbClr val="0000FF"/>
                </a:solidFill>
                <a:latin typeface="微软雅黑" panose="020B0503020204020204" pitchFamily="34" charset="-122"/>
                <a:ea typeface="微软雅黑" panose="020B0503020204020204" pitchFamily="34" charset="-122"/>
              </a:rPr>
              <a:t>3</a:t>
            </a:r>
            <a:r>
              <a:rPr lang="zh-CN" altLang="en-US" sz="1200" dirty="0">
                <a:solidFill>
                  <a:srgbClr val="0000FF"/>
                </a:solidFill>
                <a:latin typeface="微软雅黑" panose="020B0503020204020204" pitchFamily="34" charset="-122"/>
                <a:ea typeface="微软雅黑" panose="020B0503020204020204" pitchFamily="34" charset="-122"/>
              </a:rPr>
              <a:t>分频）</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7" name="圆角矩形标注 16"/>
          <p:cNvSpPr/>
          <p:nvPr/>
        </p:nvSpPr>
        <p:spPr>
          <a:xfrm>
            <a:off x="6526216" y="4636802"/>
            <a:ext cx="1895061" cy="339824"/>
          </a:xfrm>
          <a:prstGeom prst="wedgeRoundRectCallout">
            <a:avLst>
              <a:gd name="adj1" fmla="val 7300"/>
              <a:gd name="adj2" fmla="val -98392"/>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4</a:t>
            </a:r>
            <a:r>
              <a:rPr lang="zh-CN" altLang="en-US" sz="1200" dirty="0">
                <a:solidFill>
                  <a:srgbClr val="0000FF"/>
                </a:solidFill>
                <a:latin typeface="微软雅黑" panose="020B0503020204020204" pitchFamily="34" charset="-122"/>
                <a:ea typeface="微软雅黑" panose="020B0503020204020204" pitchFamily="34" charset="-122"/>
              </a:rPr>
              <a:t>分频（最大</a:t>
            </a:r>
            <a:r>
              <a:rPr lang="en-US" altLang="zh-CN" sz="1200" dirty="0">
                <a:solidFill>
                  <a:srgbClr val="0000FF"/>
                </a:solidFill>
                <a:latin typeface="微软雅黑" panose="020B0503020204020204" pitchFamily="34" charset="-122"/>
                <a:ea typeface="微软雅黑" panose="020B0503020204020204" pitchFamily="34" charset="-122"/>
              </a:rPr>
              <a:t>6</a:t>
            </a:r>
            <a:r>
              <a:rPr lang="zh-CN" altLang="en-US" sz="1200" dirty="0">
                <a:solidFill>
                  <a:srgbClr val="0000FF"/>
                </a:solidFill>
                <a:latin typeface="微软雅黑" panose="020B0503020204020204" pitchFamily="34" charset="-122"/>
                <a:ea typeface="微软雅黑" panose="020B0503020204020204" pitchFamily="34" charset="-122"/>
              </a:rPr>
              <a:t>分频）</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8" name="圆角矩形标注 17"/>
          <p:cNvSpPr/>
          <p:nvPr/>
        </p:nvSpPr>
        <p:spPr>
          <a:xfrm>
            <a:off x="6526216" y="4636802"/>
            <a:ext cx="1895061" cy="339824"/>
          </a:xfrm>
          <a:prstGeom prst="wedgeRoundRectCallout">
            <a:avLst>
              <a:gd name="adj1" fmla="val -12668"/>
              <a:gd name="adj2" fmla="val -102278"/>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8</a:t>
            </a:r>
            <a:r>
              <a:rPr lang="zh-CN" altLang="en-US" sz="1200" dirty="0">
                <a:solidFill>
                  <a:srgbClr val="0000FF"/>
                </a:solidFill>
                <a:latin typeface="微软雅黑" panose="020B0503020204020204" pitchFamily="34" charset="-122"/>
                <a:ea typeface="微软雅黑" panose="020B0503020204020204" pitchFamily="34" charset="-122"/>
              </a:rPr>
              <a:t>分频（最大</a:t>
            </a:r>
            <a:r>
              <a:rPr lang="en-US" altLang="zh-CN" sz="1200" dirty="0">
                <a:solidFill>
                  <a:srgbClr val="0000FF"/>
                </a:solidFill>
                <a:latin typeface="微软雅黑" panose="020B0503020204020204" pitchFamily="34" charset="-122"/>
                <a:ea typeface="微软雅黑" panose="020B0503020204020204" pitchFamily="34" charset="-122"/>
              </a:rPr>
              <a:t>12</a:t>
            </a:r>
            <a:r>
              <a:rPr lang="zh-CN" altLang="en-US" sz="1200" dirty="0">
                <a:solidFill>
                  <a:srgbClr val="0000FF"/>
                </a:solidFill>
                <a:latin typeface="微软雅黑" panose="020B0503020204020204" pitchFamily="34" charset="-122"/>
                <a:ea typeface="微软雅黑" panose="020B0503020204020204" pitchFamily="34" charset="-122"/>
              </a:rPr>
              <a:t>分频）</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
        <p:nvSpPr>
          <p:cNvPr id="19" name="圆角矩形标注 18"/>
          <p:cNvSpPr/>
          <p:nvPr/>
        </p:nvSpPr>
        <p:spPr>
          <a:xfrm>
            <a:off x="6526216" y="4636802"/>
            <a:ext cx="1895061" cy="339824"/>
          </a:xfrm>
          <a:prstGeom prst="wedgeRoundRectCallout">
            <a:avLst>
              <a:gd name="adj1" fmla="val -29064"/>
              <a:gd name="adj2" fmla="val -94492"/>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rgbClr val="0000FF"/>
                </a:solidFill>
                <a:latin typeface="微软雅黑" panose="020B0503020204020204" pitchFamily="34" charset="-122"/>
                <a:ea typeface="微软雅黑" panose="020B0503020204020204" pitchFamily="34" charset="-122"/>
              </a:rPr>
              <a:t>16</a:t>
            </a:r>
            <a:r>
              <a:rPr lang="zh-CN" altLang="en-US" sz="1200" dirty="0">
                <a:solidFill>
                  <a:srgbClr val="0000FF"/>
                </a:solidFill>
                <a:latin typeface="微软雅黑" panose="020B0503020204020204" pitchFamily="34" charset="-122"/>
                <a:ea typeface="微软雅黑" panose="020B0503020204020204" pitchFamily="34" charset="-122"/>
              </a:rPr>
              <a:t>分频（最大</a:t>
            </a:r>
            <a:r>
              <a:rPr lang="en-US" altLang="zh-CN" sz="1200" dirty="0">
                <a:solidFill>
                  <a:srgbClr val="0000FF"/>
                </a:solidFill>
                <a:latin typeface="微软雅黑" panose="020B0503020204020204" pitchFamily="34" charset="-122"/>
                <a:ea typeface="微软雅黑" panose="020B0503020204020204" pitchFamily="34" charset="-122"/>
              </a:rPr>
              <a:t>16</a:t>
            </a:r>
            <a:r>
              <a:rPr lang="zh-CN" altLang="en-US" sz="1200" dirty="0">
                <a:solidFill>
                  <a:srgbClr val="0000FF"/>
                </a:solidFill>
                <a:latin typeface="微软雅黑" panose="020B0503020204020204" pitchFamily="34" charset="-122"/>
                <a:ea typeface="微软雅黑" panose="020B0503020204020204" pitchFamily="34" charset="-122"/>
              </a:rPr>
              <a:t>分频）</a:t>
            </a:r>
            <a:endParaRPr lang="zh-CN" altLang="en-US" sz="1200"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1000"/>
                                        <p:tgtEl>
                                          <p:spTgt spid="2"/>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slide(fromBottom)">
                                      <p:cBhvr>
                                        <p:cTn id="11" dur="1000"/>
                                        <p:tgtEl>
                                          <p:spTgt spid="6"/>
                                        </p:tgtEl>
                                      </p:cBhvr>
                                    </p:animEffect>
                                  </p:childTnLst>
                                </p:cTn>
                              </p:par>
                            </p:childTnLst>
                          </p:cTn>
                        </p:par>
                        <p:par>
                          <p:cTn id="12" fill="hold">
                            <p:stCondLst>
                              <p:cond delay="2000"/>
                            </p:stCondLst>
                            <p:childTnLst>
                              <p:par>
                                <p:cTn id="13" presetID="12" presetClass="entr" presetSubtype="4"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slide(fromBottom)">
                                      <p:cBhvr>
                                        <p:cTn id="15" dur="1000"/>
                                        <p:tgtEl>
                                          <p:spTgt spid="3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up)">
                                      <p:cBhvr>
                                        <p:cTn id="20" dur="10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up)">
                                      <p:cBhvr>
                                        <p:cTn id="25" dur="10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up)">
                                      <p:cBhvr>
                                        <p:cTn id="30" dur="10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up)">
                                      <p:cBhvr>
                                        <p:cTn id="35" dur="1000"/>
                                        <p:tgtEl>
                                          <p:spTgt spid="19"/>
                                        </p:tgtEl>
                                      </p:cBhvr>
                                    </p:animEffec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17" presetClass="entr" presetSubtype="10"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 calcmode="lin" valueType="num">
                                      <p:cBhvr>
                                        <p:cTn id="40" dur="1000" fill="hold"/>
                                        <p:tgtEl>
                                          <p:spTgt spid="5"/>
                                        </p:tgtEl>
                                        <p:attrNameLst>
                                          <p:attrName>ppt_w</p:attrName>
                                        </p:attrNameLst>
                                      </p:cBhvr>
                                      <p:tavLst>
                                        <p:tav tm="0">
                                          <p:val>
                                            <p:fltVal val="0"/>
                                          </p:val>
                                        </p:tav>
                                        <p:tav tm="100000">
                                          <p:val>
                                            <p:strVal val="#ppt_w"/>
                                          </p:val>
                                        </p:tav>
                                      </p:tavLst>
                                    </p:anim>
                                    <p:anim calcmode="lin" valueType="num">
                                      <p:cBhvr>
                                        <p:cTn id="41" dur="1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6" grpId="0" animBg="1"/>
      <p:bldP spid="17" grpId="0" animBg="1"/>
      <p:bldP spid="18" grpId="0" animBg="1"/>
      <p:bldP spid="19"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1"/>
          <p:cNvGrpSpPr/>
          <p:nvPr/>
        </p:nvGrpSpPr>
        <p:grpSpPr>
          <a:xfrm>
            <a:off x="392432" y="735720"/>
            <a:ext cx="5513068" cy="420971"/>
            <a:chOff x="670560" y="892917"/>
            <a:chExt cx="5513068" cy="420971"/>
          </a:xfrm>
        </p:grpSpPr>
        <p:sp>
          <p:nvSpPr>
            <p:cNvPr id="3" name="矩形 2"/>
            <p:cNvSpPr/>
            <p:nvPr/>
          </p:nvSpPr>
          <p:spPr>
            <a:xfrm>
              <a:off x="1035232" y="913778"/>
              <a:ext cx="514839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集成计数器构成分频器</a:t>
              </a:r>
              <a:endParaRPr lang="zh-CN" altLang="en-US" sz="2000" b="1" dirty="0">
                <a:solidFill>
                  <a:srgbClr val="CC00CC"/>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aphicFrame>
        <p:nvGraphicFramePr>
          <p:cNvPr id="8" name="表格 7"/>
          <p:cNvGraphicFramePr>
            <a:graphicFrameLocks noGrp="1"/>
          </p:cNvGraphicFramePr>
          <p:nvPr/>
        </p:nvGraphicFramePr>
        <p:xfrm>
          <a:off x="6682758" y="860199"/>
          <a:ext cx="1573346" cy="3612960"/>
        </p:xfrm>
        <a:graphic>
          <a:graphicData uri="http://schemas.openxmlformats.org/drawingml/2006/table">
            <a:tbl>
              <a:tblPr firstRow="1" bandRow="1">
                <a:tableStyleId>{5C22544A-7EE6-4342-B048-85BDC9FD1C3A}</a:tableStyleId>
              </a:tblPr>
              <a:tblGrid>
                <a:gridCol w="359552"/>
                <a:gridCol w="404191"/>
                <a:gridCol w="390939"/>
                <a:gridCol w="418664"/>
              </a:tblGrid>
              <a:tr h="252000">
                <a:tc gridSpan="4">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74161/163</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的状态</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hMerge="1">
                  <a:tcPr marL="0" marR="0" marT="0" marB="0"/>
                </a:tc>
                <a:tc hMerge="1">
                  <a:tcPr marL="0" marR="0" marT="0" marB="0"/>
                </a:tc>
                <a:tc hMerge="1">
                  <a:tcPr marL="0" marR="0" marT="0" marB="0"/>
                </a:tc>
              </a:tr>
              <a:tr h="252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9" name="表格 8"/>
          <p:cNvGraphicFramePr>
            <a:graphicFrameLocks noGrp="1"/>
          </p:cNvGraphicFramePr>
          <p:nvPr/>
        </p:nvGraphicFramePr>
        <p:xfrm>
          <a:off x="8322364" y="861392"/>
          <a:ext cx="549966" cy="3609990"/>
        </p:xfrm>
        <a:graphic>
          <a:graphicData uri="http://schemas.openxmlformats.org/drawingml/2006/table">
            <a:tbl>
              <a:tblPr firstRow="1" bandRow="1">
                <a:tableStyleId>{5C22544A-7EE6-4342-B048-85BDC9FD1C3A}</a:tableStyleId>
              </a:tblPr>
              <a:tblGrid>
                <a:gridCol w="549966"/>
              </a:tblGrid>
              <a:tr h="501030">
                <a:tc>
                  <a:txBody>
                    <a:bodyPr/>
                    <a:lstStyle/>
                    <a:p>
                      <a:pPr algn="ctr"/>
                      <a:r>
                        <a:rPr lang="zh-CN" altLang="en-US" sz="10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分频输出 </a:t>
                      </a:r>
                      <a:r>
                        <a:rPr lang="en-US" altLang="zh-CN" sz="12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Z</a:t>
                      </a:r>
                      <a:endParaRPr lang="zh-CN" altLang="en-US" sz="12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21" name="圆角矩形 20"/>
          <p:cNvSpPr/>
          <p:nvPr/>
        </p:nvSpPr>
        <p:spPr>
          <a:xfrm>
            <a:off x="6738730" y="1365251"/>
            <a:ext cx="1417983" cy="1278558"/>
          </a:xfrm>
          <a:prstGeom prst="roundRect">
            <a:avLst>
              <a:gd name="adj" fmla="val 2020"/>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4" name="表格 23"/>
          <p:cNvGraphicFramePr>
            <a:graphicFrameLocks noGrp="1"/>
          </p:cNvGraphicFramePr>
          <p:nvPr/>
        </p:nvGraphicFramePr>
        <p:xfrm>
          <a:off x="8323843" y="866484"/>
          <a:ext cx="583096" cy="3609990"/>
        </p:xfrm>
        <a:graphic>
          <a:graphicData uri="http://schemas.openxmlformats.org/drawingml/2006/table">
            <a:tbl>
              <a:tblPr firstRow="1" bandRow="1">
                <a:tableStyleId>{5C22544A-7EE6-4342-B048-85BDC9FD1C3A}</a:tableStyleId>
              </a:tblPr>
              <a:tblGrid>
                <a:gridCol w="583096"/>
              </a:tblGrid>
              <a:tr h="501030">
                <a:tc>
                  <a:txBody>
                    <a:bodyPr/>
                    <a:lstStyle/>
                    <a:p>
                      <a:pPr algn="ctr"/>
                      <a:r>
                        <a:rPr lang="zh-CN" altLang="en-US" sz="10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分频输出</a:t>
                      </a:r>
                      <a:endParaRPr lang="en-US" altLang="zh-CN" sz="10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2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Z</a:t>
                      </a:r>
                      <a:endParaRPr lang="zh-CN" altLang="en-US" sz="12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pSp>
        <p:nvGrpSpPr>
          <p:cNvPr id="7" name="Group 4"/>
          <p:cNvGrpSpPr/>
          <p:nvPr/>
        </p:nvGrpSpPr>
        <p:grpSpPr bwMode="auto">
          <a:xfrm>
            <a:off x="4163241" y="1871820"/>
            <a:ext cx="1991069" cy="1782761"/>
            <a:chOff x="1514" y="2056"/>
            <a:chExt cx="1943" cy="1816"/>
          </a:xfrm>
        </p:grpSpPr>
        <p:sp>
          <p:nvSpPr>
            <p:cNvPr id="28" name="AutoShape 5"/>
            <p:cNvSpPr>
              <a:spLocks noChangeArrowheads="1"/>
            </p:cNvSpPr>
            <p:nvPr/>
          </p:nvSpPr>
          <p:spPr bwMode="auto">
            <a:xfrm>
              <a:off x="1514" y="2056"/>
              <a:ext cx="1943" cy="1816"/>
            </a:xfrm>
            <a:prstGeom prst="roundRect">
              <a:avLst>
                <a:gd name="adj" fmla="val 3597"/>
              </a:avLst>
            </a:prstGeom>
            <a:solidFill>
              <a:srgbClr val="FFFFFF"/>
            </a:solidFill>
            <a:ln w="9525">
              <a:solidFill>
                <a:schemeClr val="tx1"/>
              </a:solidFill>
              <a:miter lim="800000"/>
            </a:ln>
          </p:spPr>
          <p:txBody>
            <a:bodyPr wrap="none" anchor="ctr"/>
            <a:lstStyle/>
            <a:p>
              <a:endParaRPr lang="zh-CN" altLang="en-US">
                <a:solidFill>
                  <a:schemeClr val="tx1"/>
                </a:solidFill>
              </a:endParaRPr>
            </a:p>
          </p:txBody>
        </p:sp>
        <p:graphicFrame>
          <p:nvGraphicFramePr>
            <p:cNvPr id="29" name="Object 6"/>
            <p:cNvGraphicFramePr>
              <a:graphicFrameLocks noChangeAspect="1"/>
            </p:cNvGraphicFramePr>
            <p:nvPr/>
          </p:nvGraphicFramePr>
          <p:xfrm>
            <a:off x="1632" y="2146"/>
            <a:ext cx="1604" cy="1593"/>
          </p:xfrm>
          <a:graphic>
            <a:graphicData uri="http://schemas.openxmlformats.org/presentationml/2006/ole">
              <mc:AlternateContent xmlns:mc="http://schemas.openxmlformats.org/markup-compatibility/2006">
                <mc:Choice xmlns:v="urn:schemas-microsoft-com:vml" Requires="v">
                  <p:oleObj spid="_x0000_s53256" name="Visio" r:id="rId2" imgW="1546860" imgH="1536700" progId="Visio.Drawing.11">
                    <p:embed/>
                  </p:oleObj>
                </mc:Choice>
                <mc:Fallback>
                  <p:oleObj name="Visio" r:id="rId2" imgW="1546860" imgH="1536700" progId="Visio.Drawing.11">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2" y="2146"/>
                          <a:ext cx="1604" cy="15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5" name="AutoShape 18"/>
          <p:cNvSpPr>
            <a:spLocks noChangeArrowheads="1"/>
          </p:cNvSpPr>
          <p:nvPr/>
        </p:nvSpPr>
        <p:spPr bwMode="auto">
          <a:xfrm>
            <a:off x="4680226" y="2642013"/>
            <a:ext cx="1183861" cy="512003"/>
          </a:xfrm>
          <a:prstGeom prst="roundRect">
            <a:avLst>
              <a:gd name="adj" fmla="val 8762"/>
            </a:avLst>
          </a:prstGeom>
          <a:solidFill>
            <a:schemeClr val="accent2">
              <a:alpha val="14117"/>
            </a:schemeClr>
          </a:solidFill>
          <a:ln w="12700">
            <a:solidFill>
              <a:srgbClr val="CC00CC"/>
            </a:solidFill>
            <a:miter lim="800000"/>
          </a:ln>
        </p:spPr>
        <p:txBody>
          <a:bodyPr wrap="none" anchor="ctr"/>
          <a:lstStyle/>
          <a:p>
            <a:endParaRPr lang="zh-CN" altLang="en-US">
              <a:solidFill>
                <a:schemeClr val="tx1"/>
              </a:solidFill>
            </a:endParaRPr>
          </a:p>
        </p:txBody>
      </p:sp>
      <p:sp>
        <p:nvSpPr>
          <p:cNvPr id="27" name="AutoShape 19"/>
          <p:cNvSpPr>
            <a:spLocks noChangeArrowheads="1"/>
          </p:cNvSpPr>
          <p:nvPr/>
        </p:nvSpPr>
        <p:spPr bwMode="auto">
          <a:xfrm>
            <a:off x="5301905" y="2319475"/>
            <a:ext cx="257382" cy="1145967"/>
          </a:xfrm>
          <a:prstGeom prst="roundRect">
            <a:avLst>
              <a:gd name="adj" fmla="val 16667"/>
            </a:avLst>
          </a:prstGeom>
          <a:solidFill>
            <a:schemeClr val="hlink">
              <a:alpha val="14117"/>
            </a:schemeClr>
          </a:solidFill>
          <a:ln w="12700">
            <a:solidFill>
              <a:srgbClr val="CC00CC"/>
            </a:solidFill>
            <a:miter lim="800000"/>
          </a:ln>
        </p:spPr>
        <p:txBody>
          <a:bodyPr wrap="none" anchor="ctr"/>
          <a:lstStyle/>
          <a:p>
            <a:endParaRPr lang="zh-CN" altLang="en-US">
              <a:solidFill>
                <a:schemeClr val="tx1"/>
              </a:solidFill>
            </a:endParaRPr>
          </a:p>
        </p:txBody>
      </p:sp>
      <p:grpSp>
        <p:nvGrpSpPr>
          <p:cNvPr id="45" name="组合 44"/>
          <p:cNvGrpSpPr/>
          <p:nvPr/>
        </p:nvGrpSpPr>
        <p:grpSpPr>
          <a:xfrm>
            <a:off x="4399449" y="3831135"/>
            <a:ext cx="1707672" cy="394034"/>
            <a:chOff x="4399449" y="3831135"/>
            <a:chExt cx="1707672" cy="394034"/>
          </a:xfrm>
        </p:grpSpPr>
        <p:sp>
          <p:nvSpPr>
            <p:cNvPr id="44" name="圆角矩形 43"/>
            <p:cNvSpPr/>
            <p:nvPr/>
          </p:nvSpPr>
          <p:spPr>
            <a:xfrm>
              <a:off x="4399449" y="3831135"/>
              <a:ext cx="1707672" cy="394034"/>
            </a:xfrm>
            <a:prstGeom prst="roundRect">
              <a:avLst/>
            </a:prstGeom>
            <a:solidFill>
              <a:srgbClr val="FFFF00"/>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0" name="对象 29"/>
            <p:cNvGraphicFramePr>
              <a:graphicFrameLocks noChangeAspect="1"/>
            </p:cNvGraphicFramePr>
            <p:nvPr/>
          </p:nvGraphicFramePr>
          <p:xfrm>
            <a:off x="4625159" y="3869399"/>
            <a:ext cx="1194970" cy="317500"/>
          </p:xfrm>
          <a:graphic>
            <a:graphicData uri="http://schemas.openxmlformats.org/presentationml/2006/ole">
              <mc:AlternateContent xmlns:mc="http://schemas.openxmlformats.org/markup-compatibility/2006">
                <mc:Choice xmlns:v="urn:schemas-microsoft-com:vml" Requires="v">
                  <p:oleObj spid="_x0000_s53257" name="Equation" r:id="rId4" imgW="19202400" imgH="5486400" progId="">
                    <p:embed/>
                  </p:oleObj>
                </mc:Choice>
                <mc:Fallback>
                  <p:oleObj name="Equation" r:id="rId4" imgW="19202400" imgH="5486400" progId="">
                    <p:embed/>
                    <p:pic>
                      <p:nvPicPr>
                        <p:cNvPr id="0" name="对象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5159" y="3869399"/>
                          <a:ext cx="1194970"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2" name="组合 70"/>
          <p:cNvGrpSpPr/>
          <p:nvPr/>
        </p:nvGrpSpPr>
        <p:grpSpPr>
          <a:xfrm>
            <a:off x="837261" y="2259498"/>
            <a:ext cx="2846844" cy="2542690"/>
            <a:chOff x="1421548" y="2589521"/>
            <a:chExt cx="3488550" cy="3180046"/>
          </a:xfrm>
        </p:grpSpPr>
        <p:graphicFrame>
          <p:nvGraphicFramePr>
            <p:cNvPr id="34" name="Object 5"/>
            <p:cNvGraphicFramePr>
              <a:graphicFrameLocks noChangeAspect="1"/>
            </p:cNvGraphicFramePr>
            <p:nvPr/>
          </p:nvGraphicFramePr>
          <p:xfrm>
            <a:off x="1516075" y="2787457"/>
            <a:ext cx="3291511" cy="2982110"/>
          </p:xfrm>
          <a:graphic>
            <a:graphicData uri="http://schemas.openxmlformats.org/presentationml/2006/ole">
              <mc:AlternateContent xmlns:mc="http://schemas.openxmlformats.org/markup-compatibility/2006">
                <mc:Choice xmlns:v="urn:schemas-microsoft-com:vml" Requires="v">
                  <p:oleObj spid="_x0000_s53258" name="Visio" r:id="rId6" imgW="1624330" imgH="1546860" progId="Visio.Drawing.11">
                    <p:embed/>
                  </p:oleObj>
                </mc:Choice>
                <mc:Fallback>
                  <p:oleObj name="Visio" r:id="rId6" imgW="1624330" imgH="1546860" progId="Visio.Drawing.11">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t="2425" b="1212"/>
                        <a:stretch>
                          <a:fillRect/>
                        </a:stretch>
                      </p:blipFill>
                      <p:spPr bwMode="auto">
                        <a:xfrm>
                          <a:off x="1516075" y="2787457"/>
                          <a:ext cx="3291511" cy="29821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圆角矩形 34"/>
            <p:cNvSpPr/>
            <p:nvPr/>
          </p:nvSpPr>
          <p:spPr>
            <a:xfrm>
              <a:off x="1421548" y="2589521"/>
              <a:ext cx="3488550" cy="3142584"/>
            </a:xfrm>
            <a:prstGeom prst="roundRect">
              <a:avLst>
                <a:gd name="adj" fmla="val 6731"/>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五边形 22"/>
          <p:cNvSpPr/>
          <p:nvPr/>
        </p:nvSpPr>
        <p:spPr>
          <a:xfrm>
            <a:off x="8156713" y="1775792"/>
            <a:ext cx="178904" cy="484632"/>
          </a:xfrm>
          <a:prstGeom prst="homePlate">
            <a:avLst>
              <a:gd name="adj" fmla="val 94445"/>
            </a:avLst>
          </a:prstGeom>
          <a:solidFill>
            <a:srgbClr val="FFFF00"/>
          </a:solidFill>
          <a:ln w="19050">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p:nvGrpSpPr>
        <p:grpSpPr>
          <a:xfrm>
            <a:off x="944193" y="1868846"/>
            <a:ext cx="3073828" cy="2002336"/>
            <a:chOff x="944193" y="1868846"/>
            <a:chExt cx="3073828" cy="2002336"/>
          </a:xfrm>
        </p:grpSpPr>
        <p:sp>
          <p:nvSpPr>
            <p:cNvPr id="38" name="圆角矩形 37"/>
            <p:cNvSpPr/>
            <p:nvPr/>
          </p:nvSpPr>
          <p:spPr>
            <a:xfrm>
              <a:off x="944193" y="2351956"/>
              <a:ext cx="2686709" cy="1519226"/>
            </a:xfrm>
            <a:prstGeom prst="roundRect">
              <a:avLst>
                <a:gd name="adj" fmla="val 2020"/>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标注 39"/>
            <p:cNvSpPr/>
            <p:nvPr/>
          </p:nvSpPr>
          <p:spPr>
            <a:xfrm>
              <a:off x="3010179" y="1868846"/>
              <a:ext cx="1007842" cy="339751"/>
            </a:xfrm>
            <a:prstGeom prst="wedgeRoundRectCallout">
              <a:avLst>
                <a:gd name="adj1" fmla="val -38640"/>
                <a:gd name="adj2" fmla="val 82230"/>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rgbClr val="0000FF"/>
                  </a:solidFill>
                  <a:latin typeface="微软雅黑" panose="020B0503020204020204" pitchFamily="34" charset="-122"/>
                  <a:ea typeface="微软雅黑" panose="020B0503020204020204" pitchFamily="34" charset="-122"/>
                </a:rPr>
                <a:t>7</a:t>
              </a:r>
              <a:r>
                <a:rPr lang="zh-CN" altLang="en-US" sz="1200" b="1" dirty="0">
                  <a:solidFill>
                    <a:srgbClr val="0000FF"/>
                  </a:solidFill>
                  <a:latin typeface="微软雅黑" panose="020B0503020204020204" pitchFamily="34" charset="-122"/>
                  <a:ea typeface="微软雅黑" panose="020B0503020204020204" pitchFamily="34" charset="-122"/>
                </a:rPr>
                <a:t>进制计数器</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grpSp>
      <p:grpSp>
        <p:nvGrpSpPr>
          <p:cNvPr id="43" name="组合 42"/>
          <p:cNvGrpSpPr/>
          <p:nvPr/>
        </p:nvGrpSpPr>
        <p:grpSpPr>
          <a:xfrm>
            <a:off x="1697294" y="3946038"/>
            <a:ext cx="2099358" cy="792823"/>
            <a:chOff x="1697294" y="3946038"/>
            <a:chExt cx="2099358" cy="792823"/>
          </a:xfrm>
        </p:grpSpPr>
        <p:sp>
          <p:nvSpPr>
            <p:cNvPr id="39" name="圆角矩形 38"/>
            <p:cNvSpPr/>
            <p:nvPr/>
          </p:nvSpPr>
          <p:spPr>
            <a:xfrm>
              <a:off x="1697294" y="3946038"/>
              <a:ext cx="972487" cy="792823"/>
            </a:xfrm>
            <a:prstGeom prst="roundRect">
              <a:avLst>
                <a:gd name="adj" fmla="val 2020"/>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圆角矩形标注 41"/>
            <p:cNvSpPr/>
            <p:nvPr/>
          </p:nvSpPr>
          <p:spPr>
            <a:xfrm>
              <a:off x="2788810" y="3983535"/>
              <a:ext cx="1007842" cy="339751"/>
            </a:xfrm>
            <a:prstGeom prst="wedgeRoundRectCallout">
              <a:avLst>
                <a:gd name="adj1" fmla="val -57846"/>
                <a:gd name="adj2" fmla="val 92053"/>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b="1" dirty="0">
                  <a:solidFill>
                    <a:srgbClr val="0000FF"/>
                  </a:solidFill>
                  <a:latin typeface="微软雅黑" panose="020B0503020204020204" pitchFamily="34" charset="-122"/>
                  <a:ea typeface="微软雅黑" panose="020B0503020204020204" pitchFamily="34" charset="-122"/>
                </a:rPr>
                <a:t>组合电路</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grpSp>
      <p:sp>
        <p:nvSpPr>
          <p:cNvPr id="46" name="矩形 24"/>
          <p:cNvSpPr>
            <a:spLocks noChangeArrowheads="1"/>
          </p:cNvSpPr>
          <p:nvPr/>
        </p:nvSpPr>
        <p:spPr bwMode="auto">
          <a:xfrm>
            <a:off x="427734" y="1286555"/>
            <a:ext cx="5832902" cy="630942"/>
          </a:xfrm>
          <a:prstGeom prst="rect">
            <a:avLst/>
          </a:prstGeom>
          <a:noFill/>
          <a:ln w="9525">
            <a:noFill/>
            <a:miter lim="800000"/>
          </a:ln>
        </p:spPr>
        <p:txBody>
          <a:bodyPr wrap="square">
            <a:spAutoFit/>
          </a:bodyPr>
          <a:lstStyle/>
          <a:p>
            <a:pPr marL="716280" indent="-716280">
              <a:spcBef>
                <a:spcPts val="600"/>
              </a:spcBef>
            </a:pPr>
            <a:r>
              <a:rPr kumimoji="1" lang="zh-CN" altLang="en-US" sz="1600" b="1" dirty="0">
                <a:solidFill>
                  <a:srgbClr val="5C00B9"/>
                </a:solidFill>
                <a:latin typeface="微软雅黑" panose="020B0503020204020204" pitchFamily="34" charset="-122"/>
                <a:ea typeface="微软雅黑" panose="020B0503020204020204" pitchFamily="34" charset="-122"/>
              </a:rPr>
              <a:t>例</a:t>
            </a:r>
            <a:r>
              <a:rPr kumimoji="1" lang="en-US" altLang="zh-CN" sz="1600" b="1" dirty="0">
                <a:solidFill>
                  <a:srgbClr val="5C00B9"/>
                </a:solidFill>
                <a:latin typeface="微软雅黑" panose="020B0503020204020204" pitchFamily="34" charset="-122"/>
                <a:ea typeface="微软雅黑" panose="020B0503020204020204" pitchFamily="34" charset="-122"/>
              </a:rPr>
              <a:t>:  </a:t>
            </a: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）利用</a:t>
            </a: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74163</a:t>
            </a: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设计一个</a:t>
            </a:r>
            <a:r>
              <a:rPr kumimoji="1"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7</a:t>
            </a:r>
            <a:r>
              <a:rPr kumimoji="1"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分频电路</a:t>
            </a: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，要求</a:t>
            </a:r>
            <a:r>
              <a:rPr kumimoji="1"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占空比为</a:t>
            </a:r>
            <a:r>
              <a:rPr kumimoji="1"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4/7</a:t>
            </a: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，如何设计？</a:t>
            </a:r>
            <a:endPar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pPr marL="716280" indent="-716280">
              <a:spcBef>
                <a:spcPts val="600"/>
              </a:spcBef>
            </a:pP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4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一般方案</a:t>
            </a: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1400"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简单方案</a:t>
            </a: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a:t>
            </a:r>
            <a:endPar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7" name="五边形 46"/>
          <p:cNvSpPr/>
          <p:nvPr/>
        </p:nvSpPr>
        <p:spPr>
          <a:xfrm rot="16200000">
            <a:off x="1634566" y="1742808"/>
            <a:ext cx="178904" cy="484632"/>
          </a:xfrm>
          <a:prstGeom prst="homePlate">
            <a:avLst>
              <a:gd name="adj" fmla="val 94445"/>
            </a:avLst>
          </a:prstGeom>
          <a:solidFill>
            <a:srgbClr val="FFFF00"/>
          </a:solidFill>
          <a:ln w="19050">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slide(fromBottom)">
                                      <p:cBhvr>
                                        <p:cTn id="7" dur="1000"/>
                                        <p:tgtEl>
                                          <p:spTgt spid="46"/>
                                        </p:tgtEl>
                                      </p:cBhvr>
                                    </p:animEffect>
                                  </p:childTnLst>
                                </p:cTn>
                              </p:par>
                            </p:childTnLst>
                          </p:cTn>
                        </p:par>
                        <p:par>
                          <p:cTn id="8" fill="hold">
                            <p:stCondLst>
                              <p:cond delay="1000"/>
                            </p:stCondLst>
                            <p:childTnLst>
                              <p:par>
                                <p:cTn id="9" presetID="12" presetClass="entr" presetSubtype="2"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slide(fromRight)">
                                      <p:cBhvr>
                                        <p:cTn id="11" dur="10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slide(fromBottom)">
                                      <p:cBhvr>
                                        <p:cTn id="16" dur="1000"/>
                                        <p:tgtEl>
                                          <p:spTgt spid="47"/>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slide(fromLeft)">
                                      <p:cBhvr>
                                        <p:cTn id="21" dur="10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slide(fromLeft)">
                                      <p:cBhvr>
                                        <p:cTn id="26" dur="1000"/>
                                        <p:tgtEl>
                                          <p:spTgt spid="23"/>
                                        </p:tgtEl>
                                      </p:cBhvr>
                                    </p:animEffect>
                                  </p:childTnLst>
                                </p:cTn>
                              </p:par>
                            </p:childTnLst>
                          </p:cTn>
                        </p:par>
                        <p:par>
                          <p:cTn id="27" fill="hold">
                            <p:stCondLst>
                              <p:cond delay="1000"/>
                            </p:stCondLst>
                            <p:childTnLst>
                              <p:par>
                                <p:cTn id="28" presetID="12" presetClass="entr" presetSubtype="8"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slide(fromLeft)">
                                      <p:cBhvr>
                                        <p:cTn id="30" dur="10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1000" fill="hold"/>
                                        <p:tgtEl>
                                          <p:spTgt spid="7"/>
                                        </p:tgtEl>
                                        <p:attrNameLst>
                                          <p:attrName>ppt_w</p:attrName>
                                        </p:attrNameLst>
                                      </p:cBhvr>
                                      <p:tavLst>
                                        <p:tav tm="0">
                                          <p:val>
                                            <p:fltVal val="0"/>
                                          </p:val>
                                        </p:tav>
                                        <p:tav tm="100000">
                                          <p:val>
                                            <p:strVal val="#ppt_w"/>
                                          </p:val>
                                        </p:tav>
                                      </p:tavLst>
                                    </p:anim>
                                    <p:anim calcmode="lin" valueType="num">
                                      <p:cBhvr>
                                        <p:cTn id="36" dur="1000" fill="hold"/>
                                        <p:tgtEl>
                                          <p:spTgt spid="7"/>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p:cTn id="41" dur="500" fill="hold"/>
                                        <p:tgtEl>
                                          <p:spTgt spid="25"/>
                                        </p:tgtEl>
                                        <p:attrNameLst>
                                          <p:attrName>ppt_w</p:attrName>
                                        </p:attrNameLst>
                                      </p:cBhvr>
                                      <p:tavLst>
                                        <p:tav tm="0">
                                          <p:val>
                                            <p:fltVal val="0"/>
                                          </p:val>
                                        </p:tav>
                                        <p:tav tm="100000">
                                          <p:val>
                                            <p:strVal val="#ppt_w"/>
                                          </p:val>
                                        </p:tav>
                                      </p:tavLst>
                                    </p:anim>
                                    <p:anim calcmode="lin" valueType="num">
                                      <p:cBhvr>
                                        <p:cTn id="42" dur="500" fill="hold"/>
                                        <p:tgtEl>
                                          <p:spTgt spid="25"/>
                                        </p:tgtEl>
                                        <p:attrNameLst>
                                          <p:attrName>ppt_h</p:attrName>
                                        </p:attrNameLst>
                                      </p:cBhvr>
                                      <p:tavLst>
                                        <p:tav tm="0">
                                          <p:val>
                                            <p:fltVal val="0"/>
                                          </p:val>
                                        </p:tav>
                                        <p:tav tm="100000">
                                          <p:val>
                                            <p:strVal val="#ppt_h"/>
                                          </p:val>
                                        </p:tav>
                                      </p:tavLst>
                                    </p:anim>
                                  </p:childTnLst>
                                </p:cTn>
                              </p:par>
                            </p:childTnLst>
                          </p:cTn>
                        </p:par>
                        <p:par>
                          <p:cTn id="43" fill="hold">
                            <p:stCondLst>
                              <p:cond delay="500"/>
                            </p:stCondLst>
                            <p:childTnLst>
                              <p:par>
                                <p:cTn id="44" presetID="23" presetClass="entr" presetSubtype="16" fill="hold" grpId="0" nodeType="afterEffect">
                                  <p:stCondLst>
                                    <p:cond delay="0"/>
                                  </p:stCondLst>
                                  <p:childTnLst>
                                    <p:set>
                                      <p:cBhvr>
                                        <p:cTn id="45" dur="1" fill="hold">
                                          <p:stCondLst>
                                            <p:cond delay="0"/>
                                          </p:stCondLst>
                                        </p:cTn>
                                        <p:tgtEl>
                                          <p:spTgt spid="27"/>
                                        </p:tgtEl>
                                        <p:attrNameLst>
                                          <p:attrName>style.visibility</p:attrName>
                                        </p:attrNameLst>
                                      </p:cBhvr>
                                      <p:to>
                                        <p:strVal val="visible"/>
                                      </p:to>
                                    </p:set>
                                    <p:anim calcmode="lin" valueType="num">
                                      <p:cBhvr>
                                        <p:cTn id="46" dur="500" fill="hold"/>
                                        <p:tgtEl>
                                          <p:spTgt spid="27"/>
                                        </p:tgtEl>
                                        <p:attrNameLst>
                                          <p:attrName>ppt_w</p:attrName>
                                        </p:attrNameLst>
                                      </p:cBhvr>
                                      <p:tavLst>
                                        <p:tav tm="0">
                                          <p:val>
                                            <p:fltVal val="0"/>
                                          </p:val>
                                        </p:tav>
                                        <p:tav tm="100000">
                                          <p:val>
                                            <p:strVal val="#ppt_w"/>
                                          </p:val>
                                        </p:tav>
                                      </p:tavLst>
                                    </p:anim>
                                    <p:anim calcmode="lin" valueType="num">
                                      <p:cBhvr>
                                        <p:cTn id="47" dur="500" fill="hold"/>
                                        <p:tgtEl>
                                          <p:spTgt spid="27"/>
                                        </p:tgtEl>
                                        <p:attrNameLst>
                                          <p:attrName>ppt_h</p:attrName>
                                        </p:attrNameLst>
                                      </p:cBhvr>
                                      <p:tavLst>
                                        <p:tav tm="0">
                                          <p:val>
                                            <p:fltVal val="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nodeType="click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slide(fromBottom)">
                                      <p:cBhvr>
                                        <p:cTn id="52" dur="1000"/>
                                        <p:tgtEl>
                                          <p:spTgt spid="45"/>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slide(fromBottom)">
                                      <p:cBhvr>
                                        <p:cTn id="57" dur="1000"/>
                                        <p:tgtEl>
                                          <p:spTgt spid="3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wipe(left)">
                                      <p:cBhvr>
                                        <p:cTn id="62" dur="1000"/>
                                        <p:tgtEl>
                                          <p:spTgt spid="4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wipe(left)">
                                      <p:cBhvr>
                                        <p:cTn id="67" dur="1000"/>
                                        <p:tgtEl>
                                          <p:spTgt spid="43"/>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2" fill="hold" nodeType="click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slide(fromRight)">
                                      <p:cBhvr>
                                        <p:cTn id="7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7" grpId="0" animBg="1"/>
      <p:bldP spid="23" grpId="0" animBg="1"/>
      <p:bldP spid="46" grpId="0"/>
      <p:bldP spid="47"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1"/>
          <p:cNvGrpSpPr/>
          <p:nvPr/>
        </p:nvGrpSpPr>
        <p:grpSpPr>
          <a:xfrm>
            <a:off x="392432" y="735720"/>
            <a:ext cx="5513068" cy="420971"/>
            <a:chOff x="670560" y="892917"/>
            <a:chExt cx="5513068" cy="420971"/>
          </a:xfrm>
        </p:grpSpPr>
        <p:sp>
          <p:nvSpPr>
            <p:cNvPr id="3" name="矩形 2"/>
            <p:cNvSpPr/>
            <p:nvPr/>
          </p:nvSpPr>
          <p:spPr>
            <a:xfrm>
              <a:off x="1035232" y="913778"/>
              <a:ext cx="514839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集成计数器构成分频器</a:t>
              </a:r>
              <a:endParaRPr lang="zh-CN" altLang="en-US" sz="2000" b="1" dirty="0">
                <a:solidFill>
                  <a:srgbClr val="CC00CC"/>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aphicFrame>
        <p:nvGraphicFramePr>
          <p:cNvPr id="8" name="表格 7"/>
          <p:cNvGraphicFramePr>
            <a:graphicFrameLocks noGrp="1"/>
          </p:cNvGraphicFramePr>
          <p:nvPr/>
        </p:nvGraphicFramePr>
        <p:xfrm>
          <a:off x="6682758" y="860199"/>
          <a:ext cx="1573346" cy="3612960"/>
        </p:xfrm>
        <a:graphic>
          <a:graphicData uri="http://schemas.openxmlformats.org/drawingml/2006/table">
            <a:tbl>
              <a:tblPr firstRow="1" bandRow="1">
                <a:tableStyleId>{5C22544A-7EE6-4342-B048-85BDC9FD1C3A}</a:tableStyleId>
              </a:tblPr>
              <a:tblGrid>
                <a:gridCol w="359552"/>
                <a:gridCol w="404191"/>
                <a:gridCol w="390939"/>
                <a:gridCol w="418664"/>
              </a:tblGrid>
              <a:tr h="252000">
                <a:tc gridSpan="4">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74161/163</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的状态</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hMerge="1">
                  <a:tcPr marL="0" marR="0" marT="0" marB="0"/>
                </a:tc>
                <a:tc hMerge="1">
                  <a:tcPr marL="0" marR="0" marT="0" marB="0"/>
                </a:tc>
                <a:tc hMerge="1">
                  <a:tcPr marL="0" marR="0" marT="0" marB="0"/>
                </a:tc>
              </a:tr>
              <a:tr h="252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9" name="表格 8"/>
          <p:cNvGraphicFramePr>
            <a:graphicFrameLocks noGrp="1"/>
          </p:cNvGraphicFramePr>
          <p:nvPr/>
        </p:nvGraphicFramePr>
        <p:xfrm>
          <a:off x="8322364" y="861392"/>
          <a:ext cx="549966" cy="3609990"/>
        </p:xfrm>
        <a:graphic>
          <a:graphicData uri="http://schemas.openxmlformats.org/drawingml/2006/table">
            <a:tbl>
              <a:tblPr firstRow="1" bandRow="1">
                <a:tableStyleId>{5C22544A-7EE6-4342-B048-85BDC9FD1C3A}</a:tableStyleId>
              </a:tblPr>
              <a:tblGrid>
                <a:gridCol w="549966"/>
              </a:tblGrid>
              <a:tr h="501030">
                <a:tc>
                  <a:txBody>
                    <a:bodyPr/>
                    <a:lstStyle/>
                    <a:p>
                      <a:pPr algn="ctr"/>
                      <a:r>
                        <a:rPr lang="zh-CN" altLang="en-US" sz="10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分频输出 </a:t>
                      </a:r>
                      <a:r>
                        <a:rPr lang="en-US" altLang="zh-CN" sz="12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Z</a:t>
                      </a:r>
                      <a:endParaRPr lang="zh-CN" altLang="en-US" sz="12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20" name="矩形 24"/>
          <p:cNvSpPr>
            <a:spLocks noChangeArrowheads="1"/>
          </p:cNvSpPr>
          <p:nvPr/>
        </p:nvSpPr>
        <p:spPr bwMode="auto">
          <a:xfrm>
            <a:off x="427734" y="1286555"/>
            <a:ext cx="5832902" cy="630942"/>
          </a:xfrm>
          <a:prstGeom prst="rect">
            <a:avLst/>
          </a:prstGeom>
          <a:noFill/>
          <a:ln w="9525">
            <a:noFill/>
            <a:miter lim="800000"/>
          </a:ln>
        </p:spPr>
        <p:txBody>
          <a:bodyPr wrap="square">
            <a:spAutoFit/>
          </a:bodyPr>
          <a:lstStyle/>
          <a:p>
            <a:pPr marL="716280" indent="-716280">
              <a:spcBef>
                <a:spcPts val="600"/>
              </a:spcBef>
            </a:pPr>
            <a:r>
              <a:rPr kumimoji="1" lang="zh-CN" altLang="en-US" sz="1600" b="1" dirty="0">
                <a:solidFill>
                  <a:srgbClr val="5C00B9"/>
                </a:solidFill>
                <a:latin typeface="微软雅黑" panose="020B0503020204020204" pitchFamily="34" charset="-122"/>
                <a:ea typeface="微软雅黑" panose="020B0503020204020204" pitchFamily="34" charset="-122"/>
              </a:rPr>
              <a:t>例</a:t>
            </a:r>
            <a:r>
              <a:rPr kumimoji="1" lang="en-US" altLang="zh-CN" sz="1600" b="1" dirty="0">
                <a:solidFill>
                  <a:srgbClr val="5C00B9"/>
                </a:solidFill>
                <a:latin typeface="微软雅黑" panose="020B0503020204020204" pitchFamily="34" charset="-122"/>
                <a:ea typeface="微软雅黑" panose="020B0503020204020204" pitchFamily="34" charset="-122"/>
              </a:rPr>
              <a:t>:  </a:t>
            </a: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）利用</a:t>
            </a: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74163</a:t>
            </a: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设计一个</a:t>
            </a:r>
            <a:r>
              <a:rPr kumimoji="1"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7</a:t>
            </a:r>
            <a:r>
              <a:rPr kumimoji="1"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分频电路</a:t>
            </a: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，要求</a:t>
            </a:r>
            <a:r>
              <a:rPr kumimoji="1"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占空比为</a:t>
            </a:r>
            <a:r>
              <a:rPr kumimoji="1"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4/7</a:t>
            </a: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，如何设计？</a:t>
            </a:r>
            <a:endPar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pPr marL="716280" indent="-716280">
              <a:spcBef>
                <a:spcPts val="600"/>
              </a:spcBef>
            </a:pP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4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一般方案</a:t>
            </a: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1400"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简单方案</a:t>
            </a: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a:t>
            </a:r>
            <a:endPar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圆角矩形 20"/>
          <p:cNvSpPr/>
          <p:nvPr/>
        </p:nvSpPr>
        <p:spPr>
          <a:xfrm>
            <a:off x="6727848" y="1552135"/>
            <a:ext cx="1428865" cy="1278558"/>
          </a:xfrm>
          <a:prstGeom prst="roundRect">
            <a:avLst>
              <a:gd name="adj" fmla="val 2020"/>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五边形 25"/>
          <p:cNvSpPr/>
          <p:nvPr/>
        </p:nvSpPr>
        <p:spPr>
          <a:xfrm rot="16200000">
            <a:off x="2489774" y="1748242"/>
            <a:ext cx="178904" cy="484632"/>
          </a:xfrm>
          <a:prstGeom prst="homePlate">
            <a:avLst>
              <a:gd name="adj" fmla="val 94445"/>
            </a:avLst>
          </a:prstGeom>
          <a:solidFill>
            <a:srgbClr val="FFFF00"/>
          </a:solidFill>
          <a:ln w="19050">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五边形 31"/>
          <p:cNvSpPr/>
          <p:nvPr/>
        </p:nvSpPr>
        <p:spPr>
          <a:xfrm>
            <a:off x="8156713" y="1935979"/>
            <a:ext cx="178904" cy="484632"/>
          </a:xfrm>
          <a:prstGeom prst="homePlate">
            <a:avLst>
              <a:gd name="adj" fmla="val 94445"/>
            </a:avLst>
          </a:prstGeom>
          <a:solidFill>
            <a:srgbClr val="FFFF00"/>
          </a:solidFill>
          <a:ln w="19050">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5699982" y="1901106"/>
            <a:ext cx="859894" cy="339751"/>
            <a:chOff x="5699982" y="1901106"/>
            <a:chExt cx="859894" cy="339751"/>
          </a:xfrm>
        </p:grpSpPr>
        <p:sp>
          <p:nvSpPr>
            <p:cNvPr id="33" name="圆角矩形标注 32"/>
            <p:cNvSpPr/>
            <p:nvPr/>
          </p:nvSpPr>
          <p:spPr>
            <a:xfrm>
              <a:off x="5699982" y="1901106"/>
              <a:ext cx="859894" cy="339751"/>
            </a:xfrm>
            <a:prstGeom prst="wedgeRoundRectCallout">
              <a:avLst>
                <a:gd name="adj1" fmla="val 58091"/>
                <a:gd name="adj2" fmla="val 74371"/>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zh-CN" sz="1200" b="1" dirty="0">
                <a:solidFill>
                  <a:srgbClr val="0000FF"/>
                </a:solidFill>
                <a:latin typeface="微软雅黑" panose="020B0503020204020204" pitchFamily="34" charset="-122"/>
                <a:ea typeface="微软雅黑" panose="020B0503020204020204" pitchFamily="34" charset="-122"/>
              </a:endParaRPr>
            </a:p>
          </p:txBody>
        </p:sp>
        <p:graphicFrame>
          <p:nvGraphicFramePr>
            <p:cNvPr id="295941" name="Object 5"/>
            <p:cNvGraphicFramePr>
              <a:graphicFrameLocks noChangeAspect="1"/>
            </p:cNvGraphicFramePr>
            <p:nvPr/>
          </p:nvGraphicFramePr>
          <p:xfrm>
            <a:off x="5829147" y="1913808"/>
            <a:ext cx="549275" cy="317500"/>
          </p:xfrm>
          <a:graphic>
            <a:graphicData uri="http://schemas.openxmlformats.org/presentationml/2006/ole">
              <mc:AlternateContent xmlns:mc="http://schemas.openxmlformats.org/markup-compatibility/2006">
                <mc:Choice xmlns:v="urn:schemas-microsoft-com:vml" Requires="v">
                  <p:oleObj spid="_x0000_s54278" name="Equation" r:id="rId2" imgW="9448800" imgH="5486400" progId="">
                    <p:embed/>
                  </p:oleObj>
                </mc:Choice>
                <mc:Fallback>
                  <p:oleObj name="Equation" r:id="rId2" imgW="9448800" imgH="5486400" progId="">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9147" y="1913808"/>
                          <a:ext cx="549275"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7" name="组合 70"/>
          <p:cNvGrpSpPr/>
          <p:nvPr/>
        </p:nvGrpSpPr>
        <p:grpSpPr>
          <a:xfrm>
            <a:off x="1831756" y="2172730"/>
            <a:ext cx="2846844" cy="1785220"/>
            <a:chOff x="1421548" y="2589521"/>
            <a:chExt cx="3488550" cy="2232707"/>
          </a:xfrm>
        </p:grpSpPr>
        <p:graphicFrame>
          <p:nvGraphicFramePr>
            <p:cNvPr id="38" name="Object 5"/>
            <p:cNvGraphicFramePr>
              <a:graphicFrameLocks noChangeAspect="1"/>
            </p:cNvGraphicFramePr>
            <p:nvPr/>
          </p:nvGraphicFramePr>
          <p:xfrm>
            <a:off x="1516869" y="2787457"/>
            <a:ext cx="3291511" cy="1983440"/>
          </p:xfrm>
          <a:graphic>
            <a:graphicData uri="http://schemas.openxmlformats.org/presentationml/2006/ole">
              <mc:AlternateContent xmlns:mc="http://schemas.openxmlformats.org/markup-compatibility/2006">
                <mc:Choice xmlns:v="urn:schemas-microsoft-com:vml" Requires="v">
                  <p:oleObj spid="_x0000_s54279" name="Visio" r:id="rId4" imgW="1624330" imgH="1089660" progId="Visio.Drawing.11">
                    <p:embed/>
                  </p:oleObj>
                </mc:Choice>
                <mc:Fallback>
                  <p:oleObj name="Visio" r:id="rId4" imgW="1624330" imgH="1089660" progId="Visio.Drawing.11">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t="2425" b="1212"/>
                        <a:stretch>
                          <a:fillRect/>
                        </a:stretch>
                      </p:blipFill>
                      <p:spPr bwMode="auto">
                        <a:xfrm>
                          <a:off x="1516869" y="2787457"/>
                          <a:ext cx="3291511" cy="19834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 name="圆角矩形 38"/>
            <p:cNvSpPr/>
            <p:nvPr/>
          </p:nvSpPr>
          <p:spPr>
            <a:xfrm>
              <a:off x="1421548" y="2589521"/>
              <a:ext cx="3488550" cy="2232707"/>
            </a:xfrm>
            <a:prstGeom prst="roundRect">
              <a:avLst>
                <a:gd name="adj" fmla="val 6731"/>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0" name="矩形 39"/>
          <p:cNvSpPr/>
          <p:nvPr/>
        </p:nvSpPr>
        <p:spPr>
          <a:xfrm>
            <a:off x="891039" y="4142878"/>
            <a:ext cx="3914567" cy="307777"/>
          </a:xfrm>
          <a:prstGeom prst="rect">
            <a:avLst/>
          </a:prstGeom>
        </p:spPr>
        <p:txBody>
          <a:bodyPr wrap="square">
            <a:spAutoFit/>
          </a:bodyPr>
          <a:lstStyle/>
          <a:p>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a:t>
            </a: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）用</a:t>
            </a:r>
            <a:r>
              <a:rPr kumimoji="1" lang="en-US" altLang="zh-CN" sz="1400" dirty="0">
                <a:latin typeface="Times New Roman" panose="02020603050405020304" pitchFamily="18" charset="0"/>
                <a:ea typeface="微软雅黑" panose="020B0503020204020204" pitchFamily="34" charset="-122"/>
                <a:cs typeface="Times New Roman" panose="02020603050405020304" pitchFamily="18" charset="0"/>
              </a:rPr>
              <a:t>74163</a:t>
            </a: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设计一个</a:t>
            </a:r>
            <a:r>
              <a:rPr kumimoji="1"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6</a:t>
            </a:r>
            <a:r>
              <a:rPr kumimoji="1"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分频电路，方波输出</a:t>
            </a:r>
            <a:r>
              <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afterEffect">
                                  <p:stCondLst>
                                    <p:cond delay="0"/>
                                  </p:stCondLst>
                                  <p:childTnLst>
                                    <p:animMotion origin="layout" path="M -4.44444E-6 -3.33333E-6 L 0.09879 -3.33333E-6 " pathEditMode="relative" rAng="0" ptsTypes="AA">
                                      <p:cBhvr>
                                        <p:cTn id="6" dur="2000" fill="hold"/>
                                        <p:tgtEl>
                                          <p:spTgt spid="26"/>
                                        </p:tgtEl>
                                        <p:attrNameLst>
                                          <p:attrName>ppt_x</p:attrName>
                                          <p:attrName>ppt_y</p:attrName>
                                        </p:attrNameLst>
                                      </p:cBhvr>
                                      <p:rCtr x="4931" y="0"/>
                                    </p:animMotion>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slide(fromLeft)">
                                      <p:cBhvr>
                                        <p:cTn id="11" dur="1000"/>
                                        <p:tgtEl>
                                          <p:spTgt spid="21"/>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slide(fromLeft)">
                                      <p:cBhvr>
                                        <p:cTn id="15" dur="1000"/>
                                        <p:tgtEl>
                                          <p:spTgt spid="32"/>
                                        </p:tgtEl>
                                      </p:cBhvr>
                                    </p:animEffect>
                                  </p:childTnLst>
                                </p:cTn>
                              </p:par>
                            </p:childTnLst>
                          </p:cTn>
                        </p:par>
                        <p:par>
                          <p:cTn id="16" fill="hold">
                            <p:stCondLst>
                              <p:cond delay="2000"/>
                            </p:stCondLst>
                            <p:childTnLst>
                              <p:par>
                                <p:cTn id="17" presetID="1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Left)">
                                      <p:cBhvr>
                                        <p:cTn id="19" dur="10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wipe(right)">
                                      <p:cBhvr>
                                        <p:cTn id="24" dur="1000"/>
                                        <p:tgtEl>
                                          <p:spTgt spid="36"/>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slide(fromBottom)">
                                      <p:cBhvr>
                                        <p:cTn id="29" dur="1000"/>
                                        <p:tgtEl>
                                          <p:spTgt spid="37"/>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slide(fromBottom)">
                                      <p:cBhvr>
                                        <p:cTn id="34" dur="10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6" grpId="0" animBg="1"/>
      <p:bldP spid="32" grpId="0" animBg="1"/>
      <p:bldP spid="40"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71"/>
          <p:cNvGrpSpPr/>
          <p:nvPr/>
        </p:nvGrpSpPr>
        <p:grpSpPr>
          <a:xfrm>
            <a:off x="392432" y="735720"/>
            <a:ext cx="5513068" cy="420971"/>
            <a:chOff x="670560" y="892917"/>
            <a:chExt cx="5513068" cy="420971"/>
          </a:xfrm>
        </p:grpSpPr>
        <p:sp>
          <p:nvSpPr>
            <p:cNvPr id="26" name="矩形 25"/>
            <p:cNvSpPr/>
            <p:nvPr/>
          </p:nvSpPr>
          <p:spPr>
            <a:xfrm>
              <a:off x="1035232" y="913778"/>
              <a:ext cx="514839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集成计数器构成分频器</a:t>
              </a:r>
              <a:endParaRPr lang="zh-CN" altLang="en-US" sz="2000" b="1" dirty="0">
                <a:solidFill>
                  <a:srgbClr val="CC00CC"/>
                </a:solidFill>
                <a:latin typeface="微软雅黑" panose="020B0503020204020204" pitchFamily="34" charset="-122"/>
                <a:ea typeface="微软雅黑" panose="020B0503020204020204" pitchFamily="34" charset="-122"/>
              </a:endParaRPr>
            </a:p>
          </p:txBody>
        </p:sp>
        <p:pic>
          <p:nvPicPr>
            <p:cNvPr id="27"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pic>
        <p:nvPicPr>
          <p:cNvPr id="28" name="Picture 14"/>
          <p:cNvPicPr>
            <a:picLocks noChangeAspect="1" noChangeArrowheads="1"/>
          </p:cNvPicPr>
          <p:nvPr/>
        </p:nvPicPr>
        <p:blipFill>
          <a:blip r:embed="rId2" cstate="print"/>
          <a:srcRect/>
          <a:stretch>
            <a:fillRect/>
          </a:stretch>
        </p:blipFill>
        <p:spPr bwMode="auto">
          <a:xfrm>
            <a:off x="1307418" y="2029030"/>
            <a:ext cx="3584956" cy="2331443"/>
          </a:xfrm>
          <a:prstGeom prst="rect">
            <a:avLst/>
          </a:prstGeom>
          <a:noFill/>
          <a:ln w="9525" algn="ctr">
            <a:noFill/>
            <a:miter lim="800000"/>
            <a:headEnd/>
            <a:tailEnd/>
          </a:ln>
        </p:spPr>
      </p:pic>
      <p:sp>
        <p:nvSpPr>
          <p:cNvPr id="29" name="矩形 2"/>
          <p:cNvSpPr>
            <a:spLocks noChangeArrowheads="1"/>
          </p:cNvSpPr>
          <p:nvPr/>
        </p:nvSpPr>
        <p:spPr bwMode="auto">
          <a:xfrm>
            <a:off x="396363" y="1216187"/>
            <a:ext cx="6037807" cy="679801"/>
          </a:xfrm>
          <a:prstGeom prst="rect">
            <a:avLst/>
          </a:prstGeom>
          <a:noFill/>
          <a:ln w="9525">
            <a:noFill/>
            <a:miter lim="800000"/>
          </a:ln>
        </p:spPr>
        <p:txBody>
          <a:bodyPr wrap="square">
            <a:spAutoFit/>
          </a:bodyPr>
          <a:lstStyle/>
          <a:p>
            <a:pPr marL="449580" indent="-449580">
              <a:lnSpc>
                <a:spcPct val="125000"/>
              </a:lnSpc>
              <a:spcBef>
                <a:spcPts val="600"/>
              </a:spcBef>
            </a:pPr>
            <a:r>
              <a:rPr kumimoji="1" lang="zh-CN" altLang="en-US" sz="1600" b="1" dirty="0">
                <a:solidFill>
                  <a:srgbClr val="6600FF"/>
                </a:solidFill>
                <a:latin typeface="微软雅黑" panose="020B0503020204020204" pitchFamily="34" charset="-122"/>
                <a:ea typeface="微软雅黑" panose="020B0503020204020204" pitchFamily="34" charset="-122"/>
              </a:rPr>
              <a:t>例： </a:t>
            </a:r>
            <a:r>
              <a:rPr kumimoji="1" lang="zh-CN" altLang="en-US" sz="1600" dirty="0">
                <a:latin typeface="微软雅黑" panose="020B0503020204020204" pitchFamily="34" charset="-122"/>
                <a:ea typeface="微软雅黑" panose="020B0503020204020204" pitchFamily="34" charset="-122"/>
              </a:rPr>
              <a:t>已知电路的输入</a:t>
            </a:r>
            <a:r>
              <a:rPr kumimoji="1" lang="en-US" altLang="zh-CN" sz="1600" dirty="0">
                <a:latin typeface="微软雅黑" panose="020B0503020204020204" pitchFamily="34" charset="-122"/>
                <a:ea typeface="微软雅黑" panose="020B0503020204020204" pitchFamily="34" charset="-122"/>
              </a:rPr>
              <a:t>CP</a:t>
            </a:r>
            <a:r>
              <a:rPr kumimoji="1" lang="zh-CN" altLang="en-US" sz="1600" dirty="0">
                <a:latin typeface="微软雅黑" panose="020B0503020204020204" pitchFamily="34" charset="-122"/>
                <a:ea typeface="微软雅黑" panose="020B0503020204020204" pitchFamily="34" charset="-122"/>
              </a:rPr>
              <a:t>信号的频率为</a:t>
            </a:r>
            <a:r>
              <a:rPr kumimoji="1" lang="en-US" altLang="zh-CN" sz="1600" dirty="0">
                <a:latin typeface="微软雅黑" panose="020B0503020204020204" pitchFamily="34" charset="-122"/>
                <a:ea typeface="微软雅黑" panose="020B0503020204020204" pitchFamily="34" charset="-122"/>
              </a:rPr>
              <a:t>10kHz</a:t>
            </a:r>
            <a:r>
              <a:rPr kumimoji="1" lang="zh-CN" altLang="en-US" sz="1600" dirty="0">
                <a:latin typeface="微软雅黑" panose="020B0503020204020204" pitchFamily="34" charset="-122"/>
                <a:ea typeface="微软雅黑" panose="020B0503020204020204" pitchFamily="34" charset="-122"/>
              </a:rPr>
              <a:t>，求电路输出</a:t>
            </a:r>
            <a:r>
              <a:rPr kumimoji="1" lang="en-US" altLang="zh-CN" sz="1600" dirty="0">
                <a:latin typeface="微软雅黑" panose="020B0503020204020204" pitchFamily="34" charset="-122"/>
                <a:ea typeface="微软雅黑" panose="020B0503020204020204" pitchFamily="34" charset="-122"/>
              </a:rPr>
              <a:t>X</a:t>
            </a:r>
            <a:r>
              <a:rPr kumimoji="1" lang="zh-CN" altLang="en-US" sz="1600" dirty="0">
                <a:latin typeface="微软雅黑" panose="020B0503020204020204" pitchFamily="34" charset="-122"/>
                <a:ea typeface="微软雅黑" panose="020B0503020204020204" pitchFamily="34" charset="-122"/>
              </a:rPr>
              <a:t>、</a:t>
            </a:r>
            <a:r>
              <a:rPr kumimoji="1" lang="en-US" altLang="zh-CN" sz="1600" dirty="0">
                <a:latin typeface="微软雅黑" panose="020B0503020204020204" pitchFamily="34" charset="-122"/>
                <a:ea typeface="微软雅黑" panose="020B0503020204020204" pitchFamily="34" charset="-122"/>
              </a:rPr>
              <a:t>Y</a:t>
            </a:r>
            <a:r>
              <a:rPr kumimoji="1" lang="zh-CN" altLang="en-US" sz="1600" dirty="0">
                <a:latin typeface="微软雅黑" panose="020B0503020204020204" pitchFamily="34" charset="-122"/>
                <a:ea typeface="微软雅黑" panose="020B0503020204020204" pitchFamily="34" charset="-122"/>
              </a:rPr>
              <a:t>、</a:t>
            </a:r>
            <a:r>
              <a:rPr kumimoji="1" lang="en-US" altLang="zh-CN" sz="1600" dirty="0">
                <a:latin typeface="微软雅黑" panose="020B0503020204020204" pitchFamily="34" charset="-122"/>
                <a:ea typeface="微软雅黑" panose="020B0503020204020204" pitchFamily="34" charset="-122"/>
              </a:rPr>
              <a:t>Z</a:t>
            </a:r>
            <a:r>
              <a:rPr kumimoji="1" lang="zh-CN" altLang="en-US" sz="1600" dirty="0">
                <a:latin typeface="微软雅黑" panose="020B0503020204020204" pitchFamily="34" charset="-122"/>
                <a:ea typeface="微软雅黑" panose="020B0503020204020204" pitchFamily="34" charset="-122"/>
              </a:rPr>
              <a:t>信号的频率和占空比。</a:t>
            </a:r>
            <a:endParaRPr kumimoji="1" lang="zh-CN" altLang="en-US" sz="1600" dirty="0">
              <a:latin typeface="微软雅黑" panose="020B0503020204020204" pitchFamily="34" charset="-122"/>
              <a:ea typeface="微软雅黑" panose="020B0503020204020204" pitchFamily="34" charset="-122"/>
            </a:endParaRPr>
          </a:p>
        </p:txBody>
      </p:sp>
      <p:graphicFrame>
        <p:nvGraphicFramePr>
          <p:cNvPr id="31" name="表格 30"/>
          <p:cNvGraphicFramePr>
            <a:graphicFrameLocks noGrp="1"/>
          </p:cNvGraphicFramePr>
          <p:nvPr/>
        </p:nvGraphicFramePr>
        <p:xfrm>
          <a:off x="6682758" y="860199"/>
          <a:ext cx="1573346" cy="2332800"/>
        </p:xfrm>
        <a:graphic>
          <a:graphicData uri="http://schemas.openxmlformats.org/drawingml/2006/table">
            <a:tbl>
              <a:tblPr firstRow="1" bandRow="1">
                <a:tableStyleId>{5C22544A-7EE6-4342-B048-85BDC9FD1C3A}</a:tableStyleId>
              </a:tblPr>
              <a:tblGrid>
                <a:gridCol w="359552"/>
                <a:gridCol w="404191"/>
                <a:gridCol w="390939"/>
                <a:gridCol w="418664"/>
              </a:tblGrid>
              <a:tr h="252000">
                <a:tc gridSpan="4">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74161/163</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的状态</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hMerge="1">
                  <a:tcPr marL="0" marR="0" marT="0" marB="0"/>
                </a:tc>
                <a:tc hMerge="1">
                  <a:tcPr marL="0" marR="0" marT="0" marB="0"/>
                </a:tc>
                <a:tc hMerge="1">
                  <a:tcPr marL="0" marR="0" marT="0" marB="0"/>
                </a:tc>
              </a:tr>
              <a:tr h="252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34" name="表格 33"/>
          <p:cNvGraphicFramePr>
            <a:graphicFrameLocks noGrp="1"/>
          </p:cNvGraphicFramePr>
          <p:nvPr/>
        </p:nvGraphicFramePr>
        <p:xfrm>
          <a:off x="8265197" y="1112502"/>
          <a:ext cx="418664" cy="2080800"/>
        </p:xfrm>
        <a:graphic>
          <a:graphicData uri="http://schemas.openxmlformats.org/drawingml/2006/table">
            <a:tbl>
              <a:tblPr firstRow="1" bandRow="1">
                <a:tableStyleId>{5C22544A-7EE6-4342-B048-85BDC9FD1C3A}</a:tableStyleId>
              </a:tblPr>
              <a:tblGrid>
                <a:gridCol w="418664"/>
              </a:tblGrid>
              <a:tr h="252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Z</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bl>
          </a:graphicData>
        </a:graphic>
      </p:graphicFrame>
      <p:grpSp>
        <p:nvGrpSpPr>
          <p:cNvPr id="41" name="组合 40"/>
          <p:cNvGrpSpPr/>
          <p:nvPr/>
        </p:nvGrpSpPr>
        <p:grpSpPr>
          <a:xfrm>
            <a:off x="6680014" y="1370814"/>
            <a:ext cx="354858" cy="1826249"/>
            <a:chOff x="6680014" y="1370814"/>
            <a:chExt cx="354858" cy="1826249"/>
          </a:xfrm>
        </p:grpSpPr>
        <p:sp>
          <p:nvSpPr>
            <p:cNvPr id="33" name="圆角矩形 32"/>
            <p:cNvSpPr/>
            <p:nvPr/>
          </p:nvSpPr>
          <p:spPr>
            <a:xfrm>
              <a:off x="6687801" y="1370814"/>
              <a:ext cx="347071" cy="1452479"/>
            </a:xfrm>
            <a:prstGeom prst="roundRect">
              <a:avLst>
                <a:gd name="adj" fmla="val 0"/>
              </a:avLst>
            </a:prstGeom>
            <a:solidFill>
              <a:srgbClr val="66FF66">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a:off x="6680014" y="2838082"/>
              <a:ext cx="347071" cy="358981"/>
            </a:xfrm>
            <a:prstGeom prst="roundRect">
              <a:avLst>
                <a:gd name="adj" fmla="val 0"/>
              </a:avLst>
            </a:prstGeom>
            <a:solidFill>
              <a:srgbClr val="FF00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 name="组合 39"/>
          <p:cNvGrpSpPr/>
          <p:nvPr/>
        </p:nvGrpSpPr>
        <p:grpSpPr>
          <a:xfrm>
            <a:off x="7044885" y="1376377"/>
            <a:ext cx="388231" cy="1814011"/>
            <a:chOff x="7044885" y="1376377"/>
            <a:chExt cx="388231" cy="1814011"/>
          </a:xfrm>
        </p:grpSpPr>
        <p:sp>
          <p:nvSpPr>
            <p:cNvPr id="37" name="圆角矩形 36"/>
            <p:cNvSpPr/>
            <p:nvPr/>
          </p:nvSpPr>
          <p:spPr>
            <a:xfrm>
              <a:off x="7044885" y="1376377"/>
              <a:ext cx="388231" cy="719402"/>
            </a:xfrm>
            <a:prstGeom prst="roundRect">
              <a:avLst>
                <a:gd name="adj" fmla="val 0"/>
              </a:avLst>
            </a:prstGeom>
            <a:solidFill>
              <a:srgbClr val="66FF66">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a:off x="7044885" y="2836971"/>
              <a:ext cx="388231" cy="353417"/>
            </a:xfrm>
            <a:prstGeom prst="roundRect">
              <a:avLst>
                <a:gd name="adj" fmla="val 0"/>
              </a:avLst>
            </a:prstGeom>
            <a:solidFill>
              <a:srgbClr val="66FF66">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圆角矩形 38"/>
            <p:cNvSpPr/>
            <p:nvPr/>
          </p:nvSpPr>
          <p:spPr>
            <a:xfrm>
              <a:off x="7044885" y="2108343"/>
              <a:ext cx="388231" cy="708276"/>
            </a:xfrm>
            <a:prstGeom prst="roundRect">
              <a:avLst>
                <a:gd name="adj" fmla="val 0"/>
              </a:avLst>
            </a:prstGeom>
            <a:solidFill>
              <a:srgbClr val="FF00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圆角矩形标注 42"/>
          <p:cNvSpPr/>
          <p:nvPr/>
        </p:nvSpPr>
        <p:spPr>
          <a:xfrm>
            <a:off x="1868847" y="4103676"/>
            <a:ext cx="859893" cy="501696"/>
          </a:xfrm>
          <a:prstGeom prst="wedgeRoundRectCallout">
            <a:avLst>
              <a:gd name="adj1" fmla="val 83706"/>
              <a:gd name="adj2" fmla="val -56741"/>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rgbClr val="0000FF"/>
                </a:solidFill>
                <a:latin typeface="微软雅黑" panose="020B0503020204020204" pitchFamily="34" charset="-122"/>
                <a:ea typeface="微软雅黑" panose="020B0503020204020204" pitchFamily="34" charset="-122"/>
              </a:rPr>
              <a:t>10</a:t>
            </a:r>
            <a:r>
              <a:rPr lang="zh-CN" altLang="en-US" sz="1200" b="1" dirty="0">
                <a:solidFill>
                  <a:srgbClr val="0000FF"/>
                </a:solidFill>
                <a:latin typeface="微软雅黑" panose="020B0503020204020204" pitchFamily="34" charset="-122"/>
                <a:ea typeface="微软雅黑" panose="020B0503020204020204" pitchFamily="34" charset="-122"/>
              </a:rPr>
              <a:t>分频</a:t>
            </a:r>
            <a:endParaRPr lang="en-US" altLang="zh-CN" sz="1200" b="1" dirty="0">
              <a:solidFill>
                <a:srgbClr val="0000FF"/>
              </a:solidFill>
              <a:latin typeface="微软雅黑" panose="020B0503020204020204" pitchFamily="34" charset="-122"/>
              <a:ea typeface="微软雅黑" panose="020B0503020204020204" pitchFamily="34" charset="-122"/>
            </a:endParaRPr>
          </a:p>
          <a:p>
            <a:pPr algn="ctr"/>
            <a:r>
              <a:rPr lang="zh-CN" altLang="en-US" sz="1200" b="1" dirty="0">
                <a:solidFill>
                  <a:srgbClr val="0000FF"/>
                </a:solidFill>
                <a:latin typeface="微软雅黑" panose="020B0503020204020204" pitchFamily="34" charset="-122"/>
                <a:ea typeface="微软雅黑" panose="020B0503020204020204" pitchFamily="34" charset="-122"/>
              </a:rPr>
              <a:t>（</a:t>
            </a:r>
            <a:r>
              <a:rPr lang="en-US" altLang="zh-CN" sz="1200" b="1" dirty="0">
                <a:solidFill>
                  <a:srgbClr val="0000FF"/>
                </a:solidFill>
                <a:latin typeface="微软雅黑" panose="020B0503020204020204" pitchFamily="34" charset="-122"/>
                <a:ea typeface="微软雅黑" panose="020B0503020204020204" pitchFamily="34" charset="-122"/>
              </a:rPr>
              <a:t>1/5</a:t>
            </a:r>
            <a:r>
              <a:rPr lang="zh-CN" altLang="en-US" sz="1200" b="1" dirty="0">
                <a:solidFill>
                  <a:srgbClr val="0000FF"/>
                </a:solidFill>
                <a:latin typeface="微软雅黑" panose="020B0503020204020204" pitchFamily="34" charset="-122"/>
                <a:ea typeface="微软雅黑" panose="020B0503020204020204" pitchFamily="34" charset="-122"/>
              </a:rPr>
              <a:t>）</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45" name="圆角矩形标注 44"/>
          <p:cNvSpPr/>
          <p:nvPr/>
        </p:nvSpPr>
        <p:spPr>
          <a:xfrm>
            <a:off x="3583068" y="4142611"/>
            <a:ext cx="859893" cy="501696"/>
          </a:xfrm>
          <a:prstGeom prst="wedgeRoundRectCallout">
            <a:avLst>
              <a:gd name="adj1" fmla="val -59114"/>
              <a:gd name="adj2" fmla="val -78027"/>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rgbClr val="0000FF"/>
                </a:solidFill>
                <a:latin typeface="微软雅黑" panose="020B0503020204020204" pitchFamily="34" charset="-122"/>
                <a:ea typeface="微软雅黑" panose="020B0503020204020204" pitchFamily="34" charset="-122"/>
              </a:rPr>
              <a:t>10</a:t>
            </a:r>
            <a:r>
              <a:rPr lang="zh-CN" altLang="en-US" sz="1200" b="1" dirty="0">
                <a:solidFill>
                  <a:srgbClr val="0000FF"/>
                </a:solidFill>
                <a:latin typeface="微软雅黑" panose="020B0503020204020204" pitchFamily="34" charset="-122"/>
                <a:ea typeface="微软雅黑" panose="020B0503020204020204" pitchFamily="34" charset="-122"/>
              </a:rPr>
              <a:t>分频</a:t>
            </a:r>
            <a:endParaRPr lang="en-US" altLang="zh-CN" sz="1200" b="1" dirty="0">
              <a:solidFill>
                <a:srgbClr val="0000FF"/>
              </a:solidFill>
              <a:latin typeface="微软雅黑" panose="020B0503020204020204" pitchFamily="34" charset="-122"/>
              <a:ea typeface="微软雅黑" panose="020B0503020204020204" pitchFamily="34" charset="-122"/>
            </a:endParaRPr>
          </a:p>
          <a:p>
            <a:pPr algn="ctr"/>
            <a:r>
              <a:rPr lang="zh-CN" altLang="en-US" sz="1200" b="1" dirty="0">
                <a:solidFill>
                  <a:srgbClr val="0000FF"/>
                </a:solidFill>
                <a:latin typeface="微软雅黑" panose="020B0503020204020204" pitchFamily="34" charset="-122"/>
                <a:ea typeface="微软雅黑" panose="020B0503020204020204" pitchFamily="34" charset="-122"/>
              </a:rPr>
              <a:t>（</a:t>
            </a:r>
            <a:r>
              <a:rPr lang="en-US" altLang="zh-CN" sz="1200" b="1" dirty="0">
                <a:solidFill>
                  <a:srgbClr val="0000FF"/>
                </a:solidFill>
                <a:latin typeface="微软雅黑" panose="020B0503020204020204" pitchFamily="34" charset="-122"/>
                <a:ea typeface="微软雅黑" panose="020B0503020204020204" pitchFamily="34" charset="-122"/>
              </a:rPr>
              <a:t>2/5</a:t>
            </a:r>
            <a:r>
              <a:rPr lang="zh-CN" altLang="en-US" sz="1200" b="1" dirty="0">
                <a:solidFill>
                  <a:srgbClr val="0000FF"/>
                </a:solidFill>
                <a:latin typeface="微软雅黑" panose="020B0503020204020204" pitchFamily="34" charset="-122"/>
                <a:ea typeface="微软雅黑" panose="020B0503020204020204" pitchFamily="34" charset="-122"/>
              </a:rPr>
              <a:t>）</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46" name="圆角矩形标注 45"/>
          <p:cNvSpPr/>
          <p:nvPr/>
        </p:nvSpPr>
        <p:spPr>
          <a:xfrm>
            <a:off x="4956893" y="3747706"/>
            <a:ext cx="859893" cy="501696"/>
          </a:xfrm>
          <a:prstGeom prst="wedgeRoundRectCallout">
            <a:avLst>
              <a:gd name="adj1" fmla="val -59114"/>
              <a:gd name="adj2" fmla="val -78027"/>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rgbClr val="0000FF"/>
                </a:solidFill>
                <a:latin typeface="微软雅黑" panose="020B0503020204020204" pitchFamily="34" charset="-122"/>
                <a:ea typeface="微软雅黑" panose="020B0503020204020204" pitchFamily="34" charset="-122"/>
              </a:rPr>
              <a:t>10</a:t>
            </a:r>
            <a:r>
              <a:rPr lang="zh-CN" altLang="en-US" sz="1200" b="1" dirty="0">
                <a:solidFill>
                  <a:srgbClr val="0000FF"/>
                </a:solidFill>
                <a:latin typeface="微软雅黑" panose="020B0503020204020204" pitchFamily="34" charset="-122"/>
                <a:ea typeface="微软雅黑" panose="020B0503020204020204" pitchFamily="34" charset="-122"/>
              </a:rPr>
              <a:t>分频</a:t>
            </a:r>
            <a:endParaRPr lang="en-US" altLang="zh-CN" sz="1200" b="1" dirty="0">
              <a:solidFill>
                <a:srgbClr val="0000FF"/>
              </a:solidFill>
              <a:latin typeface="微软雅黑" panose="020B0503020204020204" pitchFamily="34" charset="-122"/>
              <a:ea typeface="微软雅黑" panose="020B0503020204020204" pitchFamily="34" charset="-122"/>
            </a:endParaRPr>
          </a:p>
          <a:p>
            <a:pPr algn="ctr"/>
            <a:r>
              <a:rPr lang="zh-CN" altLang="en-US" sz="1200" b="1" dirty="0">
                <a:solidFill>
                  <a:srgbClr val="0000FF"/>
                </a:solidFill>
                <a:latin typeface="微软雅黑" panose="020B0503020204020204" pitchFamily="34" charset="-122"/>
                <a:ea typeface="微软雅黑" panose="020B0503020204020204" pitchFamily="34" charset="-122"/>
              </a:rPr>
              <a:t>（</a:t>
            </a:r>
            <a:r>
              <a:rPr lang="en-US" altLang="zh-CN" sz="1200" b="1" dirty="0">
                <a:solidFill>
                  <a:srgbClr val="0000FF"/>
                </a:solidFill>
                <a:latin typeface="微软雅黑" panose="020B0503020204020204" pitchFamily="34" charset="-122"/>
                <a:ea typeface="微软雅黑" panose="020B0503020204020204" pitchFamily="34" charset="-122"/>
              </a:rPr>
              <a:t>9/10</a:t>
            </a:r>
            <a:r>
              <a:rPr lang="zh-CN" altLang="en-US" sz="1200" b="1" dirty="0">
                <a:solidFill>
                  <a:srgbClr val="0000FF"/>
                </a:solidFill>
                <a:latin typeface="微软雅黑" panose="020B0503020204020204" pitchFamily="34" charset="-122"/>
                <a:ea typeface="微软雅黑" panose="020B0503020204020204" pitchFamily="34" charset="-122"/>
              </a:rPr>
              <a:t>）</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slide(fromBottom)">
                                      <p:cBhvr>
                                        <p:cTn id="7" dur="1000"/>
                                        <p:tgtEl>
                                          <p:spTgt spid="29"/>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slide(fromBottom)">
                                      <p:cBhvr>
                                        <p:cTn id="11" dur="1000"/>
                                        <p:tgtEl>
                                          <p:spTgt spid="28"/>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2" fill="hold"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slide(fromRight)">
                                      <p:cBhvr>
                                        <p:cTn id="16" dur="10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nodeType="click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slide(fromLeft)">
                                      <p:cBhvr>
                                        <p:cTn id="21" dur="1000"/>
                                        <p:tgtEl>
                                          <p:spTgt spid="4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2" fill="hold" grpId="0" nodeType="clickEffect">
                                  <p:stCondLst>
                                    <p:cond delay="0"/>
                                  </p:stCondLst>
                                  <p:childTnLst>
                                    <p:set>
                                      <p:cBhvr>
                                        <p:cTn id="25" dur="1" fill="hold">
                                          <p:stCondLst>
                                            <p:cond delay="0"/>
                                          </p:stCondLst>
                                        </p:cTn>
                                        <p:tgtEl>
                                          <p:spTgt spid="45"/>
                                        </p:tgtEl>
                                        <p:attrNameLst>
                                          <p:attrName>style.visibility</p:attrName>
                                        </p:attrNameLst>
                                      </p:cBhvr>
                                      <p:to>
                                        <p:strVal val="visible"/>
                                      </p:to>
                                    </p:set>
                                    <p:animEffect transition="in" filter="slide(fromRight)">
                                      <p:cBhvr>
                                        <p:cTn id="26" dur="1000"/>
                                        <p:tgtEl>
                                          <p:spTgt spid="45"/>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nodeType="click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slide(fromLeft)">
                                      <p:cBhvr>
                                        <p:cTn id="31" dur="1000"/>
                                        <p:tgtEl>
                                          <p:spTgt spid="41"/>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8" fill="hold" grpId="0" nodeType="click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slide(fromLeft)">
                                      <p:cBhvr>
                                        <p:cTn id="36" dur="1000"/>
                                        <p:tgtEl>
                                          <p:spTgt spid="43"/>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nodeType="click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slide(fromLeft)">
                                      <p:cBhvr>
                                        <p:cTn id="41" dur="1000"/>
                                        <p:tgtEl>
                                          <p:spTgt spid="34"/>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2" fill="hold" grpId="0" nodeType="click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slide(fromRight)">
                                      <p:cBhvr>
                                        <p:cTn id="46" dur="1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43" grpId="0" animBg="1"/>
      <p:bldP spid="45" grpId="0" animBg="1"/>
      <p:bldP spid="46"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1"/>
          <p:cNvGrpSpPr/>
          <p:nvPr/>
        </p:nvGrpSpPr>
        <p:grpSpPr>
          <a:xfrm>
            <a:off x="392432" y="735720"/>
            <a:ext cx="5513068" cy="420971"/>
            <a:chOff x="670560" y="892917"/>
            <a:chExt cx="5513068" cy="420971"/>
          </a:xfrm>
        </p:grpSpPr>
        <p:sp>
          <p:nvSpPr>
            <p:cNvPr id="26" name="矩形 25"/>
            <p:cNvSpPr/>
            <p:nvPr/>
          </p:nvSpPr>
          <p:spPr>
            <a:xfrm>
              <a:off x="1035232" y="913778"/>
              <a:ext cx="514839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集成计数器构成分频器</a:t>
              </a:r>
              <a:endParaRPr lang="zh-CN" altLang="en-US" sz="2000" b="1" dirty="0">
                <a:solidFill>
                  <a:srgbClr val="CC00CC"/>
                </a:solidFill>
                <a:latin typeface="微软雅黑" panose="020B0503020204020204" pitchFamily="34" charset="-122"/>
                <a:ea typeface="微软雅黑" panose="020B0503020204020204" pitchFamily="34" charset="-122"/>
              </a:endParaRPr>
            </a:p>
          </p:txBody>
        </p:sp>
        <p:pic>
          <p:nvPicPr>
            <p:cNvPr id="27"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20" name="剪去对角的矩形 19"/>
          <p:cNvSpPr/>
          <p:nvPr/>
        </p:nvSpPr>
        <p:spPr>
          <a:xfrm>
            <a:off x="674116" y="1221424"/>
            <a:ext cx="7662272" cy="493910"/>
          </a:xfrm>
          <a:prstGeom prst="snip2DiagRect">
            <a:avLst/>
          </a:prstGeom>
          <a:solidFill>
            <a:schemeClr val="accent2">
              <a:lumMod val="40000"/>
              <a:lumOff val="60000"/>
            </a:schemeClr>
          </a:solidFill>
          <a:ln w="28575">
            <a:solidFill>
              <a:srgbClr val="00B0F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5C00B9"/>
                </a:solidFill>
                <a:latin typeface="微软雅黑" panose="020B0503020204020204" pitchFamily="34" charset="-122"/>
                <a:ea typeface="微软雅黑" panose="020B0503020204020204" pitchFamily="34" charset="-122"/>
              </a:rPr>
              <a:t>一般来说，任意的一个模为</a:t>
            </a:r>
            <a:r>
              <a:rPr kumimoji="1" lang="en-US" altLang="zh-CN" dirty="0">
                <a:solidFill>
                  <a:srgbClr val="5C00B9"/>
                </a:solidFill>
                <a:latin typeface="微软雅黑" panose="020B0503020204020204" pitchFamily="34" charset="-122"/>
                <a:ea typeface="微软雅黑" panose="020B0503020204020204" pitchFamily="34" charset="-122"/>
              </a:rPr>
              <a:t>M</a:t>
            </a:r>
            <a:r>
              <a:rPr kumimoji="1" lang="zh-CN" altLang="en-US" dirty="0">
                <a:solidFill>
                  <a:srgbClr val="5C00B9"/>
                </a:solidFill>
                <a:latin typeface="微软雅黑" panose="020B0503020204020204" pitchFamily="34" charset="-122"/>
                <a:ea typeface="微软雅黑" panose="020B0503020204020204" pitchFamily="34" charset="-122"/>
              </a:rPr>
              <a:t>的计数器，就是一个分频比为</a:t>
            </a:r>
            <a:r>
              <a:rPr kumimoji="1" lang="en-US" altLang="zh-CN" dirty="0">
                <a:solidFill>
                  <a:srgbClr val="5C00B9"/>
                </a:solidFill>
                <a:latin typeface="微软雅黑" panose="020B0503020204020204" pitchFamily="34" charset="-122"/>
                <a:ea typeface="微软雅黑" panose="020B0503020204020204" pitchFamily="34" charset="-122"/>
              </a:rPr>
              <a:t>M</a:t>
            </a:r>
            <a:r>
              <a:rPr kumimoji="1" lang="zh-CN" altLang="en-US" dirty="0">
                <a:solidFill>
                  <a:srgbClr val="5C00B9"/>
                </a:solidFill>
                <a:latin typeface="微软雅黑" panose="020B0503020204020204" pitchFamily="34" charset="-122"/>
                <a:ea typeface="微软雅黑" panose="020B0503020204020204" pitchFamily="34" charset="-122"/>
              </a:rPr>
              <a:t>的分频器。</a:t>
            </a:r>
            <a:endParaRPr lang="zh-CN" altLang="en-US" dirty="0"/>
          </a:p>
        </p:txBody>
      </p:sp>
      <p:grpSp>
        <p:nvGrpSpPr>
          <p:cNvPr id="40" name="组合 39"/>
          <p:cNvGrpSpPr/>
          <p:nvPr/>
        </p:nvGrpSpPr>
        <p:grpSpPr>
          <a:xfrm>
            <a:off x="2002335" y="1827502"/>
            <a:ext cx="4716069" cy="1556445"/>
            <a:chOff x="2002335" y="1827502"/>
            <a:chExt cx="4716069" cy="1556445"/>
          </a:xfrm>
        </p:grpSpPr>
        <p:graphicFrame>
          <p:nvGraphicFramePr>
            <p:cNvPr id="71682" name="Object 2"/>
            <p:cNvGraphicFramePr>
              <a:graphicFrameLocks noChangeAspect="1"/>
            </p:cNvGraphicFramePr>
            <p:nvPr/>
          </p:nvGraphicFramePr>
          <p:xfrm>
            <a:off x="2002335" y="1827502"/>
            <a:ext cx="4716069" cy="1555762"/>
          </p:xfrm>
          <a:graphic>
            <a:graphicData uri="http://schemas.openxmlformats.org/presentationml/2006/ole">
              <mc:AlternateContent xmlns:mc="http://schemas.openxmlformats.org/markup-compatibility/2006">
                <mc:Choice xmlns:v="urn:schemas-microsoft-com:vml" Requires="v">
                  <p:oleObj spid="_x0000_s55302" name="Visio" r:id="rId2" imgW="3239135" imgH="1079500" progId="Visio.Drawing.11">
                    <p:embed/>
                  </p:oleObj>
                </mc:Choice>
                <mc:Fallback>
                  <p:oleObj name="Visio" r:id="rId2" imgW="3239135" imgH="1079500" progId="Visio.Drawing.11">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2335" y="1827502"/>
                          <a:ext cx="4716069" cy="1555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剪去对角的矩形 31"/>
            <p:cNvSpPr/>
            <p:nvPr/>
          </p:nvSpPr>
          <p:spPr>
            <a:xfrm>
              <a:off x="2022359" y="1854085"/>
              <a:ext cx="4685466" cy="1529862"/>
            </a:xfrm>
            <a:prstGeom prst="snip2DiagRect">
              <a:avLst>
                <a:gd name="adj1" fmla="val 11220"/>
                <a:gd name="adj2" fmla="val 0"/>
              </a:avLst>
            </a:prstGeom>
            <a:no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圆角矩形标注 22"/>
          <p:cNvSpPr/>
          <p:nvPr/>
        </p:nvSpPr>
        <p:spPr>
          <a:xfrm>
            <a:off x="6712272" y="2296012"/>
            <a:ext cx="1610769" cy="654096"/>
          </a:xfrm>
          <a:prstGeom prst="wedgeRoundRectCallout">
            <a:avLst>
              <a:gd name="adj1" fmla="val -57064"/>
              <a:gd name="adj2" fmla="val 52367"/>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50000"/>
              </a:lnSpc>
            </a:pPr>
            <a:r>
              <a:rPr lang="en-US" altLang="zh-CN" sz="1200" b="1" dirty="0">
                <a:solidFill>
                  <a:srgbClr val="0000FF"/>
                </a:solidFill>
                <a:latin typeface="微软雅黑" panose="020B0503020204020204" pitchFamily="34" charset="-122"/>
                <a:ea typeface="微软雅黑" panose="020B0503020204020204" pitchFamily="34" charset="-122"/>
              </a:rPr>
              <a:t>Z</a:t>
            </a:r>
            <a:r>
              <a:rPr lang="zh-CN" altLang="en-US" sz="1200" b="1" dirty="0">
                <a:solidFill>
                  <a:srgbClr val="0000FF"/>
                </a:solidFill>
                <a:latin typeface="微软雅黑" panose="020B0503020204020204" pitchFamily="34" charset="-122"/>
                <a:ea typeface="微软雅黑" panose="020B0503020204020204" pitchFamily="34" charset="-122"/>
              </a:rPr>
              <a:t>是</a:t>
            </a:r>
            <a:r>
              <a:rPr lang="en-US" altLang="zh-CN" sz="1200" b="1" dirty="0">
                <a:solidFill>
                  <a:srgbClr val="0000FF"/>
                </a:solidFill>
                <a:latin typeface="微软雅黑" panose="020B0503020204020204" pitchFamily="34" charset="-122"/>
                <a:ea typeface="微软雅黑" panose="020B0503020204020204" pitchFamily="34" charset="-122"/>
              </a:rPr>
              <a:t>CP</a:t>
            </a:r>
            <a:r>
              <a:rPr lang="zh-CN" altLang="en-US" sz="1200" b="1" dirty="0">
                <a:solidFill>
                  <a:srgbClr val="0000FF"/>
                </a:solidFill>
                <a:latin typeface="微软雅黑" panose="020B0503020204020204" pitchFamily="34" charset="-122"/>
                <a:ea typeface="微软雅黑" panose="020B0503020204020204" pitchFamily="34" charset="-122"/>
              </a:rPr>
              <a:t>的多少分频。</a:t>
            </a:r>
            <a:endParaRPr lang="en-US" altLang="zh-CN" sz="1200" b="1" dirty="0">
              <a:solidFill>
                <a:srgbClr val="0000FF"/>
              </a:solidFill>
              <a:latin typeface="微软雅黑" panose="020B0503020204020204" pitchFamily="34" charset="-122"/>
              <a:ea typeface="微软雅黑" panose="020B0503020204020204" pitchFamily="34" charset="-122"/>
            </a:endParaRPr>
          </a:p>
          <a:p>
            <a:pPr algn="ctr">
              <a:lnSpc>
                <a:spcPct val="150000"/>
              </a:lnSpc>
            </a:pPr>
            <a:r>
              <a:rPr lang="zh-CN" altLang="en-US" sz="1200" b="1" dirty="0">
                <a:solidFill>
                  <a:srgbClr val="0000FF"/>
                </a:solidFill>
                <a:latin typeface="微软雅黑" panose="020B0503020204020204" pitchFamily="34" charset="-122"/>
                <a:ea typeface="微软雅黑" panose="020B0503020204020204" pitchFamily="34" charset="-122"/>
              </a:rPr>
              <a:t>占空比是多少？</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grpSp>
        <p:nvGrpSpPr>
          <p:cNvPr id="41" name="组合 40"/>
          <p:cNvGrpSpPr/>
          <p:nvPr/>
        </p:nvGrpSpPr>
        <p:grpSpPr>
          <a:xfrm>
            <a:off x="2007897" y="3604202"/>
            <a:ext cx="4685466" cy="1655264"/>
            <a:chOff x="2007897" y="3570832"/>
            <a:chExt cx="4685466" cy="1655264"/>
          </a:xfrm>
        </p:grpSpPr>
        <p:graphicFrame>
          <p:nvGraphicFramePr>
            <p:cNvPr id="30" name="Object 3"/>
            <p:cNvGraphicFramePr>
              <a:graphicFrameLocks noChangeAspect="1"/>
            </p:cNvGraphicFramePr>
            <p:nvPr/>
          </p:nvGraphicFramePr>
          <p:xfrm>
            <a:off x="2108816" y="3586778"/>
            <a:ext cx="4438650" cy="1624013"/>
          </p:xfrm>
          <a:graphic>
            <a:graphicData uri="http://schemas.openxmlformats.org/presentationml/2006/ole">
              <mc:AlternateContent xmlns:mc="http://schemas.openxmlformats.org/markup-compatibility/2006">
                <mc:Choice xmlns:v="urn:schemas-microsoft-com:vml" Requires="v">
                  <p:oleObj spid="_x0000_s55303" name="Visio" r:id="rId4" imgW="3258820" imgH="1206500" progId="Visio.Drawing.11">
                    <p:embed/>
                  </p:oleObj>
                </mc:Choice>
                <mc:Fallback>
                  <p:oleObj name="Visio" r:id="rId4" imgW="3258820" imgH="1206500" progId="Visio.Drawing.11">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8816" y="3586778"/>
                          <a:ext cx="4438650" cy="1624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剪去对角的矩形 34"/>
            <p:cNvSpPr/>
            <p:nvPr/>
          </p:nvSpPr>
          <p:spPr>
            <a:xfrm>
              <a:off x="2007897" y="3570832"/>
              <a:ext cx="4685466" cy="1655264"/>
            </a:xfrm>
            <a:prstGeom prst="snip2DiagRect">
              <a:avLst>
                <a:gd name="adj1" fmla="val 0"/>
                <a:gd name="adj2" fmla="val 15332"/>
              </a:avLst>
            </a:prstGeom>
            <a:no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2" name="圆角矩形标注 41"/>
          <p:cNvSpPr/>
          <p:nvPr/>
        </p:nvSpPr>
        <p:spPr>
          <a:xfrm>
            <a:off x="6637741" y="4217141"/>
            <a:ext cx="1610769" cy="654096"/>
          </a:xfrm>
          <a:prstGeom prst="wedgeRoundRectCallout">
            <a:avLst>
              <a:gd name="adj1" fmla="val -57064"/>
              <a:gd name="adj2" fmla="val 52367"/>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50000"/>
              </a:lnSpc>
            </a:pPr>
            <a:r>
              <a:rPr lang="en-US" altLang="zh-CN" sz="1200" b="1" dirty="0">
                <a:solidFill>
                  <a:srgbClr val="0000FF"/>
                </a:solidFill>
                <a:latin typeface="微软雅黑" panose="020B0503020204020204" pitchFamily="34" charset="-122"/>
                <a:ea typeface="微软雅黑" panose="020B0503020204020204" pitchFamily="34" charset="-122"/>
              </a:rPr>
              <a:t>Z</a:t>
            </a:r>
            <a:r>
              <a:rPr lang="zh-CN" altLang="en-US" sz="1200" b="1" dirty="0">
                <a:solidFill>
                  <a:srgbClr val="0000FF"/>
                </a:solidFill>
                <a:latin typeface="微软雅黑" panose="020B0503020204020204" pitchFamily="34" charset="-122"/>
                <a:ea typeface="微软雅黑" panose="020B0503020204020204" pitchFamily="34" charset="-122"/>
              </a:rPr>
              <a:t>是</a:t>
            </a:r>
            <a:r>
              <a:rPr lang="en-US" altLang="zh-CN" sz="1200" b="1" dirty="0">
                <a:solidFill>
                  <a:srgbClr val="0000FF"/>
                </a:solidFill>
                <a:latin typeface="微软雅黑" panose="020B0503020204020204" pitchFamily="34" charset="-122"/>
                <a:ea typeface="微软雅黑" panose="020B0503020204020204" pitchFamily="34" charset="-122"/>
              </a:rPr>
              <a:t>CP</a:t>
            </a:r>
            <a:r>
              <a:rPr lang="zh-CN" altLang="en-US" sz="1200" b="1" dirty="0">
                <a:solidFill>
                  <a:srgbClr val="0000FF"/>
                </a:solidFill>
                <a:latin typeface="微软雅黑" panose="020B0503020204020204" pitchFamily="34" charset="-122"/>
                <a:ea typeface="微软雅黑" panose="020B0503020204020204" pitchFamily="34" charset="-122"/>
              </a:rPr>
              <a:t>的多少分频。</a:t>
            </a:r>
            <a:endParaRPr lang="en-US" altLang="zh-CN" sz="1200" b="1" dirty="0">
              <a:solidFill>
                <a:srgbClr val="0000FF"/>
              </a:solidFill>
              <a:latin typeface="微软雅黑" panose="020B0503020204020204" pitchFamily="34" charset="-122"/>
              <a:ea typeface="微软雅黑" panose="020B0503020204020204" pitchFamily="34" charset="-122"/>
            </a:endParaRPr>
          </a:p>
          <a:p>
            <a:pPr algn="ctr">
              <a:lnSpc>
                <a:spcPct val="150000"/>
              </a:lnSpc>
            </a:pPr>
            <a:r>
              <a:rPr lang="zh-CN" altLang="en-US" sz="1200" b="1" dirty="0">
                <a:solidFill>
                  <a:srgbClr val="0000FF"/>
                </a:solidFill>
                <a:latin typeface="微软雅黑" panose="020B0503020204020204" pitchFamily="34" charset="-122"/>
                <a:ea typeface="微软雅黑" panose="020B0503020204020204" pitchFamily="34" charset="-122"/>
              </a:rPr>
              <a:t>占空比是多少？</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slide(fromBottom)">
                                      <p:cBhvr>
                                        <p:cTn id="7" dur="1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slide(fromBottom)">
                                      <p:cBhvr>
                                        <p:cTn id="12" dur="1000"/>
                                        <p:tgtEl>
                                          <p:spTgt spid="40"/>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left)">
                                      <p:cBhvr>
                                        <p:cTn id="16" dur="10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nodeType="click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slide(fromBottom)">
                                      <p:cBhvr>
                                        <p:cTn id="21" dur="1000"/>
                                        <p:tgtEl>
                                          <p:spTgt spid="41"/>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wipe(left)">
                                      <p:cBhvr>
                                        <p:cTn id="25" dur="10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3" grpId="0" animBg="1"/>
      <p:bldP spid="42"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1"/>
          <p:cNvGrpSpPr/>
          <p:nvPr/>
        </p:nvGrpSpPr>
        <p:grpSpPr>
          <a:xfrm>
            <a:off x="392432" y="735720"/>
            <a:ext cx="5513068" cy="420971"/>
            <a:chOff x="670560" y="892917"/>
            <a:chExt cx="5513068" cy="420971"/>
          </a:xfrm>
        </p:grpSpPr>
        <p:sp>
          <p:nvSpPr>
            <p:cNvPr id="3" name="矩形 2"/>
            <p:cNvSpPr/>
            <p:nvPr/>
          </p:nvSpPr>
          <p:spPr>
            <a:xfrm>
              <a:off x="1035232" y="913778"/>
              <a:ext cx="514839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集成计数器构成周期性序列产生器</a:t>
              </a:r>
              <a:endParaRPr lang="zh-CN" altLang="en-US" sz="2000" b="1" dirty="0">
                <a:solidFill>
                  <a:srgbClr val="CC00CC"/>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6"/>
          <p:cNvSpPr>
            <a:spLocks noChangeArrowheads="1"/>
          </p:cNvSpPr>
          <p:nvPr/>
        </p:nvSpPr>
        <p:spPr bwMode="auto">
          <a:xfrm>
            <a:off x="534988" y="2895729"/>
            <a:ext cx="5808662" cy="830997"/>
          </a:xfrm>
          <a:prstGeom prst="rect">
            <a:avLst/>
          </a:prstGeom>
          <a:noFill/>
          <a:ln w="9525" algn="ctr">
            <a:noFill/>
            <a:miter lim="800000"/>
          </a:ln>
        </p:spPr>
        <p:txBody>
          <a:bodyPr wrap="square" lIns="0" rIns="0" anchor="ctr">
            <a:spAutoFit/>
          </a:bodyPr>
          <a:lstStyle/>
          <a:p>
            <a:pPr marL="625475" indent="-612140" eaLnBrk="0" hangingPunct="0"/>
            <a:r>
              <a:rPr lang="zh-CN" altLang="en-US"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试用</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74163</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和必要的组合电路设计一个序列脉冲发生器，在</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CP</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脉冲的作用下，周期性地输出 </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(11010101  11010101…)</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序列，画出电路图。 </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4"/>
          <p:cNvSpPr>
            <a:spLocks noChangeArrowheads="1"/>
          </p:cNvSpPr>
          <p:nvPr/>
        </p:nvSpPr>
        <p:spPr bwMode="auto">
          <a:xfrm>
            <a:off x="492126" y="3816350"/>
            <a:ext cx="6175374" cy="830997"/>
          </a:xfrm>
          <a:prstGeom prst="rect">
            <a:avLst/>
          </a:prstGeom>
          <a:noFill/>
          <a:ln w="9525">
            <a:noFill/>
            <a:miter lim="800000"/>
          </a:ln>
        </p:spPr>
        <p:txBody>
          <a:bodyPr wrap="square">
            <a:spAutoFit/>
          </a:bodyPr>
          <a:lstStyle/>
          <a:p>
            <a:pPr marL="447675" indent="-447675">
              <a:spcBef>
                <a:spcPts val="600"/>
              </a:spcBef>
              <a:defRPr/>
            </a:pPr>
            <a:r>
              <a:rPr lang="zh-CN" altLang="en-US"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解：</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首先将</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74LS163</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连接成一个</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进制计数器，然后以该</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进制计数器输出（</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）作为输入，</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11010101</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依次作为</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的每种状态组合下的输出，设计一个组合逻辑电路即可。</a:t>
            </a:r>
            <a:endPar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4" name="表格 13"/>
          <p:cNvGraphicFramePr>
            <a:graphicFrameLocks noGrp="1"/>
          </p:cNvGraphicFramePr>
          <p:nvPr/>
        </p:nvGraphicFramePr>
        <p:xfrm>
          <a:off x="6844683" y="860199"/>
          <a:ext cx="1573346" cy="3612960"/>
        </p:xfrm>
        <a:graphic>
          <a:graphicData uri="http://schemas.openxmlformats.org/drawingml/2006/table">
            <a:tbl>
              <a:tblPr firstRow="1" bandRow="1">
                <a:tableStyleId>{5C22544A-7EE6-4342-B048-85BDC9FD1C3A}</a:tableStyleId>
              </a:tblPr>
              <a:tblGrid>
                <a:gridCol w="359552"/>
                <a:gridCol w="404191"/>
                <a:gridCol w="390939"/>
                <a:gridCol w="418664"/>
              </a:tblGrid>
              <a:tr h="252000">
                <a:tc gridSpan="4">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74161/163</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的状态</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hMerge="1">
                  <a:tcPr marL="0" marR="0" marT="0" marB="0"/>
                </a:tc>
                <a:tc hMerge="1">
                  <a:tcPr marL="0" marR="0" marT="0" marB="0"/>
                </a:tc>
                <a:tc hMerge="1">
                  <a:tcPr marL="0" marR="0" marT="0" marB="0"/>
                </a:tc>
              </a:tr>
              <a:tr h="252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5" name="表格 14"/>
          <p:cNvGraphicFramePr>
            <a:graphicFrameLocks noGrp="1"/>
          </p:cNvGraphicFramePr>
          <p:nvPr/>
        </p:nvGraphicFramePr>
        <p:xfrm>
          <a:off x="8490639" y="861392"/>
          <a:ext cx="549966" cy="3609990"/>
        </p:xfrm>
        <a:graphic>
          <a:graphicData uri="http://schemas.openxmlformats.org/drawingml/2006/table">
            <a:tbl>
              <a:tblPr firstRow="1" bandRow="1">
                <a:tableStyleId>{5C22544A-7EE6-4342-B048-85BDC9FD1C3A}</a:tableStyleId>
              </a:tblPr>
              <a:tblGrid>
                <a:gridCol w="549966"/>
              </a:tblGrid>
              <a:tr h="501030">
                <a:tc>
                  <a:txBody>
                    <a:bodyPr/>
                    <a:lstStyle/>
                    <a:p>
                      <a:pPr algn="ctr"/>
                      <a:r>
                        <a:rPr lang="zh-CN" altLang="en-US" sz="10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分频输出 </a:t>
                      </a:r>
                      <a:r>
                        <a:rPr lang="en-US" altLang="zh-CN" sz="12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Z</a:t>
                      </a:r>
                      <a:endParaRPr lang="zh-CN" altLang="en-US" sz="12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pSp>
        <p:nvGrpSpPr>
          <p:cNvPr id="12" name="组合 11"/>
          <p:cNvGrpSpPr/>
          <p:nvPr/>
        </p:nvGrpSpPr>
        <p:grpSpPr>
          <a:xfrm>
            <a:off x="584201" y="1275398"/>
            <a:ext cx="5924550" cy="1407477"/>
            <a:chOff x="584201" y="1275398"/>
            <a:chExt cx="5924550" cy="1407477"/>
          </a:xfrm>
        </p:grpSpPr>
        <p:sp>
          <p:nvSpPr>
            <p:cNvPr id="13" name="剪去对角的矩形 12"/>
            <p:cNvSpPr/>
            <p:nvPr/>
          </p:nvSpPr>
          <p:spPr>
            <a:xfrm>
              <a:off x="584201" y="1275398"/>
              <a:ext cx="5924550" cy="1407477"/>
            </a:xfrm>
            <a:prstGeom prst="snip2DiagRect">
              <a:avLst>
                <a:gd name="adj1" fmla="val 0"/>
                <a:gd name="adj2" fmla="val 16370"/>
              </a:avLst>
            </a:prstGeom>
            <a:solidFill>
              <a:srgbClr val="FFFF00"/>
            </a:solidFill>
            <a:ln w="28575">
              <a:solidFill>
                <a:srgbClr val="00B0F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indent="1079500" algn="just">
                <a:lnSpc>
                  <a:spcPct val="125000"/>
                </a:lnSpc>
              </a:pPr>
              <a:r>
                <a:rPr kumimoji="1" lang="zh-CN" altLang="en-US" sz="1600" dirty="0">
                  <a:solidFill>
                    <a:srgbClr val="6600FF"/>
                  </a:solidFill>
                  <a:latin typeface="微软雅黑" panose="020B0503020204020204" pitchFamily="34" charset="-122"/>
                  <a:ea typeface="微软雅黑" panose="020B0503020204020204" pitchFamily="34" charset="-122"/>
                </a:rPr>
                <a:t>  用集成计数器构成序列产生电路时，需要先将集成计数器构成模与序列长度相同的计数器，以新构成的计数器的状态作为输入变量，设计一个组合逻辑电路，该组合逻辑电路的输出依次为该序列。</a:t>
              </a:r>
              <a:endParaRPr lang="zh-CN" altLang="en-US" sz="1600" dirty="0">
                <a:solidFill>
                  <a:srgbClr val="6600FF"/>
                </a:solidFill>
              </a:endParaRPr>
            </a:p>
          </p:txBody>
        </p:sp>
        <p:sp>
          <p:nvSpPr>
            <p:cNvPr id="11" name="剪去对角的矩形 10"/>
            <p:cNvSpPr/>
            <p:nvPr/>
          </p:nvSpPr>
          <p:spPr>
            <a:xfrm>
              <a:off x="590550" y="1289050"/>
              <a:ext cx="1193800" cy="361950"/>
            </a:xfrm>
            <a:prstGeom prst="snip2DiagRect">
              <a:avLst>
                <a:gd name="adj1" fmla="val 0"/>
                <a:gd name="adj2" fmla="val 28948"/>
              </a:avLst>
            </a:prstGeom>
            <a:solidFill>
              <a:srgbClr val="66FF66"/>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rgbClr val="CC00CC"/>
                  </a:solidFill>
                  <a:latin typeface="微软雅黑" panose="020B0503020204020204" pitchFamily="34" charset="-122"/>
                  <a:ea typeface="微软雅黑" panose="020B0503020204020204" pitchFamily="34" charset="-122"/>
                </a:rPr>
                <a:t>一般方法</a:t>
              </a:r>
              <a:endParaRPr lang="zh-CN" altLang="en-US" dirty="0">
                <a:solidFill>
                  <a:srgbClr val="CC00CC"/>
                </a:solidFill>
              </a:endParaRPr>
            </a:p>
          </p:txBody>
        </p:sp>
      </p:grpSp>
      <p:sp>
        <p:nvSpPr>
          <p:cNvPr id="16" name="圆角矩形 15"/>
          <p:cNvSpPr/>
          <p:nvPr/>
        </p:nvSpPr>
        <p:spPr>
          <a:xfrm>
            <a:off x="6880248" y="1374334"/>
            <a:ext cx="1470002" cy="1464115"/>
          </a:xfrm>
          <a:prstGeom prst="roundRect">
            <a:avLst>
              <a:gd name="adj" fmla="val 2020"/>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五边形 16"/>
          <p:cNvSpPr/>
          <p:nvPr/>
        </p:nvSpPr>
        <p:spPr>
          <a:xfrm>
            <a:off x="8372613" y="1853429"/>
            <a:ext cx="178904" cy="484632"/>
          </a:xfrm>
          <a:prstGeom prst="homePlate">
            <a:avLst>
              <a:gd name="adj" fmla="val 94445"/>
            </a:avLst>
          </a:prstGeom>
          <a:solidFill>
            <a:srgbClr val="FFFF00"/>
          </a:solidFill>
          <a:ln w="19050">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p:nvSpPr>
        <p:spPr>
          <a:xfrm>
            <a:off x="7235848" y="1374334"/>
            <a:ext cx="1114402" cy="2930966"/>
          </a:xfrm>
          <a:prstGeom prst="roundRect">
            <a:avLst>
              <a:gd name="adj" fmla="val 2020"/>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9" name="表格 18"/>
          <p:cNvGraphicFramePr>
            <a:graphicFrameLocks noGrp="1"/>
          </p:cNvGraphicFramePr>
          <p:nvPr/>
        </p:nvGraphicFramePr>
        <p:xfrm>
          <a:off x="8490639" y="861392"/>
          <a:ext cx="549966" cy="3609990"/>
        </p:xfrm>
        <a:graphic>
          <a:graphicData uri="http://schemas.openxmlformats.org/drawingml/2006/table">
            <a:tbl>
              <a:tblPr firstRow="1" bandRow="1">
                <a:tableStyleId>{5C22544A-7EE6-4342-B048-85BDC9FD1C3A}</a:tableStyleId>
              </a:tblPr>
              <a:tblGrid>
                <a:gridCol w="549966"/>
              </a:tblGrid>
              <a:tr h="501030">
                <a:tc>
                  <a:txBody>
                    <a:bodyPr/>
                    <a:lstStyle/>
                    <a:p>
                      <a:pPr algn="ctr"/>
                      <a:r>
                        <a:rPr lang="zh-CN" altLang="en-US" sz="10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分频输出 </a:t>
                      </a:r>
                      <a:r>
                        <a:rPr lang="en-US" altLang="zh-CN" sz="12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Z</a:t>
                      </a:r>
                      <a:endParaRPr lang="zh-CN" altLang="en-US" sz="1200" b="1" kern="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r>
              <a:tr h="180000">
                <a:tc>
                  <a:txBody>
                    <a:bodyPr/>
                    <a:lstStyle/>
                    <a:p>
                      <a:pPr algn="ct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20" name="五边形 19"/>
          <p:cNvSpPr/>
          <p:nvPr/>
        </p:nvSpPr>
        <p:spPr>
          <a:xfrm>
            <a:off x="8366263" y="2577329"/>
            <a:ext cx="178904" cy="484632"/>
          </a:xfrm>
          <a:prstGeom prst="homePlate">
            <a:avLst>
              <a:gd name="adj" fmla="val 94445"/>
            </a:avLst>
          </a:prstGeom>
          <a:solidFill>
            <a:srgbClr val="FFFF00"/>
          </a:solidFill>
          <a:ln w="19050">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70"/>
          <p:cNvGrpSpPr/>
          <p:nvPr/>
        </p:nvGrpSpPr>
        <p:grpSpPr>
          <a:xfrm>
            <a:off x="1393439" y="1833474"/>
            <a:ext cx="3058297" cy="2187029"/>
            <a:chOff x="1421547" y="2589520"/>
            <a:chExt cx="3747667" cy="2735234"/>
          </a:xfrm>
        </p:grpSpPr>
        <p:sp>
          <p:nvSpPr>
            <p:cNvPr id="26" name="圆角矩形 25"/>
            <p:cNvSpPr/>
            <p:nvPr/>
          </p:nvSpPr>
          <p:spPr>
            <a:xfrm>
              <a:off x="1421547" y="2589520"/>
              <a:ext cx="3747667" cy="2735234"/>
            </a:xfrm>
            <a:prstGeom prst="roundRect">
              <a:avLst>
                <a:gd name="adj" fmla="val 6731"/>
              </a:avLst>
            </a:prstGeom>
            <a:solidFill>
              <a:schemeClr val="bg1"/>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5" name="Object 5"/>
            <p:cNvGraphicFramePr>
              <a:graphicFrameLocks noChangeAspect="1"/>
            </p:cNvGraphicFramePr>
            <p:nvPr/>
          </p:nvGraphicFramePr>
          <p:xfrm>
            <a:off x="1599655" y="2666546"/>
            <a:ext cx="3291512" cy="2577254"/>
          </p:xfrm>
          <a:graphic>
            <a:graphicData uri="http://schemas.openxmlformats.org/presentationml/2006/ole">
              <mc:AlternateContent xmlns:mc="http://schemas.openxmlformats.org/markup-compatibility/2006">
                <mc:Choice xmlns:v="urn:schemas-microsoft-com:vml" Requires="v">
                  <p:oleObj spid="_x0000_s56328" name="Visio" r:id="rId2" imgW="1624330" imgH="1332865" progId="Visio.Drawing.11">
                    <p:embed/>
                  </p:oleObj>
                </mc:Choice>
                <mc:Fallback>
                  <p:oleObj name="Visio" r:id="rId2" imgW="1624330" imgH="1332865"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t="2425" b="1212"/>
                        <a:stretch>
                          <a:fillRect/>
                        </a:stretch>
                      </p:blipFill>
                      <p:spPr bwMode="auto">
                        <a:xfrm>
                          <a:off x="1599655" y="2666546"/>
                          <a:ext cx="3291512" cy="2577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7" name="Group 4"/>
          <p:cNvGrpSpPr/>
          <p:nvPr/>
        </p:nvGrpSpPr>
        <p:grpSpPr bwMode="auto">
          <a:xfrm>
            <a:off x="4666161" y="1818480"/>
            <a:ext cx="1991069" cy="2243177"/>
            <a:chOff x="1514" y="2056"/>
            <a:chExt cx="1943" cy="2285"/>
          </a:xfrm>
        </p:grpSpPr>
        <p:sp>
          <p:nvSpPr>
            <p:cNvPr id="28" name="AutoShape 5"/>
            <p:cNvSpPr>
              <a:spLocks noChangeArrowheads="1"/>
            </p:cNvSpPr>
            <p:nvPr/>
          </p:nvSpPr>
          <p:spPr bwMode="auto">
            <a:xfrm>
              <a:off x="1514" y="2056"/>
              <a:ext cx="1943" cy="2285"/>
            </a:xfrm>
            <a:prstGeom prst="roundRect">
              <a:avLst>
                <a:gd name="adj" fmla="val 3597"/>
              </a:avLst>
            </a:prstGeom>
            <a:solidFill>
              <a:srgbClr val="FFFFFF"/>
            </a:solidFill>
            <a:ln w="9525">
              <a:solidFill>
                <a:schemeClr val="tx1"/>
              </a:solidFill>
              <a:miter lim="800000"/>
            </a:ln>
          </p:spPr>
          <p:txBody>
            <a:bodyPr wrap="none" anchor="ctr"/>
            <a:lstStyle/>
            <a:p>
              <a:endParaRPr lang="zh-CN" altLang="en-US">
                <a:solidFill>
                  <a:schemeClr val="tx1"/>
                </a:solidFill>
              </a:endParaRPr>
            </a:p>
          </p:txBody>
        </p:sp>
        <p:graphicFrame>
          <p:nvGraphicFramePr>
            <p:cNvPr id="29" name="Object 6"/>
            <p:cNvGraphicFramePr>
              <a:graphicFrameLocks noChangeAspect="1"/>
            </p:cNvGraphicFramePr>
            <p:nvPr/>
          </p:nvGraphicFramePr>
          <p:xfrm>
            <a:off x="1602" y="2138"/>
            <a:ext cx="1604" cy="1593"/>
          </p:xfrm>
          <a:graphic>
            <a:graphicData uri="http://schemas.openxmlformats.org/presentationml/2006/ole">
              <mc:AlternateContent xmlns:mc="http://schemas.openxmlformats.org/markup-compatibility/2006">
                <mc:Choice xmlns:v="urn:schemas-microsoft-com:vml" Requires="v">
                  <p:oleObj spid="_x0000_s56329" name="Visio" r:id="rId4" imgW="1546860" imgH="1536700" progId="Visio.Drawing.11">
                    <p:embed/>
                  </p:oleObj>
                </mc:Choice>
                <mc:Fallback>
                  <p:oleObj name="Visio" r:id="rId4" imgW="1546860" imgH="1536700" progId="Visio.Drawing.11">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2" y="2138"/>
                          <a:ext cx="1604" cy="15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1" name="AutoShape 19"/>
          <p:cNvSpPr>
            <a:spLocks noChangeArrowheads="1"/>
          </p:cNvSpPr>
          <p:nvPr/>
        </p:nvSpPr>
        <p:spPr bwMode="auto">
          <a:xfrm>
            <a:off x="5446684" y="2243275"/>
            <a:ext cx="580735" cy="1145967"/>
          </a:xfrm>
          <a:prstGeom prst="roundRect">
            <a:avLst>
              <a:gd name="adj" fmla="val 11418"/>
            </a:avLst>
          </a:prstGeom>
          <a:solidFill>
            <a:schemeClr val="hlink">
              <a:alpha val="14117"/>
            </a:schemeClr>
          </a:solidFill>
          <a:ln w="19050">
            <a:solidFill>
              <a:srgbClr val="CC00CC"/>
            </a:solidFill>
            <a:miter lim="800000"/>
          </a:ln>
        </p:spPr>
        <p:txBody>
          <a:bodyPr wrap="none" anchor="ctr"/>
          <a:lstStyle/>
          <a:p>
            <a:endParaRPr lang="zh-CN" altLang="en-US">
              <a:solidFill>
                <a:schemeClr val="tx1"/>
              </a:solidFill>
            </a:endParaRPr>
          </a:p>
        </p:txBody>
      </p:sp>
      <p:grpSp>
        <p:nvGrpSpPr>
          <p:cNvPr id="34" name="组合 33"/>
          <p:cNvGrpSpPr/>
          <p:nvPr/>
        </p:nvGrpSpPr>
        <p:grpSpPr>
          <a:xfrm>
            <a:off x="5157853" y="2243072"/>
            <a:ext cx="553973" cy="1185927"/>
            <a:chOff x="5157853" y="2243072"/>
            <a:chExt cx="553973" cy="1185927"/>
          </a:xfrm>
        </p:grpSpPr>
        <p:sp>
          <p:nvSpPr>
            <p:cNvPr id="32" name="左中括号 31"/>
            <p:cNvSpPr/>
            <p:nvPr/>
          </p:nvSpPr>
          <p:spPr>
            <a:xfrm rot="16200000">
              <a:off x="5300663" y="2100262"/>
              <a:ext cx="262001" cy="547622"/>
            </a:xfrm>
            <a:prstGeom prst="leftBracket">
              <a:avLst>
                <a:gd name="adj" fmla="val 28934"/>
              </a:avLst>
            </a:prstGeom>
            <a:solidFill>
              <a:srgbClr val="FF0000">
                <a:alpha val="13000"/>
              </a:srgbClr>
            </a:solidFill>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3" name="左中括号 32"/>
            <p:cNvSpPr/>
            <p:nvPr/>
          </p:nvSpPr>
          <p:spPr>
            <a:xfrm rot="5400000" flipV="1">
              <a:off x="5307014" y="3024188"/>
              <a:ext cx="262001" cy="547622"/>
            </a:xfrm>
            <a:prstGeom prst="leftBracket">
              <a:avLst>
                <a:gd name="adj" fmla="val 28934"/>
              </a:avLst>
            </a:prstGeom>
            <a:solidFill>
              <a:srgbClr val="FF0000">
                <a:alpha val="13000"/>
              </a:srgbClr>
            </a:solidFill>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35" name="组合 34"/>
          <p:cNvGrpSpPr/>
          <p:nvPr/>
        </p:nvGrpSpPr>
        <p:grpSpPr>
          <a:xfrm>
            <a:off x="4833457" y="3559672"/>
            <a:ext cx="1707672" cy="394034"/>
            <a:chOff x="4399449" y="3831135"/>
            <a:chExt cx="1707672" cy="394034"/>
          </a:xfrm>
        </p:grpSpPr>
        <p:sp>
          <p:nvSpPr>
            <p:cNvPr id="36" name="圆角矩形 35"/>
            <p:cNvSpPr/>
            <p:nvPr/>
          </p:nvSpPr>
          <p:spPr>
            <a:xfrm>
              <a:off x="4399449" y="3831135"/>
              <a:ext cx="1707672" cy="394034"/>
            </a:xfrm>
            <a:prstGeom prst="roundRect">
              <a:avLst/>
            </a:prstGeom>
            <a:solidFill>
              <a:srgbClr val="FFFF00"/>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7" name="对象 36"/>
            <p:cNvGraphicFramePr>
              <a:graphicFrameLocks noChangeAspect="1"/>
            </p:cNvGraphicFramePr>
            <p:nvPr/>
          </p:nvGraphicFramePr>
          <p:xfrm>
            <a:off x="4624388" y="3860801"/>
            <a:ext cx="1195387" cy="334962"/>
          </p:xfrm>
          <a:graphic>
            <a:graphicData uri="http://schemas.openxmlformats.org/presentationml/2006/ole">
              <mc:AlternateContent xmlns:mc="http://schemas.openxmlformats.org/markup-compatibility/2006">
                <mc:Choice xmlns:v="urn:schemas-microsoft-com:vml" Requires="v">
                  <p:oleObj spid="_x0000_s56330" name="Equation" r:id="rId6" imgW="19202400" imgH="5791200" progId="">
                    <p:embed/>
                  </p:oleObj>
                </mc:Choice>
                <mc:Fallback>
                  <p:oleObj name="Equation" r:id="rId6" imgW="19202400" imgH="5791200" progId="">
                    <p:embed/>
                    <p:pic>
                      <p:nvPicPr>
                        <p:cNvPr id="0" name="对象 3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24388" y="3860801"/>
                          <a:ext cx="1195387" cy="334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8" name="任意多边形 37"/>
          <p:cNvSpPr/>
          <p:nvPr/>
        </p:nvSpPr>
        <p:spPr>
          <a:xfrm rot="166001">
            <a:off x="3454300" y="3643180"/>
            <a:ext cx="1478134" cy="123053"/>
          </a:xfrm>
          <a:custGeom>
            <a:avLst/>
            <a:gdLst>
              <a:gd name="connsiteX0" fmla="*/ 1464365 w 1464365"/>
              <a:gd name="connsiteY0" fmla="*/ 205408 h 239643"/>
              <a:gd name="connsiteX1" fmla="*/ 742121 w 1464365"/>
              <a:gd name="connsiteY1" fmla="*/ 205408 h 239643"/>
              <a:gd name="connsiteX2" fmla="*/ 0 w 1464365"/>
              <a:gd name="connsiteY2" fmla="*/ 0 h 239643"/>
            </a:gdLst>
            <a:ahLst/>
            <a:cxnLst>
              <a:cxn ang="0">
                <a:pos x="connsiteX0" y="connsiteY0"/>
              </a:cxn>
              <a:cxn ang="0">
                <a:pos x="connsiteX1" y="connsiteY1"/>
              </a:cxn>
              <a:cxn ang="0">
                <a:pos x="connsiteX2" y="connsiteY2"/>
              </a:cxn>
            </a:cxnLst>
            <a:rect l="l" t="t" r="r" b="b"/>
            <a:pathLst>
              <a:path w="1464365" h="239643">
                <a:moveTo>
                  <a:pt x="1464365" y="205408"/>
                </a:moveTo>
                <a:cubicBezTo>
                  <a:pt x="1225273" y="222525"/>
                  <a:pt x="986182" y="239643"/>
                  <a:pt x="742121" y="205408"/>
                </a:cubicBezTo>
                <a:cubicBezTo>
                  <a:pt x="498060" y="171173"/>
                  <a:pt x="249030" y="85586"/>
                  <a:pt x="0" y="0"/>
                </a:cubicBezTo>
              </a:path>
            </a:pathLst>
          </a:custGeom>
          <a:ln w="38100">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slide(fromBottom)">
                                      <p:cBhvr>
                                        <p:cTn id="12" dur="10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1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1000"/>
                                        <p:tgtEl>
                                          <p:spTgt spid="7"/>
                                        </p:tgtEl>
                                      </p:cBhvr>
                                    </p:animEffect>
                                  </p:childTnLst>
                                </p:cTn>
                              </p:par>
                            </p:childTnLst>
                          </p:cTn>
                        </p:par>
                        <p:par>
                          <p:cTn id="23" fill="hold">
                            <p:stCondLst>
                              <p:cond delay="1000"/>
                            </p:stCondLst>
                            <p:childTnLst>
                              <p:par>
                                <p:cTn id="24" presetID="12" presetClass="entr" presetSubtype="8" fill="hold"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slide(fromLeft)">
                                      <p:cBhvr>
                                        <p:cTn id="26" dur="1000"/>
                                        <p:tgtEl>
                                          <p:spTgt spid="14"/>
                                        </p:tgtEl>
                                      </p:cBhvr>
                                    </p:animEffect>
                                  </p:childTnLst>
                                </p:cTn>
                              </p:par>
                            </p:childTnLst>
                          </p:cTn>
                        </p:par>
                        <p:par>
                          <p:cTn id="27" fill="hold">
                            <p:stCondLst>
                              <p:cond delay="2000"/>
                            </p:stCondLst>
                            <p:childTnLst>
                              <p:par>
                                <p:cTn id="28" presetID="12" presetClass="entr" presetSubtype="8"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slide(fromLeft)">
                                      <p:cBhvr>
                                        <p:cTn id="30" dur="10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8"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slide(fromLeft)">
                                      <p:cBhvr>
                                        <p:cTn id="35" dur="1000"/>
                                        <p:tgtEl>
                                          <p:spTgt spid="17"/>
                                        </p:tgtEl>
                                      </p:cBhvr>
                                    </p:animEffect>
                                  </p:childTnLst>
                                </p:cTn>
                              </p:par>
                            </p:childTnLst>
                          </p:cTn>
                        </p:par>
                        <p:par>
                          <p:cTn id="36" fill="hold">
                            <p:stCondLst>
                              <p:cond delay="1000"/>
                            </p:stCondLst>
                            <p:childTnLst>
                              <p:par>
                                <p:cTn id="37" presetID="12" presetClass="entr" presetSubtype="8" fill="hold"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slide(fromLeft)">
                                      <p:cBhvr>
                                        <p:cTn id="39" dur="10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23" presetClass="entr" presetSubtype="16" fill="hold" nodeType="clickEffect">
                                  <p:stCondLst>
                                    <p:cond delay="0"/>
                                  </p:stCondLst>
                                  <p:childTnLst>
                                    <p:set>
                                      <p:cBhvr>
                                        <p:cTn id="43" dur="1" fill="hold">
                                          <p:stCondLst>
                                            <p:cond delay="0"/>
                                          </p:stCondLst>
                                        </p:cTn>
                                        <p:tgtEl>
                                          <p:spTgt spid="27"/>
                                        </p:tgtEl>
                                        <p:attrNameLst>
                                          <p:attrName>style.visibility</p:attrName>
                                        </p:attrNameLst>
                                      </p:cBhvr>
                                      <p:to>
                                        <p:strVal val="visible"/>
                                      </p:to>
                                    </p:set>
                                    <p:anim calcmode="lin" valueType="num">
                                      <p:cBhvr>
                                        <p:cTn id="44" dur="1000" fill="hold"/>
                                        <p:tgtEl>
                                          <p:spTgt spid="27"/>
                                        </p:tgtEl>
                                        <p:attrNameLst>
                                          <p:attrName>ppt_w</p:attrName>
                                        </p:attrNameLst>
                                      </p:cBhvr>
                                      <p:tavLst>
                                        <p:tav tm="0">
                                          <p:val>
                                            <p:fltVal val="0"/>
                                          </p:val>
                                        </p:tav>
                                        <p:tav tm="100000">
                                          <p:val>
                                            <p:strVal val="#ppt_w"/>
                                          </p:val>
                                        </p:tav>
                                      </p:tavLst>
                                    </p:anim>
                                    <p:anim calcmode="lin" valueType="num">
                                      <p:cBhvr>
                                        <p:cTn id="45" dur="1000" fill="hold"/>
                                        <p:tgtEl>
                                          <p:spTgt spid="27"/>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23" presetClass="entr" presetSubtype="16" fill="hold" nodeType="clickEffect">
                                  <p:stCondLst>
                                    <p:cond delay="0"/>
                                  </p:stCondLst>
                                  <p:childTnLst>
                                    <p:set>
                                      <p:cBhvr>
                                        <p:cTn id="49" dur="1" fill="hold">
                                          <p:stCondLst>
                                            <p:cond delay="0"/>
                                          </p:stCondLst>
                                        </p:cTn>
                                        <p:tgtEl>
                                          <p:spTgt spid="34"/>
                                        </p:tgtEl>
                                        <p:attrNameLst>
                                          <p:attrName>style.visibility</p:attrName>
                                        </p:attrNameLst>
                                      </p:cBhvr>
                                      <p:to>
                                        <p:strVal val="visible"/>
                                      </p:to>
                                    </p:set>
                                    <p:anim calcmode="lin" valueType="num">
                                      <p:cBhvr>
                                        <p:cTn id="50" dur="1000" fill="hold"/>
                                        <p:tgtEl>
                                          <p:spTgt spid="34"/>
                                        </p:tgtEl>
                                        <p:attrNameLst>
                                          <p:attrName>ppt_w</p:attrName>
                                        </p:attrNameLst>
                                      </p:cBhvr>
                                      <p:tavLst>
                                        <p:tav tm="0">
                                          <p:val>
                                            <p:fltVal val="0"/>
                                          </p:val>
                                        </p:tav>
                                        <p:tav tm="100000">
                                          <p:val>
                                            <p:strVal val="#ppt_w"/>
                                          </p:val>
                                        </p:tav>
                                      </p:tavLst>
                                    </p:anim>
                                    <p:anim calcmode="lin" valueType="num">
                                      <p:cBhvr>
                                        <p:cTn id="51" dur="1000" fill="hold"/>
                                        <p:tgtEl>
                                          <p:spTgt spid="34"/>
                                        </p:tgtEl>
                                        <p:attrNameLst>
                                          <p:attrName>ppt_h</p:attrName>
                                        </p:attrNameLst>
                                      </p:cBhvr>
                                      <p:tavLst>
                                        <p:tav tm="0">
                                          <p:val>
                                            <p:fltVal val="0"/>
                                          </p:val>
                                        </p:tav>
                                        <p:tav tm="100000">
                                          <p:val>
                                            <p:strVal val="#ppt_h"/>
                                          </p:val>
                                        </p:tav>
                                      </p:tavLst>
                                    </p:anim>
                                  </p:childTnLst>
                                </p:cTn>
                              </p:par>
                            </p:childTnLst>
                          </p:cTn>
                        </p:par>
                        <p:par>
                          <p:cTn id="52" fill="hold">
                            <p:stCondLst>
                              <p:cond delay="1000"/>
                            </p:stCondLst>
                            <p:childTnLst>
                              <p:par>
                                <p:cTn id="53" presetID="23" presetClass="entr" presetSubtype="32" fill="hold" grpId="0" nodeType="afterEffect">
                                  <p:stCondLst>
                                    <p:cond delay="0"/>
                                  </p:stCondLst>
                                  <p:childTnLst>
                                    <p:set>
                                      <p:cBhvr>
                                        <p:cTn id="54" dur="1" fill="hold">
                                          <p:stCondLst>
                                            <p:cond delay="0"/>
                                          </p:stCondLst>
                                        </p:cTn>
                                        <p:tgtEl>
                                          <p:spTgt spid="31"/>
                                        </p:tgtEl>
                                        <p:attrNameLst>
                                          <p:attrName>style.visibility</p:attrName>
                                        </p:attrNameLst>
                                      </p:cBhvr>
                                      <p:to>
                                        <p:strVal val="visible"/>
                                      </p:to>
                                    </p:set>
                                    <p:anim calcmode="lin" valueType="num">
                                      <p:cBhvr>
                                        <p:cTn id="55" dur="1000" fill="hold"/>
                                        <p:tgtEl>
                                          <p:spTgt spid="31"/>
                                        </p:tgtEl>
                                        <p:attrNameLst>
                                          <p:attrName>ppt_w</p:attrName>
                                        </p:attrNameLst>
                                      </p:cBhvr>
                                      <p:tavLst>
                                        <p:tav tm="0">
                                          <p:val>
                                            <p:strVal val="4*#ppt_w"/>
                                          </p:val>
                                        </p:tav>
                                        <p:tav tm="100000">
                                          <p:val>
                                            <p:strVal val="#ppt_w"/>
                                          </p:val>
                                        </p:tav>
                                      </p:tavLst>
                                    </p:anim>
                                    <p:anim calcmode="lin" valueType="num">
                                      <p:cBhvr>
                                        <p:cTn id="56" dur="1000" fill="hold"/>
                                        <p:tgtEl>
                                          <p:spTgt spid="31"/>
                                        </p:tgtEl>
                                        <p:attrNameLst>
                                          <p:attrName>ppt_h</p:attrName>
                                        </p:attrNameLst>
                                      </p:cBhvr>
                                      <p:tavLst>
                                        <p:tav tm="0">
                                          <p:val>
                                            <p:strVal val="4*#ppt_h"/>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nodeType="click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slide(fromBottom)">
                                      <p:cBhvr>
                                        <p:cTn id="61" dur="1000"/>
                                        <p:tgtEl>
                                          <p:spTgt spid="35"/>
                                        </p:tgtEl>
                                      </p:cBhvr>
                                    </p:animEffect>
                                  </p:childTnLst>
                                </p:cTn>
                              </p:par>
                            </p:childTnLst>
                          </p:cTn>
                        </p:par>
                      </p:childTnLst>
                    </p:cTn>
                  </p:par>
                  <p:par>
                    <p:cTn id="62" fill="hold">
                      <p:stCondLst>
                        <p:cond delay="indefinite"/>
                      </p:stCondLst>
                      <p:childTnLst>
                        <p:par>
                          <p:cTn id="63" fill="hold">
                            <p:stCondLst>
                              <p:cond delay="0"/>
                            </p:stCondLst>
                            <p:childTnLst>
                              <p:par>
                                <p:cTn id="64" presetID="12" presetClass="entr" presetSubtype="4" fill="hold" nodeType="click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slide(fromBottom)">
                                      <p:cBhvr>
                                        <p:cTn id="66" dur="1000"/>
                                        <p:tgtEl>
                                          <p:spTgt spid="24"/>
                                        </p:tgtEl>
                                      </p:cBhvr>
                                    </p:animEffect>
                                  </p:childTnLst>
                                </p:cTn>
                              </p:par>
                            </p:childTnLst>
                          </p:cTn>
                        </p:par>
                        <p:par>
                          <p:cTn id="67" fill="hold">
                            <p:stCondLst>
                              <p:cond delay="1000"/>
                            </p:stCondLst>
                            <p:childTnLst>
                              <p:par>
                                <p:cTn id="68" presetID="22" presetClass="entr" presetSubtype="4" fill="hold" grpId="0" nodeType="after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wipe(down)">
                                      <p:cBhvr>
                                        <p:cTn id="70" dur="1000"/>
                                        <p:tgtEl>
                                          <p:spTgt spid="38"/>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xit" presetSubtype="8" fill="hold" grpId="1" nodeType="clickEffect">
                                  <p:stCondLst>
                                    <p:cond delay="0"/>
                                  </p:stCondLst>
                                  <p:childTnLst>
                                    <p:animEffect transition="out" filter="wipe(left)">
                                      <p:cBhvr>
                                        <p:cTn id="74" dur="1000"/>
                                        <p:tgtEl>
                                          <p:spTgt spid="16"/>
                                        </p:tgtEl>
                                      </p:cBhvr>
                                    </p:animEffect>
                                    <p:set>
                                      <p:cBhvr>
                                        <p:cTn id="75" dur="1" fill="hold">
                                          <p:stCondLst>
                                            <p:cond delay="999"/>
                                          </p:stCondLst>
                                        </p:cTn>
                                        <p:tgtEl>
                                          <p:spTgt spid="16"/>
                                        </p:tgtEl>
                                        <p:attrNameLst>
                                          <p:attrName>style.visibility</p:attrName>
                                        </p:attrNameLst>
                                      </p:cBhvr>
                                      <p:to>
                                        <p:strVal val="hidden"/>
                                      </p:to>
                                    </p:set>
                                  </p:childTnLst>
                                </p:cTn>
                              </p:par>
                              <p:par>
                                <p:cTn id="76" presetID="22" presetClass="exit" presetSubtype="4" fill="hold" grpId="1" nodeType="withEffect">
                                  <p:stCondLst>
                                    <p:cond delay="0"/>
                                  </p:stCondLst>
                                  <p:childTnLst>
                                    <p:animEffect transition="out" filter="wipe(down)">
                                      <p:cBhvr>
                                        <p:cTn id="77" dur="1000"/>
                                        <p:tgtEl>
                                          <p:spTgt spid="17"/>
                                        </p:tgtEl>
                                      </p:cBhvr>
                                    </p:animEffect>
                                    <p:set>
                                      <p:cBhvr>
                                        <p:cTn id="78" dur="1" fill="hold">
                                          <p:stCondLst>
                                            <p:cond delay="999"/>
                                          </p:stCondLst>
                                        </p:cTn>
                                        <p:tgtEl>
                                          <p:spTgt spid="17"/>
                                        </p:tgtEl>
                                        <p:attrNameLst>
                                          <p:attrName>style.visibility</p:attrName>
                                        </p:attrNameLst>
                                      </p:cBhvr>
                                      <p:to>
                                        <p:strVal val="hidden"/>
                                      </p:to>
                                    </p:set>
                                  </p:childTnLst>
                                </p:cTn>
                              </p:par>
                              <p:par>
                                <p:cTn id="79" presetID="22" presetClass="exit" presetSubtype="4" fill="hold" nodeType="withEffect">
                                  <p:stCondLst>
                                    <p:cond delay="0"/>
                                  </p:stCondLst>
                                  <p:childTnLst>
                                    <p:animEffect transition="out" filter="wipe(down)">
                                      <p:cBhvr>
                                        <p:cTn id="80" dur="1000"/>
                                        <p:tgtEl>
                                          <p:spTgt spid="15"/>
                                        </p:tgtEl>
                                      </p:cBhvr>
                                    </p:animEffect>
                                    <p:set>
                                      <p:cBhvr>
                                        <p:cTn id="81" dur="1" fill="hold">
                                          <p:stCondLst>
                                            <p:cond delay="999"/>
                                          </p:stCondLst>
                                        </p:cTn>
                                        <p:tgtEl>
                                          <p:spTgt spid="15"/>
                                        </p:tgtEl>
                                        <p:attrNameLst>
                                          <p:attrName>style.visibility</p:attrName>
                                        </p:attrNameLst>
                                      </p:cBhvr>
                                      <p:to>
                                        <p:strVal val="hidden"/>
                                      </p:to>
                                    </p:set>
                                  </p:childTnLst>
                                </p:cTn>
                              </p:par>
                            </p:childTnLst>
                          </p:cTn>
                        </p:par>
                        <p:par>
                          <p:cTn id="82" fill="hold">
                            <p:stCondLst>
                              <p:cond delay="1000"/>
                            </p:stCondLst>
                            <p:childTnLst>
                              <p:par>
                                <p:cTn id="83" presetID="12" presetClass="entr" presetSubtype="8" fill="hold" grpId="0" nodeType="after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slide(fromLeft)">
                                      <p:cBhvr>
                                        <p:cTn id="85" dur="1000"/>
                                        <p:tgtEl>
                                          <p:spTgt spid="18"/>
                                        </p:tgtEl>
                                      </p:cBhvr>
                                    </p:animEffect>
                                  </p:childTnLst>
                                </p:cTn>
                              </p:par>
                            </p:childTnLst>
                          </p:cTn>
                        </p:par>
                        <p:par>
                          <p:cTn id="86" fill="hold">
                            <p:stCondLst>
                              <p:cond delay="2000"/>
                            </p:stCondLst>
                            <p:childTnLst>
                              <p:par>
                                <p:cTn id="87" presetID="12" presetClass="entr" presetSubtype="8" fill="hold" grpId="0" nodeType="after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slide(fromLeft)">
                                      <p:cBhvr>
                                        <p:cTn id="89" dur="1000"/>
                                        <p:tgtEl>
                                          <p:spTgt spid="20"/>
                                        </p:tgtEl>
                                      </p:cBhvr>
                                    </p:animEffect>
                                  </p:childTnLst>
                                </p:cTn>
                              </p:par>
                            </p:childTnLst>
                          </p:cTn>
                        </p:par>
                        <p:par>
                          <p:cTn id="90" fill="hold">
                            <p:stCondLst>
                              <p:cond delay="3000"/>
                            </p:stCondLst>
                            <p:childTnLst>
                              <p:par>
                                <p:cTn id="91" presetID="12" presetClass="entr" presetSubtype="8" fill="hold" nodeType="afterEffect">
                                  <p:stCondLst>
                                    <p:cond delay="0"/>
                                  </p:stCondLst>
                                  <p:childTnLst>
                                    <p:set>
                                      <p:cBhvr>
                                        <p:cTn id="92" dur="1" fill="hold">
                                          <p:stCondLst>
                                            <p:cond delay="0"/>
                                          </p:stCondLst>
                                        </p:cTn>
                                        <p:tgtEl>
                                          <p:spTgt spid="19"/>
                                        </p:tgtEl>
                                        <p:attrNameLst>
                                          <p:attrName>style.visibility</p:attrName>
                                        </p:attrNameLst>
                                      </p:cBhvr>
                                      <p:to>
                                        <p:strVal val="visible"/>
                                      </p:to>
                                    </p:set>
                                    <p:animEffect transition="in" filter="slide(fromLeft)">
                                      <p:cBhvr>
                                        <p:cTn id="93"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6" grpId="0" animBg="1"/>
      <p:bldP spid="16" grpId="1" animBg="1"/>
      <p:bldP spid="17" grpId="0" animBg="1"/>
      <p:bldP spid="17" grpId="1" animBg="1"/>
      <p:bldP spid="18" grpId="0" animBg="1"/>
      <p:bldP spid="20" grpId="0" animBg="1"/>
      <p:bldP spid="31" grpId="0" animBg="1"/>
      <p:bldP spid="38"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a:spLocks noChangeArrowheads="1"/>
          </p:cNvSpPr>
          <p:nvPr/>
        </p:nvSpPr>
        <p:spPr bwMode="auto">
          <a:xfrm>
            <a:off x="484188" y="1267192"/>
            <a:ext cx="6024562" cy="830997"/>
          </a:xfrm>
          <a:prstGeom prst="rect">
            <a:avLst/>
          </a:prstGeom>
          <a:noFill/>
          <a:ln w="9525" algn="ctr">
            <a:noFill/>
            <a:miter lim="800000"/>
          </a:ln>
        </p:spPr>
        <p:txBody>
          <a:bodyPr wrap="square" lIns="0" rIns="0" anchor="t" anchorCtr="0">
            <a:spAutoFit/>
          </a:bodyPr>
          <a:lstStyle/>
          <a:p>
            <a:pPr marL="536575" indent="-504190" eaLnBrk="0" hangingPunct="0">
              <a:tabLst>
                <a:tab pos="356870" algn="l"/>
                <a:tab pos="536575" algn="l"/>
              </a:tabLst>
            </a:pPr>
            <a:r>
              <a:rPr lang="zh-CN" altLang="en-US"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用</a:t>
            </a:r>
            <a:r>
              <a:rPr lang="en-US" altLang="zh-CN" sz="16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74LS163</a:t>
            </a:r>
            <a:r>
              <a:rPr lang="zh-CN" altLang="en-US" sz="16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和必要的组合电路设计一个序列脉冲发生器，在</a:t>
            </a:r>
            <a:r>
              <a:rPr lang="en-US" altLang="zh-CN" sz="16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CP</a:t>
            </a:r>
            <a:r>
              <a:rPr lang="zh-CN" altLang="en-US" sz="16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的作用下，电路周期性地输出 “</a:t>
            </a:r>
            <a:r>
              <a:rPr lang="en-US" altLang="zh-CN" sz="16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011001</a:t>
            </a:r>
            <a:r>
              <a:rPr lang="zh-CN" altLang="en-US" sz="16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011001</a:t>
            </a:r>
            <a:r>
              <a:rPr lang="zh-CN" altLang="en-US" sz="16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序列，画出电路图。 </a:t>
            </a:r>
            <a:endParaRPr lang="zh-CN" altLang="en-US" sz="1600"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 name="组合 71"/>
          <p:cNvGrpSpPr/>
          <p:nvPr/>
        </p:nvGrpSpPr>
        <p:grpSpPr>
          <a:xfrm>
            <a:off x="392432" y="735720"/>
            <a:ext cx="5513068" cy="420971"/>
            <a:chOff x="670560" y="892917"/>
            <a:chExt cx="5513068" cy="420971"/>
          </a:xfrm>
        </p:grpSpPr>
        <p:sp>
          <p:nvSpPr>
            <p:cNvPr id="4" name="矩形 3"/>
            <p:cNvSpPr/>
            <p:nvPr/>
          </p:nvSpPr>
          <p:spPr>
            <a:xfrm>
              <a:off x="1035232" y="913778"/>
              <a:ext cx="514839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集成计数器构成周期性序列产生器</a:t>
              </a:r>
              <a:endParaRPr lang="zh-CN" altLang="en-US" sz="2000" b="1" dirty="0">
                <a:solidFill>
                  <a:srgbClr val="CC00CC"/>
                </a:solidFill>
                <a:latin typeface="微软雅黑" panose="020B0503020204020204" pitchFamily="34" charset="-122"/>
                <a:ea typeface="微软雅黑" panose="020B0503020204020204" pitchFamily="34" charset="-122"/>
              </a:endParaRPr>
            </a:p>
          </p:txBody>
        </p:sp>
        <p:pic>
          <p:nvPicPr>
            <p:cNvPr id="5"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aphicFrame>
        <p:nvGraphicFramePr>
          <p:cNvPr id="6" name="表格 5"/>
          <p:cNvGraphicFramePr>
            <a:graphicFrameLocks noGrp="1"/>
          </p:cNvGraphicFramePr>
          <p:nvPr/>
        </p:nvGraphicFramePr>
        <p:xfrm>
          <a:off x="6844683" y="860199"/>
          <a:ext cx="1573346" cy="3612960"/>
        </p:xfrm>
        <a:graphic>
          <a:graphicData uri="http://schemas.openxmlformats.org/drawingml/2006/table">
            <a:tbl>
              <a:tblPr firstRow="1" bandRow="1">
                <a:tableStyleId>{5C22544A-7EE6-4342-B048-85BDC9FD1C3A}</a:tableStyleId>
              </a:tblPr>
              <a:tblGrid>
                <a:gridCol w="359552"/>
                <a:gridCol w="404191"/>
                <a:gridCol w="390939"/>
                <a:gridCol w="418664"/>
              </a:tblGrid>
              <a:tr h="252000">
                <a:tc gridSpan="4">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74161/163</a:t>
                      </a:r>
                      <a:r>
                        <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的状态</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hMerge="1">
                  <a:tcPr marL="0" marR="0" marT="0" marB="0"/>
                </a:tc>
                <a:tc hMerge="1">
                  <a:tcPr marL="0" marR="0" marT="0" marB="0"/>
                </a:tc>
                <a:tc hMerge="1">
                  <a:tcPr marL="0" marR="0" marT="0" marB="0"/>
                </a:tc>
              </a:tr>
              <a:tr h="252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kern="12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80000">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7" name="圆角矩形 6"/>
          <p:cNvSpPr/>
          <p:nvPr/>
        </p:nvSpPr>
        <p:spPr>
          <a:xfrm>
            <a:off x="7661298" y="1552135"/>
            <a:ext cx="288902" cy="1076766"/>
          </a:xfrm>
          <a:prstGeom prst="roundRect">
            <a:avLst>
              <a:gd name="adj" fmla="val 15208"/>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标注 7"/>
          <p:cNvSpPr/>
          <p:nvPr/>
        </p:nvSpPr>
        <p:spPr>
          <a:xfrm>
            <a:off x="6026150" y="3077062"/>
            <a:ext cx="1490441" cy="654096"/>
          </a:xfrm>
          <a:prstGeom prst="wedgeRoundRectCallout">
            <a:avLst>
              <a:gd name="adj1" fmla="val 56570"/>
              <a:gd name="adj2" fmla="val -117524"/>
              <a:gd name="adj3" fmla="val 16667"/>
            </a:avLst>
          </a:prstGeom>
          <a:solidFill>
            <a:srgbClr val="FFFF00"/>
          </a:solidFill>
          <a:ln w="28575">
            <a:solidFill>
              <a:srgbClr val="FF00FF"/>
            </a:solidFill>
          </a:ln>
          <a:effectLst>
            <a:innerShdw blurRad="63500" dist="50800" dir="18900000">
              <a:prstClr val="black">
                <a:alpha val="50000"/>
              </a:prstClr>
            </a:inn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50000"/>
              </a:lnSpc>
            </a:pPr>
            <a:r>
              <a:rPr lang="zh-CN" altLang="en-US" sz="1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序列能在</a:t>
            </a:r>
            <a:r>
              <a:rPr lang="en-US" altLang="zh-CN" sz="1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74163</a:t>
            </a:r>
            <a:r>
              <a:rPr lang="zh-CN" altLang="en-US" sz="1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2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输出中直接得到！</a:t>
            </a:r>
            <a:endParaRPr lang="en-US" altLang="zh-CN" sz="1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9" name="组合 70"/>
          <p:cNvGrpSpPr/>
          <p:nvPr/>
        </p:nvGrpSpPr>
        <p:grpSpPr>
          <a:xfrm>
            <a:off x="1965106" y="2388630"/>
            <a:ext cx="2846844" cy="1785220"/>
            <a:chOff x="1421548" y="2589521"/>
            <a:chExt cx="3488550" cy="2232707"/>
          </a:xfrm>
        </p:grpSpPr>
        <p:graphicFrame>
          <p:nvGraphicFramePr>
            <p:cNvPr id="10" name="Object 5"/>
            <p:cNvGraphicFramePr>
              <a:graphicFrameLocks noChangeAspect="1"/>
            </p:cNvGraphicFramePr>
            <p:nvPr/>
          </p:nvGraphicFramePr>
          <p:xfrm>
            <a:off x="1516869" y="2787457"/>
            <a:ext cx="3291511" cy="1983440"/>
          </p:xfrm>
          <a:graphic>
            <a:graphicData uri="http://schemas.openxmlformats.org/presentationml/2006/ole">
              <mc:AlternateContent xmlns:mc="http://schemas.openxmlformats.org/markup-compatibility/2006">
                <mc:Choice xmlns:v="urn:schemas-microsoft-com:vml" Requires="v">
                  <p:oleObj spid="_x0000_s57348" name="Visio" r:id="rId2" imgW="1624330" imgH="1089660" progId="Visio.Drawing.11">
                    <p:embed/>
                  </p:oleObj>
                </mc:Choice>
                <mc:Fallback>
                  <p:oleObj name="Visio" r:id="rId2" imgW="1624330" imgH="1089660"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t="2425" b="1212"/>
                        <a:stretch>
                          <a:fillRect/>
                        </a:stretch>
                      </p:blipFill>
                      <p:spPr bwMode="auto">
                        <a:xfrm>
                          <a:off x="1516869" y="2787457"/>
                          <a:ext cx="3291511" cy="19834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圆角矩形 10"/>
            <p:cNvSpPr/>
            <p:nvPr/>
          </p:nvSpPr>
          <p:spPr>
            <a:xfrm>
              <a:off x="1421548" y="2589521"/>
              <a:ext cx="3488550" cy="2232707"/>
            </a:xfrm>
            <a:prstGeom prst="roundRect">
              <a:avLst>
                <a:gd name="adj" fmla="val 6731"/>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圆角矩形 11"/>
          <p:cNvSpPr/>
          <p:nvPr/>
        </p:nvSpPr>
        <p:spPr>
          <a:xfrm>
            <a:off x="6892622" y="1557697"/>
            <a:ext cx="1457117" cy="1076766"/>
          </a:xfrm>
          <a:prstGeom prst="roundRect">
            <a:avLst>
              <a:gd name="adj" fmla="val 3431"/>
            </a:avLst>
          </a:prstGeom>
          <a:solidFill>
            <a:srgbClr val="FF00FF">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p:stCondLst>
                              <p:cond delay="1000"/>
                            </p:stCondLst>
                            <p:childTnLst>
                              <p:par>
                                <p:cTn id="9" presetID="12" presetClass="entr" presetSubtype="2"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slide(fromRight)">
                                      <p:cBhvr>
                                        <p:cTn id="11" dur="10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1000"/>
                                        <p:tgtEl>
                                          <p:spTgt spid="7"/>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up)">
                                      <p:cBhvr>
                                        <p:cTn id="20" dur="10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up)">
                                      <p:cBhvr>
                                        <p:cTn id="25" dur="1000"/>
                                        <p:tgtEl>
                                          <p:spTgt spid="12"/>
                                        </p:tgtEl>
                                      </p:cBhvr>
                                    </p:animEffect>
                                  </p:childTnLst>
                                </p:cTn>
                              </p:par>
                            </p:childTnLst>
                          </p:cTn>
                        </p:par>
                        <p:par>
                          <p:cTn id="26" fill="hold">
                            <p:stCondLst>
                              <p:cond delay="1000"/>
                            </p:stCondLst>
                            <p:childTnLst>
                              <p:par>
                                <p:cTn id="27" presetID="12" presetClass="entr" presetSubtype="4"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slide(fromBottom)">
                                      <p:cBhvr>
                                        <p:cTn id="29"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P spid="8" grpId="0" animBg="1"/>
      <p:bldP spid="12"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1"/>
          <p:cNvGraphicFramePr>
            <a:graphicFrameLocks noChangeAspect="1"/>
          </p:cNvGraphicFramePr>
          <p:nvPr/>
        </p:nvGraphicFramePr>
        <p:xfrm>
          <a:off x="1405075" y="1902135"/>
          <a:ext cx="6055899" cy="2042388"/>
        </p:xfrm>
        <a:graphic>
          <a:graphicData uri="http://schemas.openxmlformats.org/presentationml/2006/ole">
            <mc:AlternateContent xmlns:mc="http://schemas.openxmlformats.org/markup-compatibility/2006">
              <mc:Choice xmlns:v="urn:schemas-microsoft-com:vml" Requires="v">
                <p:oleObj spid="_x0000_s58372" name="Visio" r:id="rId1" imgW="3550285" imgH="1186815" progId="Visio.Drawing.11">
                  <p:embed/>
                </p:oleObj>
              </mc:Choice>
              <mc:Fallback>
                <p:oleObj name="Visio" r:id="rId1" imgW="3550285" imgH="1186815"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5075" y="1902135"/>
                        <a:ext cx="6055899" cy="2042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6"/>
          <p:cNvSpPr>
            <a:spLocks noChangeArrowheads="1"/>
          </p:cNvSpPr>
          <p:nvPr/>
        </p:nvSpPr>
        <p:spPr bwMode="auto">
          <a:xfrm>
            <a:off x="517592" y="3874467"/>
            <a:ext cx="8500512" cy="1200329"/>
          </a:xfrm>
          <a:prstGeom prst="rect">
            <a:avLst/>
          </a:prstGeom>
          <a:noFill/>
          <a:ln w="9525" algn="ctr">
            <a:noFill/>
            <a:miter lim="800000"/>
          </a:ln>
        </p:spPr>
        <p:txBody>
          <a:bodyPr wrap="square" lIns="0" rIns="0">
            <a:spAutoFit/>
          </a:bodyPr>
          <a:lstStyle/>
          <a:p>
            <a:pPr marL="897255" indent="-897255" eaLnBrk="0" hangingPunct="0">
              <a:lnSpc>
                <a:spcPct val="150000"/>
              </a:lnSpc>
            </a:pPr>
            <a:r>
              <a:rPr lang="zh-CN" altLang="en-US" sz="1600" b="1" dirty="0">
                <a:solidFill>
                  <a:srgbClr val="CC00CC"/>
                </a:solidFill>
                <a:latin typeface="微软雅黑" panose="020B0503020204020204" pitchFamily="34" charset="-122"/>
                <a:ea typeface="微软雅黑" panose="020B0503020204020204" pitchFamily="34" charset="-122"/>
              </a:rPr>
              <a:t>问题</a:t>
            </a:r>
            <a:r>
              <a:rPr lang="zh-CN" altLang="en-US" sz="1600" b="1" dirty="0">
                <a:solidFill>
                  <a:srgbClr val="CC00CC"/>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1</a:t>
            </a:r>
            <a:r>
              <a:rPr lang="zh-CN" altLang="en-US"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）本题中与非门是否可以去掉？</a:t>
            </a:r>
            <a:endParaRPr lang="en-US" altLang="zh-CN"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endParaRPr>
          </a:p>
          <a:p>
            <a:pPr marL="897255" indent="-897255" eaLnBrk="0" hangingPunct="0">
              <a:lnSpc>
                <a:spcPct val="150000"/>
              </a:lnSpc>
            </a:pPr>
            <a:r>
              <a:rPr lang="zh-CN" altLang="en-US"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          （</a:t>
            </a:r>
            <a:r>
              <a:rPr lang="en-US" altLang="zh-CN"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2</a:t>
            </a:r>
            <a:r>
              <a:rPr lang="zh-CN" altLang="en-US"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）序列长度小于</a:t>
            </a:r>
            <a:r>
              <a:rPr lang="en-US" altLang="zh-CN"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8</a:t>
            </a:r>
            <a:r>
              <a:rPr lang="zh-CN" altLang="en-US"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位或大于</a:t>
            </a:r>
            <a:r>
              <a:rPr lang="en-US" altLang="zh-CN"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8</a:t>
            </a:r>
            <a:r>
              <a:rPr lang="zh-CN" altLang="en-US"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位，如何解决？</a:t>
            </a:r>
            <a:endParaRPr lang="en-US" altLang="zh-CN"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endParaRPr>
          </a:p>
          <a:p>
            <a:pPr marL="897255" indent="-897255" eaLnBrk="0" hangingPunct="0">
              <a:lnSpc>
                <a:spcPct val="150000"/>
              </a:lnSpc>
            </a:pPr>
            <a:r>
              <a:rPr lang="en-US" altLang="zh-CN"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3</a:t>
            </a:r>
            <a:r>
              <a:rPr lang="zh-CN" altLang="en-US"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）如要实现“</a:t>
            </a:r>
            <a:r>
              <a:rPr lang="en-US" altLang="zh-CN"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10110010101  10110010101…..</a:t>
            </a:r>
            <a:r>
              <a:rPr lang="zh-CN" altLang="en-US"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”，不扩展</a:t>
            </a:r>
            <a:r>
              <a:rPr lang="en-US" altLang="zh-CN"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74151</a:t>
            </a:r>
            <a:r>
              <a:rPr lang="zh-CN" altLang="en-US"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是否 能够实现。</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grpSp>
        <p:nvGrpSpPr>
          <p:cNvPr id="5" name="组合 71"/>
          <p:cNvGrpSpPr/>
          <p:nvPr/>
        </p:nvGrpSpPr>
        <p:grpSpPr>
          <a:xfrm>
            <a:off x="392432" y="735720"/>
            <a:ext cx="5513068" cy="420971"/>
            <a:chOff x="670560" y="892917"/>
            <a:chExt cx="5513068" cy="420971"/>
          </a:xfrm>
        </p:grpSpPr>
        <p:sp>
          <p:nvSpPr>
            <p:cNvPr id="6" name="矩形 5"/>
            <p:cNvSpPr/>
            <p:nvPr/>
          </p:nvSpPr>
          <p:spPr>
            <a:xfrm>
              <a:off x="1035232" y="913778"/>
              <a:ext cx="5148396" cy="400110"/>
            </a:xfrm>
            <a:prstGeom prst="rect">
              <a:avLst/>
            </a:prstGeom>
          </p:spPr>
          <p:txBody>
            <a:bodyPr wrap="square">
              <a:spAutoFit/>
            </a:bodyPr>
            <a:lstStyle/>
            <a:p>
              <a:r>
                <a:rPr lang="zh-CN" altLang="en-US" sz="2000" b="1">
                  <a:solidFill>
                    <a:srgbClr val="002060"/>
                  </a:solidFill>
                  <a:latin typeface="微软雅黑" panose="020B0503020204020204" pitchFamily="34" charset="-122"/>
                  <a:ea typeface="微软雅黑" panose="020B0503020204020204" pitchFamily="34" charset="-122"/>
                </a:rPr>
                <a:t>集成</a:t>
              </a:r>
              <a:r>
                <a:rPr lang="zh-CN" altLang="en-US" sz="2000" b="1" dirty="0">
                  <a:solidFill>
                    <a:srgbClr val="002060"/>
                  </a:solidFill>
                  <a:latin typeface="微软雅黑" panose="020B0503020204020204" pitchFamily="34" charset="-122"/>
                  <a:ea typeface="微软雅黑" panose="020B0503020204020204" pitchFamily="34" charset="-122"/>
                </a:rPr>
                <a:t>计数器构成周期性序列产生器</a:t>
              </a:r>
              <a:endParaRPr lang="zh-CN" altLang="en-US" sz="2000" b="1" dirty="0">
                <a:solidFill>
                  <a:srgbClr val="CC00CC"/>
                </a:solidFill>
                <a:latin typeface="微软雅黑" panose="020B0503020204020204" pitchFamily="34" charset="-122"/>
                <a:ea typeface="微软雅黑" panose="020B0503020204020204" pitchFamily="34" charset="-122"/>
              </a:endParaRPr>
            </a:p>
          </p:txBody>
        </p:sp>
        <p:pic>
          <p:nvPicPr>
            <p:cNvPr id="7"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8" name="剪去对角的矩形 7"/>
          <p:cNvSpPr/>
          <p:nvPr/>
        </p:nvSpPr>
        <p:spPr>
          <a:xfrm>
            <a:off x="634359" y="1241302"/>
            <a:ext cx="7662272" cy="493910"/>
          </a:xfrm>
          <a:prstGeom prst="snip2DiagRect">
            <a:avLst/>
          </a:prstGeom>
          <a:solidFill>
            <a:schemeClr val="accent2">
              <a:lumMod val="40000"/>
              <a:lumOff val="60000"/>
            </a:schemeClr>
          </a:solidFill>
          <a:ln w="28575">
            <a:solidFill>
              <a:srgbClr val="00B0F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dirty="0">
                <a:solidFill>
                  <a:srgbClr val="5C00B9"/>
                </a:solidFill>
                <a:latin typeface="微软雅黑" panose="020B0503020204020204" pitchFamily="34" charset="-122"/>
                <a:ea typeface="微软雅黑" panose="020B0503020204020204" pitchFamily="34" charset="-122"/>
              </a:rPr>
              <a:t>利用</a:t>
            </a:r>
            <a:r>
              <a:rPr kumimoji="1" lang="en-US" altLang="zh-CN" dirty="0">
                <a:solidFill>
                  <a:srgbClr val="5C00B9"/>
                </a:solidFill>
                <a:latin typeface="微软雅黑" panose="020B0503020204020204" pitchFamily="34" charset="-122"/>
                <a:ea typeface="微软雅黑" panose="020B0503020204020204" pitchFamily="34" charset="-122"/>
              </a:rPr>
              <a:t>74163</a:t>
            </a:r>
            <a:r>
              <a:rPr kumimoji="1" lang="zh-CN" altLang="en-US" dirty="0">
                <a:solidFill>
                  <a:srgbClr val="5C00B9"/>
                </a:solidFill>
                <a:latin typeface="微软雅黑" panose="020B0503020204020204" pitchFamily="34" charset="-122"/>
                <a:ea typeface="微软雅黑" panose="020B0503020204020204" pitchFamily="34" charset="-122"/>
              </a:rPr>
              <a:t>和</a:t>
            </a:r>
            <a:r>
              <a:rPr kumimoji="1" lang="en-US" altLang="zh-CN" dirty="0">
                <a:solidFill>
                  <a:srgbClr val="5C00B9"/>
                </a:solidFill>
                <a:latin typeface="微软雅黑" panose="020B0503020204020204" pitchFamily="34" charset="-122"/>
                <a:ea typeface="微软雅黑" panose="020B0503020204020204" pitchFamily="34" charset="-122"/>
              </a:rPr>
              <a:t>74151</a:t>
            </a:r>
            <a:r>
              <a:rPr kumimoji="1" lang="zh-CN" altLang="en-US" dirty="0">
                <a:solidFill>
                  <a:srgbClr val="5C00B9"/>
                </a:solidFill>
                <a:latin typeface="微软雅黑" panose="020B0503020204020204" pitchFamily="34" charset="-122"/>
                <a:ea typeface="微软雅黑" panose="020B0503020204020204" pitchFamily="34" charset="-122"/>
              </a:rPr>
              <a:t>可以方便的实现一个序列脉冲产生电路</a:t>
            </a:r>
            <a:r>
              <a:rPr kumimoji="1" lang="en-US" altLang="zh-CN" dirty="0">
                <a:solidFill>
                  <a:srgbClr val="5C00B9"/>
                </a:solidFill>
                <a:latin typeface="微软雅黑" panose="020B0503020204020204" pitchFamily="34" charset="-122"/>
                <a:ea typeface="微软雅黑" panose="020B0503020204020204" pitchFamily="34" charset="-122"/>
              </a:rPr>
              <a:t>!</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Top)">
                                      <p:cBhvr>
                                        <p:cTn id="7" dur="1000"/>
                                        <p:tgtEl>
                                          <p:spTgt spid="8"/>
                                        </p:tgtEl>
                                      </p:cBhvr>
                                    </p:animEffect>
                                  </p:childTnLst>
                                </p:cTn>
                              </p:par>
                            </p:childTnLst>
                          </p:cTn>
                        </p:par>
                        <p:par>
                          <p:cTn id="8" fill="hold">
                            <p:stCondLst>
                              <p:cond delay="1000"/>
                            </p:stCondLst>
                            <p:childTnLst>
                              <p:par>
                                <p:cTn id="9" presetID="1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lide(fromTop)">
                                      <p:cBhvr>
                                        <p:cTn id="11" dur="1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1000" fill="hold"/>
                                        <p:tgtEl>
                                          <p:spTgt spid="4"/>
                                        </p:tgtEl>
                                        <p:attrNameLst>
                                          <p:attrName>ppt_x</p:attrName>
                                        </p:attrNameLst>
                                      </p:cBhvr>
                                      <p:tavLst>
                                        <p:tav tm="0">
                                          <p:val>
                                            <p:strVal val="#ppt_x"/>
                                          </p:val>
                                        </p:tav>
                                        <p:tav tm="100000">
                                          <p:val>
                                            <p:strVal val="#ppt_x"/>
                                          </p:val>
                                        </p:tav>
                                      </p:tavLst>
                                    </p:anim>
                                    <p:anim calcmode="lin" valueType="num">
                                      <p:cBhvr additive="base">
                                        <p:cTn id="17" dur="10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animBg="1"/>
    </p:bldLst>
  </p:timing>
</p:sld>
</file>

<file path=ppt/theme/theme1.xml><?xml version="1.0" encoding="utf-8"?>
<a:theme xmlns:a="http://schemas.openxmlformats.org/drawingml/2006/main" name="Office 主题">
  <a:themeElements>
    <a:clrScheme name="学术蓝">
      <a:dk1>
        <a:sysClr val="windowText" lastClr="000000"/>
      </a:dk1>
      <a:lt1>
        <a:sysClr val="window" lastClr="FFFFFF"/>
      </a:lt1>
      <a:dk2>
        <a:srgbClr val="44546A"/>
      </a:dk2>
      <a:lt2>
        <a:srgbClr val="E7E6E6"/>
      </a:lt2>
      <a:accent1>
        <a:srgbClr val="0070C0"/>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12575</Words>
  <Application>WPS 演示</Application>
  <PresentationFormat>全屏显示(16:10)</PresentationFormat>
  <Paragraphs>3920</Paragraphs>
  <Slides>92</Slides>
  <Notes>42</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162</vt:i4>
      </vt:variant>
      <vt:variant>
        <vt:lpstr>幻灯片标题</vt:lpstr>
      </vt:variant>
      <vt:variant>
        <vt:i4>92</vt:i4>
      </vt:variant>
    </vt:vector>
  </HeadingPairs>
  <TitlesOfParts>
    <vt:vector size="270" baseType="lpstr">
      <vt:lpstr>Arial</vt:lpstr>
      <vt:lpstr>宋体</vt:lpstr>
      <vt:lpstr>Wingdings</vt:lpstr>
      <vt:lpstr>微软雅黑</vt:lpstr>
      <vt:lpstr>方正粗黑宋简体</vt:lpstr>
      <vt:lpstr>Times New Roman</vt:lpstr>
      <vt:lpstr>Calibri</vt:lpstr>
      <vt:lpstr>黑体</vt:lpstr>
      <vt:lpstr>Arial Unicode MS</vt:lpstr>
      <vt:lpstr>华文楷体</vt:lpstr>
      <vt:lpstr>Calibri</vt:lpstr>
      <vt:lpstr>楷体</vt:lpstr>
      <vt:lpstr>Times New Roman</vt:lpstr>
      <vt:lpstr>楷体_GB2312</vt:lpstr>
      <vt:lpstr>新宋体</vt:lpstr>
      <vt:lpstr>Office 主题</vt:lpstr>
      <vt:lpstr>Equation.3</vt:lpstr>
      <vt:lpstr>Equation.DSMT4</vt:lpstr>
      <vt:lpstr>Word.Picture.8</vt:lpstr>
      <vt:lpstr>Word.Picture.8</vt:lpstr>
      <vt:lpstr>Word.Picture.8</vt:lpstr>
      <vt:lpstr>Word.Picture.8</vt:lpstr>
      <vt:lpstr>Visio.Drawing.11</vt:lpstr>
      <vt:lpstr>Word.Picture.8</vt:lpstr>
      <vt:lpstr>Equation.3</vt:lpstr>
      <vt:lpstr>Word.Picture.8</vt:lpstr>
      <vt:lpstr>Word.Picture.8</vt:lpstr>
      <vt:lpstr>Word.Picture.8</vt:lpstr>
      <vt:lpstr>Word.Picture.8</vt:lpstr>
      <vt:lpstr>Visio.Drawing.11</vt:lpstr>
      <vt:lpstr>Visio.Drawing.11</vt:lpstr>
      <vt:lpstr>Visio.Drawing.11</vt:lpstr>
      <vt:lpstr>Visio.Drawing.11</vt:lpstr>
      <vt:lpstr>Visio.Drawing.11</vt:lpstr>
      <vt:lpstr>Equation.3</vt:lpstr>
      <vt:lpstr>Equation.3</vt:lpstr>
      <vt:lpstr>Equation.3</vt:lpstr>
      <vt:lpstr>Equation.3</vt:lpstr>
      <vt:lpstr>Equation.3</vt:lpstr>
      <vt:lpstr>Equation.3</vt:lpstr>
      <vt:lpstr>Word.Picture.8</vt:lpstr>
      <vt:lpstr>Visio.Drawing.11</vt:lpstr>
      <vt:lpstr>Visio.Drawing.11</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Visio.Drawing.11</vt:lpstr>
      <vt:lpstr>Visio.Drawing.11</vt:lpstr>
      <vt:lpstr>Visio.Drawing.11</vt:lpstr>
      <vt:lpstr>Visio.Drawing.11</vt:lpstr>
      <vt:lpstr>Visio.Drawing.11</vt:lpstr>
      <vt:lpstr>Visio.Drawing.11</vt:lpstr>
      <vt:lpstr>Visio.Drawing.11</vt:lpstr>
      <vt:lpstr>Visio.Drawing.11</vt:lpstr>
      <vt:lpstr>Equation.3</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Equation.3</vt:lpstr>
      <vt:lpstr>Visio.Drawing.11</vt:lpstr>
      <vt:lpstr>Visio.Drawing.11</vt:lpstr>
      <vt:lpstr>Visio.Drawing.11</vt:lpstr>
      <vt:lpstr>Visio.Drawing.11</vt:lpstr>
      <vt:lpstr>Visio.Drawing.11</vt:lpstr>
      <vt:lpstr>Visio.Drawing.11</vt:lpstr>
      <vt:lpstr>Visio.Drawing.11</vt:lpstr>
      <vt:lpstr>Visio.Drawing.11</vt:lpstr>
      <vt:lpstr>Visio.Drawing.11</vt:lpstr>
      <vt:lpstr>Equation.3</vt:lpstr>
      <vt:lpstr>Visio.Drawing.11</vt:lpstr>
      <vt:lpstr>Equation.DSMT4</vt:lpstr>
      <vt:lpstr>Equation.3</vt:lpstr>
      <vt:lpstr>Equation.3</vt:lpstr>
      <vt:lpstr>Equation.3</vt:lpstr>
      <vt:lpstr>Visio.Drawing.11</vt:lpstr>
      <vt:lpstr>Visio.Drawing.11</vt:lpstr>
      <vt:lpstr>Visio.Drawing.11</vt:lpstr>
      <vt:lpstr>Visio.Drawing.11</vt:lpstr>
      <vt:lpstr>Visio.Drawing.11</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Visio.Drawing.11</vt:lpstr>
      <vt:lpstr>Equation.3</vt:lpstr>
      <vt:lpstr>Equation.DSMT4</vt:lpstr>
      <vt:lpstr>Equation.DSMT4</vt:lpstr>
      <vt:lpstr>Visio.Drawing.11</vt:lpstr>
      <vt:lpstr>Visio.Drawing.11</vt:lpstr>
      <vt:lpstr>Equation.3</vt:lpstr>
      <vt:lpstr>Equation.3</vt:lpstr>
      <vt:lpstr>Equation.DSMT4</vt:lpstr>
      <vt:lpstr>Equation.3</vt:lpstr>
      <vt:lpstr>Equation.3</vt:lpstr>
      <vt:lpstr>Equation.3</vt:lpstr>
      <vt:lpstr>Equation.3</vt:lpstr>
      <vt:lpstr>Visio.Drawing.11</vt:lpstr>
      <vt:lpstr>Visio.Drawing.11</vt:lpstr>
      <vt:lpstr>Equation.3</vt:lpstr>
      <vt:lpstr>Equation.3</vt:lpstr>
      <vt:lpstr>Equation.3</vt:lpstr>
      <vt:lpstr>Equation.3</vt:lpstr>
      <vt:lpstr>Equation.DSMT4</vt:lpstr>
      <vt:lpstr>Visio.Drawing.11</vt:lpstr>
      <vt:lpstr>Equation.3</vt:lpstr>
      <vt:lpstr>Equation.3</vt:lpstr>
      <vt:lpstr>Equation.3</vt:lpstr>
      <vt:lpstr>Equation.3</vt:lpstr>
      <vt:lpstr>Equation.3</vt:lpstr>
      <vt:lpstr>Equation.3</vt:lpstr>
      <vt:lpstr>Visio.Drawing.11</vt:lpstr>
      <vt:lpstr>Equation.3</vt:lpstr>
      <vt:lpstr>Equation.3</vt:lpstr>
      <vt:lpstr>Equation.3</vt:lpstr>
      <vt:lpstr>Equation.3</vt:lpstr>
      <vt:lpstr>Equation.3</vt:lpstr>
      <vt:lpstr>Equation.3</vt:lpstr>
      <vt:lpstr>Equation.3</vt:lpstr>
      <vt:lpstr>Visio.Drawing.11</vt:lpstr>
      <vt:lpstr>Equation.3</vt:lpstr>
      <vt:lpstr>Visio.Drawing.11</vt:lpstr>
      <vt:lpstr>Equation.3</vt:lpstr>
      <vt:lpstr>Equation.3</vt:lpstr>
      <vt:lpstr>Equation.3</vt:lpstr>
      <vt:lpstr>Visio.Drawing.11</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Visio.Drawing.11</vt:lpstr>
      <vt:lpstr>Visio.Drawing.11</vt:lpstr>
      <vt:lpstr>Visio.Drawing.11</vt:lpstr>
      <vt:lpstr>Visio.Drawing.11</vt:lpstr>
      <vt:lpstr>Equation.3</vt:lpstr>
      <vt:lpstr>Visio.Drawing.11</vt:lpstr>
      <vt:lpstr>Word.Picture.8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DY</dc:creator>
  <cp:lastModifiedBy>鼎鼎</cp:lastModifiedBy>
  <cp:revision>825</cp:revision>
  <dcterms:created xsi:type="dcterms:W3CDTF">2015-01-13T10:49:00Z</dcterms:created>
  <dcterms:modified xsi:type="dcterms:W3CDTF">2025-10-21T02:53:03Z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A93B54B078FF40E9ACA484E6361C4AA0_12</vt:lpwstr>
  </property>
  <property fmtid="{D5CDD505-2E9C-101B-9397-08002B2CF9AE}" pid="3" name="KSOProductBuildVer">
    <vt:lpwstr>2052-12.1.0.23125</vt:lpwstr>
  </property>
</Properties>
</file>