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4"/>
  </p:notesMasterIdLst>
  <p:sldIdLst>
    <p:sldId id="256" r:id="rId3"/>
    <p:sldId id="424" r:id="rId5"/>
    <p:sldId id="426" r:id="rId6"/>
    <p:sldId id="425" r:id="rId7"/>
    <p:sldId id="344" r:id="rId8"/>
    <p:sldId id="427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28" r:id="rId17"/>
    <p:sldId id="368" r:id="rId18"/>
    <p:sldId id="405" r:id="rId19"/>
    <p:sldId id="406" r:id="rId20"/>
    <p:sldId id="407" r:id="rId21"/>
    <p:sldId id="369" r:id="rId22"/>
    <p:sldId id="381" r:id="rId23"/>
    <p:sldId id="382" r:id="rId24"/>
    <p:sldId id="383" r:id="rId25"/>
    <p:sldId id="384" r:id="rId26"/>
    <p:sldId id="429" r:id="rId27"/>
    <p:sldId id="347" r:id="rId28"/>
    <p:sldId id="348" r:id="rId29"/>
    <p:sldId id="430" r:id="rId30"/>
    <p:sldId id="431" r:id="rId31"/>
    <p:sldId id="432" r:id="rId32"/>
    <p:sldId id="433" r:id="rId33"/>
    <p:sldId id="350" r:id="rId34"/>
    <p:sldId id="434" r:id="rId35"/>
    <p:sldId id="362" r:id="rId36"/>
    <p:sldId id="363" r:id="rId37"/>
    <p:sldId id="364" r:id="rId38"/>
    <p:sldId id="365" r:id="rId39"/>
    <p:sldId id="366" r:id="rId40"/>
    <p:sldId id="435" r:id="rId41"/>
    <p:sldId id="386" r:id="rId42"/>
    <p:sldId id="416" r:id="rId43"/>
    <p:sldId id="417" r:id="rId44"/>
    <p:sldId id="418" r:id="rId45"/>
    <p:sldId id="419" r:id="rId46"/>
    <p:sldId id="420" r:id="rId47"/>
    <p:sldId id="421" r:id="rId48"/>
    <p:sldId id="422" r:id="rId49"/>
    <p:sldId id="387" r:id="rId50"/>
    <p:sldId id="388" r:id="rId51"/>
    <p:sldId id="392" r:id="rId52"/>
    <p:sldId id="394" r:id="rId5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5375" userDrawn="1">
          <p15:clr>
            <a:srgbClr val="A4A3A4"/>
          </p15:clr>
        </p15:guide>
        <p15:guide id="3" pos="385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6" orient="horz" pos="33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CC00CC"/>
    <a:srgbClr val="0000FF"/>
    <a:srgbClr val="00CC00"/>
    <a:srgbClr val="66FF66"/>
    <a:srgbClr val="0070C0"/>
    <a:srgbClr val="FF66FF"/>
    <a:srgbClr val="66FFCC"/>
    <a:srgbClr val="262626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1" autoAdjust="0"/>
    <p:restoredTop sz="94645" autoAdjust="0"/>
  </p:normalViewPr>
  <p:slideViewPr>
    <p:cSldViewPr snapToGrid="0" showGuides="1">
      <p:cViewPr varScale="1">
        <p:scale>
          <a:sx n="125" d="100"/>
          <a:sy n="125" d="100"/>
        </p:scale>
        <p:origin x="1254" y="90"/>
      </p:cViewPr>
      <p:guideLst>
        <p:guide orient="horz" pos="346"/>
        <p:guide pos="5375"/>
        <p:guide pos="385"/>
        <p:guide orient="horz" pos="3997"/>
        <p:guide orient="horz" pos="288"/>
        <p:guide orient="horz" pos="33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emf"/><Relationship Id="rId3" Type="http://schemas.openxmlformats.org/officeDocument/2006/relationships/image" Target="../media/image36.wmf"/><Relationship Id="rId2" Type="http://schemas.openxmlformats.org/officeDocument/2006/relationships/image" Target="../media/image35.emf"/><Relationship Id="rId1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0.e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emf"/><Relationship Id="rId1" Type="http://schemas.openxmlformats.org/officeDocument/2006/relationships/image" Target="../media/image60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emf"/><Relationship Id="rId4" Type="http://schemas.openxmlformats.org/officeDocument/2006/relationships/image" Target="../media/image72.emf"/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78.e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7B4-E4B4-4D3C-A9C5-EB900FF3B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0"/>
            <a:ext cx="5737860" cy="601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789420" y="0"/>
            <a:ext cx="2354580" cy="55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数据 12"/>
          <p:cNvSpPr/>
          <p:nvPr userDrawn="1"/>
        </p:nvSpPr>
        <p:spPr>
          <a:xfrm>
            <a:off x="4846320" y="0"/>
            <a:ext cx="3855720" cy="558800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638801" y="1"/>
            <a:ext cx="3228975" cy="568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zh-CN" altLang="en-US" sz="2400" b="1" cap="none" spc="0" dirty="0">
                <a:ln w="12700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数字电子技术基础</a:t>
            </a:r>
            <a:endParaRPr lang="zh-CN" altLang="en-US" sz="2400" b="1" cap="none" spc="0" dirty="0">
              <a:ln w="12700">
                <a:solidFill>
                  <a:schemeClr val="bg2">
                    <a:lumMod val="7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9" y="0"/>
            <a:ext cx="2780365" cy="57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1" y="556042"/>
            <a:ext cx="9143999" cy="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jpeg"/><Relationship Id="rId3" Type="http://schemas.openxmlformats.org/officeDocument/2006/relationships/image" Target="../media/image14.emf"/><Relationship Id="rId2" Type="http://schemas.openxmlformats.org/officeDocument/2006/relationships/image" Target="../media/image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6.png"/><Relationship Id="rId13" Type="http://schemas.openxmlformats.org/officeDocument/2006/relationships/notesSlide" Target="../notesSlides/notesSlide4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wmf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1.e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e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2.emf"/><Relationship Id="rId1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4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3.emf"/><Relationship Id="rId1" Type="http://schemas.openxmlformats.org/officeDocument/2006/relationships/oleObject" Target="../embeddings/oleObject1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4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3.emf"/><Relationship Id="rId1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e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4.png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33.e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4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0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4.png"/><Relationship Id="rId2" Type="http://schemas.openxmlformats.org/officeDocument/2006/relationships/image" Target="../media/image38.emf"/><Relationship Id="rId10" Type="http://schemas.openxmlformats.org/officeDocument/2006/relationships/notesSlide" Target="../notesSlides/notesSlide12.xml"/><Relationship Id="rId1" Type="http://schemas.openxmlformats.org/officeDocument/2006/relationships/oleObject" Target="../embeddings/oleObject18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.png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oleObject" Target="../embeddings/oleObject25.bin"/><Relationship Id="rId5" Type="http://schemas.openxmlformats.org/officeDocument/2006/relationships/image" Target="../media/image52.png"/><Relationship Id="rId4" Type="http://schemas.openxmlformats.org/officeDocument/2006/relationships/oleObject" Target="../embeddings/oleObject24.bin"/><Relationship Id="rId3" Type="http://schemas.openxmlformats.org/officeDocument/2006/relationships/image" Target="../media/image51.png"/><Relationship Id="rId2" Type="http://schemas.openxmlformats.org/officeDocument/2006/relationships/oleObject" Target="../embeddings/oleObject23.bin"/><Relationship Id="rId10" Type="http://schemas.openxmlformats.org/officeDocument/2006/relationships/vmlDrawing" Target="../drawings/vmlDrawing12.v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jpeg"/><Relationship Id="rId2" Type="http://schemas.openxmlformats.org/officeDocument/2006/relationships/image" Target="../media/image4.png"/><Relationship Id="rId1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8.emf"/><Relationship Id="rId1" Type="http://schemas.openxmlformats.org/officeDocument/2006/relationships/oleObject" Target="../embeddings/oleObject26.bin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0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59.emf"/><Relationship Id="rId1" Type="http://schemas.openxmlformats.org/officeDocument/2006/relationships/oleObject" Target="../embeddings/oleObject27.bin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1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29.bin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2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31.bin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3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33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4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60.emf"/><Relationship Id="rId15" Type="http://schemas.openxmlformats.org/officeDocument/2006/relationships/vmlDrawing" Target="../drawings/vmlDrawing18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.png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35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15.jpeg"/><Relationship Id="rId7" Type="http://schemas.openxmlformats.org/officeDocument/2006/relationships/image" Target="../media/image4.png"/><Relationship Id="rId6" Type="http://schemas.openxmlformats.org/officeDocument/2006/relationships/image" Target="../media/image71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70.emf"/><Relationship Id="rId3" Type="http://schemas.openxmlformats.org/officeDocument/2006/relationships/oleObject" Target="../embeddings/oleObject42.bin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69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73.e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72.emf"/><Relationship Id="rId1" Type="http://schemas.openxmlformats.org/officeDocument/2006/relationships/oleObject" Target="../embeddings/oleObject41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emf"/><Relationship Id="rId4" Type="http://schemas.openxmlformats.org/officeDocument/2006/relationships/oleObject" Target="../embeddings/oleObject50.bin"/><Relationship Id="rId3" Type="http://schemas.openxmlformats.org/officeDocument/2006/relationships/image" Target="../media/image77.emf"/><Relationship Id="rId2" Type="http://schemas.openxmlformats.org/officeDocument/2006/relationships/oleObject" Target="../embeddings/oleObject49.bin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51.bin"/><Relationship Id="rId20" Type="http://schemas.openxmlformats.org/officeDocument/2006/relationships/notesSlide" Target="../notesSlides/notesSlide18.xml"/><Relationship Id="rId2" Type="http://schemas.openxmlformats.org/officeDocument/2006/relationships/image" Target="../media/image80.png"/><Relationship Id="rId19" Type="http://schemas.openxmlformats.org/officeDocument/2006/relationships/vmlDrawing" Target="../drawings/vmlDrawing21.v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79.png"/><Relationship Id="rId16" Type="http://schemas.openxmlformats.org/officeDocument/2006/relationships/image" Target="../media/image78.emf"/><Relationship Id="rId15" Type="http://schemas.openxmlformats.org/officeDocument/2006/relationships/oleObject" Target="../embeddings/oleObject57.bin"/><Relationship Id="rId14" Type="http://schemas.openxmlformats.org/officeDocument/2006/relationships/image" Target="../media/image86.wmf"/><Relationship Id="rId13" Type="http://schemas.openxmlformats.org/officeDocument/2006/relationships/oleObject" Target="../embeddings/oleObject56.bin"/><Relationship Id="rId12" Type="http://schemas.openxmlformats.org/officeDocument/2006/relationships/image" Target="../media/image85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84.wmf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88.png"/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7" Type="http://schemas.openxmlformats.org/officeDocument/2006/relationships/notesSlide" Target="../notesSlides/notesSlide19.xml"/><Relationship Id="rId16" Type="http://schemas.openxmlformats.org/officeDocument/2006/relationships/vmlDrawing" Target="../drawings/vmlDrawing22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92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91.wmf"/><Relationship Id="rId1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94.wmf"/><Relationship Id="rId1" Type="http://schemas.openxmlformats.org/officeDocument/2006/relationships/oleObject" Target="../embeddings/oleObject6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-2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https://timgsa.baidu.com/timg?image&amp;quality=80&amp;size=b9999_10000&amp;sec=1580725348395&amp;di=7d0f97d144a87161ca1f8c https://timgsa.baidu.com/timg?image&amp;quality=80&amp;size=b9999_10000&amp;sec=1580725348395&amp;di=7d0f97d144a87161ca1f8c49f6249c5f&amp;imgtype=0&amp;src=http%3A%2F%2Fpic1.16pic.com%2F00%2F54%2F86%2F16pic_5486472_b.jpg 49f6249c5f&amp;imgtype=0&amp;src=http%3A%2F%2Fpic1.16pic.com%2F00%2F54%2F86%2F16pic_5486472_b.jpg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" y="1008475"/>
            <a:ext cx="9143999" cy="227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-2" y="1"/>
            <a:ext cx="9144000" cy="1095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2"/>
          <p:cNvPicPr>
            <a:picLocks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494" y="220418"/>
            <a:ext cx="3261360" cy="671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框 8"/>
          <p:cNvSpPr txBox="1"/>
          <p:nvPr/>
        </p:nvSpPr>
        <p:spPr>
          <a:xfrm>
            <a:off x="5829298" y="107103"/>
            <a:ext cx="3070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电子与通信工程系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pic>
        <p:nvPicPr>
          <p:cNvPr id="14" name="Picture 4" descr="http://img.mp.itc.cn/upload/20170309/9f3693de49bf44d791994c44caa6c12c_th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8495" y="2053085"/>
            <a:ext cx="5356703" cy="27436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文本框 6"/>
          <p:cNvSpPr txBox="1"/>
          <p:nvPr/>
        </p:nvSpPr>
        <p:spPr>
          <a:xfrm>
            <a:off x="1387450" y="1357494"/>
            <a:ext cx="6498792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数字电子技术基础</a:t>
            </a:r>
            <a:endParaRPr lang="zh-CN" altLang="en-US" sz="3400" b="1" dirty="0">
              <a:ln w="12700">
                <a:solidFill>
                  <a:srgbClr val="7030A0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8"/>
          <p:cNvSpPr txBox="1"/>
          <p:nvPr/>
        </p:nvSpPr>
        <p:spPr>
          <a:xfrm>
            <a:off x="3080917" y="4547959"/>
            <a:ext cx="3390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主讲人：赵伟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981076" y="2381066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9213" y="985018"/>
            <a:ext cx="8631294" cy="4000798"/>
            <a:chOff x="256353" y="1058938"/>
            <a:chExt cx="8631294" cy="3517295"/>
          </a:xfrm>
        </p:grpSpPr>
        <p:sp>
          <p:nvSpPr>
            <p:cNvPr id="3" name="矩形 2"/>
            <p:cNvSpPr/>
            <p:nvPr/>
          </p:nvSpPr>
          <p:spPr>
            <a:xfrm>
              <a:off x="256353" y="1426524"/>
              <a:ext cx="8631294" cy="3149709"/>
            </a:xfrm>
            <a:prstGeom prst="rect">
              <a:avLst/>
            </a:prstGeom>
            <a:solidFill>
              <a:sysClr val="window" lastClr="FFFFFF">
                <a:alpha val="0"/>
              </a:sysClr>
            </a:solidFill>
            <a:ln w="25400" cap="flat" cmpd="sng" algn="ctr">
              <a:solidFill>
                <a:srgbClr val="2090EC"/>
              </a:solidFill>
              <a:prstDash val="solid"/>
            </a:ln>
            <a:effectLst/>
          </p:spPr>
          <p:txBody>
            <a:bodyPr lIns="0" tIns="72000" rIns="0" bIns="0" numCol="3" spcCol="180000" anchor="ctr"/>
            <a:lstStyle/>
            <a:p>
              <a:pPr marL="357505" indent="-268605">
                <a:spcBef>
                  <a:spcPts val="600"/>
                </a:spcBef>
                <a:buSzPct val="100000"/>
                <a:buFont typeface="Wingdings" panose="05000000000000000000" pitchFamily="2" charset="2"/>
                <a:buChar char="n"/>
              </a:pPr>
              <a:endParaRPr sz="14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8620" y="1681769"/>
              <a:ext cx="8366759" cy="2432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"/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555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定时器的电路结构及功能；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"/>
              </a:pP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施密特触发器的工作特点，施密特触发器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的电路结构及工作原理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，施密特触发器的应用；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"/>
              </a:pP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单稳态触发器的工作特点，单稳态触发器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的电路结构及工作原理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，单稳态触发器电路的参数计算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及应用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；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"/>
              </a:pP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多谐振荡器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工作特点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电路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结构及工作原理</a:t>
              </a: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，多谐振荡器电路的参数计算。</a:t>
              </a:r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平行四边形 4"/>
            <p:cNvSpPr/>
            <p:nvPr/>
          </p:nvSpPr>
          <p:spPr>
            <a:xfrm>
              <a:off x="256353" y="1058938"/>
              <a:ext cx="7344511" cy="374964"/>
            </a:xfrm>
            <a:prstGeom prst="parallelogram">
              <a:avLst>
                <a:gd name="adj" fmla="val 64377"/>
              </a:avLst>
            </a:prstGeom>
            <a:solidFill>
              <a:srgbClr val="005DA2"/>
            </a:solidFill>
            <a:ln w="15875" cap="flat" cmpd="sng" algn="ctr">
              <a:solidFill>
                <a:srgbClr val="005DA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defTabSz="914400">
                <a:defRPr/>
              </a:pPr>
              <a:r>
                <a:rPr lang="zh-CN" altLang="en-US" sz="20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 容 提 要</a:t>
              </a:r>
              <a:endParaRPr lang="zh-CN" altLang="en-US" sz="2000" b="1" kern="0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1026796" y="2217025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32858" y="3139473"/>
            <a:ext cx="4365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7.1 </a:t>
            </a:r>
            <a:r>
              <a:rPr lang="zh-CN" altLang="en-US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脉冲波形的变换与产生概述</a:t>
            </a:r>
            <a:endParaRPr lang="zh-CN" altLang="en-US" sz="24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63040" y="778466"/>
            <a:ext cx="5265420" cy="740920"/>
            <a:chOff x="1424940" y="740366"/>
            <a:chExt cx="5265420" cy="740920"/>
          </a:xfrm>
        </p:grpSpPr>
        <p:sp>
          <p:nvSpPr>
            <p:cNvPr id="7" name="圆角矩形 6"/>
            <p:cNvSpPr/>
            <p:nvPr/>
          </p:nvSpPr>
          <p:spPr>
            <a:xfrm>
              <a:off x="2887980" y="740366"/>
              <a:ext cx="2484120" cy="740920"/>
            </a:xfrm>
            <a:prstGeom prst="roundRect">
              <a:avLst/>
            </a:prstGeom>
            <a:solidFill>
              <a:srgbClr val="66FF66"/>
            </a:solidFill>
            <a:ln w="19050"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b="1" cap="all" dirty="0">
                  <a:ln w="0"/>
                  <a:solidFill>
                    <a:srgbClr val="6600FF"/>
                  </a:solidFill>
                  <a:effectLst>
                    <a:reflection blurRad="12700" stA="50000" endPos="50000" dist="5000" dir="5400000" sy="-100000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脉冲波形产生与变换</a:t>
              </a:r>
              <a:endPara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1424940" y="772160"/>
              <a:ext cx="1463040" cy="677333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zh-CN" b="1" dirty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控制信号</a:t>
              </a:r>
              <a:endParaRPr lang="zh-CN" altLang="en-US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 flipH="1">
              <a:off x="5372100" y="772160"/>
              <a:ext cx="1318260" cy="677333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数据信号</a:t>
              </a:r>
              <a:endParaRPr lang="zh-CN" altLang="en-US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42900" y="1671309"/>
            <a:ext cx="2857663" cy="456728"/>
            <a:chOff x="670560" y="892917"/>
            <a:chExt cx="2857663" cy="411055"/>
          </a:xfrm>
        </p:grpSpPr>
        <p:sp>
          <p:nvSpPr>
            <p:cNvPr id="75" name="矩形 74"/>
            <p:cNvSpPr/>
            <p:nvPr/>
          </p:nvSpPr>
          <p:spPr>
            <a:xfrm>
              <a:off x="1035233" y="913778"/>
              <a:ext cx="249299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脉冲信号的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产生方法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6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7" name="组合 76"/>
          <p:cNvGrpSpPr/>
          <p:nvPr/>
        </p:nvGrpSpPr>
        <p:grpSpPr>
          <a:xfrm>
            <a:off x="829630" y="2180987"/>
            <a:ext cx="7697151" cy="615553"/>
            <a:chOff x="738189" y="1426964"/>
            <a:chExt cx="7697151" cy="553998"/>
          </a:xfrm>
        </p:grpSpPr>
        <p:sp>
          <p:nvSpPr>
            <p:cNvPr id="78" name="矩形 77"/>
            <p:cNvSpPr/>
            <p:nvPr/>
          </p:nvSpPr>
          <p:spPr>
            <a:xfrm>
              <a:off x="1101388" y="1426964"/>
              <a:ext cx="733395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b="1" dirty="0">
                  <a:solidFill>
                    <a:srgbClr val="6600FF"/>
                  </a:solidFill>
                  <a:latin typeface="楷体_GB2312" pitchFamily="49" charset="-122"/>
                  <a:ea typeface="楷体_GB2312" pitchFamily="49" charset="-122"/>
                </a:rPr>
                <a:t>振荡电路</a:t>
              </a:r>
              <a:r>
                <a:rPr lang="zh-CN" altLang="en-US" b="1" dirty="0">
                  <a:solidFill>
                    <a:srgbClr val="6600FF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  <a:r>
                <a:rPr lang="zh-CN" altLang="zh-CN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不需要外加输入信号，电源接通后就能自动产生一定幅值和频率的脉冲信号的电路，如多谐振荡电路</a:t>
              </a:r>
              <a:r>
                <a:rPr lang="zh-CN" altLang="en-US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16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7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0" name="组合 79"/>
          <p:cNvGrpSpPr/>
          <p:nvPr/>
        </p:nvGrpSpPr>
        <p:grpSpPr>
          <a:xfrm>
            <a:off x="829630" y="2877228"/>
            <a:ext cx="7697150" cy="615553"/>
            <a:chOff x="738189" y="1426964"/>
            <a:chExt cx="7697150" cy="553998"/>
          </a:xfrm>
        </p:grpSpPr>
        <p:sp>
          <p:nvSpPr>
            <p:cNvPr id="81" name="矩形 80"/>
            <p:cNvSpPr/>
            <p:nvPr/>
          </p:nvSpPr>
          <p:spPr>
            <a:xfrm>
              <a:off x="1101387" y="1426964"/>
              <a:ext cx="733395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b="1" dirty="0">
                  <a:solidFill>
                    <a:srgbClr val="6600FF"/>
                  </a:solidFill>
                  <a:latin typeface="楷体_GB2312" pitchFamily="49" charset="-122"/>
                  <a:ea typeface="楷体_GB2312" pitchFamily="49" charset="-122"/>
                </a:rPr>
                <a:t>波形变换电路</a:t>
              </a:r>
              <a:r>
                <a:rPr lang="zh-CN" altLang="en-US" b="1" dirty="0">
                  <a:solidFill>
                    <a:srgbClr val="6600FF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  <a:r>
                <a:rPr lang="zh-CN" altLang="zh-CN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能把其他波形（三角波、正弦波等）的信号变换为满足要求的矩形波脉冲信号，如施密特触发器、单稳态触发器等</a:t>
              </a:r>
              <a:r>
                <a:rPr lang="zh-CN" altLang="en-US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16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8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3" name="组合 82"/>
          <p:cNvGrpSpPr/>
          <p:nvPr/>
        </p:nvGrpSpPr>
        <p:grpSpPr>
          <a:xfrm>
            <a:off x="312583" y="3524399"/>
            <a:ext cx="3370624" cy="456728"/>
            <a:chOff x="670560" y="892917"/>
            <a:chExt cx="3370624" cy="411055"/>
          </a:xfrm>
        </p:grpSpPr>
        <p:sp>
          <p:nvSpPr>
            <p:cNvPr id="84" name="矩形 83"/>
            <p:cNvSpPr/>
            <p:nvPr/>
          </p:nvSpPr>
          <p:spPr>
            <a:xfrm>
              <a:off x="1035233" y="913778"/>
              <a:ext cx="3005951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脉冲信号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电路的结构特点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5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6" name="组合 85"/>
          <p:cNvGrpSpPr/>
          <p:nvPr/>
        </p:nvGrpSpPr>
        <p:grpSpPr>
          <a:xfrm>
            <a:off x="829629" y="4121872"/>
            <a:ext cx="7697151" cy="361817"/>
            <a:chOff x="738189" y="1426964"/>
            <a:chExt cx="7697151" cy="325636"/>
          </a:xfrm>
        </p:grpSpPr>
        <p:sp>
          <p:nvSpPr>
            <p:cNvPr id="87" name="矩形 86"/>
            <p:cNvSpPr/>
            <p:nvPr/>
          </p:nvSpPr>
          <p:spPr>
            <a:xfrm>
              <a:off x="1101388" y="1426964"/>
              <a:ext cx="7333952" cy="304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电路中有产生高、低电平输出的开关电路；</a:t>
              </a:r>
              <a:endParaRPr lang="zh-CN" altLang="en-US" sz="16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88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9" name="组合 88"/>
          <p:cNvGrpSpPr/>
          <p:nvPr/>
        </p:nvGrpSpPr>
        <p:grpSpPr>
          <a:xfrm>
            <a:off x="829630" y="4612816"/>
            <a:ext cx="7697150" cy="361818"/>
            <a:chOff x="738189" y="1426964"/>
            <a:chExt cx="7697150" cy="325636"/>
          </a:xfrm>
        </p:grpSpPr>
        <p:sp>
          <p:nvSpPr>
            <p:cNvPr id="90" name="矩形 89"/>
            <p:cNvSpPr/>
            <p:nvPr/>
          </p:nvSpPr>
          <p:spPr>
            <a:xfrm>
              <a:off x="1101387" y="1426964"/>
              <a:ext cx="7333952" cy="304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6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脉冲信号的产生通常伴随着电容的充、放电过程</a:t>
              </a:r>
              <a:r>
                <a:rPr lang="zh-CN" alt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sz="16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91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组合 7"/>
          <p:cNvGrpSpPr/>
          <p:nvPr/>
        </p:nvGrpSpPr>
        <p:grpSpPr>
          <a:xfrm>
            <a:off x="6177754" y="3648681"/>
            <a:ext cx="2349026" cy="1623489"/>
            <a:chOff x="5842474" y="3805904"/>
            <a:chExt cx="2349026" cy="1623489"/>
          </a:xfrm>
        </p:grpSpPr>
        <p:sp>
          <p:nvSpPr>
            <p:cNvPr id="5" name="矩形: 圆角 4"/>
            <p:cNvSpPr/>
            <p:nvPr/>
          </p:nvSpPr>
          <p:spPr>
            <a:xfrm>
              <a:off x="5842474" y="3818211"/>
              <a:ext cx="2349026" cy="1611182"/>
            </a:xfrm>
            <a:prstGeom prst="roundRect">
              <a:avLst>
                <a:gd name="adj" fmla="val 487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842474" y="3805904"/>
              <a:ext cx="2349026" cy="39259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089598" y="4281621"/>
              <a:ext cx="1854778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u"/>
              </a:pPr>
              <a:r>
                <a:rPr lang="zh-CN" altLang="zh-CN" sz="1800" kern="1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施密特触发器</a:t>
              </a:r>
              <a:endParaRPr lang="en-US" altLang="zh-CN" sz="1800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u"/>
              </a:pPr>
              <a:r>
                <a:rPr lang="zh-CN" altLang="zh-CN" sz="1800" kern="1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单稳态触发器</a:t>
              </a:r>
              <a:endParaRPr lang="en-US" altLang="zh-CN" sz="1800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spcBef>
                  <a:spcPts val="600"/>
                </a:spcBef>
                <a:buFont typeface="Wingdings" panose="05000000000000000000" pitchFamily="2" charset="2"/>
                <a:buChar char="u"/>
              </a:pPr>
              <a:r>
                <a:rPr lang="zh-CN" altLang="zh-CN" sz="1800" kern="1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多谐振荡器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926137" y="3821632"/>
              <a:ext cx="218170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16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典型电路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1026796" y="2217025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32858" y="3139473"/>
            <a:ext cx="4365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7.2 555</a:t>
            </a:r>
            <a:r>
              <a:rPr lang="zh-CN" altLang="en-US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定时器的结构及功能</a:t>
            </a:r>
            <a:endParaRPr lang="zh-CN" altLang="en-US" sz="24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 cstate="print"/>
          <a:srcRect r="3595"/>
          <a:stretch>
            <a:fillRect/>
          </a:stretch>
        </p:blipFill>
        <p:spPr bwMode="auto">
          <a:xfrm>
            <a:off x="173964" y="1531055"/>
            <a:ext cx="4191000" cy="3527778"/>
          </a:xfrm>
          <a:prstGeom prst="roundRect">
            <a:avLst>
              <a:gd name="adj" fmla="val 4467"/>
            </a:avLst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pSp>
        <p:nvGrpSpPr>
          <p:cNvPr id="2" name="组合 41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47" name="矩形 4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电路结构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3" name="矩形 62"/>
          <p:cNvSpPr/>
          <p:nvPr/>
        </p:nvSpPr>
        <p:spPr>
          <a:xfrm>
            <a:off x="3361322" y="3003989"/>
            <a:ext cx="305142" cy="432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4"/>
          <p:cNvGrpSpPr/>
          <p:nvPr/>
        </p:nvGrpSpPr>
        <p:grpSpPr>
          <a:xfrm>
            <a:off x="4504634" y="1725725"/>
            <a:ext cx="3235380" cy="369332"/>
            <a:chOff x="738189" y="1426964"/>
            <a:chExt cx="3131031" cy="332399"/>
          </a:xfrm>
        </p:grpSpPr>
        <p:sp>
          <p:nvSpPr>
            <p:cNvPr id="66" name="矩形 65"/>
            <p:cNvSpPr/>
            <p:nvPr/>
          </p:nvSpPr>
          <p:spPr>
            <a:xfrm>
              <a:off x="1101387" y="1426964"/>
              <a:ext cx="2767833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5K</a:t>
              </a:r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的电阻组成的分压器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6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67"/>
          <p:cNvGrpSpPr/>
          <p:nvPr/>
        </p:nvGrpSpPr>
        <p:grpSpPr>
          <a:xfrm>
            <a:off x="4518045" y="2275448"/>
            <a:ext cx="3969556" cy="369332"/>
            <a:chOff x="738189" y="1426964"/>
            <a:chExt cx="3841532" cy="332399"/>
          </a:xfrm>
        </p:grpSpPr>
        <p:sp>
          <p:nvSpPr>
            <p:cNvPr id="69" name="矩形 68"/>
            <p:cNvSpPr/>
            <p:nvPr/>
          </p:nvSpPr>
          <p:spPr>
            <a:xfrm>
              <a:off x="1101387" y="1426964"/>
              <a:ext cx="3478334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两个运放构成的电压比较器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70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组合 70"/>
          <p:cNvGrpSpPr/>
          <p:nvPr/>
        </p:nvGrpSpPr>
        <p:grpSpPr>
          <a:xfrm>
            <a:off x="4509510" y="2825171"/>
            <a:ext cx="3815667" cy="369332"/>
            <a:chOff x="738189" y="1426964"/>
            <a:chExt cx="3692605" cy="332399"/>
          </a:xfrm>
        </p:grpSpPr>
        <p:sp>
          <p:nvSpPr>
            <p:cNvPr id="72" name="矩形 71"/>
            <p:cNvSpPr/>
            <p:nvPr/>
          </p:nvSpPr>
          <p:spPr>
            <a:xfrm>
              <a:off x="1101387" y="1426964"/>
              <a:ext cx="3329407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两个与非门构成的基本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SR</a:t>
              </a:r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锁存器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73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73"/>
          <p:cNvGrpSpPr/>
          <p:nvPr/>
        </p:nvGrpSpPr>
        <p:grpSpPr>
          <a:xfrm>
            <a:off x="4515606" y="3374895"/>
            <a:ext cx="3349193" cy="369332"/>
            <a:chOff x="738189" y="1426964"/>
            <a:chExt cx="3241176" cy="332399"/>
          </a:xfrm>
        </p:grpSpPr>
        <p:sp>
          <p:nvSpPr>
            <p:cNvPr id="75" name="矩形 74"/>
            <p:cNvSpPr/>
            <p:nvPr/>
          </p:nvSpPr>
          <p:spPr>
            <a:xfrm>
              <a:off x="1101387" y="1426964"/>
              <a:ext cx="2877978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与非门构成的复位控制电路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6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组合 76"/>
          <p:cNvGrpSpPr/>
          <p:nvPr/>
        </p:nvGrpSpPr>
        <p:grpSpPr>
          <a:xfrm>
            <a:off x="4550963" y="3924618"/>
            <a:ext cx="3233777" cy="369332"/>
            <a:chOff x="738189" y="1426964"/>
            <a:chExt cx="3129485" cy="332399"/>
          </a:xfrm>
        </p:grpSpPr>
        <p:sp>
          <p:nvSpPr>
            <p:cNvPr id="78" name="矩形 77"/>
            <p:cNvSpPr/>
            <p:nvPr/>
          </p:nvSpPr>
          <p:spPr>
            <a:xfrm>
              <a:off x="1101387" y="1426964"/>
              <a:ext cx="2766287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非门构成的输出缓冲电路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G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组合 79"/>
          <p:cNvGrpSpPr/>
          <p:nvPr/>
        </p:nvGrpSpPr>
        <p:grpSpPr>
          <a:xfrm>
            <a:off x="4557060" y="4474342"/>
            <a:ext cx="3698647" cy="369332"/>
            <a:chOff x="738189" y="1426964"/>
            <a:chExt cx="3579360" cy="332399"/>
          </a:xfrm>
        </p:grpSpPr>
        <p:sp>
          <p:nvSpPr>
            <p:cNvPr id="81" name="矩形 80"/>
            <p:cNvSpPr/>
            <p:nvPr/>
          </p:nvSpPr>
          <p:spPr>
            <a:xfrm>
              <a:off x="1101386" y="1426964"/>
              <a:ext cx="3216163" cy="3323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电阻和三极管</a:t>
              </a: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T</a:t>
              </a:r>
              <a:r>
                <a:rPr lang="zh-CN" altLang="en-US" b="1" dirty="0">
                  <a:solidFill>
                    <a:schemeClr val="accent5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构成的放电回路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2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" name="圆角矩形标注 31"/>
          <p:cNvSpPr/>
          <p:nvPr/>
        </p:nvSpPr>
        <p:spPr>
          <a:xfrm>
            <a:off x="5308116" y="1211072"/>
            <a:ext cx="1521562" cy="477520"/>
          </a:xfrm>
          <a:prstGeom prst="wedgeRoundRect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555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名称由来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21715" y="4713112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地 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05714" y="32243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触发输入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2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I2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5714" y="203200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控制电压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200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IC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5714" y="249766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2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I1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(6)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阈值输入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9959" y="3824112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放电端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200" i="1" dirty="0" err="1">
                <a:solidFill>
                  <a:srgbClr val="0000FF"/>
                </a:solidFill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'</a:t>
            </a:r>
            <a:r>
              <a:rPr lang="en-US" altLang="zh-CN" sz="1200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57031" y="2928056"/>
            <a:ext cx="53251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altLang="zh-CN" sz="1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200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7514" y="1516945"/>
            <a:ext cx="1035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电源</a:t>
            </a:r>
            <a:r>
              <a:rPr lang="en-US" altLang="zh-CN" sz="12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2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(8)</a:t>
            </a: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783472" y="3011044"/>
            <a:ext cx="304582" cy="432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53"/>
          <p:cNvGrpSpPr/>
          <p:nvPr/>
        </p:nvGrpSpPr>
        <p:grpSpPr>
          <a:xfrm>
            <a:off x="2002982" y="2325649"/>
            <a:ext cx="304583" cy="1244462"/>
            <a:chOff x="1917917" y="2093084"/>
            <a:chExt cx="304583" cy="1120016"/>
          </a:xfrm>
        </p:grpSpPr>
        <p:sp>
          <p:nvSpPr>
            <p:cNvPr id="53" name="矩形 52"/>
            <p:cNvSpPr/>
            <p:nvPr/>
          </p:nvSpPr>
          <p:spPr>
            <a:xfrm>
              <a:off x="1917917" y="2093084"/>
              <a:ext cx="304583" cy="3834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917917" y="2829684"/>
              <a:ext cx="304583" cy="3834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51"/>
          <p:cNvGrpSpPr/>
          <p:nvPr/>
        </p:nvGrpSpPr>
        <p:grpSpPr>
          <a:xfrm>
            <a:off x="1290179" y="2290680"/>
            <a:ext cx="402350" cy="1439556"/>
            <a:chOff x="1205115" y="2061612"/>
            <a:chExt cx="402350" cy="1295600"/>
          </a:xfrm>
        </p:grpSpPr>
        <p:sp>
          <p:nvSpPr>
            <p:cNvPr id="51" name="等腰三角形 50"/>
            <p:cNvSpPr/>
            <p:nvPr/>
          </p:nvSpPr>
          <p:spPr>
            <a:xfrm rot="5400000">
              <a:off x="1193465" y="2079612"/>
              <a:ext cx="432000" cy="396000"/>
            </a:xfrm>
            <a:prstGeom prst="triangl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81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等腰三角形 55"/>
            <p:cNvSpPr/>
            <p:nvPr/>
          </p:nvSpPr>
          <p:spPr>
            <a:xfrm rot="5400000">
              <a:off x="1187115" y="2943212"/>
              <a:ext cx="432000" cy="396000"/>
            </a:xfrm>
            <a:prstGeom prst="triangl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81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2" name="组合 59"/>
          <p:cNvGrpSpPr/>
          <p:nvPr/>
        </p:nvGrpSpPr>
        <p:grpSpPr>
          <a:xfrm>
            <a:off x="1057979" y="2003778"/>
            <a:ext cx="120650" cy="2003778"/>
            <a:chOff x="965200" y="1803400"/>
            <a:chExt cx="120650" cy="1803400"/>
          </a:xfrm>
        </p:grpSpPr>
        <p:sp>
          <p:nvSpPr>
            <p:cNvPr id="57" name="矩形 56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63"/>
          <p:cNvGrpSpPr/>
          <p:nvPr/>
        </p:nvGrpSpPr>
        <p:grpSpPr>
          <a:xfrm>
            <a:off x="1315379" y="4035775"/>
            <a:ext cx="1128711" cy="582507"/>
            <a:chOff x="1230314" y="3632198"/>
            <a:chExt cx="1128711" cy="524256"/>
          </a:xfrm>
        </p:grpSpPr>
        <p:pic>
          <p:nvPicPr>
            <p:cNvPr id="3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30314" y="3632198"/>
              <a:ext cx="530352" cy="524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" name="矩形 60"/>
            <p:cNvSpPr/>
            <p:nvPr/>
          </p:nvSpPr>
          <p:spPr>
            <a:xfrm rot="5400000">
              <a:off x="2178050" y="37973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380464" y="1516945"/>
            <a:ext cx="1035050" cy="276999"/>
            <a:chOff x="1380464" y="1516945"/>
            <a:chExt cx="1035050" cy="276999"/>
          </a:xfrm>
        </p:grpSpPr>
        <p:sp>
          <p:nvSpPr>
            <p:cNvPr id="49" name="TextBox 48"/>
            <p:cNvSpPr txBox="1"/>
            <p:nvPr/>
          </p:nvSpPr>
          <p:spPr>
            <a:xfrm>
              <a:off x="1380464" y="1516945"/>
              <a:ext cx="1035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2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复位</a:t>
              </a:r>
              <a:r>
                <a:rPr lang="en-US" altLang="zh-CN" sz="12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12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(4)</a:t>
              </a:r>
              <a:endPara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1894138" y="1581150"/>
              <a:ext cx="143878" cy="0"/>
            </a:xfrm>
            <a:prstGeom prst="line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000"/>
                            </p:stCondLst>
                            <p:childTnLst>
                              <p:par>
                                <p:cTn id="92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000"/>
                            </p:stCondLst>
                            <p:childTnLst>
                              <p:par>
                                <p:cTn id="9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2" grpId="0" animBg="1"/>
      <p:bldP spid="38" grpId="0"/>
      <p:bldP spid="39" grpId="0"/>
      <p:bldP spid="41" grpId="0"/>
      <p:bldP spid="43" grpId="0"/>
      <p:bldP spid="44" grpId="0"/>
      <p:bldP spid="45" grpId="0"/>
      <p:bldP spid="46" grpId="0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3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56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60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6" name="直接连接符 35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" name="组合 50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52" name="矩形 51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3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78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80" name="矩形 79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5" name="Oval 46"/>
          <p:cNvSpPr>
            <a:spLocks noChangeArrowheads="1"/>
          </p:cNvSpPr>
          <p:nvPr/>
        </p:nvSpPr>
        <p:spPr bwMode="auto">
          <a:xfrm>
            <a:off x="3126614" y="289948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86" name="Oval 46"/>
          <p:cNvSpPr>
            <a:spLocks noChangeArrowheads="1"/>
          </p:cNvSpPr>
          <p:nvPr/>
        </p:nvSpPr>
        <p:spPr bwMode="auto">
          <a:xfrm>
            <a:off x="3866489" y="350661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783472" y="3011044"/>
            <a:ext cx="305142" cy="432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" name="Oval 46"/>
          <p:cNvSpPr>
            <a:spLocks noChangeArrowheads="1"/>
          </p:cNvSpPr>
          <p:nvPr/>
        </p:nvSpPr>
        <p:spPr bwMode="auto">
          <a:xfrm>
            <a:off x="1580554" y="1830452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1022555" y="4206567"/>
            <a:ext cx="387554" cy="281859"/>
          </a:xfrm>
          <a:custGeom>
            <a:avLst/>
            <a:gdLst>
              <a:gd name="connsiteX0" fmla="*/ 0 w 387554"/>
              <a:gd name="connsiteY0" fmla="*/ 11472 h 281859"/>
              <a:gd name="connsiteX1" fmla="*/ 304800 w 387554"/>
              <a:gd name="connsiteY1" fmla="*/ 36052 h 281859"/>
              <a:gd name="connsiteX2" fmla="*/ 363793 w 387554"/>
              <a:gd name="connsiteY2" fmla="*/ 227781 h 281859"/>
              <a:gd name="connsiteX3" fmla="*/ 162232 w 387554"/>
              <a:gd name="connsiteY3" fmla="*/ 281859 h 28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554" h="281859">
                <a:moveTo>
                  <a:pt x="0" y="11472"/>
                </a:moveTo>
                <a:cubicBezTo>
                  <a:pt x="122084" y="5736"/>
                  <a:pt x="244168" y="0"/>
                  <a:pt x="304800" y="36052"/>
                </a:cubicBezTo>
                <a:cubicBezTo>
                  <a:pt x="365432" y="72104"/>
                  <a:pt x="387554" y="186813"/>
                  <a:pt x="363793" y="227781"/>
                </a:cubicBezTo>
                <a:cubicBezTo>
                  <a:pt x="340032" y="268749"/>
                  <a:pt x="251132" y="275304"/>
                  <a:pt x="162232" y="281859"/>
                </a:cubicBez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Oval 46"/>
          <p:cNvSpPr>
            <a:spLocks noChangeArrowheads="1"/>
          </p:cNvSpPr>
          <p:nvPr/>
        </p:nvSpPr>
        <p:spPr bwMode="auto">
          <a:xfrm>
            <a:off x="2516433" y="283933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32" name="Oval 46"/>
          <p:cNvSpPr>
            <a:spLocks noChangeArrowheads="1"/>
          </p:cNvSpPr>
          <p:nvPr/>
        </p:nvSpPr>
        <p:spPr bwMode="auto">
          <a:xfrm>
            <a:off x="1779004" y="4248426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4841665" y="2086781"/>
            <a:ext cx="1438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596432" y="4038662"/>
            <a:ext cx="4203700" cy="1015663"/>
            <a:chOff x="4596432" y="4038662"/>
            <a:chExt cx="4203700" cy="1015663"/>
          </a:xfrm>
        </p:grpSpPr>
        <p:sp>
          <p:nvSpPr>
            <p:cNvPr id="89" name="矩形 88"/>
            <p:cNvSpPr/>
            <p:nvPr/>
          </p:nvSpPr>
          <p:spPr>
            <a:xfrm>
              <a:off x="4596432" y="4038662"/>
              <a:ext cx="4203700" cy="1015663"/>
            </a:xfrm>
            <a:prstGeom prst="rect">
              <a:avLst/>
            </a:prstGeom>
            <a:ln w="28575">
              <a:solidFill>
                <a:srgbClr val="0000FF"/>
              </a:solidFill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61950" indent="-361950" eaLnBrk="0" hangingPunct="0">
                <a:lnSpc>
                  <a:spcPct val="125000"/>
                </a:lnSpc>
                <a:defRPr/>
              </a:pPr>
              <a:r>
                <a:rPr lang="en-US" altLang="zh-CN" sz="16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  </a:t>
              </a:r>
              <a:r>
                <a:rPr lang="en-US" altLang="zh-CN" sz="1600" b="1" i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="1" baseline="-250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</a:t>
              </a:r>
              <a:r>
                <a:rPr lang="zh-CN" altLang="en-US" sz="16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低电平有效时，输出为低电平，放电三极管</a:t>
              </a:r>
              <a:r>
                <a:rPr lang="en-US" altLang="zh-CN" sz="1600" b="1" i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lang="zh-CN" altLang="en-US" sz="16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导通；正常工作时，</a:t>
              </a:r>
              <a:r>
                <a:rPr lang="en-US" altLang="zh-CN" sz="16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="1" baseline="-250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</a:t>
              </a:r>
              <a:r>
                <a:rPr lang="zh-CN" altLang="en-US" sz="16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应接高电平。 </a:t>
              </a:r>
              <a:endPara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5055025" y="4136888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7699165" y="4452256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90" grpId="0" animBg="1"/>
      <p:bldP spid="94" grpId="0"/>
      <p:bldP spid="100" grpId="0" animBg="1"/>
      <p:bldP spid="27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62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64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65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3" name="直接连接符 62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2" name="直接连接符 51"/>
          <p:cNvCxnSpPr/>
          <p:nvPr/>
        </p:nvCxnSpPr>
        <p:spPr>
          <a:xfrm>
            <a:off x="4841665" y="2078072"/>
            <a:ext cx="1438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9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" name="Oval 46"/>
          <p:cNvSpPr>
            <a:spLocks noChangeArrowheads="1"/>
          </p:cNvSpPr>
          <p:nvPr/>
        </p:nvSpPr>
        <p:spPr bwMode="auto">
          <a:xfrm>
            <a:off x="3117189" y="2850443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35" name="Oval 46"/>
          <p:cNvSpPr>
            <a:spLocks noChangeArrowheads="1"/>
          </p:cNvSpPr>
          <p:nvPr/>
        </p:nvSpPr>
        <p:spPr bwMode="auto">
          <a:xfrm>
            <a:off x="3866489" y="350661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805473" y="314656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43" name="圆角矩形标注 42"/>
          <p:cNvSpPr/>
          <p:nvPr/>
        </p:nvSpPr>
        <p:spPr>
          <a:xfrm>
            <a:off x="313664" y="2963333"/>
            <a:ext cx="540000" cy="320000"/>
          </a:xfrm>
          <a:prstGeom prst="wedgeRoundRectCallout">
            <a:avLst>
              <a:gd name="adj1" fmla="val 91722"/>
              <a:gd name="adj2" fmla="val 761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grpSp>
        <p:nvGrpSpPr>
          <p:cNvPr id="5" name="组合 43"/>
          <p:cNvGrpSpPr/>
          <p:nvPr/>
        </p:nvGrpSpPr>
        <p:grpSpPr>
          <a:xfrm>
            <a:off x="1056614" y="2003778"/>
            <a:ext cx="120650" cy="2003778"/>
            <a:chOff x="965200" y="1803400"/>
            <a:chExt cx="120650" cy="1803400"/>
          </a:xfrm>
        </p:grpSpPr>
        <p:sp>
          <p:nvSpPr>
            <p:cNvPr id="45" name="矩形 44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387314" y="2688526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49" name="Oval 46"/>
          <p:cNvSpPr>
            <a:spLocks noChangeArrowheads="1"/>
          </p:cNvSpPr>
          <p:nvPr/>
        </p:nvSpPr>
        <p:spPr bwMode="auto">
          <a:xfrm>
            <a:off x="1605889" y="2257778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1656689" y="3541889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1" name="Oval 46"/>
          <p:cNvSpPr>
            <a:spLocks noChangeArrowheads="1"/>
          </p:cNvSpPr>
          <p:nvPr/>
        </p:nvSpPr>
        <p:spPr bwMode="auto">
          <a:xfrm>
            <a:off x="2463139" y="3443111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485455" y="2680897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         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9" name="Oval 46"/>
          <p:cNvSpPr>
            <a:spLocks noChangeArrowheads="1"/>
          </p:cNvSpPr>
          <p:nvPr/>
        </p:nvSpPr>
        <p:spPr bwMode="auto">
          <a:xfrm>
            <a:off x="1599539" y="177800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618964" y="4066859"/>
            <a:ext cx="4203700" cy="676532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  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脚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悬空时（通常对地接一个电容）的情况。</a:t>
            </a:r>
            <a:endParaRPr lang="zh-CN" altLang="en-US" sz="1600" b="1" dirty="0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圆角矩形标注 54"/>
          <p:cNvSpPr/>
          <p:nvPr/>
        </p:nvSpPr>
        <p:spPr>
          <a:xfrm>
            <a:off x="237464" y="3725333"/>
            <a:ext cx="609600" cy="320000"/>
          </a:xfrm>
          <a:prstGeom prst="wedgeRoundRectCallout">
            <a:avLst>
              <a:gd name="adj1" fmla="val 52969"/>
              <a:gd name="adj2" fmla="val -7673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&gt;1/3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2" name="任意多边形 41"/>
          <p:cNvSpPr/>
          <p:nvPr/>
        </p:nvSpPr>
        <p:spPr>
          <a:xfrm>
            <a:off x="1022555" y="4206567"/>
            <a:ext cx="387554" cy="281859"/>
          </a:xfrm>
          <a:custGeom>
            <a:avLst/>
            <a:gdLst>
              <a:gd name="connsiteX0" fmla="*/ 0 w 387554"/>
              <a:gd name="connsiteY0" fmla="*/ 11472 h 281859"/>
              <a:gd name="connsiteX1" fmla="*/ 304800 w 387554"/>
              <a:gd name="connsiteY1" fmla="*/ 36052 h 281859"/>
              <a:gd name="connsiteX2" fmla="*/ 363793 w 387554"/>
              <a:gd name="connsiteY2" fmla="*/ 227781 h 281859"/>
              <a:gd name="connsiteX3" fmla="*/ 162232 w 387554"/>
              <a:gd name="connsiteY3" fmla="*/ 281859 h 28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554" h="281859">
                <a:moveTo>
                  <a:pt x="0" y="11472"/>
                </a:moveTo>
                <a:cubicBezTo>
                  <a:pt x="122084" y="5736"/>
                  <a:pt x="244168" y="0"/>
                  <a:pt x="304800" y="36052"/>
                </a:cubicBezTo>
                <a:cubicBezTo>
                  <a:pt x="365432" y="72104"/>
                  <a:pt x="387554" y="186813"/>
                  <a:pt x="363793" y="227781"/>
                </a:cubicBezTo>
                <a:cubicBezTo>
                  <a:pt x="340032" y="268749"/>
                  <a:pt x="251132" y="275304"/>
                  <a:pt x="162232" y="281859"/>
                </a:cubicBez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标注 52"/>
          <p:cNvSpPr/>
          <p:nvPr/>
        </p:nvSpPr>
        <p:spPr>
          <a:xfrm>
            <a:off x="383515" y="1602866"/>
            <a:ext cx="554820" cy="332614"/>
          </a:xfrm>
          <a:prstGeom prst="wedgeRoundRectCallout">
            <a:avLst>
              <a:gd name="adj1" fmla="val 72984"/>
              <a:gd name="adj2" fmla="val 183986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悬空</a:t>
            </a:r>
            <a:endParaRPr lang="zh-CN" altLang="en-US" sz="14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圆角矩形标注 40"/>
          <p:cNvSpPr/>
          <p:nvPr/>
        </p:nvSpPr>
        <p:spPr>
          <a:xfrm>
            <a:off x="391134" y="1605510"/>
            <a:ext cx="540000" cy="320000"/>
          </a:xfrm>
          <a:prstGeom prst="wedgeRoundRectCallout">
            <a:avLst>
              <a:gd name="adj1" fmla="val 74155"/>
              <a:gd name="adj2" fmla="val 1926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30321" y="2407444"/>
            <a:ext cx="616743" cy="288225"/>
            <a:chOff x="230321" y="2407444"/>
            <a:chExt cx="616743" cy="288225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313664" y="2409825"/>
              <a:ext cx="533400" cy="0"/>
            </a:xfrm>
            <a:prstGeom prst="line">
              <a:avLst/>
            </a:prstGeom>
            <a:ln w="127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37464" y="2527300"/>
              <a:ext cx="167641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237464" y="2574925"/>
              <a:ext cx="167641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13664" y="2407444"/>
              <a:ext cx="0" cy="117475"/>
            </a:xfrm>
            <a:prstGeom prst="line">
              <a:avLst/>
            </a:prstGeom>
            <a:ln w="127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313664" y="2574925"/>
              <a:ext cx="0" cy="117475"/>
            </a:xfrm>
            <a:prstGeom prst="line">
              <a:avLst/>
            </a:prstGeom>
            <a:ln w="127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230321" y="2695669"/>
              <a:ext cx="167641" cy="0"/>
            </a:xfrm>
            <a:prstGeom prst="line">
              <a:avLst/>
            </a:prstGeom>
            <a:ln w="127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圆角矩形标注 52"/>
          <p:cNvSpPr/>
          <p:nvPr/>
        </p:nvSpPr>
        <p:spPr>
          <a:xfrm>
            <a:off x="246750" y="2273466"/>
            <a:ext cx="626537" cy="320000"/>
          </a:xfrm>
          <a:prstGeom prst="wedgeRoundRectCallout">
            <a:avLst>
              <a:gd name="adj1" fmla="val 64702"/>
              <a:gd name="adj2" fmla="val 64563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&gt;2/3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60" name="Oval 46"/>
          <p:cNvSpPr>
            <a:spLocks noChangeArrowheads="1"/>
          </p:cNvSpPr>
          <p:nvPr/>
        </p:nvSpPr>
        <p:spPr bwMode="auto">
          <a:xfrm>
            <a:off x="1764366" y="4254473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0" grpId="0"/>
      <p:bldP spid="43" grpId="0" animBg="1"/>
      <p:bldP spid="48" grpId="0"/>
      <p:bldP spid="49" grpId="0" animBg="1"/>
      <p:bldP spid="50" grpId="0" animBg="1"/>
      <p:bldP spid="51" grpId="0" animBg="1"/>
      <p:bldP spid="54" grpId="0"/>
      <p:bldP spid="69" grpId="0" animBg="1"/>
      <p:bldP spid="37" grpId="0" animBg="1"/>
      <p:bldP spid="55" grpId="0" animBg="1"/>
      <p:bldP spid="42" grpId="0" animBg="1"/>
      <p:bldP spid="56" grpId="0" animBg="1"/>
      <p:bldP spid="41" grpId="0" animBg="1"/>
      <p:bldP spid="53" grpId="0" animBg="1"/>
      <p:bldP spid="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60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66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67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1" name="直接连接符 60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49" name="直接连接符 48"/>
          <p:cNvCxnSpPr/>
          <p:nvPr/>
        </p:nvCxnSpPr>
        <p:spPr>
          <a:xfrm>
            <a:off x="4841665" y="2078072"/>
            <a:ext cx="1438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805473" y="314656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87314" y="2688526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485455" y="2680897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         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9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" name="Oval 46"/>
          <p:cNvSpPr>
            <a:spLocks noChangeArrowheads="1"/>
          </p:cNvSpPr>
          <p:nvPr/>
        </p:nvSpPr>
        <p:spPr bwMode="auto">
          <a:xfrm>
            <a:off x="3117189" y="2850443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35" name="Oval 46"/>
          <p:cNvSpPr>
            <a:spLocks noChangeArrowheads="1"/>
          </p:cNvSpPr>
          <p:nvPr/>
        </p:nvSpPr>
        <p:spPr bwMode="auto">
          <a:xfrm>
            <a:off x="3866489" y="350661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grpSp>
        <p:nvGrpSpPr>
          <p:cNvPr id="5" name="组合 43"/>
          <p:cNvGrpSpPr/>
          <p:nvPr/>
        </p:nvGrpSpPr>
        <p:grpSpPr>
          <a:xfrm>
            <a:off x="1056614" y="2003778"/>
            <a:ext cx="120650" cy="2003778"/>
            <a:chOff x="965200" y="1803400"/>
            <a:chExt cx="120650" cy="1803400"/>
          </a:xfrm>
        </p:grpSpPr>
        <p:sp>
          <p:nvSpPr>
            <p:cNvPr id="45" name="矩形 44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1656689" y="3541889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1" name="Oval 46"/>
          <p:cNvSpPr>
            <a:spLocks noChangeArrowheads="1"/>
          </p:cNvSpPr>
          <p:nvPr/>
        </p:nvSpPr>
        <p:spPr bwMode="auto">
          <a:xfrm>
            <a:off x="2463139" y="3443111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2" name="Oval 46"/>
          <p:cNvSpPr>
            <a:spLocks noChangeArrowheads="1"/>
          </p:cNvSpPr>
          <p:nvPr/>
        </p:nvSpPr>
        <p:spPr bwMode="auto">
          <a:xfrm>
            <a:off x="1605889" y="2257778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3" name="Oval 46"/>
          <p:cNvSpPr>
            <a:spLocks noChangeArrowheads="1"/>
          </p:cNvSpPr>
          <p:nvPr/>
        </p:nvSpPr>
        <p:spPr bwMode="auto">
          <a:xfrm>
            <a:off x="1599539" y="177800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68264" y="2998970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498155" y="3012508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         </a:t>
            </a:r>
            <a:r>
              <a:rPr lang="zh-CN" altLang="en-US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38" name="圆角矩形标注 37"/>
          <p:cNvSpPr/>
          <p:nvPr/>
        </p:nvSpPr>
        <p:spPr>
          <a:xfrm>
            <a:off x="398334" y="1611013"/>
            <a:ext cx="540000" cy="320000"/>
          </a:xfrm>
          <a:prstGeom prst="wedgeRoundRectCallout">
            <a:avLst>
              <a:gd name="adj1" fmla="val 68511"/>
              <a:gd name="adj2" fmla="val 18077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39" name="圆角矩形标注 38"/>
          <p:cNvSpPr/>
          <p:nvPr/>
        </p:nvSpPr>
        <p:spPr>
          <a:xfrm>
            <a:off x="313664" y="2963333"/>
            <a:ext cx="540000" cy="320000"/>
          </a:xfrm>
          <a:prstGeom prst="wedgeRoundRectCallout">
            <a:avLst>
              <a:gd name="adj1" fmla="val 91722"/>
              <a:gd name="adj2" fmla="val 761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0" name="圆角矩形标注 39"/>
          <p:cNvSpPr/>
          <p:nvPr/>
        </p:nvSpPr>
        <p:spPr>
          <a:xfrm>
            <a:off x="220528" y="2156648"/>
            <a:ext cx="626537" cy="320000"/>
          </a:xfrm>
          <a:prstGeom prst="wedgeRoundRectCallout">
            <a:avLst>
              <a:gd name="adj1" fmla="val 73215"/>
              <a:gd name="adj2" fmla="val 9551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&lt;2/3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2" name="圆角矩形标注 41"/>
          <p:cNvSpPr/>
          <p:nvPr/>
        </p:nvSpPr>
        <p:spPr>
          <a:xfrm>
            <a:off x="237464" y="3725333"/>
            <a:ext cx="609600" cy="320000"/>
          </a:xfrm>
          <a:prstGeom prst="wedgeRoundRectCallout">
            <a:avLst>
              <a:gd name="adj1" fmla="val 52969"/>
              <a:gd name="adj2" fmla="val -7673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&lt;1/3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grpSp>
        <p:nvGrpSpPr>
          <p:cNvPr id="65" name="组合 64"/>
          <p:cNvGrpSpPr/>
          <p:nvPr/>
        </p:nvGrpSpPr>
        <p:grpSpPr>
          <a:xfrm>
            <a:off x="1022555" y="4193459"/>
            <a:ext cx="462116" cy="294967"/>
            <a:chOff x="1022555" y="4193459"/>
            <a:chExt cx="462116" cy="294967"/>
          </a:xfrm>
        </p:grpSpPr>
        <p:sp>
          <p:nvSpPr>
            <p:cNvPr id="63" name="任意多边形 62"/>
            <p:cNvSpPr/>
            <p:nvPr/>
          </p:nvSpPr>
          <p:spPr>
            <a:xfrm>
              <a:off x="1022555" y="4206567"/>
              <a:ext cx="387554" cy="281859"/>
            </a:xfrm>
            <a:custGeom>
              <a:avLst/>
              <a:gdLst>
                <a:gd name="connsiteX0" fmla="*/ 0 w 387554"/>
                <a:gd name="connsiteY0" fmla="*/ 11472 h 281859"/>
                <a:gd name="connsiteX1" fmla="*/ 304800 w 387554"/>
                <a:gd name="connsiteY1" fmla="*/ 36052 h 281859"/>
                <a:gd name="connsiteX2" fmla="*/ 363793 w 387554"/>
                <a:gd name="connsiteY2" fmla="*/ 227781 h 281859"/>
                <a:gd name="connsiteX3" fmla="*/ 162232 w 387554"/>
                <a:gd name="connsiteY3" fmla="*/ 281859 h 281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554" h="281859">
                  <a:moveTo>
                    <a:pt x="0" y="11472"/>
                  </a:moveTo>
                  <a:cubicBezTo>
                    <a:pt x="122084" y="5736"/>
                    <a:pt x="244168" y="0"/>
                    <a:pt x="304800" y="36052"/>
                  </a:cubicBezTo>
                  <a:cubicBezTo>
                    <a:pt x="365432" y="72104"/>
                    <a:pt x="387554" y="186813"/>
                    <a:pt x="363793" y="227781"/>
                  </a:cubicBezTo>
                  <a:cubicBezTo>
                    <a:pt x="340032" y="268749"/>
                    <a:pt x="251132" y="275304"/>
                    <a:pt x="162232" y="281859"/>
                  </a:cubicBezTo>
                </a:path>
              </a:pathLst>
            </a:custGeom>
            <a:ln w="38100">
              <a:solidFill>
                <a:srgbClr val="CC00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乘号 63"/>
            <p:cNvSpPr/>
            <p:nvPr/>
          </p:nvSpPr>
          <p:spPr>
            <a:xfrm>
              <a:off x="1229033" y="4193459"/>
              <a:ext cx="255638" cy="250722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4618964" y="4066859"/>
            <a:ext cx="4203700" cy="676532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  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脚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悬空时（通常对地接一个电容）的情况。</a:t>
            </a:r>
            <a:endParaRPr lang="zh-CN" altLang="en-US" sz="1600" b="1" dirty="0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Oval 46"/>
          <p:cNvSpPr>
            <a:spLocks noChangeArrowheads="1"/>
          </p:cNvSpPr>
          <p:nvPr/>
        </p:nvSpPr>
        <p:spPr bwMode="auto">
          <a:xfrm>
            <a:off x="1764366" y="4250283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6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50" grpId="0" animBg="1"/>
      <p:bldP spid="51" grpId="0" animBg="1"/>
      <p:bldP spid="52" grpId="0" animBg="1"/>
      <p:bldP spid="55" grpId="0"/>
      <p:bldP spid="57" grpId="0"/>
      <p:bldP spid="40" grpId="0" animBg="1"/>
      <p:bldP spid="42" grpId="0" animBg="1"/>
      <p:bldP spid="7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62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64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65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3" name="直接连接符 62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4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5" name="直接连接符 54"/>
          <p:cNvCxnSpPr/>
          <p:nvPr/>
        </p:nvCxnSpPr>
        <p:spPr>
          <a:xfrm>
            <a:off x="4841665" y="2078072"/>
            <a:ext cx="143878" cy="0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5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9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3"/>
          <p:cNvGrpSpPr/>
          <p:nvPr/>
        </p:nvGrpSpPr>
        <p:grpSpPr>
          <a:xfrm>
            <a:off x="1056614" y="2003778"/>
            <a:ext cx="120650" cy="2003778"/>
            <a:chOff x="965200" y="1803400"/>
            <a:chExt cx="120650" cy="1803400"/>
          </a:xfrm>
        </p:grpSpPr>
        <p:sp>
          <p:nvSpPr>
            <p:cNvPr id="45" name="矩形 44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1656689" y="3541889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1" name="Oval 46"/>
          <p:cNvSpPr>
            <a:spLocks noChangeArrowheads="1"/>
          </p:cNvSpPr>
          <p:nvPr/>
        </p:nvSpPr>
        <p:spPr bwMode="auto">
          <a:xfrm>
            <a:off x="2463139" y="3443111"/>
            <a:ext cx="390525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黑体" panose="02010609060101010101" pitchFamily="49" charset="-122"/>
              </a:rPr>
              <a:t>保持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2" name="Oval 46"/>
          <p:cNvSpPr>
            <a:spLocks noChangeArrowheads="1"/>
          </p:cNvSpPr>
          <p:nvPr/>
        </p:nvSpPr>
        <p:spPr bwMode="auto">
          <a:xfrm>
            <a:off x="3879189" y="3499556"/>
            <a:ext cx="390525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黑体" panose="02010609060101010101" pitchFamily="49" charset="-122"/>
              </a:rPr>
              <a:t>保持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6" name="Oval 46"/>
          <p:cNvSpPr>
            <a:spLocks noChangeArrowheads="1"/>
          </p:cNvSpPr>
          <p:nvPr/>
        </p:nvSpPr>
        <p:spPr bwMode="auto">
          <a:xfrm>
            <a:off x="1605889" y="2257778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7" name="Oval 46"/>
          <p:cNvSpPr>
            <a:spLocks noChangeArrowheads="1"/>
          </p:cNvSpPr>
          <p:nvPr/>
        </p:nvSpPr>
        <p:spPr bwMode="auto">
          <a:xfrm>
            <a:off x="1599539" y="177800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368264" y="333706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396555" y="333706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  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8" name="Oval 46"/>
          <p:cNvSpPr>
            <a:spLocks noChangeArrowheads="1"/>
          </p:cNvSpPr>
          <p:nvPr/>
        </p:nvSpPr>
        <p:spPr bwMode="auto">
          <a:xfrm>
            <a:off x="1626698" y="4264299"/>
            <a:ext cx="390525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黑体" panose="02010609060101010101" pitchFamily="49" charset="-122"/>
              </a:rPr>
              <a:t>保持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42" name="圆角矩形标注 41"/>
          <p:cNvSpPr/>
          <p:nvPr/>
        </p:nvSpPr>
        <p:spPr>
          <a:xfrm>
            <a:off x="398334" y="1611013"/>
            <a:ext cx="540000" cy="320000"/>
          </a:xfrm>
          <a:prstGeom prst="wedgeRoundRectCallout">
            <a:avLst>
              <a:gd name="adj1" fmla="val 68511"/>
              <a:gd name="adj2" fmla="val 18077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4" name="圆角矩形标注 43"/>
          <p:cNvSpPr/>
          <p:nvPr/>
        </p:nvSpPr>
        <p:spPr>
          <a:xfrm>
            <a:off x="313664" y="2963333"/>
            <a:ext cx="540000" cy="320000"/>
          </a:xfrm>
          <a:prstGeom prst="wedgeRoundRectCallout">
            <a:avLst>
              <a:gd name="adj1" fmla="val 91722"/>
              <a:gd name="adj2" fmla="val 761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8" name="圆角矩形标注 47"/>
          <p:cNvSpPr/>
          <p:nvPr/>
        </p:nvSpPr>
        <p:spPr>
          <a:xfrm>
            <a:off x="220528" y="2156648"/>
            <a:ext cx="626537" cy="320000"/>
          </a:xfrm>
          <a:prstGeom prst="wedgeRoundRectCallout">
            <a:avLst>
              <a:gd name="adj1" fmla="val 73215"/>
              <a:gd name="adj2" fmla="val 9551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&lt;2/3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9" name="圆角矩形标注 48"/>
          <p:cNvSpPr/>
          <p:nvPr/>
        </p:nvSpPr>
        <p:spPr>
          <a:xfrm>
            <a:off x="237464" y="3725333"/>
            <a:ext cx="609600" cy="320000"/>
          </a:xfrm>
          <a:prstGeom prst="wedgeRoundRectCallout">
            <a:avLst>
              <a:gd name="adj1" fmla="val 52969"/>
              <a:gd name="adj2" fmla="val -7673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&gt;1/3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805473" y="314656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87314" y="2688526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85455" y="2680897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         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68264" y="2998970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7498155" y="3012508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         </a:t>
            </a:r>
            <a:r>
              <a:rPr lang="zh-CN" altLang="en-US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618964" y="4066859"/>
            <a:ext cx="4203700" cy="676532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  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脚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悬空时（通常对地接一个电容）的情况。</a:t>
            </a:r>
            <a:endParaRPr lang="zh-CN" altLang="en-US" sz="1600" b="1" dirty="0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92" grpId="0" animBg="1"/>
      <p:bldP spid="96" grpId="0" animBg="1"/>
      <p:bldP spid="93" grpId="0"/>
      <p:bldP spid="94" grpId="0"/>
      <p:bldP spid="68" grpId="0" animBg="1"/>
      <p:bldP spid="48" grpId="0" animBg="1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66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70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71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9" name="直接连接符 68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2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3" name="直接连接符 62"/>
          <p:cNvCxnSpPr/>
          <p:nvPr/>
        </p:nvCxnSpPr>
        <p:spPr>
          <a:xfrm>
            <a:off x="4841665" y="2078072"/>
            <a:ext cx="143878" cy="0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368264" y="333706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396555" y="333706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  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805473" y="314656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87314" y="2688526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485455" y="2680897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         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98155" y="3012508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         </a:t>
            </a:r>
            <a:r>
              <a:rPr lang="zh-CN" altLang="en-US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9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3"/>
          <p:cNvGrpSpPr/>
          <p:nvPr/>
        </p:nvGrpSpPr>
        <p:grpSpPr>
          <a:xfrm>
            <a:off x="1056614" y="2003778"/>
            <a:ext cx="120650" cy="2003778"/>
            <a:chOff x="965200" y="1803400"/>
            <a:chExt cx="120650" cy="1803400"/>
          </a:xfrm>
        </p:grpSpPr>
        <p:sp>
          <p:nvSpPr>
            <p:cNvPr id="45" name="矩形 44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1656689" y="3541889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6" name="Oval 46"/>
          <p:cNvSpPr>
            <a:spLocks noChangeArrowheads="1"/>
          </p:cNvSpPr>
          <p:nvPr/>
        </p:nvSpPr>
        <p:spPr bwMode="auto">
          <a:xfrm>
            <a:off x="1605889" y="2257778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97" name="Oval 46"/>
          <p:cNvSpPr>
            <a:spLocks noChangeArrowheads="1"/>
          </p:cNvSpPr>
          <p:nvPr/>
        </p:nvSpPr>
        <p:spPr bwMode="auto">
          <a:xfrm>
            <a:off x="1599539" y="1778000"/>
            <a:ext cx="216000" cy="24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74614" y="3668675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5261584" y="3823268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46"/>
          <p:cNvSpPr>
            <a:spLocks noChangeArrowheads="1"/>
          </p:cNvSpPr>
          <p:nvPr/>
        </p:nvSpPr>
        <p:spPr bwMode="auto">
          <a:xfrm>
            <a:off x="2437739" y="3457222"/>
            <a:ext cx="216000" cy="240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54" name="Oval 46"/>
          <p:cNvSpPr>
            <a:spLocks noChangeArrowheads="1"/>
          </p:cNvSpPr>
          <p:nvPr/>
        </p:nvSpPr>
        <p:spPr bwMode="auto">
          <a:xfrm>
            <a:off x="2386939" y="2257778"/>
            <a:ext cx="216000" cy="240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endParaRPr lang="en-US" altLang="zh-CN" sz="1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4" name="圆角矩形标注 43"/>
          <p:cNvSpPr/>
          <p:nvPr/>
        </p:nvSpPr>
        <p:spPr>
          <a:xfrm>
            <a:off x="398334" y="1611013"/>
            <a:ext cx="540000" cy="320000"/>
          </a:xfrm>
          <a:prstGeom prst="wedgeRoundRectCallout">
            <a:avLst>
              <a:gd name="adj1" fmla="val 68511"/>
              <a:gd name="adj2" fmla="val 18077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48" name="圆角矩形标注 47"/>
          <p:cNvSpPr/>
          <p:nvPr/>
        </p:nvSpPr>
        <p:spPr>
          <a:xfrm>
            <a:off x="313664" y="2963333"/>
            <a:ext cx="540000" cy="320000"/>
          </a:xfrm>
          <a:prstGeom prst="wedgeRoundRectCallout">
            <a:avLst>
              <a:gd name="adj1" fmla="val 91722"/>
              <a:gd name="adj2" fmla="val 761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51" name="圆角矩形标注 50"/>
          <p:cNvSpPr/>
          <p:nvPr/>
        </p:nvSpPr>
        <p:spPr>
          <a:xfrm>
            <a:off x="220528" y="2156648"/>
            <a:ext cx="626537" cy="320000"/>
          </a:xfrm>
          <a:prstGeom prst="wedgeRoundRectCallout">
            <a:avLst>
              <a:gd name="adj1" fmla="val 73215"/>
              <a:gd name="adj2" fmla="val 9551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&gt;2/3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52" name="圆角矩形标注 51"/>
          <p:cNvSpPr/>
          <p:nvPr/>
        </p:nvSpPr>
        <p:spPr>
          <a:xfrm>
            <a:off x="237464" y="3725333"/>
            <a:ext cx="609600" cy="320000"/>
          </a:xfrm>
          <a:prstGeom prst="wedgeRoundRectCallout">
            <a:avLst>
              <a:gd name="adj1" fmla="val 52969"/>
              <a:gd name="adj2" fmla="val -7673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&lt;1/3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5368264" y="2998970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618964" y="4066859"/>
            <a:ext cx="4203700" cy="676532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  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脚</a:t>
            </a:r>
            <a:r>
              <a:rPr lang="en-US" altLang="zh-CN" sz="1600" b="1" i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悬空时（通常对地接一个电容）的情况。</a:t>
            </a:r>
            <a:endParaRPr lang="zh-CN" altLang="en-US" sz="1600" b="1" dirty="0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96" grpId="0" animBg="1"/>
      <p:bldP spid="42" grpId="0"/>
      <p:bldP spid="53" grpId="0" animBg="1"/>
      <p:bldP spid="54" grpId="0" animBg="1"/>
      <p:bldP spid="51" grpId="0" animBg="1"/>
      <p:bldP spid="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173964" y="1516944"/>
            <a:ext cx="4191000" cy="3541889"/>
            <a:chOff x="173964" y="1516944"/>
            <a:chExt cx="4191000" cy="3541889"/>
          </a:xfrm>
        </p:grpSpPr>
        <p:grpSp>
          <p:nvGrpSpPr>
            <p:cNvPr id="56" name="组合 75"/>
            <p:cNvGrpSpPr/>
            <p:nvPr/>
          </p:nvGrpSpPr>
          <p:grpSpPr>
            <a:xfrm>
              <a:off x="173964" y="1516944"/>
              <a:ext cx="4191000" cy="3541889"/>
              <a:chOff x="88900" y="1365250"/>
              <a:chExt cx="4191000" cy="3187700"/>
            </a:xfrm>
          </p:grpSpPr>
          <p:pic>
            <p:nvPicPr>
              <p:cNvPr id="59" name="Picture 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r="3595"/>
              <a:stretch>
                <a:fillRect/>
              </a:stretch>
            </p:blipFill>
            <p:spPr bwMode="auto">
              <a:xfrm>
                <a:off x="88900" y="1377950"/>
                <a:ext cx="4191000" cy="3175000"/>
              </a:xfrm>
              <a:prstGeom prst="roundRect">
                <a:avLst>
                  <a:gd name="adj" fmla="val 4467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sp>
            <p:nvSpPr>
              <p:cNvPr id="60" name="TextBox 59"/>
              <p:cNvSpPr txBox="1"/>
              <p:nvPr/>
            </p:nvSpPr>
            <p:spPr>
              <a:xfrm>
                <a:off x="717550" y="4140200"/>
                <a:ext cx="671979" cy="249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地    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20650" y="290195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触发输入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I2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TextBox 61"/>
              <p:cNvSpPr txBox="1"/>
              <p:nvPr/>
            </p:nvSpPr>
            <p:spPr>
              <a:xfrm>
                <a:off x="120650" y="18288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控制电压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(5)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Box 62"/>
              <p:cNvSpPr txBox="1"/>
              <p:nvPr/>
            </p:nvSpPr>
            <p:spPr>
              <a:xfrm>
                <a:off x="120650" y="2247900"/>
                <a:ext cx="800219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I1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(6)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阈值输入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3"/>
              <p:cNvSpPr txBox="1"/>
              <p:nvPr/>
            </p:nvSpPr>
            <p:spPr>
              <a:xfrm>
                <a:off x="184894" y="3441700"/>
                <a:ext cx="64633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放电端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i="1" dirty="0" err="1">
                    <a:latin typeface="Times New Roman" panose="02020603050405020304"/>
                    <a:ea typeface="黑体" panose="02010609060101010101" pitchFamily="49" charset="-122"/>
                    <a:cs typeface="Times New Roman" panose="02020603050405020304"/>
                  </a:rPr>
                  <a:t>'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(7)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4"/>
              <p:cNvSpPr txBox="1"/>
              <p:nvPr/>
            </p:nvSpPr>
            <p:spPr>
              <a:xfrm>
                <a:off x="3671967" y="2635250"/>
                <a:ext cx="532518" cy="484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endParaRPr lang="en-US" altLang="zh-CN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2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2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5"/>
              <p:cNvSpPr txBox="1"/>
              <p:nvPr/>
            </p:nvSpPr>
            <p:spPr>
              <a:xfrm>
                <a:off x="552450" y="13779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电源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CC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(8)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TextBox 66"/>
              <p:cNvSpPr txBox="1"/>
              <p:nvPr/>
            </p:nvSpPr>
            <p:spPr>
              <a:xfrm>
                <a:off x="1295400" y="1365250"/>
                <a:ext cx="1035050" cy="249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</a:t>
                </a:r>
                <a:r>
                  <a:rPr lang="en-US" altLang="zh-CN" sz="120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2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(4)</a:t>
                </a:r>
                <a:endParaRPr lang="zh-CN" altLang="en-US" sz="1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8" name="直接连接符 57"/>
            <p:cNvCxnSpPr/>
            <p:nvPr/>
          </p:nvCxnSpPr>
          <p:spPr>
            <a:xfrm>
              <a:off x="1873345" y="1582499"/>
              <a:ext cx="1438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0" name="Group 6"/>
          <p:cNvGraphicFramePr>
            <a:graphicFrameLocks noGrp="1"/>
          </p:cNvGraphicFramePr>
          <p:nvPr/>
        </p:nvGraphicFramePr>
        <p:xfrm>
          <a:off x="4618964" y="1550460"/>
          <a:ext cx="4178300" cy="2395509"/>
        </p:xfrm>
        <a:graphic>
          <a:graphicData uri="http://schemas.openxmlformats.org/drawingml/2006/table">
            <a:tbl>
              <a:tblPr/>
              <a:tblGrid>
                <a:gridCol w="631084"/>
                <a:gridCol w="981816"/>
                <a:gridCol w="1047750"/>
                <a:gridCol w="711200"/>
                <a:gridCol w="806450"/>
              </a:tblGrid>
              <a:tr h="26281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</a:tr>
              <a:tr h="516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复位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阈值输入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触发输入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ʋ</a:t>
                      </a:r>
                      <a:r>
                        <a:rPr kumimoji="0" lang="en-US" altLang="zh-CN" sz="16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放电管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  <a:defRPr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5167">
                <a:tc vMerge="1"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1" name="直接连接符 50"/>
          <p:cNvCxnSpPr/>
          <p:nvPr/>
        </p:nvCxnSpPr>
        <p:spPr>
          <a:xfrm>
            <a:off x="4841665" y="2078072"/>
            <a:ext cx="143878" cy="0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606264" y="4164563"/>
            <a:ext cx="4203700" cy="707886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脚不悬空，接入的外部电路使其电位为</a:t>
            </a:r>
            <a:r>
              <a:rPr lang="en-US" altLang="zh-CN" sz="1600" b="1" i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="1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</a:t>
            </a:r>
            <a:r>
              <a:rPr lang="zh-C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时。</a:t>
            </a:r>
            <a:endParaRPr lang="zh-CN" altLang="en-US" sz="1600" b="1" dirty="0">
              <a:solidFill>
                <a:srgbClr val="00206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405105" y="865130"/>
            <a:ext cx="1575261" cy="456728"/>
            <a:chOff x="670560" y="892917"/>
            <a:chExt cx="1575261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1210588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工作原理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9"/>
          <p:cNvGrpSpPr/>
          <p:nvPr/>
        </p:nvGrpSpPr>
        <p:grpSpPr>
          <a:xfrm>
            <a:off x="4570704" y="865130"/>
            <a:ext cx="1318780" cy="456728"/>
            <a:chOff x="670560" y="892917"/>
            <a:chExt cx="1318780" cy="411055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95410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圆角矩形标注 40"/>
          <p:cNvSpPr/>
          <p:nvPr/>
        </p:nvSpPr>
        <p:spPr>
          <a:xfrm>
            <a:off x="288263" y="1742722"/>
            <a:ext cx="540000" cy="320000"/>
          </a:xfrm>
          <a:prstGeom prst="wedgeRoundRectCallout">
            <a:avLst>
              <a:gd name="adj1" fmla="val 99869"/>
              <a:gd name="adj2" fmla="val 15137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圆角矩形标注 42"/>
          <p:cNvSpPr/>
          <p:nvPr/>
        </p:nvSpPr>
        <p:spPr>
          <a:xfrm>
            <a:off x="313664" y="2963333"/>
            <a:ext cx="540000" cy="320000"/>
          </a:xfrm>
          <a:prstGeom prst="wedgeRoundRectCallout">
            <a:avLst>
              <a:gd name="adj1" fmla="val 91722"/>
              <a:gd name="adj2" fmla="val 761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3"/>
          <p:cNvGrpSpPr/>
          <p:nvPr/>
        </p:nvGrpSpPr>
        <p:grpSpPr>
          <a:xfrm>
            <a:off x="1056614" y="2003778"/>
            <a:ext cx="120650" cy="2003778"/>
            <a:chOff x="965200" y="1803400"/>
            <a:chExt cx="120650" cy="1803400"/>
          </a:xfrm>
        </p:grpSpPr>
        <p:sp>
          <p:nvSpPr>
            <p:cNvPr id="45" name="矩形 44"/>
            <p:cNvSpPr/>
            <p:nvPr/>
          </p:nvSpPr>
          <p:spPr>
            <a:xfrm>
              <a:off x="965200" y="18034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71550" y="26035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977900" y="3352800"/>
              <a:ext cx="107950" cy="254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5368264" y="333706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396555" y="333706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  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保持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9464" y="2320363"/>
            <a:ext cx="392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       ×          ×        0   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805473" y="314656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87314" y="2688526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&gt; 1/3V</a:t>
            </a:r>
            <a:r>
              <a:rPr lang="en-US" altLang="zh-CN" sz="1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485455" y="2680897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          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498155" y="3012508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         </a:t>
            </a:r>
            <a:r>
              <a:rPr lang="zh-CN" altLang="en-US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74614" y="3668675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2/3V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5406364" y="3816777"/>
            <a:ext cx="325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68264" y="2998970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 2/3V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&lt; 1/3V</a:t>
            </a:r>
            <a:r>
              <a:rPr lang="en-US" altLang="zh-CN" sz="1400" b="1" baseline="-25000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sz="1400" b="1" dirty="0">
                <a:solidFill>
                  <a:srgbClr val="99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lang="zh-CN" altLang="en-US" sz="1400" dirty="0">
              <a:solidFill>
                <a:srgbClr val="9900CC"/>
              </a:solidFill>
            </a:endParaRPr>
          </a:p>
        </p:txBody>
      </p:sp>
      <p:sp>
        <p:nvSpPr>
          <p:cNvPr id="62" name="圆角矩形标注 61"/>
          <p:cNvSpPr/>
          <p:nvPr/>
        </p:nvSpPr>
        <p:spPr>
          <a:xfrm>
            <a:off x="5275574" y="3826572"/>
            <a:ext cx="711200" cy="430389"/>
          </a:xfrm>
          <a:prstGeom prst="wedgeRoundRectCallout">
            <a:avLst>
              <a:gd name="adj1" fmla="val 12897"/>
              <a:gd name="adj2" fmla="val -95511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圆角矩形标注 62"/>
          <p:cNvSpPr/>
          <p:nvPr/>
        </p:nvSpPr>
        <p:spPr>
          <a:xfrm>
            <a:off x="6356358" y="3816777"/>
            <a:ext cx="711200" cy="430389"/>
          </a:xfrm>
          <a:prstGeom prst="wedgeRoundRectCallout">
            <a:avLst>
              <a:gd name="adj1" fmla="val 11825"/>
              <a:gd name="adj2" fmla="val -93741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41" grpId="0" animBg="1"/>
      <p:bldP spid="43" grpId="0" animBg="1"/>
      <p:bldP spid="62" grpId="0" animBg="1"/>
      <p:bldP spid="6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1026796" y="2217025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32858" y="3139473"/>
            <a:ext cx="4365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7.3  </a:t>
            </a:r>
            <a:r>
              <a:rPr lang="zh-CN" altLang="en-US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施密特触发器</a:t>
            </a:r>
            <a:endParaRPr lang="zh-CN" altLang="en-US" sz="24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6"/>
          <p:cNvGrpSpPr/>
          <p:nvPr/>
        </p:nvGrpSpPr>
        <p:grpSpPr>
          <a:xfrm>
            <a:off x="4716780" y="3553460"/>
            <a:ext cx="3208020" cy="1864360"/>
            <a:chOff x="4869180" y="3309620"/>
            <a:chExt cx="3208020" cy="186436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5073015" y="3329940"/>
              <a:ext cx="2860358" cy="1616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圆角矩形 35"/>
            <p:cNvSpPr/>
            <p:nvPr/>
          </p:nvSpPr>
          <p:spPr>
            <a:xfrm>
              <a:off x="4869180" y="3309620"/>
              <a:ext cx="3208020" cy="1864360"/>
            </a:xfrm>
            <a:prstGeom prst="roundRect">
              <a:avLst>
                <a:gd name="adj" fmla="val 764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1400" b="1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反相斯密特触发器</a:t>
              </a:r>
              <a:endParaRPr lang="zh-CN" altLang="en-US" sz="1400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65" name="直接连接符 64"/>
          <p:cNvCxnSpPr/>
          <p:nvPr/>
        </p:nvCxnSpPr>
        <p:spPr>
          <a:xfrm flipH="1">
            <a:off x="6265987" y="3963136"/>
            <a:ext cx="89154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65"/>
          <p:cNvGrpSpPr/>
          <p:nvPr/>
        </p:nvGrpSpPr>
        <p:grpSpPr>
          <a:xfrm flipH="1" flipV="1">
            <a:off x="7132573" y="3951691"/>
            <a:ext cx="3810" cy="891540"/>
            <a:chOff x="3387090" y="3501390"/>
            <a:chExt cx="3810" cy="891540"/>
          </a:xfrm>
        </p:grpSpPr>
        <p:cxnSp>
          <p:nvCxnSpPr>
            <p:cNvPr id="67" name="直接连接符 66"/>
            <p:cNvCxnSpPr/>
            <p:nvPr/>
          </p:nvCxnSpPr>
          <p:spPr>
            <a:xfrm rot="5400000">
              <a:off x="2941320" y="3947160"/>
              <a:ext cx="89154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flipV="1">
              <a:off x="3390900" y="3825240"/>
              <a:ext cx="0" cy="342900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直接连接符 68"/>
          <p:cNvCxnSpPr/>
          <p:nvPr/>
        </p:nvCxnSpPr>
        <p:spPr>
          <a:xfrm flipH="1">
            <a:off x="7125469" y="4862281"/>
            <a:ext cx="324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1"/>
          <p:cNvGrpSpPr/>
          <p:nvPr/>
        </p:nvGrpSpPr>
        <p:grpSpPr>
          <a:xfrm>
            <a:off x="262894" y="710037"/>
            <a:ext cx="2857663" cy="420971"/>
            <a:chOff x="670560" y="892917"/>
            <a:chExt cx="2857663" cy="420971"/>
          </a:xfrm>
        </p:grpSpPr>
        <p:sp>
          <p:nvSpPr>
            <p:cNvPr id="3" name="矩形 2"/>
            <p:cNvSpPr/>
            <p:nvPr/>
          </p:nvSpPr>
          <p:spPr>
            <a:xfrm>
              <a:off x="1035233" y="913778"/>
              <a:ext cx="2492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施密特触发器的特点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" name="组合 4"/>
          <p:cNvGrpSpPr/>
          <p:nvPr/>
        </p:nvGrpSpPr>
        <p:grpSpPr>
          <a:xfrm>
            <a:off x="638145" y="1658564"/>
            <a:ext cx="7766716" cy="584775"/>
            <a:chOff x="738189" y="1426964"/>
            <a:chExt cx="7516240" cy="584774"/>
          </a:xfrm>
        </p:grpSpPr>
        <p:sp>
          <p:nvSpPr>
            <p:cNvPr id="6" name="矩形 5"/>
            <p:cNvSpPr/>
            <p:nvPr/>
          </p:nvSpPr>
          <p:spPr>
            <a:xfrm>
              <a:off x="1101388" y="1426964"/>
              <a:ext cx="7153041" cy="584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600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施密特触发器属于</a:t>
              </a:r>
              <a:r>
                <a:rPr lang="zh-CN" altLang="zh-CN" sz="1600" b="1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电平触发器件</a:t>
              </a:r>
              <a:r>
                <a:rPr lang="zh-CN" altLang="zh-CN" sz="1600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，当输入信号达到某一定电压值（即阈值电压）时，输出电压发生突变</a:t>
              </a:r>
              <a:r>
                <a:rPr lang="zh-CN" altLang="zh-CN" sz="1600" dirty="0"/>
                <a:t>。</a:t>
              </a:r>
              <a:endParaRPr lang="zh-CN" altLang="en-US" sz="16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7"/>
          <p:cNvGrpSpPr/>
          <p:nvPr/>
        </p:nvGrpSpPr>
        <p:grpSpPr>
          <a:xfrm>
            <a:off x="638145" y="2258638"/>
            <a:ext cx="8039130" cy="773289"/>
            <a:chOff x="716250" y="2484697"/>
            <a:chExt cx="8039130" cy="773289"/>
          </a:xfrm>
        </p:grpSpPr>
        <p:sp>
          <p:nvSpPr>
            <p:cNvPr id="9" name="矩形 8"/>
            <p:cNvSpPr/>
            <p:nvPr/>
          </p:nvSpPr>
          <p:spPr>
            <a:xfrm>
              <a:off x="1091551" y="2484697"/>
              <a:ext cx="7663829" cy="7732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电路有两个阈值电压。 </a:t>
              </a:r>
              <a:r>
                <a:rPr lang="zh-CN" altLang="en-US" sz="1600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输入信号由小变大：正向阈值电压（</a:t>
              </a:r>
              <a:r>
                <a:rPr lang="en-US" altLang="zh-CN" sz="1600" i="1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r>
                <a:rPr lang="en-US" altLang="zh-CN" sz="1600" baseline="-25000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T+</a:t>
              </a:r>
              <a:r>
                <a:rPr lang="zh-CN" altLang="en-US" sz="1600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endParaRPr lang="en-US" altLang="zh-CN" sz="1600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     </a:t>
              </a:r>
              <a:r>
                <a:rPr lang="zh-CN" altLang="en-US" sz="1600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输入信号由大变小：负向阈值电压（</a:t>
              </a:r>
              <a:r>
                <a:rPr lang="en-US" altLang="zh-CN" sz="1600" i="1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r>
                <a:rPr lang="en-US" altLang="zh-CN" sz="1600" baseline="-25000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T-</a:t>
              </a:r>
              <a:r>
                <a:rPr lang="zh-CN" altLang="en-US" sz="1600" dirty="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1600" dirty="0">
                <a:solidFill>
                  <a:schemeClr val="tx1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6250" y="2595069"/>
              <a:ext cx="3710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" name="组合 13"/>
          <p:cNvGrpSpPr/>
          <p:nvPr/>
        </p:nvGrpSpPr>
        <p:grpSpPr>
          <a:xfrm>
            <a:off x="262891" y="2990329"/>
            <a:ext cx="2088222" cy="420971"/>
            <a:chOff x="670560" y="892917"/>
            <a:chExt cx="2088222" cy="420971"/>
          </a:xfrm>
        </p:grpSpPr>
        <p:sp>
          <p:nvSpPr>
            <p:cNvPr id="15" name="矩形 14"/>
            <p:cNvSpPr/>
            <p:nvPr/>
          </p:nvSpPr>
          <p:spPr>
            <a:xfrm>
              <a:off x="1035233" y="913778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电压传输特性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组合 37"/>
          <p:cNvGrpSpPr/>
          <p:nvPr/>
        </p:nvGrpSpPr>
        <p:grpSpPr>
          <a:xfrm>
            <a:off x="1158240" y="3565725"/>
            <a:ext cx="3208020" cy="1867336"/>
            <a:chOff x="937260" y="3108525"/>
            <a:chExt cx="3208020" cy="186733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90613" y="3108525"/>
              <a:ext cx="2883283" cy="163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圆角矩形 18"/>
            <p:cNvSpPr/>
            <p:nvPr/>
          </p:nvSpPr>
          <p:spPr>
            <a:xfrm>
              <a:off x="937260" y="3111500"/>
              <a:ext cx="3208020" cy="1864360"/>
            </a:xfrm>
            <a:prstGeom prst="roundRect">
              <a:avLst>
                <a:gd name="adj" fmla="val 764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1400" b="1" dirty="0">
                  <a:solidFill>
                    <a:srgbClr val="66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同相施密特触发器</a:t>
              </a:r>
              <a:endParaRPr lang="zh-CN" altLang="en-US" sz="1400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2720340" y="4861560"/>
            <a:ext cx="8915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26"/>
          <p:cNvGrpSpPr/>
          <p:nvPr/>
        </p:nvGrpSpPr>
        <p:grpSpPr>
          <a:xfrm>
            <a:off x="3608070" y="3966210"/>
            <a:ext cx="3810" cy="891540"/>
            <a:chOff x="3387090" y="3501390"/>
            <a:chExt cx="3810" cy="891540"/>
          </a:xfrm>
        </p:grpSpPr>
        <p:cxnSp>
          <p:nvCxnSpPr>
            <p:cNvPr id="22" name="直接连接符 21"/>
            <p:cNvCxnSpPr/>
            <p:nvPr/>
          </p:nvCxnSpPr>
          <p:spPr>
            <a:xfrm rot="5400000">
              <a:off x="2941320" y="3947160"/>
              <a:ext cx="89154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V="1">
              <a:off x="3390900" y="3878580"/>
              <a:ext cx="0" cy="34290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直接连接符 27"/>
          <p:cNvCxnSpPr/>
          <p:nvPr/>
        </p:nvCxnSpPr>
        <p:spPr>
          <a:xfrm>
            <a:off x="3604260" y="3962400"/>
            <a:ext cx="32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036720" y="3962400"/>
            <a:ext cx="89154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29"/>
          <p:cNvGrpSpPr/>
          <p:nvPr/>
        </p:nvGrpSpPr>
        <p:grpSpPr>
          <a:xfrm flipV="1">
            <a:off x="3059430" y="3950970"/>
            <a:ext cx="3810" cy="891540"/>
            <a:chOff x="3387090" y="3501390"/>
            <a:chExt cx="3810" cy="891540"/>
          </a:xfrm>
        </p:grpSpPr>
        <p:cxnSp>
          <p:nvCxnSpPr>
            <p:cNvPr id="31" name="直接连接符 30"/>
            <p:cNvCxnSpPr/>
            <p:nvPr/>
          </p:nvCxnSpPr>
          <p:spPr>
            <a:xfrm rot="5400000">
              <a:off x="2941320" y="3947160"/>
              <a:ext cx="89154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V="1">
              <a:off x="3390900" y="3825240"/>
              <a:ext cx="0" cy="342900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直接连接符 59"/>
          <p:cNvCxnSpPr/>
          <p:nvPr/>
        </p:nvCxnSpPr>
        <p:spPr>
          <a:xfrm flipH="1">
            <a:off x="6557929" y="4857750"/>
            <a:ext cx="8915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60"/>
          <p:cNvGrpSpPr/>
          <p:nvPr/>
        </p:nvGrpSpPr>
        <p:grpSpPr>
          <a:xfrm flipH="1">
            <a:off x="6583933" y="3966931"/>
            <a:ext cx="3810" cy="891540"/>
            <a:chOff x="3387090" y="3501390"/>
            <a:chExt cx="3810" cy="891540"/>
          </a:xfrm>
        </p:grpSpPr>
        <p:cxnSp>
          <p:nvCxnSpPr>
            <p:cNvPr id="62" name="直接连接符 61"/>
            <p:cNvCxnSpPr/>
            <p:nvPr/>
          </p:nvCxnSpPr>
          <p:spPr>
            <a:xfrm rot="5400000">
              <a:off x="2941320" y="3947160"/>
              <a:ext cx="89154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 flipV="1">
              <a:off x="3390900" y="3878580"/>
              <a:ext cx="0" cy="34290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957007" y="1159424"/>
            <a:ext cx="5005347" cy="400110"/>
            <a:chOff x="1957007" y="1159424"/>
            <a:chExt cx="5005347" cy="400110"/>
          </a:xfrm>
        </p:grpSpPr>
        <p:sp>
          <p:nvSpPr>
            <p:cNvPr id="25" name="箭头: 五边形 24"/>
            <p:cNvSpPr/>
            <p:nvPr/>
          </p:nvSpPr>
          <p:spPr>
            <a:xfrm>
              <a:off x="1957007" y="1159424"/>
              <a:ext cx="2512274" cy="40011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数字电路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3" name="箭头: 五边形 42"/>
            <p:cNvSpPr/>
            <p:nvPr/>
          </p:nvSpPr>
          <p:spPr>
            <a:xfrm flipH="1">
              <a:off x="4450080" y="1159424"/>
              <a:ext cx="2512274" cy="40011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迟滞比较器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模拟电路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600" dirty="0">
                <a:solidFill>
                  <a:srgbClr val="FFFF00"/>
                </a:solidFill>
              </a:endParaRPr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2727810" y="4857750"/>
            <a:ext cx="324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6265987" y="3962400"/>
            <a:ext cx="32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箭头: 右 26"/>
          <p:cNvSpPr/>
          <p:nvPr/>
        </p:nvSpPr>
        <p:spPr>
          <a:xfrm>
            <a:off x="2729865" y="4799648"/>
            <a:ext cx="706820" cy="10858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/>
          <p:cNvSpPr/>
          <p:nvPr/>
        </p:nvSpPr>
        <p:spPr>
          <a:xfrm rot="10800000">
            <a:off x="3232012" y="3900609"/>
            <a:ext cx="706820" cy="10858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5915" y="1715135"/>
          <a:ext cx="716915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1" imgW="5067300" imgH="1819275" progId="Visio.Drawing.11">
                  <p:embed/>
                </p:oleObj>
              </mc:Choice>
              <mc:Fallback>
                <p:oleObj name="Visio" r:id="rId1" imgW="5067300" imgH="1819275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" y="1715135"/>
                        <a:ext cx="7169150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41"/>
          <p:cNvGrpSpPr/>
          <p:nvPr/>
        </p:nvGrpSpPr>
        <p:grpSpPr>
          <a:xfrm>
            <a:off x="320041" y="653999"/>
            <a:ext cx="3333756" cy="456728"/>
            <a:chOff x="670560" y="892917"/>
            <a:chExt cx="3333756" cy="411055"/>
          </a:xfrm>
        </p:grpSpPr>
        <p:sp>
          <p:nvSpPr>
            <p:cNvPr id="47" name="矩形 46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构成的施密特触发器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6"/>
          <p:cNvGrpSpPr/>
          <p:nvPr/>
        </p:nvGrpSpPr>
        <p:grpSpPr>
          <a:xfrm>
            <a:off x="395029" y="2751475"/>
            <a:ext cx="1174691" cy="673183"/>
            <a:chOff x="1190834" y="2284385"/>
            <a:chExt cx="1174691" cy="673183"/>
          </a:xfrm>
        </p:grpSpPr>
        <p:sp>
          <p:nvSpPr>
            <p:cNvPr id="5" name="左中括号 4"/>
            <p:cNvSpPr/>
            <p:nvPr/>
          </p:nvSpPr>
          <p:spPr>
            <a:xfrm>
              <a:off x="1849582" y="2284385"/>
              <a:ext cx="515943" cy="573115"/>
            </a:xfrm>
            <a:prstGeom prst="leftBracket">
              <a:avLst>
                <a:gd name="adj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59"/>
            <p:cNvGrpSpPr/>
            <p:nvPr/>
          </p:nvGrpSpPr>
          <p:grpSpPr>
            <a:xfrm>
              <a:off x="1190834" y="2619013"/>
              <a:ext cx="658748" cy="338555"/>
              <a:chOff x="1095193" y="2401470"/>
              <a:chExt cx="658748" cy="304699"/>
            </a:xfrm>
          </p:grpSpPr>
          <p:cxnSp>
            <p:nvCxnSpPr>
              <p:cNvPr id="55" name="直接连接符 54"/>
              <p:cNvCxnSpPr/>
              <p:nvPr/>
            </p:nvCxnSpPr>
            <p:spPr>
              <a:xfrm>
                <a:off x="1296387" y="2609254"/>
                <a:ext cx="457554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 Box 9"/>
              <p:cNvSpPr txBox="1">
                <a:spLocks noChangeArrowheads="1"/>
              </p:cNvSpPr>
              <p:nvPr/>
            </p:nvSpPr>
            <p:spPr bwMode="auto">
              <a:xfrm>
                <a:off x="1095193" y="2401470"/>
                <a:ext cx="272147" cy="304699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 wrap="square" lIns="0" rIns="0">
                <a:spAutoFit/>
              </a:bodyPr>
              <a:lstStyle/>
              <a:p>
                <a:pPr>
                  <a:defRPr/>
                </a:pPr>
                <a:r>
                  <a:rPr lang="en-US" altLang="zh-CN" sz="1600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600" baseline="-2500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endParaRPr lang="el-GR" altLang="zh-CN" sz="1600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1363655" y="1712018"/>
            <a:ext cx="853765" cy="375862"/>
            <a:chOff x="1735948" y="1483418"/>
            <a:chExt cx="885331" cy="375862"/>
          </a:xfrm>
        </p:grpSpPr>
        <p:sp>
          <p:nvSpPr>
            <p:cNvPr id="29" name="左中括号 28"/>
            <p:cNvSpPr/>
            <p:nvPr/>
          </p:nvSpPr>
          <p:spPr>
            <a:xfrm rot="5400000">
              <a:off x="2110963" y="1348965"/>
              <a:ext cx="135301" cy="885330"/>
            </a:xfrm>
            <a:prstGeom prst="leftBracket">
              <a:avLst>
                <a:gd name="adj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1735948" y="1483418"/>
              <a:ext cx="0" cy="235215"/>
            </a:xfrm>
            <a:prstGeom prst="line">
              <a:avLst/>
            </a:prstGeom>
            <a:ln w="28575"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对象 88"/>
          <p:cNvGraphicFramePr>
            <a:graphicFrameLocks noChangeAspect="1"/>
          </p:cNvGraphicFramePr>
          <p:nvPr/>
        </p:nvGraphicFramePr>
        <p:xfrm>
          <a:off x="320040" y="1513435"/>
          <a:ext cx="4525962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1" imgW="3086100" imgH="1819275" progId="Visio.Drawing.11">
                  <p:embed/>
                </p:oleObj>
              </mc:Choice>
              <mc:Fallback>
                <p:oleObj name="Visio" r:id="rId1" imgW="3086100" imgH="1819275" progId="Visio.Drawing.11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" y="1513435"/>
                        <a:ext cx="4525962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96291" y="1715693"/>
            <a:ext cx="2988243" cy="3073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107"/>
          <p:cNvGrpSpPr/>
          <p:nvPr/>
        </p:nvGrpSpPr>
        <p:grpSpPr>
          <a:xfrm>
            <a:off x="5356998" y="2137432"/>
            <a:ext cx="2104842" cy="1012807"/>
            <a:chOff x="5158600" y="1535519"/>
            <a:chExt cx="1880558" cy="911526"/>
          </a:xfrm>
        </p:grpSpPr>
        <p:cxnSp>
          <p:nvCxnSpPr>
            <p:cNvPr id="102" name="直接连接符 101"/>
            <p:cNvCxnSpPr/>
            <p:nvPr/>
          </p:nvCxnSpPr>
          <p:spPr>
            <a:xfrm flipV="1">
              <a:off x="5158600" y="1535519"/>
              <a:ext cx="457200" cy="526211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604299" y="1541270"/>
              <a:ext cx="779251" cy="900022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V="1">
              <a:off x="6372049" y="1647662"/>
              <a:ext cx="667109" cy="799383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6"/>
          <p:cNvGrpSpPr/>
          <p:nvPr/>
        </p:nvGrpSpPr>
        <p:grpSpPr>
          <a:xfrm>
            <a:off x="4663998" y="2143807"/>
            <a:ext cx="3151525" cy="828552"/>
            <a:chOff x="4663997" y="1929427"/>
            <a:chExt cx="3151525" cy="745697"/>
          </a:xfrm>
        </p:grpSpPr>
        <p:grpSp>
          <p:nvGrpSpPr>
            <p:cNvPr id="8" name="组合 65"/>
            <p:cNvGrpSpPr/>
            <p:nvPr/>
          </p:nvGrpSpPr>
          <p:grpSpPr>
            <a:xfrm>
              <a:off x="4663997" y="2398124"/>
              <a:ext cx="3131397" cy="277000"/>
              <a:chOff x="4663997" y="2398124"/>
              <a:chExt cx="3131397" cy="277000"/>
            </a:xfrm>
          </p:grpSpPr>
          <p:cxnSp>
            <p:nvCxnSpPr>
              <p:cNvPr id="111" name="直接连接符 110"/>
              <p:cNvCxnSpPr/>
              <p:nvPr/>
            </p:nvCxnSpPr>
            <p:spPr>
              <a:xfrm flipV="1">
                <a:off x="5328239" y="2585028"/>
                <a:ext cx="2467155" cy="0"/>
              </a:xfrm>
              <a:prstGeom prst="line">
                <a:avLst/>
              </a:prstGeom>
              <a:ln w="19050">
                <a:solidFill>
                  <a:srgbClr val="CC00CC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/>
              <p:cNvSpPr txBox="1"/>
              <p:nvPr/>
            </p:nvSpPr>
            <p:spPr>
              <a:xfrm>
                <a:off x="4663997" y="2398124"/>
                <a:ext cx="751872" cy="277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1/3</a:t>
                </a:r>
                <a:r>
                  <a:rPr lang="en-US" altLang="zh-CN" sz="1400" i="1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CC</a:t>
                </a:r>
                <a:endParaRPr lang="zh-CN" altLang="en-US" sz="1400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组合 64"/>
            <p:cNvGrpSpPr/>
            <p:nvPr/>
          </p:nvGrpSpPr>
          <p:grpSpPr>
            <a:xfrm>
              <a:off x="4663997" y="1929427"/>
              <a:ext cx="3151525" cy="277000"/>
              <a:chOff x="4663997" y="1929427"/>
              <a:chExt cx="3151525" cy="277000"/>
            </a:xfrm>
          </p:grpSpPr>
          <p:cxnSp>
            <p:nvCxnSpPr>
              <p:cNvPr id="110" name="直接连接符 109"/>
              <p:cNvCxnSpPr/>
              <p:nvPr/>
            </p:nvCxnSpPr>
            <p:spPr>
              <a:xfrm flipV="1">
                <a:off x="5348367" y="2130702"/>
                <a:ext cx="2467155" cy="0"/>
              </a:xfrm>
              <a:prstGeom prst="line">
                <a:avLst/>
              </a:prstGeom>
              <a:ln w="19050">
                <a:solidFill>
                  <a:srgbClr val="CC00CC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/>
              <p:cNvSpPr txBox="1"/>
              <p:nvPr/>
            </p:nvSpPr>
            <p:spPr>
              <a:xfrm>
                <a:off x="4663997" y="1929427"/>
                <a:ext cx="751872" cy="277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2/3</a:t>
                </a:r>
                <a:r>
                  <a:rPr lang="en-US" altLang="zh-CN" sz="1400" i="1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CC</a:t>
                </a:r>
                <a:endParaRPr lang="zh-CN" altLang="en-US" sz="1400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114" name="直接连接符 113"/>
          <p:cNvCxnSpPr/>
          <p:nvPr/>
        </p:nvCxnSpPr>
        <p:spPr>
          <a:xfrm flipV="1">
            <a:off x="5350413" y="2391290"/>
            <a:ext cx="296169" cy="3322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>
            <a:off x="5658918" y="2386622"/>
            <a:ext cx="0" cy="209909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flipV="1">
            <a:off x="5359874" y="3910621"/>
            <a:ext cx="288000" cy="0"/>
          </a:xfrm>
          <a:prstGeom prst="line">
            <a:avLst/>
          </a:prstGeom>
          <a:ln w="3810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V="1">
            <a:off x="5348373" y="4405841"/>
            <a:ext cx="288000" cy="0"/>
          </a:xfrm>
          <a:prstGeom prst="line">
            <a:avLst/>
          </a:prstGeom>
          <a:ln w="3810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123"/>
          <p:cNvGrpSpPr/>
          <p:nvPr/>
        </p:nvGrpSpPr>
        <p:grpSpPr>
          <a:xfrm>
            <a:off x="5670426" y="2143803"/>
            <a:ext cx="373805" cy="226866"/>
            <a:chOff x="5454775" y="1541252"/>
            <a:chExt cx="373805" cy="204179"/>
          </a:xfrm>
        </p:grpSpPr>
        <p:cxnSp>
          <p:nvCxnSpPr>
            <p:cNvPr id="121" name="直接连接符 120"/>
            <p:cNvCxnSpPr/>
            <p:nvPr/>
          </p:nvCxnSpPr>
          <p:spPr>
            <a:xfrm flipV="1">
              <a:off x="5454775" y="1544128"/>
              <a:ext cx="186900" cy="20130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 flipV="1">
              <a:off x="5641680" y="1541252"/>
              <a:ext cx="186900" cy="20130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直接连接符 124"/>
          <p:cNvCxnSpPr/>
          <p:nvPr/>
        </p:nvCxnSpPr>
        <p:spPr>
          <a:xfrm flipH="1" flipV="1">
            <a:off x="6041361" y="2364257"/>
            <a:ext cx="437066" cy="492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V="1">
            <a:off x="5656048" y="4405840"/>
            <a:ext cx="396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H="1">
            <a:off x="6469801" y="2878649"/>
            <a:ext cx="2876" cy="152080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6032735" y="4405840"/>
            <a:ext cx="468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35"/>
          <p:cNvGrpSpPr/>
          <p:nvPr/>
        </p:nvGrpSpPr>
        <p:grpSpPr>
          <a:xfrm flipV="1">
            <a:off x="6512939" y="2885035"/>
            <a:ext cx="405436" cy="258793"/>
            <a:chOff x="5454775" y="1541252"/>
            <a:chExt cx="373805" cy="204179"/>
          </a:xfrm>
        </p:grpSpPr>
        <p:cxnSp>
          <p:nvCxnSpPr>
            <p:cNvPr id="137" name="直接连接符 136"/>
            <p:cNvCxnSpPr/>
            <p:nvPr/>
          </p:nvCxnSpPr>
          <p:spPr>
            <a:xfrm flipV="1">
              <a:off x="5454775" y="1544128"/>
              <a:ext cx="186900" cy="20130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5641680" y="1541252"/>
              <a:ext cx="186900" cy="20130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85"/>
          <p:cNvGrpSpPr/>
          <p:nvPr/>
        </p:nvGrpSpPr>
        <p:grpSpPr>
          <a:xfrm>
            <a:off x="6461142" y="3904231"/>
            <a:ext cx="504000" cy="495974"/>
            <a:chOff x="6461142" y="3513807"/>
            <a:chExt cx="504000" cy="446377"/>
          </a:xfrm>
        </p:grpSpPr>
        <p:cxnSp>
          <p:nvCxnSpPr>
            <p:cNvPr id="135" name="直接连接符 134"/>
            <p:cNvCxnSpPr/>
            <p:nvPr/>
          </p:nvCxnSpPr>
          <p:spPr>
            <a:xfrm flipV="1">
              <a:off x="6461142" y="3513807"/>
              <a:ext cx="504000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6475519" y="3528184"/>
              <a:ext cx="0" cy="432000"/>
            </a:xfrm>
            <a:prstGeom prst="line">
              <a:avLst/>
            </a:prstGeom>
            <a:ln w="38100">
              <a:solidFill>
                <a:srgbClr val="0000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直接连接符 141"/>
          <p:cNvCxnSpPr/>
          <p:nvPr/>
        </p:nvCxnSpPr>
        <p:spPr>
          <a:xfrm flipV="1">
            <a:off x="6941346" y="3904230"/>
            <a:ext cx="468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6944259" y="2361061"/>
            <a:ext cx="437066" cy="4920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7398579" y="2393017"/>
            <a:ext cx="0" cy="209909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V="1">
            <a:off x="7392833" y="2134219"/>
            <a:ext cx="186900" cy="22367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88"/>
          <p:cNvGrpSpPr/>
          <p:nvPr/>
        </p:nvGrpSpPr>
        <p:grpSpPr>
          <a:xfrm>
            <a:off x="7395708" y="3907424"/>
            <a:ext cx="288000" cy="480000"/>
            <a:chOff x="7395708" y="3516682"/>
            <a:chExt cx="288000" cy="432000"/>
          </a:xfrm>
        </p:grpSpPr>
        <p:cxnSp>
          <p:nvCxnSpPr>
            <p:cNvPr id="148" name="直接连接符 147"/>
            <p:cNvCxnSpPr/>
            <p:nvPr/>
          </p:nvCxnSpPr>
          <p:spPr>
            <a:xfrm>
              <a:off x="7404296" y="3516682"/>
              <a:ext cx="0" cy="432000"/>
            </a:xfrm>
            <a:prstGeom prst="line">
              <a:avLst/>
            </a:prstGeom>
            <a:ln w="38100">
              <a:solidFill>
                <a:srgbClr val="0000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flipV="1">
              <a:off x="7395708" y="3948003"/>
              <a:ext cx="288000" cy="0"/>
            </a:xfrm>
            <a:prstGeom prst="line">
              <a:avLst/>
            </a:prstGeom>
            <a:ln w="38100">
              <a:solidFill>
                <a:srgbClr val="0000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TextBox 152"/>
          <p:cNvSpPr txBox="1"/>
          <p:nvPr/>
        </p:nvSpPr>
        <p:spPr>
          <a:xfrm>
            <a:off x="4937159" y="36837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OH</a:t>
            </a:r>
            <a:endParaRPr lang="zh-CN" altLang="en-US" sz="1400" baseline="-25000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937159" y="4121500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OL</a:t>
            </a:r>
            <a:endParaRPr lang="zh-CN" altLang="en-US" sz="1400" baseline="-25000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5" name="圆角矩形标注 154"/>
          <p:cNvSpPr/>
          <p:nvPr/>
        </p:nvSpPr>
        <p:spPr>
          <a:xfrm>
            <a:off x="707297" y="1682723"/>
            <a:ext cx="540000" cy="320000"/>
          </a:xfrm>
          <a:prstGeom prst="wedgeRoundRectCallout">
            <a:avLst>
              <a:gd name="adj1" fmla="val 59932"/>
              <a:gd name="adj2" fmla="val 14838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2/3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156" name="圆角矩形标注 155"/>
          <p:cNvSpPr/>
          <p:nvPr/>
        </p:nvSpPr>
        <p:spPr>
          <a:xfrm>
            <a:off x="1785162" y="2794390"/>
            <a:ext cx="540000" cy="320000"/>
          </a:xfrm>
          <a:prstGeom prst="wedgeRoundRectCallout">
            <a:avLst>
              <a:gd name="adj1" fmla="val -109561"/>
              <a:gd name="adj2" fmla="val 10009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dirty="0"/>
              <a:t>1/3</a:t>
            </a:r>
            <a:r>
              <a:rPr lang="en-US" altLang="zh-CN" sz="1400" i="1" dirty="0"/>
              <a:t>V</a:t>
            </a:r>
            <a:r>
              <a:rPr lang="en-US" altLang="zh-CN" sz="1400" baseline="-25000" dirty="0"/>
              <a:t>CC</a:t>
            </a:r>
            <a:endParaRPr lang="zh-CN" altLang="en-US" sz="1400" baseline="-25000" dirty="0"/>
          </a:p>
        </p:txBody>
      </p: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4098064" y="2872192"/>
            <a:ext cx="385135" cy="440907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prstDash val="dash"/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1" name="Oval 46"/>
          <p:cNvSpPr>
            <a:spLocks noChangeArrowheads="1"/>
          </p:cNvSpPr>
          <p:nvPr/>
        </p:nvSpPr>
        <p:spPr bwMode="auto">
          <a:xfrm>
            <a:off x="4107961" y="3371394"/>
            <a:ext cx="385135" cy="440907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prstDash val="dash"/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64" name="Oval 46"/>
          <p:cNvSpPr>
            <a:spLocks noChangeArrowheads="1"/>
          </p:cNvSpPr>
          <p:nvPr/>
        </p:nvSpPr>
        <p:spPr bwMode="auto">
          <a:xfrm>
            <a:off x="4098625" y="3137258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0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684714" y="2534562"/>
            <a:ext cx="235766" cy="250791"/>
          </a:xfrm>
          <a:prstGeom prst="ellipse">
            <a:avLst/>
          </a:prstGeom>
          <a:solidFill>
            <a:srgbClr val="FF00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2" name="Oval 46"/>
          <p:cNvSpPr>
            <a:spLocks noChangeArrowheads="1"/>
          </p:cNvSpPr>
          <p:nvPr/>
        </p:nvSpPr>
        <p:spPr bwMode="auto">
          <a:xfrm>
            <a:off x="4104383" y="3134071"/>
            <a:ext cx="385135" cy="44090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rgbClr val="6600FF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rgbClr val="6600FF"/>
              </a:solidFill>
              <a:ea typeface="黑体" panose="02010609060101010101" pitchFamily="49" charset="-122"/>
            </a:endParaRPr>
          </a:p>
        </p:txBody>
      </p:sp>
      <p:grpSp>
        <p:nvGrpSpPr>
          <p:cNvPr id="14" name="组合 86"/>
          <p:cNvGrpSpPr/>
          <p:nvPr/>
        </p:nvGrpSpPr>
        <p:grpSpPr>
          <a:xfrm>
            <a:off x="279991" y="2109713"/>
            <a:ext cx="770460" cy="1431785"/>
            <a:chOff x="106393" y="2182475"/>
            <a:chExt cx="770460" cy="1288607"/>
          </a:xfrm>
        </p:grpSpPr>
        <p:sp>
          <p:nvSpPr>
            <p:cNvPr id="78" name="圆角矩形标注 77"/>
            <p:cNvSpPr/>
            <p:nvPr/>
          </p:nvSpPr>
          <p:spPr>
            <a:xfrm>
              <a:off x="106393" y="2182475"/>
              <a:ext cx="750499" cy="288000"/>
            </a:xfrm>
            <a:prstGeom prst="wedgeRoundRectCallout">
              <a:avLst>
                <a:gd name="adj1" fmla="val 52778"/>
                <a:gd name="adj2" fmla="val 88475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&lt;2/3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  <p:sp>
          <p:nvSpPr>
            <p:cNvPr id="79" name="圆角矩形标注 78"/>
            <p:cNvSpPr/>
            <p:nvPr/>
          </p:nvSpPr>
          <p:spPr>
            <a:xfrm>
              <a:off x="126354" y="3183082"/>
              <a:ext cx="750499" cy="288000"/>
            </a:xfrm>
            <a:prstGeom prst="wedgeRoundRectCallout">
              <a:avLst>
                <a:gd name="adj1" fmla="val 48180"/>
                <a:gd name="adj2" fmla="val -76266"/>
                <a:gd name="adj3" fmla="val 16667"/>
              </a:avLst>
            </a:prstGeom>
            <a:solidFill>
              <a:srgbClr val="66FF66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&gt;1/3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</p:grpSp>
      <p:graphicFrame>
        <p:nvGraphicFramePr>
          <p:cNvPr id="83" name="Group 6"/>
          <p:cNvGraphicFramePr>
            <a:graphicFrameLocks noGrp="1"/>
          </p:cNvGraphicFramePr>
          <p:nvPr/>
        </p:nvGraphicFramePr>
        <p:xfrm>
          <a:off x="7030064" y="658760"/>
          <a:ext cx="2074606" cy="1301774"/>
        </p:xfrm>
        <a:graphic>
          <a:graphicData uri="http://schemas.openxmlformats.org/drawingml/2006/table">
            <a:tbl>
              <a:tblPr/>
              <a:tblGrid>
                <a:gridCol w="727587"/>
                <a:gridCol w="806245"/>
                <a:gridCol w="540774"/>
              </a:tblGrid>
              <a:tr h="29988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5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 2/3V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endParaRPr lang="zh-CN" altLang="en-US" sz="14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 1/3V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 2/3V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endParaRPr lang="zh-CN" altLang="en-US" sz="14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&gt;1/3V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保持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 2/3V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endParaRPr lang="zh-CN" altLang="en-US" sz="14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&lt;1/3V</a:t>
                      </a:r>
                      <a:r>
                        <a:rPr lang="en-US" altLang="zh-CN" sz="1400" b="1" baseline="-25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CC</a:t>
                      </a:r>
                      <a:r>
                        <a:rPr lang="en-US" altLang="zh-CN" sz="14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98475" algn="l"/>
                        </a:tabLst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圆角矩形 84"/>
          <p:cNvSpPr/>
          <p:nvPr/>
        </p:nvSpPr>
        <p:spPr>
          <a:xfrm>
            <a:off x="7039896" y="1307689"/>
            <a:ext cx="2052934" cy="290052"/>
          </a:xfrm>
          <a:prstGeom prst="roundRect">
            <a:avLst>
              <a:gd name="adj" fmla="val 10074"/>
            </a:avLst>
          </a:prstGeom>
          <a:solidFill>
            <a:srgbClr val="FF00FF">
              <a:alpha val="18000"/>
            </a:srgb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Box 9"/>
          <p:cNvSpPr txBox="1">
            <a:spLocks noChangeArrowheads="1"/>
          </p:cNvSpPr>
          <p:nvPr/>
        </p:nvSpPr>
        <p:spPr bwMode="auto">
          <a:xfrm>
            <a:off x="435150" y="2872192"/>
            <a:ext cx="272147" cy="33855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sz="16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ʋ</a:t>
            </a:r>
            <a:r>
              <a:rPr lang="en-US" altLang="zh-CN" sz="1600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el-GR" altLang="zh-CN" sz="1600" baseline="-25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3" name="组合 41"/>
          <p:cNvGrpSpPr/>
          <p:nvPr/>
        </p:nvGrpSpPr>
        <p:grpSpPr>
          <a:xfrm>
            <a:off x="320041" y="653999"/>
            <a:ext cx="3333756" cy="456728"/>
            <a:chOff x="670560" y="892917"/>
            <a:chExt cx="3333756" cy="411055"/>
          </a:xfrm>
        </p:grpSpPr>
        <p:sp>
          <p:nvSpPr>
            <p:cNvPr id="94" name="矩形 93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构成的施密特触发器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6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7" name="Rectangle 27"/>
          <p:cNvSpPr>
            <a:spLocks noChangeArrowheads="1"/>
          </p:cNvSpPr>
          <p:nvPr/>
        </p:nvSpPr>
        <p:spPr bwMode="auto">
          <a:xfrm>
            <a:off x="4801249" y="111289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8" name="组合 86"/>
          <p:cNvGrpSpPr/>
          <p:nvPr/>
        </p:nvGrpSpPr>
        <p:grpSpPr>
          <a:xfrm>
            <a:off x="270010" y="2102577"/>
            <a:ext cx="770460" cy="1431785"/>
            <a:chOff x="106393" y="2182475"/>
            <a:chExt cx="770460" cy="1288607"/>
          </a:xfrm>
          <a:solidFill>
            <a:srgbClr val="66FF66"/>
          </a:solidFill>
        </p:grpSpPr>
        <p:sp>
          <p:nvSpPr>
            <p:cNvPr id="101" name="圆角矩形标注 77"/>
            <p:cNvSpPr/>
            <p:nvPr/>
          </p:nvSpPr>
          <p:spPr>
            <a:xfrm>
              <a:off x="106393" y="2182475"/>
              <a:ext cx="750499" cy="288000"/>
            </a:xfrm>
            <a:prstGeom prst="wedgeRoundRectCallout">
              <a:avLst>
                <a:gd name="adj1" fmla="val 52778"/>
                <a:gd name="adj2" fmla="val 88475"/>
                <a:gd name="adj3" fmla="val 16667"/>
              </a:avLst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&gt;2/3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  <p:sp>
          <p:nvSpPr>
            <p:cNvPr id="104" name="圆角矩形标注 78"/>
            <p:cNvSpPr/>
            <p:nvPr/>
          </p:nvSpPr>
          <p:spPr>
            <a:xfrm>
              <a:off x="126354" y="3183082"/>
              <a:ext cx="750499" cy="288000"/>
            </a:xfrm>
            <a:prstGeom prst="wedgeRoundRectCallout">
              <a:avLst>
                <a:gd name="adj1" fmla="val 48180"/>
                <a:gd name="adj2" fmla="val -76266"/>
                <a:gd name="adj3" fmla="val 16667"/>
              </a:avLst>
            </a:prstGeom>
            <a:solidFill>
              <a:srgbClr val="66FF66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&gt;1/3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</p:grpSp>
      <p:grpSp>
        <p:nvGrpSpPr>
          <p:cNvPr id="109" name="组合 86"/>
          <p:cNvGrpSpPr/>
          <p:nvPr/>
        </p:nvGrpSpPr>
        <p:grpSpPr>
          <a:xfrm>
            <a:off x="270655" y="2102577"/>
            <a:ext cx="770460" cy="1431785"/>
            <a:chOff x="106393" y="2182475"/>
            <a:chExt cx="770460" cy="1288607"/>
          </a:xfrm>
        </p:grpSpPr>
        <p:sp>
          <p:nvSpPr>
            <p:cNvPr id="115" name="圆角矩形标注 77"/>
            <p:cNvSpPr/>
            <p:nvPr/>
          </p:nvSpPr>
          <p:spPr>
            <a:xfrm>
              <a:off x="106393" y="2182475"/>
              <a:ext cx="750499" cy="288000"/>
            </a:xfrm>
            <a:prstGeom prst="wedgeRoundRectCallout">
              <a:avLst>
                <a:gd name="adj1" fmla="val 52778"/>
                <a:gd name="adj2" fmla="val 88475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&lt;2/3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  <p:sp>
          <p:nvSpPr>
            <p:cNvPr id="116" name="圆角矩形标注 78"/>
            <p:cNvSpPr/>
            <p:nvPr/>
          </p:nvSpPr>
          <p:spPr>
            <a:xfrm>
              <a:off x="126354" y="3183082"/>
              <a:ext cx="750499" cy="288000"/>
            </a:xfrm>
            <a:prstGeom prst="wedgeRoundRectCallout">
              <a:avLst>
                <a:gd name="adj1" fmla="val 48180"/>
                <a:gd name="adj2" fmla="val -76266"/>
                <a:gd name="adj3" fmla="val 16667"/>
              </a:avLst>
            </a:prstGeom>
            <a:solidFill>
              <a:srgbClr val="66FF66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&gt;1/3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</p:grpSp>
      <p:grpSp>
        <p:nvGrpSpPr>
          <p:cNvPr id="119" name="组合 86"/>
          <p:cNvGrpSpPr/>
          <p:nvPr/>
        </p:nvGrpSpPr>
        <p:grpSpPr>
          <a:xfrm>
            <a:off x="262472" y="2102577"/>
            <a:ext cx="770460" cy="1431785"/>
            <a:chOff x="106393" y="2182475"/>
            <a:chExt cx="770460" cy="1288607"/>
          </a:xfrm>
        </p:grpSpPr>
        <p:sp>
          <p:nvSpPr>
            <p:cNvPr id="122" name="圆角矩形标注 77"/>
            <p:cNvSpPr/>
            <p:nvPr/>
          </p:nvSpPr>
          <p:spPr>
            <a:xfrm>
              <a:off x="106393" y="2182475"/>
              <a:ext cx="750499" cy="288000"/>
            </a:xfrm>
            <a:prstGeom prst="wedgeRoundRectCallout">
              <a:avLst>
                <a:gd name="adj1" fmla="val 52778"/>
                <a:gd name="adj2" fmla="val 88475"/>
                <a:gd name="adj3" fmla="val 16667"/>
              </a:avLst>
            </a:prstGeom>
            <a:solidFill>
              <a:srgbClr val="66FF66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&gt;2/3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  <p:sp>
          <p:nvSpPr>
            <p:cNvPr id="124" name="圆角矩形标注 78"/>
            <p:cNvSpPr/>
            <p:nvPr/>
          </p:nvSpPr>
          <p:spPr>
            <a:xfrm>
              <a:off x="126354" y="3183082"/>
              <a:ext cx="750499" cy="288000"/>
            </a:xfrm>
            <a:prstGeom prst="wedgeRoundRectCallout">
              <a:avLst>
                <a:gd name="adj1" fmla="val 48180"/>
                <a:gd name="adj2" fmla="val -76266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</a:rPr>
                <a:t>&lt;1/3</a:t>
              </a:r>
              <a:r>
                <a:rPr lang="en-US" altLang="zh-CN" sz="1400" b="1" i="1" dirty="0">
                  <a:solidFill>
                    <a:srgbClr val="6600FF"/>
                  </a:solidFill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</a:rPr>
                <a:t>CC</a:t>
              </a:r>
              <a:endParaRPr lang="zh-CN" altLang="en-US" sz="1400" b="1" baseline="-25000" dirty="0">
                <a:solidFill>
                  <a:srgbClr val="6600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45863E-6 L 1.94444E-6 -0.05969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500"/>
                            </p:stCondLst>
                            <p:childTnLst>
                              <p:par>
                                <p:cTn id="9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0.05973 L -0.00018 0.00111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111 L -1.66667E-6 0.05944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000"/>
                            </p:stCondLst>
                            <p:childTnLst>
                              <p:par>
                                <p:cTn id="14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6000"/>
                            </p:stCondLst>
                            <p:childTnLst>
                              <p:par>
                                <p:cTn id="1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4" grpId="0"/>
      <p:bldP spid="155" grpId="0" animBg="1"/>
      <p:bldP spid="156" grpId="0" animBg="1"/>
      <p:bldP spid="50" grpId="0" animBg="1"/>
      <p:bldP spid="50" grpId="1" animBg="1"/>
      <p:bldP spid="51" grpId="0" animBg="1"/>
      <p:bldP spid="51" grpId="1" animBg="1"/>
      <p:bldP spid="64" grpId="0" animBg="1"/>
      <p:bldP spid="68" grpId="0" animBg="1"/>
      <p:bldP spid="68" grpId="1" animBg="1"/>
      <p:bldP spid="82" grpId="0" animBg="1"/>
      <p:bldP spid="85" grpId="0" animBg="1"/>
      <p:bldP spid="85" grpId="1" animBg="1"/>
      <p:bldP spid="85" grpId="2" animBg="1"/>
      <p:bldP spid="85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96291" y="1715693"/>
            <a:ext cx="2988243" cy="3073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组合 107"/>
          <p:cNvGrpSpPr/>
          <p:nvPr/>
        </p:nvGrpSpPr>
        <p:grpSpPr>
          <a:xfrm>
            <a:off x="5356998" y="2137432"/>
            <a:ext cx="2104842" cy="1012807"/>
            <a:chOff x="5158600" y="1535519"/>
            <a:chExt cx="1880558" cy="911526"/>
          </a:xfrm>
        </p:grpSpPr>
        <p:cxnSp>
          <p:nvCxnSpPr>
            <p:cNvPr id="102" name="直接连接符 101"/>
            <p:cNvCxnSpPr/>
            <p:nvPr/>
          </p:nvCxnSpPr>
          <p:spPr>
            <a:xfrm flipV="1">
              <a:off x="5158600" y="1535519"/>
              <a:ext cx="457200" cy="526211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604299" y="1541270"/>
              <a:ext cx="779251" cy="900022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V="1">
              <a:off x="6372049" y="1647662"/>
              <a:ext cx="667109" cy="799383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直接连接符 109"/>
          <p:cNvCxnSpPr/>
          <p:nvPr/>
        </p:nvCxnSpPr>
        <p:spPr>
          <a:xfrm flipV="1">
            <a:off x="5348367" y="2367447"/>
            <a:ext cx="2467155" cy="0"/>
          </a:xfrm>
          <a:prstGeom prst="line">
            <a:avLst/>
          </a:prstGeom>
          <a:ln w="19050">
            <a:solidFill>
              <a:srgbClr val="CC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5328240" y="2872253"/>
            <a:ext cx="2467155" cy="0"/>
          </a:xfrm>
          <a:prstGeom prst="line">
            <a:avLst/>
          </a:prstGeom>
          <a:ln w="19050">
            <a:solidFill>
              <a:srgbClr val="CC00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675497" y="266458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663998" y="214380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>
            <a:off x="5658918" y="2386622"/>
            <a:ext cx="0" cy="209909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flipV="1">
            <a:off x="5359874" y="3910621"/>
            <a:ext cx="288000" cy="0"/>
          </a:xfrm>
          <a:prstGeom prst="line">
            <a:avLst/>
          </a:prstGeom>
          <a:ln w="3810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V="1">
            <a:off x="5348373" y="4405841"/>
            <a:ext cx="288000" cy="0"/>
          </a:xfrm>
          <a:prstGeom prst="line">
            <a:avLst/>
          </a:prstGeom>
          <a:ln w="3810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V="1">
            <a:off x="5656048" y="4405840"/>
            <a:ext cx="396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H="1">
            <a:off x="6469801" y="2878649"/>
            <a:ext cx="2876" cy="152080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6032735" y="4405840"/>
            <a:ext cx="468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 flipV="1">
            <a:off x="6461142" y="3904230"/>
            <a:ext cx="504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6475519" y="3920204"/>
            <a:ext cx="0" cy="48000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flipV="1">
            <a:off x="6941346" y="3904230"/>
            <a:ext cx="468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7398579" y="2393017"/>
            <a:ext cx="0" cy="209909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>
            <a:off x="7404296" y="3907424"/>
            <a:ext cx="0" cy="48000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 flipV="1">
            <a:off x="7395708" y="4386670"/>
            <a:ext cx="288000" cy="0"/>
          </a:xfrm>
          <a:prstGeom prst="line">
            <a:avLst/>
          </a:prstGeom>
          <a:ln w="381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937159" y="3683789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937159" y="4121500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组合 41"/>
          <p:cNvGrpSpPr/>
          <p:nvPr/>
        </p:nvGrpSpPr>
        <p:grpSpPr>
          <a:xfrm>
            <a:off x="320041" y="653999"/>
            <a:ext cx="3333756" cy="456728"/>
            <a:chOff x="670560" y="892917"/>
            <a:chExt cx="3333756" cy="411055"/>
          </a:xfrm>
        </p:grpSpPr>
        <p:sp>
          <p:nvSpPr>
            <p:cNvPr id="46" name="矩形 45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构成的施密特触发器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0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5" name="Rectangle 27"/>
          <p:cNvSpPr>
            <a:spLocks noChangeArrowheads="1"/>
          </p:cNvSpPr>
          <p:nvPr/>
        </p:nvSpPr>
        <p:spPr bwMode="auto">
          <a:xfrm>
            <a:off x="471964" y="1110727"/>
            <a:ext cx="2377916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、电压传输特性曲线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801249" y="111289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88453" y="1601562"/>
            <a:ext cx="2483623" cy="2927974"/>
            <a:chOff x="788453" y="1601562"/>
            <a:chExt cx="2483623" cy="2927974"/>
          </a:xfrm>
        </p:grpSpPr>
        <p:sp>
          <p:nvSpPr>
            <p:cNvPr id="74" name="Rectangle 13"/>
            <p:cNvSpPr>
              <a:spLocks noChangeArrowheads="1"/>
            </p:cNvSpPr>
            <p:nvPr/>
          </p:nvSpPr>
          <p:spPr bwMode="auto">
            <a:xfrm>
              <a:off x="788453" y="4160204"/>
              <a:ext cx="2276137" cy="3693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</a:ln>
          </p:spPr>
          <p:txBody>
            <a:bodyPr wrap="square" lIns="0" rIns="0"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反相施密特触发器</a:t>
              </a:r>
              <a:endParaRPr lang="en-US" altLang="zh-CN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453" y="1601562"/>
              <a:ext cx="2483623" cy="2541381"/>
            </a:xfrm>
            <a:prstGeom prst="rect">
              <a:avLst/>
            </a:prstGeom>
          </p:spPr>
        </p:pic>
      </p:grpSp>
      <p:sp>
        <p:nvSpPr>
          <p:cNvPr id="11" name="箭头: 右 10"/>
          <p:cNvSpPr/>
          <p:nvPr/>
        </p:nvSpPr>
        <p:spPr>
          <a:xfrm rot="10800000">
            <a:off x="3354759" y="3252323"/>
            <a:ext cx="1175709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3024953" y="2137432"/>
            <a:ext cx="1462369" cy="773034"/>
            <a:chOff x="3024953" y="2137432"/>
            <a:chExt cx="1462369" cy="773034"/>
          </a:xfrm>
        </p:grpSpPr>
        <p:sp>
          <p:nvSpPr>
            <p:cNvPr id="15" name="矩形: 圆角 14"/>
            <p:cNvSpPr/>
            <p:nvPr/>
          </p:nvSpPr>
          <p:spPr>
            <a:xfrm>
              <a:off x="3024953" y="2137432"/>
              <a:ext cx="1412246" cy="773034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035437" y="2155063"/>
              <a:ext cx="1451885" cy="723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回差电压</a:t>
              </a:r>
              <a:endPara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l-GR" altLang="zh-CN" sz="180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Δ</a:t>
              </a:r>
              <a:r>
                <a:rPr lang="en-US" altLang="zh-CN" sz="180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800" kern="100" baseline="-25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1/3</a:t>
              </a:r>
              <a:r>
                <a:rPr lang="en-US" altLang="zh-CN" sz="1800" i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800" kern="100" baseline="-25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zh-CN" altLang="en-US" dirty="0"/>
            </a:p>
          </p:txBody>
        </p:sp>
      </p:grpSp>
      <p:grpSp>
        <p:nvGrpSpPr>
          <p:cNvPr id="60" name="组合 41"/>
          <p:cNvGrpSpPr/>
          <p:nvPr/>
        </p:nvGrpSpPr>
        <p:grpSpPr>
          <a:xfrm>
            <a:off x="1784633" y="4698927"/>
            <a:ext cx="5116495" cy="491893"/>
            <a:chOff x="4124461" y="4082388"/>
            <a:chExt cx="5116495" cy="442704"/>
          </a:xfrm>
          <a:solidFill>
            <a:srgbClr val="FFFF00"/>
          </a:solidFill>
        </p:grpSpPr>
        <p:sp>
          <p:nvSpPr>
            <p:cNvPr id="61" name="矩形 60"/>
            <p:cNvSpPr/>
            <p:nvPr/>
          </p:nvSpPr>
          <p:spPr>
            <a:xfrm>
              <a:off x="4729805" y="4150691"/>
              <a:ext cx="4511151" cy="360099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如何改变电路的阈值电压和回差电压</a:t>
              </a:r>
              <a:r>
                <a:rPr lang="en-US" altLang="zh-CN" sz="2000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en-US" altLang="zh-CN" sz="20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2" name="Picture 6" descr="http://img2.imgtn.bdimg.com/it/u=2409490321,577685329&amp;fm=200&amp;gp=0.jpg"/>
            <p:cNvPicPr>
              <a:picLocks noChangeAspect="1" noChangeArrowheads="1"/>
            </p:cNvPicPr>
            <p:nvPr/>
          </p:nvPicPr>
          <p:blipFill>
            <a:blip r:embed="rId4" cstate="print"/>
            <a:srcRect l="11058" t="9628" r="11439" b="12583"/>
            <a:stretch>
              <a:fillRect/>
            </a:stretch>
          </p:blipFill>
          <p:spPr bwMode="auto">
            <a:xfrm>
              <a:off x="4124461" y="4082388"/>
              <a:ext cx="489198" cy="442704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/>
        </p:nvCxnSpPr>
        <p:spPr>
          <a:xfrm flipV="1">
            <a:off x="6728041" y="2262035"/>
            <a:ext cx="733799" cy="8818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7395708" y="2386622"/>
            <a:ext cx="0" cy="209909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6691801" y="3888989"/>
            <a:ext cx="1103594" cy="504000"/>
            <a:chOff x="6691801" y="3888989"/>
            <a:chExt cx="1103594" cy="504000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6691801" y="3904230"/>
              <a:ext cx="71249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7404296" y="3888989"/>
              <a:ext cx="0" cy="504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7389056" y="4386670"/>
              <a:ext cx="406339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连接符 52"/>
          <p:cNvCxnSpPr/>
          <p:nvPr/>
        </p:nvCxnSpPr>
        <p:spPr>
          <a:xfrm>
            <a:off x="5837390" y="2137430"/>
            <a:ext cx="872063" cy="97905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6473070" y="2857500"/>
            <a:ext cx="0" cy="1571777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flipV="1">
            <a:off x="5772344" y="3897009"/>
            <a:ext cx="1103594" cy="504000"/>
            <a:chOff x="6691801" y="3888989"/>
            <a:chExt cx="1103594" cy="504000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6691801" y="3904230"/>
              <a:ext cx="71249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7404296" y="3888989"/>
              <a:ext cx="0" cy="504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7389056" y="4386670"/>
              <a:ext cx="406339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/>
          <p:cNvCxnSpPr/>
          <p:nvPr/>
        </p:nvCxnSpPr>
        <p:spPr>
          <a:xfrm>
            <a:off x="6041397" y="2365141"/>
            <a:ext cx="408866" cy="4590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970033" y="2415533"/>
            <a:ext cx="365286" cy="449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899005" y="4385768"/>
            <a:ext cx="5858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026526" y="2369820"/>
            <a:ext cx="0" cy="201594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6979488" y="2818471"/>
            <a:ext cx="0" cy="109215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6817494" y="3896609"/>
            <a:ext cx="5858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/>
        </p:nvGrpSpPr>
        <p:grpSpPr>
          <a:xfrm>
            <a:off x="262894" y="710037"/>
            <a:ext cx="3627105" cy="420971"/>
            <a:chOff x="670560" y="892917"/>
            <a:chExt cx="3627105" cy="420971"/>
          </a:xfrm>
        </p:grpSpPr>
        <p:sp>
          <p:nvSpPr>
            <p:cNvPr id="3" name="矩形 2"/>
            <p:cNvSpPr/>
            <p:nvPr/>
          </p:nvSpPr>
          <p:spPr>
            <a:xfrm>
              <a:off x="1035233" y="913778"/>
              <a:ext cx="32624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门电路组成的施密特触发器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934" y="1229210"/>
            <a:ext cx="3642300" cy="1602285"/>
          </a:xfrm>
          <a:prstGeom prst="rect">
            <a:avLst/>
          </a:prstGeom>
          <a:solidFill>
            <a:srgbClr val="FFFFFF">
              <a:shade val="85000"/>
            </a:srgbClr>
          </a:solidFill>
          <a:ln w="9525" cap="sq">
            <a:solidFill>
              <a:schemeClr val="accent1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1" name="组合 20"/>
          <p:cNvGrpSpPr/>
          <p:nvPr/>
        </p:nvGrpSpPr>
        <p:grpSpPr>
          <a:xfrm>
            <a:off x="656934" y="2883593"/>
            <a:ext cx="3642300" cy="1141798"/>
            <a:chOff x="626198" y="2929697"/>
            <a:chExt cx="3642300" cy="1141798"/>
          </a:xfrm>
        </p:grpSpPr>
        <p:grpSp>
          <p:nvGrpSpPr>
            <p:cNvPr id="2" name="组合 17"/>
            <p:cNvGrpSpPr/>
            <p:nvPr/>
          </p:nvGrpSpPr>
          <p:grpSpPr>
            <a:xfrm>
              <a:off x="626198" y="2929697"/>
              <a:ext cx="3642300" cy="1141798"/>
              <a:chOff x="5222338" y="1356432"/>
              <a:chExt cx="3642300" cy="1141798"/>
            </a:xfrm>
          </p:grpSpPr>
          <p:sp>
            <p:nvSpPr>
              <p:cNvPr id="16" name="圆角矩形 15"/>
              <p:cNvSpPr/>
              <p:nvPr/>
            </p:nvSpPr>
            <p:spPr>
              <a:xfrm>
                <a:off x="5222338" y="1516777"/>
                <a:ext cx="3642300" cy="981453"/>
              </a:xfrm>
              <a:prstGeom prst="roundRect">
                <a:avLst>
                  <a:gd name="adj" fmla="val 5212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5430051" y="1356432"/>
                <a:ext cx="1097991" cy="3206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66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假设条件</a:t>
                </a:r>
                <a:endParaRPr lang="zh-CN" altLang="en-US" b="1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743586" y="3233261"/>
              <a:ext cx="19571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①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TH 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≈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DD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/2</a:t>
              </a:r>
              <a:endParaRPr lang="zh-CN" altLang="en-US" sz="1600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903573" y="3218189"/>
              <a:ext cx="13649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②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I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IH 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IL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≈ 0</a:t>
              </a:r>
              <a:endParaRPr lang="zh-CN" altLang="en-US" sz="1600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924855" y="3571815"/>
              <a:ext cx="107112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④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&lt;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sz="1600" b="1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43586" y="3596193"/>
              <a:ext cx="214193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③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OH 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≈ 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DD </a:t>
              </a:r>
              <a:r>
                <a:rPr lang="zh-CN" altLang="en-US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OL</a:t>
              </a:r>
              <a:r>
                <a:rPr lang="en-US" altLang="zh-CN" sz="1600" b="1" dirty="0">
                  <a:solidFill>
                    <a:srgbClr val="CC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≈ 0</a:t>
              </a:r>
              <a:endParaRPr lang="zh-CN" altLang="en-US" sz="1600" b="1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526278" y="1229210"/>
            <a:ext cx="4141312" cy="4157299"/>
            <a:chOff x="4526278" y="1229210"/>
            <a:chExt cx="4141312" cy="4275818"/>
          </a:xfrm>
        </p:grpSpPr>
        <p:sp>
          <p:nvSpPr>
            <p:cNvPr id="18" name="圆角矩形 15"/>
            <p:cNvSpPr/>
            <p:nvPr/>
          </p:nvSpPr>
          <p:spPr>
            <a:xfrm>
              <a:off x="4526278" y="1229210"/>
              <a:ext cx="4141312" cy="4275818"/>
            </a:xfrm>
            <a:prstGeom prst="roundRect">
              <a:avLst>
                <a:gd name="adj" fmla="val 223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4588989" y="1346785"/>
            <a:ext cx="3955812" cy="4039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Visio" r:id="rId3" imgW="2247900" imgH="2295525" progId="Visio.Drawing.11">
                    <p:embed/>
                  </p:oleObj>
                </mc:Choice>
                <mc:Fallback>
                  <p:oleObj name="Visio" r:id="rId3" imgW="2247900" imgH="2295525" progId="Visio.Drawing.11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8989" y="1346785"/>
                          <a:ext cx="3955812" cy="40397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646794" y="4141083"/>
            <a:ext cx="3642300" cy="1245426"/>
            <a:chOff x="626198" y="4162996"/>
            <a:chExt cx="3642300" cy="1245426"/>
          </a:xfrm>
        </p:grpSpPr>
        <p:sp>
          <p:nvSpPr>
            <p:cNvPr id="25" name="圆角矩形 15"/>
            <p:cNvSpPr/>
            <p:nvPr/>
          </p:nvSpPr>
          <p:spPr>
            <a:xfrm>
              <a:off x="626198" y="4162996"/>
              <a:ext cx="3642300" cy="1245426"/>
            </a:xfrm>
            <a:prstGeom prst="roundRect">
              <a:avLst>
                <a:gd name="adj" fmla="val 521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708697" y="4232652"/>
            <a:ext cx="1476541" cy="607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公式" r:id="rId5" imgW="24384000" imgH="10058400" progId="Equation.3">
                    <p:embed/>
                  </p:oleObj>
                </mc:Choice>
                <mc:Fallback>
                  <p:oleObj name="公式" r:id="rId5" imgW="24384000" imgH="10058400" progId="Equation.3">
                    <p:embed/>
                    <p:pic>
                      <p:nvPicPr>
                        <p:cNvPr id="0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97" y="4232652"/>
                          <a:ext cx="1476541" cy="607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/>
          </p:nvGraphicFramePr>
          <p:xfrm>
            <a:off x="2526377" y="4231840"/>
            <a:ext cx="1476539" cy="60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公式" r:id="rId7" imgW="24384000" imgH="10058400" progId="Equation.3">
                    <p:embed/>
                  </p:oleObj>
                </mc:Choice>
                <mc:Fallback>
                  <p:oleObj name="公式" r:id="rId7" imgW="24384000" imgH="10058400" progId="Equation.3">
                    <p:embed/>
                    <p:pic>
                      <p:nvPicPr>
                        <p:cNvPr id="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6377" y="4231840"/>
                          <a:ext cx="1476539" cy="607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689222" y="4801368"/>
            <a:ext cx="1758126" cy="5209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公式" r:id="rId9" imgW="30784800" imgH="9144000" progId="Equation.3">
                    <p:embed/>
                  </p:oleObj>
                </mc:Choice>
                <mc:Fallback>
                  <p:oleObj name="公式" r:id="rId9" imgW="30784800" imgH="9144000" progId="Equation.3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222" y="4801368"/>
                          <a:ext cx="1758126" cy="5209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圆角矩形标注 154"/>
          <p:cNvSpPr/>
          <p:nvPr/>
        </p:nvSpPr>
        <p:spPr>
          <a:xfrm>
            <a:off x="7601274" y="3533917"/>
            <a:ext cx="1536807" cy="320000"/>
          </a:xfrm>
          <a:prstGeom prst="wedgeRoundRectCallout">
            <a:avLst>
              <a:gd name="adj1" fmla="val -31135"/>
              <a:gd name="adj2" fmla="val 11236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反相施密特触发器</a:t>
            </a:r>
            <a:endParaRPr lang="zh-CN" altLang="en-US" sz="1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2894" y="710037"/>
            <a:ext cx="3370624" cy="420971"/>
            <a:chOff x="670560" y="892917"/>
            <a:chExt cx="3370624" cy="420971"/>
          </a:xfrm>
        </p:grpSpPr>
        <p:sp>
          <p:nvSpPr>
            <p:cNvPr id="3" name="矩形 2"/>
            <p:cNvSpPr/>
            <p:nvPr/>
          </p:nvSpPr>
          <p:spPr>
            <a:xfrm>
              <a:off x="1035233" y="913778"/>
              <a:ext cx="300595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施密特触发器的典型应用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9" name="组合 18"/>
          <p:cNvGrpSpPr/>
          <p:nvPr/>
        </p:nvGrpSpPr>
        <p:grpSpPr>
          <a:xfrm>
            <a:off x="681529" y="1257658"/>
            <a:ext cx="8278904" cy="435825"/>
            <a:chOff x="681529" y="1257658"/>
            <a:chExt cx="8278904" cy="435825"/>
          </a:xfrm>
        </p:grpSpPr>
        <p:grpSp>
          <p:nvGrpSpPr>
            <p:cNvPr id="5" name="组合 25"/>
            <p:cNvGrpSpPr/>
            <p:nvPr/>
          </p:nvGrpSpPr>
          <p:grpSpPr>
            <a:xfrm>
              <a:off x="681529" y="1270947"/>
              <a:ext cx="1838282" cy="400110"/>
              <a:chOff x="738189" y="1426964"/>
              <a:chExt cx="1838282" cy="360099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101387" y="1426964"/>
                <a:ext cx="1475084" cy="360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002060"/>
                    </a:solidFill>
                    <a:latin typeface="楷体_GB2312" pitchFamily="49" charset="-122"/>
                    <a:ea typeface="楷体_GB2312" pitchFamily="49" charset="-122"/>
                  </a:rPr>
                  <a:t>波形变换：</a:t>
                </a:r>
                <a:endParaRPr lang="zh-CN" altLang="en-US" sz="20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pic>
            <p:nvPicPr>
              <p:cNvPr id="28" name="Picture 5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738189" y="1455420"/>
                <a:ext cx="359092" cy="297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" name="矩形 16"/>
            <p:cNvSpPr/>
            <p:nvPr/>
          </p:nvSpPr>
          <p:spPr>
            <a:xfrm>
              <a:off x="2312459" y="1257658"/>
              <a:ext cx="6647974" cy="435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4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zh-CN" altLang="en-US" b="1" dirty="0">
                  <a:solidFill>
                    <a:schemeClr val="tx1">
                      <a:lumMod val="1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将正弦波、三角波及其他周期性波形变换为周期性矩形波信号。</a:t>
              </a:r>
              <a:endParaRPr lang="zh-CN" altLang="en-US" b="1" dirty="0">
                <a:solidFill>
                  <a:schemeClr val="tx1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9" name="组合 49"/>
          <p:cNvGrpSpPr/>
          <p:nvPr/>
        </p:nvGrpSpPr>
        <p:grpSpPr>
          <a:xfrm>
            <a:off x="861075" y="4105499"/>
            <a:ext cx="7080630" cy="677108"/>
            <a:chOff x="4147603" y="4365198"/>
            <a:chExt cx="6503921" cy="677108"/>
          </a:xfrm>
          <a:solidFill>
            <a:srgbClr val="FFFF00"/>
          </a:solidFill>
        </p:grpSpPr>
        <p:sp>
          <p:nvSpPr>
            <p:cNvPr id="51" name="矩形 50"/>
            <p:cNvSpPr/>
            <p:nvPr/>
          </p:nvSpPr>
          <p:spPr>
            <a:xfrm>
              <a:off x="4726095" y="4365198"/>
              <a:ext cx="5925429" cy="67710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357505" indent="-357505">
                <a:spcBef>
                  <a:spcPts val="1200"/>
                </a:spcBef>
                <a:buAutoNum type="arabicParenBoth"/>
                <a:defRPr/>
              </a:pPr>
              <a:r>
                <a:rPr lang="zh-CN" altLang="en-US" sz="1400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输出波形周期与输入正弦波的周期之间的关系是什么？是否可变？</a:t>
              </a:r>
              <a:endParaRPr lang="en-US" altLang="zh-CN" sz="14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57505" indent="-357505">
                <a:spcBef>
                  <a:spcPts val="1200"/>
                </a:spcBef>
                <a:buAutoNum type="arabicParenBoth"/>
                <a:defRPr/>
              </a:pPr>
              <a:r>
                <a:rPr lang="zh-CN" altLang="en-US" sz="1400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输出矩形波的占空比与什么有关？占空比是否可变？如可变，如何改变</a:t>
              </a:r>
              <a:r>
                <a:rPr lang="en-US" altLang="zh-CN" sz="1400" dirty="0">
                  <a:solidFill>
                    <a:schemeClr val="tx1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en-US" altLang="zh-CN" sz="14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2" name="Picture 6" descr="http://img2.imgtn.bdimg.com/it/u=2409490321,577685329&amp;fm=200&amp;gp=0.jpg"/>
            <p:cNvPicPr>
              <a:picLocks noChangeArrowheads="1"/>
            </p:cNvPicPr>
            <p:nvPr/>
          </p:nvPicPr>
          <p:blipFill>
            <a:blip r:embed="rId3" cstate="print"/>
            <a:srcRect l="11058" t="9628" r="11439" b="12583"/>
            <a:stretch>
              <a:fillRect/>
            </a:stretch>
          </p:blipFill>
          <p:spPr bwMode="auto">
            <a:xfrm>
              <a:off x="4147603" y="4438697"/>
              <a:ext cx="529085" cy="576000"/>
            </a:xfrm>
            <a:prstGeom prst="rect">
              <a:avLst/>
            </a:prstGeom>
            <a:grpFill/>
          </p:spPr>
        </p:pic>
      </p:grpSp>
      <p:sp>
        <p:nvSpPr>
          <p:cNvPr id="20" name="矩形: 圆角 19"/>
          <p:cNvSpPr/>
          <p:nvPr/>
        </p:nvSpPr>
        <p:spPr>
          <a:xfrm>
            <a:off x="4627083" y="2128507"/>
            <a:ext cx="208215" cy="1429034"/>
          </a:xfrm>
          <a:prstGeom prst="roundRect">
            <a:avLst>
              <a:gd name="adj" fmla="val 0"/>
            </a:avLst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/>
          <p:cNvSpPr/>
          <p:nvPr/>
        </p:nvSpPr>
        <p:spPr>
          <a:xfrm>
            <a:off x="4835298" y="2128507"/>
            <a:ext cx="541539" cy="1429034"/>
          </a:xfrm>
          <a:prstGeom prst="roundRect">
            <a:avLst>
              <a:gd name="adj" fmla="val 0"/>
            </a:avLst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/>
          <p:cNvSpPr/>
          <p:nvPr/>
        </p:nvSpPr>
        <p:spPr>
          <a:xfrm>
            <a:off x="5376837" y="2128507"/>
            <a:ext cx="541539" cy="1429034"/>
          </a:xfrm>
          <a:prstGeom prst="roundRect">
            <a:avLst>
              <a:gd name="adj" fmla="val 0"/>
            </a:avLst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5918376" y="2128507"/>
            <a:ext cx="563315" cy="1429034"/>
          </a:xfrm>
          <a:prstGeom prst="roundRect">
            <a:avLst>
              <a:gd name="adj" fmla="val 0"/>
            </a:avLst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/>
          <p:cNvSpPr/>
          <p:nvPr/>
        </p:nvSpPr>
        <p:spPr>
          <a:xfrm>
            <a:off x="6481692" y="2128507"/>
            <a:ext cx="567582" cy="1429034"/>
          </a:xfrm>
          <a:prstGeom prst="roundRect">
            <a:avLst>
              <a:gd name="adj" fmla="val 0"/>
            </a:avLst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062454" y="1810996"/>
            <a:ext cx="6825823" cy="1984178"/>
            <a:chOff x="1062454" y="1810996"/>
            <a:chExt cx="6825823" cy="1984178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2474779" y="1810996"/>
            <a:ext cx="5413498" cy="1984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Visio" r:id="rId4" imgW="2924175" imgH="1038225" progId="Visio.Drawing.11">
                    <p:embed/>
                  </p:oleObj>
                </mc:Choice>
                <mc:Fallback>
                  <p:oleObj name="Visio" r:id="rId4" imgW="2924175" imgH="1038225" progId="Visio.Drawing.11">
                    <p:embed/>
                    <p:pic>
                      <p:nvPicPr>
                        <p:cNvPr id="0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4779" y="1810996"/>
                          <a:ext cx="5413498" cy="1984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062454" y="2005664"/>
              <a:ext cx="2860358" cy="1616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3" grpId="0" animBg="1"/>
      <p:bldP spid="67" grpId="0" animBg="1"/>
      <p:bldP spid="69" grpId="0" animBg="1"/>
      <p:bldP spid="7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7"/>
          <p:cNvGrpSpPr/>
          <p:nvPr/>
        </p:nvGrpSpPr>
        <p:grpSpPr>
          <a:xfrm>
            <a:off x="262894" y="710037"/>
            <a:ext cx="3370624" cy="420971"/>
            <a:chOff x="670560" y="892917"/>
            <a:chExt cx="3370624" cy="420971"/>
          </a:xfrm>
        </p:grpSpPr>
        <p:sp>
          <p:nvSpPr>
            <p:cNvPr id="52" name="矩形 51"/>
            <p:cNvSpPr/>
            <p:nvPr/>
          </p:nvSpPr>
          <p:spPr>
            <a:xfrm>
              <a:off x="1035233" y="913778"/>
              <a:ext cx="300595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施密特触发器的典型应用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3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5"/>
          <p:cNvGrpSpPr/>
          <p:nvPr/>
        </p:nvGrpSpPr>
        <p:grpSpPr>
          <a:xfrm>
            <a:off x="681529" y="1270947"/>
            <a:ext cx="1580198" cy="400110"/>
            <a:chOff x="738189" y="1426964"/>
            <a:chExt cx="1580198" cy="360099"/>
          </a:xfrm>
        </p:grpSpPr>
        <p:sp>
          <p:nvSpPr>
            <p:cNvPr id="55" name="矩形 54"/>
            <p:cNvSpPr/>
            <p:nvPr/>
          </p:nvSpPr>
          <p:spPr>
            <a:xfrm>
              <a:off x="1101387" y="1426964"/>
              <a:ext cx="121700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波形整形</a:t>
              </a:r>
              <a:endPara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5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0926" y="2319338"/>
            <a:ext cx="27527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6977" y="2319336"/>
            <a:ext cx="27527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7"/>
          <p:cNvGrpSpPr/>
          <p:nvPr/>
        </p:nvGrpSpPr>
        <p:grpSpPr>
          <a:xfrm>
            <a:off x="3871955" y="2595561"/>
            <a:ext cx="2171701" cy="738187"/>
            <a:chOff x="3171825" y="2108200"/>
            <a:chExt cx="2171701" cy="749300"/>
          </a:xfrm>
        </p:grpSpPr>
        <p:grpSp>
          <p:nvGrpSpPr>
            <p:cNvPr id="5" name="组合 83"/>
            <p:cNvGrpSpPr/>
            <p:nvPr/>
          </p:nvGrpSpPr>
          <p:grpSpPr>
            <a:xfrm>
              <a:off x="3171825" y="2108200"/>
              <a:ext cx="1081088" cy="749300"/>
              <a:chOff x="3171825" y="2108200"/>
              <a:chExt cx="1081088" cy="749300"/>
            </a:xfrm>
          </p:grpSpPr>
          <p:sp>
            <p:nvSpPr>
              <p:cNvPr id="79" name="任意多边形 78"/>
              <p:cNvSpPr/>
              <p:nvPr/>
            </p:nvSpPr>
            <p:spPr>
              <a:xfrm>
                <a:off x="3171825" y="2108200"/>
                <a:ext cx="561975" cy="749061"/>
              </a:xfrm>
              <a:custGeom>
                <a:avLst/>
                <a:gdLst>
                  <a:gd name="connsiteX0" fmla="*/ 0 w 500063"/>
                  <a:gd name="connsiteY0" fmla="*/ 739775 h 739775"/>
                  <a:gd name="connsiteX1" fmla="*/ 71438 w 500063"/>
                  <a:gd name="connsiteY1" fmla="*/ 277813 h 739775"/>
                  <a:gd name="connsiteX2" fmla="*/ 200025 w 500063"/>
                  <a:gd name="connsiteY2" fmla="*/ 96838 h 739775"/>
                  <a:gd name="connsiteX3" fmla="*/ 361950 w 500063"/>
                  <a:gd name="connsiteY3" fmla="*/ 15875 h 739775"/>
                  <a:gd name="connsiteX4" fmla="*/ 500063 w 500063"/>
                  <a:gd name="connsiteY4" fmla="*/ 1588 h 739775"/>
                  <a:gd name="connsiteX5" fmla="*/ 500063 w 500063"/>
                  <a:gd name="connsiteY5" fmla="*/ 1588 h 739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0063" h="739775">
                    <a:moveTo>
                      <a:pt x="0" y="739775"/>
                    </a:moveTo>
                    <a:cubicBezTo>
                      <a:pt x="19050" y="562372"/>
                      <a:pt x="38101" y="384969"/>
                      <a:pt x="71438" y="277813"/>
                    </a:cubicBezTo>
                    <a:cubicBezTo>
                      <a:pt x="104775" y="170657"/>
                      <a:pt x="151606" y="140494"/>
                      <a:pt x="200025" y="96838"/>
                    </a:cubicBezTo>
                    <a:cubicBezTo>
                      <a:pt x="248444" y="53182"/>
                      <a:pt x="311944" y="31750"/>
                      <a:pt x="361950" y="15875"/>
                    </a:cubicBezTo>
                    <a:cubicBezTo>
                      <a:pt x="411956" y="0"/>
                      <a:pt x="500063" y="1588"/>
                      <a:pt x="500063" y="1588"/>
                    </a:cubicBezTo>
                    <a:lnTo>
                      <a:pt x="500063" y="1588"/>
                    </a:lnTo>
                  </a:path>
                </a:pathLst>
              </a:cu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>
                <a:off x="3729038" y="2109808"/>
                <a:ext cx="523875" cy="747692"/>
              </a:xfrm>
              <a:custGeom>
                <a:avLst/>
                <a:gdLst>
                  <a:gd name="connsiteX0" fmla="*/ 0 w 523875"/>
                  <a:gd name="connsiteY0" fmla="*/ 0 h 757237"/>
                  <a:gd name="connsiteX1" fmla="*/ 57150 w 523875"/>
                  <a:gd name="connsiteY1" fmla="*/ 495300 h 757237"/>
                  <a:gd name="connsiteX2" fmla="*/ 223837 w 523875"/>
                  <a:gd name="connsiteY2" fmla="*/ 704850 h 757237"/>
                  <a:gd name="connsiteX3" fmla="*/ 523875 w 523875"/>
                  <a:gd name="connsiteY3" fmla="*/ 757237 h 757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3875" h="757237">
                    <a:moveTo>
                      <a:pt x="0" y="0"/>
                    </a:moveTo>
                    <a:cubicBezTo>
                      <a:pt x="9922" y="188912"/>
                      <a:pt x="19844" y="377825"/>
                      <a:pt x="57150" y="495300"/>
                    </a:cubicBezTo>
                    <a:cubicBezTo>
                      <a:pt x="94456" y="612775"/>
                      <a:pt x="146050" y="661194"/>
                      <a:pt x="223837" y="704850"/>
                    </a:cubicBezTo>
                    <a:cubicBezTo>
                      <a:pt x="301625" y="748506"/>
                      <a:pt x="412750" y="752871"/>
                      <a:pt x="523875" y="757237"/>
                    </a:cubicBezTo>
                  </a:path>
                </a:pathLst>
              </a:cu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84"/>
            <p:cNvGrpSpPr/>
            <p:nvPr/>
          </p:nvGrpSpPr>
          <p:grpSpPr>
            <a:xfrm>
              <a:off x="4262438" y="2108200"/>
              <a:ext cx="1081088" cy="749300"/>
              <a:chOff x="3171825" y="2108200"/>
              <a:chExt cx="1081088" cy="749300"/>
            </a:xfrm>
          </p:grpSpPr>
          <p:sp>
            <p:nvSpPr>
              <p:cNvPr id="86" name="任意多边形 85"/>
              <p:cNvSpPr/>
              <p:nvPr/>
            </p:nvSpPr>
            <p:spPr>
              <a:xfrm>
                <a:off x="3171825" y="2108200"/>
                <a:ext cx="561975" cy="749061"/>
              </a:xfrm>
              <a:custGeom>
                <a:avLst/>
                <a:gdLst>
                  <a:gd name="connsiteX0" fmla="*/ 0 w 500063"/>
                  <a:gd name="connsiteY0" fmla="*/ 739775 h 739775"/>
                  <a:gd name="connsiteX1" fmla="*/ 71438 w 500063"/>
                  <a:gd name="connsiteY1" fmla="*/ 277813 h 739775"/>
                  <a:gd name="connsiteX2" fmla="*/ 200025 w 500063"/>
                  <a:gd name="connsiteY2" fmla="*/ 96838 h 739775"/>
                  <a:gd name="connsiteX3" fmla="*/ 361950 w 500063"/>
                  <a:gd name="connsiteY3" fmla="*/ 15875 h 739775"/>
                  <a:gd name="connsiteX4" fmla="*/ 500063 w 500063"/>
                  <a:gd name="connsiteY4" fmla="*/ 1588 h 739775"/>
                  <a:gd name="connsiteX5" fmla="*/ 500063 w 500063"/>
                  <a:gd name="connsiteY5" fmla="*/ 1588 h 739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0063" h="739775">
                    <a:moveTo>
                      <a:pt x="0" y="739775"/>
                    </a:moveTo>
                    <a:cubicBezTo>
                      <a:pt x="19050" y="562372"/>
                      <a:pt x="38101" y="384969"/>
                      <a:pt x="71438" y="277813"/>
                    </a:cubicBezTo>
                    <a:cubicBezTo>
                      <a:pt x="104775" y="170657"/>
                      <a:pt x="151606" y="140494"/>
                      <a:pt x="200025" y="96838"/>
                    </a:cubicBezTo>
                    <a:cubicBezTo>
                      <a:pt x="248444" y="53182"/>
                      <a:pt x="311944" y="31750"/>
                      <a:pt x="361950" y="15875"/>
                    </a:cubicBezTo>
                    <a:cubicBezTo>
                      <a:pt x="411956" y="0"/>
                      <a:pt x="500063" y="1588"/>
                      <a:pt x="500063" y="1588"/>
                    </a:cubicBezTo>
                    <a:lnTo>
                      <a:pt x="500063" y="1588"/>
                    </a:lnTo>
                  </a:path>
                </a:pathLst>
              </a:cu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>
                <a:off x="3729038" y="2109808"/>
                <a:ext cx="523875" cy="747692"/>
              </a:xfrm>
              <a:custGeom>
                <a:avLst/>
                <a:gdLst>
                  <a:gd name="connsiteX0" fmla="*/ 0 w 523875"/>
                  <a:gd name="connsiteY0" fmla="*/ 0 h 757237"/>
                  <a:gd name="connsiteX1" fmla="*/ 57150 w 523875"/>
                  <a:gd name="connsiteY1" fmla="*/ 495300 h 757237"/>
                  <a:gd name="connsiteX2" fmla="*/ 223837 w 523875"/>
                  <a:gd name="connsiteY2" fmla="*/ 704850 h 757237"/>
                  <a:gd name="connsiteX3" fmla="*/ 523875 w 523875"/>
                  <a:gd name="connsiteY3" fmla="*/ 757237 h 757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3875" h="757237">
                    <a:moveTo>
                      <a:pt x="0" y="0"/>
                    </a:moveTo>
                    <a:cubicBezTo>
                      <a:pt x="9922" y="188912"/>
                      <a:pt x="19844" y="377825"/>
                      <a:pt x="57150" y="495300"/>
                    </a:cubicBezTo>
                    <a:cubicBezTo>
                      <a:pt x="94456" y="612775"/>
                      <a:pt x="146050" y="661194"/>
                      <a:pt x="223837" y="704850"/>
                    </a:cubicBezTo>
                    <a:cubicBezTo>
                      <a:pt x="301625" y="748506"/>
                      <a:pt x="412750" y="752871"/>
                      <a:pt x="523875" y="757237"/>
                    </a:cubicBezTo>
                  </a:path>
                </a:pathLst>
              </a:cu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" name="组合 98"/>
          <p:cNvGrpSpPr/>
          <p:nvPr/>
        </p:nvGrpSpPr>
        <p:grpSpPr>
          <a:xfrm>
            <a:off x="871075" y="2532118"/>
            <a:ext cx="2166110" cy="781049"/>
            <a:chOff x="3150082" y="2095500"/>
            <a:chExt cx="2166110" cy="776287"/>
          </a:xfrm>
        </p:grpSpPr>
        <p:cxnSp>
          <p:nvCxnSpPr>
            <p:cNvPr id="89" name="直接连接符 88"/>
            <p:cNvCxnSpPr/>
            <p:nvPr/>
          </p:nvCxnSpPr>
          <p:spPr>
            <a:xfrm flipV="1">
              <a:off x="3162300" y="2109788"/>
              <a:ext cx="0" cy="757237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V="1">
              <a:off x="3743325" y="2114550"/>
              <a:ext cx="0" cy="757237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V="1">
              <a:off x="4238624" y="2095500"/>
              <a:ext cx="0" cy="757237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V="1">
              <a:off x="4805362" y="2105025"/>
              <a:ext cx="0" cy="757237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6200000" flipH="1" flipV="1">
              <a:off x="3456082" y="1810929"/>
              <a:ext cx="0" cy="612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H="1" flipV="1">
              <a:off x="3997395" y="2603115"/>
              <a:ext cx="0" cy="50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16200000" flipH="1" flipV="1">
              <a:off x="4533457" y="1824167"/>
              <a:ext cx="0" cy="576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rot="16200000" flipH="1" flipV="1">
              <a:off x="5064192" y="2598353"/>
              <a:ext cx="0" cy="50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120"/>
          <p:cNvGrpSpPr/>
          <p:nvPr/>
        </p:nvGrpSpPr>
        <p:grpSpPr>
          <a:xfrm>
            <a:off x="6543705" y="2533651"/>
            <a:ext cx="2166940" cy="790564"/>
            <a:chOff x="3686175" y="3105151"/>
            <a:chExt cx="2166940" cy="981081"/>
          </a:xfrm>
        </p:grpSpPr>
        <p:grpSp>
          <p:nvGrpSpPr>
            <p:cNvPr id="9" name="组合 110"/>
            <p:cNvGrpSpPr/>
            <p:nvPr/>
          </p:nvGrpSpPr>
          <p:grpSpPr>
            <a:xfrm>
              <a:off x="3686175" y="3105151"/>
              <a:ext cx="618680" cy="247650"/>
              <a:chOff x="3686175" y="3105151"/>
              <a:chExt cx="618680" cy="247650"/>
            </a:xfrm>
          </p:grpSpPr>
          <p:pic>
            <p:nvPicPr>
              <p:cNvPr id="1032" name="Picture 8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686175" y="3105151"/>
                <a:ext cx="352425" cy="247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09" name="直接连接符 108"/>
              <p:cNvCxnSpPr/>
              <p:nvPr/>
            </p:nvCxnSpPr>
            <p:spPr>
              <a:xfrm rot="16200000" flipH="1" flipV="1">
                <a:off x="4160855" y="3082592"/>
                <a:ext cx="0" cy="288000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111"/>
            <p:cNvGrpSpPr/>
            <p:nvPr/>
          </p:nvGrpSpPr>
          <p:grpSpPr>
            <a:xfrm flipV="1">
              <a:off x="4262438" y="3824295"/>
              <a:ext cx="523875" cy="247650"/>
              <a:chOff x="3686175" y="3105151"/>
              <a:chExt cx="618680" cy="247650"/>
            </a:xfrm>
          </p:grpSpPr>
          <p:pic>
            <p:nvPicPr>
              <p:cNvPr id="113" name="Picture 8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686175" y="3105151"/>
                <a:ext cx="352425" cy="247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14" name="直接连接符 113"/>
              <p:cNvCxnSpPr/>
              <p:nvPr/>
            </p:nvCxnSpPr>
            <p:spPr>
              <a:xfrm rot="16200000" flipH="1" flipV="1">
                <a:off x="4160855" y="3082592"/>
                <a:ext cx="0" cy="288000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14"/>
            <p:cNvGrpSpPr/>
            <p:nvPr/>
          </p:nvGrpSpPr>
          <p:grpSpPr>
            <a:xfrm>
              <a:off x="4752977" y="3119438"/>
              <a:ext cx="618680" cy="247650"/>
              <a:chOff x="3686175" y="3105151"/>
              <a:chExt cx="618680" cy="247650"/>
            </a:xfrm>
          </p:grpSpPr>
          <p:pic>
            <p:nvPicPr>
              <p:cNvPr id="116" name="Picture 8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686175" y="3105151"/>
                <a:ext cx="352425" cy="247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17" name="直接连接符 116"/>
              <p:cNvCxnSpPr/>
              <p:nvPr/>
            </p:nvCxnSpPr>
            <p:spPr>
              <a:xfrm rot="16200000" flipH="1" flipV="1">
                <a:off x="4160855" y="3082592"/>
                <a:ext cx="0" cy="288000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7"/>
            <p:cNvGrpSpPr/>
            <p:nvPr/>
          </p:nvGrpSpPr>
          <p:grpSpPr>
            <a:xfrm flipV="1">
              <a:off x="5329240" y="3838582"/>
              <a:ext cx="523875" cy="247650"/>
              <a:chOff x="3686175" y="3105151"/>
              <a:chExt cx="618680" cy="247650"/>
            </a:xfrm>
          </p:grpSpPr>
          <p:pic>
            <p:nvPicPr>
              <p:cNvPr id="119" name="Picture 8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686175" y="3105151"/>
                <a:ext cx="352425" cy="247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20" name="直接连接符 119"/>
              <p:cNvCxnSpPr/>
              <p:nvPr/>
            </p:nvCxnSpPr>
            <p:spPr>
              <a:xfrm rot="16200000" flipH="1" flipV="1">
                <a:off x="4160855" y="3082592"/>
                <a:ext cx="0" cy="288000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99"/>
            <p:cNvGrpSpPr/>
            <p:nvPr/>
          </p:nvGrpSpPr>
          <p:grpSpPr>
            <a:xfrm>
              <a:off x="3705225" y="3214686"/>
              <a:ext cx="1643062" cy="776288"/>
              <a:chOff x="3162300" y="2095500"/>
              <a:chExt cx="1643062" cy="776288"/>
            </a:xfrm>
          </p:grpSpPr>
          <p:cxnSp>
            <p:nvCxnSpPr>
              <p:cNvPr id="101" name="直接连接符 100"/>
              <p:cNvCxnSpPr/>
              <p:nvPr/>
            </p:nvCxnSpPr>
            <p:spPr>
              <a:xfrm flipV="1">
                <a:off x="3162300" y="2114551"/>
                <a:ext cx="0" cy="757237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 flipV="1">
                <a:off x="3743325" y="2114550"/>
                <a:ext cx="0" cy="757237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flipV="1">
                <a:off x="4238624" y="2095500"/>
                <a:ext cx="0" cy="757237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flipV="1">
                <a:off x="4805362" y="2105025"/>
                <a:ext cx="0" cy="757237"/>
              </a:xfrm>
              <a:prstGeom prst="line">
                <a:avLst/>
              </a:prstGeom>
              <a:ln w="38100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2" name="右箭头 121"/>
          <p:cNvSpPr/>
          <p:nvPr/>
        </p:nvSpPr>
        <p:spPr>
          <a:xfrm>
            <a:off x="3017416" y="2718196"/>
            <a:ext cx="571500" cy="419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圆角矩形标注 123"/>
          <p:cNvSpPr/>
          <p:nvPr/>
        </p:nvSpPr>
        <p:spPr>
          <a:xfrm>
            <a:off x="6387338" y="1878058"/>
            <a:ext cx="1289825" cy="350792"/>
          </a:xfrm>
          <a:prstGeom prst="wedgeRoundRectCallout">
            <a:avLst>
              <a:gd name="adj1" fmla="val 31112"/>
              <a:gd name="adj2" fmla="val 19182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阻抗不匹配</a:t>
            </a:r>
            <a:endParaRPr lang="zh-CN" altLang="en-US" sz="16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73"/>
          <p:cNvGrpSpPr/>
          <p:nvPr/>
        </p:nvGrpSpPr>
        <p:grpSpPr>
          <a:xfrm>
            <a:off x="846189" y="1783738"/>
            <a:ext cx="2215848" cy="2804160"/>
            <a:chOff x="3546416" y="2134177"/>
            <a:chExt cx="2106930" cy="2804160"/>
          </a:xfrm>
        </p:grpSpPr>
        <p:grpSp>
          <p:nvGrpSpPr>
            <p:cNvPr id="15" name="组合 72"/>
            <p:cNvGrpSpPr/>
            <p:nvPr/>
          </p:nvGrpSpPr>
          <p:grpSpPr>
            <a:xfrm>
              <a:off x="3546416" y="2134177"/>
              <a:ext cx="2106930" cy="2804160"/>
              <a:chOff x="3546416" y="2134177"/>
              <a:chExt cx="2106930" cy="2804160"/>
            </a:xfrm>
          </p:grpSpPr>
          <p:sp>
            <p:nvSpPr>
              <p:cNvPr id="59" name="圆角矩形 58"/>
              <p:cNvSpPr/>
              <p:nvPr/>
            </p:nvSpPr>
            <p:spPr>
              <a:xfrm>
                <a:off x="3546416" y="2134177"/>
                <a:ext cx="2106930" cy="2804160"/>
              </a:xfrm>
              <a:prstGeom prst="roundRect">
                <a:avLst>
                  <a:gd name="adj" fmla="val 672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2" name="Picture 9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828592" y="3212407"/>
                <a:ext cx="1706644" cy="1646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63" name="直接连接符 62"/>
              <p:cNvCxnSpPr/>
              <p:nvPr/>
            </p:nvCxnSpPr>
            <p:spPr>
              <a:xfrm flipV="1">
                <a:off x="4046124" y="3651144"/>
                <a:ext cx="1007131" cy="10336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组合 37"/>
              <p:cNvGrpSpPr/>
              <p:nvPr/>
            </p:nvGrpSpPr>
            <p:grpSpPr>
              <a:xfrm>
                <a:off x="4059332" y="3638117"/>
                <a:ext cx="1167580" cy="895225"/>
                <a:chOff x="6414302" y="1804414"/>
                <a:chExt cx="1783322" cy="1144678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 flipV="1">
                  <a:off x="6935001" y="1804414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 flipV="1">
                  <a:off x="7700062" y="1815522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 rot="5400000" flipV="1">
                  <a:off x="7557348" y="1181062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 rot="5400000" flipV="1">
                  <a:off x="7054578" y="2297450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TextBox 64"/>
              <p:cNvSpPr txBox="1"/>
              <p:nvPr/>
            </p:nvSpPr>
            <p:spPr>
              <a:xfrm>
                <a:off x="4742168" y="4556551"/>
                <a:ext cx="413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266297" y="4556551"/>
                <a:ext cx="3804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3648827" y="4282585"/>
                <a:ext cx="436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3643594" y="35076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OH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89223" y="2227009"/>
              <a:ext cx="1432496" cy="902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7" name="组合 139"/>
          <p:cNvGrpSpPr/>
          <p:nvPr/>
        </p:nvGrpSpPr>
        <p:grpSpPr>
          <a:xfrm>
            <a:off x="6130004" y="2627087"/>
            <a:ext cx="2396006" cy="307777"/>
            <a:chOff x="5959506" y="1430826"/>
            <a:chExt cx="2396006" cy="307777"/>
          </a:xfrm>
        </p:grpSpPr>
        <p:cxnSp>
          <p:nvCxnSpPr>
            <p:cNvPr id="141" name="直接连接符 140"/>
            <p:cNvCxnSpPr/>
            <p:nvPr/>
          </p:nvCxnSpPr>
          <p:spPr>
            <a:xfrm flipV="1">
              <a:off x="6375512" y="1590450"/>
              <a:ext cx="1980000" cy="0"/>
            </a:xfrm>
            <a:prstGeom prst="line">
              <a:avLst/>
            </a:prstGeom>
            <a:ln w="19050">
              <a:solidFill>
                <a:srgbClr val="CC00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5959506" y="1430826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T+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42"/>
          <p:cNvGrpSpPr/>
          <p:nvPr/>
        </p:nvGrpSpPr>
        <p:grpSpPr>
          <a:xfrm>
            <a:off x="6137795" y="2921007"/>
            <a:ext cx="2367428" cy="307777"/>
            <a:chOff x="5988084" y="1397485"/>
            <a:chExt cx="2367428" cy="307777"/>
          </a:xfrm>
        </p:grpSpPr>
        <p:cxnSp>
          <p:nvCxnSpPr>
            <p:cNvPr id="144" name="直接连接符 143"/>
            <p:cNvCxnSpPr/>
            <p:nvPr/>
          </p:nvCxnSpPr>
          <p:spPr>
            <a:xfrm flipV="1">
              <a:off x="6375512" y="1580485"/>
              <a:ext cx="1980000" cy="0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5988084" y="1397485"/>
              <a:ext cx="396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24"/>
          <p:cNvGrpSpPr/>
          <p:nvPr/>
        </p:nvGrpSpPr>
        <p:grpSpPr>
          <a:xfrm>
            <a:off x="3448712" y="2636613"/>
            <a:ext cx="2396006" cy="307777"/>
            <a:chOff x="5959506" y="1430826"/>
            <a:chExt cx="2396006" cy="307777"/>
          </a:xfrm>
        </p:grpSpPr>
        <p:cxnSp>
          <p:nvCxnSpPr>
            <p:cNvPr id="126" name="直接连接符 125"/>
            <p:cNvCxnSpPr/>
            <p:nvPr/>
          </p:nvCxnSpPr>
          <p:spPr>
            <a:xfrm flipV="1">
              <a:off x="6375512" y="1590450"/>
              <a:ext cx="1980000" cy="0"/>
            </a:xfrm>
            <a:prstGeom prst="line">
              <a:avLst/>
            </a:prstGeom>
            <a:ln w="19050">
              <a:solidFill>
                <a:srgbClr val="CC00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5959506" y="1430826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T+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27"/>
          <p:cNvGrpSpPr/>
          <p:nvPr/>
        </p:nvGrpSpPr>
        <p:grpSpPr>
          <a:xfrm>
            <a:off x="3456503" y="2930533"/>
            <a:ext cx="2367428" cy="307777"/>
            <a:chOff x="5988084" y="1397485"/>
            <a:chExt cx="2367428" cy="307777"/>
          </a:xfrm>
        </p:grpSpPr>
        <p:cxnSp>
          <p:nvCxnSpPr>
            <p:cNvPr id="129" name="直接连接符 128"/>
            <p:cNvCxnSpPr/>
            <p:nvPr/>
          </p:nvCxnSpPr>
          <p:spPr>
            <a:xfrm flipV="1">
              <a:off x="6375512" y="1580485"/>
              <a:ext cx="1980000" cy="0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5988084" y="1397485"/>
              <a:ext cx="396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997193" y="2781811"/>
            <a:ext cx="4219575" cy="1720573"/>
            <a:chOff x="3997193" y="2781811"/>
            <a:chExt cx="4219575" cy="1720573"/>
          </a:xfrm>
        </p:grpSpPr>
        <p:cxnSp>
          <p:nvCxnSpPr>
            <p:cNvPr id="134" name="直接连接符 133"/>
            <p:cNvCxnSpPr/>
            <p:nvPr/>
          </p:nvCxnSpPr>
          <p:spPr>
            <a:xfrm>
              <a:off x="5583106" y="3100896"/>
              <a:ext cx="0" cy="1368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6554651" y="2781811"/>
              <a:ext cx="0" cy="1692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7135681" y="3110422"/>
              <a:ext cx="0" cy="1368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7645260" y="2786571"/>
              <a:ext cx="0" cy="1692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8216768" y="3096134"/>
              <a:ext cx="0" cy="1368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3997193" y="2810384"/>
              <a:ext cx="0" cy="1692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5087806" y="2796096"/>
              <a:ext cx="0" cy="1692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4492493" y="3115184"/>
              <a:ext cx="0" cy="1368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圆角矩形标注 122"/>
          <p:cNvSpPr/>
          <p:nvPr/>
        </p:nvSpPr>
        <p:spPr>
          <a:xfrm>
            <a:off x="3986061" y="1844205"/>
            <a:ext cx="1450826" cy="350792"/>
          </a:xfrm>
          <a:prstGeom prst="wedgeRoundRectCallout">
            <a:avLst>
              <a:gd name="adj1" fmla="val 31112"/>
              <a:gd name="adj2" fmla="val 19182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线路分布电容大</a:t>
            </a:r>
            <a:endParaRPr lang="zh-CN" altLang="en-US" sz="1600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850281" y="3920165"/>
            <a:ext cx="2232872" cy="546748"/>
            <a:chOff x="3850281" y="3920165"/>
            <a:chExt cx="2232872" cy="546748"/>
          </a:xfrm>
        </p:grpSpPr>
        <p:grpSp>
          <p:nvGrpSpPr>
            <p:cNvPr id="25" name="组合 24"/>
            <p:cNvGrpSpPr/>
            <p:nvPr/>
          </p:nvGrpSpPr>
          <p:grpSpPr>
            <a:xfrm>
              <a:off x="3850281" y="3920165"/>
              <a:ext cx="650912" cy="543969"/>
              <a:chOff x="3850281" y="3920165"/>
              <a:chExt cx="650912" cy="543969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组合 109"/>
            <p:cNvGrpSpPr/>
            <p:nvPr/>
          </p:nvGrpSpPr>
          <p:grpSpPr>
            <a:xfrm flipV="1">
              <a:off x="4339302" y="3922944"/>
              <a:ext cx="650912" cy="543969"/>
              <a:chOff x="3850281" y="3920165"/>
              <a:chExt cx="650912" cy="543969"/>
            </a:xfrm>
          </p:grpSpPr>
          <p:cxnSp>
            <p:nvCxnSpPr>
              <p:cNvPr id="115" name="直接连接符 114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组合 153"/>
            <p:cNvGrpSpPr/>
            <p:nvPr/>
          </p:nvGrpSpPr>
          <p:grpSpPr>
            <a:xfrm>
              <a:off x="4934521" y="3920165"/>
              <a:ext cx="650912" cy="543969"/>
              <a:chOff x="3850281" y="3920165"/>
              <a:chExt cx="650912" cy="543969"/>
            </a:xfrm>
          </p:grpSpPr>
          <p:cxnSp>
            <p:nvCxnSpPr>
              <p:cNvPr id="155" name="直接连接符 154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组合 158"/>
            <p:cNvGrpSpPr/>
            <p:nvPr/>
          </p:nvGrpSpPr>
          <p:grpSpPr>
            <a:xfrm flipV="1">
              <a:off x="5432241" y="3922944"/>
              <a:ext cx="650912" cy="543969"/>
              <a:chOff x="3850281" y="3920165"/>
              <a:chExt cx="650912" cy="543969"/>
            </a:xfrm>
          </p:grpSpPr>
          <p:cxnSp>
            <p:nvCxnSpPr>
              <p:cNvPr id="165" name="直接连接符 164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组合 26"/>
          <p:cNvGrpSpPr/>
          <p:nvPr/>
        </p:nvGrpSpPr>
        <p:grpSpPr>
          <a:xfrm>
            <a:off x="6549126" y="3927704"/>
            <a:ext cx="2166923" cy="546748"/>
            <a:chOff x="6549126" y="3927704"/>
            <a:chExt cx="2166923" cy="546748"/>
          </a:xfrm>
        </p:grpSpPr>
        <p:grpSp>
          <p:nvGrpSpPr>
            <p:cNvPr id="169" name="组合 168"/>
            <p:cNvGrpSpPr/>
            <p:nvPr/>
          </p:nvGrpSpPr>
          <p:grpSpPr>
            <a:xfrm>
              <a:off x="6549126" y="3927704"/>
              <a:ext cx="504000" cy="540000"/>
              <a:chOff x="3997193" y="3920165"/>
              <a:chExt cx="504000" cy="540000"/>
            </a:xfrm>
          </p:grpSpPr>
          <p:cxnSp>
            <p:nvCxnSpPr>
              <p:cNvPr id="183" name="直接连接符 182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/>
            <p:cNvGrpSpPr/>
            <p:nvPr/>
          </p:nvGrpSpPr>
          <p:grpSpPr>
            <a:xfrm flipV="1">
              <a:off x="6986491" y="3930483"/>
              <a:ext cx="650912" cy="543969"/>
              <a:chOff x="3850281" y="3920165"/>
              <a:chExt cx="650912" cy="543969"/>
            </a:xfrm>
          </p:grpSpPr>
          <p:cxnSp>
            <p:nvCxnSpPr>
              <p:cNvPr id="179" name="直接连接符 178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组合 170"/>
            <p:cNvGrpSpPr/>
            <p:nvPr/>
          </p:nvGrpSpPr>
          <p:grpSpPr>
            <a:xfrm>
              <a:off x="7486454" y="3927704"/>
              <a:ext cx="650912" cy="543969"/>
              <a:chOff x="3850281" y="3920165"/>
              <a:chExt cx="650912" cy="543969"/>
            </a:xfrm>
          </p:grpSpPr>
          <p:cxnSp>
            <p:nvCxnSpPr>
              <p:cNvPr id="176" name="直接连接符 175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组合 171"/>
            <p:cNvGrpSpPr/>
            <p:nvPr/>
          </p:nvGrpSpPr>
          <p:grpSpPr>
            <a:xfrm flipV="1">
              <a:off x="8065137" y="3930483"/>
              <a:ext cx="650912" cy="543969"/>
              <a:chOff x="3850281" y="3920165"/>
              <a:chExt cx="650912" cy="543969"/>
            </a:xfrm>
          </p:grpSpPr>
          <p:cxnSp>
            <p:nvCxnSpPr>
              <p:cNvPr id="173" name="直接连接符 172"/>
              <p:cNvCxnSpPr/>
              <p:nvPr/>
            </p:nvCxnSpPr>
            <p:spPr>
              <a:xfrm>
                <a:off x="3850281" y="4464134"/>
                <a:ext cx="162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3997193" y="3923340"/>
                <a:ext cx="504000" cy="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 flipV="1">
                <a:off x="4000236" y="3920165"/>
                <a:ext cx="0" cy="540000"/>
              </a:xfrm>
              <a:prstGeom prst="line">
                <a:avLst/>
              </a:prstGeom>
              <a:ln w="28575">
                <a:solidFill>
                  <a:srgbClr val="800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2" grpId="1" animBg="1"/>
      <p:bldP spid="124" grpId="0" animBg="1"/>
      <p:bldP spid="1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3"/>
          <p:cNvGrpSpPr/>
          <p:nvPr/>
        </p:nvGrpSpPr>
        <p:grpSpPr>
          <a:xfrm>
            <a:off x="262894" y="710037"/>
            <a:ext cx="3370624" cy="420971"/>
            <a:chOff x="670560" y="892917"/>
            <a:chExt cx="3370624" cy="420971"/>
          </a:xfrm>
        </p:grpSpPr>
        <p:sp>
          <p:nvSpPr>
            <p:cNvPr id="15" name="矩形 14"/>
            <p:cNvSpPr/>
            <p:nvPr/>
          </p:nvSpPr>
          <p:spPr>
            <a:xfrm>
              <a:off x="1035233" y="913778"/>
              <a:ext cx="300595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施密特触发器的典型应用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5"/>
          <p:cNvGrpSpPr/>
          <p:nvPr/>
        </p:nvGrpSpPr>
        <p:grpSpPr>
          <a:xfrm>
            <a:off x="681529" y="1270947"/>
            <a:ext cx="2096365" cy="400110"/>
            <a:chOff x="738189" y="1426964"/>
            <a:chExt cx="2096365" cy="360099"/>
          </a:xfrm>
        </p:grpSpPr>
        <p:sp>
          <p:nvSpPr>
            <p:cNvPr id="18" name="矩形 17"/>
            <p:cNvSpPr/>
            <p:nvPr/>
          </p:nvSpPr>
          <p:spPr>
            <a:xfrm>
              <a:off x="1101387" y="1426964"/>
              <a:ext cx="173316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消除干扰信号</a:t>
              </a:r>
              <a:endPara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1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47"/>
          <p:cNvGrpSpPr/>
          <p:nvPr/>
        </p:nvGrpSpPr>
        <p:grpSpPr>
          <a:xfrm>
            <a:off x="794066" y="1810996"/>
            <a:ext cx="2381860" cy="3121018"/>
            <a:chOff x="3546416" y="2134177"/>
            <a:chExt cx="2106930" cy="2804160"/>
          </a:xfrm>
        </p:grpSpPr>
        <p:grpSp>
          <p:nvGrpSpPr>
            <p:cNvPr id="8" name="组合 72"/>
            <p:cNvGrpSpPr/>
            <p:nvPr/>
          </p:nvGrpSpPr>
          <p:grpSpPr>
            <a:xfrm>
              <a:off x="3546416" y="2134177"/>
              <a:ext cx="2106930" cy="2804160"/>
              <a:chOff x="3546416" y="2134177"/>
              <a:chExt cx="2106930" cy="2804160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3546416" y="2134177"/>
                <a:ext cx="2106930" cy="2804160"/>
              </a:xfrm>
              <a:prstGeom prst="roundRect">
                <a:avLst>
                  <a:gd name="adj" fmla="val 3122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Picture 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28592" y="3212407"/>
                <a:ext cx="1706644" cy="1646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53" name="直接连接符 52"/>
              <p:cNvCxnSpPr/>
              <p:nvPr/>
            </p:nvCxnSpPr>
            <p:spPr>
              <a:xfrm flipV="1">
                <a:off x="4046124" y="3651144"/>
                <a:ext cx="1007131" cy="10336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组合 37"/>
              <p:cNvGrpSpPr/>
              <p:nvPr/>
            </p:nvGrpSpPr>
            <p:grpSpPr>
              <a:xfrm>
                <a:off x="4059332" y="3638117"/>
                <a:ext cx="1167580" cy="895225"/>
                <a:chOff x="6414302" y="1804414"/>
                <a:chExt cx="1783322" cy="1144678"/>
              </a:xfrm>
            </p:grpSpPr>
            <p:cxnSp>
              <p:nvCxnSpPr>
                <p:cNvPr id="59" name="直接连接符 58"/>
                <p:cNvCxnSpPr/>
                <p:nvPr/>
              </p:nvCxnSpPr>
              <p:spPr>
                <a:xfrm flipV="1">
                  <a:off x="6935001" y="1804414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7700062" y="1815522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 rot="5400000" flipV="1">
                  <a:off x="7557348" y="1181062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 rot="5400000" flipV="1">
                  <a:off x="7054578" y="2297450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4742168" y="4556551"/>
                <a:ext cx="413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266297" y="4556551"/>
                <a:ext cx="3804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648827" y="4282585"/>
                <a:ext cx="436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643594" y="35076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OH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89223" y="2227009"/>
              <a:ext cx="1432496" cy="902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组合 78"/>
          <p:cNvGrpSpPr/>
          <p:nvPr/>
        </p:nvGrpSpPr>
        <p:grpSpPr>
          <a:xfrm>
            <a:off x="6491834" y="1645817"/>
            <a:ext cx="2088566" cy="3321653"/>
            <a:chOff x="6457950" y="1909780"/>
            <a:chExt cx="2088566" cy="3321653"/>
          </a:xfrm>
        </p:grpSpPr>
        <p:grpSp>
          <p:nvGrpSpPr>
            <p:cNvPr id="17" name="组合 75"/>
            <p:cNvGrpSpPr/>
            <p:nvPr/>
          </p:nvGrpSpPr>
          <p:grpSpPr>
            <a:xfrm>
              <a:off x="6457950" y="1909780"/>
              <a:ext cx="2088566" cy="3321653"/>
              <a:chOff x="6457950" y="1909780"/>
              <a:chExt cx="2088566" cy="3321653"/>
            </a:xfrm>
          </p:grpSpPr>
          <p:sp>
            <p:nvSpPr>
              <p:cNvPr id="71" name="圆角矩形 70"/>
              <p:cNvSpPr/>
              <p:nvPr/>
            </p:nvSpPr>
            <p:spPr>
              <a:xfrm>
                <a:off x="6591301" y="2076477"/>
                <a:ext cx="1955215" cy="3154956"/>
              </a:xfrm>
              <a:prstGeom prst="roundRect">
                <a:avLst>
                  <a:gd name="adj" fmla="val 576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>
                  <a:lnSpc>
                    <a:spcPct val="125000"/>
                  </a:lnSpc>
                </a:pPr>
                <a:endParaRPr lang="en-US" altLang="zh-CN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pic>
            <p:nvPicPr>
              <p:cNvPr id="2052" name="Picture 4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457950" y="1909780"/>
                <a:ext cx="514350" cy="514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77" name="矩形 76"/>
            <p:cNvSpPr/>
            <p:nvPr/>
          </p:nvSpPr>
          <p:spPr>
            <a:xfrm>
              <a:off x="6679095" y="2431109"/>
              <a:ext cx="1724546" cy="2485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不同的阈值及回差电压，输出结果不同。因此，为了消除干扰，需要合理选择阈值及回差电压。</a:t>
              </a:r>
              <a:endParaRPr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283826" y="1813865"/>
            <a:ext cx="3082683" cy="3182254"/>
            <a:chOff x="3283826" y="1793569"/>
            <a:chExt cx="3082683" cy="3182254"/>
          </a:xfrm>
        </p:grpSpPr>
        <p:sp>
          <p:nvSpPr>
            <p:cNvPr id="67" name="圆角矩形 50"/>
            <p:cNvSpPr/>
            <p:nvPr/>
          </p:nvSpPr>
          <p:spPr>
            <a:xfrm>
              <a:off x="3283826" y="1793569"/>
              <a:ext cx="3082683" cy="3138445"/>
            </a:xfrm>
            <a:prstGeom prst="roundRect">
              <a:avLst>
                <a:gd name="adj" fmla="val 301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3361401" y="1837377"/>
            <a:ext cx="2982262" cy="3138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Visio" r:id="rId6" imgW="1343025" imgH="1409700" progId="Visio.Drawing.11">
                    <p:embed/>
                  </p:oleObj>
                </mc:Choice>
                <mc:Fallback>
                  <p:oleObj name="Visio" r:id="rId6" imgW="1343025" imgH="1409700" progId="Visio.Drawing.11">
                    <p:embed/>
                    <p:pic>
                      <p:nvPicPr>
                        <p:cNvPr id="0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1401" y="1837377"/>
                          <a:ext cx="2982262" cy="31384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3"/>
          <p:cNvGrpSpPr/>
          <p:nvPr/>
        </p:nvGrpSpPr>
        <p:grpSpPr>
          <a:xfrm>
            <a:off x="262894" y="710037"/>
            <a:ext cx="3370624" cy="420971"/>
            <a:chOff x="670560" y="892917"/>
            <a:chExt cx="3370624" cy="420971"/>
          </a:xfrm>
        </p:grpSpPr>
        <p:sp>
          <p:nvSpPr>
            <p:cNvPr id="15" name="矩形 14"/>
            <p:cNvSpPr/>
            <p:nvPr/>
          </p:nvSpPr>
          <p:spPr>
            <a:xfrm>
              <a:off x="1035233" y="913778"/>
              <a:ext cx="300595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施密特触发器的典型应用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25"/>
          <p:cNvGrpSpPr/>
          <p:nvPr/>
        </p:nvGrpSpPr>
        <p:grpSpPr>
          <a:xfrm>
            <a:off x="681529" y="1270947"/>
            <a:ext cx="1580198" cy="400110"/>
            <a:chOff x="738189" y="1426964"/>
            <a:chExt cx="1580198" cy="360099"/>
          </a:xfrm>
        </p:grpSpPr>
        <p:sp>
          <p:nvSpPr>
            <p:cNvPr id="18" name="矩形 17"/>
            <p:cNvSpPr/>
            <p:nvPr/>
          </p:nvSpPr>
          <p:spPr>
            <a:xfrm>
              <a:off x="1101387" y="1426964"/>
              <a:ext cx="121700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幅度鉴别</a:t>
              </a:r>
              <a:endParaRPr lang="zh-CN" altLang="en-US" sz="20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1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7"/>
          <p:cNvGrpSpPr/>
          <p:nvPr/>
        </p:nvGrpSpPr>
        <p:grpSpPr>
          <a:xfrm>
            <a:off x="794066" y="1793570"/>
            <a:ext cx="2215848" cy="2804160"/>
            <a:chOff x="3546416" y="2134177"/>
            <a:chExt cx="2106930" cy="2804160"/>
          </a:xfrm>
        </p:grpSpPr>
        <p:grpSp>
          <p:nvGrpSpPr>
            <p:cNvPr id="6" name="组合 72"/>
            <p:cNvGrpSpPr/>
            <p:nvPr/>
          </p:nvGrpSpPr>
          <p:grpSpPr>
            <a:xfrm>
              <a:off x="3546416" y="2134177"/>
              <a:ext cx="2106930" cy="2804160"/>
              <a:chOff x="3546416" y="2134177"/>
              <a:chExt cx="2106930" cy="2804160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3546416" y="2134177"/>
                <a:ext cx="2106930" cy="2804160"/>
              </a:xfrm>
              <a:prstGeom prst="roundRect">
                <a:avLst>
                  <a:gd name="adj" fmla="val 672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Picture 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28592" y="3212407"/>
                <a:ext cx="1706644" cy="1646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53" name="直接连接符 52"/>
              <p:cNvCxnSpPr/>
              <p:nvPr/>
            </p:nvCxnSpPr>
            <p:spPr>
              <a:xfrm flipV="1">
                <a:off x="4046124" y="3651144"/>
                <a:ext cx="1007131" cy="10336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组合 37"/>
              <p:cNvGrpSpPr/>
              <p:nvPr/>
            </p:nvGrpSpPr>
            <p:grpSpPr>
              <a:xfrm>
                <a:off x="4059332" y="3638117"/>
                <a:ext cx="1167580" cy="895225"/>
                <a:chOff x="6414302" y="1804414"/>
                <a:chExt cx="1783322" cy="1144678"/>
              </a:xfrm>
            </p:grpSpPr>
            <p:cxnSp>
              <p:nvCxnSpPr>
                <p:cNvPr id="59" name="直接连接符 58"/>
                <p:cNvCxnSpPr/>
                <p:nvPr/>
              </p:nvCxnSpPr>
              <p:spPr>
                <a:xfrm flipV="1">
                  <a:off x="6935001" y="1804414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7700062" y="1815522"/>
                  <a:ext cx="0" cy="113357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 rot="5400000" flipV="1">
                  <a:off x="7557348" y="1181062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 rot="5400000" flipV="1">
                  <a:off x="7054578" y="2297450"/>
                  <a:ext cx="0" cy="1280552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4742168" y="4556551"/>
                <a:ext cx="413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266297" y="4556551"/>
                <a:ext cx="3804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648827" y="4282585"/>
                <a:ext cx="436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643594" y="35076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OH</a:t>
                </a:r>
                <a:endParaRPr lang="zh-CN" altLang="en-US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89223" y="2227009"/>
              <a:ext cx="1432496" cy="902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组合 75"/>
          <p:cNvGrpSpPr/>
          <p:nvPr/>
        </p:nvGrpSpPr>
        <p:grpSpPr>
          <a:xfrm>
            <a:off x="6457950" y="1909780"/>
            <a:ext cx="2300288" cy="2295526"/>
            <a:chOff x="6457950" y="1909780"/>
            <a:chExt cx="2300288" cy="2295526"/>
          </a:xfrm>
        </p:grpSpPr>
        <p:sp>
          <p:nvSpPr>
            <p:cNvPr id="71" name="圆角矩形 70"/>
            <p:cNvSpPr/>
            <p:nvPr/>
          </p:nvSpPr>
          <p:spPr>
            <a:xfrm>
              <a:off x="6591301" y="2076478"/>
              <a:ext cx="2166937" cy="2128828"/>
            </a:xfrm>
            <a:prstGeom prst="roundRect">
              <a:avLst>
                <a:gd name="adj" fmla="val 868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能够将幅度大于正向阈值</a:t>
              </a:r>
              <a:r>
                <a:rPr lang="en-US" altLang="zh-CN" sz="2000" b="1" i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V</a:t>
              </a:r>
              <a:r>
                <a:rPr lang="en-US" altLang="zh-CN" sz="2000" b="1" baseline="-25000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T+</a:t>
              </a:r>
              <a:r>
                <a: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的信号标识出来。</a:t>
              </a:r>
              <a:endParaRPr lang="zh-CN" altLang="en-US" sz="2000" dirty="0"/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457950" y="1909780"/>
              <a:ext cx="514350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" name="组合 10"/>
          <p:cNvGrpSpPr/>
          <p:nvPr/>
        </p:nvGrpSpPr>
        <p:grpSpPr>
          <a:xfrm>
            <a:off x="3439189" y="1828799"/>
            <a:ext cx="2852074" cy="2957513"/>
            <a:chOff x="3439189" y="1828799"/>
            <a:chExt cx="2852074" cy="2957513"/>
          </a:xfrm>
        </p:grpSpPr>
        <p:grpSp>
          <p:nvGrpSpPr>
            <p:cNvPr id="2" name="组合 86"/>
            <p:cNvGrpSpPr/>
            <p:nvPr/>
          </p:nvGrpSpPr>
          <p:grpSpPr>
            <a:xfrm>
              <a:off x="3595688" y="1828799"/>
              <a:ext cx="2695575" cy="2957513"/>
              <a:chOff x="3595688" y="1828799"/>
              <a:chExt cx="2695575" cy="2957513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595688" y="1828799"/>
                <a:ext cx="2695575" cy="2957513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</p:pic>
          <p:pic>
            <p:nvPicPr>
              <p:cNvPr id="15365" name="Picture 5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885083" y="2027583"/>
                <a:ext cx="2015942" cy="1061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9" name="组合 40"/>
            <p:cNvGrpSpPr/>
            <p:nvPr/>
          </p:nvGrpSpPr>
          <p:grpSpPr>
            <a:xfrm>
              <a:off x="3439189" y="2229408"/>
              <a:ext cx="2648006" cy="307777"/>
              <a:chOff x="5959506" y="1430826"/>
              <a:chExt cx="2648006" cy="307777"/>
            </a:xfrm>
          </p:grpSpPr>
          <p:cxnSp>
            <p:nvCxnSpPr>
              <p:cNvPr id="42" name="直接连接符 41"/>
              <p:cNvCxnSpPr/>
              <p:nvPr/>
            </p:nvCxnSpPr>
            <p:spPr>
              <a:xfrm flipV="1">
                <a:off x="6375512" y="1590450"/>
                <a:ext cx="2232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5959506" y="1430826"/>
                <a:ext cx="434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组合 43"/>
            <p:cNvGrpSpPr/>
            <p:nvPr/>
          </p:nvGrpSpPr>
          <p:grpSpPr>
            <a:xfrm>
              <a:off x="3446980" y="2611476"/>
              <a:ext cx="2619428" cy="307777"/>
              <a:chOff x="5988084" y="1397485"/>
              <a:chExt cx="2619428" cy="307777"/>
            </a:xfrm>
          </p:grpSpPr>
          <p:cxnSp>
            <p:nvCxnSpPr>
              <p:cNvPr id="46" name="直接连接符 45"/>
              <p:cNvCxnSpPr/>
              <p:nvPr/>
            </p:nvCxnSpPr>
            <p:spPr>
              <a:xfrm flipV="1">
                <a:off x="6375512" y="1580485"/>
                <a:ext cx="2232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5988084" y="1397485"/>
                <a:ext cx="3965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5366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869182" y="3756991"/>
              <a:ext cx="2054540" cy="794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0" name="直接连接符 79"/>
            <p:cNvCxnSpPr/>
            <p:nvPr/>
          </p:nvCxnSpPr>
          <p:spPr>
            <a:xfrm>
              <a:off x="4154592" y="2329343"/>
              <a:ext cx="0" cy="2196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4335422" y="2323916"/>
              <a:ext cx="0" cy="2196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5026099" y="2331431"/>
              <a:ext cx="0" cy="2196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01482" y="2326004"/>
              <a:ext cx="0" cy="2196000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1026796" y="2217025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32858" y="3139473"/>
            <a:ext cx="4365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7.4  </a:t>
            </a:r>
            <a:r>
              <a:rPr lang="zh-CN" altLang="en-US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单稳态触发器</a:t>
            </a:r>
            <a:endParaRPr lang="zh-CN" altLang="en-US" sz="24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9"/>
          <p:cNvGrpSpPr/>
          <p:nvPr/>
        </p:nvGrpSpPr>
        <p:grpSpPr>
          <a:xfrm>
            <a:off x="262892" y="778617"/>
            <a:ext cx="2857663" cy="420971"/>
            <a:chOff x="670560" y="892917"/>
            <a:chExt cx="2857663" cy="420971"/>
          </a:xfrm>
        </p:grpSpPr>
        <p:sp>
          <p:nvSpPr>
            <p:cNvPr id="71" name="矩形 70"/>
            <p:cNvSpPr/>
            <p:nvPr/>
          </p:nvSpPr>
          <p:spPr>
            <a:xfrm>
              <a:off x="1035233" y="913778"/>
              <a:ext cx="2492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单稳态触发器的特点</a:t>
              </a:r>
              <a:endPara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5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78"/>
          <p:cNvGrpSpPr/>
          <p:nvPr/>
        </p:nvGrpSpPr>
        <p:grpSpPr>
          <a:xfrm>
            <a:off x="638145" y="1376622"/>
            <a:ext cx="5407450" cy="369332"/>
            <a:chOff x="738189" y="1426964"/>
            <a:chExt cx="5233060" cy="369332"/>
          </a:xfrm>
        </p:grpSpPr>
        <p:sp>
          <p:nvSpPr>
            <p:cNvPr id="80" name="矩形 79"/>
            <p:cNvSpPr/>
            <p:nvPr/>
          </p:nvSpPr>
          <p:spPr>
            <a:xfrm>
              <a:off x="1101388" y="1426964"/>
              <a:ext cx="48698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没有外部信号触发时，电路处于稳态（</a:t>
              </a:r>
              <a:r>
                <a:rPr lang="en-US" altLang="zh-CN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）。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1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87"/>
          <p:cNvGrpSpPr/>
          <p:nvPr/>
        </p:nvGrpSpPr>
        <p:grpSpPr>
          <a:xfrm>
            <a:off x="638145" y="2190058"/>
            <a:ext cx="8039130" cy="455253"/>
            <a:chOff x="716250" y="2477077"/>
            <a:chExt cx="8039130" cy="455253"/>
          </a:xfrm>
        </p:grpSpPr>
        <p:sp>
          <p:nvSpPr>
            <p:cNvPr id="86" name="矩形 85"/>
            <p:cNvSpPr/>
            <p:nvPr/>
          </p:nvSpPr>
          <p:spPr>
            <a:xfrm>
              <a:off x="1091551" y="2477077"/>
              <a:ext cx="7663829" cy="4552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经过一段时间（由</a:t>
              </a:r>
              <a:r>
                <a:rPr lang="en-US" altLang="zh-CN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RC</a:t>
              </a: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延时电路确定）后，电路由暂稳态自动返回到稳态。</a:t>
              </a:r>
              <a:endPara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6250" y="2595069"/>
              <a:ext cx="3710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26"/>
          <p:cNvGrpSpPr/>
          <p:nvPr/>
        </p:nvGrpSpPr>
        <p:grpSpPr>
          <a:xfrm>
            <a:off x="628621" y="1771850"/>
            <a:ext cx="5407449" cy="392311"/>
            <a:chOff x="738189" y="1360289"/>
            <a:chExt cx="5233058" cy="392311"/>
          </a:xfrm>
        </p:grpSpPr>
        <p:sp>
          <p:nvSpPr>
            <p:cNvPr id="28" name="矩形 27"/>
            <p:cNvSpPr/>
            <p:nvPr/>
          </p:nvSpPr>
          <p:spPr>
            <a:xfrm>
              <a:off x="1101387" y="1360289"/>
              <a:ext cx="48698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外部触发信号作用下，电路由稳态进入暂稳态。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8189" y="1455420"/>
              <a:ext cx="359092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组合 29"/>
          <p:cNvGrpSpPr/>
          <p:nvPr/>
        </p:nvGrpSpPr>
        <p:grpSpPr>
          <a:xfrm>
            <a:off x="262891" y="2845550"/>
            <a:ext cx="3114144" cy="420971"/>
            <a:chOff x="670560" y="892917"/>
            <a:chExt cx="3114144" cy="420971"/>
          </a:xfrm>
        </p:grpSpPr>
        <p:sp>
          <p:nvSpPr>
            <p:cNvPr id="31" name="矩形 30"/>
            <p:cNvSpPr/>
            <p:nvPr/>
          </p:nvSpPr>
          <p:spPr>
            <a:xfrm>
              <a:off x="1035233" y="913778"/>
              <a:ext cx="27494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单稳态触发器典型应用</a:t>
              </a:r>
              <a:endPara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2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146" name="Picture 2" descr="https://timgsa.baidu.com/timg?image&amp;quality=80&amp;size=b9999_10000&amp;sec=1528012857576&amp;di=564c3efb063f870922660f5806ce1735&amp;imgtype=0&amp;src=http%3A%2F%2Fimg.zcool.cn%2Fcommunity%2F01e0f857047ebb32f875a944b8544a.JPG%401280w_1l_2o_100s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8516" y="3362313"/>
            <a:ext cx="1731492" cy="1680000"/>
          </a:xfrm>
          <a:prstGeom prst="snip2DiagRect">
            <a:avLst>
              <a:gd name="adj1" fmla="val 0"/>
              <a:gd name="adj2" fmla="val 19319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组合 32"/>
          <p:cNvGrpSpPr/>
          <p:nvPr/>
        </p:nvGrpSpPr>
        <p:grpSpPr>
          <a:xfrm>
            <a:off x="4193379" y="2971796"/>
            <a:ext cx="1800000" cy="688123"/>
            <a:chOff x="3074192" y="3036714"/>
            <a:chExt cx="1800000" cy="751800"/>
          </a:xfrm>
        </p:grpSpPr>
        <p:sp>
          <p:nvSpPr>
            <p:cNvPr id="19" name="圆角矩形 18"/>
            <p:cNvSpPr/>
            <p:nvPr/>
          </p:nvSpPr>
          <p:spPr>
            <a:xfrm>
              <a:off x="3074192" y="3474189"/>
              <a:ext cx="1800000" cy="3143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灯灭并保持</a:t>
              </a:r>
              <a:endPara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下箭头 21"/>
            <p:cNvSpPr/>
            <p:nvPr/>
          </p:nvSpPr>
          <p:spPr>
            <a:xfrm>
              <a:off x="3426789" y="3036714"/>
              <a:ext cx="1094806" cy="403481"/>
            </a:xfrm>
            <a:prstGeom prst="downArrow">
              <a:avLst>
                <a:gd name="adj1" fmla="val 74360"/>
                <a:gd name="adj2" fmla="val 41234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无人</a:t>
              </a:r>
              <a:endPara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33"/>
          <p:cNvGrpSpPr/>
          <p:nvPr/>
        </p:nvGrpSpPr>
        <p:grpSpPr>
          <a:xfrm>
            <a:off x="4193379" y="3715968"/>
            <a:ext cx="1800000" cy="688123"/>
            <a:chOff x="3074192" y="3780886"/>
            <a:chExt cx="1800000" cy="751800"/>
          </a:xfrm>
        </p:grpSpPr>
        <p:sp>
          <p:nvSpPr>
            <p:cNvPr id="20" name="圆角矩形 19"/>
            <p:cNvSpPr/>
            <p:nvPr/>
          </p:nvSpPr>
          <p:spPr>
            <a:xfrm>
              <a:off x="3074192" y="4218361"/>
              <a:ext cx="1800000" cy="3143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灯由灭变亮</a:t>
              </a:r>
              <a:endPara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下箭头 23"/>
            <p:cNvSpPr/>
            <p:nvPr/>
          </p:nvSpPr>
          <p:spPr>
            <a:xfrm>
              <a:off x="3426789" y="3780886"/>
              <a:ext cx="1094806" cy="403481"/>
            </a:xfrm>
            <a:prstGeom prst="downArrow">
              <a:avLst>
                <a:gd name="adj1" fmla="val 74360"/>
                <a:gd name="adj2" fmla="val 41234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人来</a:t>
              </a:r>
              <a:endPara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4"/>
          <p:cNvGrpSpPr/>
          <p:nvPr/>
        </p:nvGrpSpPr>
        <p:grpSpPr>
          <a:xfrm>
            <a:off x="4193379" y="4460142"/>
            <a:ext cx="1800000" cy="688128"/>
            <a:chOff x="3074192" y="4525056"/>
            <a:chExt cx="1800000" cy="751804"/>
          </a:xfrm>
        </p:grpSpPr>
        <p:sp>
          <p:nvSpPr>
            <p:cNvPr id="21" name="圆角矩形 20"/>
            <p:cNvSpPr/>
            <p:nvPr/>
          </p:nvSpPr>
          <p:spPr>
            <a:xfrm>
              <a:off x="3074192" y="4962535"/>
              <a:ext cx="1800000" cy="3143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自动熄灭并保持</a:t>
              </a:r>
              <a:endPara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下箭头 25"/>
            <p:cNvSpPr/>
            <p:nvPr/>
          </p:nvSpPr>
          <p:spPr>
            <a:xfrm>
              <a:off x="3426789" y="4525056"/>
              <a:ext cx="1094806" cy="403481"/>
            </a:xfrm>
            <a:prstGeom prst="downArrow">
              <a:avLst>
                <a:gd name="adj1" fmla="val 74360"/>
                <a:gd name="adj2" fmla="val 41234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人走</a:t>
              </a:r>
              <a:endPara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40"/>
          <p:cNvGrpSpPr/>
          <p:nvPr/>
        </p:nvGrpSpPr>
        <p:grpSpPr>
          <a:xfrm>
            <a:off x="6536529" y="3109913"/>
            <a:ext cx="1800000" cy="1878743"/>
            <a:chOff x="6536529" y="3109913"/>
            <a:chExt cx="1800000" cy="1878743"/>
          </a:xfrm>
        </p:grpSpPr>
        <p:sp>
          <p:nvSpPr>
            <p:cNvPr id="38" name="左右箭头 37"/>
            <p:cNvSpPr/>
            <p:nvPr/>
          </p:nvSpPr>
          <p:spPr>
            <a:xfrm rot="16200000">
              <a:off x="6948373" y="3806969"/>
              <a:ext cx="976313" cy="484632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6536529" y="3109913"/>
              <a:ext cx="1800000" cy="402368"/>
            </a:xfrm>
            <a:prstGeom prst="roundRect">
              <a:avLst/>
            </a:prstGeom>
            <a:solidFill>
              <a:srgbClr val="66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灯灭（稳态）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6536529" y="4586288"/>
              <a:ext cx="1800000" cy="402368"/>
            </a:xfrm>
            <a:prstGeom prst="roundRect">
              <a:avLst/>
            </a:prstGeom>
            <a:solidFill>
              <a:srgbClr val="FF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灯亮（暂稳态）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43"/>
          <p:cNvGrpSpPr/>
          <p:nvPr/>
        </p:nvGrpSpPr>
        <p:grpSpPr>
          <a:xfrm>
            <a:off x="6126954" y="1309688"/>
            <a:ext cx="2614500" cy="595312"/>
            <a:chOff x="6126954" y="1309688"/>
            <a:chExt cx="2614500" cy="595312"/>
          </a:xfrm>
        </p:grpSpPr>
        <p:sp>
          <p:nvSpPr>
            <p:cNvPr id="42" name="圆角矩形 41"/>
            <p:cNvSpPr/>
            <p:nvPr/>
          </p:nvSpPr>
          <p:spPr>
            <a:xfrm>
              <a:off x="6126954" y="1309688"/>
              <a:ext cx="900000" cy="595312"/>
            </a:xfrm>
            <a:prstGeom prst="roundRect">
              <a:avLst/>
            </a:prstGeom>
            <a:solidFill>
              <a:srgbClr val="66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稳态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7841454" y="1309688"/>
              <a:ext cx="900000" cy="595312"/>
            </a:xfrm>
            <a:prstGeom prst="roundRect">
              <a:avLst/>
            </a:prstGeom>
            <a:solidFill>
              <a:srgbClr val="FF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1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暂稳态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44"/>
          <p:cNvGrpSpPr/>
          <p:nvPr/>
        </p:nvGrpSpPr>
        <p:grpSpPr>
          <a:xfrm>
            <a:off x="7029450" y="1133475"/>
            <a:ext cx="828000" cy="314325"/>
            <a:chOff x="7029450" y="1133475"/>
            <a:chExt cx="828000" cy="314325"/>
          </a:xfrm>
        </p:grpSpPr>
        <p:cxnSp>
          <p:nvCxnSpPr>
            <p:cNvPr id="46" name="直接箭头连接符 45"/>
            <p:cNvCxnSpPr/>
            <p:nvPr/>
          </p:nvCxnSpPr>
          <p:spPr>
            <a:xfrm>
              <a:off x="7029450" y="1447800"/>
              <a:ext cx="8280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7124700" y="1133475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触发</a:t>
              </a: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组合 51"/>
          <p:cNvGrpSpPr/>
          <p:nvPr/>
        </p:nvGrpSpPr>
        <p:grpSpPr>
          <a:xfrm>
            <a:off x="7010400" y="1710690"/>
            <a:ext cx="828000" cy="326827"/>
            <a:chOff x="7010400" y="1771650"/>
            <a:chExt cx="828000" cy="326827"/>
          </a:xfrm>
        </p:grpSpPr>
        <p:cxnSp>
          <p:nvCxnSpPr>
            <p:cNvPr id="49" name="直接箭头连接符 48"/>
            <p:cNvCxnSpPr/>
            <p:nvPr/>
          </p:nvCxnSpPr>
          <p:spPr>
            <a:xfrm flipH="1">
              <a:off x="7010400" y="1771650"/>
              <a:ext cx="8280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7200900" y="17907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自动</a:t>
              </a: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262891" y="749137"/>
            <a:ext cx="3370624" cy="456728"/>
            <a:chOff x="670560" y="892917"/>
            <a:chExt cx="3370624" cy="411055"/>
          </a:xfrm>
        </p:grpSpPr>
        <p:sp>
          <p:nvSpPr>
            <p:cNvPr id="3" name="矩形 2"/>
            <p:cNvSpPr/>
            <p:nvPr/>
          </p:nvSpPr>
          <p:spPr>
            <a:xfrm>
              <a:off x="1035233" y="913778"/>
              <a:ext cx="3005951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单稳态触发器的工作波形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1" name="圆角矩形标注 90"/>
          <p:cNvSpPr/>
          <p:nvPr/>
        </p:nvSpPr>
        <p:spPr bwMode="auto">
          <a:xfrm>
            <a:off x="1779604" y="1965921"/>
            <a:ext cx="917308" cy="329848"/>
          </a:xfrm>
          <a:prstGeom prst="wedgeRoundRectCallout">
            <a:avLst>
              <a:gd name="adj1" fmla="val 79673"/>
              <a:gd name="adj2" fmla="val -68057"/>
              <a:gd name="adj3" fmla="val 16667"/>
            </a:avLst>
          </a:prstGeom>
          <a:ln>
            <a:solidFill>
              <a:srgbClr val="0000FF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高电平触发</a:t>
            </a:r>
            <a:endParaRPr lang="zh-CN" altLang="en-US" sz="12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2" name="圆角矩形标注 91"/>
          <p:cNvSpPr/>
          <p:nvPr/>
        </p:nvSpPr>
        <p:spPr bwMode="auto">
          <a:xfrm>
            <a:off x="1825934" y="2884731"/>
            <a:ext cx="856690" cy="329848"/>
          </a:xfrm>
          <a:prstGeom prst="wedgeRoundRectCallout">
            <a:avLst>
              <a:gd name="adj1" fmla="val 82641"/>
              <a:gd name="adj2" fmla="val 62371"/>
              <a:gd name="adj3" fmla="val 16667"/>
            </a:avLst>
          </a:prstGeom>
          <a:ln>
            <a:solidFill>
              <a:srgbClr val="0000FF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低电平触发</a:t>
            </a:r>
            <a:endParaRPr lang="zh-CN" altLang="en-US" sz="12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3" name="圆角矩形标注 92"/>
          <p:cNvSpPr/>
          <p:nvPr/>
        </p:nvSpPr>
        <p:spPr bwMode="auto">
          <a:xfrm>
            <a:off x="4546616" y="1699398"/>
            <a:ext cx="917308" cy="329848"/>
          </a:xfrm>
          <a:prstGeom prst="wedgeRoundRectCallout">
            <a:avLst>
              <a:gd name="adj1" fmla="val 58560"/>
              <a:gd name="adj2" fmla="val 88040"/>
              <a:gd name="adj3" fmla="val 16667"/>
            </a:avLst>
          </a:prstGeom>
          <a:ln>
            <a:solidFill>
              <a:srgbClr val="0000FF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上升沿触发</a:t>
            </a:r>
            <a:endParaRPr lang="zh-CN" altLang="en-US" sz="12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4" name="圆角矩形标注 93"/>
          <p:cNvSpPr/>
          <p:nvPr/>
        </p:nvSpPr>
        <p:spPr bwMode="auto">
          <a:xfrm>
            <a:off x="4543734" y="3032898"/>
            <a:ext cx="856690" cy="329848"/>
          </a:xfrm>
          <a:prstGeom prst="wedgeRoundRectCallout">
            <a:avLst>
              <a:gd name="adj1" fmla="val 71522"/>
              <a:gd name="adj2" fmla="val -38163"/>
              <a:gd name="adj3" fmla="val 16667"/>
            </a:avLst>
          </a:prstGeom>
          <a:ln>
            <a:solidFill>
              <a:srgbClr val="0000FF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下降沿触发</a:t>
            </a:r>
            <a:endParaRPr lang="zh-CN" altLang="en-US" sz="1200" dirty="0">
              <a:solidFill>
                <a:srgbClr val="7030A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89"/>
          <p:cNvGrpSpPr/>
          <p:nvPr/>
        </p:nvGrpSpPr>
        <p:grpSpPr>
          <a:xfrm>
            <a:off x="2080962" y="3142682"/>
            <a:ext cx="2221991" cy="1610008"/>
            <a:chOff x="2061896" y="3251267"/>
            <a:chExt cx="2221991" cy="1610008"/>
          </a:xfrm>
        </p:grpSpPr>
        <p:grpSp>
          <p:nvGrpSpPr>
            <p:cNvPr id="5" name="组合 63"/>
            <p:cNvGrpSpPr/>
            <p:nvPr/>
          </p:nvGrpSpPr>
          <p:grpSpPr>
            <a:xfrm>
              <a:off x="2061896" y="3251267"/>
              <a:ext cx="2217103" cy="1610008"/>
              <a:chOff x="1071295" y="2849305"/>
              <a:chExt cx="2217103" cy="1449007"/>
            </a:xfrm>
          </p:grpSpPr>
          <p:sp>
            <p:nvSpPr>
              <p:cNvPr id="17" name="圆角矩形标注 16"/>
              <p:cNvSpPr/>
              <p:nvPr/>
            </p:nvSpPr>
            <p:spPr bwMode="auto">
              <a:xfrm>
                <a:off x="2342248" y="2849305"/>
                <a:ext cx="946150" cy="296863"/>
              </a:xfrm>
              <a:prstGeom prst="wedgeRoundRectCallout">
                <a:avLst>
                  <a:gd name="adj1" fmla="val -37478"/>
                  <a:gd name="adj2" fmla="val 81452"/>
                  <a:gd name="adj3" fmla="val 16667"/>
                </a:avLst>
              </a:prstGeom>
              <a:ln>
                <a:solidFill>
                  <a:srgbClr val="0000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暂稳态</a:t>
                </a:r>
                <a:r>
                  <a:rPr lang="en-US" altLang="zh-CN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圆角矩形标注 17"/>
              <p:cNvSpPr/>
              <p:nvPr/>
            </p:nvSpPr>
            <p:spPr bwMode="auto">
              <a:xfrm>
                <a:off x="1071295" y="4001449"/>
                <a:ext cx="814655" cy="296863"/>
              </a:xfrm>
              <a:prstGeom prst="wedgeRoundRectCallout">
                <a:avLst>
                  <a:gd name="adj1" fmla="val -3968"/>
                  <a:gd name="adj2" fmla="val -103120"/>
                  <a:gd name="adj3" fmla="val 16667"/>
                </a:avLst>
              </a:prstGeom>
              <a:ln>
                <a:solidFill>
                  <a:srgbClr val="0000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稳态</a:t>
                </a:r>
                <a:r>
                  <a:rPr lang="en-US" altLang="zh-CN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endPara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" name="组合 24"/>
              <p:cNvGrpSpPr/>
              <p:nvPr/>
            </p:nvGrpSpPr>
            <p:grpSpPr>
              <a:xfrm flipH="1">
                <a:off x="1134795" y="3287074"/>
                <a:ext cx="1965325" cy="504825"/>
                <a:chOff x="1630095" y="3579174"/>
                <a:chExt cx="1965325" cy="504825"/>
              </a:xfrm>
            </p:grpSpPr>
            <p:cxnSp>
              <p:nvCxnSpPr>
                <p:cNvPr id="19" name="肘形连接符 18"/>
                <p:cNvCxnSpPr/>
                <p:nvPr/>
              </p:nvCxnSpPr>
              <p:spPr>
                <a:xfrm flipV="1">
                  <a:off x="1630095" y="3579174"/>
                  <a:ext cx="1038225" cy="504825"/>
                </a:xfrm>
                <a:prstGeom prst="bentConnector3">
                  <a:avLst>
                    <a:gd name="adj1" fmla="val 38073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肘形连接符 23"/>
                <p:cNvCxnSpPr/>
                <p:nvPr/>
              </p:nvCxnSpPr>
              <p:spPr>
                <a:xfrm>
                  <a:off x="2557195" y="3579174"/>
                  <a:ext cx="1038225" cy="504825"/>
                </a:xfrm>
                <a:prstGeom prst="bentConnector3">
                  <a:avLst>
                    <a:gd name="adj1" fmla="val 38073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3" name="直接连接符 82"/>
            <p:cNvCxnSpPr/>
            <p:nvPr/>
          </p:nvCxnSpPr>
          <p:spPr>
            <a:xfrm flipV="1">
              <a:off x="2109791" y="4300537"/>
              <a:ext cx="684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V="1">
              <a:off x="3671887" y="4300538"/>
              <a:ext cx="61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98"/>
          <p:cNvGrpSpPr/>
          <p:nvPr/>
        </p:nvGrpSpPr>
        <p:grpSpPr>
          <a:xfrm>
            <a:off x="4685414" y="3586759"/>
            <a:ext cx="2540635" cy="1130653"/>
            <a:chOff x="4666348" y="3695344"/>
            <a:chExt cx="2540635" cy="1130653"/>
          </a:xfrm>
        </p:grpSpPr>
        <p:grpSp>
          <p:nvGrpSpPr>
            <p:cNvPr id="8" name="组合 64"/>
            <p:cNvGrpSpPr/>
            <p:nvPr/>
          </p:nvGrpSpPr>
          <p:grpSpPr>
            <a:xfrm>
              <a:off x="4666348" y="3695344"/>
              <a:ext cx="2540635" cy="1130653"/>
              <a:chOff x="3650348" y="3572824"/>
              <a:chExt cx="2540635" cy="1017588"/>
            </a:xfrm>
          </p:grpSpPr>
          <p:sp>
            <p:nvSpPr>
              <p:cNvPr id="22" name="圆角矩形标注 21"/>
              <p:cNvSpPr/>
              <p:nvPr/>
            </p:nvSpPr>
            <p:spPr bwMode="auto">
              <a:xfrm>
                <a:off x="3650348" y="3943791"/>
                <a:ext cx="841642" cy="296863"/>
              </a:xfrm>
              <a:prstGeom prst="wedgeRoundRectCallout">
                <a:avLst>
                  <a:gd name="adj1" fmla="val 32158"/>
                  <a:gd name="adj2" fmla="val -165221"/>
                  <a:gd name="adj3" fmla="val 16667"/>
                </a:avLst>
              </a:prstGeom>
              <a:ln>
                <a:solidFill>
                  <a:srgbClr val="0000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稳态</a:t>
                </a:r>
                <a:r>
                  <a:rPr lang="en-US" altLang="zh-CN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圆角矩形标注 22"/>
              <p:cNvSpPr/>
              <p:nvPr/>
            </p:nvSpPr>
            <p:spPr bwMode="auto">
              <a:xfrm>
                <a:off x="5181600" y="4293549"/>
                <a:ext cx="1009383" cy="296863"/>
              </a:xfrm>
              <a:prstGeom prst="wedgeRoundRectCallout">
                <a:avLst>
                  <a:gd name="adj1" fmla="val -43675"/>
                  <a:gd name="adj2" fmla="val -107399"/>
                  <a:gd name="adj3" fmla="val 16667"/>
                </a:avLst>
              </a:prstGeom>
              <a:ln>
                <a:solidFill>
                  <a:srgbClr val="0000FF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暂稳态</a:t>
                </a:r>
                <a:r>
                  <a:rPr lang="en-US" altLang="zh-CN" sz="12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endPara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" name="组合 25"/>
              <p:cNvGrpSpPr/>
              <p:nvPr/>
            </p:nvGrpSpPr>
            <p:grpSpPr>
              <a:xfrm flipH="1" flipV="1">
                <a:off x="3992295" y="3572824"/>
                <a:ext cx="1965325" cy="504825"/>
                <a:chOff x="1630095" y="3579174"/>
                <a:chExt cx="1965325" cy="504825"/>
              </a:xfrm>
            </p:grpSpPr>
            <p:cxnSp>
              <p:nvCxnSpPr>
                <p:cNvPr id="27" name="肘形连接符 26"/>
                <p:cNvCxnSpPr/>
                <p:nvPr/>
              </p:nvCxnSpPr>
              <p:spPr>
                <a:xfrm flipV="1">
                  <a:off x="1630095" y="3579174"/>
                  <a:ext cx="1038225" cy="504825"/>
                </a:xfrm>
                <a:prstGeom prst="bentConnector3">
                  <a:avLst>
                    <a:gd name="adj1" fmla="val 38073"/>
                  </a:avLst>
                </a:prstGeom>
                <a:ln w="5715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肘形连接符 27"/>
                <p:cNvCxnSpPr/>
                <p:nvPr/>
              </p:nvCxnSpPr>
              <p:spPr>
                <a:xfrm>
                  <a:off x="2557195" y="3579174"/>
                  <a:ext cx="1038225" cy="504825"/>
                </a:xfrm>
                <a:prstGeom prst="bentConnector3">
                  <a:avLst>
                    <a:gd name="adj1" fmla="val 38073"/>
                  </a:avLst>
                </a:prstGeom>
                <a:ln w="5715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" name="直接连接符 96"/>
            <p:cNvCxnSpPr/>
            <p:nvPr/>
          </p:nvCxnSpPr>
          <p:spPr>
            <a:xfrm flipV="1">
              <a:off x="4986342" y="3695699"/>
              <a:ext cx="684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V="1">
              <a:off x="6548438" y="3695700"/>
              <a:ext cx="61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矩形 100"/>
          <p:cNvSpPr/>
          <p:nvPr/>
        </p:nvSpPr>
        <p:spPr>
          <a:xfrm>
            <a:off x="2819416" y="3658553"/>
            <a:ext cx="862013" cy="547687"/>
          </a:xfrm>
          <a:prstGeom prst="rect">
            <a:avLst/>
          </a:prstGeom>
          <a:solidFill>
            <a:schemeClr val="accent1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705492" y="3572828"/>
            <a:ext cx="862013" cy="547687"/>
          </a:xfrm>
          <a:prstGeom prst="rect">
            <a:avLst/>
          </a:prstGeom>
          <a:solidFill>
            <a:schemeClr val="accent1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102"/>
          <p:cNvGrpSpPr/>
          <p:nvPr/>
        </p:nvGrpSpPr>
        <p:grpSpPr>
          <a:xfrm>
            <a:off x="2025666" y="1425059"/>
            <a:ext cx="2273300" cy="2206506"/>
            <a:chOff x="2025666" y="1425059"/>
            <a:chExt cx="2273300" cy="2206506"/>
          </a:xfrm>
        </p:grpSpPr>
        <p:grpSp>
          <p:nvGrpSpPr>
            <p:cNvPr id="11" name="组合 94"/>
            <p:cNvGrpSpPr/>
            <p:nvPr/>
          </p:nvGrpSpPr>
          <p:grpSpPr>
            <a:xfrm>
              <a:off x="2025666" y="1860621"/>
              <a:ext cx="2273300" cy="1770944"/>
              <a:chOff x="1631950" y="1892300"/>
              <a:chExt cx="2273300" cy="1593850"/>
            </a:xfrm>
          </p:grpSpPr>
          <p:cxnSp>
            <p:nvCxnSpPr>
              <p:cNvPr id="63" name="直接连接符 62"/>
              <p:cNvCxnSpPr/>
              <p:nvPr/>
            </p:nvCxnSpPr>
            <p:spPr>
              <a:xfrm>
                <a:off x="2387600" y="2254250"/>
                <a:ext cx="6350" cy="12319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组合 52"/>
              <p:cNvGrpSpPr/>
              <p:nvPr/>
            </p:nvGrpSpPr>
            <p:grpSpPr>
              <a:xfrm>
                <a:off x="1638300" y="2686050"/>
                <a:ext cx="2266950" cy="520700"/>
                <a:chOff x="1054100" y="2800350"/>
                <a:chExt cx="2159000" cy="520700"/>
              </a:xfrm>
            </p:grpSpPr>
            <p:grpSp>
              <p:nvGrpSpPr>
                <p:cNvPr id="13" name="组合 39"/>
                <p:cNvGrpSpPr/>
                <p:nvPr/>
              </p:nvGrpSpPr>
              <p:grpSpPr>
                <a:xfrm>
                  <a:off x="1054100" y="2800350"/>
                  <a:ext cx="717708" cy="520700"/>
                  <a:chOff x="1466850" y="2051050"/>
                  <a:chExt cx="336550" cy="520700"/>
                </a:xfrm>
              </p:grpSpPr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1466850" y="2063750"/>
                    <a:ext cx="3365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1803400" y="2051050"/>
                    <a:ext cx="0" cy="52070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9" name="直接连接符 38"/>
                <p:cNvCxnSpPr/>
                <p:nvPr/>
              </p:nvCxnSpPr>
              <p:spPr>
                <a:xfrm>
                  <a:off x="1777921" y="3308350"/>
                  <a:ext cx="324008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组合 40"/>
                <p:cNvGrpSpPr/>
                <p:nvPr/>
              </p:nvGrpSpPr>
              <p:grpSpPr>
                <a:xfrm flipH="1">
                  <a:off x="2108042" y="2800350"/>
                  <a:ext cx="1105058" cy="520700"/>
                  <a:chOff x="1466850" y="2051050"/>
                  <a:chExt cx="336550" cy="520700"/>
                </a:xfrm>
              </p:grpSpPr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1466850" y="2063750"/>
                    <a:ext cx="3365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/>
                  <p:cNvCxnSpPr/>
                  <p:nvPr/>
                </p:nvCxnSpPr>
                <p:spPr>
                  <a:xfrm>
                    <a:off x="1803400" y="2051050"/>
                    <a:ext cx="0" cy="52070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" name="组合 53"/>
              <p:cNvGrpSpPr/>
              <p:nvPr/>
            </p:nvGrpSpPr>
            <p:grpSpPr>
              <a:xfrm flipV="1">
                <a:off x="1631950" y="1892300"/>
                <a:ext cx="2266950" cy="520700"/>
                <a:chOff x="1054100" y="2800350"/>
                <a:chExt cx="2159000" cy="520700"/>
              </a:xfrm>
            </p:grpSpPr>
            <p:grpSp>
              <p:nvGrpSpPr>
                <p:cNvPr id="16" name="组合 39"/>
                <p:cNvGrpSpPr/>
                <p:nvPr/>
              </p:nvGrpSpPr>
              <p:grpSpPr>
                <a:xfrm>
                  <a:off x="1054100" y="2800350"/>
                  <a:ext cx="717708" cy="520700"/>
                  <a:chOff x="1466850" y="2051050"/>
                  <a:chExt cx="336550" cy="520700"/>
                </a:xfrm>
              </p:grpSpPr>
              <p:cxnSp>
                <p:nvCxnSpPr>
                  <p:cNvPr id="60" name="直接连接符 59"/>
                  <p:cNvCxnSpPr/>
                  <p:nvPr/>
                </p:nvCxnSpPr>
                <p:spPr>
                  <a:xfrm>
                    <a:off x="1466850" y="2063750"/>
                    <a:ext cx="336550" cy="0"/>
                  </a:xfrm>
                  <a:prstGeom prst="line">
                    <a:avLst/>
                  </a:prstGeom>
                  <a:ln w="28575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/>
                  <p:cNvCxnSpPr/>
                  <p:nvPr/>
                </p:nvCxnSpPr>
                <p:spPr>
                  <a:xfrm>
                    <a:off x="1803400" y="2051050"/>
                    <a:ext cx="0" cy="520700"/>
                  </a:xfrm>
                  <a:prstGeom prst="line">
                    <a:avLst/>
                  </a:prstGeom>
                  <a:ln w="28575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6" name="直接连接符 55"/>
                <p:cNvCxnSpPr/>
                <p:nvPr/>
              </p:nvCxnSpPr>
              <p:spPr>
                <a:xfrm>
                  <a:off x="1777921" y="3308350"/>
                  <a:ext cx="324008" cy="0"/>
                </a:xfrm>
                <a:prstGeom prst="line">
                  <a:avLst/>
                </a:prstGeom>
                <a:ln w="28575">
                  <a:solidFill>
                    <a:srgbClr val="66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组合 40"/>
                <p:cNvGrpSpPr/>
                <p:nvPr/>
              </p:nvGrpSpPr>
              <p:grpSpPr>
                <a:xfrm flipH="1">
                  <a:off x="2108042" y="2800350"/>
                  <a:ext cx="1105058" cy="520700"/>
                  <a:chOff x="1466850" y="2051050"/>
                  <a:chExt cx="336550" cy="520700"/>
                </a:xfrm>
              </p:grpSpPr>
              <p:cxnSp>
                <p:nvCxnSpPr>
                  <p:cNvPr id="58" name="直接连接符 57"/>
                  <p:cNvCxnSpPr/>
                  <p:nvPr/>
                </p:nvCxnSpPr>
                <p:spPr>
                  <a:xfrm>
                    <a:off x="1466850" y="2063750"/>
                    <a:ext cx="336550" cy="0"/>
                  </a:xfrm>
                  <a:prstGeom prst="line">
                    <a:avLst/>
                  </a:prstGeom>
                  <a:ln w="28575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接连接符 58"/>
                  <p:cNvCxnSpPr/>
                  <p:nvPr/>
                </p:nvCxnSpPr>
                <p:spPr>
                  <a:xfrm>
                    <a:off x="1803400" y="2051050"/>
                    <a:ext cx="0" cy="520700"/>
                  </a:xfrm>
                  <a:prstGeom prst="line">
                    <a:avLst/>
                  </a:prstGeom>
                  <a:ln w="28575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85" name="矩形 84"/>
            <p:cNvSpPr/>
            <p:nvPr/>
          </p:nvSpPr>
          <p:spPr>
            <a:xfrm>
              <a:off x="2360652" y="142505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电平触发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103"/>
          <p:cNvGrpSpPr/>
          <p:nvPr/>
        </p:nvGrpSpPr>
        <p:grpSpPr>
          <a:xfrm>
            <a:off x="4908566" y="1425059"/>
            <a:ext cx="2273300" cy="2192395"/>
            <a:chOff x="4908566" y="1425059"/>
            <a:chExt cx="2273300" cy="2192395"/>
          </a:xfrm>
        </p:grpSpPr>
        <p:grpSp>
          <p:nvGrpSpPr>
            <p:cNvPr id="25" name="组合 95"/>
            <p:cNvGrpSpPr/>
            <p:nvPr/>
          </p:nvGrpSpPr>
          <p:grpSpPr>
            <a:xfrm>
              <a:off x="4908566" y="1846510"/>
              <a:ext cx="2273300" cy="1770944"/>
              <a:chOff x="4514850" y="1879600"/>
              <a:chExt cx="2273300" cy="1593850"/>
            </a:xfrm>
          </p:grpSpPr>
          <p:cxnSp>
            <p:nvCxnSpPr>
              <p:cNvPr id="66" name="直接连接符 65"/>
              <p:cNvCxnSpPr/>
              <p:nvPr/>
            </p:nvCxnSpPr>
            <p:spPr>
              <a:xfrm>
                <a:off x="5270500" y="2241550"/>
                <a:ext cx="6350" cy="12319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组合 86"/>
              <p:cNvGrpSpPr/>
              <p:nvPr/>
            </p:nvGrpSpPr>
            <p:grpSpPr>
              <a:xfrm>
                <a:off x="4514850" y="1879600"/>
                <a:ext cx="2266950" cy="520700"/>
                <a:chOff x="4152900" y="1682750"/>
                <a:chExt cx="2266950" cy="520700"/>
              </a:xfrm>
            </p:grpSpPr>
            <p:grpSp>
              <p:nvGrpSpPr>
                <p:cNvPr id="29" name="组合 74"/>
                <p:cNvGrpSpPr/>
                <p:nvPr/>
              </p:nvGrpSpPr>
              <p:grpSpPr>
                <a:xfrm flipV="1">
                  <a:off x="4152900" y="1682750"/>
                  <a:ext cx="2266950" cy="520700"/>
                  <a:chOff x="1054100" y="2800350"/>
                  <a:chExt cx="2159000" cy="520700"/>
                </a:xfrm>
              </p:grpSpPr>
              <p:grpSp>
                <p:nvGrpSpPr>
                  <p:cNvPr id="30" name="组合 39"/>
                  <p:cNvGrpSpPr/>
                  <p:nvPr/>
                </p:nvGrpSpPr>
                <p:grpSpPr>
                  <a:xfrm>
                    <a:off x="1054100" y="2800350"/>
                    <a:ext cx="717708" cy="520700"/>
                    <a:chOff x="1466850" y="2051050"/>
                    <a:chExt cx="336550" cy="520700"/>
                  </a:xfrm>
                </p:grpSpPr>
                <p:cxnSp>
                  <p:nvCxnSpPr>
                    <p:cNvPr id="81" name="直接连接符 80"/>
                    <p:cNvCxnSpPr/>
                    <p:nvPr/>
                  </p:nvCxnSpPr>
                  <p:spPr>
                    <a:xfrm>
                      <a:off x="1466850" y="2063750"/>
                      <a:ext cx="336550" cy="0"/>
                    </a:xfrm>
                    <a:prstGeom prst="line">
                      <a:avLst/>
                    </a:prstGeom>
                    <a:ln w="28575">
                      <a:solidFill>
                        <a:srgbClr val="66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直接连接符 81"/>
                    <p:cNvCxnSpPr/>
                    <p:nvPr/>
                  </p:nvCxnSpPr>
                  <p:spPr>
                    <a:xfrm>
                      <a:off x="1803400" y="2051050"/>
                      <a:ext cx="0" cy="520700"/>
                    </a:xfrm>
                    <a:prstGeom prst="line">
                      <a:avLst/>
                    </a:prstGeom>
                    <a:ln w="28575">
                      <a:solidFill>
                        <a:srgbClr val="66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7" name="直接连接符 76"/>
                  <p:cNvCxnSpPr/>
                  <p:nvPr/>
                </p:nvCxnSpPr>
                <p:spPr>
                  <a:xfrm>
                    <a:off x="1777921" y="3308350"/>
                    <a:ext cx="324008" cy="0"/>
                  </a:xfrm>
                  <a:prstGeom prst="line">
                    <a:avLst/>
                  </a:prstGeom>
                  <a:ln w="28575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1" name="组合 40"/>
                  <p:cNvGrpSpPr/>
                  <p:nvPr/>
                </p:nvGrpSpPr>
                <p:grpSpPr>
                  <a:xfrm flipH="1">
                    <a:off x="2108042" y="2800350"/>
                    <a:ext cx="1105058" cy="520700"/>
                    <a:chOff x="1466850" y="2051050"/>
                    <a:chExt cx="336550" cy="520700"/>
                  </a:xfrm>
                </p:grpSpPr>
                <p:cxnSp>
                  <p:nvCxnSpPr>
                    <p:cNvPr id="79" name="直接连接符 78"/>
                    <p:cNvCxnSpPr/>
                    <p:nvPr/>
                  </p:nvCxnSpPr>
                  <p:spPr>
                    <a:xfrm>
                      <a:off x="1466850" y="2063750"/>
                      <a:ext cx="336550" cy="0"/>
                    </a:xfrm>
                    <a:prstGeom prst="line">
                      <a:avLst/>
                    </a:prstGeom>
                    <a:ln w="28575">
                      <a:solidFill>
                        <a:srgbClr val="66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直接连接符 79"/>
                    <p:cNvCxnSpPr/>
                    <p:nvPr/>
                  </p:nvCxnSpPr>
                  <p:spPr>
                    <a:xfrm>
                      <a:off x="1803400" y="2051050"/>
                      <a:ext cx="0" cy="520700"/>
                    </a:xfrm>
                    <a:prstGeom prst="line">
                      <a:avLst/>
                    </a:prstGeom>
                    <a:ln w="28575">
                      <a:solidFill>
                        <a:srgbClr val="66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4" name="直接箭头连接符 83"/>
                <p:cNvCxnSpPr/>
                <p:nvPr/>
              </p:nvCxnSpPr>
              <p:spPr>
                <a:xfrm flipH="1" flipV="1">
                  <a:off x="4908550" y="1885950"/>
                  <a:ext cx="0" cy="203200"/>
                </a:xfrm>
                <a:prstGeom prst="straightConnector1">
                  <a:avLst/>
                </a:prstGeom>
                <a:ln w="28575">
                  <a:solidFill>
                    <a:srgbClr val="6600FF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组合 88"/>
              <p:cNvGrpSpPr/>
              <p:nvPr/>
            </p:nvGrpSpPr>
            <p:grpSpPr>
              <a:xfrm>
                <a:off x="4521200" y="2673350"/>
                <a:ext cx="2266950" cy="520700"/>
                <a:chOff x="4159250" y="2476500"/>
                <a:chExt cx="2266950" cy="520700"/>
              </a:xfrm>
            </p:grpSpPr>
            <p:grpSp>
              <p:nvGrpSpPr>
                <p:cNvPr id="33" name="组合 66"/>
                <p:cNvGrpSpPr/>
                <p:nvPr/>
              </p:nvGrpSpPr>
              <p:grpSpPr>
                <a:xfrm>
                  <a:off x="4159250" y="2476500"/>
                  <a:ext cx="2266950" cy="520700"/>
                  <a:chOff x="1054100" y="2800350"/>
                  <a:chExt cx="2159000" cy="520700"/>
                </a:xfrm>
              </p:grpSpPr>
              <p:grpSp>
                <p:nvGrpSpPr>
                  <p:cNvPr id="36" name="组合 39"/>
                  <p:cNvGrpSpPr/>
                  <p:nvPr/>
                </p:nvGrpSpPr>
                <p:grpSpPr>
                  <a:xfrm>
                    <a:off x="1054100" y="2800350"/>
                    <a:ext cx="717708" cy="520700"/>
                    <a:chOff x="1466850" y="2051050"/>
                    <a:chExt cx="336550" cy="520700"/>
                  </a:xfrm>
                </p:grpSpPr>
                <p:cxnSp>
                  <p:nvCxnSpPr>
                    <p:cNvPr id="73" name="直接连接符 72"/>
                    <p:cNvCxnSpPr/>
                    <p:nvPr/>
                  </p:nvCxnSpPr>
                  <p:spPr>
                    <a:xfrm>
                      <a:off x="1466850" y="2063750"/>
                      <a:ext cx="336550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直接连接符 73"/>
                    <p:cNvCxnSpPr/>
                    <p:nvPr/>
                  </p:nvCxnSpPr>
                  <p:spPr>
                    <a:xfrm>
                      <a:off x="1803400" y="2051050"/>
                      <a:ext cx="0" cy="52070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9" name="直接连接符 68"/>
                  <p:cNvCxnSpPr/>
                  <p:nvPr/>
                </p:nvCxnSpPr>
                <p:spPr>
                  <a:xfrm>
                    <a:off x="1777921" y="3308350"/>
                    <a:ext cx="324008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7" name="组合 40"/>
                  <p:cNvGrpSpPr/>
                  <p:nvPr/>
                </p:nvGrpSpPr>
                <p:grpSpPr>
                  <a:xfrm flipH="1">
                    <a:off x="2108042" y="2800350"/>
                    <a:ext cx="1105058" cy="520700"/>
                    <a:chOff x="1466850" y="2051050"/>
                    <a:chExt cx="336550" cy="520700"/>
                  </a:xfrm>
                </p:grpSpPr>
                <p:cxnSp>
                  <p:nvCxnSpPr>
                    <p:cNvPr id="71" name="直接连接符 70"/>
                    <p:cNvCxnSpPr/>
                    <p:nvPr/>
                  </p:nvCxnSpPr>
                  <p:spPr>
                    <a:xfrm>
                      <a:off x="1466850" y="2063750"/>
                      <a:ext cx="336550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接连接符 71"/>
                    <p:cNvCxnSpPr/>
                    <p:nvPr/>
                  </p:nvCxnSpPr>
                  <p:spPr>
                    <a:xfrm>
                      <a:off x="1803400" y="2051050"/>
                      <a:ext cx="0" cy="52070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8" name="直接箭头连接符 87"/>
                <p:cNvCxnSpPr/>
                <p:nvPr/>
              </p:nvCxnSpPr>
              <p:spPr>
                <a:xfrm flipH="1">
                  <a:off x="4914900" y="2635250"/>
                  <a:ext cx="0" cy="20320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0" name="矩形 99"/>
            <p:cNvSpPr/>
            <p:nvPr/>
          </p:nvSpPr>
          <p:spPr>
            <a:xfrm>
              <a:off x="5265777" y="142505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边沿触发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252486" y="4501864"/>
            <a:ext cx="2653014" cy="420656"/>
            <a:chOff x="3252486" y="4501864"/>
            <a:chExt cx="2653014" cy="420656"/>
          </a:xfrm>
        </p:grpSpPr>
        <p:sp>
          <p:nvSpPr>
            <p:cNvPr id="75" name="圆角矩形标注 74"/>
            <p:cNvSpPr/>
            <p:nvPr/>
          </p:nvSpPr>
          <p:spPr bwMode="auto">
            <a:xfrm>
              <a:off x="3252486" y="4501864"/>
              <a:ext cx="2653014" cy="420656"/>
            </a:xfrm>
            <a:prstGeom prst="wedgeRoundRectCallout">
              <a:avLst>
                <a:gd name="adj1" fmla="val -41664"/>
                <a:gd name="adj2" fmla="val -111022"/>
                <a:gd name="adj3" fmla="val 16667"/>
              </a:avLst>
            </a:prstGeom>
            <a:ln>
              <a:solidFill>
                <a:srgbClr val="0000FF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TW</a:t>
              </a:r>
              <a:r>
                <a: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RC</a:t>
              </a:r>
              <a:r>
                <a: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延时电路决定</a:t>
              </a:r>
              <a:endPara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圆角矩形标注 75"/>
            <p:cNvSpPr/>
            <p:nvPr/>
          </p:nvSpPr>
          <p:spPr bwMode="auto">
            <a:xfrm>
              <a:off x="3252486" y="4501864"/>
              <a:ext cx="2653014" cy="420656"/>
            </a:xfrm>
            <a:prstGeom prst="wedgeRoundRectCallout">
              <a:avLst>
                <a:gd name="adj1" fmla="val 48810"/>
                <a:gd name="adj2" fmla="val -114645"/>
                <a:gd name="adj3" fmla="val 16667"/>
              </a:avLst>
            </a:prstGeom>
            <a:ln>
              <a:solidFill>
                <a:srgbClr val="0000FF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</a:t>
              </a:r>
              <a:r>
                <a:rPr lang="en-US" altLang="zh-CN" sz="12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</a:t>
              </a:r>
              <a:r>
                <a: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RC</a:t>
              </a:r>
              <a:r>
                <a:rPr lang="zh-CN" altLang="en-US" sz="1200" dirty="0">
                  <a:solidFill>
                    <a:srgbClr val="7030A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延时电路决定</a:t>
              </a:r>
              <a:endParaRPr lang="zh-CN" altLang="en-US" sz="12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94" grpId="0" animBg="1"/>
      <p:bldP spid="101" grpId="0" animBg="1"/>
      <p:bldP spid="10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36055" y="1723229"/>
            <a:ext cx="7959120" cy="3229772"/>
            <a:chOff x="636055" y="1723229"/>
            <a:chExt cx="7959120" cy="3229772"/>
          </a:xfrm>
        </p:grpSpPr>
        <p:sp>
          <p:nvSpPr>
            <p:cNvPr id="2" name="矩形: 圆角 1"/>
            <p:cNvSpPr/>
            <p:nvPr/>
          </p:nvSpPr>
          <p:spPr>
            <a:xfrm>
              <a:off x="636055" y="1723229"/>
              <a:ext cx="7959120" cy="3229772"/>
            </a:xfrm>
            <a:prstGeom prst="roundRect">
              <a:avLst>
                <a:gd name="adj" fmla="val 380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02758" name="Object 6"/>
            <p:cNvGraphicFramePr>
              <a:graphicFrameLocks noChangeAspect="1"/>
            </p:cNvGraphicFramePr>
            <p:nvPr/>
          </p:nvGraphicFramePr>
          <p:xfrm>
            <a:off x="946520" y="1726027"/>
            <a:ext cx="7575374" cy="3170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Visio" r:id="rId1" imgW="4425950" imgH="1760855" progId="Visio.Drawing.11">
                    <p:embed/>
                  </p:oleObj>
                </mc:Choice>
                <mc:Fallback>
                  <p:oleObj name="Visio" r:id="rId1" imgW="4425950" imgH="1760855" progId="Visio.Drawing.11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6520" y="1726027"/>
                          <a:ext cx="7575374" cy="31706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椭圆 56"/>
          <p:cNvSpPr/>
          <p:nvPr/>
        </p:nvSpPr>
        <p:spPr>
          <a:xfrm>
            <a:off x="2089773" y="2264326"/>
            <a:ext cx="602455" cy="72461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1493103" y="3147639"/>
            <a:ext cx="246315" cy="4692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1493103" y="2453606"/>
            <a:ext cx="247997" cy="63767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1491421" y="3748587"/>
            <a:ext cx="247997" cy="5607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3062953" y="3816046"/>
            <a:ext cx="316301" cy="5607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865605" y="3531630"/>
            <a:ext cx="595223" cy="4066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890869" y="4029172"/>
            <a:ext cx="828136" cy="284672"/>
          </a:xfrm>
          <a:prstGeom prst="wedgeRoundRectCallout">
            <a:avLst>
              <a:gd name="adj1" fmla="val 59375"/>
              <a:gd name="adj2" fmla="val -107196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sp>
        <p:nvSpPr>
          <p:cNvPr id="15" name="圆角矩形标注 14"/>
          <p:cNvSpPr/>
          <p:nvPr/>
        </p:nvSpPr>
        <p:spPr>
          <a:xfrm>
            <a:off x="668916" y="3114338"/>
            <a:ext cx="828136" cy="309500"/>
          </a:xfrm>
          <a:prstGeom prst="wedgeRoundRectCallout">
            <a:avLst>
              <a:gd name="adj1" fmla="val 82048"/>
              <a:gd name="adj2" fmla="val 69941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grpSp>
        <p:nvGrpSpPr>
          <p:cNvPr id="16" name="组合 4"/>
          <p:cNvGrpSpPr/>
          <p:nvPr/>
        </p:nvGrpSpPr>
        <p:grpSpPr>
          <a:xfrm>
            <a:off x="262891" y="650077"/>
            <a:ext cx="3333756" cy="456728"/>
            <a:chOff x="670560" y="892917"/>
            <a:chExt cx="3333756" cy="411055"/>
          </a:xfrm>
        </p:grpSpPr>
        <p:sp>
          <p:nvSpPr>
            <p:cNvPr id="17" name="矩形 16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构成的单稳态触发器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9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、电路结构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232850" y="3879805"/>
            <a:ext cx="316302" cy="72461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618649" y="3386490"/>
            <a:ext cx="602455" cy="2550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14" grpId="0" animBg="1"/>
      <p:bldP spid="15" grpId="0" animBg="1"/>
      <p:bldP spid="19" grpId="0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758980" y="1579677"/>
          <a:ext cx="3019034" cy="222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Visio" r:id="rId1" imgW="1685925" imgH="1228725" progId="Visio.Drawing.11">
                  <p:embed/>
                </p:oleObj>
              </mc:Choice>
              <mc:Fallback>
                <p:oleObj name="Visio" r:id="rId1" imgW="1685925" imgH="12287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0" y="1579677"/>
                        <a:ext cx="3019034" cy="2225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307618" y="3839176"/>
            <a:ext cx="1319592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稳态</a:t>
            </a:r>
            <a:endParaRPr lang="zh-CN" altLang="en-US" b="1" dirty="0">
              <a:solidFill>
                <a:srgbClr val="CC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圆角矩形标注 64"/>
          <p:cNvSpPr/>
          <p:nvPr/>
        </p:nvSpPr>
        <p:spPr>
          <a:xfrm>
            <a:off x="300644" y="2094660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圆角矩形标注 65"/>
          <p:cNvSpPr/>
          <p:nvPr/>
        </p:nvSpPr>
        <p:spPr>
          <a:xfrm>
            <a:off x="273164" y="3224485"/>
            <a:ext cx="828136" cy="284672"/>
          </a:xfrm>
          <a:prstGeom prst="wedgeRoundRectCallout">
            <a:avLst>
              <a:gd name="adj1" fmla="val 59375"/>
              <a:gd name="adj2" fmla="val -107196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1/3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22016" y="1467119"/>
            <a:ext cx="3502025" cy="3554412"/>
            <a:chOff x="5322016" y="1467119"/>
            <a:chExt cx="3502025" cy="3554412"/>
          </a:xfrm>
        </p:grpSpPr>
        <p:graphicFrame>
          <p:nvGraphicFramePr>
            <p:cNvPr id="205829" name="Object 5"/>
            <p:cNvGraphicFramePr>
              <a:graphicFrameLocks noChangeAspect="1"/>
            </p:cNvGraphicFramePr>
            <p:nvPr/>
          </p:nvGraphicFramePr>
          <p:xfrm>
            <a:off x="5322016" y="1467119"/>
            <a:ext cx="3502025" cy="3554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Visio" r:id="rId3" imgW="1609725" imgH="1781175" progId="Visio.Drawing.11">
                    <p:embed/>
                  </p:oleObj>
                </mc:Choice>
                <mc:Fallback>
                  <p:oleObj name="Visio" r:id="rId3" imgW="1609725" imgH="1781175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2016" y="1467119"/>
                          <a:ext cx="3502025" cy="3554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9" name="组合 78"/>
            <p:cNvGrpSpPr/>
            <p:nvPr/>
          </p:nvGrpSpPr>
          <p:grpSpPr>
            <a:xfrm>
              <a:off x="5828580" y="1998094"/>
              <a:ext cx="2380891" cy="458639"/>
              <a:chOff x="5831456" y="1715218"/>
              <a:chExt cx="2380891" cy="458639"/>
            </a:xfrm>
          </p:grpSpPr>
          <p:cxnSp>
            <p:nvCxnSpPr>
              <p:cNvPr id="68" name="直接连接符 67"/>
              <p:cNvCxnSpPr/>
              <p:nvPr/>
            </p:nvCxnSpPr>
            <p:spPr>
              <a:xfrm>
                <a:off x="5831456" y="1725283"/>
                <a:ext cx="62972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flipH="1" flipV="1">
                <a:off x="6445369" y="1718094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6441056" y="2153729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 flipV="1">
                <a:off x="6692659" y="1715218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6673969" y="1731034"/>
                <a:ext cx="153837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1" name="直接连接符 80"/>
          <p:cNvCxnSpPr/>
          <p:nvPr/>
        </p:nvCxnSpPr>
        <p:spPr>
          <a:xfrm>
            <a:off x="5819953" y="2016784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46"/>
          <p:cNvSpPr>
            <a:spLocks noChangeArrowheads="1"/>
          </p:cNvSpPr>
          <p:nvPr/>
        </p:nvSpPr>
        <p:spPr bwMode="auto">
          <a:xfrm>
            <a:off x="351400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" name="弧形 86"/>
          <p:cNvSpPr/>
          <p:nvPr/>
        </p:nvSpPr>
        <p:spPr>
          <a:xfrm>
            <a:off x="1440612" y="2425101"/>
            <a:ext cx="802256" cy="1630392"/>
          </a:xfrm>
          <a:prstGeom prst="arc">
            <a:avLst>
              <a:gd name="adj1" fmla="val 16020182"/>
              <a:gd name="adj2" fmla="val 1204294"/>
            </a:avLst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Oval 46"/>
          <p:cNvSpPr>
            <a:spLocks noChangeArrowheads="1"/>
          </p:cNvSpPr>
          <p:nvPr/>
        </p:nvSpPr>
        <p:spPr bwMode="auto">
          <a:xfrm>
            <a:off x="351400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2058899" y="2666641"/>
            <a:ext cx="244355" cy="215894"/>
            <a:chOff x="2378075" y="3813213"/>
            <a:chExt cx="296139" cy="284568"/>
          </a:xfrm>
        </p:grpSpPr>
        <p:cxnSp>
          <p:nvCxnSpPr>
            <p:cNvPr id="89" name="直接连接符 15"/>
            <p:cNvCxnSpPr>
              <a:cxnSpLocks noChangeShapeType="1"/>
            </p:cNvCxnSpPr>
            <p:nvPr/>
          </p:nvCxnSpPr>
          <p:spPr bwMode="auto">
            <a:xfrm flipH="1" flipV="1">
              <a:off x="2383182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90" name="直接连接符 16"/>
            <p:cNvCxnSpPr>
              <a:cxnSpLocks noChangeShapeType="1"/>
            </p:cNvCxnSpPr>
            <p:nvPr/>
          </p:nvCxnSpPr>
          <p:spPr bwMode="auto">
            <a:xfrm flipV="1">
              <a:off x="2378075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</p:grpSp>
      <p:sp>
        <p:nvSpPr>
          <p:cNvPr id="122" name="圆角矩形标注 121"/>
          <p:cNvSpPr/>
          <p:nvPr/>
        </p:nvSpPr>
        <p:spPr>
          <a:xfrm>
            <a:off x="293868" y="2094660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Oval 46"/>
          <p:cNvSpPr>
            <a:spLocks noChangeArrowheads="1"/>
          </p:cNvSpPr>
          <p:nvPr/>
        </p:nvSpPr>
        <p:spPr bwMode="auto">
          <a:xfrm>
            <a:off x="351400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1500997" y="2450981"/>
            <a:ext cx="638355" cy="966159"/>
          </a:xfrm>
          <a:custGeom>
            <a:avLst/>
            <a:gdLst>
              <a:gd name="connsiteX0" fmla="*/ 0 w 888521"/>
              <a:gd name="connsiteY0" fmla="*/ 715993 h 966159"/>
              <a:gd name="connsiteX1" fmla="*/ 146649 w 888521"/>
              <a:gd name="connsiteY1" fmla="*/ 77638 h 966159"/>
              <a:gd name="connsiteX2" fmla="*/ 655608 w 888521"/>
              <a:gd name="connsiteY2" fmla="*/ 250166 h 966159"/>
              <a:gd name="connsiteX3" fmla="*/ 888521 w 888521"/>
              <a:gd name="connsiteY3" fmla="*/ 966159 h 966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8521" h="966159">
                <a:moveTo>
                  <a:pt x="0" y="715993"/>
                </a:moveTo>
                <a:cubicBezTo>
                  <a:pt x="18690" y="435634"/>
                  <a:pt x="37381" y="155276"/>
                  <a:pt x="146649" y="77638"/>
                </a:cubicBezTo>
                <a:cubicBezTo>
                  <a:pt x="255917" y="0"/>
                  <a:pt x="531963" y="102079"/>
                  <a:pt x="655608" y="250166"/>
                </a:cubicBezTo>
                <a:cubicBezTo>
                  <a:pt x="779253" y="398253"/>
                  <a:pt x="833887" y="682206"/>
                  <a:pt x="888521" y="966159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接连接符 126"/>
          <p:cNvCxnSpPr/>
          <p:nvPr/>
        </p:nvCxnSpPr>
        <p:spPr>
          <a:xfrm>
            <a:off x="5825705" y="3532157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 flipH="1" flipV="1">
            <a:off x="6448242" y="2438043"/>
            <a:ext cx="0" cy="2186795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5840082" y="4616207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"/>
          <p:cNvSpPr>
            <a:spLocks noChangeArrowheads="1"/>
          </p:cNvSpPr>
          <p:nvPr/>
        </p:nvSpPr>
        <p:spPr bwMode="auto">
          <a:xfrm>
            <a:off x="562400" y="4262410"/>
            <a:ext cx="4639328" cy="646331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电路没有触发信号处于稳态时，电容两端电压为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，电路的输出状态低电平（稳态）。</a:t>
            </a:r>
            <a:endParaRPr lang="en-US" altLang="zh-CN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8" name="Oval 46"/>
          <p:cNvSpPr>
            <a:spLocks noChangeArrowheads="1"/>
          </p:cNvSpPr>
          <p:nvPr/>
        </p:nvSpPr>
        <p:spPr bwMode="auto">
          <a:xfrm>
            <a:off x="3494214" y="2318632"/>
            <a:ext cx="385135" cy="396816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prstDash val="dash"/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" name="Oval 46"/>
          <p:cNvSpPr>
            <a:spLocks noChangeArrowheads="1"/>
          </p:cNvSpPr>
          <p:nvPr/>
        </p:nvSpPr>
        <p:spPr bwMode="auto">
          <a:xfrm>
            <a:off x="3504111" y="2767914"/>
            <a:ext cx="385135" cy="396816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FF"/>
            </a:solidFill>
            <a:prstDash val="dash"/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圆角矩形标注 142"/>
          <p:cNvSpPr/>
          <p:nvPr/>
        </p:nvSpPr>
        <p:spPr>
          <a:xfrm>
            <a:off x="293868" y="2094659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圆角矩形标注 140"/>
          <p:cNvSpPr/>
          <p:nvPr/>
        </p:nvSpPr>
        <p:spPr>
          <a:xfrm>
            <a:off x="293868" y="2094659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ʋ</a:t>
            </a:r>
            <a:r>
              <a:rPr lang="en-US" altLang="zh-CN" sz="1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≈0</a:t>
            </a:r>
            <a:endParaRPr lang="en-US" altLang="zh-CN" sz="1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组合 4"/>
          <p:cNvGrpSpPr/>
          <p:nvPr/>
        </p:nvGrpSpPr>
        <p:grpSpPr>
          <a:xfrm>
            <a:off x="262891" y="650077"/>
            <a:ext cx="3333756" cy="456728"/>
            <a:chOff x="670560" y="892917"/>
            <a:chExt cx="3333756" cy="411055"/>
          </a:xfrm>
        </p:grpSpPr>
        <p:sp>
          <p:nvSpPr>
            <p:cNvPr id="42" name="矩形 41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构成的单稳态触发器</a:t>
              </a:r>
              <a:endPara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3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5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5499340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66108" y="1771978"/>
            <a:ext cx="1331513" cy="1511463"/>
            <a:chOff x="1457305" y="1796495"/>
            <a:chExt cx="1331513" cy="1511463"/>
          </a:xfrm>
        </p:grpSpPr>
        <p:sp>
          <p:nvSpPr>
            <p:cNvPr id="4" name="任意多边形: 形状 3"/>
            <p:cNvSpPr/>
            <p:nvPr/>
          </p:nvSpPr>
          <p:spPr>
            <a:xfrm>
              <a:off x="1547642" y="1796495"/>
              <a:ext cx="1241176" cy="1511463"/>
            </a:xfrm>
            <a:custGeom>
              <a:avLst/>
              <a:gdLst>
                <a:gd name="connsiteX0" fmla="*/ 1150620 w 1150620"/>
                <a:gd name="connsiteY0" fmla="*/ 3761 h 1741121"/>
                <a:gd name="connsiteX1" fmla="*/ 228600 w 1150620"/>
                <a:gd name="connsiteY1" fmla="*/ 57101 h 1741121"/>
                <a:gd name="connsiteX2" fmla="*/ 60960 w 1150620"/>
                <a:gd name="connsiteY2" fmla="*/ 400001 h 1741121"/>
                <a:gd name="connsiteX3" fmla="*/ 0 w 1150620"/>
                <a:gd name="connsiteY3" fmla="*/ 1741121 h 1741121"/>
                <a:gd name="connsiteX4" fmla="*/ 0 w 1150620"/>
                <a:gd name="connsiteY4" fmla="*/ 1741121 h 1741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20" h="1741121">
                  <a:moveTo>
                    <a:pt x="1150620" y="3761"/>
                  </a:moveTo>
                  <a:cubicBezTo>
                    <a:pt x="780415" y="-2589"/>
                    <a:pt x="410210" y="-8939"/>
                    <a:pt x="228600" y="57101"/>
                  </a:cubicBezTo>
                  <a:cubicBezTo>
                    <a:pt x="46990" y="123141"/>
                    <a:pt x="99060" y="119331"/>
                    <a:pt x="60960" y="400001"/>
                  </a:cubicBezTo>
                  <a:cubicBezTo>
                    <a:pt x="22860" y="680671"/>
                    <a:pt x="0" y="1741121"/>
                    <a:pt x="0" y="1741121"/>
                  </a:cubicBezTo>
                  <a:lnTo>
                    <a:pt x="0" y="1741121"/>
                  </a:lnTo>
                </a:path>
              </a:pathLst>
            </a:custGeom>
            <a:ln w="28575">
              <a:solidFill>
                <a:srgbClr val="CC00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1457305" y="2803895"/>
              <a:ext cx="244355" cy="215918"/>
              <a:chOff x="2378075" y="4184839"/>
              <a:chExt cx="296139" cy="284602"/>
            </a:xfrm>
          </p:grpSpPr>
          <p:cxnSp>
            <p:nvCxnSpPr>
              <p:cNvPr id="49" name="直接连接符 15"/>
              <p:cNvCxnSpPr>
                <a:cxnSpLocks noChangeShapeType="1"/>
              </p:cNvCxnSpPr>
              <p:nvPr/>
            </p:nvCxnSpPr>
            <p:spPr bwMode="auto">
              <a:xfrm flipH="1" flipV="1">
                <a:off x="2383182" y="4184839"/>
                <a:ext cx="291032" cy="284569"/>
              </a:xfrm>
              <a:prstGeom prst="line">
                <a:avLst/>
              </a:prstGeom>
              <a:noFill/>
              <a:ln w="57150" algn="ctr">
                <a:solidFill>
                  <a:srgbClr val="FF0000"/>
                </a:solidFill>
                <a:round/>
              </a:ln>
            </p:spPr>
          </p:cxnSp>
          <p:cxnSp>
            <p:nvCxnSpPr>
              <p:cNvPr id="51" name="直接连接符 16"/>
              <p:cNvCxnSpPr>
                <a:cxnSpLocks noChangeShapeType="1"/>
              </p:cNvCxnSpPr>
              <p:nvPr/>
            </p:nvCxnSpPr>
            <p:spPr bwMode="auto">
              <a:xfrm flipV="1">
                <a:off x="2378075" y="4184876"/>
                <a:ext cx="291032" cy="284565"/>
              </a:xfrm>
              <a:prstGeom prst="line">
                <a:avLst/>
              </a:prstGeom>
              <a:noFill/>
              <a:ln w="57150" algn="ctr">
                <a:solidFill>
                  <a:srgbClr val="FF0000"/>
                </a:solidFill>
                <a:round/>
              </a:ln>
            </p:spPr>
          </p:cxnSp>
        </p:grpSp>
      </p:grpSp>
      <p:sp>
        <p:nvSpPr>
          <p:cNvPr id="58" name="任意多边形: 形状 57"/>
          <p:cNvSpPr/>
          <p:nvPr/>
        </p:nvSpPr>
        <p:spPr>
          <a:xfrm>
            <a:off x="1563221" y="1769387"/>
            <a:ext cx="1241176" cy="1511463"/>
          </a:xfrm>
          <a:custGeom>
            <a:avLst/>
            <a:gdLst>
              <a:gd name="connsiteX0" fmla="*/ 1150620 w 1150620"/>
              <a:gd name="connsiteY0" fmla="*/ 3761 h 1741121"/>
              <a:gd name="connsiteX1" fmla="*/ 228600 w 1150620"/>
              <a:gd name="connsiteY1" fmla="*/ 57101 h 1741121"/>
              <a:gd name="connsiteX2" fmla="*/ 60960 w 1150620"/>
              <a:gd name="connsiteY2" fmla="*/ 400001 h 1741121"/>
              <a:gd name="connsiteX3" fmla="*/ 0 w 1150620"/>
              <a:gd name="connsiteY3" fmla="*/ 1741121 h 1741121"/>
              <a:gd name="connsiteX4" fmla="*/ 0 w 1150620"/>
              <a:gd name="connsiteY4" fmla="*/ 1741121 h 174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620" h="1741121">
                <a:moveTo>
                  <a:pt x="1150620" y="3761"/>
                </a:moveTo>
                <a:cubicBezTo>
                  <a:pt x="780415" y="-2589"/>
                  <a:pt x="410210" y="-8939"/>
                  <a:pt x="228600" y="57101"/>
                </a:cubicBezTo>
                <a:cubicBezTo>
                  <a:pt x="46990" y="123141"/>
                  <a:pt x="99060" y="119331"/>
                  <a:pt x="60960" y="400001"/>
                </a:cubicBezTo>
                <a:cubicBezTo>
                  <a:pt x="22860" y="680671"/>
                  <a:pt x="0" y="1741121"/>
                  <a:pt x="0" y="1741121"/>
                </a:cubicBezTo>
                <a:lnTo>
                  <a:pt x="0" y="1741121"/>
                </a:lnTo>
              </a:path>
            </a:pathLst>
          </a:custGeom>
          <a:ln w="28575">
            <a:solidFill>
              <a:srgbClr val="CC00CC"/>
            </a:solidFill>
            <a:headEnd type="non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6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5" grpId="0" animBg="1"/>
      <p:bldP spid="66" grpId="0" animBg="1"/>
      <p:bldP spid="86" grpId="0" animBg="1"/>
      <p:bldP spid="87" grpId="0" animBg="1"/>
      <p:bldP spid="88" grpId="0" animBg="1"/>
      <p:bldP spid="122" grpId="0" animBg="1"/>
      <p:bldP spid="123" grpId="0" animBg="1"/>
      <p:bldP spid="126" grpId="0" animBg="1"/>
      <p:bldP spid="134" grpId="0" animBg="1"/>
      <p:bldP spid="138" grpId="0" animBg="1"/>
      <p:bldP spid="138" grpId="1" animBg="1"/>
      <p:bldP spid="140" grpId="0" animBg="1"/>
      <p:bldP spid="140" grpId="1" animBg="1"/>
      <p:bldP spid="143" grpId="0" animBg="1"/>
      <p:bldP spid="141" grpId="0" animBg="1"/>
      <p:bldP spid="45" grpId="0"/>
      <p:bldP spid="47" grpId="0"/>
      <p:bldP spid="58" grpId="0" animBg="1"/>
      <p:bldP spid="5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Object 5"/>
          <p:cNvGraphicFramePr>
            <a:graphicFrameLocks noChangeAspect="1"/>
          </p:cNvGraphicFramePr>
          <p:nvPr/>
        </p:nvGraphicFramePr>
        <p:xfrm>
          <a:off x="758980" y="1579677"/>
          <a:ext cx="3019034" cy="222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Visio" r:id="rId1" imgW="1685925" imgH="1228725" progId="Visio.Drawing.11">
                  <p:embed/>
                </p:oleObj>
              </mc:Choice>
              <mc:Fallback>
                <p:oleObj name="Visio" r:id="rId1" imgW="1685925" imgH="12287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0" y="1579677"/>
                        <a:ext cx="3019034" cy="2225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组合 96"/>
          <p:cNvGrpSpPr/>
          <p:nvPr/>
        </p:nvGrpSpPr>
        <p:grpSpPr>
          <a:xfrm>
            <a:off x="5322016" y="1467119"/>
            <a:ext cx="3502025" cy="3554412"/>
            <a:chOff x="5322016" y="1467119"/>
            <a:chExt cx="3502025" cy="3554412"/>
          </a:xfrm>
        </p:grpSpPr>
        <p:graphicFrame>
          <p:nvGraphicFramePr>
            <p:cNvPr id="98" name="Object 5"/>
            <p:cNvGraphicFramePr>
              <a:graphicFrameLocks noChangeAspect="1"/>
            </p:cNvGraphicFramePr>
            <p:nvPr/>
          </p:nvGraphicFramePr>
          <p:xfrm>
            <a:off x="5322016" y="1467119"/>
            <a:ext cx="3502025" cy="3554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7" name="Visio" r:id="rId3" imgW="1609725" imgH="1781175" progId="Visio.Drawing.11">
                    <p:embed/>
                  </p:oleObj>
                </mc:Choice>
                <mc:Fallback>
                  <p:oleObj name="Visio" r:id="rId3" imgW="1609725" imgH="1781175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2016" y="1467119"/>
                          <a:ext cx="3502025" cy="3554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9" name="组合 98"/>
            <p:cNvGrpSpPr/>
            <p:nvPr/>
          </p:nvGrpSpPr>
          <p:grpSpPr>
            <a:xfrm>
              <a:off x="5828580" y="1998094"/>
              <a:ext cx="2380891" cy="458639"/>
              <a:chOff x="5831456" y="1715218"/>
              <a:chExt cx="2380891" cy="458639"/>
            </a:xfrm>
          </p:grpSpPr>
          <p:cxnSp>
            <p:nvCxnSpPr>
              <p:cNvPr id="100" name="直接连接符 99"/>
              <p:cNvCxnSpPr/>
              <p:nvPr/>
            </p:nvCxnSpPr>
            <p:spPr>
              <a:xfrm>
                <a:off x="5831456" y="1725283"/>
                <a:ext cx="62972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flipH="1" flipV="1">
                <a:off x="6445369" y="1718094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6441056" y="2153729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flipH="1" flipV="1">
                <a:off x="6692659" y="1715218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6673969" y="1731034"/>
                <a:ext cx="153837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307618" y="3839176"/>
            <a:ext cx="1550424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暂稳态</a:t>
            </a:r>
            <a:endParaRPr lang="zh-CN" altLang="en-US" b="1" dirty="0">
              <a:solidFill>
                <a:srgbClr val="CC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圆角矩形标注 57"/>
          <p:cNvSpPr/>
          <p:nvPr/>
        </p:nvSpPr>
        <p:spPr>
          <a:xfrm>
            <a:off x="273164" y="3224485"/>
            <a:ext cx="828136" cy="284672"/>
          </a:xfrm>
          <a:prstGeom prst="wedgeRoundRectCallout">
            <a:avLst>
              <a:gd name="adj1" fmla="val 59375"/>
              <a:gd name="adj2" fmla="val -107196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1/3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828580" y="1998094"/>
            <a:ext cx="2380891" cy="458639"/>
            <a:chOff x="5831456" y="1715218"/>
            <a:chExt cx="2380891" cy="458639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5831456" y="1725283"/>
              <a:ext cx="62972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 flipV="1">
              <a:off x="6445369" y="1718094"/>
              <a:ext cx="0" cy="4557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6441056" y="2153729"/>
              <a:ext cx="252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 flipV="1">
              <a:off x="6692659" y="1715218"/>
              <a:ext cx="0" cy="4557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6673969" y="1731034"/>
              <a:ext cx="153837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直接连接符 78"/>
          <p:cNvCxnSpPr/>
          <p:nvPr/>
        </p:nvCxnSpPr>
        <p:spPr>
          <a:xfrm>
            <a:off x="5819953" y="2016784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46"/>
          <p:cNvSpPr>
            <a:spLocks noChangeArrowheads="1"/>
          </p:cNvSpPr>
          <p:nvPr/>
        </p:nvSpPr>
        <p:spPr bwMode="auto">
          <a:xfrm>
            <a:off x="351400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" name="弧形 80"/>
          <p:cNvSpPr/>
          <p:nvPr/>
        </p:nvSpPr>
        <p:spPr>
          <a:xfrm>
            <a:off x="1440612" y="2425101"/>
            <a:ext cx="802256" cy="1630392"/>
          </a:xfrm>
          <a:prstGeom prst="arc">
            <a:avLst>
              <a:gd name="adj1" fmla="val 16020182"/>
              <a:gd name="adj2" fmla="val 1204294"/>
            </a:avLst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Oval 46"/>
          <p:cNvSpPr>
            <a:spLocks noChangeArrowheads="1"/>
          </p:cNvSpPr>
          <p:nvPr/>
        </p:nvSpPr>
        <p:spPr bwMode="auto">
          <a:xfrm>
            <a:off x="351400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2049374" y="2695216"/>
            <a:ext cx="244355" cy="215894"/>
            <a:chOff x="2378075" y="3813213"/>
            <a:chExt cx="296139" cy="284568"/>
          </a:xfrm>
        </p:grpSpPr>
        <p:cxnSp>
          <p:nvCxnSpPr>
            <p:cNvPr id="84" name="直接连接符 15"/>
            <p:cNvCxnSpPr>
              <a:cxnSpLocks noChangeShapeType="1"/>
            </p:cNvCxnSpPr>
            <p:nvPr/>
          </p:nvCxnSpPr>
          <p:spPr bwMode="auto">
            <a:xfrm flipH="1" flipV="1">
              <a:off x="2383182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85" name="直接连接符 16"/>
            <p:cNvCxnSpPr>
              <a:cxnSpLocks noChangeShapeType="1"/>
            </p:cNvCxnSpPr>
            <p:nvPr/>
          </p:nvCxnSpPr>
          <p:spPr bwMode="auto">
            <a:xfrm flipV="1">
              <a:off x="2378075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</p:grpSp>
      <p:sp>
        <p:nvSpPr>
          <p:cNvPr id="90" name="Oval 46"/>
          <p:cNvSpPr>
            <a:spLocks noChangeArrowheads="1"/>
          </p:cNvSpPr>
          <p:nvPr/>
        </p:nvSpPr>
        <p:spPr bwMode="auto">
          <a:xfrm>
            <a:off x="3524036" y="2534367"/>
            <a:ext cx="385135" cy="3968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" name="任意多边形 90"/>
          <p:cNvSpPr/>
          <p:nvPr/>
        </p:nvSpPr>
        <p:spPr>
          <a:xfrm>
            <a:off x="1500997" y="2450981"/>
            <a:ext cx="638355" cy="966159"/>
          </a:xfrm>
          <a:custGeom>
            <a:avLst/>
            <a:gdLst>
              <a:gd name="connsiteX0" fmla="*/ 0 w 888521"/>
              <a:gd name="connsiteY0" fmla="*/ 715993 h 966159"/>
              <a:gd name="connsiteX1" fmla="*/ 146649 w 888521"/>
              <a:gd name="connsiteY1" fmla="*/ 77638 h 966159"/>
              <a:gd name="connsiteX2" fmla="*/ 655608 w 888521"/>
              <a:gd name="connsiteY2" fmla="*/ 250166 h 966159"/>
              <a:gd name="connsiteX3" fmla="*/ 888521 w 888521"/>
              <a:gd name="connsiteY3" fmla="*/ 966159 h 966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8521" h="966159">
                <a:moveTo>
                  <a:pt x="0" y="715993"/>
                </a:moveTo>
                <a:cubicBezTo>
                  <a:pt x="18690" y="435634"/>
                  <a:pt x="37381" y="155276"/>
                  <a:pt x="146649" y="77638"/>
                </a:cubicBezTo>
                <a:cubicBezTo>
                  <a:pt x="255917" y="0"/>
                  <a:pt x="531963" y="102079"/>
                  <a:pt x="655608" y="250166"/>
                </a:cubicBezTo>
                <a:cubicBezTo>
                  <a:pt x="779253" y="398253"/>
                  <a:pt x="833887" y="682206"/>
                  <a:pt x="888521" y="966159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连接符 91"/>
          <p:cNvCxnSpPr/>
          <p:nvPr/>
        </p:nvCxnSpPr>
        <p:spPr>
          <a:xfrm>
            <a:off x="5825705" y="3532157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 flipV="1">
            <a:off x="6448242" y="2438043"/>
            <a:ext cx="0" cy="2186795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5840082" y="4616207"/>
            <a:ext cx="6297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13"/>
          <p:cNvSpPr>
            <a:spLocks noChangeArrowheads="1"/>
          </p:cNvSpPr>
          <p:nvPr/>
        </p:nvSpPr>
        <p:spPr bwMode="auto">
          <a:xfrm>
            <a:off x="562400" y="4262409"/>
            <a:ext cx="4639328" cy="92333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电路处于稳态时，在触发脉冲的作用下，由稳态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翻转到暂稳态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，持续一段时间后，电路自动返回稳态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6440515" y="1997735"/>
            <a:ext cx="252000" cy="455763"/>
            <a:chOff x="6440515" y="1740559"/>
            <a:chExt cx="252000" cy="455763"/>
          </a:xfrm>
        </p:grpSpPr>
        <p:cxnSp>
          <p:nvCxnSpPr>
            <p:cNvPr id="44" name="直接连接符 43"/>
            <p:cNvCxnSpPr/>
            <p:nvPr/>
          </p:nvCxnSpPr>
          <p:spPr>
            <a:xfrm flipH="1" flipV="1">
              <a:off x="6444828" y="1740559"/>
              <a:ext cx="0" cy="455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440515" y="2176194"/>
              <a:ext cx="252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圆角矩形标注 104"/>
          <p:cNvSpPr/>
          <p:nvPr/>
        </p:nvSpPr>
        <p:spPr>
          <a:xfrm>
            <a:off x="273164" y="3224485"/>
            <a:ext cx="828136" cy="284672"/>
          </a:xfrm>
          <a:prstGeom prst="wedgeRoundRectCallout">
            <a:avLst>
              <a:gd name="adj1" fmla="val 59375"/>
              <a:gd name="adj2" fmla="val -107196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 1/3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圆角矩形标注 106"/>
          <p:cNvSpPr/>
          <p:nvPr/>
        </p:nvSpPr>
        <p:spPr>
          <a:xfrm>
            <a:off x="274443" y="2055272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≈0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圆角矩形标注 88"/>
          <p:cNvSpPr/>
          <p:nvPr/>
        </p:nvSpPr>
        <p:spPr>
          <a:xfrm>
            <a:off x="271660" y="2047750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" name="弧形 113"/>
          <p:cNvSpPr/>
          <p:nvPr/>
        </p:nvSpPr>
        <p:spPr>
          <a:xfrm rot="16200000">
            <a:off x="7091364" y="2347911"/>
            <a:ext cx="1219200" cy="2543178"/>
          </a:xfrm>
          <a:prstGeom prst="arc">
            <a:avLst>
              <a:gd name="adj1" fmla="val 16493842"/>
              <a:gd name="adj2" fmla="val 1998287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5869194" y="2872859"/>
            <a:ext cx="2888252" cy="338554"/>
            <a:chOff x="5869194" y="2558534"/>
            <a:chExt cx="2888252" cy="338554"/>
          </a:xfrm>
        </p:grpSpPr>
        <p:cxnSp>
          <p:nvCxnSpPr>
            <p:cNvPr id="108" name="直接连接符 107"/>
            <p:cNvCxnSpPr/>
            <p:nvPr/>
          </p:nvCxnSpPr>
          <p:spPr>
            <a:xfrm rot="16200000" flipH="1" flipV="1">
              <a:off x="6962592" y="1618893"/>
              <a:ext cx="0" cy="2186795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矩形 114"/>
            <p:cNvSpPr/>
            <p:nvPr/>
          </p:nvSpPr>
          <p:spPr>
            <a:xfrm>
              <a:off x="7974859" y="2558534"/>
              <a:ext cx="78258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99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2/3</a:t>
              </a:r>
              <a:r>
                <a:rPr lang="en-US" altLang="zh-CN" sz="1600" b="1" i="1" dirty="0">
                  <a:solidFill>
                    <a:srgbClr val="99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solidFill>
                    <a:srgbClr val="99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CC</a:t>
              </a:r>
              <a:endParaRPr lang="zh-CN" altLang="en-US" sz="160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圆角矩形标注 115"/>
          <p:cNvSpPr/>
          <p:nvPr/>
        </p:nvSpPr>
        <p:spPr>
          <a:xfrm>
            <a:off x="273638" y="2047750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rgbClr val="66FF66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6663903" y="1994859"/>
            <a:ext cx="1538378" cy="455763"/>
            <a:chOff x="7083003" y="-624517"/>
            <a:chExt cx="1538378" cy="455763"/>
          </a:xfrm>
        </p:grpSpPr>
        <p:cxnSp>
          <p:nvCxnSpPr>
            <p:cNvPr id="46" name="直接连接符 45"/>
            <p:cNvCxnSpPr/>
            <p:nvPr/>
          </p:nvCxnSpPr>
          <p:spPr>
            <a:xfrm flipH="1" flipV="1">
              <a:off x="7101693" y="-624517"/>
              <a:ext cx="0" cy="455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7083003" y="-608701"/>
              <a:ext cx="153837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直接连接符 121"/>
          <p:cNvCxnSpPr/>
          <p:nvPr/>
        </p:nvCxnSpPr>
        <p:spPr>
          <a:xfrm flipV="1">
            <a:off x="7410450" y="2019302"/>
            <a:ext cx="0" cy="2628899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/>
          <p:cNvGrpSpPr/>
          <p:nvPr/>
        </p:nvGrpSpPr>
        <p:grpSpPr>
          <a:xfrm flipV="1">
            <a:off x="6440515" y="4150384"/>
            <a:ext cx="960410" cy="455763"/>
            <a:chOff x="6440515" y="1740559"/>
            <a:chExt cx="252000" cy="455763"/>
          </a:xfrm>
        </p:grpSpPr>
        <p:cxnSp>
          <p:nvCxnSpPr>
            <p:cNvPr id="126" name="直接连接符 125"/>
            <p:cNvCxnSpPr/>
            <p:nvPr/>
          </p:nvCxnSpPr>
          <p:spPr>
            <a:xfrm flipH="1" flipV="1">
              <a:off x="6444828" y="1740559"/>
              <a:ext cx="0" cy="455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6440515" y="2176194"/>
              <a:ext cx="252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/>
        </p:nvGrpSpPr>
        <p:grpSpPr>
          <a:xfrm>
            <a:off x="7393015" y="4159909"/>
            <a:ext cx="960410" cy="455763"/>
            <a:chOff x="6440515" y="1740559"/>
            <a:chExt cx="252000" cy="455763"/>
          </a:xfrm>
        </p:grpSpPr>
        <p:cxnSp>
          <p:nvCxnSpPr>
            <p:cNvPr id="132" name="直接连接符 131"/>
            <p:cNvCxnSpPr/>
            <p:nvPr/>
          </p:nvCxnSpPr>
          <p:spPr>
            <a:xfrm flipH="1" flipV="1">
              <a:off x="6444828" y="1740559"/>
              <a:ext cx="0" cy="455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6440515" y="2176194"/>
              <a:ext cx="252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圆角矩形标注 133"/>
          <p:cNvSpPr/>
          <p:nvPr/>
        </p:nvSpPr>
        <p:spPr>
          <a:xfrm>
            <a:off x="271660" y="3240297"/>
            <a:ext cx="828136" cy="284672"/>
          </a:xfrm>
          <a:prstGeom prst="wedgeRoundRectCallout">
            <a:avLst>
              <a:gd name="adj1" fmla="val 59375"/>
              <a:gd name="adj2" fmla="val -107196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1/3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圆角矩形标注 136"/>
          <p:cNvSpPr/>
          <p:nvPr/>
        </p:nvSpPr>
        <p:spPr>
          <a:xfrm>
            <a:off x="273638" y="2042275"/>
            <a:ext cx="828136" cy="483079"/>
          </a:xfrm>
          <a:prstGeom prst="wedgeRoundRectCallout">
            <a:avLst>
              <a:gd name="adj1" fmla="val 80208"/>
              <a:gd name="adj2" fmla="val 724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6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ʋ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≈0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 2/3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7400924" y="2581275"/>
            <a:ext cx="1045234" cy="962025"/>
            <a:chOff x="7400924" y="2295524"/>
            <a:chExt cx="1045234" cy="962025"/>
          </a:xfrm>
        </p:grpSpPr>
        <p:sp>
          <p:nvSpPr>
            <p:cNvPr id="136" name="弧形 135"/>
            <p:cNvSpPr/>
            <p:nvPr/>
          </p:nvSpPr>
          <p:spPr>
            <a:xfrm rot="5400000" flipV="1">
              <a:off x="7381874" y="2314574"/>
              <a:ext cx="962025" cy="923925"/>
            </a:xfrm>
            <a:prstGeom prst="arc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>
              <a:off x="7816430" y="3246407"/>
              <a:ext cx="6297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4"/>
          <p:cNvGrpSpPr/>
          <p:nvPr/>
        </p:nvGrpSpPr>
        <p:grpSpPr>
          <a:xfrm>
            <a:off x="262891" y="650077"/>
            <a:ext cx="3333756" cy="456728"/>
            <a:chOff x="670560" y="892917"/>
            <a:chExt cx="3333756" cy="411055"/>
          </a:xfrm>
        </p:grpSpPr>
        <p:sp>
          <p:nvSpPr>
            <p:cNvPr id="63" name="矩形 62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构成的单稳态触发器</a:t>
              </a:r>
              <a:endPara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4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5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27"/>
          <p:cNvSpPr>
            <a:spLocks noChangeArrowheads="1"/>
          </p:cNvSpPr>
          <p:nvPr/>
        </p:nvSpPr>
        <p:spPr bwMode="auto">
          <a:xfrm>
            <a:off x="5499340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1539110" y="1778635"/>
            <a:ext cx="1241176" cy="1511463"/>
          </a:xfrm>
          <a:custGeom>
            <a:avLst/>
            <a:gdLst>
              <a:gd name="connsiteX0" fmla="*/ 1150620 w 1150620"/>
              <a:gd name="connsiteY0" fmla="*/ 3761 h 1741121"/>
              <a:gd name="connsiteX1" fmla="*/ 228600 w 1150620"/>
              <a:gd name="connsiteY1" fmla="*/ 57101 h 1741121"/>
              <a:gd name="connsiteX2" fmla="*/ 60960 w 1150620"/>
              <a:gd name="connsiteY2" fmla="*/ 400001 h 1741121"/>
              <a:gd name="connsiteX3" fmla="*/ 0 w 1150620"/>
              <a:gd name="connsiteY3" fmla="*/ 1741121 h 1741121"/>
              <a:gd name="connsiteX4" fmla="*/ 0 w 1150620"/>
              <a:gd name="connsiteY4" fmla="*/ 1741121 h 174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620" h="1741121">
                <a:moveTo>
                  <a:pt x="1150620" y="3761"/>
                </a:moveTo>
                <a:cubicBezTo>
                  <a:pt x="780415" y="-2589"/>
                  <a:pt x="410210" y="-8939"/>
                  <a:pt x="228600" y="57101"/>
                </a:cubicBezTo>
                <a:cubicBezTo>
                  <a:pt x="46990" y="123141"/>
                  <a:pt x="99060" y="119331"/>
                  <a:pt x="60960" y="400001"/>
                </a:cubicBezTo>
                <a:cubicBezTo>
                  <a:pt x="22860" y="680671"/>
                  <a:pt x="0" y="1741121"/>
                  <a:pt x="0" y="1741121"/>
                </a:cubicBezTo>
                <a:lnTo>
                  <a:pt x="0" y="1741121"/>
                </a:lnTo>
              </a:path>
            </a:pathLst>
          </a:custGeom>
          <a:ln w="28575">
            <a:solidFill>
              <a:srgbClr val="CC00CC"/>
            </a:solidFill>
            <a:headEnd type="non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82" grpId="0" animBg="1"/>
      <p:bldP spid="90" grpId="0" animBg="1"/>
      <p:bldP spid="91" grpId="0" animBg="1"/>
      <p:bldP spid="95" grpId="0" animBg="1"/>
      <p:bldP spid="105" grpId="0" animBg="1"/>
      <p:bldP spid="89" grpId="0" animBg="1"/>
      <p:bldP spid="114" grpId="0" animBg="1"/>
      <p:bldP spid="116" grpId="0" animBg="1"/>
      <p:bldP spid="134" grpId="0" animBg="1"/>
      <p:bldP spid="137" grpId="0" animBg="1"/>
      <p:bldP spid="117" grpId="0" animBg="1"/>
      <p:bldP spid="11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Object 5"/>
          <p:cNvGraphicFramePr>
            <a:graphicFrameLocks noChangeAspect="1"/>
          </p:cNvGraphicFramePr>
          <p:nvPr/>
        </p:nvGraphicFramePr>
        <p:xfrm>
          <a:off x="758980" y="1579677"/>
          <a:ext cx="3019034" cy="222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Visio" r:id="rId1" imgW="1685925" imgH="1228725" progId="Visio.Drawing.11">
                  <p:embed/>
                </p:oleObj>
              </mc:Choice>
              <mc:Fallback>
                <p:oleObj name="Visio" r:id="rId1" imgW="1685925" imgH="12287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0" y="1579677"/>
                        <a:ext cx="3019034" cy="2225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63"/>
          <p:cNvGrpSpPr/>
          <p:nvPr/>
        </p:nvGrpSpPr>
        <p:grpSpPr>
          <a:xfrm>
            <a:off x="5322016" y="1467119"/>
            <a:ext cx="3650537" cy="3554412"/>
            <a:chOff x="5322016" y="1467119"/>
            <a:chExt cx="3650537" cy="3554412"/>
          </a:xfrm>
        </p:grpSpPr>
        <p:grpSp>
          <p:nvGrpSpPr>
            <p:cNvPr id="65" name="组合 64"/>
            <p:cNvGrpSpPr/>
            <p:nvPr/>
          </p:nvGrpSpPr>
          <p:grpSpPr>
            <a:xfrm>
              <a:off x="5322016" y="1467119"/>
              <a:ext cx="3502025" cy="3554412"/>
              <a:chOff x="5322016" y="1467119"/>
              <a:chExt cx="3502025" cy="3554412"/>
            </a:xfrm>
          </p:grpSpPr>
          <p:graphicFrame>
            <p:nvGraphicFramePr>
              <p:cNvPr id="116" name="Object 5"/>
              <p:cNvGraphicFramePr>
                <a:graphicFrameLocks noChangeAspect="1"/>
              </p:cNvGraphicFramePr>
              <p:nvPr/>
            </p:nvGraphicFramePr>
            <p:xfrm>
              <a:off x="5322016" y="1467119"/>
              <a:ext cx="3502025" cy="3554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3" name="Visio" r:id="rId3" imgW="1644015" imgH="1819275" progId="Visio.Drawing.11">
                      <p:embed/>
                    </p:oleObj>
                  </mc:Choice>
                  <mc:Fallback>
                    <p:oleObj name="Visio" r:id="rId3" imgW="1644015" imgH="1819275" progId="Visio.Drawing.11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2016" y="1467119"/>
                            <a:ext cx="3502025" cy="35544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99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7" name="组合 116"/>
              <p:cNvGrpSpPr/>
              <p:nvPr/>
            </p:nvGrpSpPr>
            <p:grpSpPr>
              <a:xfrm>
                <a:off x="5828580" y="1998094"/>
                <a:ext cx="2380891" cy="458639"/>
                <a:chOff x="5831456" y="1715218"/>
                <a:chExt cx="2380891" cy="458639"/>
              </a:xfrm>
            </p:grpSpPr>
            <p:cxnSp>
              <p:nvCxnSpPr>
                <p:cNvPr id="118" name="直接连接符 117"/>
                <p:cNvCxnSpPr/>
                <p:nvPr/>
              </p:nvCxnSpPr>
              <p:spPr>
                <a:xfrm>
                  <a:off x="5831456" y="1725283"/>
                  <a:ext cx="62972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 flipH="1" flipV="1">
                  <a:off x="6445369" y="1718094"/>
                  <a:ext cx="0" cy="45576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6441056" y="2153729"/>
                  <a:ext cx="252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/>
              </p:nvCxnSpPr>
              <p:spPr>
                <a:xfrm flipH="1" flipV="1">
                  <a:off x="6692659" y="1715218"/>
                  <a:ext cx="0" cy="45576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>
                  <a:off x="6673969" y="1731034"/>
                  <a:ext cx="153837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6" name="组合 65"/>
            <p:cNvGrpSpPr/>
            <p:nvPr/>
          </p:nvGrpSpPr>
          <p:grpSpPr>
            <a:xfrm>
              <a:off x="5828580" y="1998094"/>
              <a:ext cx="2380891" cy="458639"/>
              <a:chOff x="5831456" y="1715218"/>
              <a:chExt cx="2380891" cy="458639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5831456" y="1725283"/>
                <a:ext cx="62972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flipH="1" flipV="1">
                <a:off x="6445369" y="1718094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6441056" y="2153729"/>
                <a:ext cx="252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flipH="1" flipV="1">
                <a:off x="6692659" y="1715218"/>
                <a:ext cx="0" cy="45576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6673969" y="1731034"/>
                <a:ext cx="153837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直接连接符 67"/>
            <p:cNvCxnSpPr/>
            <p:nvPr/>
          </p:nvCxnSpPr>
          <p:spPr>
            <a:xfrm>
              <a:off x="5819953" y="2016784"/>
              <a:ext cx="6297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5825705" y="3532157"/>
              <a:ext cx="6297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 flipV="1">
              <a:off x="6448242" y="2438043"/>
              <a:ext cx="0" cy="2186795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5840082" y="4616207"/>
              <a:ext cx="62972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组合 73"/>
            <p:cNvGrpSpPr/>
            <p:nvPr/>
          </p:nvGrpSpPr>
          <p:grpSpPr>
            <a:xfrm>
              <a:off x="6440515" y="1997735"/>
              <a:ext cx="252000" cy="455763"/>
              <a:chOff x="6440515" y="1740559"/>
              <a:chExt cx="252000" cy="455763"/>
            </a:xfrm>
          </p:grpSpPr>
          <p:cxnSp>
            <p:nvCxnSpPr>
              <p:cNvPr id="106" name="直接连接符 105"/>
              <p:cNvCxnSpPr/>
              <p:nvPr/>
            </p:nvCxnSpPr>
            <p:spPr>
              <a:xfrm flipH="1" flipV="1">
                <a:off x="6444828" y="1740559"/>
                <a:ext cx="0" cy="45576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6440515" y="2176194"/>
                <a:ext cx="252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弧形 79"/>
            <p:cNvSpPr/>
            <p:nvPr/>
          </p:nvSpPr>
          <p:spPr>
            <a:xfrm rot="16200000">
              <a:off x="7091364" y="2347911"/>
              <a:ext cx="1219200" cy="2543178"/>
            </a:xfrm>
            <a:prstGeom prst="arc">
              <a:avLst>
                <a:gd name="adj1" fmla="val 16493842"/>
                <a:gd name="adj2" fmla="val 19982872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5869194" y="2872859"/>
              <a:ext cx="2888252" cy="338554"/>
              <a:chOff x="5869194" y="2558534"/>
              <a:chExt cx="2888252" cy="338554"/>
            </a:xfrm>
          </p:grpSpPr>
          <p:cxnSp>
            <p:nvCxnSpPr>
              <p:cNvPr id="104" name="直接连接符 103"/>
              <p:cNvCxnSpPr/>
              <p:nvPr/>
            </p:nvCxnSpPr>
            <p:spPr>
              <a:xfrm rot="16200000" flipH="1" flipV="1">
                <a:off x="6962592" y="1618893"/>
                <a:ext cx="0" cy="2186795"/>
              </a:xfrm>
              <a:prstGeom prst="line">
                <a:avLst/>
              </a:prstGeom>
              <a:ln w="19050">
                <a:solidFill>
                  <a:srgbClr val="6600F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矩形 104"/>
              <p:cNvSpPr/>
              <p:nvPr/>
            </p:nvSpPr>
            <p:spPr>
              <a:xfrm>
                <a:off x="7974859" y="2558534"/>
                <a:ext cx="78258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9900CC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2/3</a:t>
                </a:r>
                <a:r>
                  <a:rPr lang="en-US" altLang="zh-CN" sz="1600" b="1" i="1" dirty="0">
                    <a:solidFill>
                      <a:srgbClr val="9900CC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600" b="1" baseline="-25000" dirty="0">
                    <a:solidFill>
                      <a:srgbClr val="9900CC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CC</a:t>
                </a:r>
                <a:endParaRPr lang="zh-CN" altLang="en-US" sz="1600" dirty="0">
                  <a:solidFill>
                    <a:srgbClr val="99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6663903" y="1994859"/>
              <a:ext cx="1538378" cy="455763"/>
              <a:chOff x="7083003" y="-624517"/>
              <a:chExt cx="1538378" cy="455763"/>
            </a:xfrm>
          </p:grpSpPr>
          <p:cxnSp>
            <p:nvCxnSpPr>
              <p:cNvPr id="102" name="直接连接符 101"/>
              <p:cNvCxnSpPr/>
              <p:nvPr/>
            </p:nvCxnSpPr>
            <p:spPr>
              <a:xfrm flipH="1" flipV="1">
                <a:off x="7101693" y="-624517"/>
                <a:ext cx="0" cy="45576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7083003" y="-608701"/>
                <a:ext cx="153837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直接连接符 83"/>
            <p:cNvCxnSpPr/>
            <p:nvPr/>
          </p:nvCxnSpPr>
          <p:spPr>
            <a:xfrm flipV="1">
              <a:off x="7410450" y="2019302"/>
              <a:ext cx="0" cy="2628899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组合 84"/>
            <p:cNvGrpSpPr/>
            <p:nvPr/>
          </p:nvGrpSpPr>
          <p:grpSpPr>
            <a:xfrm flipV="1">
              <a:off x="6440515" y="4150384"/>
              <a:ext cx="960410" cy="455763"/>
              <a:chOff x="6440515" y="1740559"/>
              <a:chExt cx="252000" cy="455763"/>
            </a:xfrm>
          </p:grpSpPr>
          <p:cxnSp>
            <p:nvCxnSpPr>
              <p:cNvPr id="100" name="直接连接符 99"/>
              <p:cNvCxnSpPr/>
              <p:nvPr/>
            </p:nvCxnSpPr>
            <p:spPr>
              <a:xfrm flipH="1" flipV="1">
                <a:off x="6444828" y="1740559"/>
                <a:ext cx="0" cy="45576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6440515" y="2176194"/>
                <a:ext cx="252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组合 88"/>
            <p:cNvGrpSpPr/>
            <p:nvPr/>
          </p:nvGrpSpPr>
          <p:grpSpPr>
            <a:xfrm>
              <a:off x="7393015" y="4159909"/>
              <a:ext cx="960410" cy="455763"/>
              <a:chOff x="6440515" y="1740559"/>
              <a:chExt cx="252000" cy="455763"/>
            </a:xfrm>
          </p:grpSpPr>
          <p:cxnSp>
            <p:nvCxnSpPr>
              <p:cNvPr id="96" name="直接连接符 95"/>
              <p:cNvCxnSpPr/>
              <p:nvPr/>
            </p:nvCxnSpPr>
            <p:spPr>
              <a:xfrm flipH="1" flipV="1">
                <a:off x="6444828" y="1740559"/>
                <a:ext cx="0" cy="45576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6440515" y="2176194"/>
                <a:ext cx="252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/>
            <p:cNvGrpSpPr/>
            <p:nvPr/>
          </p:nvGrpSpPr>
          <p:grpSpPr>
            <a:xfrm>
              <a:off x="7400924" y="2581275"/>
              <a:ext cx="1045234" cy="962025"/>
              <a:chOff x="7400924" y="2295524"/>
              <a:chExt cx="1045234" cy="962025"/>
            </a:xfrm>
          </p:grpSpPr>
          <p:sp>
            <p:nvSpPr>
              <p:cNvPr id="91" name="弧形 90"/>
              <p:cNvSpPr/>
              <p:nvPr/>
            </p:nvSpPr>
            <p:spPr>
              <a:xfrm rot="5400000" flipV="1">
                <a:off x="7381874" y="2314574"/>
                <a:ext cx="962025" cy="923925"/>
              </a:xfrm>
              <a:prstGeom prst="arc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5" name="直接连接符 94"/>
              <p:cNvCxnSpPr/>
              <p:nvPr/>
            </p:nvCxnSpPr>
            <p:spPr>
              <a:xfrm>
                <a:off x="7816430" y="3246407"/>
                <a:ext cx="62972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组合 70"/>
          <p:cNvGrpSpPr/>
          <p:nvPr/>
        </p:nvGrpSpPr>
        <p:grpSpPr>
          <a:xfrm>
            <a:off x="6457950" y="4105275"/>
            <a:ext cx="936000" cy="400110"/>
            <a:chOff x="6457950" y="3810000"/>
            <a:chExt cx="936000" cy="400110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6457950" y="4200525"/>
              <a:ext cx="936000" cy="0"/>
            </a:xfrm>
            <a:prstGeom prst="straightConnector1">
              <a:avLst/>
            </a:prstGeom>
            <a:ln w="381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6677025" y="3810000"/>
              <a:ext cx="466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9900CC"/>
                  </a:solidFill>
                </a:rPr>
                <a:t>T</a:t>
              </a:r>
              <a:r>
                <a:rPr lang="en-US" altLang="zh-CN" sz="2000" b="1" baseline="-25000" dirty="0">
                  <a:solidFill>
                    <a:srgbClr val="9900CC"/>
                  </a:solidFill>
                </a:rPr>
                <a:t>W</a:t>
              </a:r>
              <a:endParaRPr lang="zh-CN" altLang="en-US" sz="2000" b="1" baseline="-25000" dirty="0">
                <a:solidFill>
                  <a:srgbClr val="9900CC"/>
                </a:solidFill>
              </a:endParaRPr>
            </a:p>
          </p:txBody>
        </p:sp>
      </p:grp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" y="101084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523874" y="3935480"/>
          <a:ext cx="4417699" cy="96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" r:id="rId5" imgW="63093600" imgH="13716000" progId="Equation.3">
                  <p:embed/>
                </p:oleObj>
              </mc:Choice>
              <mc:Fallback>
                <p:oleObj name="" r:id="rId5" imgW="63093600" imgH="13716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4" y="3935480"/>
                        <a:ext cx="4417699" cy="9603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6181725" y="3448050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53300" y="3457575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弧形 96"/>
          <p:cNvSpPr/>
          <p:nvPr/>
        </p:nvSpPr>
        <p:spPr>
          <a:xfrm rot="16200000">
            <a:off x="7081839" y="2357436"/>
            <a:ext cx="1219200" cy="2543178"/>
          </a:xfrm>
          <a:prstGeom prst="arc">
            <a:avLst>
              <a:gd name="adj1" fmla="val 16493842"/>
              <a:gd name="adj2" fmla="val 19982872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116"/>
          <p:cNvSpPr/>
          <p:nvPr/>
        </p:nvSpPr>
        <p:spPr>
          <a:xfrm>
            <a:off x="1539110" y="1778635"/>
            <a:ext cx="1241176" cy="1511463"/>
          </a:xfrm>
          <a:custGeom>
            <a:avLst/>
            <a:gdLst>
              <a:gd name="connsiteX0" fmla="*/ 1150620 w 1150620"/>
              <a:gd name="connsiteY0" fmla="*/ 3761 h 1741121"/>
              <a:gd name="connsiteX1" fmla="*/ 228600 w 1150620"/>
              <a:gd name="connsiteY1" fmla="*/ 57101 h 1741121"/>
              <a:gd name="connsiteX2" fmla="*/ 60960 w 1150620"/>
              <a:gd name="connsiteY2" fmla="*/ 400001 h 1741121"/>
              <a:gd name="connsiteX3" fmla="*/ 0 w 1150620"/>
              <a:gd name="connsiteY3" fmla="*/ 1741121 h 1741121"/>
              <a:gd name="connsiteX4" fmla="*/ 0 w 1150620"/>
              <a:gd name="connsiteY4" fmla="*/ 1741121 h 174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620" h="1741121">
                <a:moveTo>
                  <a:pt x="1150620" y="3761"/>
                </a:moveTo>
                <a:cubicBezTo>
                  <a:pt x="780415" y="-2589"/>
                  <a:pt x="410210" y="-8939"/>
                  <a:pt x="228600" y="57101"/>
                </a:cubicBezTo>
                <a:cubicBezTo>
                  <a:pt x="46990" y="123141"/>
                  <a:pt x="99060" y="119331"/>
                  <a:pt x="60960" y="400001"/>
                </a:cubicBezTo>
                <a:cubicBezTo>
                  <a:pt x="22860" y="680671"/>
                  <a:pt x="0" y="1741121"/>
                  <a:pt x="0" y="1741121"/>
                </a:cubicBezTo>
                <a:lnTo>
                  <a:pt x="0" y="1741121"/>
                </a:lnTo>
              </a:path>
            </a:pathLst>
          </a:custGeom>
          <a:ln w="28575">
            <a:solidFill>
              <a:srgbClr val="CC00CC"/>
            </a:solidFill>
            <a:headEnd type="non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4"/>
          <p:cNvGrpSpPr/>
          <p:nvPr/>
        </p:nvGrpSpPr>
        <p:grpSpPr>
          <a:xfrm>
            <a:off x="262891" y="650077"/>
            <a:ext cx="3333756" cy="456728"/>
            <a:chOff x="670560" y="892917"/>
            <a:chExt cx="3333756" cy="411055"/>
          </a:xfrm>
        </p:grpSpPr>
        <p:sp>
          <p:nvSpPr>
            <p:cNvPr id="57" name="矩形 56"/>
            <p:cNvSpPr/>
            <p:nvPr/>
          </p:nvSpPr>
          <p:spPr>
            <a:xfrm>
              <a:off x="1035233" y="913778"/>
              <a:ext cx="296908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构成的单稳态触发器</a:t>
              </a:r>
              <a:endPara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8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471964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、电路的参数计算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0" name="Rectangle 27"/>
          <p:cNvSpPr>
            <a:spLocks noChangeArrowheads="1"/>
          </p:cNvSpPr>
          <p:nvPr/>
        </p:nvSpPr>
        <p:spPr bwMode="auto">
          <a:xfrm>
            <a:off x="5499340" y="1110727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6181726" y="1901493"/>
            <a:ext cx="765894" cy="637676"/>
          </a:xfrm>
          <a:prstGeom prst="ellipse">
            <a:avLst/>
          </a:prstGeom>
          <a:solidFill>
            <a:srgbClr val="92D050">
              <a:alpha val="34000"/>
            </a:srgbClr>
          </a:solidFill>
          <a:ln w="28575">
            <a:solidFill>
              <a:srgbClr val="66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6181726" y="4066634"/>
            <a:ext cx="1511732" cy="637676"/>
          </a:xfrm>
          <a:prstGeom prst="ellipse">
            <a:avLst/>
          </a:prstGeom>
          <a:solidFill>
            <a:srgbClr val="92D050">
              <a:alpha val="34000"/>
            </a:srgbClr>
          </a:solidFill>
          <a:ln w="28575">
            <a:solidFill>
              <a:srgbClr val="66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530226" y="1977756"/>
            <a:ext cx="8089900" cy="3022600"/>
            <a:chOff x="673100" y="1790700"/>
            <a:chExt cx="8089900" cy="3022600"/>
          </a:xfrm>
        </p:grpSpPr>
        <p:sp>
          <p:nvSpPr>
            <p:cNvPr id="128" name="圆角矩形 127"/>
            <p:cNvSpPr/>
            <p:nvPr/>
          </p:nvSpPr>
          <p:spPr>
            <a:xfrm>
              <a:off x="673100" y="1790700"/>
              <a:ext cx="8089900" cy="3022600"/>
            </a:xfrm>
            <a:prstGeom prst="roundRect">
              <a:avLst>
                <a:gd name="adj" fmla="val 532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9" name="对象 128"/>
            <p:cNvGraphicFramePr>
              <a:graphicFrameLocks noChangeAspect="1"/>
            </p:cNvGraphicFramePr>
            <p:nvPr/>
          </p:nvGraphicFramePr>
          <p:xfrm>
            <a:off x="986526" y="2008527"/>
            <a:ext cx="7336779" cy="2521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Visio" r:id="rId8" imgW="3365500" imgH="1157605" progId="Visio.Drawing.11">
                    <p:embed/>
                  </p:oleObj>
                </mc:Choice>
                <mc:Fallback>
                  <p:oleObj name="Visio" r:id="rId8" imgW="3365500" imgH="1157605" progId="Visio.Drawing.11">
                    <p:embed/>
                    <p:pic>
                      <p:nvPicPr>
                        <p:cNvPr id="0" name="对象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6526" y="2008527"/>
                          <a:ext cx="7336779" cy="25215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  <p:bldP spid="97" grpId="0" animBg="1"/>
      <p:bldP spid="52" grpId="0" animBg="1"/>
      <p:bldP spid="59" grpId="0"/>
      <p:bldP spid="61" grpId="0" animBg="1"/>
      <p:bldP spid="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6840" y="1083741"/>
            <a:ext cx="3951410" cy="4123854"/>
            <a:chOff x="4906840" y="1083741"/>
            <a:chExt cx="3951410" cy="4123854"/>
          </a:xfrm>
        </p:grpSpPr>
        <p:sp>
          <p:nvSpPr>
            <p:cNvPr id="46" name="圆角矩形 45"/>
            <p:cNvSpPr/>
            <p:nvPr/>
          </p:nvSpPr>
          <p:spPr>
            <a:xfrm>
              <a:off x="4906840" y="1083741"/>
              <a:ext cx="3951410" cy="4123854"/>
            </a:xfrm>
            <a:prstGeom prst="roundRect">
              <a:avLst>
                <a:gd name="adj" fmla="val 401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5189951" y="1083741"/>
            <a:ext cx="2776537" cy="4123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name="Visio" r:id="rId1" imgW="1468755" imgH="2178685" progId="Visio.Drawing.11">
                    <p:embed/>
                  </p:oleObj>
                </mc:Choice>
                <mc:Fallback>
                  <p:oleObj name="Visio" r:id="rId1" imgW="1468755" imgH="2178685" progId="Visio.Drawing.11">
                    <p:embed/>
                    <p:pic>
                      <p:nvPicPr>
                        <p:cNvPr id="0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9951" y="1083741"/>
                          <a:ext cx="2776537" cy="41238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1"/>
          <p:cNvGrpSpPr/>
          <p:nvPr/>
        </p:nvGrpSpPr>
        <p:grpSpPr>
          <a:xfrm>
            <a:off x="262892" y="797397"/>
            <a:ext cx="4396546" cy="456728"/>
            <a:chOff x="670560" y="892917"/>
            <a:chExt cx="4396546" cy="411055"/>
          </a:xfrm>
        </p:grpSpPr>
        <p:sp>
          <p:nvSpPr>
            <p:cNvPr id="14" name="矩形 13"/>
            <p:cNvSpPr/>
            <p:nvPr/>
          </p:nvSpPr>
          <p:spPr>
            <a:xfrm>
              <a:off x="1035233" y="913778"/>
              <a:ext cx="4031873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门电路组成的微分型单稳态触发器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6" name="组合 15"/>
          <p:cNvGrpSpPr/>
          <p:nvPr/>
        </p:nvGrpSpPr>
        <p:grpSpPr>
          <a:xfrm>
            <a:off x="753940" y="1479164"/>
            <a:ext cx="3570410" cy="1525756"/>
            <a:chOff x="753940" y="1298189"/>
            <a:chExt cx="3570410" cy="1525756"/>
          </a:xfrm>
        </p:grpSpPr>
        <p:sp>
          <p:nvSpPr>
            <p:cNvPr id="45" name="圆角矩形 44"/>
            <p:cNvSpPr/>
            <p:nvPr/>
          </p:nvSpPr>
          <p:spPr>
            <a:xfrm>
              <a:off x="753940" y="1298189"/>
              <a:ext cx="3570410" cy="1525756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753940" y="1298189"/>
            <a:ext cx="3453667" cy="1525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Visio" r:id="rId4" imgW="1624330" imgH="720090" progId="Visio.Drawing.11">
                    <p:embed/>
                  </p:oleObj>
                </mc:Choice>
                <mc:Fallback>
                  <p:oleObj name="Visio" r:id="rId4" imgW="1624330" imgH="720090" progId="Visio.Drawing.11">
                    <p:embed/>
                    <p:pic>
                      <p:nvPicPr>
                        <p:cNvPr id="0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940" y="1298189"/>
                          <a:ext cx="3453667" cy="15257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753940" y="3234015"/>
            <a:ext cx="3570410" cy="1973580"/>
            <a:chOff x="753940" y="2978028"/>
            <a:chExt cx="3570410" cy="1973580"/>
          </a:xfrm>
        </p:grpSpPr>
        <p:grpSp>
          <p:nvGrpSpPr>
            <p:cNvPr id="38" name="组合 37"/>
            <p:cNvGrpSpPr/>
            <p:nvPr/>
          </p:nvGrpSpPr>
          <p:grpSpPr>
            <a:xfrm>
              <a:off x="753940" y="2978028"/>
              <a:ext cx="3570410" cy="1973580"/>
              <a:chOff x="579120" y="3939540"/>
              <a:chExt cx="4450080" cy="1066800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845820" y="3939540"/>
                <a:ext cx="4183380" cy="1066800"/>
              </a:xfrm>
              <a:prstGeom prst="roundRect">
                <a:avLst>
                  <a:gd name="adj" fmla="val 10417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579120" y="4114800"/>
                <a:ext cx="495300" cy="72390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条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件</a:t>
                </a:r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" name="圆角矩形 40"/>
            <p:cNvSpPr/>
            <p:nvPr/>
          </p:nvSpPr>
          <p:spPr>
            <a:xfrm>
              <a:off x="1333060" y="3145668"/>
              <a:ext cx="2781740" cy="3505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、门电路为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CMOS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门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333060" y="3577468"/>
              <a:ext cx="2781740" cy="3505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、阈值电压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TH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=1/2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DD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333060" y="4009268"/>
              <a:ext cx="2781740" cy="3505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、输入电流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IH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≈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IL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≈ 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333060" y="4441068"/>
              <a:ext cx="2781740" cy="3505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、输出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OH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≈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DD</a:t>
              </a:r>
              <a:r>
                <a:rPr lang="zh-CN" altLang="en-US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sz="16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OL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≈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876607" y="4072215"/>
            <a:ext cx="1789114" cy="755650"/>
            <a:chOff x="6876607" y="4072215"/>
            <a:chExt cx="1789114" cy="755650"/>
          </a:xfrm>
        </p:grpSpPr>
        <p:sp>
          <p:nvSpPr>
            <p:cNvPr id="19" name="圆角矩形标注 18"/>
            <p:cNvSpPr/>
            <p:nvPr/>
          </p:nvSpPr>
          <p:spPr>
            <a:xfrm>
              <a:off x="6876607" y="4091265"/>
              <a:ext cx="1789113" cy="736600"/>
            </a:xfrm>
            <a:prstGeom prst="wedgeRoundRectCallout">
              <a:avLst>
                <a:gd name="adj1" fmla="val -65232"/>
                <a:gd name="adj2" fmla="val 37393"/>
                <a:gd name="adj3" fmla="val 1666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7" name="Object 6"/>
            <p:cNvGraphicFramePr>
              <a:graphicFrameLocks noChangeAspect="1"/>
            </p:cNvGraphicFramePr>
            <p:nvPr/>
          </p:nvGraphicFramePr>
          <p:xfrm>
            <a:off x="6916296" y="4072215"/>
            <a:ext cx="1749425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Equation" r:id="rId6" imgW="31089600" imgH="13106400" progId="">
                    <p:embed/>
                  </p:oleObj>
                </mc:Choice>
                <mc:Fallback>
                  <p:oleObj name="Equation" r:id="rId6" imgW="31089600" imgH="13106400" progId="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6296" y="4072215"/>
                          <a:ext cx="1749425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113"/>
          <p:cNvGrpSpPr/>
          <p:nvPr/>
        </p:nvGrpSpPr>
        <p:grpSpPr>
          <a:xfrm>
            <a:off x="3384550" y="1304048"/>
            <a:ext cx="4345400" cy="1512000"/>
            <a:chOff x="3524250" y="1304048"/>
            <a:chExt cx="4345400" cy="1512000"/>
          </a:xfrm>
        </p:grpSpPr>
        <p:pic>
          <p:nvPicPr>
            <p:cNvPr id="87" name="Picture 6"/>
            <p:cNvPicPr>
              <a:picLocks noChangeArrowheads="1"/>
            </p:cNvPicPr>
            <p:nvPr/>
          </p:nvPicPr>
          <p:blipFill>
            <a:blip r:embed="rId1" cstate="print"/>
            <a:srcRect r="2399" b="53538"/>
            <a:stretch>
              <a:fillRect/>
            </a:stretch>
          </p:blipFill>
          <p:spPr bwMode="auto">
            <a:xfrm>
              <a:off x="3549650" y="1304048"/>
              <a:ext cx="4320000" cy="1512000"/>
            </a:xfrm>
            <a:prstGeom prst="snip2DiagRect">
              <a:avLst>
                <a:gd name="adj1" fmla="val 3194"/>
                <a:gd name="adj2" fmla="val 3294"/>
              </a:avLst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88" name="TextBox 109"/>
            <p:cNvSpPr txBox="1"/>
            <p:nvPr/>
          </p:nvSpPr>
          <p:spPr>
            <a:xfrm>
              <a:off x="3524250" y="157480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lang="zh-CN" altLang="en-US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110"/>
            <p:cNvSpPr txBox="1"/>
            <p:nvPr/>
          </p:nvSpPr>
          <p:spPr>
            <a:xfrm>
              <a:off x="3524250" y="215265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O</a:t>
              </a:r>
              <a:endParaRPr lang="zh-CN" altLang="en-US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组合 4"/>
          <p:cNvGrpSpPr/>
          <p:nvPr/>
        </p:nvGrpSpPr>
        <p:grpSpPr>
          <a:xfrm>
            <a:off x="262891" y="749137"/>
            <a:ext cx="2601183" cy="456728"/>
            <a:chOff x="670560" y="892917"/>
            <a:chExt cx="2601183" cy="411055"/>
          </a:xfrm>
        </p:grpSpPr>
        <p:sp>
          <p:nvSpPr>
            <p:cNvPr id="96" name="矩形 95"/>
            <p:cNvSpPr/>
            <p:nvPr/>
          </p:nvSpPr>
          <p:spPr>
            <a:xfrm>
              <a:off x="1035233" y="913778"/>
              <a:ext cx="223651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集成单稳态触发器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9" name="圆角矩形 106"/>
          <p:cNvSpPr/>
          <p:nvPr/>
        </p:nvSpPr>
        <p:spPr>
          <a:xfrm>
            <a:off x="850900" y="2012950"/>
            <a:ext cx="178435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不可重复触发</a:t>
            </a:r>
            <a:endParaRPr lang="zh-CN" altLang="en-US" dirty="0"/>
          </a:p>
        </p:txBody>
      </p:sp>
      <p:sp>
        <p:nvSpPr>
          <p:cNvPr id="100" name="圆角矩形 107"/>
          <p:cNvSpPr/>
          <p:nvPr/>
        </p:nvSpPr>
        <p:spPr>
          <a:xfrm>
            <a:off x="850900" y="3708400"/>
            <a:ext cx="178435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可重复触发</a:t>
            </a:r>
            <a:endParaRPr lang="zh-CN" altLang="en-US" dirty="0"/>
          </a:p>
        </p:txBody>
      </p:sp>
      <p:grpSp>
        <p:nvGrpSpPr>
          <p:cNvPr id="106" name="组合 114"/>
          <p:cNvGrpSpPr/>
          <p:nvPr/>
        </p:nvGrpSpPr>
        <p:grpSpPr>
          <a:xfrm>
            <a:off x="3390900" y="3141433"/>
            <a:ext cx="4345400" cy="1627417"/>
            <a:chOff x="3530600" y="3141433"/>
            <a:chExt cx="4345400" cy="1627417"/>
          </a:xfrm>
        </p:grpSpPr>
        <p:pic>
          <p:nvPicPr>
            <p:cNvPr id="114" name="Picture 6"/>
            <p:cNvPicPr>
              <a:picLocks noChangeArrowheads="1"/>
            </p:cNvPicPr>
            <p:nvPr/>
          </p:nvPicPr>
          <p:blipFill>
            <a:blip r:embed="rId1" cstate="print"/>
            <a:srcRect t="53846" r="2399" b="-5833"/>
            <a:stretch>
              <a:fillRect/>
            </a:stretch>
          </p:blipFill>
          <p:spPr bwMode="auto">
            <a:xfrm>
              <a:off x="3556000" y="3141433"/>
              <a:ext cx="4320000" cy="1627417"/>
            </a:xfrm>
            <a:prstGeom prst="snip2DiagRect">
              <a:avLst>
                <a:gd name="adj1" fmla="val 3194"/>
                <a:gd name="adj2" fmla="val 3294"/>
              </a:avLst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15" name="TextBox 111"/>
            <p:cNvSpPr txBox="1"/>
            <p:nvPr/>
          </p:nvSpPr>
          <p:spPr>
            <a:xfrm>
              <a:off x="3530600" y="340995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lang="zh-CN" altLang="en-US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2"/>
            <p:cNvSpPr txBox="1"/>
            <p:nvPr/>
          </p:nvSpPr>
          <p:spPr>
            <a:xfrm>
              <a:off x="3530600" y="398780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O</a:t>
              </a:r>
              <a:endParaRPr lang="zh-CN" altLang="en-US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4006850" y="2120900"/>
            <a:ext cx="927100" cy="419100"/>
            <a:chOff x="4006850" y="2120900"/>
            <a:chExt cx="927100" cy="419100"/>
          </a:xfrm>
        </p:grpSpPr>
        <p:sp>
          <p:nvSpPr>
            <p:cNvPr id="132" name="矩形 131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3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135" name="左右箭头 115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136" name="TextBox 117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7" name="组合 141"/>
          <p:cNvGrpSpPr/>
          <p:nvPr/>
        </p:nvGrpSpPr>
        <p:grpSpPr>
          <a:xfrm>
            <a:off x="4002405" y="1447800"/>
            <a:ext cx="0" cy="468000"/>
            <a:chOff x="4130675" y="1447800"/>
            <a:chExt cx="0" cy="468000"/>
          </a:xfrm>
        </p:grpSpPr>
        <p:cxnSp>
          <p:nvCxnSpPr>
            <p:cNvPr id="144" name="直接箭头连接符 143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组合 148"/>
          <p:cNvGrpSpPr/>
          <p:nvPr/>
        </p:nvGrpSpPr>
        <p:grpSpPr>
          <a:xfrm>
            <a:off x="5978525" y="1447800"/>
            <a:ext cx="0" cy="468000"/>
            <a:chOff x="4130675" y="1447800"/>
            <a:chExt cx="0" cy="468000"/>
          </a:xfrm>
        </p:grpSpPr>
        <p:cxnSp>
          <p:nvCxnSpPr>
            <p:cNvPr id="163" name="直接箭头连接符 162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组合 157"/>
          <p:cNvGrpSpPr/>
          <p:nvPr/>
        </p:nvGrpSpPr>
        <p:grpSpPr>
          <a:xfrm>
            <a:off x="4422775" y="3307080"/>
            <a:ext cx="0" cy="468000"/>
            <a:chOff x="4130675" y="1447800"/>
            <a:chExt cx="0" cy="468000"/>
          </a:xfrm>
        </p:grpSpPr>
        <p:cxnSp>
          <p:nvCxnSpPr>
            <p:cNvPr id="169" name="直接箭头连接符 168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组合 178"/>
          <p:cNvGrpSpPr/>
          <p:nvPr/>
        </p:nvGrpSpPr>
        <p:grpSpPr>
          <a:xfrm>
            <a:off x="4006850" y="4467860"/>
            <a:ext cx="1771650" cy="216000"/>
            <a:chOff x="4146550" y="4521200"/>
            <a:chExt cx="1771650" cy="216000"/>
          </a:xfrm>
        </p:grpSpPr>
        <p:sp>
          <p:nvSpPr>
            <p:cNvPr id="174" name="左右箭头 169"/>
            <p:cNvSpPr/>
            <p:nvPr/>
          </p:nvSpPr>
          <p:spPr>
            <a:xfrm>
              <a:off x="4210050" y="4548809"/>
              <a:ext cx="1676400" cy="160782"/>
            </a:xfrm>
            <a:prstGeom prst="leftRightArrow">
              <a:avLst>
                <a:gd name="adj1" fmla="val 21174"/>
                <a:gd name="adj2" fmla="val 50000"/>
              </a:avLst>
            </a:prstGeom>
            <a:solidFill>
              <a:srgbClr val="66FFCC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00FF"/>
                </a:solidFill>
              </a:endParaRPr>
            </a:p>
          </p:txBody>
        </p:sp>
        <p:cxnSp>
          <p:nvCxnSpPr>
            <p:cNvPr id="175" name="直接连接符 174"/>
            <p:cNvCxnSpPr/>
            <p:nvPr/>
          </p:nvCxnSpPr>
          <p:spPr>
            <a:xfrm flipH="1">
              <a:off x="4146550" y="4521200"/>
              <a:ext cx="0" cy="216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 flipH="1">
              <a:off x="5918200" y="4521200"/>
              <a:ext cx="0" cy="216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组合 179"/>
          <p:cNvGrpSpPr/>
          <p:nvPr/>
        </p:nvGrpSpPr>
        <p:grpSpPr>
          <a:xfrm>
            <a:off x="5988050" y="4467860"/>
            <a:ext cx="1358900" cy="216000"/>
            <a:chOff x="4146550" y="4521200"/>
            <a:chExt cx="1771650" cy="216000"/>
          </a:xfrm>
        </p:grpSpPr>
        <p:sp>
          <p:nvSpPr>
            <p:cNvPr id="180" name="左右箭头 180"/>
            <p:cNvSpPr/>
            <p:nvPr/>
          </p:nvSpPr>
          <p:spPr>
            <a:xfrm>
              <a:off x="4210050" y="4548809"/>
              <a:ext cx="1676400" cy="160782"/>
            </a:xfrm>
            <a:prstGeom prst="leftRightArrow">
              <a:avLst>
                <a:gd name="adj1" fmla="val 21174"/>
                <a:gd name="adj2" fmla="val 50000"/>
              </a:avLst>
            </a:prstGeom>
            <a:solidFill>
              <a:srgbClr val="66FFCC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00FF"/>
                </a:solidFill>
              </a:endParaRPr>
            </a:p>
          </p:txBody>
        </p:sp>
        <p:cxnSp>
          <p:nvCxnSpPr>
            <p:cNvPr id="184" name="直接连接符 183"/>
            <p:cNvCxnSpPr/>
            <p:nvPr/>
          </p:nvCxnSpPr>
          <p:spPr>
            <a:xfrm flipH="1">
              <a:off x="4146550" y="4521200"/>
              <a:ext cx="0" cy="216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 flipH="1">
              <a:off x="5918200" y="4521200"/>
              <a:ext cx="0" cy="216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组合 73"/>
          <p:cNvGrpSpPr/>
          <p:nvPr/>
        </p:nvGrpSpPr>
        <p:grpSpPr>
          <a:xfrm>
            <a:off x="4007485" y="3307080"/>
            <a:ext cx="0" cy="468000"/>
            <a:chOff x="4130675" y="1447800"/>
            <a:chExt cx="0" cy="468000"/>
          </a:xfrm>
        </p:grpSpPr>
        <p:cxnSp>
          <p:nvCxnSpPr>
            <p:cNvPr id="187" name="直接箭头连接符 186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组合 76"/>
          <p:cNvGrpSpPr/>
          <p:nvPr/>
        </p:nvGrpSpPr>
        <p:grpSpPr>
          <a:xfrm>
            <a:off x="5984875" y="3307080"/>
            <a:ext cx="0" cy="468000"/>
            <a:chOff x="4130675" y="1447800"/>
            <a:chExt cx="0" cy="468000"/>
          </a:xfrm>
        </p:grpSpPr>
        <p:cxnSp>
          <p:nvCxnSpPr>
            <p:cNvPr id="190" name="直接箭头连接符 189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组合 79"/>
          <p:cNvGrpSpPr/>
          <p:nvPr/>
        </p:nvGrpSpPr>
        <p:grpSpPr>
          <a:xfrm>
            <a:off x="4850765" y="3307080"/>
            <a:ext cx="0" cy="468000"/>
            <a:chOff x="4130675" y="1447800"/>
            <a:chExt cx="0" cy="468000"/>
          </a:xfrm>
        </p:grpSpPr>
        <p:cxnSp>
          <p:nvCxnSpPr>
            <p:cNvPr id="193" name="直接箭头连接符 192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FF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82"/>
          <p:cNvGrpSpPr/>
          <p:nvPr/>
        </p:nvGrpSpPr>
        <p:grpSpPr>
          <a:xfrm>
            <a:off x="6403975" y="3310890"/>
            <a:ext cx="0" cy="468000"/>
            <a:chOff x="4130675" y="1447800"/>
            <a:chExt cx="0" cy="468000"/>
          </a:xfrm>
        </p:grpSpPr>
        <p:cxnSp>
          <p:nvCxnSpPr>
            <p:cNvPr id="196" name="直接箭头连接符 195"/>
            <p:cNvCxnSpPr/>
            <p:nvPr/>
          </p:nvCxnSpPr>
          <p:spPr>
            <a:xfrm flipV="1">
              <a:off x="4130675" y="1609569"/>
              <a:ext cx="0" cy="295804"/>
            </a:xfrm>
            <a:prstGeom prst="straightConnector1">
              <a:avLst/>
            </a:prstGeom>
            <a:ln w="28575">
              <a:solidFill>
                <a:srgbClr val="FF00FF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4130675" y="1447800"/>
              <a:ext cx="0" cy="46800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4290060" y="1452880"/>
            <a:ext cx="670560" cy="469270"/>
            <a:chOff x="4290060" y="1452880"/>
            <a:chExt cx="670560" cy="469270"/>
          </a:xfrm>
        </p:grpSpPr>
        <p:grpSp>
          <p:nvGrpSpPr>
            <p:cNvPr id="147" name="组合 146"/>
            <p:cNvGrpSpPr/>
            <p:nvPr/>
          </p:nvGrpSpPr>
          <p:grpSpPr>
            <a:xfrm>
              <a:off x="4408805" y="1452880"/>
              <a:ext cx="420370" cy="469270"/>
              <a:chOff x="4408805" y="1452880"/>
              <a:chExt cx="420370" cy="469270"/>
            </a:xfrm>
          </p:grpSpPr>
          <p:grpSp>
            <p:nvGrpSpPr>
              <p:cNvPr id="148" name="组合 142"/>
              <p:cNvGrpSpPr/>
              <p:nvPr/>
            </p:nvGrpSpPr>
            <p:grpSpPr>
              <a:xfrm>
                <a:off x="4408805" y="1452880"/>
                <a:ext cx="7620" cy="468000"/>
                <a:chOff x="4123055" y="1447800"/>
                <a:chExt cx="7620" cy="468000"/>
              </a:xfrm>
            </p:grpSpPr>
            <p:cxnSp>
              <p:nvCxnSpPr>
                <p:cNvPr id="154" name="直接箭头连接符 153"/>
                <p:cNvCxnSpPr/>
                <p:nvPr/>
              </p:nvCxnSpPr>
              <p:spPr>
                <a:xfrm flipV="1">
                  <a:off x="4130675" y="1609569"/>
                  <a:ext cx="0" cy="2958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headEnd type="none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160"/>
                <p:cNvCxnSpPr/>
                <p:nvPr/>
              </p:nvCxnSpPr>
              <p:spPr>
                <a:xfrm>
                  <a:off x="4123055" y="1447800"/>
                  <a:ext cx="0" cy="46800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组合 145"/>
              <p:cNvGrpSpPr/>
              <p:nvPr/>
            </p:nvGrpSpPr>
            <p:grpSpPr>
              <a:xfrm>
                <a:off x="4829175" y="1454150"/>
                <a:ext cx="0" cy="468000"/>
                <a:chOff x="4130675" y="1447800"/>
                <a:chExt cx="0" cy="468000"/>
              </a:xfrm>
            </p:grpSpPr>
            <p:cxnSp>
              <p:nvCxnSpPr>
                <p:cNvPr id="151" name="直接箭头连接符 150"/>
                <p:cNvCxnSpPr/>
                <p:nvPr/>
              </p:nvCxnSpPr>
              <p:spPr>
                <a:xfrm flipV="1">
                  <a:off x="4130675" y="1609569"/>
                  <a:ext cx="0" cy="2958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headEnd type="none"/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>
                  <a:off x="4130675" y="1447800"/>
                  <a:ext cx="0" cy="46800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8" name="组合 197"/>
            <p:cNvGrpSpPr/>
            <p:nvPr/>
          </p:nvGrpSpPr>
          <p:grpSpPr>
            <a:xfrm>
              <a:off x="4290060" y="1577340"/>
              <a:ext cx="670560" cy="274320"/>
              <a:chOff x="4290060" y="1577340"/>
              <a:chExt cx="670560" cy="274320"/>
            </a:xfrm>
          </p:grpSpPr>
          <p:sp>
            <p:nvSpPr>
              <p:cNvPr id="199" name="乘号 198"/>
              <p:cNvSpPr/>
              <p:nvPr/>
            </p:nvSpPr>
            <p:spPr>
              <a:xfrm>
                <a:off x="4290060" y="1577340"/>
                <a:ext cx="259080" cy="266700"/>
              </a:xfrm>
              <a:prstGeom prst="mathMultiply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乘号 199"/>
              <p:cNvSpPr/>
              <p:nvPr/>
            </p:nvSpPr>
            <p:spPr>
              <a:xfrm>
                <a:off x="4701540" y="1584960"/>
                <a:ext cx="259080" cy="266700"/>
              </a:xfrm>
              <a:prstGeom prst="mathMultiply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1" name="组合 200"/>
          <p:cNvGrpSpPr/>
          <p:nvPr/>
        </p:nvGrpSpPr>
        <p:grpSpPr>
          <a:xfrm>
            <a:off x="5995670" y="2136140"/>
            <a:ext cx="927100" cy="419100"/>
            <a:chOff x="4006850" y="2120900"/>
            <a:chExt cx="927100" cy="419100"/>
          </a:xfrm>
        </p:grpSpPr>
        <p:sp>
          <p:nvSpPr>
            <p:cNvPr id="202" name="矩形 201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3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04" name="左右箭头 92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05" name="TextBox 93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6271260" y="1454150"/>
            <a:ext cx="259080" cy="468000"/>
            <a:chOff x="6271260" y="1454150"/>
            <a:chExt cx="259080" cy="468000"/>
          </a:xfrm>
        </p:grpSpPr>
        <p:grpSp>
          <p:nvGrpSpPr>
            <p:cNvPr id="165" name="组合 151"/>
            <p:cNvGrpSpPr/>
            <p:nvPr/>
          </p:nvGrpSpPr>
          <p:grpSpPr>
            <a:xfrm>
              <a:off x="6397625" y="1454150"/>
              <a:ext cx="0" cy="468000"/>
              <a:chOff x="4130675" y="1447800"/>
              <a:chExt cx="0" cy="468000"/>
            </a:xfrm>
          </p:grpSpPr>
          <p:cxnSp>
            <p:nvCxnSpPr>
              <p:cNvPr id="166" name="直接箭头连接符 165"/>
              <p:cNvCxnSpPr/>
              <p:nvPr/>
            </p:nvCxnSpPr>
            <p:spPr>
              <a:xfrm flipV="1">
                <a:off x="4130675" y="1609569"/>
                <a:ext cx="0" cy="29580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4130675" y="1447800"/>
                <a:ext cx="0" cy="468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6" name="乘号 205"/>
            <p:cNvSpPr/>
            <p:nvPr/>
          </p:nvSpPr>
          <p:spPr>
            <a:xfrm>
              <a:off x="6271260" y="1569720"/>
              <a:ext cx="259080" cy="26670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4006850" y="4003040"/>
            <a:ext cx="927100" cy="419100"/>
            <a:chOff x="4006850" y="2120900"/>
            <a:chExt cx="927100" cy="419100"/>
          </a:xfrm>
        </p:grpSpPr>
        <p:sp>
          <p:nvSpPr>
            <p:cNvPr id="208" name="矩形 207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9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10" name="左右箭头 98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11" name="TextBox 99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2" name="组合 211"/>
          <p:cNvGrpSpPr/>
          <p:nvPr/>
        </p:nvGrpSpPr>
        <p:grpSpPr>
          <a:xfrm>
            <a:off x="4418330" y="4003040"/>
            <a:ext cx="927100" cy="419100"/>
            <a:chOff x="4006850" y="2120900"/>
            <a:chExt cx="927100" cy="419100"/>
          </a:xfrm>
        </p:grpSpPr>
        <p:sp>
          <p:nvSpPr>
            <p:cNvPr id="213" name="矩形 212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4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15" name="左右箭头 116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16" name="TextBox 118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7" name="组合 216"/>
          <p:cNvGrpSpPr/>
          <p:nvPr/>
        </p:nvGrpSpPr>
        <p:grpSpPr>
          <a:xfrm>
            <a:off x="4845050" y="4003040"/>
            <a:ext cx="927100" cy="419100"/>
            <a:chOff x="4006850" y="2120900"/>
            <a:chExt cx="927100" cy="419100"/>
          </a:xfrm>
        </p:grpSpPr>
        <p:sp>
          <p:nvSpPr>
            <p:cNvPr id="218" name="矩形 217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9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20" name="左右箭头 128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21" name="TextBox 130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2" name="组合 221"/>
          <p:cNvGrpSpPr/>
          <p:nvPr/>
        </p:nvGrpSpPr>
        <p:grpSpPr>
          <a:xfrm>
            <a:off x="5995670" y="4010660"/>
            <a:ext cx="927100" cy="419100"/>
            <a:chOff x="4006850" y="2120900"/>
            <a:chExt cx="927100" cy="419100"/>
          </a:xfrm>
        </p:grpSpPr>
        <p:sp>
          <p:nvSpPr>
            <p:cNvPr id="223" name="矩形 222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4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25" name="左右箭头 135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26" name="TextBox 136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7" name="组合 226"/>
          <p:cNvGrpSpPr/>
          <p:nvPr/>
        </p:nvGrpSpPr>
        <p:grpSpPr>
          <a:xfrm>
            <a:off x="6414770" y="4010660"/>
            <a:ext cx="927100" cy="419100"/>
            <a:chOff x="4006850" y="2120900"/>
            <a:chExt cx="927100" cy="419100"/>
          </a:xfrm>
        </p:grpSpPr>
        <p:sp>
          <p:nvSpPr>
            <p:cNvPr id="228" name="矩形 227"/>
            <p:cNvSpPr/>
            <p:nvPr/>
          </p:nvSpPr>
          <p:spPr>
            <a:xfrm>
              <a:off x="4006850" y="2178050"/>
              <a:ext cx="927100" cy="36195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9" name="组合 118"/>
            <p:cNvGrpSpPr/>
            <p:nvPr/>
          </p:nvGrpSpPr>
          <p:grpSpPr>
            <a:xfrm>
              <a:off x="4025900" y="2120900"/>
              <a:ext cx="889000" cy="408432"/>
              <a:chOff x="4159250" y="2101850"/>
              <a:chExt cx="889000" cy="408432"/>
            </a:xfrm>
          </p:grpSpPr>
          <p:sp>
            <p:nvSpPr>
              <p:cNvPr id="230" name="左右箭头 140"/>
              <p:cNvSpPr/>
              <p:nvPr/>
            </p:nvSpPr>
            <p:spPr>
              <a:xfrm>
                <a:off x="4159250" y="2349500"/>
                <a:ext cx="889000" cy="160782"/>
              </a:xfrm>
              <a:prstGeom prst="leftRightArrow">
                <a:avLst>
                  <a:gd name="adj1" fmla="val 21174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6600FF"/>
                  </a:solidFill>
                </a:endParaRPr>
              </a:p>
            </p:txBody>
          </p:sp>
          <p:sp>
            <p:nvSpPr>
              <p:cNvPr id="231" name="TextBox 141"/>
              <p:cNvSpPr txBox="1"/>
              <p:nvPr/>
            </p:nvSpPr>
            <p:spPr>
              <a:xfrm>
                <a:off x="4380772" y="2101850"/>
                <a:ext cx="4459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dir="u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9"/>
          <p:cNvGrpSpPr/>
          <p:nvPr/>
        </p:nvGrpSpPr>
        <p:grpSpPr>
          <a:xfrm>
            <a:off x="939800" y="1492250"/>
            <a:ext cx="6705600" cy="2851150"/>
            <a:chOff x="939800" y="1492250"/>
            <a:chExt cx="6705600" cy="2851150"/>
          </a:xfrm>
        </p:grpSpPr>
        <p:grpSp>
          <p:nvGrpSpPr>
            <p:cNvPr id="3" name="组合 57"/>
            <p:cNvGrpSpPr/>
            <p:nvPr/>
          </p:nvGrpSpPr>
          <p:grpSpPr>
            <a:xfrm>
              <a:off x="939800" y="1492250"/>
              <a:ext cx="6705600" cy="2851150"/>
              <a:chOff x="939800" y="1492250"/>
              <a:chExt cx="6705600" cy="2851150"/>
            </a:xfrm>
          </p:grpSpPr>
          <p:grpSp>
            <p:nvGrpSpPr>
              <p:cNvPr id="4" name="组合 52"/>
              <p:cNvGrpSpPr/>
              <p:nvPr/>
            </p:nvGrpSpPr>
            <p:grpSpPr>
              <a:xfrm>
                <a:off x="939800" y="1492250"/>
                <a:ext cx="6705600" cy="2851150"/>
                <a:chOff x="939800" y="1492250"/>
                <a:chExt cx="6705600" cy="2851150"/>
              </a:xfrm>
            </p:grpSpPr>
            <p:pic>
              <p:nvPicPr>
                <p:cNvPr id="10245" name="Picture 5"/>
                <p:cNvPicPr>
                  <a:picLocks noChangeAspect="1" noChangeArrowheads="1"/>
                </p:cNvPicPr>
                <p:nvPr/>
              </p:nvPicPr>
              <p:blipFill>
                <a:blip r:embed="rId1" cstate="print"/>
                <a:srcRect l="-1894" b="5870"/>
                <a:stretch>
                  <a:fillRect/>
                </a:stretch>
              </p:blipFill>
              <p:spPr bwMode="auto">
                <a:xfrm>
                  <a:off x="1581150" y="1492250"/>
                  <a:ext cx="6064250" cy="2851150"/>
                </a:xfrm>
                <a:prstGeom prst="snip2DiagRect">
                  <a:avLst>
                    <a:gd name="adj1" fmla="val 0"/>
                    <a:gd name="adj2" fmla="val 7615"/>
                  </a:avLst>
                </a:prstGeom>
                <a:solidFill>
                  <a:srgbClr val="FFFFFF">
                    <a:shade val="85000"/>
                  </a:srgbClr>
                </a:solidFill>
                <a:ln w="38100" cap="sq">
                  <a:solidFill>
                    <a:schemeClr val="accent1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88900" algn="tl" rotWithShape="0">
                    <a:srgbClr val="000000">
                      <a:alpha val="45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sp>
              <p:nvSpPr>
                <p:cNvPr id="85" name="圆角矩形 84"/>
                <p:cNvSpPr/>
                <p:nvPr/>
              </p:nvSpPr>
              <p:spPr>
                <a:xfrm>
                  <a:off x="939800" y="1949450"/>
                  <a:ext cx="444500" cy="1873250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dirty="0">
                      <a:solidFill>
                        <a:srgbClr val="FF00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内部逻辑图</a:t>
                  </a:r>
                  <a:endParaRPr lang="zh-CN" altLang="en-US" dirty="0">
                    <a:solidFill>
                      <a:srgbClr val="FF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73" name="矩形 72"/>
              <p:cNvSpPr/>
              <p:nvPr/>
            </p:nvSpPr>
            <p:spPr>
              <a:xfrm>
                <a:off x="7178529" y="2993887"/>
                <a:ext cx="241300" cy="241300"/>
              </a:xfrm>
              <a:prstGeom prst="rect">
                <a:avLst/>
              </a:prstGeom>
              <a:solidFill>
                <a:srgbClr val="CC00C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" name="组合 76"/>
              <p:cNvGrpSpPr/>
              <p:nvPr/>
            </p:nvGrpSpPr>
            <p:grpSpPr>
              <a:xfrm>
                <a:off x="7178529" y="3470963"/>
                <a:ext cx="241300" cy="241300"/>
                <a:chOff x="6721329" y="3483663"/>
                <a:chExt cx="241300" cy="241300"/>
              </a:xfrm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6721329" y="3483663"/>
                  <a:ext cx="241300" cy="241300"/>
                </a:xfrm>
                <a:prstGeom prst="rect">
                  <a:avLst/>
                </a:prstGeom>
                <a:solidFill>
                  <a:srgbClr val="0000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1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endParaRPr lang="zh-CN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6" name="直接连接符 75"/>
                <p:cNvCxnSpPr/>
                <p:nvPr/>
              </p:nvCxnSpPr>
              <p:spPr>
                <a:xfrm>
                  <a:off x="6750119" y="3516151"/>
                  <a:ext cx="144000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" name="TextBox 45"/>
            <p:cNvSpPr txBox="1"/>
            <p:nvPr/>
          </p:nvSpPr>
          <p:spPr>
            <a:xfrm>
              <a:off x="2262191" y="307339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62191" y="2706688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62191" y="211137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91112" y="2078030"/>
              <a:ext cx="1338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10     11     9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810374" y="2801924"/>
              <a:ext cx="20002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  <a:endPara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endPara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endPara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9"/>
          <p:cNvGrpSpPr/>
          <p:nvPr/>
        </p:nvGrpSpPr>
        <p:grpSpPr>
          <a:xfrm>
            <a:off x="262891" y="749137"/>
            <a:ext cx="3671989" cy="456728"/>
            <a:chOff x="670560" y="892917"/>
            <a:chExt cx="3671989" cy="411055"/>
          </a:xfrm>
        </p:grpSpPr>
        <p:sp>
          <p:nvSpPr>
            <p:cNvPr id="11" name="矩形 10"/>
            <p:cNvSpPr/>
            <p:nvPr/>
          </p:nvSpPr>
          <p:spPr>
            <a:xfrm>
              <a:off x="1035233" y="913778"/>
              <a:ext cx="3307316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集成单稳态触发器</a:t>
              </a:r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—74121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圆角矩形 19"/>
          <p:cNvSpPr/>
          <p:nvPr/>
        </p:nvSpPr>
        <p:spPr>
          <a:xfrm>
            <a:off x="2319338" y="2082800"/>
            <a:ext cx="1630362" cy="2025650"/>
          </a:xfrm>
          <a:prstGeom prst="roundRect">
            <a:avLst>
              <a:gd name="adj" fmla="val 0"/>
            </a:avLst>
          </a:prstGeom>
          <a:solidFill>
            <a:srgbClr val="66FFCC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4013200" y="2127250"/>
            <a:ext cx="2476500" cy="1962150"/>
          </a:xfrm>
          <a:prstGeom prst="roundRect">
            <a:avLst>
              <a:gd name="adj" fmla="val 0"/>
            </a:avLst>
          </a:prstGeom>
          <a:solidFill>
            <a:srgbClr val="FF00FF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6565900" y="2139950"/>
            <a:ext cx="431800" cy="1892300"/>
          </a:xfrm>
          <a:prstGeom prst="roundRect">
            <a:avLst>
              <a:gd name="adj" fmla="val 0"/>
            </a:avLst>
          </a:prstGeom>
          <a:solidFill>
            <a:srgbClr val="00CC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924042" y="2768600"/>
            <a:ext cx="241300" cy="2413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i="1" dirty="0"/>
              <a:t>A</a:t>
            </a:r>
            <a:r>
              <a:rPr lang="en-US" altLang="zh-CN" sz="1400" b="1" baseline="-25000" dirty="0"/>
              <a:t>1</a:t>
            </a:r>
            <a:endParaRPr lang="zh-CN" altLang="en-US" sz="1400" b="1" baseline="-25000" dirty="0"/>
          </a:p>
        </p:txBody>
      </p:sp>
      <p:sp>
        <p:nvSpPr>
          <p:cNvPr id="28" name="矩形 27"/>
          <p:cNvSpPr/>
          <p:nvPr/>
        </p:nvSpPr>
        <p:spPr>
          <a:xfrm>
            <a:off x="1924042" y="3073400"/>
            <a:ext cx="241300" cy="2413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i="1" dirty="0"/>
              <a:t>A</a:t>
            </a:r>
            <a:r>
              <a:rPr lang="en-US" altLang="zh-CN" sz="1400" b="1" baseline="-25000" dirty="0"/>
              <a:t>2</a:t>
            </a:r>
            <a:endParaRPr lang="zh-CN" altLang="en-US" sz="1400" b="1" baseline="-25000" dirty="0"/>
          </a:p>
        </p:txBody>
      </p:sp>
      <p:sp>
        <p:nvSpPr>
          <p:cNvPr id="29" name="矩形 28"/>
          <p:cNvSpPr/>
          <p:nvPr/>
        </p:nvSpPr>
        <p:spPr>
          <a:xfrm>
            <a:off x="1924042" y="2247900"/>
            <a:ext cx="241300" cy="241300"/>
          </a:xfrm>
          <a:prstGeom prst="rect">
            <a:avLst/>
          </a:prstGeom>
          <a:solidFill>
            <a:srgbClr val="CC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i="1" dirty="0"/>
              <a:t>B</a:t>
            </a:r>
            <a:endParaRPr lang="zh-CN" altLang="en-US" sz="1400" b="1" i="1" dirty="0"/>
          </a:p>
        </p:txBody>
      </p:sp>
      <p:grpSp>
        <p:nvGrpSpPr>
          <p:cNvPr id="7" name="组合 38"/>
          <p:cNvGrpSpPr/>
          <p:nvPr/>
        </p:nvGrpSpPr>
        <p:grpSpPr>
          <a:xfrm>
            <a:off x="1648608" y="2918618"/>
            <a:ext cx="208013" cy="321951"/>
            <a:chOff x="560387" y="2844801"/>
            <a:chExt cx="208013" cy="468000"/>
          </a:xfrm>
        </p:grpSpPr>
        <p:cxnSp>
          <p:nvCxnSpPr>
            <p:cNvPr id="31" name="直接箭头连接符 30"/>
            <p:cNvCxnSpPr/>
            <p:nvPr/>
          </p:nvCxnSpPr>
          <p:spPr>
            <a:xfrm flipV="1">
              <a:off x="669925" y="3006569"/>
              <a:ext cx="0" cy="295804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69925" y="2844801"/>
              <a:ext cx="0" cy="46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 flipV="1">
              <a:off x="560387" y="3305656"/>
              <a:ext cx="108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 flipV="1">
              <a:off x="660400" y="2855600"/>
              <a:ext cx="108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39"/>
          <p:cNvGrpSpPr/>
          <p:nvPr/>
        </p:nvGrpSpPr>
        <p:grpSpPr>
          <a:xfrm flipV="1">
            <a:off x="1661308" y="2232818"/>
            <a:ext cx="208013" cy="321951"/>
            <a:chOff x="560387" y="2844801"/>
            <a:chExt cx="208013" cy="468000"/>
          </a:xfrm>
        </p:grpSpPr>
        <p:cxnSp>
          <p:nvCxnSpPr>
            <p:cNvPr id="41" name="直接箭头连接符 40"/>
            <p:cNvCxnSpPr/>
            <p:nvPr/>
          </p:nvCxnSpPr>
          <p:spPr>
            <a:xfrm flipV="1">
              <a:off x="669925" y="3006569"/>
              <a:ext cx="0" cy="295804"/>
            </a:xfrm>
            <a:prstGeom prst="straightConnector1">
              <a:avLst/>
            </a:prstGeom>
            <a:ln w="19050">
              <a:solidFill>
                <a:srgbClr val="6600FF"/>
              </a:solidFill>
              <a:headEnd type="none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669925" y="2844801"/>
              <a:ext cx="0" cy="468000"/>
            </a:xfrm>
            <a:prstGeom prst="line">
              <a:avLst/>
            </a:prstGeom>
            <a:ln w="1905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 flipV="1">
              <a:off x="560387" y="3305656"/>
              <a:ext cx="108000" cy="0"/>
            </a:xfrm>
            <a:prstGeom prst="line">
              <a:avLst/>
            </a:prstGeom>
            <a:ln w="1905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 flipV="1">
              <a:off x="660400" y="2855600"/>
              <a:ext cx="108000" cy="0"/>
            </a:xfrm>
            <a:prstGeom prst="line">
              <a:avLst/>
            </a:prstGeom>
            <a:ln w="19050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55"/>
          <p:cNvGrpSpPr/>
          <p:nvPr/>
        </p:nvGrpSpPr>
        <p:grpSpPr>
          <a:xfrm>
            <a:off x="5314742" y="1588163"/>
            <a:ext cx="353150" cy="392474"/>
            <a:chOff x="5314742" y="1588163"/>
            <a:chExt cx="353150" cy="392474"/>
          </a:xfrm>
        </p:grpSpPr>
        <p:grpSp>
          <p:nvGrpSpPr>
            <p:cNvPr id="10" name="组合 68"/>
            <p:cNvGrpSpPr/>
            <p:nvPr/>
          </p:nvGrpSpPr>
          <p:grpSpPr>
            <a:xfrm>
              <a:off x="5339280" y="1836637"/>
              <a:ext cx="328612" cy="144000"/>
              <a:chOff x="4882080" y="1862589"/>
              <a:chExt cx="328612" cy="144000"/>
            </a:xfrm>
          </p:grpSpPr>
          <p:cxnSp>
            <p:nvCxnSpPr>
              <p:cNvPr id="59" name="直接连接符 58"/>
              <p:cNvCxnSpPr/>
              <p:nvPr/>
            </p:nvCxnSpPr>
            <p:spPr>
              <a:xfrm flipV="1">
                <a:off x="4891088" y="1919288"/>
                <a:ext cx="0" cy="8280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V="1">
                <a:off x="5203550" y="1916906"/>
                <a:ext cx="0" cy="8280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4882080" y="1925890"/>
                <a:ext cx="32861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组合 67"/>
              <p:cNvGrpSpPr/>
              <p:nvPr/>
            </p:nvGrpSpPr>
            <p:grpSpPr>
              <a:xfrm>
                <a:off x="5017274" y="1862589"/>
                <a:ext cx="54000" cy="144000"/>
                <a:chOff x="4170459" y="1795002"/>
                <a:chExt cx="54000" cy="144000"/>
              </a:xfrm>
            </p:grpSpPr>
            <p:sp>
              <p:nvSpPr>
                <p:cNvPr id="67" name="矩形 66"/>
                <p:cNvSpPr/>
                <p:nvPr/>
              </p:nvSpPr>
              <p:spPr>
                <a:xfrm>
                  <a:off x="4170459" y="1820848"/>
                  <a:ext cx="54000" cy="834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4" name="组合 54"/>
                <p:cNvGrpSpPr/>
                <p:nvPr/>
              </p:nvGrpSpPr>
              <p:grpSpPr>
                <a:xfrm>
                  <a:off x="4170459" y="1795002"/>
                  <a:ext cx="54000" cy="144000"/>
                  <a:chOff x="4814888" y="1012031"/>
                  <a:chExt cx="71438" cy="247650"/>
                </a:xfrm>
              </p:grpSpPr>
              <p:cxnSp>
                <p:nvCxnSpPr>
                  <p:cNvPr id="52" name="直接连接符 51"/>
                  <p:cNvCxnSpPr/>
                  <p:nvPr/>
                </p:nvCxnSpPr>
                <p:spPr>
                  <a:xfrm>
                    <a:off x="4814888" y="1012031"/>
                    <a:ext cx="0" cy="247650"/>
                  </a:xfrm>
                  <a:prstGeom prst="line">
                    <a:avLst/>
                  </a:prstGeom>
                  <a:ln w="19050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/>
                  <p:cNvCxnSpPr/>
                  <p:nvPr/>
                </p:nvCxnSpPr>
                <p:spPr>
                  <a:xfrm>
                    <a:off x="4886326" y="1012031"/>
                    <a:ext cx="0" cy="247650"/>
                  </a:xfrm>
                  <a:prstGeom prst="line">
                    <a:avLst/>
                  </a:prstGeom>
                  <a:ln w="19050">
                    <a:solidFill>
                      <a:srgbClr val="66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71" name="TextBox 70"/>
            <p:cNvSpPr txBox="1"/>
            <p:nvPr/>
          </p:nvSpPr>
          <p:spPr>
            <a:xfrm>
              <a:off x="5314742" y="1588163"/>
              <a:ext cx="350562" cy="25200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CN" sz="1400" b="1" i="1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1400" b="1" baseline="-25000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</a:t>
              </a:r>
              <a:endParaRPr lang="zh-CN" altLang="en-US" sz="1400" b="1" baseline="-25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6205198" y="1595872"/>
            <a:ext cx="364430" cy="252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altLang="zh-CN" sz="1400" b="1" i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400" b="1" baseline="-25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en-US" altLang="zh-CN" sz="1400" b="1" baseline="-25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400" b="1" baseline="-250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56"/>
          <p:cNvGrpSpPr/>
          <p:nvPr/>
        </p:nvGrpSpPr>
        <p:grpSpPr>
          <a:xfrm>
            <a:off x="5659955" y="1591338"/>
            <a:ext cx="540820" cy="345411"/>
            <a:chOff x="5659955" y="1591338"/>
            <a:chExt cx="540820" cy="345411"/>
          </a:xfrm>
        </p:grpSpPr>
        <p:grpSp>
          <p:nvGrpSpPr>
            <p:cNvPr id="16" name="组合 82"/>
            <p:cNvGrpSpPr/>
            <p:nvPr/>
          </p:nvGrpSpPr>
          <p:grpSpPr>
            <a:xfrm>
              <a:off x="5659955" y="1863725"/>
              <a:ext cx="540820" cy="73024"/>
              <a:chOff x="5202755" y="1876425"/>
              <a:chExt cx="540820" cy="73024"/>
            </a:xfrm>
          </p:grpSpPr>
          <p:cxnSp>
            <p:nvCxnSpPr>
              <p:cNvPr id="81" name="直接连接符 80"/>
              <p:cNvCxnSpPr/>
              <p:nvPr/>
            </p:nvCxnSpPr>
            <p:spPr>
              <a:xfrm flipV="1">
                <a:off x="5202755" y="1911350"/>
                <a:ext cx="540820" cy="128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矩形 77"/>
              <p:cNvSpPr/>
              <p:nvPr/>
            </p:nvSpPr>
            <p:spPr>
              <a:xfrm>
                <a:off x="5419725" y="1876425"/>
                <a:ext cx="200025" cy="7302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TextBox 83"/>
            <p:cNvSpPr txBox="1"/>
            <p:nvPr/>
          </p:nvSpPr>
          <p:spPr>
            <a:xfrm>
              <a:off x="5787817" y="1591338"/>
              <a:ext cx="349458" cy="25200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CN" sz="1400" b="1" i="1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400" b="1" baseline="-25000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</a:t>
              </a:r>
              <a:endParaRPr lang="zh-CN" altLang="en-US" sz="1400" b="1" baseline="-25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895600" y="4492625"/>
          <a:ext cx="2025650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3" imgW="32308800" imgH="4572000" progId="">
                  <p:embed/>
                </p:oleObj>
              </mc:Choice>
              <mc:Fallback>
                <p:oleObj name="Equation" r:id="rId3" imgW="32308800" imgH="45720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2625"/>
                        <a:ext cx="2025650" cy="324000"/>
                      </a:xfrm>
                      <a:prstGeom prst="rect">
                        <a:avLst/>
                      </a:prstGeom>
                      <a:solidFill>
                        <a:srgbClr val="00FFFF">
                          <a:alpha val="70195"/>
                        </a:srgbClr>
                      </a:solidFill>
                      <a:ln w="127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5024438" y="4497388"/>
          <a:ext cx="922525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5" imgW="15849600" imgH="4876800" progId="">
                  <p:embed/>
                </p:oleObj>
              </mc:Choice>
              <mc:Fallback>
                <p:oleObj name="Equation" r:id="rId5" imgW="15849600" imgH="4876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497388"/>
                        <a:ext cx="922525" cy="324000"/>
                      </a:xfrm>
                      <a:prstGeom prst="rect">
                        <a:avLst/>
                      </a:prstGeom>
                      <a:solidFill>
                        <a:srgbClr val="00FFFF">
                          <a:alpha val="70195"/>
                        </a:srgbClr>
                      </a:solidFill>
                      <a:ln w="127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圆角矩形标注 85"/>
          <p:cNvSpPr/>
          <p:nvPr/>
        </p:nvSpPr>
        <p:spPr>
          <a:xfrm>
            <a:off x="6445250" y="2070100"/>
            <a:ext cx="450850" cy="307848"/>
          </a:xfrm>
          <a:prstGeom prst="wedgeRoundRectCallout">
            <a:avLst>
              <a:gd name="adj1" fmla="val -113194"/>
              <a:gd name="adj2" fmla="val 62500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2k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276850" y="179705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+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1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72" grpId="0" animBg="1"/>
      <p:bldP spid="86" grpId="0" animBg="1"/>
      <p:bldP spid="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2"/>
          <p:cNvGrpSpPr/>
          <p:nvPr/>
        </p:nvGrpSpPr>
        <p:grpSpPr>
          <a:xfrm>
            <a:off x="262891" y="749137"/>
            <a:ext cx="3394670" cy="456728"/>
            <a:chOff x="670560" y="892917"/>
            <a:chExt cx="3394670" cy="411055"/>
          </a:xfrm>
        </p:grpSpPr>
        <p:sp>
          <p:nvSpPr>
            <p:cNvPr id="36" name="矩形 35"/>
            <p:cNvSpPr/>
            <p:nvPr/>
          </p:nvSpPr>
          <p:spPr>
            <a:xfrm>
              <a:off x="1035233" y="913778"/>
              <a:ext cx="3029997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集成单稳态触发器</a:t>
              </a:r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74121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7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圆角矩形 37"/>
          <p:cNvSpPr/>
          <p:nvPr/>
        </p:nvSpPr>
        <p:spPr>
          <a:xfrm>
            <a:off x="1877060" y="2134870"/>
            <a:ext cx="444500" cy="20789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逻辑功能表</a:t>
            </a:r>
            <a:endParaRPr lang="zh-CN" altLang="en-US" sz="2400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212" name="Picture 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9535" y="1360170"/>
            <a:ext cx="3121025" cy="344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1" name="五边形 100"/>
          <p:cNvSpPr/>
          <p:nvPr/>
        </p:nvSpPr>
        <p:spPr>
          <a:xfrm>
            <a:off x="2842260" y="2198370"/>
            <a:ext cx="3456000" cy="1060450"/>
          </a:xfrm>
          <a:prstGeom prst="homePlate">
            <a:avLst/>
          </a:prstGeom>
          <a:solidFill>
            <a:srgbClr val="66FF66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五边形 102"/>
          <p:cNvSpPr/>
          <p:nvPr/>
        </p:nvSpPr>
        <p:spPr>
          <a:xfrm>
            <a:off x="2842260" y="3284220"/>
            <a:ext cx="3456000" cy="774700"/>
          </a:xfrm>
          <a:prstGeom prst="homePlate">
            <a:avLst>
              <a:gd name="adj" fmla="val 70168"/>
            </a:avLst>
          </a:prstGeom>
          <a:solidFill>
            <a:srgbClr val="FF00FF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五边形 104"/>
          <p:cNvSpPr/>
          <p:nvPr/>
        </p:nvSpPr>
        <p:spPr>
          <a:xfrm>
            <a:off x="2842260" y="4097020"/>
            <a:ext cx="3456000" cy="520700"/>
          </a:xfrm>
          <a:prstGeom prst="homePlate">
            <a:avLst>
              <a:gd name="adj" fmla="val 102439"/>
            </a:avLst>
          </a:prstGeom>
          <a:solidFill>
            <a:srgbClr val="FFFF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6311930" y="250265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稳态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311930" y="3480554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下降沿触发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311930" y="4160004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上升沿触发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101" grpId="0" animBg="1"/>
      <p:bldP spid="103" grpId="0" animBg="1"/>
      <p:bldP spid="105" grpId="0" animBg="1"/>
      <p:bldP spid="106" grpId="0"/>
      <p:bldP spid="107" grpId="0"/>
      <p:bldP spid="10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/>
          <p:nvPr/>
        </p:nvGrpSpPr>
        <p:grpSpPr>
          <a:xfrm>
            <a:off x="262891" y="749137"/>
            <a:ext cx="2857663" cy="456728"/>
            <a:chOff x="670560" y="892917"/>
            <a:chExt cx="2857663" cy="411055"/>
          </a:xfrm>
        </p:grpSpPr>
        <p:sp>
          <p:nvSpPr>
            <p:cNvPr id="15" name="矩形 14"/>
            <p:cNvSpPr/>
            <p:nvPr/>
          </p:nvSpPr>
          <p:spPr>
            <a:xfrm>
              <a:off x="1035233" y="913778"/>
              <a:ext cx="249299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单稳态触发器的应用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Rectangle 27"/>
          <p:cNvSpPr>
            <a:spLocks noChangeArrowheads="1"/>
          </p:cNvSpPr>
          <p:nvPr/>
        </p:nvSpPr>
        <p:spPr bwMode="auto">
          <a:xfrm>
            <a:off x="687388" y="131755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、定时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52"/>
          <p:cNvGrpSpPr/>
          <p:nvPr/>
        </p:nvGrpSpPr>
        <p:grpSpPr>
          <a:xfrm>
            <a:off x="755650" y="2006600"/>
            <a:ext cx="3346450" cy="1454150"/>
            <a:chOff x="990600" y="1809750"/>
            <a:chExt cx="3346450" cy="1454150"/>
          </a:xfrm>
        </p:grpSpPr>
        <p:sp>
          <p:nvSpPr>
            <p:cNvPr id="51" name="圆角矩形 50"/>
            <p:cNvSpPr/>
            <p:nvPr/>
          </p:nvSpPr>
          <p:spPr>
            <a:xfrm>
              <a:off x="990600" y="1809750"/>
              <a:ext cx="3346450" cy="1454150"/>
            </a:xfrm>
            <a:prstGeom prst="roundRect">
              <a:avLst>
                <a:gd name="adj" fmla="val 1055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1416050" y="2266950"/>
              <a:ext cx="108585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18"/>
            <p:cNvSpPr/>
            <p:nvPr/>
          </p:nvSpPr>
          <p:spPr>
            <a:xfrm>
              <a:off x="1828800" y="1962150"/>
              <a:ext cx="457200" cy="647700"/>
            </a:xfrm>
            <a:prstGeom prst="roundRect">
              <a:avLst/>
            </a:prstGeom>
            <a:solidFill>
              <a:srgbClr val="66FF66"/>
            </a:solidFill>
            <a:ln w="19050">
              <a:solidFill>
                <a:srgbClr val="CC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单稳态触发器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22" name="直接连接符 21"/>
            <p:cNvCxnSpPr>
              <a:endCxn id="44" idx="3"/>
            </p:cNvCxnSpPr>
            <p:nvPr/>
          </p:nvCxnSpPr>
          <p:spPr>
            <a:xfrm flipH="1" flipV="1">
              <a:off x="1698818" y="2807216"/>
              <a:ext cx="108503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149600" y="2679700"/>
              <a:ext cx="36195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肘形连接符 38"/>
            <p:cNvCxnSpPr/>
            <p:nvPr/>
          </p:nvCxnSpPr>
          <p:spPr>
            <a:xfrm>
              <a:off x="2355850" y="2266950"/>
              <a:ext cx="412750" cy="222250"/>
            </a:xfrm>
            <a:prstGeom prst="bentConnector3">
              <a:avLst>
                <a:gd name="adj1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035050" y="2012950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lang="zh-CN" altLang="en-US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219200" y="2622550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</a:t>
              </a:r>
              <a:endParaRPr lang="zh-CN" altLang="en-US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10786" y="1993900"/>
              <a:ext cx="286266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87600" y="2028988"/>
              <a:ext cx="641350" cy="193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矩形 19"/>
            <p:cNvSpPr/>
            <p:nvPr/>
          </p:nvSpPr>
          <p:spPr>
            <a:xfrm>
              <a:off x="2768600" y="2381250"/>
              <a:ext cx="374650" cy="6032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1"/>
            <a:lstStyle/>
            <a:p>
              <a:pPr algn="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151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81163" y="2865305"/>
              <a:ext cx="877887" cy="20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60725" y="2739855"/>
              <a:ext cx="1003298" cy="2319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" name="TextBox 48"/>
            <p:cNvSpPr txBox="1"/>
            <p:nvPr/>
          </p:nvSpPr>
          <p:spPr>
            <a:xfrm>
              <a:off x="2279650" y="2203450"/>
              <a:ext cx="3449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Q</a:t>
              </a:r>
              <a:endParaRPr lang="en-US" altLang="zh-CN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44850" y="2330450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endParaRPr lang="en-US" altLang="zh-CN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529041" y="1968500"/>
            <a:ext cx="3649759" cy="2165350"/>
            <a:chOff x="4529041" y="1968500"/>
            <a:chExt cx="3649759" cy="2165350"/>
          </a:xfrm>
        </p:grpSpPr>
        <p:grpSp>
          <p:nvGrpSpPr>
            <p:cNvPr id="4" name="组合 69"/>
            <p:cNvGrpSpPr/>
            <p:nvPr/>
          </p:nvGrpSpPr>
          <p:grpSpPr>
            <a:xfrm>
              <a:off x="4529041" y="1968500"/>
              <a:ext cx="3649759" cy="2165350"/>
              <a:chOff x="4529041" y="1968500"/>
              <a:chExt cx="3649759" cy="2165350"/>
            </a:xfrm>
          </p:grpSpPr>
          <p:pic>
            <p:nvPicPr>
              <p:cNvPr id="6154" name="Picture 10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1975" r="3560"/>
              <a:stretch>
                <a:fillRect/>
              </a:stretch>
            </p:blipFill>
            <p:spPr bwMode="auto">
              <a:xfrm>
                <a:off x="4533900" y="1968500"/>
                <a:ext cx="3644900" cy="2165350"/>
              </a:xfrm>
              <a:prstGeom prst="snip2DiagRect">
                <a:avLst>
                  <a:gd name="adj1" fmla="val 0"/>
                  <a:gd name="adj2" fmla="val 6100"/>
                </a:avLst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  <a:headEnd/>
                <a:tailEnd/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88900" algn="tl" rotWithShape="0">
                  <a:srgbClr val="000000">
                    <a:alpha val="45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52" name="TextBox 51"/>
              <p:cNvSpPr txBox="1"/>
              <p:nvPr/>
            </p:nvSpPr>
            <p:spPr>
              <a:xfrm>
                <a:off x="4584700" y="2628900"/>
                <a:ext cx="397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endParaRPr lang="zh-CN" altLang="en-US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4529041" y="2082284"/>
                <a:ext cx="4796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CP</a:t>
                </a:r>
                <a:endParaRPr lang="zh-CN" altLang="en-US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4605799" y="313638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endParaRPr lang="zh-CN" altLang="en-US" dirty="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4650311" y="3682484"/>
                <a:ext cx="351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endParaRPr lang="zh-CN" altLang="en-US" dirty="0"/>
              </a:p>
            </p:txBody>
          </p:sp>
        </p:grpSp>
        <p:cxnSp>
          <p:nvCxnSpPr>
            <p:cNvPr id="61" name="直接连接符 60"/>
            <p:cNvCxnSpPr/>
            <p:nvPr/>
          </p:nvCxnSpPr>
          <p:spPr>
            <a:xfrm flipH="1">
              <a:off x="5645150" y="2895600"/>
              <a:ext cx="0" cy="25200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68"/>
          <p:cNvGrpSpPr/>
          <p:nvPr/>
        </p:nvGrpSpPr>
        <p:grpSpPr>
          <a:xfrm>
            <a:off x="5702300" y="3200400"/>
            <a:ext cx="1606550" cy="303371"/>
            <a:chOff x="5715000" y="2851150"/>
            <a:chExt cx="1606550" cy="303371"/>
          </a:xfrm>
        </p:grpSpPr>
        <p:sp>
          <p:nvSpPr>
            <p:cNvPr id="67" name="左右箭头 66"/>
            <p:cNvSpPr/>
            <p:nvPr/>
          </p:nvSpPr>
          <p:spPr>
            <a:xfrm>
              <a:off x="5715000" y="2851150"/>
              <a:ext cx="1606550" cy="160782"/>
            </a:xfrm>
            <a:prstGeom prst="leftRightArrow">
              <a:avLst>
                <a:gd name="adj1" fmla="val 21174"/>
                <a:gd name="adj2" fmla="val 50000"/>
              </a:avLst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00FF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08861" y="2908300"/>
              <a:ext cx="41882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CN" altLang="en-US" sz="1600" b="1" baseline="-2500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矩形 70"/>
          <p:cNvSpPr/>
          <p:nvPr/>
        </p:nvSpPr>
        <p:spPr>
          <a:xfrm>
            <a:off x="1079884" y="3742123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测频频率计闸门控制电路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656785" y="2036138"/>
            <a:ext cx="1676400" cy="1987550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5641545" y="2634308"/>
            <a:ext cx="267765" cy="303201"/>
            <a:chOff x="5641545" y="2634308"/>
            <a:chExt cx="267765" cy="303201"/>
          </a:xfrm>
        </p:grpSpPr>
        <p:sp>
          <p:nvSpPr>
            <p:cNvPr id="65" name="矩形 64"/>
            <p:cNvSpPr/>
            <p:nvPr/>
          </p:nvSpPr>
          <p:spPr>
            <a:xfrm>
              <a:off x="5641545" y="2634308"/>
              <a:ext cx="267765" cy="280342"/>
            </a:xfrm>
            <a:prstGeom prst="rect">
              <a:avLst/>
            </a:prstGeom>
            <a:solidFill>
              <a:srgbClr val="FF0000">
                <a:alpha val="23000"/>
              </a:srgbClr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5660595" y="2891790"/>
              <a:ext cx="234000" cy="4571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矩形 37"/>
          <p:cNvSpPr/>
          <p:nvPr/>
        </p:nvSpPr>
        <p:spPr>
          <a:xfrm>
            <a:off x="5001688" y="2027825"/>
            <a:ext cx="650549" cy="198755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333185" y="2020205"/>
            <a:ext cx="650549" cy="198755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5731138" y="4067822"/>
            <a:ext cx="1565015" cy="733917"/>
            <a:chOff x="5731138" y="4067822"/>
            <a:chExt cx="1565015" cy="733917"/>
          </a:xfrm>
        </p:grpSpPr>
        <p:sp>
          <p:nvSpPr>
            <p:cNvPr id="41" name="矩形 40"/>
            <p:cNvSpPr/>
            <p:nvPr/>
          </p:nvSpPr>
          <p:spPr>
            <a:xfrm>
              <a:off x="5855816" y="4432407"/>
              <a:ext cx="12698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计数结果</a:t>
              </a:r>
              <a:r>
                <a:rPr lang="en-US" altLang="zh-CN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左大括号 41"/>
            <p:cNvSpPr/>
            <p:nvPr/>
          </p:nvSpPr>
          <p:spPr>
            <a:xfrm rot="16200000">
              <a:off x="6394907" y="3404053"/>
              <a:ext cx="237477" cy="1565015"/>
            </a:xfrm>
            <a:prstGeom prst="leftBrace">
              <a:avLst>
                <a:gd name="adj1" fmla="val 68497"/>
                <a:gd name="adj2" fmla="val 50000"/>
              </a:avLst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34" grpId="0" animBg="1"/>
      <p:bldP spid="38" grpId="0" animBg="1"/>
      <p:bldP spid="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2"/>
          <p:cNvGrpSpPr/>
          <p:nvPr/>
        </p:nvGrpSpPr>
        <p:grpSpPr>
          <a:xfrm>
            <a:off x="262891" y="749137"/>
            <a:ext cx="2857663" cy="456728"/>
            <a:chOff x="670560" y="892917"/>
            <a:chExt cx="2857663" cy="411055"/>
          </a:xfrm>
        </p:grpSpPr>
        <p:sp>
          <p:nvSpPr>
            <p:cNvPr id="56" name="矩形 55"/>
            <p:cNvSpPr/>
            <p:nvPr/>
          </p:nvSpPr>
          <p:spPr>
            <a:xfrm>
              <a:off x="1035233" y="913778"/>
              <a:ext cx="249299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单稳态触发器的应用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7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87388" y="131755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、延时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AutoShape 9"/>
          <p:cNvSpPr>
            <a:spLocks noChangeArrowheads="1"/>
          </p:cNvSpPr>
          <p:nvPr/>
        </p:nvSpPr>
        <p:spPr bwMode="auto">
          <a:xfrm>
            <a:off x="5181600" y="1250950"/>
            <a:ext cx="2781300" cy="30924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 algn="ctr">
            <a:noFill/>
            <a:round/>
          </a:ln>
          <a:effectLst/>
        </p:spPr>
        <p:txBody>
          <a:bodyPr wrap="none" lIns="0" rIns="0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组合 126"/>
          <p:cNvGrpSpPr/>
          <p:nvPr/>
        </p:nvGrpSpPr>
        <p:grpSpPr>
          <a:xfrm>
            <a:off x="4972050" y="1181100"/>
            <a:ext cx="3206750" cy="3327400"/>
            <a:chOff x="4972050" y="1181100"/>
            <a:chExt cx="3206750" cy="3327400"/>
          </a:xfrm>
        </p:grpSpPr>
        <p:sp>
          <p:nvSpPr>
            <p:cNvPr id="126" name="圆角矩形 125"/>
            <p:cNvSpPr/>
            <p:nvPr/>
          </p:nvSpPr>
          <p:spPr>
            <a:xfrm>
              <a:off x="4972050" y="1181100"/>
              <a:ext cx="3206750" cy="3327400"/>
            </a:xfrm>
            <a:prstGeom prst="roundRect">
              <a:avLst>
                <a:gd name="adj" fmla="val 597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124"/>
            <p:cNvGrpSpPr/>
            <p:nvPr/>
          </p:nvGrpSpPr>
          <p:grpSpPr>
            <a:xfrm>
              <a:off x="5257800" y="1419663"/>
              <a:ext cx="2667000" cy="2901490"/>
              <a:chOff x="5257800" y="1419663"/>
              <a:chExt cx="2667000" cy="290149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aphicFrame>
            <p:nvGraphicFramePr>
              <p:cNvPr id="68" name="Object 6"/>
              <p:cNvGraphicFramePr>
                <a:graphicFrameLocks noChangeAspect="1"/>
              </p:cNvGraphicFramePr>
              <p:nvPr/>
            </p:nvGraphicFramePr>
            <p:xfrm>
              <a:off x="5276215" y="1419663"/>
              <a:ext cx="2646045" cy="1012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293" name="位图图像" r:id="rId2" imgW="4410075" imgH="1733550" progId="PBrush">
                      <p:embed/>
                    </p:oleObj>
                  </mc:Choice>
                  <mc:Fallback>
                    <p:oleObj name="位图图像" r:id="rId2" imgW="4410075" imgH="1733550" progId="PBrush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6215" y="1419663"/>
                            <a:ext cx="2646045" cy="1012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66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35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7"/>
              <p:cNvGraphicFramePr>
                <a:graphicFrameLocks noChangeAspect="1"/>
              </p:cNvGraphicFramePr>
              <p:nvPr/>
            </p:nvGraphicFramePr>
            <p:xfrm>
              <a:off x="5257800" y="2464384"/>
              <a:ext cx="2651760" cy="8954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294" name="位图图像" r:id="rId4" imgW="4610100" imgH="1533525" progId="PBrush">
                      <p:embed/>
                    </p:oleObj>
                  </mc:Choice>
                  <mc:Fallback>
                    <p:oleObj name="位图图像" r:id="rId4" imgW="4610100" imgH="1533525" progId="PBrush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r="4132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7800" y="2464384"/>
                            <a:ext cx="2651760" cy="8954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66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35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8"/>
              <p:cNvGraphicFramePr>
                <a:graphicFrameLocks noChangeAspect="1"/>
              </p:cNvGraphicFramePr>
              <p:nvPr/>
            </p:nvGraphicFramePr>
            <p:xfrm>
              <a:off x="5321300" y="3414553"/>
              <a:ext cx="2603500" cy="90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295" name="位图图像" r:id="rId6" imgW="4324350" imgH="1552575" progId="PBrush">
                      <p:embed/>
                    </p:oleObj>
                  </mc:Choice>
                  <mc:Fallback>
                    <p:oleObj name="位图图像" r:id="rId6" imgW="4324350" imgH="1552575" progId="PBrush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1300" y="3414553"/>
                            <a:ext cx="2603500" cy="906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66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07763" dir="135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组合 122"/>
          <p:cNvGrpSpPr/>
          <p:nvPr/>
        </p:nvGrpSpPr>
        <p:grpSpPr>
          <a:xfrm>
            <a:off x="5834380" y="1823832"/>
            <a:ext cx="1224915" cy="1320703"/>
            <a:chOff x="5834380" y="1823832"/>
            <a:chExt cx="1224915" cy="1320703"/>
          </a:xfrm>
        </p:grpSpPr>
        <p:sp>
          <p:nvSpPr>
            <p:cNvPr id="77" name="Line 10"/>
            <p:cNvSpPr>
              <a:spLocks noChangeShapeType="1"/>
            </p:cNvSpPr>
            <p:nvPr/>
          </p:nvSpPr>
          <p:spPr bwMode="auto">
            <a:xfrm>
              <a:off x="5834380" y="1848535"/>
              <a:ext cx="0" cy="1296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Line 13"/>
            <p:cNvSpPr>
              <a:spLocks noChangeShapeType="1"/>
            </p:cNvSpPr>
            <p:nvPr/>
          </p:nvSpPr>
          <p:spPr bwMode="auto">
            <a:xfrm>
              <a:off x="7059295" y="1823832"/>
              <a:ext cx="0" cy="1296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组合 123"/>
          <p:cNvGrpSpPr/>
          <p:nvPr/>
        </p:nvGrpSpPr>
        <p:grpSpPr>
          <a:xfrm>
            <a:off x="6241733" y="2779562"/>
            <a:ext cx="1232852" cy="1409957"/>
            <a:chOff x="6241733" y="2779562"/>
            <a:chExt cx="1232852" cy="1409957"/>
          </a:xfrm>
        </p:grpSpPr>
        <p:sp>
          <p:nvSpPr>
            <p:cNvPr id="88" name="Line 12"/>
            <p:cNvSpPr>
              <a:spLocks noChangeShapeType="1"/>
            </p:cNvSpPr>
            <p:nvPr/>
          </p:nvSpPr>
          <p:spPr bwMode="auto">
            <a:xfrm>
              <a:off x="6241733" y="2779562"/>
              <a:ext cx="0" cy="1357118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prstDash val="sysDot"/>
              <a:round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7474585" y="2832401"/>
              <a:ext cx="0" cy="1357118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prstDash val="sysDot"/>
              <a:round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54100" y="1873250"/>
            <a:ext cx="3308714" cy="2411413"/>
            <a:chOff x="1054100" y="1873250"/>
            <a:chExt cx="3308714" cy="2411413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054100" y="1873250"/>
              <a:ext cx="3308714" cy="2411413"/>
            </a:xfrm>
            <a:prstGeom prst="snip2DiagRect">
              <a:avLst>
                <a:gd name="adj1" fmla="val 0"/>
                <a:gd name="adj2" fmla="val 5870"/>
              </a:avLst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91" name="矩形 90"/>
            <p:cNvSpPr/>
            <p:nvPr/>
          </p:nvSpPr>
          <p:spPr>
            <a:xfrm>
              <a:off x="1244592" y="3549650"/>
              <a:ext cx="260358" cy="33655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CN" sz="2000" i="1" dirty="0" err="1">
                  <a:latin typeface="Bell MT" panose="02020503060305020303" pitchFamily="18" charset="0"/>
                </a:rPr>
                <a:t>v</a:t>
              </a:r>
              <a:r>
                <a:rPr lang="en-US" altLang="zh-CN" sz="14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2597142" y="2419350"/>
              <a:ext cx="298458" cy="33655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CN" sz="2000" i="1" dirty="0">
                  <a:latin typeface="Bell MT" panose="02020503060305020303" pitchFamily="18" charset="0"/>
                </a:rPr>
                <a:t>v</a:t>
              </a:r>
              <a:r>
                <a:rPr lang="en-US" altLang="zh-CN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O1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3898892" y="2419350"/>
              <a:ext cx="298458" cy="33655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CN" sz="2000" i="1" dirty="0" err="1">
                  <a:latin typeface="Bell MT" panose="02020503060305020303" pitchFamily="18" charset="0"/>
                </a:rPr>
                <a:t>v</a:t>
              </a:r>
              <a:r>
                <a:rPr lang="en-US" altLang="zh-CN" sz="14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106"/>
          <p:cNvGrpSpPr/>
          <p:nvPr/>
        </p:nvGrpSpPr>
        <p:grpSpPr>
          <a:xfrm>
            <a:off x="5838824" y="1797050"/>
            <a:ext cx="1279525" cy="391800"/>
            <a:chOff x="5838824" y="1797050"/>
            <a:chExt cx="1279525" cy="391800"/>
          </a:xfrm>
        </p:grpSpPr>
        <p:grpSp>
          <p:nvGrpSpPr>
            <p:cNvPr id="8" name="组合 97"/>
            <p:cNvGrpSpPr/>
            <p:nvPr/>
          </p:nvGrpSpPr>
          <p:grpSpPr>
            <a:xfrm>
              <a:off x="5838824" y="1797050"/>
              <a:ext cx="53975" cy="385450"/>
              <a:chOff x="4130675" y="1447800"/>
              <a:chExt cx="0" cy="468000"/>
            </a:xfrm>
          </p:grpSpPr>
          <p:cxnSp>
            <p:nvCxnSpPr>
              <p:cNvPr id="100" name="直接箭头连接符 99"/>
              <p:cNvCxnSpPr/>
              <p:nvPr/>
            </p:nvCxnSpPr>
            <p:spPr>
              <a:xfrm flipV="1">
                <a:off x="4130675" y="1609569"/>
                <a:ext cx="0" cy="29580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4130675" y="1447800"/>
                <a:ext cx="0" cy="46800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102"/>
            <p:cNvGrpSpPr/>
            <p:nvPr/>
          </p:nvGrpSpPr>
          <p:grpSpPr>
            <a:xfrm>
              <a:off x="7064374" y="1803400"/>
              <a:ext cx="53975" cy="385450"/>
              <a:chOff x="4130675" y="1447800"/>
              <a:chExt cx="0" cy="468000"/>
            </a:xfrm>
          </p:grpSpPr>
          <p:cxnSp>
            <p:nvCxnSpPr>
              <p:cNvPr id="104" name="直接箭头连接符 103"/>
              <p:cNvCxnSpPr/>
              <p:nvPr/>
            </p:nvCxnSpPr>
            <p:spPr>
              <a:xfrm flipV="1">
                <a:off x="4130675" y="1609569"/>
                <a:ext cx="0" cy="29580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4130675" y="1447800"/>
                <a:ext cx="0" cy="46800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7" name="椭圆 116"/>
          <p:cNvSpPr/>
          <p:nvPr/>
        </p:nvSpPr>
        <p:spPr>
          <a:xfrm rot="5400000">
            <a:off x="2171749" y="1530403"/>
            <a:ext cx="415122" cy="1108779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8" name="椭圆 117"/>
          <p:cNvSpPr/>
          <p:nvPr/>
        </p:nvSpPr>
        <p:spPr>
          <a:xfrm rot="5400000">
            <a:off x="3492549" y="1536754"/>
            <a:ext cx="415122" cy="1108779"/>
          </a:xfrm>
          <a:prstGeom prst="ellipse">
            <a:avLst/>
          </a:prstGeom>
          <a:solidFill>
            <a:srgbClr val="FF00FF">
              <a:alpha val="20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grpSp>
        <p:nvGrpSpPr>
          <p:cNvPr id="14" name="组合 120"/>
          <p:cNvGrpSpPr/>
          <p:nvPr/>
        </p:nvGrpSpPr>
        <p:grpSpPr>
          <a:xfrm>
            <a:off x="6248719" y="3802169"/>
            <a:ext cx="1370062" cy="387350"/>
            <a:chOff x="6236438" y="3797300"/>
            <a:chExt cx="1389911" cy="387350"/>
          </a:xfrm>
          <a:solidFill>
            <a:srgbClr val="00B050">
              <a:alpha val="42000"/>
            </a:srgbClr>
          </a:solidFill>
        </p:grpSpPr>
        <p:sp>
          <p:nvSpPr>
            <p:cNvPr id="119" name="矩形 118"/>
            <p:cNvSpPr/>
            <p:nvPr/>
          </p:nvSpPr>
          <p:spPr>
            <a:xfrm>
              <a:off x="6236438" y="3803650"/>
              <a:ext cx="141905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7487152" y="3797300"/>
              <a:ext cx="139197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1"/>
          <p:cNvGrpSpPr/>
          <p:nvPr/>
        </p:nvGrpSpPr>
        <p:grpSpPr>
          <a:xfrm>
            <a:off x="5842000" y="2787650"/>
            <a:ext cx="1625597" cy="387350"/>
            <a:chOff x="5842000" y="2787650"/>
            <a:chExt cx="1631950" cy="387350"/>
          </a:xfrm>
          <a:solidFill>
            <a:srgbClr val="92D050">
              <a:alpha val="64000"/>
            </a:srgbClr>
          </a:solidFill>
        </p:grpSpPr>
        <p:sp>
          <p:nvSpPr>
            <p:cNvPr id="115" name="矩形 114"/>
            <p:cNvSpPr/>
            <p:nvPr/>
          </p:nvSpPr>
          <p:spPr>
            <a:xfrm>
              <a:off x="5842000" y="2794000"/>
              <a:ext cx="3937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7080250" y="2787650"/>
              <a:ext cx="3937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107"/>
          <p:cNvGrpSpPr/>
          <p:nvPr/>
        </p:nvGrpSpPr>
        <p:grpSpPr>
          <a:xfrm flipV="1">
            <a:off x="6251574" y="2800350"/>
            <a:ext cx="1279525" cy="391800"/>
            <a:chOff x="5838824" y="1797050"/>
            <a:chExt cx="1279525" cy="391800"/>
          </a:xfrm>
        </p:grpSpPr>
        <p:grpSp>
          <p:nvGrpSpPr>
            <p:cNvPr id="11" name="组合 97"/>
            <p:cNvGrpSpPr/>
            <p:nvPr/>
          </p:nvGrpSpPr>
          <p:grpSpPr>
            <a:xfrm>
              <a:off x="5838824" y="1797050"/>
              <a:ext cx="53975" cy="385450"/>
              <a:chOff x="4130675" y="1447800"/>
              <a:chExt cx="0" cy="468000"/>
            </a:xfrm>
          </p:grpSpPr>
          <p:cxnSp>
            <p:nvCxnSpPr>
              <p:cNvPr id="113" name="直接箭头连接符 112"/>
              <p:cNvCxnSpPr/>
              <p:nvPr/>
            </p:nvCxnSpPr>
            <p:spPr>
              <a:xfrm flipV="1">
                <a:off x="4130675" y="1609569"/>
                <a:ext cx="0" cy="295804"/>
              </a:xfrm>
              <a:prstGeom prst="straightConnector1">
                <a:avLst/>
              </a:prstGeom>
              <a:ln w="19050">
                <a:solidFill>
                  <a:srgbClr val="CC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4130675" y="1447800"/>
                <a:ext cx="0" cy="468000"/>
              </a:xfrm>
              <a:prstGeom prst="line">
                <a:avLst/>
              </a:prstGeom>
              <a:ln w="1905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02"/>
            <p:cNvGrpSpPr/>
            <p:nvPr/>
          </p:nvGrpSpPr>
          <p:grpSpPr>
            <a:xfrm>
              <a:off x="7064374" y="1803400"/>
              <a:ext cx="53975" cy="385450"/>
              <a:chOff x="4130675" y="1447800"/>
              <a:chExt cx="0" cy="468000"/>
            </a:xfrm>
          </p:grpSpPr>
          <p:cxnSp>
            <p:nvCxnSpPr>
              <p:cNvPr id="111" name="直接箭头连接符 110"/>
              <p:cNvCxnSpPr/>
              <p:nvPr/>
            </p:nvCxnSpPr>
            <p:spPr>
              <a:xfrm flipV="1">
                <a:off x="4130675" y="1609569"/>
                <a:ext cx="0" cy="295804"/>
              </a:xfrm>
              <a:prstGeom prst="straightConnector1">
                <a:avLst/>
              </a:prstGeom>
              <a:ln w="19050">
                <a:solidFill>
                  <a:srgbClr val="CC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4130675" y="1447800"/>
                <a:ext cx="0" cy="468000"/>
              </a:xfrm>
              <a:prstGeom prst="line">
                <a:avLst/>
              </a:prstGeom>
              <a:ln w="1905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117" grpId="0" animBg="1"/>
      <p:bldP spid="1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784227" y="2973385"/>
            <a:ext cx="4540251" cy="1465265"/>
            <a:chOff x="784227" y="2973385"/>
            <a:chExt cx="4540251" cy="1465265"/>
          </a:xfrm>
        </p:grpSpPr>
        <p:sp>
          <p:nvSpPr>
            <p:cNvPr id="28" name="圆角矩形 27"/>
            <p:cNvSpPr/>
            <p:nvPr/>
          </p:nvSpPr>
          <p:spPr>
            <a:xfrm>
              <a:off x="784227" y="2973385"/>
              <a:ext cx="4540251" cy="1465265"/>
            </a:xfrm>
            <a:prstGeom prst="roundRect">
              <a:avLst>
                <a:gd name="adj" fmla="val 1055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151"/>
            <p:cNvGrpSpPr/>
            <p:nvPr/>
          </p:nvGrpSpPr>
          <p:grpSpPr>
            <a:xfrm>
              <a:off x="824978" y="3062589"/>
              <a:ext cx="4455046" cy="1309326"/>
              <a:chOff x="4180954" y="2087924"/>
              <a:chExt cx="4455046" cy="1309326"/>
            </a:xfrm>
          </p:grpSpPr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5084763" y="2087924"/>
                <a:ext cx="3551237" cy="1309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0" name="TextBox 149"/>
              <p:cNvSpPr txBox="1"/>
              <p:nvPr/>
            </p:nvSpPr>
            <p:spPr>
              <a:xfrm>
                <a:off x="4180954" y="2292350"/>
                <a:ext cx="11721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CPU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某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口</a:t>
                </a:r>
                <a:endParaRPr lang="zh-CN" altLang="en-US" sz="14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4242867" y="2952750"/>
                <a:ext cx="10919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CPU</a:t>
                </a:r>
                <a:r>
                  <a:rPr lang="zh-CN" altLang="en-US" sz="1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复位端</a:t>
                </a:r>
                <a:endParaRPr lang="zh-CN" altLang="en-US" sz="14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" name="组合 86"/>
          <p:cNvGrpSpPr/>
          <p:nvPr/>
        </p:nvGrpSpPr>
        <p:grpSpPr>
          <a:xfrm>
            <a:off x="262891" y="749137"/>
            <a:ext cx="2857663" cy="456728"/>
            <a:chOff x="670560" y="892917"/>
            <a:chExt cx="2857663" cy="411055"/>
          </a:xfrm>
        </p:grpSpPr>
        <p:sp>
          <p:nvSpPr>
            <p:cNvPr id="90" name="矩形 89"/>
            <p:cNvSpPr/>
            <p:nvPr/>
          </p:nvSpPr>
          <p:spPr>
            <a:xfrm>
              <a:off x="1035233" y="913778"/>
              <a:ext cx="2492990" cy="360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单稳态触发器的应用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" name="Rectangle 27"/>
          <p:cNvSpPr>
            <a:spLocks noChangeArrowheads="1"/>
          </p:cNvSpPr>
          <p:nvPr/>
        </p:nvSpPr>
        <p:spPr bwMode="auto">
          <a:xfrm>
            <a:off x="687387" y="1317554"/>
            <a:ext cx="4065587" cy="73225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b="1" dirty="0">
                <a:solidFill>
                  <a:srgbClr val="66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失落脉冲检测</a:t>
            </a:r>
            <a:endParaRPr lang="en-US" altLang="zh-CN" b="1" dirty="0">
              <a:solidFill>
                <a:srgbClr val="66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(CPU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“看门狗”电路</a:t>
            </a:r>
            <a:r>
              <a:rPr lang="en-US" altLang="zh-CN" b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CC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232274" y="835025"/>
            <a:ext cx="4397375" cy="1955800"/>
            <a:chOff x="546100" y="2006600"/>
            <a:chExt cx="3606800" cy="1498600"/>
          </a:xfrm>
        </p:grpSpPr>
        <p:sp>
          <p:nvSpPr>
            <p:cNvPr id="99" name="圆角矩形 98"/>
            <p:cNvSpPr/>
            <p:nvPr/>
          </p:nvSpPr>
          <p:spPr>
            <a:xfrm>
              <a:off x="546100" y="2006600"/>
              <a:ext cx="3606800" cy="1498600"/>
            </a:xfrm>
            <a:prstGeom prst="roundRect">
              <a:avLst>
                <a:gd name="adj" fmla="val 1055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814017" y="2063750"/>
              <a:ext cx="8899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CPU</a:t>
              </a:r>
              <a:r>
                <a:rPr lang="zh-CN" altLang="en-US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某</a:t>
              </a:r>
              <a:r>
                <a:rPr lang="en-US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I/O</a:t>
              </a:r>
              <a:r>
                <a:rPr lang="zh-CN" altLang="en-US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口</a:t>
              </a:r>
              <a:endParaRPr lang="zh-CN" altLang="en-US" sz="10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" name="圆角矩形 134"/>
            <p:cNvSpPr/>
            <p:nvPr/>
          </p:nvSpPr>
          <p:spPr>
            <a:xfrm>
              <a:off x="774700" y="2114550"/>
              <a:ext cx="1054100" cy="1231900"/>
            </a:xfrm>
            <a:prstGeom prst="roundRect">
              <a:avLst>
                <a:gd name="adj" fmla="val 5824"/>
              </a:avLst>
            </a:prstGeom>
            <a:solidFill>
              <a:srgbClr val="66FF66"/>
            </a:solidFill>
            <a:ln w="19050">
              <a:solidFill>
                <a:srgbClr val="CC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Wide Latin" panose="020A0A07050505020404" pitchFamily="18" charset="0"/>
                  <a:ea typeface="黑体" panose="02010609060101010101" pitchFamily="49" charset="-122"/>
                </a:rPr>
                <a:t>CPU</a:t>
              </a:r>
              <a:endParaRPr lang="zh-CN" altLang="en-US" dirty="0">
                <a:solidFill>
                  <a:schemeClr val="tx1"/>
                </a:solidFill>
                <a:latin typeface="Wide Latin" panose="020A0A070505050204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" name="组合 144"/>
            <p:cNvGrpSpPr/>
            <p:nvPr/>
          </p:nvGrpSpPr>
          <p:grpSpPr>
            <a:xfrm>
              <a:off x="1835150" y="2321152"/>
              <a:ext cx="1188000" cy="2948"/>
              <a:chOff x="2044700" y="2321152"/>
              <a:chExt cx="1188000" cy="2948"/>
            </a:xfrm>
          </p:grpSpPr>
          <p:cxnSp>
            <p:nvCxnSpPr>
              <p:cNvPr id="106" name="直接连接符 105"/>
              <p:cNvCxnSpPr/>
              <p:nvPr/>
            </p:nvCxnSpPr>
            <p:spPr>
              <a:xfrm flipH="1">
                <a:off x="2044700" y="2324100"/>
                <a:ext cx="1188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箭头连接符 141"/>
              <p:cNvCxnSpPr/>
              <p:nvPr/>
            </p:nvCxnSpPr>
            <p:spPr>
              <a:xfrm rot="16200000" flipH="1">
                <a:off x="2581274" y="2199338"/>
                <a:ext cx="0" cy="24362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3" name="直接连接符 142"/>
            <p:cNvCxnSpPr/>
            <p:nvPr/>
          </p:nvCxnSpPr>
          <p:spPr>
            <a:xfrm flipV="1">
              <a:off x="3016250" y="2317750"/>
              <a:ext cx="3174" cy="90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145"/>
            <p:cNvGrpSpPr/>
            <p:nvPr/>
          </p:nvGrpSpPr>
          <p:grpSpPr>
            <a:xfrm flipH="1">
              <a:off x="1835150" y="3210152"/>
              <a:ext cx="1188000" cy="2948"/>
              <a:chOff x="2044700" y="2321152"/>
              <a:chExt cx="1188000" cy="2948"/>
            </a:xfrm>
          </p:grpSpPr>
          <p:cxnSp>
            <p:nvCxnSpPr>
              <p:cNvPr id="147" name="直接连接符 146"/>
              <p:cNvCxnSpPr/>
              <p:nvPr/>
            </p:nvCxnSpPr>
            <p:spPr>
              <a:xfrm flipH="1">
                <a:off x="2044700" y="2324100"/>
                <a:ext cx="1188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/>
              <p:cNvCxnSpPr/>
              <p:nvPr/>
            </p:nvCxnSpPr>
            <p:spPr>
              <a:xfrm rot="16200000" flipH="1">
                <a:off x="2581274" y="2199338"/>
                <a:ext cx="0" cy="24362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圆角矩形 107"/>
            <p:cNvSpPr/>
            <p:nvPr/>
          </p:nvSpPr>
          <p:spPr>
            <a:xfrm>
              <a:off x="2698750" y="2444750"/>
              <a:ext cx="647700" cy="647700"/>
            </a:xfrm>
            <a:prstGeom prst="roundRect">
              <a:avLst>
                <a:gd name="adj" fmla="val 1961"/>
              </a:avLst>
            </a:prstGeom>
            <a:solidFill>
              <a:srgbClr val="66FF66"/>
            </a:solidFill>
            <a:ln w="19050">
              <a:solidFill>
                <a:srgbClr val="CC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可重复触发单稳态触发器</a:t>
              </a:r>
              <a:endPara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826717" y="2952750"/>
              <a:ext cx="8338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CPU</a:t>
              </a:r>
              <a:r>
                <a:rPr lang="zh-CN" altLang="en-US" sz="10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复位端</a:t>
              </a:r>
              <a:endParaRPr lang="zh-CN" altLang="en-US" sz="10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101" name="Picture 5" descr="http://www.huihuarensheng.com/uploads/allimg/160324/1-160324230103.jpg"/>
            <p:cNvPicPr>
              <a:picLocks noChangeAspect="1" noChangeArrowheads="1"/>
            </p:cNvPicPr>
            <p:nvPr/>
          </p:nvPicPr>
          <p:blipFill>
            <a:blip r:embed="rId3" cstate="print"/>
            <a:srcRect l="25074" t="8841" r="21222" b="10633"/>
            <a:stretch>
              <a:fillRect/>
            </a:stretch>
          </p:blipFill>
          <p:spPr bwMode="auto">
            <a:xfrm flipH="1">
              <a:off x="3397250" y="2442192"/>
              <a:ext cx="685800" cy="637557"/>
            </a:xfrm>
            <a:prstGeom prst="rect">
              <a:avLst/>
            </a:prstGeom>
            <a:noFill/>
          </p:spPr>
        </p:pic>
      </p:grpSp>
      <p:sp>
        <p:nvSpPr>
          <p:cNvPr id="154" name="圆角矩形 153"/>
          <p:cNvSpPr/>
          <p:nvPr/>
        </p:nvSpPr>
        <p:spPr>
          <a:xfrm>
            <a:off x="1993900" y="3165416"/>
            <a:ext cx="2190750" cy="469900"/>
          </a:xfrm>
          <a:prstGeom prst="roundRect">
            <a:avLst>
              <a:gd name="adj" fmla="val 10417"/>
            </a:avLst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圆角矩形标注 30"/>
          <p:cNvSpPr/>
          <p:nvPr/>
        </p:nvSpPr>
        <p:spPr>
          <a:xfrm>
            <a:off x="4927315" y="4503343"/>
            <a:ext cx="1216307" cy="516332"/>
          </a:xfrm>
          <a:prstGeom prst="wedgeRoundRectCallout">
            <a:avLst>
              <a:gd name="adj1" fmla="val -76732"/>
              <a:gd name="adj2" fmla="val -9468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复位</a:t>
            </a:r>
            <a:endParaRPr lang="en-US" altLang="zh-CN" sz="1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有效信号</a:t>
            </a:r>
            <a:endParaRPr lang="zh-CN" altLang="en-US" sz="1400" baseline="-25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537075" y="3146366"/>
            <a:ext cx="668338" cy="469900"/>
          </a:xfrm>
          <a:prstGeom prst="roundRect">
            <a:avLst>
              <a:gd name="adj" fmla="val 10417"/>
            </a:avLst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圆角矩形 32"/>
          <p:cNvSpPr/>
          <p:nvPr/>
        </p:nvSpPr>
        <p:spPr>
          <a:xfrm>
            <a:off x="1990727" y="3813115"/>
            <a:ext cx="2176462" cy="335023"/>
          </a:xfrm>
          <a:prstGeom prst="roundRect">
            <a:avLst>
              <a:gd name="adj" fmla="val 10417"/>
            </a:avLst>
          </a:prstGeom>
          <a:solidFill>
            <a:srgbClr val="66FF66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圆角矩形 33"/>
          <p:cNvSpPr/>
          <p:nvPr/>
        </p:nvSpPr>
        <p:spPr>
          <a:xfrm>
            <a:off x="4222749" y="3155890"/>
            <a:ext cx="268288" cy="469900"/>
          </a:xfrm>
          <a:prstGeom prst="roundRect">
            <a:avLst>
              <a:gd name="adj" fmla="val 10417"/>
            </a:avLst>
          </a:prstGeom>
          <a:solidFill>
            <a:srgbClr val="6600FF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5" name="圆角矩形 34"/>
          <p:cNvSpPr/>
          <p:nvPr/>
        </p:nvSpPr>
        <p:spPr>
          <a:xfrm>
            <a:off x="4198937" y="3808353"/>
            <a:ext cx="282576" cy="469900"/>
          </a:xfrm>
          <a:prstGeom prst="roundRect">
            <a:avLst>
              <a:gd name="adj" fmla="val 10417"/>
            </a:avLst>
          </a:prstGeom>
          <a:solidFill>
            <a:srgbClr val="6600FF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圆角矩形 35"/>
          <p:cNvSpPr/>
          <p:nvPr/>
        </p:nvSpPr>
        <p:spPr>
          <a:xfrm>
            <a:off x="4548190" y="3832165"/>
            <a:ext cx="700085" cy="335023"/>
          </a:xfrm>
          <a:prstGeom prst="roundRect">
            <a:avLst>
              <a:gd name="adj" fmla="val 10417"/>
            </a:avLst>
          </a:prstGeom>
          <a:solidFill>
            <a:srgbClr val="66FF66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15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8643" y="1787790"/>
            <a:ext cx="7985760" cy="2113544"/>
            <a:chOff x="588643" y="1787790"/>
            <a:chExt cx="7985760" cy="2113544"/>
          </a:xfrm>
        </p:grpSpPr>
        <p:grpSp>
          <p:nvGrpSpPr>
            <p:cNvPr id="3" name="组合 2"/>
            <p:cNvGrpSpPr/>
            <p:nvPr/>
          </p:nvGrpSpPr>
          <p:grpSpPr>
            <a:xfrm>
              <a:off x="588643" y="1787790"/>
              <a:ext cx="1371600" cy="684000"/>
              <a:chOff x="910590" y="1565910"/>
              <a:chExt cx="1371600" cy="68400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6" name="直接连接符 15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14" name="直接连接符 13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/>
            <p:cNvGrpSpPr/>
            <p:nvPr/>
          </p:nvGrpSpPr>
          <p:grpSpPr>
            <a:xfrm rot="10800000">
              <a:off x="7202803" y="3217334"/>
              <a:ext cx="1371600" cy="684000"/>
              <a:chOff x="910590" y="1565910"/>
              <a:chExt cx="1371600" cy="684000"/>
            </a:xfrm>
          </p:grpSpPr>
          <p:grpSp>
            <p:nvGrpSpPr>
              <p:cNvPr id="6" name="组合 35"/>
              <p:cNvGrpSpPr/>
              <p:nvPr/>
            </p:nvGrpSpPr>
            <p:grpSpPr>
              <a:xfrm>
                <a:off x="910590" y="1699260"/>
                <a:ext cx="1371600" cy="99060"/>
                <a:chOff x="910590" y="1699260"/>
                <a:chExt cx="1371600" cy="99060"/>
              </a:xfrm>
            </p:grpSpPr>
            <p:cxnSp>
              <p:nvCxnSpPr>
                <p:cNvPr id="10" name="直接连接符 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5400000">
                <a:off x="728610" y="1866000"/>
                <a:ext cx="684000" cy="83820"/>
                <a:chOff x="910590" y="1699260"/>
                <a:chExt cx="1371600" cy="99060"/>
              </a:xfrm>
            </p:grpSpPr>
            <p:cxnSp>
              <p:nvCxnSpPr>
                <p:cNvPr id="8" name="直接连接符 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文本框 6"/>
            <p:cNvSpPr txBox="1"/>
            <p:nvPr/>
          </p:nvSpPr>
          <p:spPr>
            <a:xfrm>
              <a:off x="1026796" y="2217025"/>
              <a:ext cx="6979917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7</a:t>
              </a:r>
              <a:r>
                <a:rPr lang="zh-CN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</a:t>
              </a:r>
              <a:r>
                <a:rPr lang="en-US" altLang="zh-CN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  </a:t>
              </a:r>
              <a:r>
                <a:rPr lang="zh-CN" altLang="en-US" sz="40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脉冲波形的变换与产生</a:t>
              </a:r>
              <a:endParaRPr lang="en-US" altLang="zh-CN" sz="40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232858" y="3139473"/>
            <a:ext cx="4365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7.5  </a:t>
            </a:r>
            <a:r>
              <a:rPr lang="zh-CN" altLang="en-US" sz="2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多谐振荡器</a:t>
            </a:r>
            <a:endParaRPr lang="zh-CN" altLang="en-US" sz="24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9"/>
          <p:cNvGrpSpPr/>
          <p:nvPr/>
        </p:nvGrpSpPr>
        <p:grpSpPr>
          <a:xfrm>
            <a:off x="262892" y="778617"/>
            <a:ext cx="2344702" cy="420971"/>
            <a:chOff x="670560" y="892917"/>
            <a:chExt cx="2344702" cy="420971"/>
          </a:xfrm>
        </p:grpSpPr>
        <p:sp>
          <p:nvSpPr>
            <p:cNvPr id="71" name="矩形 70"/>
            <p:cNvSpPr/>
            <p:nvPr/>
          </p:nvSpPr>
          <p:spPr>
            <a:xfrm>
              <a:off x="1035233" y="913778"/>
              <a:ext cx="19800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多谐振荡器特点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5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4"/>
          <p:cNvGrpSpPr/>
          <p:nvPr/>
        </p:nvGrpSpPr>
        <p:grpSpPr>
          <a:xfrm>
            <a:off x="654318" y="1751845"/>
            <a:ext cx="5829992" cy="369332"/>
            <a:chOff x="716250" y="2564549"/>
            <a:chExt cx="5020173" cy="369332"/>
          </a:xfrm>
        </p:grpSpPr>
        <p:sp>
          <p:nvSpPr>
            <p:cNvPr id="26" name="矩形 25"/>
            <p:cNvSpPr/>
            <p:nvPr/>
          </p:nvSpPr>
          <p:spPr>
            <a:xfrm>
              <a:off x="1091551" y="2564549"/>
              <a:ext cx="46448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电路无需输入自行产生一定频率和幅值的</a:t>
              </a:r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矩形波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dirty="0"/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6250" y="2595069"/>
              <a:ext cx="3710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5" name="圆角矩形标注 34"/>
          <p:cNvSpPr/>
          <p:nvPr/>
        </p:nvSpPr>
        <p:spPr>
          <a:xfrm>
            <a:off x="4878126" y="1009817"/>
            <a:ext cx="2635858" cy="612648"/>
          </a:xfrm>
          <a:prstGeom prst="wedgeRoundRectCallout">
            <a:avLst>
              <a:gd name="adj1" fmla="val -25651"/>
              <a:gd name="adj2" fmla="val 7093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包含丰富的谐波成分，故称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多谐振荡器</a:t>
            </a:r>
            <a:endParaRPr lang="zh-CN" altLang="en-US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4" name="组合 47"/>
          <p:cNvGrpSpPr/>
          <p:nvPr/>
        </p:nvGrpSpPr>
        <p:grpSpPr>
          <a:xfrm>
            <a:off x="654318" y="1306572"/>
            <a:ext cx="5003056" cy="369332"/>
            <a:chOff x="716250" y="2564549"/>
            <a:chExt cx="5003056" cy="369332"/>
          </a:xfrm>
        </p:grpSpPr>
        <p:sp>
          <p:nvSpPr>
            <p:cNvPr id="49" name="矩形 48"/>
            <p:cNvSpPr/>
            <p:nvPr/>
          </p:nvSpPr>
          <p:spPr>
            <a:xfrm>
              <a:off x="1091551" y="2564549"/>
              <a:ext cx="46277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一种</a:t>
              </a:r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自激振荡电路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50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6250" y="2595069"/>
              <a:ext cx="3710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50"/>
          <p:cNvGrpSpPr/>
          <p:nvPr/>
        </p:nvGrpSpPr>
        <p:grpSpPr>
          <a:xfrm>
            <a:off x="654318" y="2197118"/>
            <a:ext cx="5003056" cy="369332"/>
            <a:chOff x="716250" y="2564549"/>
            <a:chExt cx="5003056" cy="369332"/>
          </a:xfrm>
        </p:grpSpPr>
        <p:sp>
          <p:nvSpPr>
            <p:cNvPr id="52" name="矩形 51"/>
            <p:cNvSpPr/>
            <p:nvPr/>
          </p:nvSpPr>
          <p:spPr>
            <a:xfrm>
              <a:off x="1091551" y="2564549"/>
              <a:ext cx="46277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电路不存在稳定状态，故称</a:t>
              </a:r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无稳态电路</a:t>
              </a:r>
              <a:r>
                <a:rPr lang="zh-CN" altLang="en-US" dirty="0">
                  <a:solidFill>
                    <a:schemeClr val="tx1">
                      <a:lumMod val="1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dirty="0"/>
            </a:p>
          </p:txBody>
        </p:sp>
        <p:pic>
          <p:nvPicPr>
            <p:cNvPr id="53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6250" y="2595069"/>
              <a:ext cx="371060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组合 53"/>
          <p:cNvGrpSpPr/>
          <p:nvPr/>
        </p:nvGrpSpPr>
        <p:grpSpPr>
          <a:xfrm>
            <a:off x="228436" y="2672352"/>
            <a:ext cx="3370624" cy="420971"/>
            <a:chOff x="670560" y="892917"/>
            <a:chExt cx="3370624" cy="420971"/>
          </a:xfrm>
        </p:grpSpPr>
        <p:sp>
          <p:nvSpPr>
            <p:cNvPr id="55" name="矩形 54"/>
            <p:cNvSpPr/>
            <p:nvPr/>
          </p:nvSpPr>
          <p:spPr>
            <a:xfrm>
              <a:off x="1035233" y="913778"/>
              <a:ext cx="300595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多谐振荡器电路基本组成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6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64"/>
          <p:cNvGrpSpPr/>
          <p:nvPr/>
        </p:nvGrpSpPr>
        <p:grpSpPr>
          <a:xfrm>
            <a:off x="1569614" y="3179173"/>
            <a:ext cx="4567502" cy="1697614"/>
            <a:chOff x="1569614" y="3179173"/>
            <a:chExt cx="4567502" cy="1697614"/>
          </a:xfrm>
        </p:grpSpPr>
        <p:sp>
          <p:nvSpPr>
            <p:cNvPr id="62" name="矩形 61"/>
            <p:cNvSpPr/>
            <p:nvPr/>
          </p:nvSpPr>
          <p:spPr>
            <a:xfrm>
              <a:off x="1569614" y="3413744"/>
              <a:ext cx="1785068" cy="98993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14"/>
            <p:cNvGrpSpPr/>
            <p:nvPr/>
          </p:nvGrpSpPr>
          <p:grpSpPr bwMode="auto">
            <a:xfrm>
              <a:off x="3351054" y="3837678"/>
              <a:ext cx="2786062" cy="564913"/>
              <a:chOff x="7347517" y="4805659"/>
              <a:chExt cx="2786865" cy="564642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7347517" y="5370301"/>
                <a:ext cx="2731287" cy="0"/>
              </a:xfrm>
              <a:prstGeom prst="line">
                <a:avLst/>
              </a:prstGeom>
              <a:ln w="38100">
                <a:solidFill>
                  <a:srgbClr val="00206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389278" y="4805659"/>
                <a:ext cx="2745104" cy="3635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</p:grpSp>
        <p:sp>
          <p:nvSpPr>
            <p:cNvPr id="58" name="圆角矩形 57"/>
            <p:cNvSpPr/>
            <p:nvPr/>
          </p:nvSpPr>
          <p:spPr>
            <a:xfrm>
              <a:off x="1849897" y="3950460"/>
              <a:ext cx="1224502" cy="926327"/>
            </a:xfrm>
            <a:prstGeom prst="roundRect">
              <a:avLst>
                <a:gd name="adj" fmla="val 8083"/>
              </a:avLst>
            </a:prstGeom>
            <a:ln w="19050">
              <a:solidFill>
                <a:srgbClr val="6600F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开关</a:t>
              </a:r>
              <a:endPara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电路</a:t>
              </a:r>
              <a:endPara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1718701" y="3179173"/>
              <a:ext cx="1486895" cy="461175"/>
            </a:xfrm>
            <a:prstGeom prst="roundRect">
              <a:avLst/>
            </a:prstGeom>
            <a:ln w="19050">
              <a:solidFill>
                <a:srgbClr val="6600FF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RC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延时电路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3" name="圆角矩形标注 62"/>
          <p:cNvSpPr/>
          <p:nvPr/>
        </p:nvSpPr>
        <p:spPr>
          <a:xfrm>
            <a:off x="3268525" y="4549785"/>
            <a:ext cx="1894025" cy="463823"/>
          </a:xfrm>
          <a:prstGeom prst="wedgeRoundRectCallout">
            <a:avLst>
              <a:gd name="adj1" fmla="val -62303"/>
              <a:gd name="adj2" fmla="val -5495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产生高、低电平。</a:t>
            </a:r>
            <a:endParaRPr lang="zh-CN" altLang="en-US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圆角矩形标注 63"/>
          <p:cNvSpPr/>
          <p:nvPr/>
        </p:nvSpPr>
        <p:spPr>
          <a:xfrm>
            <a:off x="3548249" y="2322379"/>
            <a:ext cx="4218250" cy="1047750"/>
          </a:xfrm>
          <a:prstGeom prst="wedgeRoundRectCallout">
            <a:avLst>
              <a:gd name="adj1" fmla="val -60764"/>
              <a:gd name="adj2" fmla="val 49119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利用</a:t>
            </a:r>
            <a:r>
              <a:rPr lang="en-US" altLang="zh-CN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RC</a:t>
            </a:r>
            <a:r>
              <a:rPr lang="zh-CN" altLang="en-US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电路的充放电特性将输出延时后反馈到开关电路输入端，以改变电路的输出状态获得连续脉冲输出波形。</a:t>
            </a:r>
            <a:endParaRPr lang="zh-CN" altLang="en-US" b="1" dirty="0">
              <a:solidFill>
                <a:srgbClr val="7030A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3" grpId="0" animBg="1"/>
      <p:bldP spid="6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1423989" y="1239907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Visio" r:id="rId1" imgW="1647825" imgH="1466850" progId="Visio.Drawing.11">
                  <p:embed/>
                </p:oleObj>
              </mc:Choice>
              <mc:Fallback>
                <p:oleObj name="Visio" r:id="rId1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9" y="1239907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24" name="矩形 23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7" name="椭圆 56"/>
          <p:cNvSpPr/>
          <p:nvPr/>
        </p:nvSpPr>
        <p:spPr>
          <a:xfrm>
            <a:off x="2346960" y="1442737"/>
            <a:ext cx="708660" cy="61383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267076" y="2924403"/>
            <a:ext cx="371475" cy="5926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600200" y="1707320"/>
            <a:ext cx="220980" cy="5296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592579" y="3104321"/>
            <a:ext cx="266701" cy="4618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584959" y="2395237"/>
            <a:ext cx="266701" cy="5204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005013" y="2543404"/>
            <a:ext cx="442913" cy="61383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1290815" y="3809092"/>
            <a:ext cx="828136" cy="316302"/>
          </a:xfrm>
          <a:prstGeom prst="wedgeRoundRectCallout">
            <a:avLst>
              <a:gd name="adj1" fmla="val 59375"/>
              <a:gd name="adj2" fmla="val -29751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sp>
        <p:nvSpPr>
          <p:cNvPr id="13" name="圆角矩形标注 12"/>
          <p:cNvSpPr/>
          <p:nvPr/>
        </p:nvSpPr>
        <p:spPr>
          <a:xfrm>
            <a:off x="711299" y="2180692"/>
            <a:ext cx="828136" cy="343889"/>
          </a:xfrm>
          <a:prstGeom prst="wedgeRoundRectCallout">
            <a:avLst>
              <a:gd name="adj1" fmla="val 121614"/>
              <a:gd name="adj2" fmla="val 9013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sp>
        <p:nvSpPr>
          <p:cNvPr id="14" name="椭圆 13"/>
          <p:cNvSpPr/>
          <p:nvPr/>
        </p:nvSpPr>
        <p:spPr>
          <a:xfrm>
            <a:off x="2529840" y="3253739"/>
            <a:ext cx="396240" cy="6714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918461" y="2499359"/>
            <a:ext cx="868680" cy="3200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、电路的组成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2" grpId="0" animBg="1"/>
      <p:bldP spid="13" grpId="0" animBg="1"/>
      <p:bldP spid="14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5"/>
          <p:cNvGraphicFramePr>
            <a:graphicFrameLocks noChangeAspect="1"/>
          </p:cNvGraphicFramePr>
          <p:nvPr/>
        </p:nvGraphicFramePr>
        <p:xfrm>
          <a:off x="1423989" y="1239907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Visio" r:id="rId1" imgW="1647825" imgH="1466850" progId="Visio.Drawing.11">
                  <p:embed/>
                </p:oleObj>
              </mc:Choice>
              <mc:Fallback>
                <p:oleObj name="Visio" r:id="rId1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9" y="1239907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9" name="Object 4"/>
          <p:cNvGraphicFramePr>
            <a:graphicFrameLocks noChangeAspect="1"/>
          </p:cNvGraphicFramePr>
          <p:nvPr/>
        </p:nvGraphicFramePr>
        <p:xfrm>
          <a:off x="5191125" y="1573751"/>
          <a:ext cx="37719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Visio" r:id="rId3" imgW="1743075" imgH="1247775" progId="Visio.Drawing.11">
                  <p:embed/>
                </p:oleObj>
              </mc:Choice>
              <mc:Fallback>
                <p:oleObj name="Visio" r:id="rId3" imgW="1743075" imgH="12477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1573751"/>
                        <a:ext cx="377190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3"/>
          <p:cNvGrpSpPr/>
          <p:nvPr/>
        </p:nvGrpSpPr>
        <p:grpSpPr>
          <a:xfrm>
            <a:off x="4907809" y="1855398"/>
            <a:ext cx="3550394" cy="307777"/>
            <a:chOff x="4907809" y="1491734"/>
            <a:chExt cx="3550394" cy="277000"/>
          </a:xfrm>
        </p:grpSpPr>
        <p:cxnSp>
          <p:nvCxnSpPr>
            <p:cNvPr id="31" name="直接连接符 30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grpSp>
        <p:nvGrpSpPr>
          <p:cNvPr id="5" name="组合 34"/>
          <p:cNvGrpSpPr/>
          <p:nvPr/>
        </p:nvGrpSpPr>
        <p:grpSpPr>
          <a:xfrm>
            <a:off x="4907809" y="2268148"/>
            <a:ext cx="3550394" cy="307777"/>
            <a:chOff x="4907809" y="1491734"/>
            <a:chExt cx="3550394" cy="277000"/>
          </a:xfrm>
        </p:grpSpPr>
        <p:cxnSp>
          <p:nvCxnSpPr>
            <p:cNvPr id="36" name="直接连接符 35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39807" y="4159360"/>
            <a:ext cx="3397084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电路上电瞬间电路的状态</a:t>
            </a:r>
            <a:endParaRPr lang="zh-CN" altLang="en-US" b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标注 25"/>
          <p:cNvSpPr/>
          <p:nvPr/>
        </p:nvSpPr>
        <p:spPr>
          <a:xfrm>
            <a:off x="262394" y="2056003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46"/>
          <p:cNvSpPr>
            <a:spLocks noChangeArrowheads="1"/>
          </p:cNvSpPr>
          <p:nvPr/>
        </p:nvSpPr>
        <p:spPr bwMode="auto">
          <a:xfrm>
            <a:off x="3675931" y="2424873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697208" y="3495429"/>
            <a:ext cx="974255" cy="6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3304871" y="2957645"/>
            <a:ext cx="371475" cy="5926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9690" y="2446936"/>
            <a:ext cx="119603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596388" y="4699037"/>
            <a:ext cx="7865776" cy="704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电路在上电瞬间，电容两端的电压为零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=0)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，阈值输入</a:t>
            </a:r>
            <a:r>
              <a:rPr lang="el-GR" altLang="zh-CN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I1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，触发输入</a:t>
            </a:r>
            <a:r>
              <a:rPr lang="el-GR" altLang="zh-CN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I2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，输出为高电平逻辑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aseline="-25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标注 24"/>
          <p:cNvSpPr/>
          <p:nvPr/>
        </p:nvSpPr>
        <p:spPr>
          <a:xfrm>
            <a:off x="1298435" y="3275692"/>
            <a:ext cx="828136" cy="316302"/>
          </a:xfrm>
          <a:prstGeom prst="wedgeRoundRectCallout">
            <a:avLst>
              <a:gd name="adj1" fmla="val 53854"/>
              <a:gd name="adj2" fmla="val -13610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sp>
        <p:nvSpPr>
          <p:cNvPr id="30" name="圆角矩形标注 29"/>
          <p:cNvSpPr/>
          <p:nvPr/>
        </p:nvSpPr>
        <p:spPr>
          <a:xfrm>
            <a:off x="955139" y="2241652"/>
            <a:ext cx="828136" cy="343889"/>
          </a:xfrm>
          <a:prstGeom prst="wedgeRoundRectCallout">
            <a:avLst>
              <a:gd name="adj1" fmla="val 82968"/>
              <a:gd name="adj2" fmla="val 7018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en-US" altLang="zh-CN" sz="12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2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/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39" name="矩形 38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0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Rectangle 27"/>
          <p:cNvSpPr>
            <a:spLocks noChangeArrowheads="1"/>
          </p:cNvSpPr>
          <p:nvPr/>
        </p:nvSpPr>
        <p:spPr bwMode="auto">
          <a:xfrm>
            <a:off x="5385998" y="1096541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6" grpId="0" animBg="1"/>
      <p:bldP spid="29" grpId="0" animBg="1"/>
      <p:bldP spid="71" grpId="0" animBg="1"/>
      <p:bldP spid="71" grpId="1" animBg="1"/>
      <p:bldP spid="43" grpId="0"/>
      <p:bldP spid="44" grpId="0" animBg="1"/>
      <p:bldP spid="25" grpId="0" animBg="1"/>
      <p:bldP spid="25" grpId="1" animBg="1"/>
      <p:bldP spid="30" grpId="0" animBg="1"/>
      <p:bldP spid="30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4"/>
          <p:cNvGraphicFramePr>
            <a:graphicFrameLocks noChangeAspect="1"/>
          </p:cNvGraphicFramePr>
          <p:nvPr/>
        </p:nvGraphicFramePr>
        <p:xfrm>
          <a:off x="5191125" y="1573751"/>
          <a:ext cx="37719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Visio" r:id="rId1" imgW="1743075" imgH="1247775" progId="Visio.Drawing.11">
                  <p:embed/>
                </p:oleObj>
              </mc:Choice>
              <mc:Fallback>
                <p:oleObj name="Visio" r:id="rId1" imgW="1743075" imgH="12477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1573751"/>
                        <a:ext cx="377190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/>
        </p:nvGraphicFramePr>
        <p:xfrm>
          <a:off x="1423989" y="1239907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Visio" r:id="rId3" imgW="1647825" imgH="1466850" progId="Visio.Drawing.11">
                  <p:embed/>
                </p:oleObj>
              </mc:Choice>
              <mc:Fallback>
                <p:oleObj name="Visio" r:id="rId3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9" y="1239907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3"/>
          <p:cNvGrpSpPr/>
          <p:nvPr/>
        </p:nvGrpSpPr>
        <p:grpSpPr>
          <a:xfrm>
            <a:off x="4907809" y="1832538"/>
            <a:ext cx="3550394" cy="307777"/>
            <a:chOff x="4907809" y="1491734"/>
            <a:chExt cx="3550394" cy="277000"/>
          </a:xfrm>
        </p:grpSpPr>
        <p:cxnSp>
          <p:nvCxnSpPr>
            <p:cNvPr id="31" name="直接连接符 30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grpSp>
        <p:nvGrpSpPr>
          <p:cNvPr id="5" name="组合 34"/>
          <p:cNvGrpSpPr/>
          <p:nvPr/>
        </p:nvGrpSpPr>
        <p:grpSpPr>
          <a:xfrm>
            <a:off x="4907809" y="2245288"/>
            <a:ext cx="3550394" cy="307777"/>
            <a:chOff x="4907809" y="1491734"/>
            <a:chExt cx="3550394" cy="277000"/>
          </a:xfrm>
        </p:grpSpPr>
        <p:cxnSp>
          <p:nvCxnSpPr>
            <p:cNvPr id="36" name="直接连接符 35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07619" y="4123302"/>
            <a:ext cx="3858749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电容充电及电路状态翻转过程</a:t>
            </a:r>
            <a:endParaRPr lang="zh-CN" altLang="en-US" b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46"/>
          <p:cNvSpPr>
            <a:spLocks noChangeArrowheads="1"/>
          </p:cNvSpPr>
          <p:nvPr/>
        </p:nvSpPr>
        <p:spPr bwMode="auto">
          <a:xfrm>
            <a:off x="3675931" y="2461227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30" name="弧形 29"/>
          <p:cNvSpPr/>
          <p:nvPr/>
        </p:nvSpPr>
        <p:spPr>
          <a:xfrm>
            <a:off x="1926387" y="2382153"/>
            <a:ext cx="802256" cy="1811547"/>
          </a:xfrm>
          <a:prstGeom prst="arc">
            <a:avLst>
              <a:gd name="adj1" fmla="val 16020182"/>
              <a:gd name="adj2" fmla="val 1204294"/>
            </a:avLst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33"/>
          <p:cNvGrpSpPr/>
          <p:nvPr/>
        </p:nvGrpSpPr>
        <p:grpSpPr>
          <a:xfrm>
            <a:off x="2516099" y="2576448"/>
            <a:ext cx="244355" cy="239882"/>
            <a:chOff x="2378075" y="3813213"/>
            <a:chExt cx="296139" cy="284568"/>
          </a:xfrm>
        </p:grpSpPr>
        <p:cxnSp>
          <p:nvCxnSpPr>
            <p:cNvPr id="35" name="直接连接符 15"/>
            <p:cNvCxnSpPr>
              <a:cxnSpLocks noChangeShapeType="1"/>
            </p:cNvCxnSpPr>
            <p:nvPr/>
          </p:nvCxnSpPr>
          <p:spPr bwMode="auto">
            <a:xfrm flipH="1" flipV="1">
              <a:off x="2383182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39" name="直接连接符 16"/>
            <p:cNvCxnSpPr>
              <a:cxnSpLocks noChangeShapeType="1"/>
            </p:cNvCxnSpPr>
            <p:nvPr/>
          </p:nvCxnSpPr>
          <p:spPr bwMode="auto">
            <a:xfrm flipV="1">
              <a:off x="2378075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</p:grpSp>
      <p:sp>
        <p:nvSpPr>
          <p:cNvPr id="41" name="任意多边形 40"/>
          <p:cNvSpPr/>
          <p:nvPr/>
        </p:nvSpPr>
        <p:spPr>
          <a:xfrm>
            <a:off x="1828800" y="1719597"/>
            <a:ext cx="1619250" cy="1555750"/>
          </a:xfrm>
          <a:custGeom>
            <a:avLst/>
            <a:gdLst>
              <a:gd name="connsiteX0" fmla="*/ 930275 w 930275"/>
              <a:gd name="connsiteY0" fmla="*/ 20637 h 1449387"/>
              <a:gd name="connsiteX1" fmla="*/ 225425 w 930275"/>
              <a:gd name="connsiteY1" fmla="*/ 68262 h 1449387"/>
              <a:gd name="connsiteX2" fmla="*/ 34925 w 930275"/>
              <a:gd name="connsiteY2" fmla="*/ 430212 h 1449387"/>
              <a:gd name="connsiteX3" fmla="*/ 15875 w 930275"/>
              <a:gd name="connsiteY3" fmla="*/ 1449387 h 144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275" h="1449387">
                <a:moveTo>
                  <a:pt x="930275" y="20637"/>
                </a:moveTo>
                <a:cubicBezTo>
                  <a:pt x="652462" y="10318"/>
                  <a:pt x="374650" y="0"/>
                  <a:pt x="225425" y="68262"/>
                </a:cubicBezTo>
                <a:cubicBezTo>
                  <a:pt x="76200" y="136525"/>
                  <a:pt x="69850" y="200025"/>
                  <a:pt x="34925" y="430212"/>
                </a:cubicBezTo>
                <a:cubicBezTo>
                  <a:pt x="0" y="660399"/>
                  <a:pt x="7937" y="1054893"/>
                  <a:pt x="15875" y="1449387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697208" y="3472569"/>
            <a:ext cx="974255" cy="6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/>
          <p:cNvSpPr/>
          <p:nvPr/>
        </p:nvSpPr>
        <p:spPr>
          <a:xfrm rot="16200000">
            <a:off x="5734580" y="1930300"/>
            <a:ext cx="2370670" cy="2543178"/>
          </a:xfrm>
          <a:prstGeom prst="arc">
            <a:avLst>
              <a:gd name="adj1" fmla="val 17109125"/>
              <a:gd name="adj2" fmla="val 2075343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 rot="1984587">
            <a:off x="5722625" y="2472600"/>
            <a:ext cx="158089" cy="388389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6" name="椭圆 55"/>
          <p:cNvSpPr/>
          <p:nvPr/>
        </p:nvSpPr>
        <p:spPr>
          <a:xfrm rot="3746925">
            <a:off x="6122439" y="1867967"/>
            <a:ext cx="290604" cy="767537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6664147" y="2042042"/>
            <a:ext cx="21946" cy="2040128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64"/>
          <p:cNvGrpSpPr/>
          <p:nvPr/>
        </p:nvGrpSpPr>
        <p:grpSpPr>
          <a:xfrm>
            <a:off x="6676226" y="3449663"/>
            <a:ext cx="441465" cy="600000"/>
            <a:chOff x="6676225" y="2956671"/>
            <a:chExt cx="432000" cy="540000"/>
          </a:xfrm>
        </p:grpSpPr>
        <p:cxnSp>
          <p:nvCxnSpPr>
            <p:cNvPr id="62" name="直接连接符 61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椭圆 63"/>
          <p:cNvSpPr/>
          <p:nvPr/>
        </p:nvSpPr>
        <p:spPr>
          <a:xfrm>
            <a:off x="6599230" y="1920121"/>
            <a:ext cx="138070" cy="183609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7" name="Oval 46"/>
          <p:cNvSpPr>
            <a:spLocks noChangeArrowheads="1"/>
          </p:cNvSpPr>
          <p:nvPr/>
        </p:nvSpPr>
        <p:spPr bwMode="auto">
          <a:xfrm>
            <a:off x="3676462" y="2458462"/>
            <a:ext cx="385135" cy="44090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40" name="Rectangle 13"/>
          <p:cNvSpPr>
            <a:spLocks noChangeArrowheads="1"/>
          </p:cNvSpPr>
          <p:nvPr/>
        </p:nvSpPr>
        <p:spPr bwMode="auto">
          <a:xfrm>
            <a:off x="554137" y="4603483"/>
            <a:ext cx="8024310" cy="733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电路输出高电平，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截止，电容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充电，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上升，在上升到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之前，输出保持高电平，当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略大于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2/3V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I1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I2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，输出由高变低。</a:t>
            </a:r>
            <a:endParaRPr lang="en-US" altLang="zh-CN" baseline="-25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50" name="矩形 49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2" name="Rectangle 27"/>
          <p:cNvSpPr>
            <a:spLocks noChangeArrowheads="1"/>
          </p:cNvSpPr>
          <p:nvPr/>
        </p:nvSpPr>
        <p:spPr bwMode="auto">
          <a:xfrm>
            <a:off x="5385998" y="1096541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59690" y="2056003"/>
            <a:ext cx="1196035" cy="1005416"/>
            <a:chOff x="259690" y="2056003"/>
            <a:chExt cx="1196035" cy="1005416"/>
          </a:xfrm>
        </p:grpSpPr>
        <p:sp>
          <p:nvSpPr>
            <p:cNvPr id="57" name="圆角矩形标注 25"/>
            <p:cNvSpPr/>
            <p:nvPr/>
          </p:nvSpPr>
          <p:spPr>
            <a:xfrm>
              <a:off x="262394" y="2056003"/>
              <a:ext cx="1190625" cy="1005416"/>
            </a:xfrm>
            <a:prstGeom prst="wedgeRoundRectCallout">
              <a:avLst>
                <a:gd name="adj1" fmla="val 65677"/>
                <a:gd name="adj2" fmla="val 40319"/>
                <a:gd name="adj3" fmla="val 16667"/>
              </a:avLst>
            </a:prstGeom>
            <a:solidFill>
              <a:srgbClr val="FFFF0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/>
            <a:lstStyle/>
            <a:p>
              <a:pPr algn="ctr"/>
              <a:r>
                <a:rPr lang="el-GR" altLang="zh-CN" sz="1600" b="1" i="1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υ</a:t>
              </a:r>
              <a:r>
                <a:rPr lang="en-US" altLang="zh-CN" sz="1600" b="1" baseline="-25000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400" b="1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=0</a:t>
              </a:r>
              <a:endPara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259690" y="2446936"/>
              <a:ext cx="1196035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l-GR" altLang="zh-CN" sz="16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υ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&lt;2/3</a:t>
              </a:r>
              <a:r>
                <a:rPr lang="en-US" altLang="zh-CN" sz="1400" b="1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l-GR" altLang="zh-CN" sz="1600" b="1" i="1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υ</a:t>
              </a:r>
              <a:r>
                <a:rPr lang="en-US" altLang="zh-CN" sz="1400" b="1" baseline="-25000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I2</a:t>
              </a:r>
              <a:r>
                <a:rPr lang="en-US" altLang="zh-CN" sz="1400" b="1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&lt;1/3</a:t>
              </a:r>
              <a:r>
                <a:rPr lang="en-US" altLang="zh-CN" sz="1400" b="1" i="1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r>
                <a:rPr lang="en-US" altLang="zh-CN" sz="1400" b="1" dirty="0">
                  <a:solidFill>
                    <a:srgbClr val="66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1400" dirty="0">
                <a:solidFill>
                  <a:srgbClr val="6600FF"/>
                </a:solidFill>
              </a:endParaRPr>
            </a:p>
          </p:txBody>
        </p:sp>
      </p:grpSp>
      <p:sp>
        <p:nvSpPr>
          <p:cNvPr id="48" name="圆角矩形标注 47"/>
          <p:cNvSpPr/>
          <p:nvPr/>
        </p:nvSpPr>
        <p:spPr>
          <a:xfrm>
            <a:off x="255476" y="2035983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i="1" dirty="0" err="1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dirty="0" err="1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71323" y="2466956"/>
            <a:ext cx="119603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69687" y="2468487"/>
            <a:ext cx="119603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l-GR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  <p:sp>
        <p:nvSpPr>
          <p:cNvPr id="66" name="圆角矩形标注 65"/>
          <p:cNvSpPr/>
          <p:nvPr/>
        </p:nvSpPr>
        <p:spPr>
          <a:xfrm>
            <a:off x="258935" y="2044831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0" grpId="0" animBg="1"/>
      <p:bldP spid="41" grpId="0" animBg="1"/>
      <p:bldP spid="49" grpId="0" animBg="1"/>
      <p:bldP spid="53" grpId="0" animBg="1"/>
      <p:bldP spid="53" grpId="1" animBg="1"/>
      <p:bldP spid="56" grpId="0" animBg="1"/>
      <p:bldP spid="56" grpId="1" animBg="1"/>
      <p:bldP spid="64" grpId="0" animBg="1"/>
      <p:bldP spid="67" grpId="0" animBg="1"/>
      <p:bldP spid="40" grpId="0" animBg="1"/>
      <p:bldP spid="48" grpId="0" animBg="1"/>
      <p:bldP spid="68" grpId="0"/>
      <p:bldP spid="68" grpId="1"/>
      <p:bldP spid="69" grpId="0"/>
      <p:bldP spid="6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Object 4"/>
          <p:cNvGraphicFramePr>
            <a:graphicFrameLocks noChangeAspect="1"/>
          </p:cNvGraphicFramePr>
          <p:nvPr/>
        </p:nvGraphicFramePr>
        <p:xfrm>
          <a:off x="5191125" y="1573751"/>
          <a:ext cx="37719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Visio" r:id="rId1" imgW="1743075" imgH="1247775" progId="Visio.Drawing.11">
                  <p:embed/>
                </p:oleObj>
              </mc:Choice>
              <mc:Fallback>
                <p:oleObj name="Visio" r:id="rId1" imgW="1743075" imgH="12477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1573751"/>
                        <a:ext cx="377190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"/>
          <p:cNvGraphicFramePr>
            <a:graphicFrameLocks noChangeAspect="1"/>
          </p:cNvGraphicFramePr>
          <p:nvPr/>
        </p:nvGraphicFramePr>
        <p:xfrm>
          <a:off x="1423989" y="1239907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Visio" r:id="rId3" imgW="1647825" imgH="1466850" progId="Visio.Drawing.11">
                  <p:embed/>
                </p:oleObj>
              </mc:Choice>
              <mc:Fallback>
                <p:oleObj name="Visio" r:id="rId3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9" y="1239907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3"/>
          <p:cNvGrpSpPr/>
          <p:nvPr/>
        </p:nvGrpSpPr>
        <p:grpSpPr>
          <a:xfrm>
            <a:off x="4907809" y="1840158"/>
            <a:ext cx="3550394" cy="307777"/>
            <a:chOff x="4907809" y="1491734"/>
            <a:chExt cx="3550394" cy="277000"/>
          </a:xfrm>
        </p:grpSpPr>
        <p:cxnSp>
          <p:nvCxnSpPr>
            <p:cNvPr id="31" name="直接连接符 30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grpSp>
        <p:nvGrpSpPr>
          <p:cNvPr id="5" name="组合 34"/>
          <p:cNvGrpSpPr/>
          <p:nvPr/>
        </p:nvGrpSpPr>
        <p:grpSpPr>
          <a:xfrm>
            <a:off x="4907809" y="2252908"/>
            <a:ext cx="3550394" cy="307777"/>
            <a:chOff x="4907809" y="1491734"/>
            <a:chExt cx="3550394" cy="277000"/>
          </a:xfrm>
        </p:grpSpPr>
        <p:cxnSp>
          <p:nvCxnSpPr>
            <p:cNvPr id="36" name="直接连接符 35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sp>
        <p:nvSpPr>
          <p:cNvPr id="30" name="弧形 29"/>
          <p:cNvSpPr/>
          <p:nvPr/>
        </p:nvSpPr>
        <p:spPr>
          <a:xfrm>
            <a:off x="1926387" y="2382153"/>
            <a:ext cx="802256" cy="1811547"/>
          </a:xfrm>
          <a:prstGeom prst="arc">
            <a:avLst>
              <a:gd name="adj1" fmla="val 16020182"/>
              <a:gd name="adj2" fmla="val 1204294"/>
            </a:avLst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697208" y="3480189"/>
            <a:ext cx="974255" cy="6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/>
          <p:cNvSpPr/>
          <p:nvPr/>
        </p:nvSpPr>
        <p:spPr>
          <a:xfrm rot="16200000">
            <a:off x="5742200" y="1937920"/>
            <a:ext cx="2370670" cy="2543178"/>
          </a:xfrm>
          <a:prstGeom prst="arc">
            <a:avLst>
              <a:gd name="adj1" fmla="val 17109125"/>
              <a:gd name="adj2" fmla="val 2075343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6664147" y="2049662"/>
            <a:ext cx="21946" cy="2040128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6676226" y="4047795"/>
            <a:ext cx="456094" cy="6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rot="5400000" flipV="1">
            <a:off x="6379014" y="3756955"/>
            <a:ext cx="600000" cy="6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任意多边形 69"/>
          <p:cNvSpPr/>
          <p:nvPr/>
        </p:nvSpPr>
        <p:spPr>
          <a:xfrm>
            <a:off x="1799542" y="2427324"/>
            <a:ext cx="864413" cy="1014647"/>
          </a:xfrm>
          <a:custGeom>
            <a:avLst/>
            <a:gdLst>
              <a:gd name="connsiteX0" fmla="*/ 21945 w 864413"/>
              <a:gd name="connsiteY0" fmla="*/ 671780 h 913182"/>
              <a:gd name="connsiteX1" fmla="*/ 87782 w 864413"/>
              <a:gd name="connsiteY1" fmla="*/ 101194 h 913182"/>
              <a:gd name="connsiteX2" fmla="*/ 548639 w 864413"/>
              <a:gd name="connsiteY2" fmla="*/ 64618 h 913182"/>
              <a:gd name="connsiteX3" fmla="*/ 811987 w 864413"/>
              <a:gd name="connsiteY3" fmla="*/ 437694 h 913182"/>
              <a:gd name="connsiteX4" fmla="*/ 863193 w 864413"/>
              <a:gd name="connsiteY4" fmla="*/ 913182 h 91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413" h="913182">
                <a:moveTo>
                  <a:pt x="21945" y="671780"/>
                </a:moveTo>
                <a:cubicBezTo>
                  <a:pt x="10972" y="437084"/>
                  <a:pt x="0" y="202388"/>
                  <a:pt x="87782" y="101194"/>
                </a:cubicBezTo>
                <a:cubicBezTo>
                  <a:pt x="175564" y="0"/>
                  <a:pt x="427938" y="8535"/>
                  <a:pt x="548639" y="64618"/>
                </a:cubicBezTo>
                <a:cubicBezTo>
                  <a:pt x="669340" y="120701"/>
                  <a:pt x="759561" y="296267"/>
                  <a:pt x="811987" y="437694"/>
                </a:cubicBezTo>
                <a:cubicBezTo>
                  <a:pt x="864413" y="579121"/>
                  <a:pt x="863803" y="746151"/>
                  <a:pt x="863193" y="913182"/>
                </a:cubicBezTo>
              </a:path>
            </a:pathLst>
          </a:cu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39"/>
          <p:cNvGrpSpPr/>
          <p:nvPr/>
        </p:nvGrpSpPr>
        <p:grpSpPr>
          <a:xfrm>
            <a:off x="2516099" y="2561208"/>
            <a:ext cx="244355" cy="239882"/>
            <a:chOff x="2378075" y="3813213"/>
            <a:chExt cx="296139" cy="284568"/>
          </a:xfrm>
        </p:grpSpPr>
        <p:cxnSp>
          <p:nvCxnSpPr>
            <p:cNvPr id="43" name="直接连接符 15"/>
            <p:cNvCxnSpPr>
              <a:cxnSpLocks noChangeShapeType="1"/>
            </p:cNvCxnSpPr>
            <p:nvPr/>
          </p:nvCxnSpPr>
          <p:spPr bwMode="auto">
            <a:xfrm flipH="1" flipV="1">
              <a:off x="2383182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44" name="直接连接符 16"/>
            <p:cNvCxnSpPr>
              <a:cxnSpLocks noChangeShapeType="1"/>
            </p:cNvCxnSpPr>
            <p:nvPr/>
          </p:nvCxnSpPr>
          <p:spPr bwMode="auto">
            <a:xfrm flipV="1">
              <a:off x="2378075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</p:grpSp>
      <p:sp>
        <p:nvSpPr>
          <p:cNvPr id="45" name="任意多边形 44"/>
          <p:cNvSpPr/>
          <p:nvPr/>
        </p:nvSpPr>
        <p:spPr>
          <a:xfrm>
            <a:off x="1828800" y="1704357"/>
            <a:ext cx="1619250" cy="1555750"/>
          </a:xfrm>
          <a:custGeom>
            <a:avLst/>
            <a:gdLst>
              <a:gd name="connsiteX0" fmla="*/ 930275 w 930275"/>
              <a:gd name="connsiteY0" fmla="*/ 20637 h 1449387"/>
              <a:gd name="connsiteX1" fmla="*/ 225425 w 930275"/>
              <a:gd name="connsiteY1" fmla="*/ 68262 h 1449387"/>
              <a:gd name="connsiteX2" fmla="*/ 34925 w 930275"/>
              <a:gd name="connsiteY2" fmla="*/ 430212 h 1449387"/>
              <a:gd name="connsiteX3" fmla="*/ 15875 w 930275"/>
              <a:gd name="connsiteY3" fmla="*/ 1449387 h 144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275" h="1449387">
                <a:moveTo>
                  <a:pt x="930275" y="20637"/>
                </a:moveTo>
                <a:cubicBezTo>
                  <a:pt x="652462" y="10318"/>
                  <a:pt x="374650" y="0"/>
                  <a:pt x="225425" y="68262"/>
                </a:cubicBezTo>
                <a:cubicBezTo>
                  <a:pt x="76200" y="136525"/>
                  <a:pt x="69850" y="200025"/>
                  <a:pt x="34925" y="430212"/>
                </a:cubicBezTo>
                <a:cubicBezTo>
                  <a:pt x="0" y="660399"/>
                  <a:pt x="7937" y="1054893"/>
                  <a:pt x="15875" y="1449387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弧形 45"/>
          <p:cNvSpPr/>
          <p:nvPr/>
        </p:nvSpPr>
        <p:spPr>
          <a:xfrm rot="10800000">
            <a:off x="6651077" y="1192448"/>
            <a:ext cx="958294" cy="1267968"/>
          </a:xfrm>
          <a:prstGeom prst="arc">
            <a:avLst>
              <a:gd name="adj1" fmla="val 16028499"/>
              <a:gd name="adj2" fmla="val 20121502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 rot="6810785">
            <a:off x="6758970" y="1926552"/>
            <a:ext cx="290604" cy="660692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7131101" y="2454707"/>
            <a:ext cx="0" cy="1602571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7082020" y="2374769"/>
            <a:ext cx="138070" cy="183609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9" name="Oval 46"/>
          <p:cNvSpPr>
            <a:spLocks noChangeArrowheads="1"/>
          </p:cNvSpPr>
          <p:nvPr/>
        </p:nvSpPr>
        <p:spPr bwMode="auto">
          <a:xfrm>
            <a:off x="3682027" y="2444631"/>
            <a:ext cx="385135" cy="44090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29" name="Oval 46"/>
          <p:cNvSpPr>
            <a:spLocks noChangeArrowheads="1"/>
          </p:cNvSpPr>
          <p:nvPr/>
        </p:nvSpPr>
        <p:spPr bwMode="auto">
          <a:xfrm>
            <a:off x="3692966" y="2444630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grpSp>
        <p:nvGrpSpPr>
          <p:cNvPr id="8" name="组合 64"/>
          <p:cNvGrpSpPr/>
          <p:nvPr/>
        </p:nvGrpSpPr>
        <p:grpSpPr>
          <a:xfrm flipV="1">
            <a:off x="7128549" y="3464057"/>
            <a:ext cx="786497" cy="600000"/>
            <a:chOff x="6676225" y="2956671"/>
            <a:chExt cx="432000" cy="540000"/>
          </a:xfrm>
        </p:grpSpPr>
        <p:cxnSp>
          <p:nvCxnSpPr>
            <p:cNvPr id="73" name="直接连接符 72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307619" y="4042070"/>
            <a:ext cx="3858749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电容放电及电路状态翻转过程</a:t>
            </a:r>
            <a:endParaRPr lang="zh-CN" altLang="en-US" b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580569" y="4579989"/>
            <a:ext cx="7997881" cy="733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电路输出低电平，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放电，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下降，在下降到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之前，输出保持低电平，当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略小于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I1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I2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，输出由低变高。</a:t>
            </a:r>
            <a:endParaRPr lang="en-US" altLang="zh-CN" baseline="-25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65" name="矩形 64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6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5385998" y="1096541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" name="圆角矩形标注 65"/>
          <p:cNvSpPr/>
          <p:nvPr/>
        </p:nvSpPr>
        <p:spPr>
          <a:xfrm>
            <a:off x="260398" y="2044831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  <p:sp>
        <p:nvSpPr>
          <p:cNvPr id="71" name="圆角矩形标注 65"/>
          <p:cNvSpPr/>
          <p:nvPr/>
        </p:nvSpPr>
        <p:spPr>
          <a:xfrm>
            <a:off x="252292" y="2038637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标注 65"/>
          <p:cNvSpPr/>
          <p:nvPr/>
        </p:nvSpPr>
        <p:spPr>
          <a:xfrm>
            <a:off x="245576" y="2046527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  <p:sp>
        <p:nvSpPr>
          <p:cNvPr id="76" name="圆角矩形标注 65"/>
          <p:cNvSpPr/>
          <p:nvPr/>
        </p:nvSpPr>
        <p:spPr>
          <a:xfrm>
            <a:off x="251926" y="2046527"/>
            <a:ext cx="1190625" cy="1005416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16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6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endParaRPr lang="en-US" altLang="zh-CN" sz="1400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I1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&lt;2/3</a:t>
            </a:r>
            <a:r>
              <a:rPr lang="en-US" altLang="zh-CN" sz="1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endParaRPr lang="en-US" altLang="zh-CN" sz="14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l-GR" altLang="zh-CN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&lt;1/3</a:t>
            </a:r>
            <a:r>
              <a:rPr lang="en-US" altLang="zh-CN" sz="1400" b="1" i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1400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solidFill>
                <a:srgbClr val="66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45" grpId="0" animBg="1"/>
      <p:bldP spid="46" grpId="0" animBg="1"/>
      <p:bldP spid="47" grpId="0" animBg="1"/>
      <p:bldP spid="47" grpId="1" animBg="1"/>
      <p:bldP spid="57" grpId="0" animBg="1"/>
      <p:bldP spid="29" grpId="0" animBg="1"/>
      <p:bldP spid="48" grpId="0"/>
      <p:bldP spid="54" grpId="0" animBg="1"/>
      <p:bldP spid="71" grpId="0" animBg="1"/>
      <p:bldP spid="75" grpId="0" animBg="1"/>
      <p:bldP spid="7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Object 4"/>
          <p:cNvGraphicFramePr>
            <a:graphicFrameLocks noChangeAspect="1"/>
          </p:cNvGraphicFramePr>
          <p:nvPr/>
        </p:nvGraphicFramePr>
        <p:xfrm>
          <a:off x="5191125" y="1573751"/>
          <a:ext cx="37719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Visio" r:id="rId1" imgW="1743075" imgH="1247775" progId="Visio.Drawing.11">
                  <p:embed/>
                </p:oleObj>
              </mc:Choice>
              <mc:Fallback>
                <p:oleObj name="Visio" r:id="rId1" imgW="1743075" imgH="12477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1573751"/>
                        <a:ext cx="377190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"/>
          <p:cNvGraphicFramePr>
            <a:graphicFrameLocks noChangeAspect="1"/>
          </p:cNvGraphicFramePr>
          <p:nvPr/>
        </p:nvGraphicFramePr>
        <p:xfrm>
          <a:off x="1423989" y="1239907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Visio" r:id="rId3" imgW="1647825" imgH="1466850" progId="Visio.Drawing.11">
                  <p:embed/>
                </p:oleObj>
              </mc:Choice>
              <mc:Fallback>
                <p:oleObj name="Visio" r:id="rId3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9" y="1239907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3"/>
          <p:cNvGrpSpPr/>
          <p:nvPr/>
        </p:nvGrpSpPr>
        <p:grpSpPr>
          <a:xfrm>
            <a:off x="4907809" y="1840158"/>
            <a:ext cx="3550394" cy="307777"/>
            <a:chOff x="4907809" y="1491734"/>
            <a:chExt cx="3550394" cy="277000"/>
          </a:xfrm>
        </p:grpSpPr>
        <p:cxnSp>
          <p:nvCxnSpPr>
            <p:cNvPr id="31" name="直接连接符 30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grpSp>
        <p:nvGrpSpPr>
          <p:cNvPr id="5" name="组合 34"/>
          <p:cNvGrpSpPr/>
          <p:nvPr/>
        </p:nvGrpSpPr>
        <p:grpSpPr>
          <a:xfrm>
            <a:off x="4907809" y="2252908"/>
            <a:ext cx="3550394" cy="307777"/>
            <a:chOff x="4907809" y="1491734"/>
            <a:chExt cx="3550394" cy="277000"/>
          </a:xfrm>
        </p:grpSpPr>
        <p:cxnSp>
          <p:nvCxnSpPr>
            <p:cNvPr id="36" name="直接连接符 35"/>
            <p:cNvCxnSpPr/>
            <p:nvPr/>
          </p:nvCxnSpPr>
          <p:spPr>
            <a:xfrm flipH="1" flipV="1">
              <a:off x="5697745" y="1683591"/>
              <a:ext cx="2760458" cy="2334"/>
            </a:xfrm>
            <a:prstGeom prst="line">
              <a:avLst/>
            </a:prstGeom>
            <a:ln w="19050">
              <a:solidFill>
                <a:srgbClr val="66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907809" y="1491734"/>
              <a:ext cx="775597" cy="277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1/3</a:t>
              </a:r>
              <a:r>
                <a:rPr lang="en-US" altLang="zh-CN" sz="1400" b="1" i="1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en-US" altLang="zh-CN" sz="1400" b="1" baseline="-25000" dirty="0">
                  <a:solidFill>
                    <a:srgbClr val="99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</a:t>
              </a:r>
              <a:endParaRPr lang="zh-CN" altLang="en-US" sz="1400" dirty="0">
                <a:solidFill>
                  <a:srgbClr val="9900CC"/>
                </a:solidFill>
              </a:endParaRPr>
            </a:p>
          </p:txBody>
        </p:sp>
      </p:grpSp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307618" y="4039482"/>
            <a:ext cx="2450212" cy="3693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anchor="ctr">
            <a:spAutoFit/>
          </a:bodyPr>
          <a:lstStyle/>
          <a:p>
            <a:pPr algn="l" eaLnBrk="0" hangingPunct="0">
              <a:defRPr/>
            </a:pP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持续振荡过程</a:t>
            </a:r>
            <a:endParaRPr lang="zh-CN" altLang="en-US" b="1" dirty="0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弧形 29"/>
          <p:cNvSpPr/>
          <p:nvPr/>
        </p:nvSpPr>
        <p:spPr>
          <a:xfrm>
            <a:off x="1926387" y="2382153"/>
            <a:ext cx="802256" cy="1811547"/>
          </a:xfrm>
          <a:prstGeom prst="arc">
            <a:avLst>
              <a:gd name="adj1" fmla="val 16020182"/>
              <a:gd name="adj2" fmla="val 1204294"/>
            </a:avLst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697208" y="3480189"/>
            <a:ext cx="974255" cy="6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/>
          <p:cNvSpPr/>
          <p:nvPr/>
        </p:nvSpPr>
        <p:spPr>
          <a:xfrm rot="16200000">
            <a:off x="5734580" y="1937920"/>
            <a:ext cx="2370670" cy="2543178"/>
          </a:xfrm>
          <a:prstGeom prst="arc">
            <a:avLst>
              <a:gd name="adj1" fmla="val 17109125"/>
              <a:gd name="adj2" fmla="val 2075343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6664147" y="2049662"/>
            <a:ext cx="21946" cy="2040128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64"/>
          <p:cNvGrpSpPr/>
          <p:nvPr/>
        </p:nvGrpSpPr>
        <p:grpSpPr>
          <a:xfrm>
            <a:off x="6676226" y="3457283"/>
            <a:ext cx="456094" cy="600000"/>
            <a:chOff x="6676225" y="2956671"/>
            <a:chExt cx="432000" cy="540000"/>
          </a:xfrm>
        </p:grpSpPr>
        <p:cxnSp>
          <p:nvCxnSpPr>
            <p:cNvPr id="62" name="直接连接符 61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任意多边形 69"/>
          <p:cNvSpPr/>
          <p:nvPr/>
        </p:nvSpPr>
        <p:spPr>
          <a:xfrm>
            <a:off x="1799542" y="2434944"/>
            <a:ext cx="864413" cy="1014647"/>
          </a:xfrm>
          <a:custGeom>
            <a:avLst/>
            <a:gdLst>
              <a:gd name="connsiteX0" fmla="*/ 21945 w 864413"/>
              <a:gd name="connsiteY0" fmla="*/ 671780 h 913182"/>
              <a:gd name="connsiteX1" fmla="*/ 87782 w 864413"/>
              <a:gd name="connsiteY1" fmla="*/ 101194 h 913182"/>
              <a:gd name="connsiteX2" fmla="*/ 548639 w 864413"/>
              <a:gd name="connsiteY2" fmla="*/ 64618 h 913182"/>
              <a:gd name="connsiteX3" fmla="*/ 811987 w 864413"/>
              <a:gd name="connsiteY3" fmla="*/ 437694 h 913182"/>
              <a:gd name="connsiteX4" fmla="*/ 863193 w 864413"/>
              <a:gd name="connsiteY4" fmla="*/ 913182 h 91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413" h="913182">
                <a:moveTo>
                  <a:pt x="21945" y="671780"/>
                </a:moveTo>
                <a:cubicBezTo>
                  <a:pt x="10972" y="437084"/>
                  <a:pt x="0" y="202388"/>
                  <a:pt x="87782" y="101194"/>
                </a:cubicBezTo>
                <a:cubicBezTo>
                  <a:pt x="175564" y="0"/>
                  <a:pt x="427938" y="8535"/>
                  <a:pt x="548639" y="64618"/>
                </a:cubicBezTo>
                <a:cubicBezTo>
                  <a:pt x="669340" y="120701"/>
                  <a:pt x="759561" y="296267"/>
                  <a:pt x="811987" y="437694"/>
                </a:cubicBezTo>
                <a:cubicBezTo>
                  <a:pt x="864413" y="579121"/>
                  <a:pt x="863803" y="746151"/>
                  <a:pt x="863193" y="913182"/>
                </a:cubicBezTo>
              </a:path>
            </a:pathLst>
          </a:cu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39"/>
          <p:cNvGrpSpPr/>
          <p:nvPr/>
        </p:nvGrpSpPr>
        <p:grpSpPr>
          <a:xfrm>
            <a:off x="2516099" y="2568828"/>
            <a:ext cx="244355" cy="239882"/>
            <a:chOff x="2378075" y="3813213"/>
            <a:chExt cx="296139" cy="284568"/>
          </a:xfrm>
        </p:grpSpPr>
        <p:cxnSp>
          <p:nvCxnSpPr>
            <p:cNvPr id="43" name="直接连接符 15"/>
            <p:cNvCxnSpPr>
              <a:cxnSpLocks noChangeShapeType="1"/>
            </p:cNvCxnSpPr>
            <p:nvPr/>
          </p:nvCxnSpPr>
          <p:spPr bwMode="auto">
            <a:xfrm flipH="1" flipV="1">
              <a:off x="2383182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44" name="直接连接符 16"/>
            <p:cNvCxnSpPr>
              <a:cxnSpLocks noChangeShapeType="1"/>
            </p:cNvCxnSpPr>
            <p:nvPr/>
          </p:nvCxnSpPr>
          <p:spPr bwMode="auto">
            <a:xfrm flipV="1">
              <a:off x="2378075" y="3813213"/>
              <a:ext cx="291032" cy="28456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</p:grpSp>
      <p:sp>
        <p:nvSpPr>
          <p:cNvPr id="45" name="任意多边形 44"/>
          <p:cNvSpPr/>
          <p:nvPr/>
        </p:nvSpPr>
        <p:spPr>
          <a:xfrm>
            <a:off x="1828800" y="1711977"/>
            <a:ext cx="1619250" cy="1555750"/>
          </a:xfrm>
          <a:custGeom>
            <a:avLst/>
            <a:gdLst>
              <a:gd name="connsiteX0" fmla="*/ 930275 w 930275"/>
              <a:gd name="connsiteY0" fmla="*/ 20637 h 1449387"/>
              <a:gd name="connsiteX1" fmla="*/ 225425 w 930275"/>
              <a:gd name="connsiteY1" fmla="*/ 68262 h 1449387"/>
              <a:gd name="connsiteX2" fmla="*/ 34925 w 930275"/>
              <a:gd name="connsiteY2" fmla="*/ 430212 h 1449387"/>
              <a:gd name="connsiteX3" fmla="*/ 15875 w 930275"/>
              <a:gd name="connsiteY3" fmla="*/ 1449387 h 144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275" h="1449387">
                <a:moveTo>
                  <a:pt x="930275" y="20637"/>
                </a:moveTo>
                <a:cubicBezTo>
                  <a:pt x="652462" y="10318"/>
                  <a:pt x="374650" y="0"/>
                  <a:pt x="225425" y="68262"/>
                </a:cubicBezTo>
                <a:cubicBezTo>
                  <a:pt x="76200" y="136525"/>
                  <a:pt x="69850" y="200025"/>
                  <a:pt x="34925" y="430212"/>
                </a:cubicBezTo>
                <a:cubicBezTo>
                  <a:pt x="0" y="660399"/>
                  <a:pt x="7937" y="1054893"/>
                  <a:pt x="15875" y="1449387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弧形 45"/>
          <p:cNvSpPr/>
          <p:nvPr/>
        </p:nvSpPr>
        <p:spPr>
          <a:xfrm rot="10800000">
            <a:off x="6642199" y="1219082"/>
            <a:ext cx="958294" cy="1267968"/>
          </a:xfrm>
          <a:prstGeom prst="arc">
            <a:avLst>
              <a:gd name="adj1" fmla="val 16028499"/>
              <a:gd name="adj2" fmla="val 20121502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>
            <a:off x="7131101" y="2454707"/>
            <a:ext cx="0" cy="1602571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64"/>
          <p:cNvGrpSpPr/>
          <p:nvPr/>
        </p:nvGrpSpPr>
        <p:grpSpPr>
          <a:xfrm flipV="1">
            <a:off x="7128549" y="3464057"/>
            <a:ext cx="786497" cy="600000"/>
            <a:chOff x="6676225" y="2956671"/>
            <a:chExt cx="432000" cy="540000"/>
          </a:xfrm>
        </p:grpSpPr>
        <p:cxnSp>
          <p:nvCxnSpPr>
            <p:cNvPr id="68" name="直接连接符 67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Oval 46"/>
          <p:cNvSpPr>
            <a:spLocks noChangeArrowheads="1"/>
          </p:cNvSpPr>
          <p:nvPr/>
        </p:nvSpPr>
        <p:spPr bwMode="auto">
          <a:xfrm>
            <a:off x="3701647" y="2487050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4" name="圆角矩形标注 53"/>
          <p:cNvSpPr/>
          <p:nvPr/>
        </p:nvSpPr>
        <p:spPr>
          <a:xfrm>
            <a:off x="496115" y="2569879"/>
            <a:ext cx="938739" cy="488745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endParaRPr lang="en-US" altLang="zh-CN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Oval 46"/>
          <p:cNvSpPr>
            <a:spLocks noChangeArrowheads="1"/>
          </p:cNvSpPr>
          <p:nvPr/>
        </p:nvSpPr>
        <p:spPr bwMode="auto">
          <a:xfrm>
            <a:off x="3700847" y="2484771"/>
            <a:ext cx="385135" cy="44090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endParaRPr lang="en-US" altLang="zh-CN" sz="20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64" name="弧形 63"/>
          <p:cNvSpPr/>
          <p:nvPr/>
        </p:nvSpPr>
        <p:spPr>
          <a:xfrm rot="16200000">
            <a:off x="7372611" y="1752488"/>
            <a:ext cx="1481721" cy="2061060"/>
          </a:xfrm>
          <a:prstGeom prst="arc">
            <a:avLst>
              <a:gd name="adj1" fmla="val 17109125"/>
              <a:gd name="adj2" fmla="val 2075343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弧形 64"/>
          <p:cNvSpPr/>
          <p:nvPr/>
        </p:nvSpPr>
        <p:spPr>
          <a:xfrm rot="10800000">
            <a:off x="7877248" y="1209599"/>
            <a:ext cx="958294" cy="1267968"/>
          </a:xfrm>
          <a:prstGeom prst="arc">
            <a:avLst>
              <a:gd name="adj1" fmla="val 16028499"/>
              <a:gd name="adj2" fmla="val 20121502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7891882" y="2056435"/>
            <a:ext cx="21946" cy="2040128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64"/>
          <p:cNvGrpSpPr/>
          <p:nvPr/>
        </p:nvGrpSpPr>
        <p:grpSpPr>
          <a:xfrm>
            <a:off x="7903961" y="3464057"/>
            <a:ext cx="456094" cy="600000"/>
            <a:chOff x="6676225" y="2956671"/>
            <a:chExt cx="432000" cy="540000"/>
          </a:xfrm>
        </p:grpSpPr>
        <p:cxnSp>
          <p:nvCxnSpPr>
            <p:cNvPr id="72" name="直接连接符 71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圆角矩形标注 79"/>
          <p:cNvSpPr/>
          <p:nvPr/>
        </p:nvSpPr>
        <p:spPr>
          <a:xfrm>
            <a:off x="496890" y="2569879"/>
            <a:ext cx="938739" cy="477661"/>
          </a:xfrm>
          <a:prstGeom prst="wedgeRoundRectCallout">
            <a:avLst>
              <a:gd name="adj1" fmla="val 65677"/>
              <a:gd name="adj2" fmla="val 40319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l-GR" altLang="zh-CN" sz="2000" b="1" i="1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b="1" baseline="-25000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66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endParaRPr lang="en-US" altLang="zh-CN" b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8358835" y="2453352"/>
            <a:ext cx="0" cy="1602571"/>
          </a:xfrm>
          <a:prstGeom prst="line">
            <a:avLst/>
          </a:prstGeom>
          <a:ln w="19050">
            <a:solidFill>
              <a:srgbClr val="66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弧形 81"/>
          <p:cNvSpPr/>
          <p:nvPr/>
        </p:nvSpPr>
        <p:spPr>
          <a:xfrm rot="16200000">
            <a:off x="8449223" y="1856363"/>
            <a:ext cx="1477946" cy="1720266"/>
          </a:xfrm>
          <a:prstGeom prst="arc">
            <a:avLst>
              <a:gd name="adj1" fmla="val 17109125"/>
              <a:gd name="adj2" fmla="val 2075343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8522208" y="1804298"/>
            <a:ext cx="621792" cy="642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64"/>
          <p:cNvGrpSpPr/>
          <p:nvPr/>
        </p:nvGrpSpPr>
        <p:grpSpPr>
          <a:xfrm flipV="1">
            <a:off x="8357504" y="3470830"/>
            <a:ext cx="230542" cy="600000"/>
            <a:chOff x="6676225" y="2956671"/>
            <a:chExt cx="432000" cy="540000"/>
          </a:xfrm>
        </p:grpSpPr>
        <p:cxnSp>
          <p:nvCxnSpPr>
            <p:cNvPr id="85" name="直接连接符 84"/>
            <p:cNvCxnSpPr/>
            <p:nvPr/>
          </p:nvCxnSpPr>
          <p:spPr>
            <a:xfrm flipV="1">
              <a:off x="6676225" y="3488131"/>
              <a:ext cx="432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5400000" flipV="1">
              <a:off x="6408866" y="3226360"/>
              <a:ext cx="540000" cy="6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Oval 46"/>
          <p:cNvSpPr>
            <a:spLocks noChangeArrowheads="1"/>
          </p:cNvSpPr>
          <p:nvPr/>
        </p:nvSpPr>
        <p:spPr bwMode="auto">
          <a:xfrm>
            <a:off x="3702020" y="2496042"/>
            <a:ext cx="385135" cy="44090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FF"/>
            </a:solidFill>
            <a:round/>
          </a:ln>
        </p:spPr>
        <p:txBody>
          <a:bodyPr wrap="none" lIns="0" tIns="0" rIns="0" bIns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1</a:t>
            </a:r>
            <a:endParaRPr lang="en-US" altLang="zh-CN" sz="2000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596423" y="4586493"/>
            <a:ext cx="8019023" cy="733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algn="ctr">
            <a:solidFill>
              <a:srgbClr val="6600FF"/>
            </a:solidFill>
            <a:miter lim="800000"/>
          </a:ln>
        </p:spPr>
        <p:txBody>
          <a:bodyPr wrap="square" lIns="72000" rIns="72000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输出高电平，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截止，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开始充电，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上升到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，输出由高变低；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导通，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开始放电，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下降到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</a:t>
            </a:r>
            <a:r>
              <a:rPr lang="en-US" altLang="zh-CN" i="1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，输出由低变高；</a:t>
            </a:r>
            <a:r>
              <a:rPr lang="en-US" altLang="zh-CN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aseline="-250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、工作原理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0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61" name="矩形 60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9" name="Rectangle 27"/>
          <p:cNvSpPr>
            <a:spLocks noChangeArrowheads="1"/>
          </p:cNvSpPr>
          <p:nvPr/>
        </p:nvSpPr>
        <p:spPr bwMode="auto">
          <a:xfrm>
            <a:off x="5385998" y="1096541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0" grpId="0" animBg="1"/>
      <p:bldP spid="45" grpId="0" animBg="1"/>
      <p:bldP spid="48" grpId="0" animBg="1"/>
      <p:bldP spid="54" grpId="0" animBg="1"/>
      <p:bldP spid="56" grpId="0" animBg="1"/>
      <p:bldP spid="64" grpId="0" animBg="1"/>
      <p:bldP spid="65" grpId="0" animBg="1"/>
      <p:bldP spid="80" grpId="0" animBg="1"/>
      <p:bldP spid="82" grpId="0" animBg="1"/>
      <p:bldP spid="87" grpId="0" animBg="1"/>
      <p:bldP spid="5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Object 4"/>
          <p:cNvGraphicFramePr>
            <a:graphicFrameLocks noChangeAspect="1"/>
          </p:cNvGraphicFramePr>
          <p:nvPr/>
        </p:nvGraphicFramePr>
        <p:xfrm>
          <a:off x="5381625" y="1573751"/>
          <a:ext cx="37719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Visio" r:id="rId1" imgW="1743075" imgH="1247775" progId="Visio.Drawing.11">
                  <p:embed/>
                </p:oleObj>
              </mc:Choice>
              <mc:Fallback>
                <p:oleObj name="Visio" r:id="rId1" imgW="1743075" imgH="12477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1573751"/>
                        <a:ext cx="3771900" cy="282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5"/>
          <p:cNvGraphicFramePr>
            <a:graphicFrameLocks noChangeAspect="1"/>
          </p:cNvGraphicFramePr>
          <p:nvPr/>
        </p:nvGraphicFramePr>
        <p:xfrm>
          <a:off x="287597" y="1369453"/>
          <a:ext cx="2840037" cy="28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Visio" r:id="rId3" imgW="1647825" imgH="1466850" progId="Visio.Drawing.11">
                  <p:embed/>
                </p:oleObj>
              </mc:Choice>
              <mc:Fallback>
                <p:oleObj name="Visio" r:id="rId3" imgW="1647825" imgH="14668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97" y="1369453"/>
                        <a:ext cx="2840037" cy="280458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61"/>
          <p:cNvGrpSpPr/>
          <p:nvPr/>
        </p:nvGrpSpPr>
        <p:grpSpPr>
          <a:xfrm>
            <a:off x="5094397" y="1180712"/>
            <a:ext cx="4148664" cy="3208104"/>
            <a:chOff x="4907809" y="913181"/>
            <a:chExt cx="4148664" cy="2887294"/>
          </a:xfrm>
        </p:grpSpPr>
        <p:sp>
          <p:nvSpPr>
            <p:cNvPr id="101" name="弧形 100"/>
            <p:cNvSpPr/>
            <p:nvPr/>
          </p:nvSpPr>
          <p:spPr>
            <a:xfrm rot="10800000">
              <a:off x="6642199" y="921715"/>
              <a:ext cx="958294" cy="1141171"/>
            </a:xfrm>
            <a:prstGeom prst="arc">
              <a:avLst>
                <a:gd name="adj1" fmla="val 16028499"/>
                <a:gd name="adj2" fmla="val 20121502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弧形 106"/>
            <p:cNvSpPr/>
            <p:nvPr/>
          </p:nvSpPr>
          <p:spPr>
            <a:xfrm rot="10800000">
              <a:off x="7877248" y="913181"/>
              <a:ext cx="958294" cy="1141171"/>
            </a:xfrm>
            <a:prstGeom prst="arc">
              <a:avLst>
                <a:gd name="adj1" fmla="val 16028499"/>
                <a:gd name="adj2" fmla="val 20121502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160"/>
            <p:cNvGrpSpPr/>
            <p:nvPr/>
          </p:nvGrpSpPr>
          <p:grpSpPr>
            <a:xfrm>
              <a:off x="4907809" y="1448410"/>
              <a:ext cx="4148664" cy="2352065"/>
              <a:chOff x="4907809" y="1448410"/>
              <a:chExt cx="4148664" cy="2352065"/>
            </a:xfrm>
          </p:grpSpPr>
          <p:sp>
            <p:nvSpPr>
              <p:cNvPr id="106" name="弧形 105"/>
              <p:cNvSpPr/>
              <p:nvPr/>
            </p:nvSpPr>
            <p:spPr>
              <a:xfrm rot="16200000">
                <a:off x="7415552" y="1327678"/>
                <a:ext cx="1300692" cy="1981151"/>
              </a:xfrm>
              <a:prstGeom prst="arc">
                <a:avLst>
                  <a:gd name="adj1" fmla="val 17109125"/>
                  <a:gd name="adj2" fmla="val 20753439"/>
                </a:avLst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8522208" y="1448410"/>
                <a:ext cx="457932" cy="5779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" name="组合 159"/>
              <p:cNvGrpSpPr/>
              <p:nvPr/>
            </p:nvGrpSpPr>
            <p:grpSpPr>
              <a:xfrm>
                <a:off x="4907809" y="1501259"/>
                <a:ext cx="3680237" cy="2299216"/>
                <a:chOff x="4907809" y="1501259"/>
                <a:chExt cx="3680237" cy="2299216"/>
              </a:xfrm>
            </p:grpSpPr>
            <p:grpSp>
              <p:nvGrpSpPr>
                <p:cNvPr id="7" name="组合 33"/>
                <p:cNvGrpSpPr/>
                <p:nvPr/>
              </p:nvGrpSpPr>
              <p:grpSpPr>
                <a:xfrm>
                  <a:off x="4907809" y="1501259"/>
                  <a:ext cx="3550394" cy="277000"/>
                  <a:chOff x="4907809" y="1491734"/>
                  <a:chExt cx="3550394" cy="277000"/>
                </a:xfrm>
              </p:grpSpPr>
              <p:cxnSp>
                <p:nvCxnSpPr>
                  <p:cNvPr id="84" name="直接连接符 83"/>
                  <p:cNvCxnSpPr/>
                  <p:nvPr/>
                </p:nvCxnSpPr>
                <p:spPr>
                  <a:xfrm flipH="1" flipV="1">
                    <a:off x="5697745" y="1683591"/>
                    <a:ext cx="2760458" cy="2334"/>
                  </a:xfrm>
                  <a:prstGeom prst="line">
                    <a:avLst/>
                  </a:prstGeom>
                  <a:ln w="19050">
                    <a:solidFill>
                      <a:srgbClr val="6600FF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矩形 84"/>
                  <p:cNvSpPr/>
                  <p:nvPr/>
                </p:nvSpPr>
                <p:spPr>
                  <a:xfrm>
                    <a:off x="4907809" y="1491734"/>
                    <a:ext cx="775597" cy="2770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b="1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2/3</a:t>
                    </a:r>
                    <a:r>
                      <a:rPr lang="en-US" altLang="zh-CN" sz="1400" b="1" i="1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V</a:t>
                    </a:r>
                    <a:r>
                      <a:rPr lang="en-US" altLang="zh-CN" sz="1400" b="1" baseline="-25000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CC</a:t>
                    </a:r>
                    <a:endParaRPr lang="zh-CN" altLang="en-US" sz="1400" dirty="0">
                      <a:solidFill>
                        <a:srgbClr val="9900CC"/>
                      </a:solidFill>
                    </a:endParaRPr>
                  </a:p>
                </p:txBody>
              </p:sp>
            </p:grpSp>
            <p:grpSp>
              <p:nvGrpSpPr>
                <p:cNvPr id="8" name="组合 34"/>
                <p:cNvGrpSpPr/>
                <p:nvPr/>
              </p:nvGrpSpPr>
              <p:grpSpPr>
                <a:xfrm>
                  <a:off x="4907809" y="1872734"/>
                  <a:ext cx="3550394" cy="277000"/>
                  <a:chOff x="4907809" y="1491734"/>
                  <a:chExt cx="3550394" cy="277000"/>
                </a:xfrm>
              </p:grpSpPr>
              <p:cxnSp>
                <p:nvCxnSpPr>
                  <p:cNvPr id="93" name="直接连接符 92"/>
                  <p:cNvCxnSpPr/>
                  <p:nvPr/>
                </p:nvCxnSpPr>
                <p:spPr>
                  <a:xfrm flipH="1" flipV="1">
                    <a:off x="5697745" y="1683591"/>
                    <a:ext cx="2760458" cy="2334"/>
                  </a:xfrm>
                  <a:prstGeom prst="line">
                    <a:avLst/>
                  </a:prstGeom>
                  <a:ln w="19050">
                    <a:solidFill>
                      <a:srgbClr val="6600FF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" name="矩形 93"/>
                  <p:cNvSpPr/>
                  <p:nvPr/>
                </p:nvSpPr>
                <p:spPr>
                  <a:xfrm>
                    <a:off x="4907809" y="1491734"/>
                    <a:ext cx="775597" cy="27700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1400" b="1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1/3</a:t>
                    </a:r>
                    <a:r>
                      <a:rPr lang="en-US" altLang="zh-CN" sz="1400" b="1" i="1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V</a:t>
                    </a:r>
                    <a:r>
                      <a:rPr lang="en-US" altLang="zh-CN" sz="1400" b="1" baseline="-25000" dirty="0">
                        <a:solidFill>
                          <a:srgbClr val="99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CC</a:t>
                    </a:r>
                    <a:endParaRPr lang="zh-CN" altLang="en-US" sz="1400" dirty="0">
                      <a:solidFill>
                        <a:srgbClr val="9900CC"/>
                      </a:solidFill>
                    </a:endParaRPr>
                  </a:p>
                </p:txBody>
              </p:sp>
            </p:grpSp>
            <p:cxnSp>
              <p:nvCxnSpPr>
                <p:cNvPr id="95" name="直接连接符 94"/>
                <p:cNvCxnSpPr/>
                <p:nvPr/>
              </p:nvCxnSpPr>
              <p:spPr>
                <a:xfrm flipV="1">
                  <a:off x="5697207" y="2977286"/>
                  <a:ext cx="974255" cy="621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弧形 95"/>
                <p:cNvSpPr/>
                <p:nvPr/>
              </p:nvSpPr>
              <p:spPr>
                <a:xfrm rot="16200000">
                  <a:off x="5853113" y="1462085"/>
                  <a:ext cx="2133603" cy="2543178"/>
                </a:xfrm>
                <a:prstGeom prst="arc">
                  <a:avLst>
                    <a:gd name="adj1" fmla="val 17109125"/>
                    <a:gd name="adj2" fmla="val 20753439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7" name="直接连接符 96"/>
                <p:cNvCxnSpPr/>
                <p:nvPr/>
              </p:nvCxnSpPr>
              <p:spPr>
                <a:xfrm>
                  <a:off x="6664147" y="1689811"/>
                  <a:ext cx="21946" cy="1836115"/>
                </a:xfrm>
                <a:prstGeom prst="line">
                  <a:avLst/>
                </a:prstGeom>
                <a:ln w="1905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" name="组合 64"/>
                <p:cNvGrpSpPr/>
                <p:nvPr/>
              </p:nvGrpSpPr>
              <p:grpSpPr>
                <a:xfrm>
                  <a:off x="6676226" y="2956671"/>
                  <a:ext cx="456094" cy="540000"/>
                  <a:chOff x="6676225" y="2956671"/>
                  <a:chExt cx="432000" cy="540000"/>
                </a:xfrm>
              </p:grpSpPr>
              <p:cxnSp>
                <p:nvCxnSpPr>
                  <p:cNvPr id="99" name="直接连接符 98"/>
                  <p:cNvCxnSpPr/>
                  <p:nvPr/>
                </p:nvCxnSpPr>
                <p:spPr>
                  <a:xfrm flipV="1">
                    <a:off x="6676225" y="3488131"/>
                    <a:ext cx="432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连接符 99"/>
                  <p:cNvCxnSpPr/>
                  <p:nvPr/>
                </p:nvCxnSpPr>
                <p:spPr>
                  <a:xfrm rot="5400000" flipV="1">
                    <a:off x="6408866" y="3226360"/>
                    <a:ext cx="540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2" name="直接连接符 101"/>
                <p:cNvCxnSpPr/>
                <p:nvPr/>
              </p:nvCxnSpPr>
              <p:spPr>
                <a:xfrm>
                  <a:off x="7131101" y="2054352"/>
                  <a:ext cx="0" cy="1442314"/>
                </a:xfrm>
                <a:prstGeom prst="line">
                  <a:avLst/>
                </a:prstGeom>
                <a:ln w="1905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" name="组合 64"/>
                <p:cNvGrpSpPr/>
                <p:nvPr/>
              </p:nvGrpSpPr>
              <p:grpSpPr>
                <a:xfrm flipV="1">
                  <a:off x="7128548" y="2962767"/>
                  <a:ext cx="786497" cy="540000"/>
                  <a:chOff x="6676225" y="2956671"/>
                  <a:chExt cx="432000" cy="540000"/>
                </a:xfrm>
              </p:grpSpPr>
              <p:cxnSp>
                <p:nvCxnSpPr>
                  <p:cNvPr id="104" name="直接连接符 103"/>
                  <p:cNvCxnSpPr/>
                  <p:nvPr/>
                </p:nvCxnSpPr>
                <p:spPr>
                  <a:xfrm flipV="1">
                    <a:off x="6676225" y="3488131"/>
                    <a:ext cx="432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直接连接符 104"/>
                  <p:cNvCxnSpPr/>
                  <p:nvPr/>
                </p:nvCxnSpPr>
                <p:spPr>
                  <a:xfrm rot="5400000" flipV="1">
                    <a:off x="6408866" y="3226360"/>
                    <a:ext cx="540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8" name="直接连接符 107"/>
                <p:cNvCxnSpPr/>
                <p:nvPr/>
              </p:nvCxnSpPr>
              <p:spPr>
                <a:xfrm>
                  <a:off x="7891882" y="1695907"/>
                  <a:ext cx="21946" cy="1836115"/>
                </a:xfrm>
                <a:prstGeom prst="line">
                  <a:avLst/>
                </a:prstGeom>
                <a:ln w="1905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组合 64"/>
                <p:cNvGrpSpPr/>
                <p:nvPr/>
              </p:nvGrpSpPr>
              <p:grpSpPr>
                <a:xfrm>
                  <a:off x="7903961" y="2962767"/>
                  <a:ext cx="456094" cy="540000"/>
                  <a:chOff x="6676225" y="2956671"/>
                  <a:chExt cx="432000" cy="540000"/>
                </a:xfrm>
              </p:grpSpPr>
              <p:cxnSp>
                <p:nvCxnSpPr>
                  <p:cNvPr id="111" name="直接连接符 110"/>
                  <p:cNvCxnSpPr/>
                  <p:nvPr/>
                </p:nvCxnSpPr>
                <p:spPr>
                  <a:xfrm flipV="1">
                    <a:off x="6676225" y="3488131"/>
                    <a:ext cx="432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直接连接符 111"/>
                  <p:cNvCxnSpPr/>
                  <p:nvPr/>
                </p:nvCxnSpPr>
                <p:spPr>
                  <a:xfrm rot="5400000" flipV="1">
                    <a:off x="6408866" y="3226360"/>
                    <a:ext cx="540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8358835" y="2053133"/>
                  <a:ext cx="0" cy="1442314"/>
                </a:xfrm>
                <a:prstGeom prst="line">
                  <a:avLst/>
                </a:prstGeom>
                <a:ln w="1905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" name="组合 64"/>
                <p:cNvGrpSpPr/>
                <p:nvPr/>
              </p:nvGrpSpPr>
              <p:grpSpPr>
                <a:xfrm flipV="1">
                  <a:off x="8357504" y="2968863"/>
                  <a:ext cx="230542" cy="540000"/>
                  <a:chOff x="6676225" y="2956671"/>
                  <a:chExt cx="432000" cy="540000"/>
                </a:xfrm>
              </p:grpSpPr>
              <p:cxnSp>
                <p:nvCxnSpPr>
                  <p:cNvPr id="117" name="直接连接符 116"/>
                  <p:cNvCxnSpPr/>
                  <p:nvPr/>
                </p:nvCxnSpPr>
                <p:spPr>
                  <a:xfrm flipV="1">
                    <a:off x="6676225" y="3488131"/>
                    <a:ext cx="432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直接连接符 117"/>
                  <p:cNvCxnSpPr/>
                  <p:nvPr/>
                </p:nvCxnSpPr>
                <p:spPr>
                  <a:xfrm rot="5400000" flipV="1">
                    <a:off x="6408866" y="3226360"/>
                    <a:ext cx="540000" cy="62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3" name="组合 127"/>
          <p:cNvGrpSpPr/>
          <p:nvPr/>
        </p:nvGrpSpPr>
        <p:grpSpPr>
          <a:xfrm>
            <a:off x="7333540" y="3394995"/>
            <a:ext cx="753466" cy="433917"/>
            <a:chOff x="7139636" y="2949016"/>
            <a:chExt cx="753466" cy="390525"/>
          </a:xfrm>
        </p:grpSpPr>
        <p:cxnSp>
          <p:nvCxnSpPr>
            <p:cNvPr id="120" name="直接箭头连接符 119"/>
            <p:cNvCxnSpPr/>
            <p:nvPr/>
          </p:nvCxnSpPr>
          <p:spPr>
            <a:xfrm flipV="1">
              <a:off x="7139636" y="3339541"/>
              <a:ext cx="753466" cy="0"/>
            </a:xfrm>
            <a:prstGeom prst="straightConnector1">
              <a:avLst/>
            </a:prstGeom>
            <a:ln w="381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/>
            <p:cNvSpPr txBox="1"/>
            <p:nvPr/>
          </p:nvSpPr>
          <p:spPr>
            <a:xfrm>
              <a:off x="7253771" y="2949016"/>
              <a:ext cx="510076" cy="36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9900CC"/>
                  </a:solidFill>
                </a:rPr>
                <a:t>T</a:t>
              </a:r>
              <a:r>
                <a:rPr lang="en-US" altLang="zh-CN" sz="2000" b="1" baseline="-25000" dirty="0">
                  <a:solidFill>
                    <a:srgbClr val="9900CC"/>
                  </a:solidFill>
                </a:rPr>
                <a:t>PH</a:t>
              </a:r>
              <a:endParaRPr lang="zh-CN" altLang="en-US" sz="2000" b="1" baseline="-25000" dirty="0">
                <a:solidFill>
                  <a:srgbClr val="9900CC"/>
                </a:solidFill>
              </a:endParaRPr>
            </a:p>
          </p:txBody>
        </p:sp>
      </p:grpSp>
      <p:grpSp>
        <p:nvGrpSpPr>
          <p:cNvPr id="14" name="组合 138"/>
          <p:cNvGrpSpPr/>
          <p:nvPr/>
        </p:nvGrpSpPr>
        <p:grpSpPr>
          <a:xfrm>
            <a:off x="6666635" y="3344879"/>
            <a:ext cx="844465" cy="400110"/>
            <a:chOff x="6465416" y="2925856"/>
            <a:chExt cx="844465" cy="360099"/>
          </a:xfrm>
        </p:grpSpPr>
        <p:sp>
          <p:nvSpPr>
            <p:cNvPr id="130" name="TextBox 129"/>
            <p:cNvSpPr txBox="1"/>
            <p:nvPr/>
          </p:nvSpPr>
          <p:spPr>
            <a:xfrm>
              <a:off x="6652708" y="2925856"/>
              <a:ext cx="474810" cy="36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9900CC"/>
                  </a:solidFill>
                </a:rPr>
                <a:t>T</a:t>
              </a:r>
              <a:r>
                <a:rPr lang="en-US" altLang="zh-CN" sz="2000" b="1" baseline="-25000" dirty="0">
                  <a:solidFill>
                    <a:srgbClr val="9900CC"/>
                  </a:solidFill>
                </a:rPr>
                <a:t>PL</a:t>
              </a:r>
              <a:endParaRPr lang="zh-CN" altLang="en-US" sz="2000" b="1" baseline="-25000" dirty="0">
                <a:solidFill>
                  <a:srgbClr val="9900CC"/>
                </a:solidFill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>
            <a:xfrm flipV="1">
              <a:off x="6465416" y="3168853"/>
              <a:ext cx="180000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箭头连接符 135"/>
            <p:cNvCxnSpPr/>
            <p:nvPr/>
          </p:nvCxnSpPr>
          <p:spPr>
            <a:xfrm flipH="1" flipV="1">
              <a:off x="7129881" y="3168853"/>
              <a:ext cx="180000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50"/>
          <p:cNvGrpSpPr/>
          <p:nvPr/>
        </p:nvGrpSpPr>
        <p:grpSpPr>
          <a:xfrm>
            <a:off x="6863335" y="3001456"/>
            <a:ext cx="1236268" cy="482491"/>
            <a:chOff x="6686093" y="3546652"/>
            <a:chExt cx="1236268" cy="434242"/>
          </a:xfrm>
        </p:grpSpPr>
        <p:cxnSp>
          <p:nvCxnSpPr>
            <p:cNvPr id="144" name="直接箭头连接符 143"/>
            <p:cNvCxnSpPr/>
            <p:nvPr/>
          </p:nvCxnSpPr>
          <p:spPr>
            <a:xfrm>
              <a:off x="6692189" y="3682136"/>
              <a:ext cx="1230172" cy="0"/>
            </a:xfrm>
            <a:prstGeom prst="straightConnector1">
              <a:avLst/>
            </a:prstGeom>
            <a:ln w="381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6876097" y="3620795"/>
              <a:ext cx="87070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i="1" dirty="0">
                  <a:solidFill>
                    <a:srgbClr val="9900CC"/>
                  </a:solidFill>
                </a:rPr>
                <a:t>T</a:t>
              </a:r>
              <a:endParaRPr lang="zh-CN" altLang="en-US" sz="2000" b="1" baseline="-25000" dirty="0">
                <a:solidFill>
                  <a:srgbClr val="9900CC"/>
                </a:solidFill>
              </a:endParaRPr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6686093" y="3555187"/>
              <a:ext cx="0" cy="288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7913828" y="3546652"/>
              <a:ext cx="0" cy="288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任意多边形 151"/>
          <p:cNvSpPr/>
          <p:nvPr/>
        </p:nvSpPr>
        <p:spPr>
          <a:xfrm>
            <a:off x="697692" y="1795169"/>
            <a:ext cx="1619250" cy="1555750"/>
          </a:xfrm>
          <a:custGeom>
            <a:avLst/>
            <a:gdLst>
              <a:gd name="connsiteX0" fmla="*/ 930275 w 930275"/>
              <a:gd name="connsiteY0" fmla="*/ 20637 h 1449387"/>
              <a:gd name="connsiteX1" fmla="*/ 225425 w 930275"/>
              <a:gd name="connsiteY1" fmla="*/ 68262 h 1449387"/>
              <a:gd name="connsiteX2" fmla="*/ 34925 w 930275"/>
              <a:gd name="connsiteY2" fmla="*/ 430212 h 1449387"/>
              <a:gd name="connsiteX3" fmla="*/ 15875 w 930275"/>
              <a:gd name="connsiteY3" fmla="*/ 1449387 h 144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275" h="1449387">
                <a:moveTo>
                  <a:pt x="930275" y="20637"/>
                </a:moveTo>
                <a:cubicBezTo>
                  <a:pt x="652462" y="10318"/>
                  <a:pt x="374650" y="0"/>
                  <a:pt x="225425" y="68262"/>
                </a:cubicBezTo>
                <a:cubicBezTo>
                  <a:pt x="76200" y="136525"/>
                  <a:pt x="69850" y="200025"/>
                  <a:pt x="34925" y="430212"/>
                </a:cubicBezTo>
                <a:cubicBezTo>
                  <a:pt x="0" y="660399"/>
                  <a:pt x="7937" y="1054893"/>
                  <a:pt x="15875" y="1449387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任意多边形 152"/>
          <p:cNvSpPr/>
          <p:nvPr/>
        </p:nvSpPr>
        <p:spPr>
          <a:xfrm>
            <a:off x="668434" y="2518137"/>
            <a:ext cx="864413" cy="1014647"/>
          </a:xfrm>
          <a:custGeom>
            <a:avLst/>
            <a:gdLst>
              <a:gd name="connsiteX0" fmla="*/ 21945 w 864413"/>
              <a:gd name="connsiteY0" fmla="*/ 671780 h 913182"/>
              <a:gd name="connsiteX1" fmla="*/ 87782 w 864413"/>
              <a:gd name="connsiteY1" fmla="*/ 101194 h 913182"/>
              <a:gd name="connsiteX2" fmla="*/ 548639 w 864413"/>
              <a:gd name="connsiteY2" fmla="*/ 64618 h 913182"/>
              <a:gd name="connsiteX3" fmla="*/ 811987 w 864413"/>
              <a:gd name="connsiteY3" fmla="*/ 437694 h 913182"/>
              <a:gd name="connsiteX4" fmla="*/ 863193 w 864413"/>
              <a:gd name="connsiteY4" fmla="*/ 913182 h 91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413" h="913182">
                <a:moveTo>
                  <a:pt x="21945" y="671780"/>
                </a:moveTo>
                <a:cubicBezTo>
                  <a:pt x="10972" y="437084"/>
                  <a:pt x="0" y="202388"/>
                  <a:pt x="87782" y="101194"/>
                </a:cubicBezTo>
                <a:cubicBezTo>
                  <a:pt x="175564" y="0"/>
                  <a:pt x="427938" y="8535"/>
                  <a:pt x="548639" y="64618"/>
                </a:cubicBezTo>
                <a:cubicBezTo>
                  <a:pt x="669340" y="120701"/>
                  <a:pt x="759561" y="296267"/>
                  <a:pt x="811987" y="437694"/>
                </a:cubicBezTo>
                <a:cubicBezTo>
                  <a:pt x="864413" y="579121"/>
                  <a:pt x="863803" y="746151"/>
                  <a:pt x="863193" y="913182"/>
                </a:cubicBezTo>
              </a:path>
            </a:pathLst>
          </a:custGeom>
          <a:ln w="28575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 rot="3746925">
            <a:off x="7537678" y="1837049"/>
            <a:ext cx="290604" cy="767537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9" name="椭圆 158"/>
          <p:cNvSpPr/>
          <p:nvPr/>
        </p:nvSpPr>
        <p:spPr>
          <a:xfrm rot="6810785">
            <a:off x="6933044" y="1916573"/>
            <a:ext cx="290604" cy="660692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/>
        </p:nvGraphicFramePr>
        <p:xfrm>
          <a:off x="2752899" y="1879112"/>
          <a:ext cx="2277493" cy="113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公式" r:id="rId5" imgW="47853600" imgH="21640800" progId="Equation.3">
                  <p:embed/>
                </p:oleObj>
              </mc:Choice>
              <mc:Fallback>
                <p:oleObj name="公式" r:id="rId5" imgW="47853600" imgH="21640800" progId="Equation.3">
                  <p:embed/>
                  <p:pic>
                    <p:nvPicPr>
                      <p:cNvPr id="0" name="对象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899" y="1879112"/>
                        <a:ext cx="2277493" cy="1136425"/>
                      </a:xfrm>
                      <a:prstGeom prst="rect">
                        <a:avLst/>
                      </a:prstGeom>
                      <a:solidFill>
                        <a:srgbClr val="FF00FF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/>
          <p:cNvGraphicFramePr>
            <a:graphicFrameLocks noChangeAspect="1"/>
          </p:cNvGraphicFramePr>
          <p:nvPr/>
        </p:nvGraphicFramePr>
        <p:xfrm>
          <a:off x="2760025" y="3133426"/>
          <a:ext cx="2277493" cy="823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公式" r:id="rId7" imgW="50292000" imgH="15849600" progId="Equation.3">
                  <p:embed/>
                </p:oleObj>
              </mc:Choice>
              <mc:Fallback>
                <p:oleObj name="公式" r:id="rId7" imgW="50292000" imgH="15849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025" y="3133426"/>
                        <a:ext cx="2277493" cy="823015"/>
                      </a:xfrm>
                      <a:prstGeom prst="rect">
                        <a:avLst/>
                      </a:prstGeom>
                      <a:solidFill>
                        <a:srgbClr val="33CCCC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287597" y="4635618"/>
          <a:ext cx="2775643" cy="33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公式" r:id="rId9" imgW="45415200" imgH="5181600" progId="Equation.3">
                  <p:embed/>
                </p:oleObj>
              </mc:Choice>
              <mc:Fallback>
                <p:oleObj name="公式" r:id="rId9" imgW="45415200" imgH="5181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97" y="4635618"/>
                        <a:ext cx="2775643" cy="335559"/>
                      </a:xfrm>
                      <a:prstGeom prst="rect">
                        <a:avLst/>
                      </a:prstGeom>
                      <a:solidFill>
                        <a:srgbClr val="00FF00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/>
          <p:cNvGraphicFramePr>
            <a:graphicFrameLocks noChangeAspect="1"/>
          </p:cNvGraphicFramePr>
          <p:nvPr/>
        </p:nvGraphicFramePr>
        <p:xfrm>
          <a:off x="3545862" y="4439799"/>
          <a:ext cx="3463925" cy="687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公式" r:id="rId11" imgW="55473600" imgH="10363200" progId="Equation.3">
                  <p:embed/>
                </p:oleObj>
              </mc:Choice>
              <mc:Fallback>
                <p:oleObj name="公式" r:id="rId11" imgW="55473600" imgH="1036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862" y="4439799"/>
                        <a:ext cx="3463925" cy="687917"/>
                      </a:xfrm>
                      <a:prstGeom prst="rect">
                        <a:avLst/>
                      </a:prstGeom>
                      <a:solidFill>
                        <a:srgbClr val="FF9900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22"/>
          <p:cNvGrpSpPr/>
          <p:nvPr/>
        </p:nvGrpSpPr>
        <p:grpSpPr>
          <a:xfrm>
            <a:off x="415291" y="685969"/>
            <a:ext cx="3846716" cy="456728"/>
            <a:chOff x="670560" y="892917"/>
            <a:chExt cx="3846716" cy="411055"/>
          </a:xfrm>
        </p:grpSpPr>
        <p:sp>
          <p:nvSpPr>
            <p:cNvPr id="65" name="矩形 64"/>
            <p:cNvSpPr/>
            <p:nvPr/>
          </p:nvSpPr>
          <p:spPr>
            <a:xfrm>
              <a:off x="1035233" y="913778"/>
              <a:ext cx="3482043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定时器构成的多谐振荡器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6" name="Picture 3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5576498" y="1096541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、工作波形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" name="Rectangle 27"/>
          <p:cNvSpPr>
            <a:spLocks noChangeArrowheads="1"/>
          </p:cNvSpPr>
          <p:nvPr/>
        </p:nvSpPr>
        <p:spPr bwMode="auto">
          <a:xfrm>
            <a:off x="583248" y="1111814"/>
            <a:ext cx="2195512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66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、参数计算</a:t>
            </a:r>
            <a:endParaRPr lang="zh-CN" altLang="en-US" b="1" dirty="0">
              <a:solidFill>
                <a:srgbClr val="66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10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153" grpId="0" animBg="1"/>
      <p:bldP spid="158" grpId="0" animBg="1"/>
      <p:bldP spid="158" grpId="1" animBg="1"/>
      <p:bldP spid="159" grpId="0" animBg="1"/>
      <p:bldP spid="6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1" name="Object 19"/>
          <p:cNvGraphicFramePr>
            <a:graphicFrameLocks noChangeAspect="1"/>
          </p:cNvGraphicFramePr>
          <p:nvPr/>
        </p:nvGraphicFramePr>
        <p:xfrm>
          <a:off x="4973639" y="2788709"/>
          <a:ext cx="3140075" cy="728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公式" r:id="rId1" imgW="50292000" imgH="10972800" progId="Equation.3">
                  <p:embed/>
                </p:oleObj>
              </mc:Choice>
              <mc:Fallback>
                <p:oleObj name="公式" r:id="rId1" imgW="50292000" imgH="10972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639" y="2788709"/>
                        <a:ext cx="3140075" cy="728486"/>
                      </a:xfrm>
                      <a:prstGeom prst="rect">
                        <a:avLst/>
                      </a:prstGeom>
                      <a:solidFill>
                        <a:srgbClr val="FF9900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1" name="Object 5"/>
          <p:cNvGraphicFramePr>
            <a:graphicFrameLocks noChangeAspect="1"/>
          </p:cNvGraphicFramePr>
          <p:nvPr/>
        </p:nvGraphicFramePr>
        <p:xfrm>
          <a:off x="433145" y="1343120"/>
          <a:ext cx="3096671" cy="33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Visio" r:id="rId3" imgW="1146810" imgH="1115060" progId="Visio.Drawing.11">
                  <p:embed/>
                </p:oleObj>
              </mc:Choice>
              <mc:Fallback>
                <p:oleObj name="Visio" r:id="rId3" imgW="1146810" imgH="111506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45" y="1343120"/>
                        <a:ext cx="3096671" cy="332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4"/>
          <p:cNvGraphicFramePr>
            <a:graphicFrameLocks noChangeAspect="1"/>
          </p:cNvGraphicFramePr>
          <p:nvPr/>
        </p:nvGraphicFramePr>
        <p:xfrm>
          <a:off x="417525" y="1734153"/>
          <a:ext cx="864000" cy="1269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Visio" r:id="rId5" imgW="313055" imgH="400685" progId="Visio.Drawing.11">
                  <p:embed/>
                </p:oleObj>
              </mc:Choice>
              <mc:Fallback>
                <p:oleObj name="Visio" r:id="rId5" imgW="313055" imgH="400685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25" y="1734153"/>
                        <a:ext cx="864000" cy="1269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9"/>
          <p:cNvGrpSpPr/>
          <p:nvPr/>
        </p:nvGrpSpPr>
        <p:grpSpPr>
          <a:xfrm>
            <a:off x="415291" y="803436"/>
            <a:ext cx="4359677" cy="456728"/>
            <a:chOff x="670560" y="892917"/>
            <a:chExt cx="4359677" cy="411055"/>
          </a:xfrm>
        </p:grpSpPr>
        <p:sp>
          <p:nvSpPr>
            <p:cNvPr id="63" name="矩形 62"/>
            <p:cNvSpPr/>
            <p:nvPr/>
          </p:nvSpPr>
          <p:spPr>
            <a:xfrm>
              <a:off x="1035233" y="913778"/>
              <a:ext cx="3995004" cy="3600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构成的占空比可调多谐振荡器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4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6" name="椭圆 65"/>
          <p:cNvSpPr/>
          <p:nvPr/>
        </p:nvSpPr>
        <p:spPr>
          <a:xfrm>
            <a:off x="6953549" y="2802443"/>
            <a:ext cx="478663" cy="378262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948245" y="2487078"/>
            <a:ext cx="1079905" cy="1471168"/>
          </a:xfrm>
          <a:custGeom>
            <a:avLst/>
            <a:gdLst>
              <a:gd name="connsiteX0" fmla="*/ 12192 w 1138732"/>
              <a:gd name="connsiteY0" fmla="*/ 1104595 h 1324051"/>
              <a:gd name="connsiteX1" fmla="*/ 48768 w 1138732"/>
              <a:gd name="connsiteY1" fmla="*/ 190195 h 1324051"/>
              <a:gd name="connsiteX2" fmla="*/ 304800 w 1138732"/>
              <a:gd name="connsiteY2" fmla="*/ 29261 h 1324051"/>
              <a:gd name="connsiteX3" fmla="*/ 824179 w 1138732"/>
              <a:gd name="connsiteY3" fmla="*/ 58521 h 1324051"/>
              <a:gd name="connsiteX4" fmla="*/ 1065580 w 1138732"/>
              <a:gd name="connsiteY4" fmla="*/ 380390 h 1324051"/>
              <a:gd name="connsiteX5" fmla="*/ 1138732 w 1138732"/>
              <a:gd name="connsiteY5" fmla="*/ 1324051 h 13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732" h="1324051">
                <a:moveTo>
                  <a:pt x="12192" y="1104595"/>
                </a:moveTo>
                <a:cubicBezTo>
                  <a:pt x="6096" y="737006"/>
                  <a:pt x="0" y="369417"/>
                  <a:pt x="48768" y="190195"/>
                </a:cubicBezTo>
                <a:cubicBezTo>
                  <a:pt x="97536" y="10973"/>
                  <a:pt x="175565" y="51207"/>
                  <a:pt x="304800" y="29261"/>
                </a:cubicBezTo>
                <a:cubicBezTo>
                  <a:pt x="434035" y="7315"/>
                  <a:pt x="697382" y="0"/>
                  <a:pt x="824179" y="58521"/>
                </a:cubicBezTo>
                <a:cubicBezTo>
                  <a:pt x="950976" y="117042"/>
                  <a:pt x="1013155" y="169468"/>
                  <a:pt x="1065580" y="380390"/>
                </a:cubicBezTo>
                <a:cubicBezTo>
                  <a:pt x="1118005" y="591312"/>
                  <a:pt x="1128368" y="957681"/>
                  <a:pt x="1138732" y="1324051"/>
                </a:cubicBezTo>
              </a:path>
            </a:pathLst>
          </a:cu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109"/>
          <p:cNvGrpSpPr/>
          <p:nvPr/>
        </p:nvGrpSpPr>
        <p:grpSpPr>
          <a:xfrm>
            <a:off x="3497965" y="3799013"/>
            <a:ext cx="4723941" cy="731506"/>
            <a:chOff x="4076245" y="3986797"/>
            <a:chExt cx="4723941" cy="658355"/>
          </a:xfrm>
        </p:grpSpPr>
        <p:sp>
          <p:nvSpPr>
            <p:cNvPr id="106" name="矩形 105"/>
            <p:cNvSpPr/>
            <p:nvPr/>
          </p:nvSpPr>
          <p:spPr>
            <a:xfrm>
              <a:off x="4634919" y="3986797"/>
              <a:ext cx="4165267" cy="6370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改变电路的占空比时，电路的周期和频率是否也随之变化？为什么？</a:t>
              </a:r>
              <a:endPara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09" name="Picture 6" descr="http://img2.imgtn.bdimg.com/it/u=2409490321,577685329&amp;fm=200&amp;gp=0.jpg"/>
            <p:cNvPicPr>
              <a:picLocks noChangeAspect="1" noChangeArrowheads="1"/>
            </p:cNvPicPr>
            <p:nvPr/>
          </p:nvPicPr>
          <p:blipFill>
            <a:blip r:embed="rId8" cstate="print"/>
            <a:srcRect l="11058" t="9628" r="11439" b="12583"/>
            <a:stretch>
              <a:fillRect/>
            </a:stretch>
          </p:blipFill>
          <p:spPr bwMode="auto">
            <a:xfrm>
              <a:off x="4076245" y="4054644"/>
              <a:ext cx="588337" cy="590508"/>
            </a:xfrm>
            <a:prstGeom prst="rect">
              <a:avLst/>
            </a:prstGeom>
            <a:noFill/>
          </p:spPr>
        </p:pic>
      </p:grpSp>
      <p:graphicFrame>
        <p:nvGraphicFramePr>
          <p:cNvPr id="3087" name="Object 15"/>
          <p:cNvGraphicFramePr>
            <a:graphicFrameLocks noChangeAspect="1"/>
          </p:cNvGraphicFramePr>
          <p:nvPr/>
        </p:nvGraphicFramePr>
        <p:xfrm>
          <a:off x="956705" y="2254640"/>
          <a:ext cx="745677" cy="1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Visio" r:id="rId9" imgW="316230" imgH="467995" progId="Visio.Drawing.11">
                  <p:embed/>
                </p:oleObj>
              </mc:Choice>
              <mc:Fallback>
                <p:oleObj name="Visio" r:id="rId9" imgW="316230" imgH="467995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705" y="2254640"/>
                        <a:ext cx="745677" cy="13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8" name="Object 16"/>
          <p:cNvGraphicFramePr>
            <a:graphicFrameLocks noChangeAspect="1"/>
          </p:cNvGraphicFramePr>
          <p:nvPr/>
        </p:nvGraphicFramePr>
        <p:xfrm>
          <a:off x="464599" y="2989604"/>
          <a:ext cx="684000" cy="81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Visio" r:id="rId11" imgW="278130" imgH="313055" progId="Visio.Drawing.11">
                  <p:embed/>
                </p:oleObj>
              </mc:Choice>
              <mc:Fallback>
                <p:oleObj name="Visio" r:id="rId11" imgW="278130" imgH="313055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99" y="2989604"/>
                        <a:ext cx="684000" cy="8186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任意多边形 27"/>
          <p:cNvSpPr/>
          <p:nvPr/>
        </p:nvSpPr>
        <p:spPr>
          <a:xfrm>
            <a:off x="953403" y="1606661"/>
            <a:ext cx="1976144" cy="2109043"/>
          </a:xfrm>
          <a:custGeom>
            <a:avLst/>
            <a:gdLst>
              <a:gd name="connsiteX0" fmla="*/ 1976144 w 1976144"/>
              <a:gd name="connsiteY0" fmla="*/ 40448 h 1898139"/>
              <a:gd name="connsiteX1" fmla="*/ 485369 w 1976144"/>
              <a:gd name="connsiteY1" fmla="*/ 57782 h 1898139"/>
              <a:gd name="connsiteX2" fmla="*/ 195014 w 1976144"/>
              <a:gd name="connsiteY2" fmla="*/ 387140 h 1898139"/>
              <a:gd name="connsiteX3" fmla="*/ 333691 w 1976144"/>
              <a:gd name="connsiteY3" fmla="*/ 629824 h 1898139"/>
              <a:gd name="connsiteX4" fmla="*/ 494036 w 1976144"/>
              <a:gd name="connsiteY4" fmla="*/ 699162 h 1898139"/>
              <a:gd name="connsiteX5" fmla="*/ 520038 w 1976144"/>
              <a:gd name="connsiteY5" fmla="*/ 954848 h 1898139"/>
              <a:gd name="connsiteX6" fmla="*/ 515704 w 1976144"/>
              <a:gd name="connsiteY6" fmla="*/ 1704569 h 1898139"/>
              <a:gd name="connsiteX7" fmla="*/ 442032 w 1976144"/>
              <a:gd name="connsiteY7" fmla="*/ 1869248 h 1898139"/>
              <a:gd name="connsiteX8" fmla="*/ 0 w 1976144"/>
              <a:gd name="connsiteY8" fmla="*/ 1877915 h 1898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6144" h="1898139">
                <a:moveTo>
                  <a:pt x="1976144" y="40448"/>
                </a:moveTo>
                <a:cubicBezTo>
                  <a:pt x="1379184" y="20224"/>
                  <a:pt x="782224" y="0"/>
                  <a:pt x="485369" y="57782"/>
                </a:cubicBezTo>
                <a:cubicBezTo>
                  <a:pt x="188514" y="115564"/>
                  <a:pt x="220294" y="291800"/>
                  <a:pt x="195014" y="387140"/>
                </a:cubicBezTo>
                <a:cubicBezTo>
                  <a:pt x="169734" y="482480"/>
                  <a:pt x="283854" y="577820"/>
                  <a:pt x="333691" y="629824"/>
                </a:cubicBezTo>
                <a:cubicBezTo>
                  <a:pt x="383528" y="681828"/>
                  <a:pt x="462978" y="644991"/>
                  <a:pt x="494036" y="699162"/>
                </a:cubicBezTo>
                <a:cubicBezTo>
                  <a:pt x="525094" y="753333"/>
                  <a:pt x="516427" y="787280"/>
                  <a:pt x="520038" y="954848"/>
                </a:cubicBezTo>
                <a:cubicBezTo>
                  <a:pt x="523649" y="1122416"/>
                  <a:pt x="528705" y="1552169"/>
                  <a:pt x="515704" y="1704569"/>
                </a:cubicBezTo>
                <a:cubicBezTo>
                  <a:pt x="502703" y="1856969"/>
                  <a:pt x="527983" y="1840357"/>
                  <a:pt x="442032" y="1869248"/>
                </a:cubicBezTo>
                <a:cubicBezTo>
                  <a:pt x="356081" y="1898139"/>
                  <a:pt x="178040" y="1888027"/>
                  <a:pt x="0" y="1877915"/>
                </a:cubicBezTo>
              </a:path>
            </a:pathLst>
          </a:custGeom>
          <a:ln w="28575">
            <a:solidFill>
              <a:srgbClr val="FF66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33"/>
          <p:cNvGrpSpPr/>
          <p:nvPr/>
        </p:nvGrpSpPr>
        <p:grpSpPr>
          <a:xfrm>
            <a:off x="4272308" y="1296744"/>
            <a:ext cx="2326931" cy="449910"/>
            <a:chOff x="4272307" y="1167069"/>
            <a:chExt cx="2326931" cy="404919"/>
          </a:xfrm>
        </p:grpSpPr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4272307" y="1167069"/>
              <a:ext cx="877163" cy="40491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4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充电：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89" name="Object 17"/>
            <p:cNvGraphicFramePr>
              <a:graphicFrameLocks noChangeAspect="1"/>
            </p:cNvGraphicFramePr>
            <p:nvPr/>
          </p:nvGraphicFramePr>
          <p:xfrm>
            <a:off x="5041900" y="1236663"/>
            <a:ext cx="1557338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1" name="公式" r:id="rId13" imgW="29565600" imgH="5486400" progId="Equation.3">
                    <p:embed/>
                  </p:oleObj>
                </mc:Choice>
                <mc:Fallback>
                  <p:oleObj name="公式" r:id="rId13" imgW="29565600" imgH="54864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900" y="1236663"/>
                          <a:ext cx="1557338" cy="285750"/>
                        </a:xfrm>
                        <a:prstGeom prst="rect">
                          <a:avLst/>
                        </a:prstGeom>
                        <a:solidFill>
                          <a:srgbClr val="FF00FF">
                            <a:alpha val="18823"/>
                          </a:srgbClr>
                        </a:solidFill>
                        <a:ln w="12700">
                          <a:solidFill>
                            <a:srgbClr val="3366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34"/>
          <p:cNvGrpSpPr/>
          <p:nvPr/>
        </p:nvGrpSpPr>
        <p:grpSpPr>
          <a:xfrm>
            <a:off x="4285631" y="1744057"/>
            <a:ext cx="2316783" cy="449910"/>
            <a:chOff x="4285630" y="1534979"/>
            <a:chExt cx="2316783" cy="404919"/>
          </a:xfrm>
        </p:grpSpPr>
        <p:sp>
          <p:nvSpPr>
            <p:cNvPr id="100" name="Rectangle 14"/>
            <p:cNvSpPr>
              <a:spLocks noChangeArrowheads="1"/>
            </p:cNvSpPr>
            <p:nvPr/>
          </p:nvSpPr>
          <p:spPr bwMode="auto">
            <a:xfrm>
              <a:off x="4285630" y="1534979"/>
              <a:ext cx="877163" cy="40491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4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放电：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90" name="Object 18"/>
            <p:cNvGraphicFramePr>
              <a:graphicFrameLocks noChangeAspect="1"/>
            </p:cNvGraphicFramePr>
            <p:nvPr/>
          </p:nvGraphicFramePr>
          <p:xfrm>
            <a:off x="5029200" y="1621091"/>
            <a:ext cx="1573213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2" name="公式" r:id="rId15" imgW="29870400" imgH="5486400" progId="Equation.3">
                    <p:embed/>
                  </p:oleObj>
                </mc:Choice>
                <mc:Fallback>
                  <p:oleObj name="公式" r:id="rId15" imgW="29870400" imgH="54864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1621091"/>
                          <a:ext cx="1573213" cy="285750"/>
                        </a:xfrm>
                        <a:prstGeom prst="rect">
                          <a:avLst/>
                        </a:prstGeom>
                        <a:solidFill>
                          <a:srgbClr val="FF00FF">
                            <a:alpha val="18823"/>
                          </a:srgbClr>
                        </a:solidFill>
                        <a:ln w="12700">
                          <a:solidFill>
                            <a:srgbClr val="3366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4964562" y="2314862"/>
          <a:ext cx="3103562" cy="35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公式" r:id="rId17" imgW="50596800" imgH="5486400" progId="Equation.3">
                  <p:embed/>
                </p:oleObj>
              </mc:Choice>
              <mc:Fallback>
                <p:oleObj name="公式" r:id="rId17" imgW="50596800" imgH="5486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562" y="2314862"/>
                        <a:ext cx="3103562" cy="358069"/>
                      </a:xfrm>
                      <a:prstGeom prst="rect">
                        <a:avLst/>
                      </a:prstGeom>
                      <a:solidFill>
                        <a:srgbClr val="00FF00">
                          <a:alpha val="18823"/>
                        </a:srgbClr>
                      </a:solidFill>
                      <a:ln w="12700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圆角矩形标注 79"/>
          <p:cNvSpPr/>
          <p:nvPr/>
        </p:nvSpPr>
        <p:spPr>
          <a:xfrm>
            <a:off x="1887187" y="1773416"/>
            <a:ext cx="938739" cy="477661"/>
          </a:xfrm>
          <a:prstGeom prst="wedgeRoundRectCallout">
            <a:avLst>
              <a:gd name="adj1" fmla="val -105495"/>
              <a:gd name="adj2" fmla="val 51470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000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充电</a:t>
            </a:r>
            <a:endParaRPr lang="en-US" altLang="zh-CN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标注 79"/>
          <p:cNvSpPr/>
          <p:nvPr/>
        </p:nvSpPr>
        <p:spPr>
          <a:xfrm>
            <a:off x="2511796" y="2941874"/>
            <a:ext cx="938739" cy="477661"/>
          </a:xfrm>
          <a:prstGeom prst="wedgeRoundRectCallout">
            <a:avLst>
              <a:gd name="adj1" fmla="val -98875"/>
              <a:gd name="adj2" fmla="val 3147"/>
              <a:gd name="adj3" fmla="val 16667"/>
            </a:avLst>
          </a:prstGeom>
          <a:solidFill>
            <a:srgbClr val="FFFF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000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放电电</a:t>
            </a:r>
            <a:endParaRPr lang="en-US" altLang="zh-CN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10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1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0" grpId="0" animBg="1"/>
      <p:bldP spid="28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2"/>
          <p:cNvGrpSpPr/>
          <p:nvPr/>
        </p:nvGrpSpPr>
        <p:grpSpPr>
          <a:xfrm>
            <a:off x="1024908" y="4110174"/>
            <a:ext cx="4959669" cy="1006792"/>
            <a:chOff x="1388745" y="4041467"/>
            <a:chExt cx="4959669" cy="1006792"/>
          </a:xfrm>
        </p:grpSpPr>
        <p:sp>
          <p:nvSpPr>
            <p:cNvPr id="16" name="圆角矩形 15"/>
            <p:cNvSpPr/>
            <p:nvPr/>
          </p:nvSpPr>
          <p:spPr>
            <a:xfrm>
              <a:off x="1551844" y="4041467"/>
              <a:ext cx="4796570" cy="1006792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388745" y="4114802"/>
              <a:ext cx="320588" cy="80429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条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件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组合 104"/>
          <p:cNvGrpSpPr/>
          <p:nvPr/>
        </p:nvGrpSpPr>
        <p:grpSpPr>
          <a:xfrm>
            <a:off x="262892" y="778617"/>
            <a:ext cx="4428606" cy="420971"/>
            <a:chOff x="670560" y="892917"/>
            <a:chExt cx="4428606" cy="420971"/>
          </a:xfrm>
        </p:grpSpPr>
        <p:sp>
          <p:nvSpPr>
            <p:cNvPr id="106" name="矩形 105"/>
            <p:cNvSpPr/>
            <p:nvPr/>
          </p:nvSpPr>
          <p:spPr>
            <a:xfrm>
              <a:off x="1035233" y="913778"/>
              <a:ext cx="40639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</a:t>
              </a:r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CMOS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门电路组成的多谐振荡器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7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13"/>
          <p:cNvGrpSpPr/>
          <p:nvPr/>
        </p:nvGrpSpPr>
        <p:grpSpPr>
          <a:xfrm>
            <a:off x="4860711" y="1255327"/>
            <a:ext cx="3757612" cy="2647951"/>
            <a:chOff x="4100513" y="1437662"/>
            <a:chExt cx="3757612" cy="2647951"/>
          </a:xfrm>
        </p:grpSpPr>
        <p:grpSp>
          <p:nvGrpSpPr>
            <p:cNvPr id="12" name="Group 11"/>
            <p:cNvGrpSpPr/>
            <p:nvPr/>
          </p:nvGrpSpPr>
          <p:grpSpPr bwMode="auto">
            <a:xfrm>
              <a:off x="4140072" y="1437662"/>
              <a:ext cx="3603625" cy="2647951"/>
              <a:chOff x="2933" y="739"/>
              <a:chExt cx="2528" cy="1896"/>
            </a:xfrm>
          </p:grpSpPr>
          <p:graphicFrame>
            <p:nvGraphicFramePr>
              <p:cNvPr id="8" name="Object 8"/>
              <p:cNvGraphicFramePr>
                <a:graphicFrameLocks noChangeAspect="1"/>
              </p:cNvGraphicFramePr>
              <p:nvPr/>
            </p:nvGraphicFramePr>
            <p:xfrm>
              <a:off x="2933" y="739"/>
              <a:ext cx="2528" cy="18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4" name="Visio" r:id="rId2" imgW="3343275" imgH="2266950" progId="Visio.Drawing.11">
                      <p:embed/>
                    </p:oleObj>
                  </mc:Choice>
                  <mc:Fallback>
                    <p:oleObj name="Visio" r:id="rId2" imgW="3343275" imgH="2266950" progId="Visio.Drawing.11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3" y="739"/>
                            <a:ext cx="2528" cy="1896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3169" y="1050"/>
                <a:ext cx="832" cy="1324"/>
              </a:xfrm>
              <a:prstGeom prst="rect">
                <a:avLst/>
              </a:prstGeom>
              <a:solidFill>
                <a:srgbClr val="FF0000">
                  <a:alpha val="28000"/>
                </a:srgbClr>
              </a:solidFill>
              <a:ln w="9525" algn="ctr">
                <a:noFill/>
                <a:miter lim="800000"/>
              </a:ln>
              <a:effectLst/>
            </p:spPr>
            <p:txBody>
              <a:bodyPr wrap="none" lIns="0" rIns="0" anchor="ctr"/>
              <a:lstStyle/>
              <a:p>
                <a:pPr>
                  <a:defRPr/>
                </a:pPr>
                <a:endPara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4315" y="1053"/>
                <a:ext cx="878" cy="1340"/>
              </a:xfrm>
              <a:prstGeom prst="rect">
                <a:avLst/>
              </a:prstGeom>
              <a:solidFill>
                <a:srgbClr val="FF0000">
                  <a:alpha val="25999"/>
                </a:srgbClr>
              </a:solidFill>
              <a:ln w="9525" algn="ctr">
                <a:noFill/>
                <a:miter lim="800000"/>
              </a:ln>
              <a:effectLst/>
            </p:spPr>
            <p:txBody>
              <a:bodyPr wrap="none" lIns="0" rIns="0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3" name="圆角矩形 12"/>
            <p:cNvSpPr/>
            <p:nvPr/>
          </p:nvSpPr>
          <p:spPr>
            <a:xfrm>
              <a:off x="4100513" y="1509713"/>
              <a:ext cx="3757612" cy="2571750"/>
            </a:xfrm>
            <a:prstGeom prst="roundRect">
              <a:avLst>
                <a:gd name="adj" fmla="val 572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1589740" y="4201605"/>
            <a:ext cx="1980000" cy="35052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门电路为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CMOS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门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809079" y="4201605"/>
            <a:ext cx="1980000" cy="35052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阈值电压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=1/2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DD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580215" y="4673092"/>
            <a:ext cx="1980000" cy="35052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输入电流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IH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823367" y="4673092"/>
            <a:ext cx="1980000" cy="35052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OH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DD</a:t>
            </a:r>
            <a:r>
              <a:rPr lang="zh-CN" altLang="en-US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OL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79861" y="1692856"/>
            <a:ext cx="3071813" cy="1924050"/>
            <a:chOff x="1179861" y="1692856"/>
            <a:chExt cx="3071813" cy="1924050"/>
          </a:xfrm>
        </p:grpSpPr>
        <p:grpSp>
          <p:nvGrpSpPr>
            <p:cNvPr id="4" name="组合 11"/>
            <p:cNvGrpSpPr/>
            <p:nvPr/>
          </p:nvGrpSpPr>
          <p:grpSpPr>
            <a:xfrm>
              <a:off x="1179861" y="1692856"/>
              <a:ext cx="3071813" cy="1924050"/>
              <a:chOff x="671512" y="1976438"/>
              <a:chExt cx="3071813" cy="1924050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671512" y="1976438"/>
                <a:ext cx="3071813" cy="1924050"/>
              </a:xfrm>
              <a:prstGeom prst="roundRect">
                <a:avLst>
                  <a:gd name="adj" fmla="val 429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6" name="Object 7"/>
              <p:cNvGraphicFramePr>
                <a:graphicFrameLocks noChangeAspect="1"/>
              </p:cNvGraphicFramePr>
              <p:nvPr/>
            </p:nvGraphicFramePr>
            <p:xfrm>
              <a:off x="715958" y="2161366"/>
              <a:ext cx="2984499" cy="16549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85" name="Visio" r:id="rId4" imgW="1666875" imgH="981075" progId="Visio.Drawing.11">
                      <p:embed/>
                    </p:oleObj>
                  </mc:Choice>
                  <mc:Fallback>
                    <p:oleObj name="Visio" r:id="rId4" imgW="1666875" imgH="981075" progId="Visio.Drawing.11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457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5958" y="2161366"/>
                            <a:ext cx="2984499" cy="16549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99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2294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98968" y="2050044"/>
              <a:ext cx="558000" cy="5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46743" y="2045281"/>
              <a:ext cx="558000" cy="5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矩形 30"/>
            <p:cNvSpPr/>
            <p:nvPr/>
          </p:nvSpPr>
          <p:spPr>
            <a:xfrm>
              <a:off x="2518120" y="2569151"/>
              <a:ext cx="144000" cy="360000"/>
            </a:xfrm>
            <a:prstGeom prst="rect">
              <a:avLst/>
            </a:prstGeom>
            <a:solidFill>
              <a:srgbClr val="66FF66"/>
            </a:solidFill>
            <a:ln w="28575">
              <a:solidFill>
                <a:srgbClr val="CC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35"/>
            <p:cNvGrpSpPr/>
            <p:nvPr/>
          </p:nvGrpSpPr>
          <p:grpSpPr>
            <a:xfrm>
              <a:off x="3142007" y="3059692"/>
              <a:ext cx="71438" cy="288000"/>
              <a:chOff x="2700338" y="3348038"/>
              <a:chExt cx="71438" cy="288000"/>
            </a:xfrm>
          </p:grpSpPr>
          <p:cxnSp>
            <p:nvCxnSpPr>
              <p:cNvPr id="33" name="直接连接符 32"/>
              <p:cNvCxnSpPr/>
              <p:nvPr/>
            </p:nvCxnSpPr>
            <p:spPr>
              <a:xfrm flipH="1">
                <a:off x="2700338" y="3348038"/>
                <a:ext cx="0" cy="288000"/>
              </a:xfrm>
              <a:prstGeom prst="line">
                <a:avLst/>
              </a:prstGeom>
              <a:ln w="3810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H="1">
                <a:off x="2771776" y="3348038"/>
                <a:ext cx="0" cy="288000"/>
              </a:xfrm>
              <a:prstGeom prst="line">
                <a:avLst/>
              </a:prstGeom>
              <a:ln w="3810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2"/>
          <p:cNvGrpSpPr/>
          <p:nvPr/>
        </p:nvGrpSpPr>
        <p:grpSpPr>
          <a:xfrm>
            <a:off x="262892" y="778617"/>
            <a:ext cx="4428606" cy="420971"/>
            <a:chOff x="670560" y="892917"/>
            <a:chExt cx="4428606" cy="420971"/>
          </a:xfrm>
        </p:grpSpPr>
        <p:sp>
          <p:nvSpPr>
            <p:cNvPr id="4" name="矩形 3"/>
            <p:cNvSpPr/>
            <p:nvPr/>
          </p:nvSpPr>
          <p:spPr>
            <a:xfrm>
              <a:off x="1035233" y="913778"/>
              <a:ext cx="40639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</a:t>
              </a:r>
              <a:r>
                <a:rPr lang="en-US" altLang="zh-CN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CMOS</a:t>
              </a:r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门电路组成的多谐振荡器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1" name="组合 10"/>
          <p:cNvGrpSpPr/>
          <p:nvPr/>
        </p:nvGrpSpPr>
        <p:grpSpPr>
          <a:xfrm>
            <a:off x="5154125" y="1215799"/>
            <a:ext cx="3125073" cy="3264009"/>
            <a:chOff x="5496494" y="1244337"/>
            <a:chExt cx="3125073" cy="3264009"/>
          </a:xfrm>
        </p:grpSpPr>
        <p:grpSp>
          <p:nvGrpSpPr>
            <p:cNvPr id="48" name="组合 18"/>
            <p:cNvGrpSpPr/>
            <p:nvPr/>
          </p:nvGrpSpPr>
          <p:grpSpPr>
            <a:xfrm>
              <a:off x="5536023" y="1244337"/>
              <a:ext cx="3052348" cy="3264009"/>
              <a:chOff x="5932624" y="1120596"/>
              <a:chExt cx="3031536" cy="3503087"/>
            </a:xfrm>
          </p:grpSpPr>
          <p:pic>
            <p:nvPicPr>
              <p:cNvPr id="49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135136" y="1120596"/>
                <a:ext cx="2829024" cy="350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0" name="TextBox 11"/>
              <p:cNvSpPr txBox="1"/>
              <p:nvPr/>
            </p:nvSpPr>
            <p:spPr>
              <a:xfrm>
                <a:off x="6033614" y="1137953"/>
                <a:ext cx="132143" cy="23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400" i="1" dirty="0" err="1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400" baseline="-25000" dirty="0" err="1">
                    <a:latin typeface="Bell MT" panose="02020503060305020303" pitchFamily="18" charset="0"/>
                  </a:rPr>
                  <a:t>I</a:t>
                </a:r>
                <a:endParaRPr lang="zh-CN" altLang="en-US" sz="1400" baseline="-25000" dirty="0">
                  <a:latin typeface="Bell MT" panose="02020503060305020303" pitchFamily="18" charset="0"/>
                </a:endParaRPr>
              </a:p>
            </p:txBody>
          </p:sp>
          <p:sp>
            <p:nvSpPr>
              <p:cNvPr id="51" name="TextBox 12"/>
              <p:cNvSpPr txBox="1"/>
              <p:nvPr/>
            </p:nvSpPr>
            <p:spPr>
              <a:xfrm>
                <a:off x="5932624" y="2479205"/>
                <a:ext cx="232442" cy="23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400" baseline="-25000" dirty="0">
                    <a:latin typeface="Bell MT" panose="02020503060305020303" pitchFamily="18" charset="0"/>
                  </a:rPr>
                  <a:t>O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13"/>
              <p:cNvSpPr txBox="1"/>
              <p:nvPr/>
            </p:nvSpPr>
            <p:spPr>
              <a:xfrm>
                <a:off x="5932624" y="3504646"/>
                <a:ext cx="232442" cy="231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ʋ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O2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Box 14"/>
              <p:cNvSpPr txBox="1"/>
              <p:nvPr/>
            </p:nvSpPr>
            <p:spPr>
              <a:xfrm>
                <a:off x="6110753" y="2276717"/>
                <a:ext cx="7694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0</a:t>
                </a:r>
                <a:endParaRPr lang="zh-CN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15"/>
              <p:cNvSpPr txBox="1"/>
              <p:nvPr/>
            </p:nvSpPr>
            <p:spPr>
              <a:xfrm>
                <a:off x="6110753" y="3294873"/>
                <a:ext cx="7694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0</a:t>
                </a:r>
                <a:endParaRPr lang="zh-CN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16"/>
              <p:cNvSpPr txBox="1"/>
              <p:nvPr/>
            </p:nvSpPr>
            <p:spPr>
              <a:xfrm>
                <a:off x="6110753" y="4345791"/>
                <a:ext cx="7694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Microsoft JhengHei UI" panose="020B0604030504040204" pitchFamily="34" charset="-120"/>
                    <a:cs typeface="Times New Roman" panose="02020603050405020304" pitchFamily="18" charset="0"/>
                  </a:rPr>
                  <a:t>0</a:t>
                </a:r>
                <a:endParaRPr lang="zh-CN" alt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>
            <a:xfrm>
              <a:off x="5845171" y="4214192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5846496" y="2808136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任意多边形 56"/>
            <p:cNvSpPr/>
            <p:nvPr/>
          </p:nvSpPr>
          <p:spPr bwMode="auto">
            <a:xfrm>
              <a:off x="5845177" y="2018803"/>
              <a:ext cx="504000" cy="360000"/>
            </a:xfrm>
            <a:custGeom>
              <a:avLst/>
              <a:gdLst>
                <a:gd name="connsiteX0" fmla="*/ 0 w 257175"/>
                <a:gd name="connsiteY0" fmla="*/ 200025 h 200025"/>
                <a:gd name="connsiteX1" fmla="*/ 85725 w 257175"/>
                <a:gd name="connsiteY1" fmla="*/ 66675 h 200025"/>
                <a:gd name="connsiteX2" fmla="*/ 257175 w 257175"/>
                <a:gd name="connsiteY2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75" h="200025">
                  <a:moveTo>
                    <a:pt x="0" y="200025"/>
                  </a:moveTo>
                  <a:cubicBezTo>
                    <a:pt x="21431" y="150018"/>
                    <a:pt x="42863" y="100012"/>
                    <a:pt x="85725" y="66675"/>
                  </a:cubicBezTo>
                  <a:cubicBezTo>
                    <a:pt x="128587" y="33338"/>
                    <a:pt x="192881" y="16669"/>
                    <a:pt x="257175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59" name="直接连接符 58"/>
            <p:cNvCxnSpPr>
              <a:stCxn id="58" idx="2"/>
            </p:cNvCxnSpPr>
            <p:nvPr/>
          </p:nvCxnSpPr>
          <p:spPr>
            <a:xfrm>
              <a:off x="6349177" y="2018803"/>
              <a:ext cx="0" cy="2228029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117"/>
            <p:cNvGrpSpPr/>
            <p:nvPr/>
          </p:nvGrpSpPr>
          <p:grpSpPr>
            <a:xfrm>
              <a:off x="6340889" y="3713259"/>
              <a:ext cx="156787" cy="511098"/>
              <a:chOff x="6541043" y="1965960"/>
              <a:chExt cx="381000" cy="381000"/>
            </a:xfrm>
          </p:grpSpPr>
          <p:cxnSp>
            <p:nvCxnSpPr>
              <p:cNvPr id="61" name="直接连接符 60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组合 117"/>
            <p:cNvGrpSpPr/>
            <p:nvPr/>
          </p:nvGrpSpPr>
          <p:grpSpPr>
            <a:xfrm flipV="1">
              <a:off x="6349502" y="2789474"/>
              <a:ext cx="148174" cy="482488"/>
              <a:chOff x="6541043" y="1965960"/>
              <a:chExt cx="381000" cy="381000"/>
            </a:xfrm>
          </p:grpSpPr>
          <p:cxnSp>
            <p:nvCxnSpPr>
              <p:cNvPr id="64" name="直接连接符 63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9"/>
            <p:cNvGrpSpPr/>
            <p:nvPr/>
          </p:nvGrpSpPr>
          <p:grpSpPr>
            <a:xfrm>
              <a:off x="5496494" y="1855518"/>
              <a:ext cx="3125073" cy="267489"/>
              <a:chOff x="5753947" y="3545494"/>
              <a:chExt cx="3125073" cy="267489"/>
            </a:xfrm>
          </p:grpSpPr>
          <p:grpSp>
            <p:nvGrpSpPr>
              <p:cNvPr id="67" name="组合 88"/>
              <p:cNvGrpSpPr/>
              <p:nvPr/>
            </p:nvGrpSpPr>
            <p:grpSpPr>
              <a:xfrm>
                <a:off x="5753947" y="3545494"/>
                <a:ext cx="2658533" cy="246221"/>
                <a:chOff x="5510107" y="3579614"/>
                <a:chExt cx="2658533" cy="246221"/>
              </a:xfrm>
            </p:grpSpPr>
            <p:cxnSp>
              <p:nvCxnSpPr>
                <p:cNvPr id="69" name="直接连接符 68"/>
                <p:cNvCxnSpPr/>
                <p:nvPr/>
              </p:nvCxnSpPr>
              <p:spPr>
                <a:xfrm>
                  <a:off x="5847069" y="3730740"/>
                  <a:ext cx="2321571" cy="0"/>
                </a:xfrm>
                <a:prstGeom prst="line">
                  <a:avLst/>
                </a:prstGeom>
                <a:ln w="1270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矩形 69"/>
                <p:cNvSpPr/>
                <p:nvPr/>
              </p:nvSpPr>
              <p:spPr>
                <a:xfrm>
                  <a:off x="5510107" y="3579614"/>
                  <a:ext cx="378630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1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</a:t>
                  </a:r>
                  <a:endParaRPr lang="zh-CN" altLang="en-US" sz="1000" dirty="0"/>
                </a:p>
              </p:txBody>
            </p:sp>
          </p:grpSp>
          <p:sp>
            <p:nvSpPr>
              <p:cNvPr id="68" name="矩形 67"/>
              <p:cNvSpPr/>
              <p:nvPr/>
            </p:nvSpPr>
            <p:spPr>
              <a:xfrm>
                <a:off x="8327266" y="3566762"/>
                <a:ext cx="551754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1/2</a:t>
                </a:r>
                <a:r>
                  <a:rPr lang="en-US" altLang="zh-CN" sz="1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0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DD</a:t>
                </a:r>
                <a:endPara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cxnSp>
          <p:nvCxnSpPr>
            <p:cNvPr id="71" name="直接连接符 70"/>
            <p:cNvCxnSpPr/>
            <p:nvPr/>
          </p:nvCxnSpPr>
          <p:spPr>
            <a:xfrm>
              <a:off x="6358363" y="1611131"/>
              <a:ext cx="0" cy="3960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95"/>
            <p:cNvGrpSpPr/>
            <p:nvPr/>
          </p:nvGrpSpPr>
          <p:grpSpPr>
            <a:xfrm>
              <a:off x="5513721" y="1471702"/>
              <a:ext cx="2758050" cy="267489"/>
              <a:chOff x="5753947" y="3545494"/>
              <a:chExt cx="2758050" cy="267489"/>
            </a:xfrm>
          </p:grpSpPr>
          <p:grpSp>
            <p:nvGrpSpPr>
              <p:cNvPr id="73" name="组合 88"/>
              <p:cNvGrpSpPr/>
              <p:nvPr/>
            </p:nvGrpSpPr>
            <p:grpSpPr>
              <a:xfrm>
                <a:off x="5753947" y="3545494"/>
                <a:ext cx="2658533" cy="246221"/>
                <a:chOff x="5510107" y="3579614"/>
                <a:chExt cx="2658533" cy="246221"/>
              </a:xfrm>
            </p:grpSpPr>
            <p:cxnSp>
              <p:nvCxnSpPr>
                <p:cNvPr id="75" name="直接连接符 74"/>
                <p:cNvCxnSpPr/>
                <p:nvPr/>
              </p:nvCxnSpPr>
              <p:spPr>
                <a:xfrm>
                  <a:off x="5847069" y="3730740"/>
                  <a:ext cx="2321571" cy="0"/>
                </a:xfrm>
                <a:prstGeom prst="line">
                  <a:avLst/>
                </a:prstGeom>
                <a:ln w="12700">
                  <a:solidFill>
                    <a:srgbClr val="66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矩形 75"/>
                <p:cNvSpPr/>
                <p:nvPr/>
              </p:nvSpPr>
              <p:spPr>
                <a:xfrm>
                  <a:off x="5510107" y="3579614"/>
                  <a:ext cx="388248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1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DD</a:t>
                  </a:r>
                  <a:endParaRPr lang="zh-CN" altLang="en-US" sz="1000" dirty="0"/>
                </a:p>
              </p:txBody>
            </p:sp>
          </p:grpSp>
          <p:sp>
            <p:nvSpPr>
              <p:cNvPr id="74" name="矩形 73"/>
              <p:cNvSpPr/>
              <p:nvPr/>
            </p:nvSpPr>
            <p:spPr>
              <a:xfrm>
                <a:off x="8327266" y="3566762"/>
                <a:ext cx="184731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77" name="任意多边形 71"/>
            <p:cNvSpPr/>
            <p:nvPr/>
          </p:nvSpPr>
          <p:spPr bwMode="auto">
            <a:xfrm flipV="1">
              <a:off x="6354763" y="1633041"/>
              <a:ext cx="504000" cy="360000"/>
            </a:xfrm>
            <a:custGeom>
              <a:avLst/>
              <a:gdLst>
                <a:gd name="connsiteX0" fmla="*/ 0 w 257175"/>
                <a:gd name="connsiteY0" fmla="*/ 200025 h 200025"/>
                <a:gd name="connsiteX1" fmla="*/ 85725 w 257175"/>
                <a:gd name="connsiteY1" fmla="*/ 66675 h 200025"/>
                <a:gd name="connsiteX2" fmla="*/ 257175 w 257175"/>
                <a:gd name="connsiteY2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75" h="200025">
                  <a:moveTo>
                    <a:pt x="0" y="200025"/>
                  </a:moveTo>
                  <a:cubicBezTo>
                    <a:pt x="21431" y="150018"/>
                    <a:pt x="42863" y="100012"/>
                    <a:pt x="85725" y="66675"/>
                  </a:cubicBezTo>
                  <a:cubicBezTo>
                    <a:pt x="128587" y="33338"/>
                    <a:pt x="192881" y="16669"/>
                    <a:pt x="257175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6346186" y="3723654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6337986" y="3260739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6857354" y="2007705"/>
              <a:ext cx="0" cy="219600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117"/>
            <p:cNvGrpSpPr/>
            <p:nvPr/>
          </p:nvGrpSpPr>
          <p:grpSpPr>
            <a:xfrm flipV="1">
              <a:off x="6852503" y="3713258"/>
              <a:ext cx="180000" cy="511098"/>
              <a:chOff x="6541043" y="1965960"/>
              <a:chExt cx="381000" cy="381000"/>
            </a:xfrm>
          </p:grpSpPr>
          <p:cxnSp>
            <p:nvCxnSpPr>
              <p:cNvPr id="83" name="直接连接符 82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组合 117"/>
            <p:cNvGrpSpPr/>
            <p:nvPr/>
          </p:nvGrpSpPr>
          <p:grpSpPr>
            <a:xfrm>
              <a:off x="6842851" y="2781523"/>
              <a:ext cx="180000" cy="482488"/>
              <a:chOff x="6541043" y="1965960"/>
              <a:chExt cx="381000" cy="381000"/>
            </a:xfrm>
          </p:grpSpPr>
          <p:cxnSp>
            <p:nvCxnSpPr>
              <p:cNvPr id="86" name="直接连接符 85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直接连接符 87"/>
            <p:cNvCxnSpPr/>
            <p:nvPr/>
          </p:nvCxnSpPr>
          <p:spPr>
            <a:xfrm>
              <a:off x="6857473" y="2003561"/>
              <a:ext cx="0" cy="3960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任意多边形 105"/>
            <p:cNvSpPr/>
            <p:nvPr/>
          </p:nvSpPr>
          <p:spPr bwMode="auto">
            <a:xfrm>
              <a:off x="6862447" y="2018803"/>
              <a:ext cx="504000" cy="360000"/>
            </a:xfrm>
            <a:custGeom>
              <a:avLst/>
              <a:gdLst>
                <a:gd name="connsiteX0" fmla="*/ 0 w 257175"/>
                <a:gd name="connsiteY0" fmla="*/ 200025 h 200025"/>
                <a:gd name="connsiteX1" fmla="*/ 85725 w 257175"/>
                <a:gd name="connsiteY1" fmla="*/ 66675 h 200025"/>
                <a:gd name="connsiteX2" fmla="*/ 257175 w 257175"/>
                <a:gd name="connsiteY2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75" h="200025">
                  <a:moveTo>
                    <a:pt x="0" y="200025"/>
                  </a:moveTo>
                  <a:cubicBezTo>
                    <a:pt x="21431" y="150018"/>
                    <a:pt x="42863" y="100012"/>
                    <a:pt x="85725" y="66675"/>
                  </a:cubicBezTo>
                  <a:cubicBezTo>
                    <a:pt x="128587" y="33338"/>
                    <a:pt x="192881" y="16669"/>
                    <a:pt x="257175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7371704" y="1996275"/>
              <a:ext cx="0" cy="219600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6858631" y="4214192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6856146" y="2792896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17"/>
            <p:cNvGrpSpPr/>
            <p:nvPr/>
          </p:nvGrpSpPr>
          <p:grpSpPr>
            <a:xfrm>
              <a:off x="7354349" y="3701829"/>
              <a:ext cx="156787" cy="511098"/>
              <a:chOff x="6541043" y="1965960"/>
              <a:chExt cx="381000" cy="381000"/>
            </a:xfrm>
          </p:grpSpPr>
          <p:cxnSp>
            <p:nvCxnSpPr>
              <p:cNvPr id="94" name="直接连接符 93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组合 117"/>
            <p:cNvGrpSpPr/>
            <p:nvPr/>
          </p:nvGrpSpPr>
          <p:grpSpPr>
            <a:xfrm flipV="1">
              <a:off x="7362962" y="2778044"/>
              <a:ext cx="148174" cy="482488"/>
              <a:chOff x="6541043" y="1965960"/>
              <a:chExt cx="381000" cy="381000"/>
            </a:xfrm>
          </p:grpSpPr>
          <p:cxnSp>
            <p:nvCxnSpPr>
              <p:cNvPr id="97" name="直接连接符 96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9" name="直接连接符 98"/>
            <p:cNvCxnSpPr/>
            <p:nvPr/>
          </p:nvCxnSpPr>
          <p:spPr>
            <a:xfrm>
              <a:off x="7383253" y="1626371"/>
              <a:ext cx="0" cy="3960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任意多边形 127"/>
            <p:cNvSpPr/>
            <p:nvPr/>
          </p:nvSpPr>
          <p:spPr bwMode="auto">
            <a:xfrm flipV="1">
              <a:off x="7379653" y="1648281"/>
              <a:ext cx="504000" cy="360000"/>
            </a:xfrm>
            <a:custGeom>
              <a:avLst/>
              <a:gdLst>
                <a:gd name="connsiteX0" fmla="*/ 0 w 257175"/>
                <a:gd name="connsiteY0" fmla="*/ 200025 h 200025"/>
                <a:gd name="connsiteX1" fmla="*/ 85725 w 257175"/>
                <a:gd name="connsiteY1" fmla="*/ 66675 h 200025"/>
                <a:gd name="connsiteX2" fmla="*/ 257175 w 257175"/>
                <a:gd name="connsiteY2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75" h="200025">
                  <a:moveTo>
                    <a:pt x="0" y="200025"/>
                  </a:moveTo>
                  <a:cubicBezTo>
                    <a:pt x="21431" y="150018"/>
                    <a:pt x="42863" y="100012"/>
                    <a:pt x="85725" y="66675"/>
                  </a:cubicBezTo>
                  <a:cubicBezTo>
                    <a:pt x="128587" y="33338"/>
                    <a:pt x="192881" y="16669"/>
                    <a:pt x="257175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01" name="直接连接符 100"/>
            <p:cNvCxnSpPr/>
            <p:nvPr/>
          </p:nvCxnSpPr>
          <p:spPr>
            <a:xfrm flipH="1">
              <a:off x="7878434" y="2011515"/>
              <a:ext cx="0" cy="219600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7374886" y="3712224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7366686" y="3249309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17"/>
            <p:cNvGrpSpPr/>
            <p:nvPr/>
          </p:nvGrpSpPr>
          <p:grpSpPr>
            <a:xfrm flipV="1">
              <a:off x="7873583" y="3705638"/>
              <a:ext cx="180000" cy="511098"/>
              <a:chOff x="6541043" y="1965960"/>
              <a:chExt cx="381000" cy="381000"/>
            </a:xfrm>
          </p:grpSpPr>
          <p:cxnSp>
            <p:nvCxnSpPr>
              <p:cNvPr id="105" name="直接连接符 104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17"/>
            <p:cNvGrpSpPr/>
            <p:nvPr/>
          </p:nvGrpSpPr>
          <p:grpSpPr>
            <a:xfrm>
              <a:off x="7863931" y="2773903"/>
              <a:ext cx="180000" cy="482488"/>
              <a:chOff x="6541043" y="1965960"/>
              <a:chExt cx="381000" cy="381000"/>
            </a:xfrm>
          </p:grpSpPr>
          <p:cxnSp>
            <p:nvCxnSpPr>
              <p:cNvPr id="108" name="直接连接符 107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10" name="Object 4"/>
          <p:cNvGraphicFramePr>
            <a:graphicFrameLocks noChangeAspect="1"/>
          </p:cNvGraphicFramePr>
          <p:nvPr/>
        </p:nvGraphicFramePr>
        <p:xfrm>
          <a:off x="1090582" y="3487671"/>
          <a:ext cx="149802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公式" r:id="rId3" imgW="35966400" imgH="10363200" progId="Equation.3">
                  <p:embed/>
                </p:oleObj>
              </mc:Choice>
              <mc:Fallback>
                <p:oleObj name="公式" r:id="rId3" imgW="35966400" imgH="1036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582" y="3487671"/>
                        <a:ext cx="1498020" cy="432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6"/>
          <p:cNvGraphicFramePr>
            <a:graphicFrameLocks noChangeAspect="1"/>
          </p:cNvGraphicFramePr>
          <p:nvPr/>
        </p:nvGraphicFramePr>
        <p:xfrm>
          <a:off x="2604168" y="3487975"/>
          <a:ext cx="178943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公式" r:id="rId5" imgW="46024800" imgH="10363200" progId="Equation.3">
                  <p:embed/>
                </p:oleObj>
              </mc:Choice>
              <mc:Fallback>
                <p:oleObj name="公式" r:id="rId5" imgW="46024800" imgH="1036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168" y="3487975"/>
                        <a:ext cx="1789430" cy="432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7"/>
          <p:cNvGraphicFramePr>
            <a:graphicFrameLocks noChangeAspect="1"/>
          </p:cNvGraphicFramePr>
          <p:nvPr/>
        </p:nvGraphicFramePr>
        <p:xfrm>
          <a:off x="2611379" y="3947215"/>
          <a:ext cx="176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公式" r:id="rId7" imgW="42367200" imgH="10363200" progId="Equation.3">
                  <p:embed/>
                </p:oleObj>
              </mc:Choice>
              <mc:Fallback>
                <p:oleObj name="公式" r:id="rId7" imgW="42367200" imgH="1036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379" y="3947215"/>
                        <a:ext cx="17653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5"/>
          <p:cNvGraphicFramePr>
            <a:graphicFrameLocks noChangeAspect="1"/>
          </p:cNvGraphicFramePr>
          <p:nvPr/>
        </p:nvGraphicFramePr>
        <p:xfrm>
          <a:off x="1073807" y="3952040"/>
          <a:ext cx="1522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公式" r:id="rId9" imgW="36576000" imgH="10363200" progId="Equation.3">
                  <p:embed/>
                </p:oleObj>
              </mc:Choice>
              <mc:Fallback>
                <p:oleObj name="公式" r:id="rId9" imgW="36576000" imgH="1036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807" y="3952040"/>
                        <a:ext cx="1522413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8"/>
          <p:cNvGraphicFramePr>
            <a:graphicFrameLocks noChangeAspect="1"/>
          </p:cNvGraphicFramePr>
          <p:nvPr/>
        </p:nvGraphicFramePr>
        <p:xfrm>
          <a:off x="1096352" y="4624054"/>
          <a:ext cx="1492250" cy="23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公式" r:id="rId11" imgW="32613600" imgH="5181600" progId="Equation.3">
                  <p:embed/>
                </p:oleObj>
              </mc:Choice>
              <mc:Fallback>
                <p:oleObj name="公式" r:id="rId11" imgW="32613600" imgH="5181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352" y="4624054"/>
                        <a:ext cx="1492250" cy="237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0"/>
          <p:cNvGraphicFramePr>
            <a:graphicFrameLocks noChangeAspect="1"/>
          </p:cNvGraphicFramePr>
          <p:nvPr/>
        </p:nvGraphicFramePr>
        <p:xfrm>
          <a:off x="2740994" y="4527491"/>
          <a:ext cx="16684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公式" r:id="rId13" imgW="36576000" imgH="9448800" progId="Equation.3">
                  <p:embed/>
                </p:oleObj>
              </mc:Choice>
              <mc:Fallback>
                <p:oleObj name="公式" r:id="rId13" imgW="36576000" imgH="9448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994" y="4527491"/>
                        <a:ext cx="1668462" cy="4302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" name="组合 125"/>
          <p:cNvGrpSpPr/>
          <p:nvPr/>
        </p:nvGrpSpPr>
        <p:grpSpPr>
          <a:xfrm>
            <a:off x="1190596" y="1401141"/>
            <a:ext cx="3071813" cy="1924050"/>
            <a:chOff x="1179861" y="1692856"/>
            <a:chExt cx="3071813" cy="1924050"/>
          </a:xfrm>
        </p:grpSpPr>
        <p:grpSp>
          <p:nvGrpSpPr>
            <p:cNvPr id="127" name="组合 11"/>
            <p:cNvGrpSpPr/>
            <p:nvPr/>
          </p:nvGrpSpPr>
          <p:grpSpPr>
            <a:xfrm>
              <a:off x="1179861" y="1692856"/>
              <a:ext cx="3071813" cy="1924050"/>
              <a:chOff x="671512" y="1976438"/>
              <a:chExt cx="3071813" cy="1924050"/>
            </a:xfrm>
          </p:grpSpPr>
          <p:sp>
            <p:nvSpPr>
              <p:cNvPr id="134" name="圆角矩形 10"/>
              <p:cNvSpPr/>
              <p:nvPr/>
            </p:nvSpPr>
            <p:spPr>
              <a:xfrm>
                <a:off x="671512" y="1976438"/>
                <a:ext cx="3071813" cy="1924050"/>
              </a:xfrm>
              <a:prstGeom prst="roundRect">
                <a:avLst>
                  <a:gd name="adj" fmla="val 429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35" name="Object 7"/>
              <p:cNvGraphicFramePr>
                <a:graphicFrameLocks noChangeAspect="1"/>
              </p:cNvGraphicFramePr>
              <p:nvPr/>
            </p:nvGraphicFramePr>
            <p:xfrm>
              <a:off x="715958" y="2161366"/>
              <a:ext cx="2984499" cy="16549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19" name="Visio" r:id="rId15" imgW="1666875" imgH="981075" progId="Visio.Drawing.11">
                      <p:embed/>
                    </p:oleObj>
                  </mc:Choice>
                  <mc:Fallback>
                    <p:oleObj name="Visio" r:id="rId15" imgW="1666875" imgH="981075" progId="Visio.Drawing.11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457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5958" y="2161366"/>
                            <a:ext cx="2984499" cy="16549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99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28" name="Picture 6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1698968" y="2050044"/>
              <a:ext cx="558000" cy="5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9" name="Picture 6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2946743" y="2045281"/>
              <a:ext cx="558000" cy="5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矩形 129"/>
            <p:cNvSpPr/>
            <p:nvPr/>
          </p:nvSpPr>
          <p:spPr>
            <a:xfrm>
              <a:off x="2518120" y="2569151"/>
              <a:ext cx="144000" cy="360000"/>
            </a:xfrm>
            <a:prstGeom prst="rect">
              <a:avLst/>
            </a:prstGeom>
            <a:solidFill>
              <a:srgbClr val="66FF66"/>
            </a:solidFill>
            <a:ln w="28575">
              <a:solidFill>
                <a:srgbClr val="CC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1" name="组合 35"/>
            <p:cNvGrpSpPr/>
            <p:nvPr/>
          </p:nvGrpSpPr>
          <p:grpSpPr>
            <a:xfrm>
              <a:off x="3142007" y="3059692"/>
              <a:ext cx="71438" cy="288000"/>
              <a:chOff x="2700338" y="3348038"/>
              <a:chExt cx="71438" cy="288000"/>
            </a:xfrm>
          </p:grpSpPr>
          <p:cxnSp>
            <p:nvCxnSpPr>
              <p:cNvPr id="132" name="直接连接符 131"/>
              <p:cNvCxnSpPr/>
              <p:nvPr/>
            </p:nvCxnSpPr>
            <p:spPr>
              <a:xfrm flipH="1">
                <a:off x="2700338" y="3348038"/>
                <a:ext cx="0" cy="288000"/>
              </a:xfrm>
              <a:prstGeom prst="line">
                <a:avLst/>
              </a:prstGeom>
              <a:ln w="3810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 flipH="1">
                <a:off x="2771776" y="3348038"/>
                <a:ext cx="0" cy="288000"/>
              </a:xfrm>
              <a:prstGeom prst="line">
                <a:avLst/>
              </a:prstGeom>
              <a:ln w="38100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1"/>
          <p:cNvGrpSpPr/>
          <p:nvPr/>
        </p:nvGrpSpPr>
        <p:grpSpPr>
          <a:xfrm>
            <a:off x="821687" y="1291590"/>
            <a:ext cx="2519684" cy="3368039"/>
            <a:chOff x="821687" y="1291590"/>
            <a:chExt cx="2519684" cy="3368039"/>
          </a:xfrm>
        </p:grpSpPr>
        <p:sp>
          <p:nvSpPr>
            <p:cNvPr id="47" name="圆角矩形 46"/>
            <p:cNvSpPr/>
            <p:nvPr/>
          </p:nvSpPr>
          <p:spPr>
            <a:xfrm>
              <a:off x="821687" y="1291590"/>
              <a:ext cx="2519684" cy="3368039"/>
            </a:xfrm>
            <a:prstGeom prst="roundRect">
              <a:avLst>
                <a:gd name="adj" fmla="val 672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295" name="Picture 7"/>
            <p:cNvPicPr>
              <a:picLocks noChangeAspect="1" noChangeArrowheads="1"/>
            </p:cNvPicPr>
            <p:nvPr/>
          </p:nvPicPr>
          <p:blipFill>
            <a:blip r:embed="rId1" cstate="print"/>
            <a:srcRect t="5267"/>
            <a:stretch>
              <a:fillRect/>
            </a:stretch>
          </p:blipFill>
          <p:spPr bwMode="auto">
            <a:xfrm>
              <a:off x="962495" y="1362001"/>
              <a:ext cx="2204238" cy="1618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104"/>
          <p:cNvGrpSpPr/>
          <p:nvPr/>
        </p:nvGrpSpPr>
        <p:grpSpPr>
          <a:xfrm>
            <a:off x="262892" y="679557"/>
            <a:ext cx="4396546" cy="420971"/>
            <a:chOff x="670560" y="892917"/>
            <a:chExt cx="4396546" cy="420971"/>
          </a:xfrm>
        </p:grpSpPr>
        <p:sp>
          <p:nvSpPr>
            <p:cNvPr id="106" name="矩形 105"/>
            <p:cNvSpPr/>
            <p:nvPr/>
          </p:nvSpPr>
          <p:spPr>
            <a:xfrm>
              <a:off x="1035233" y="913778"/>
              <a:ext cx="403187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由施密特触发器组成的多谐振荡器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120"/>
          <p:cNvGrpSpPr/>
          <p:nvPr/>
        </p:nvGrpSpPr>
        <p:grpSpPr>
          <a:xfrm>
            <a:off x="1080873" y="3091005"/>
            <a:ext cx="2021117" cy="1453617"/>
            <a:chOff x="1080873" y="3091005"/>
            <a:chExt cx="2021117" cy="1453617"/>
          </a:xfrm>
        </p:grpSpPr>
        <p:pic>
          <p:nvPicPr>
            <p:cNvPr id="48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8533" y="3091005"/>
              <a:ext cx="1823457" cy="1453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9" name="直接连接符 48"/>
            <p:cNvCxnSpPr/>
            <p:nvPr/>
          </p:nvCxnSpPr>
          <p:spPr>
            <a:xfrm flipV="1">
              <a:off x="1510954" y="4240394"/>
              <a:ext cx="1076066" cy="9126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 flipV="1">
              <a:off x="2408315" y="3466892"/>
              <a:ext cx="0" cy="782781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 flipV="1">
              <a:off x="1873128" y="3474563"/>
              <a:ext cx="0" cy="782781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16200000" flipH="1" flipV="1">
              <a:off x="1972961" y="3030683"/>
              <a:ext cx="0" cy="895791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 flipV="1">
              <a:off x="2324667" y="3801600"/>
              <a:ext cx="0" cy="895791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254640" y="4277836"/>
              <a:ext cx="442225" cy="244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T+</a:t>
              </a:r>
              <a:endParaRPr lang="zh-CN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746197" y="4277836"/>
              <a:ext cx="406464" cy="244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endParaRPr lang="zh-CN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86464" y="4035934"/>
              <a:ext cx="466204" cy="244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</a:t>
              </a:r>
              <a:endParaRPr lang="zh-CN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80873" y="3351681"/>
              <a:ext cx="478192" cy="244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1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OH</a:t>
              </a:r>
              <a:endParaRPr lang="zh-CN" altLang="en-US" sz="1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68"/>
          <p:cNvGrpSpPr/>
          <p:nvPr/>
        </p:nvGrpSpPr>
        <p:grpSpPr>
          <a:xfrm>
            <a:off x="3563935" y="1162050"/>
            <a:ext cx="3277843" cy="2457450"/>
            <a:chOff x="3844952" y="1162050"/>
            <a:chExt cx="3277843" cy="2457450"/>
          </a:xfrm>
        </p:grpSpPr>
        <p:grpSp>
          <p:nvGrpSpPr>
            <p:cNvPr id="6" name="组合 61"/>
            <p:cNvGrpSpPr/>
            <p:nvPr/>
          </p:nvGrpSpPr>
          <p:grpSpPr>
            <a:xfrm>
              <a:off x="3874770" y="1162050"/>
              <a:ext cx="3248025" cy="2457450"/>
              <a:chOff x="3478530" y="1169670"/>
              <a:chExt cx="3248025" cy="2457450"/>
            </a:xfrm>
          </p:grpSpPr>
          <p:pic>
            <p:nvPicPr>
              <p:cNvPr id="12296" name="Picture 8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621405" y="1264920"/>
                <a:ext cx="3105150" cy="2362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3478530" y="1169670"/>
                <a:ext cx="37382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 err="1">
                    <a:latin typeface="Bell MT" panose="02020503060305020303" pitchFamily="18" charset="0"/>
                  </a:rPr>
                  <a:t>v</a:t>
                </a:r>
                <a:r>
                  <a:rPr lang="en-US" altLang="zh-CN" baseline="-25000" dirty="0" err="1">
                    <a:latin typeface="Bell MT" panose="02020503060305020303" pitchFamily="18" charset="0"/>
                  </a:rPr>
                  <a:t>I</a:t>
                </a:r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endParaRPr lang="en-US" altLang="zh-CN" baseline="-25000" dirty="0">
                  <a:latin typeface="Bell MT" panose="02020503060305020303" pitchFamily="18" charset="0"/>
                </a:endParaRPr>
              </a:p>
              <a:p>
                <a:r>
                  <a:rPr lang="en-US" altLang="zh-CN" i="1" dirty="0" err="1">
                    <a:latin typeface="Bell MT" panose="02020503060305020303" pitchFamily="18" charset="0"/>
                  </a:rPr>
                  <a:t>v</a:t>
                </a:r>
                <a:r>
                  <a:rPr lang="en-US" altLang="zh-CN" sz="1400" baseline="-25000" dirty="0" err="1">
                    <a:latin typeface="Bell MT" panose="02020503060305020303" pitchFamily="18" charset="0"/>
                  </a:rPr>
                  <a:t>O</a:t>
                </a:r>
                <a:endParaRPr lang="zh-CN" altLang="en-US" sz="1400" baseline="-25000" dirty="0">
                  <a:latin typeface="Bell MT" panose="02020503060305020303" pitchFamily="18" charset="0"/>
                </a:endParaRPr>
              </a:p>
            </p:txBody>
          </p:sp>
        </p:grpSp>
        <p:grpSp>
          <p:nvGrpSpPr>
            <p:cNvPr id="7" name="组合 62"/>
            <p:cNvGrpSpPr/>
            <p:nvPr/>
          </p:nvGrpSpPr>
          <p:grpSpPr>
            <a:xfrm>
              <a:off x="3844952" y="1522188"/>
              <a:ext cx="3008006" cy="307777"/>
              <a:chOff x="5959506" y="1430826"/>
              <a:chExt cx="3008006" cy="307777"/>
            </a:xfrm>
          </p:grpSpPr>
          <p:cxnSp>
            <p:nvCxnSpPr>
              <p:cNvPr id="64" name="直接连接符 63"/>
              <p:cNvCxnSpPr/>
              <p:nvPr/>
            </p:nvCxnSpPr>
            <p:spPr>
              <a:xfrm flipV="1">
                <a:off x="6375512" y="1590450"/>
                <a:ext cx="2592000" cy="0"/>
              </a:xfrm>
              <a:prstGeom prst="line">
                <a:avLst/>
              </a:prstGeom>
              <a:ln w="19050">
                <a:solidFill>
                  <a:srgbClr val="CC00CC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5959506" y="1430826"/>
                <a:ext cx="434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T+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组合 65"/>
            <p:cNvGrpSpPr/>
            <p:nvPr/>
          </p:nvGrpSpPr>
          <p:grpSpPr>
            <a:xfrm>
              <a:off x="3852747" y="1888498"/>
              <a:ext cx="2989541" cy="307777"/>
              <a:chOff x="5988084" y="1397485"/>
              <a:chExt cx="2368648" cy="307777"/>
            </a:xfrm>
          </p:grpSpPr>
          <p:cxnSp>
            <p:nvCxnSpPr>
              <p:cNvPr id="67" name="直接连接符 66"/>
              <p:cNvCxnSpPr/>
              <p:nvPr/>
            </p:nvCxnSpPr>
            <p:spPr>
              <a:xfrm flipV="1">
                <a:off x="6303060" y="1580485"/>
                <a:ext cx="2053672" cy="0"/>
              </a:xfrm>
              <a:prstGeom prst="line">
                <a:avLst/>
              </a:prstGeom>
              <a:ln w="19050">
                <a:solidFill>
                  <a:srgbClr val="6600F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/>
              <p:cNvSpPr txBox="1"/>
              <p:nvPr/>
            </p:nvSpPr>
            <p:spPr>
              <a:xfrm>
                <a:off x="5988084" y="1397485"/>
                <a:ext cx="3965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endParaRPr lang="zh-CN" alt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2" name="任意多边形 71"/>
          <p:cNvSpPr/>
          <p:nvPr/>
        </p:nvSpPr>
        <p:spPr bwMode="auto">
          <a:xfrm>
            <a:off x="3947095" y="1684020"/>
            <a:ext cx="896337" cy="736693"/>
          </a:xfrm>
          <a:custGeom>
            <a:avLst/>
            <a:gdLst>
              <a:gd name="connsiteX0" fmla="*/ 0 w 257175"/>
              <a:gd name="connsiteY0" fmla="*/ 200025 h 200025"/>
              <a:gd name="connsiteX1" fmla="*/ 85725 w 257175"/>
              <a:gd name="connsiteY1" fmla="*/ 66675 h 200025"/>
              <a:gd name="connsiteX2" fmla="*/ 257175 w 257175"/>
              <a:gd name="connsiteY2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75" h="200025">
                <a:moveTo>
                  <a:pt x="0" y="200025"/>
                </a:moveTo>
                <a:cubicBezTo>
                  <a:pt x="21431" y="150018"/>
                  <a:pt x="42863" y="100012"/>
                  <a:pt x="85725" y="66675"/>
                </a:cubicBezTo>
                <a:cubicBezTo>
                  <a:pt x="128587" y="33338"/>
                  <a:pt x="192881" y="16669"/>
                  <a:pt x="257175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0" name="直接连接符 79"/>
          <p:cNvCxnSpPr/>
          <p:nvPr/>
        </p:nvCxnSpPr>
        <p:spPr>
          <a:xfrm flipV="1">
            <a:off x="3925223" y="2872740"/>
            <a:ext cx="50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4847746" y="1676909"/>
            <a:ext cx="0" cy="16920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任意多边形 92"/>
          <p:cNvSpPr/>
          <p:nvPr/>
        </p:nvSpPr>
        <p:spPr bwMode="auto">
          <a:xfrm flipV="1">
            <a:off x="4845301" y="1694000"/>
            <a:ext cx="661072" cy="382449"/>
          </a:xfrm>
          <a:custGeom>
            <a:avLst/>
            <a:gdLst>
              <a:gd name="connsiteX0" fmla="*/ 0 w 257175"/>
              <a:gd name="connsiteY0" fmla="*/ 200025 h 200025"/>
              <a:gd name="connsiteX1" fmla="*/ 85725 w 257175"/>
              <a:gd name="connsiteY1" fmla="*/ 66675 h 200025"/>
              <a:gd name="connsiteX2" fmla="*/ 257175 w 257175"/>
              <a:gd name="connsiteY2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75" h="200025">
                <a:moveTo>
                  <a:pt x="0" y="200025"/>
                </a:moveTo>
                <a:cubicBezTo>
                  <a:pt x="21431" y="150018"/>
                  <a:pt x="42863" y="100012"/>
                  <a:pt x="85725" y="66675"/>
                </a:cubicBezTo>
                <a:cubicBezTo>
                  <a:pt x="128587" y="33338"/>
                  <a:pt x="192881" y="16669"/>
                  <a:pt x="257175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5514496" y="2080769"/>
            <a:ext cx="0" cy="12240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1"/>
          <p:cNvGrpSpPr/>
          <p:nvPr/>
        </p:nvGrpSpPr>
        <p:grpSpPr>
          <a:xfrm>
            <a:off x="5163473" y="2878869"/>
            <a:ext cx="542842" cy="432000"/>
            <a:chOff x="5444490" y="2878869"/>
            <a:chExt cx="542842" cy="432000"/>
          </a:xfrm>
        </p:grpSpPr>
        <p:cxnSp>
          <p:nvCxnSpPr>
            <p:cNvPr id="96" name="直接连接符 95"/>
            <p:cNvCxnSpPr/>
            <p:nvPr/>
          </p:nvCxnSpPr>
          <p:spPr>
            <a:xfrm flipV="1">
              <a:off x="5444490" y="3303270"/>
              <a:ext cx="360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117"/>
            <p:cNvGrpSpPr/>
            <p:nvPr/>
          </p:nvGrpSpPr>
          <p:grpSpPr>
            <a:xfrm>
              <a:off x="5800149" y="2878869"/>
              <a:ext cx="187183" cy="432000"/>
              <a:chOff x="6541043" y="1965960"/>
              <a:chExt cx="381000" cy="381000"/>
            </a:xfrm>
          </p:grpSpPr>
          <p:cxnSp>
            <p:nvCxnSpPr>
              <p:cNvPr id="98" name="直接连接符 97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6541043" y="1973580"/>
                <a:ext cx="381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组合 100"/>
          <p:cNvGrpSpPr/>
          <p:nvPr/>
        </p:nvGrpSpPr>
        <p:grpSpPr>
          <a:xfrm>
            <a:off x="4363381" y="2865674"/>
            <a:ext cx="837888" cy="445216"/>
            <a:chOff x="4644390" y="2865674"/>
            <a:chExt cx="840737" cy="445216"/>
          </a:xfrm>
        </p:grpSpPr>
        <p:grpSp>
          <p:nvGrpSpPr>
            <p:cNvPr id="12" name="组合 117"/>
            <p:cNvGrpSpPr/>
            <p:nvPr/>
          </p:nvGrpSpPr>
          <p:grpSpPr>
            <a:xfrm flipV="1">
              <a:off x="5123903" y="2865674"/>
              <a:ext cx="361224" cy="445216"/>
              <a:chOff x="6541034" y="1965960"/>
              <a:chExt cx="672044" cy="381000"/>
            </a:xfrm>
          </p:grpSpPr>
          <p:cxnSp>
            <p:nvCxnSpPr>
              <p:cNvPr id="89" name="直接连接符 88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6541034" y="1973580"/>
                <a:ext cx="672044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4644390" y="2872740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任意多边形 102"/>
          <p:cNvSpPr/>
          <p:nvPr/>
        </p:nvSpPr>
        <p:spPr bwMode="auto">
          <a:xfrm>
            <a:off x="5515861" y="1701620"/>
            <a:ext cx="661072" cy="382449"/>
          </a:xfrm>
          <a:custGeom>
            <a:avLst/>
            <a:gdLst>
              <a:gd name="connsiteX0" fmla="*/ 0 w 257175"/>
              <a:gd name="connsiteY0" fmla="*/ 200025 h 200025"/>
              <a:gd name="connsiteX1" fmla="*/ 85725 w 257175"/>
              <a:gd name="connsiteY1" fmla="*/ 66675 h 200025"/>
              <a:gd name="connsiteX2" fmla="*/ 257175 w 257175"/>
              <a:gd name="connsiteY2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75" h="200025">
                <a:moveTo>
                  <a:pt x="0" y="200025"/>
                </a:moveTo>
                <a:cubicBezTo>
                  <a:pt x="21431" y="150018"/>
                  <a:pt x="42863" y="100012"/>
                  <a:pt x="85725" y="66675"/>
                </a:cubicBezTo>
                <a:cubicBezTo>
                  <a:pt x="128587" y="33338"/>
                  <a:pt x="192881" y="16669"/>
                  <a:pt x="257175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0" name="直接连接符 109"/>
          <p:cNvCxnSpPr/>
          <p:nvPr/>
        </p:nvCxnSpPr>
        <p:spPr>
          <a:xfrm flipH="1">
            <a:off x="6176933" y="1707389"/>
            <a:ext cx="8123" cy="1458721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11"/>
          <p:cNvGrpSpPr/>
          <p:nvPr/>
        </p:nvGrpSpPr>
        <p:grpSpPr>
          <a:xfrm>
            <a:off x="5696881" y="2880914"/>
            <a:ext cx="837888" cy="445216"/>
            <a:chOff x="4644390" y="2865674"/>
            <a:chExt cx="840737" cy="445216"/>
          </a:xfrm>
        </p:grpSpPr>
        <p:grpSp>
          <p:nvGrpSpPr>
            <p:cNvPr id="14" name="组合 117"/>
            <p:cNvGrpSpPr/>
            <p:nvPr/>
          </p:nvGrpSpPr>
          <p:grpSpPr>
            <a:xfrm flipV="1">
              <a:off x="5123903" y="2865674"/>
              <a:ext cx="361224" cy="445216"/>
              <a:chOff x="6541034" y="1965960"/>
              <a:chExt cx="672044" cy="381000"/>
            </a:xfrm>
          </p:grpSpPr>
          <p:cxnSp>
            <p:nvCxnSpPr>
              <p:cNvPr id="115" name="直接连接符 114"/>
              <p:cNvCxnSpPr/>
              <p:nvPr/>
            </p:nvCxnSpPr>
            <p:spPr>
              <a:xfrm flipH="1" flipV="1">
                <a:off x="6546376" y="1965960"/>
                <a:ext cx="0" cy="381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6541034" y="1973580"/>
                <a:ext cx="672044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直接连接符 113"/>
            <p:cNvCxnSpPr/>
            <p:nvPr/>
          </p:nvCxnSpPr>
          <p:spPr>
            <a:xfrm flipV="1">
              <a:off x="4644390" y="2872740"/>
              <a:ext cx="50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18"/>
          <p:cNvGrpSpPr/>
          <p:nvPr/>
        </p:nvGrpSpPr>
        <p:grpSpPr>
          <a:xfrm>
            <a:off x="6186421" y="1638300"/>
            <a:ext cx="737272" cy="461010"/>
            <a:chOff x="6467438" y="1638300"/>
            <a:chExt cx="737272" cy="461010"/>
          </a:xfrm>
        </p:grpSpPr>
        <p:sp>
          <p:nvSpPr>
            <p:cNvPr id="117" name="任意多边形 116"/>
            <p:cNvSpPr/>
            <p:nvPr/>
          </p:nvSpPr>
          <p:spPr bwMode="auto">
            <a:xfrm flipV="1">
              <a:off x="6467438" y="1682570"/>
              <a:ext cx="661072" cy="382449"/>
            </a:xfrm>
            <a:custGeom>
              <a:avLst/>
              <a:gdLst>
                <a:gd name="connsiteX0" fmla="*/ 0 w 257175"/>
                <a:gd name="connsiteY0" fmla="*/ 200025 h 200025"/>
                <a:gd name="connsiteX1" fmla="*/ 85725 w 257175"/>
                <a:gd name="connsiteY1" fmla="*/ 66675 h 200025"/>
                <a:gd name="connsiteX2" fmla="*/ 257175 w 257175"/>
                <a:gd name="connsiteY2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75" h="200025">
                  <a:moveTo>
                    <a:pt x="0" y="200025"/>
                  </a:moveTo>
                  <a:cubicBezTo>
                    <a:pt x="21431" y="150018"/>
                    <a:pt x="42863" y="100012"/>
                    <a:pt x="85725" y="66675"/>
                  </a:cubicBezTo>
                  <a:cubicBezTo>
                    <a:pt x="128587" y="33338"/>
                    <a:pt x="192881" y="16669"/>
                    <a:pt x="257175" y="0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6842760" y="1638300"/>
              <a:ext cx="361950" cy="4610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28"/>
          <p:cNvGrpSpPr/>
          <p:nvPr/>
        </p:nvGrpSpPr>
        <p:grpSpPr>
          <a:xfrm>
            <a:off x="5529233" y="2865120"/>
            <a:ext cx="651510" cy="308610"/>
            <a:chOff x="6606540" y="3710940"/>
            <a:chExt cx="504000" cy="308610"/>
          </a:xfrm>
        </p:grpSpPr>
        <p:cxnSp>
          <p:nvCxnSpPr>
            <p:cNvPr id="130" name="直接箭头连接符 129"/>
            <p:cNvCxnSpPr/>
            <p:nvPr/>
          </p:nvCxnSpPr>
          <p:spPr>
            <a:xfrm>
              <a:off x="6606540" y="4019550"/>
              <a:ext cx="504000" cy="0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6614160" y="3710940"/>
              <a:ext cx="4686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</a:t>
              </a:r>
              <a:endParaRPr lang="zh-CN" alt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31"/>
          <p:cNvGrpSpPr/>
          <p:nvPr/>
        </p:nvGrpSpPr>
        <p:grpSpPr>
          <a:xfrm>
            <a:off x="4854863" y="2868930"/>
            <a:ext cx="666750" cy="308610"/>
            <a:chOff x="6606540" y="3710940"/>
            <a:chExt cx="504000" cy="308610"/>
          </a:xfrm>
        </p:grpSpPr>
        <p:cxnSp>
          <p:nvCxnSpPr>
            <p:cNvPr id="133" name="直接箭头连接符 132"/>
            <p:cNvCxnSpPr/>
            <p:nvPr/>
          </p:nvCxnSpPr>
          <p:spPr>
            <a:xfrm>
              <a:off x="6606540" y="4019550"/>
              <a:ext cx="504000" cy="0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6614160" y="3710940"/>
              <a:ext cx="4686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</a:t>
              </a:r>
              <a:endParaRPr lang="zh-CN" alt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34"/>
          <p:cNvGrpSpPr/>
          <p:nvPr/>
        </p:nvGrpSpPr>
        <p:grpSpPr>
          <a:xfrm>
            <a:off x="4858673" y="3398520"/>
            <a:ext cx="1299210" cy="395407"/>
            <a:chOff x="6595110" y="4320540"/>
            <a:chExt cx="1024890" cy="395407"/>
          </a:xfrm>
        </p:grpSpPr>
        <p:cxnSp>
          <p:nvCxnSpPr>
            <p:cNvPr id="136" name="直接箭头连接符 135"/>
            <p:cNvCxnSpPr/>
            <p:nvPr/>
          </p:nvCxnSpPr>
          <p:spPr>
            <a:xfrm>
              <a:off x="6610350" y="4446270"/>
              <a:ext cx="1008000" cy="0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6895275" y="4408170"/>
              <a:ext cx="4686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>
              <a:off x="6595110" y="4320540"/>
              <a:ext cx="0" cy="252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620000" y="4320540"/>
              <a:ext cx="0" cy="252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6954519" y="1599648"/>
          <a:ext cx="178855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公式" r:id="rId5" imgW="32613600" imgH="10363200" progId="Equation.3">
                  <p:embed/>
                </p:oleObj>
              </mc:Choice>
              <mc:Fallback>
                <p:oleObj name="公式" r:id="rId5" imgW="32613600" imgH="1036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519" y="1599648"/>
                        <a:ext cx="1788553" cy="568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6959916" y="2830840"/>
          <a:ext cx="175553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公式" r:id="rId7" imgW="32004000" imgH="10363200" progId="Equation.3">
                  <p:embed/>
                </p:oleObj>
              </mc:Choice>
              <mc:Fallback>
                <p:oleObj name="公式" r:id="rId7" imgW="32004000" imgH="1036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916" y="2830840"/>
                        <a:ext cx="1755532" cy="568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3809035" y="4079204"/>
          <a:ext cx="35242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公式" r:id="rId9" imgW="59131200" imgH="11582400" progId="Equation.3">
                  <p:embed/>
                </p:oleObj>
              </mc:Choice>
              <mc:Fallback>
                <p:oleObj name="公式" r:id="rId9" imgW="59131200" imgH="1158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035" y="4079204"/>
                        <a:ext cx="3524250" cy="692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7243767" y="2178050"/>
          <a:ext cx="1471369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公式" r:id="rId11" imgW="26822400" imgH="10363200" progId="Equation.3">
                  <p:embed/>
                </p:oleObj>
              </mc:Choice>
              <mc:Fallback>
                <p:oleObj name="公式" r:id="rId11" imgW="26822400" imgH="10363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767" y="2178050"/>
                        <a:ext cx="1471369" cy="568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7240587" y="3365512"/>
          <a:ext cx="100415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公式" r:id="rId13" imgW="18288000" imgH="10363200" progId="Equation.3">
                  <p:embed/>
                </p:oleObj>
              </mc:Choice>
              <mc:Fallback>
                <p:oleObj name="公式" r:id="rId13" imgW="18288000" imgH="10363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0587" y="3365512"/>
                        <a:ext cx="1004157" cy="568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/>
          <p:nvPr/>
        </p:nvGrpSpPr>
        <p:grpSpPr>
          <a:xfrm>
            <a:off x="752466" y="1305871"/>
            <a:ext cx="3624263" cy="2110327"/>
            <a:chOff x="838200" y="1367790"/>
            <a:chExt cx="3624263" cy="2110327"/>
          </a:xfrm>
        </p:grpSpPr>
        <p:sp>
          <p:nvSpPr>
            <p:cNvPr id="6" name="圆角矩形 5"/>
            <p:cNvSpPr/>
            <p:nvPr/>
          </p:nvSpPr>
          <p:spPr>
            <a:xfrm>
              <a:off x="838200" y="1367790"/>
              <a:ext cx="3624263" cy="2110327"/>
            </a:xfrm>
            <a:prstGeom prst="roundRect">
              <a:avLst>
                <a:gd name="adj" fmla="val 672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0963" name="Object 37"/>
            <p:cNvGraphicFramePr>
              <a:graphicFrameLocks noChangeAspect="1"/>
            </p:cNvGraphicFramePr>
            <p:nvPr/>
          </p:nvGraphicFramePr>
          <p:xfrm>
            <a:off x="912822" y="1412882"/>
            <a:ext cx="3521075" cy="164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" name="Picture" r:id="rId1" imgW="7696200" imgH="3571875" progId="Word.Picture.8">
                    <p:embed/>
                  </p:oleObj>
                </mc:Choice>
                <mc:Fallback>
                  <p:oleObj name="Picture" r:id="rId1" imgW="7696200" imgH="3571875" progId="Word.Picture.8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822" y="1412882"/>
                          <a:ext cx="3521075" cy="16414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2011023" y="257582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石英晶体</a:t>
              </a:r>
              <a:endParaRPr lang="zh-CN" altLang="en-US" sz="10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1"/>
          <p:cNvGrpSpPr/>
          <p:nvPr/>
        </p:nvGrpSpPr>
        <p:grpSpPr>
          <a:xfrm>
            <a:off x="262892" y="679557"/>
            <a:ext cx="2344702" cy="420971"/>
            <a:chOff x="670560" y="892917"/>
            <a:chExt cx="2344702" cy="420971"/>
          </a:xfrm>
        </p:grpSpPr>
        <p:sp>
          <p:nvSpPr>
            <p:cNvPr id="3" name="矩形 2"/>
            <p:cNvSpPr/>
            <p:nvPr/>
          </p:nvSpPr>
          <p:spPr>
            <a:xfrm>
              <a:off x="1035233" y="913778"/>
              <a:ext cx="19800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石英晶体振荡器</a:t>
              </a:r>
              <a:endPara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670560" y="892917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椭圆 7"/>
          <p:cNvSpPr/>
          <p:nvPr/>
        </p:nvSpPr>
        <p:spPr>
          <a:xfrm rot="5400000">
            <a:off x="2100712" y="2662694"/>
            <a:ext cx="390578" cy="446703"/>
          </a:xfrm>
          <a:prstGeom prst="ellipse">
            <a:avLst/>
          </a:prstGeom>
          <a:solidFill>
            <a:srgbClr val="00CC00">
              <a:alpha val="28000"/>
            </a:srgbClr>
          </a:solidFill>
          <a:ln w="1905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9" name="圆角矩形标注 38"/>
          <p:cNvSpPr/>
          <p:nvPr/>
        </p:nvSpPr>
        <p:spPr>
          <a:xfrm>
            <a:off x="6041681" y="2804909"/>
            <a:ext cx="642108" cy="296888"/>
          </a:xfrm>
          <a:prstGeom prst="wedgeRoundRectCallout">
            <a:avLst>
              <a:gd name="adj1" fmla="val -57637"/>
              <a:gd name="adj2" fmla="val -140987"/>
              <a:gd name="adj3" fmla="val 16667"/>
            </a:avLst>
          </a:prstGeom>
          <a:solidFill>
            <a:srgbClr val="66FF66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圆角矩形标注 39"/>
          <p:cNvSpPr/>
          <p:nvPr/>
        </p:nvSpPr>
        <p:spPr>
          <a:xfrm>
            <a:off x="7167003" y="2679331"/>
            <a:ext cx="642108" cy="296888"/>
          </a:xfrm>
          <a:prstGeom prst="wedgeRoundRectCallout">
            <a:avLst>
              <a:gd name="adj1" fmla="val -81561"/>
              <a:gd name="adj2" fmla="val -120043"/>
              <a:gd name="adj3" fmla="val 16667"/>
            </a:avLst>
          </a:prstGeom>
          <a:solidFill>
            <a:srgbClr val="66FF66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圆角矩形标注 40"/>
          <p:cNvSpPr/>
          <p:nvPr/>
        </p:nvSpPr>
        <p:spPr>
          <a:xfrm>
            <a:off x="6952895" y="1354651"/>
            <a:ext cx="642108" cy="296888"/>
          </a:xfrm>
          <a:prstGeom prst="wedgeRoundRectCallout">
            <a:avLst>
              <a:gd name="adj1" fmla="val -86688"/>
              <a:gd name="adj2" fmla="val 117729"/>
              <a:gd name="adj3" fmla="val 16667"/>
            </a:avLst>
          </a:prstGeom>
          <a:solidFill>
            <a:srgbClr val="66FF66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53"/>
          <p:cNvGrpSpPr/>
          <p:nvPr/>
        </p:nvGrpSpPr>
        <p:grpSpPr>
          <a:xfrm>
            <a:off x="1411835" y="2828882"/>
            <a:ext cx="2492159" cy="338554"/>
            <a:chOff x="1411835" y="2828882"/>
            <a:chExt cx="2492159" cy="338554"/>
          </a:xfrm>
        </p:grpSpPr>
        <p:cxnSp>
          <p:nvCxnSpPr>
            <p:cNvPr id="49" name="直接箭头连接符 48"/>
            <p:cNvCxnSpPr/>
            <p:nvPr/>
          </p:nvCxnSpPr>
          <p:spPr>
            <a:xfrm flipH="1" flipV="1">
              <a:off x="1411835" y="3021169"/>
              <a:ext cx="1869032" cy="7315"/>
            </a:xfrm>
            <a:prstGeom prst="straightConnector1">
              <a:avLst/>
            </a:prstGeom>
            <a:ln w="28575">
              <a:solidFill>
                <a:srgbClr val="CC00CC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3308959" y="282888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 = </a:t>
              </a:r>
              <a:r>
                <a:rPr lang="en-US" altLang="zh-CN" sz="16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600" b="1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1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59"/>
          <p:cNvGrpSpPr/>
          <p:nvPr/>
        </p:nvGrpSpPr>
        <p:grpSpPr>
          <a:xfrm>
            <a:off x="2165300" y="3069067"/>
            <a:ext cx="1714173" cy="338554"/>
            <a:chOff x="2165300" y="3069067"/>
            <a:chExt cx="1714173" cy="338554"/>
          </a:xfrm>
        </p:grpSpPr>
        <p:grpSp>
          <p:nvGrpSpPr>
            <p:cNvPr id="12" name="组合 54"/>
            <p:cNvGrpSpPr/>
            <p:nvPr/>
          </p:nvGrpSpPr>
          <p:grpSpPr>
            <a:xfrm>
              <a:off x="2432301" y="3069067"/>
              <a:ext cx="1447172" cy="338554"/>
              <a:chOff x="2436216" y="2828882"/>
              <a:chExt cx="1473850" cy="338554"/>
            </a:xfrm>
          </p:grpSpPr>
          <p:cxnSp>
            <p:nvCxnSpPr>
              <p:cNvPr id="56" name="直接箭头连接符 55"/>
              <p:cNvCxnSpPr/>
              <p:nvPr/>
            </p:nvCxnSpPr>
            <p:spPr>
              <a:xfrm flipH="1" flipV="1">
                <a:off x="2436216" y="3026055"/>
                <a:ext cx="844652" cy="243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矩形 56"/>
              <p:cNvSpPr/>
              <p:nvPr/>
            </p:nvSpPr>
            <p:spPr>
              <a:xfrm>
                <a:off x="3308960" y="2828882"/>
                <a:ext cx="60110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zh-CN" altLang="en-US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</a:t>
                </a:r>
                <a:r>
                  <a:rPr lang="en-US" altLang="zh-CN" sz="1600" b="1" i="1" dirty="0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i="1" dirty="0" err="1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600" b="1" baseline="-25000" dirty="0" err="1">
                    <a:solidFill>
                      <a:srgbClr val="66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zh-CN" altLang="en-US" sz="1600" b="1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禁止符 57"/>
            <p:cNvSpPr/>
            <p:nvPr/>
          </p:nvSpPr>
          <p:spPr>
            <a:xfrm>
              <a:off x="2165300" y="3149196"/>
              <a:ext cx="237743" cy="215799"/>
            </a:xfrm>
            <a:prstGeom prst="noSmoking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67"/>
          <p:cNvGrpSpPr/>
          <p:nvPr/>
        </p:nvGrpSpPr>
        <p:grpSpPr>
          <a:xfrm>
            <a:off x="739126" y="3518613"/>
            <a:ext cx="2406400" cy="998678"/>
            <a:chOff x="826918" y="3511297"/>
            <a:chExt cx="2406400" cy="998678"/>
          </a:xfrm>
        </p:grpSpPr>
        <p:sp>
          <p:nvSpPr>
            <p:cNvPr id="65" name="圆角矩形 64"/>
            <p:cNvSpPr/>
            <p:nvPr/>
          </p:nvSpPr>
          <p:spPr>
            <a:xfrm>
              <a:off x="826918" y="3609975"/>
              <a:ext cx="2406400" cy="90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4" name="矩形 63"/>
            <p:cNvSpPr/>
            <p:nvPr/>
          </p:nvSpPr>
          <p:spPr>
            <a:xfrm>
              <a:off x="868830" y="3745018"/>
              <a:ext cx="232257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使反相器工作在线性放大区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solidFill>
                    <a:srgbClr val="6600FF"/>
                  </a:solidFill>
                </a:rPr>
                <a:t>TTL</a:t>
              </a:r>
              <a:r>
                <a:rPr lang="zh-CN" altLang="en-US" sz="1400" dirty="0">
                  <a:solidFill>
                    <a:srgbClr val="6600FF"/>
                  </a:solidFill>
                </a:rPr>
                <a:t>：</a:t>
              </a:r>
              <a:r>
                <a:rPr lang="en-US" altLang="zh-CN" sz="1400" dirty="0">
                  <a:solidFill>
                    <a:srgbClr val="6600FF"/>
                  </a:solidFill>
                </a:rPr>
                <a:t>0.7</a:t>
              </a:r>
              <a:r>
                <a:rPr lang="zh-CN" altLang="zh-CN" sz="1400" dirty="0">
                  <a:solidFill>
                    <a:srgbClr val="6600FF"/>
                  </a:solidFill>
                </a:rPr>
                <a:t>～</a:t>
              </a:r>
              <a:r>
                <a:rPr lang="en-US" altLang="zh-CN" sz="1400" dirty="0">
                  <a:solidFill>
                    <a:srgbClr val="6600FF"/>
                  </a:solidFill>
                </a:rPr>
                <a:t>2kΩ</a:t>
              </a:r>
              <a:endParaRPr lang="en-US" altLang="zh-CN" sz="1400" dirty="0">
                <a:solidFill>
                  <a:srgbClr val="6600FF"/>
                </a:solidFill>
              </a:endParaRPr>
            </a:p>
            <a:p>
              <a:r>
                <a:rPr lang="en-US" altLang="zh-CN" sz="1400" dirty="0">
                  <a:solidFill>
                    <a:srgbClr val="6600FF"/>
                  </a:solidFill>
                </a:rPr>
                <a:t>CMOS</a:t>
              </a:r>
              <a:r>
                <a:rPr lang="zh-CN" altLang="en-US" sz="1400" dirty="0">
                  <a:solidFill>
                    <a:srgbClr val="6600FF"/>
                  </a:solidFill>
                </a:rPr>
                <a:t>：</a:t>
              </a:r>
              <a:r>
                <a:rPr lang="en-US" altLang="zh-CN" sz="1400" dirty="0">
                  <a:solidFill>
                    <a:srgbClr val="6600FF"/>
                  </a:solidFill>
                </a:rPr>
                <a:t>10</a:t>
              </a:r>
              <a:r>
                <a:rPr lang="zh-CN" altLang="zh-CN" sz="1400" dirty="0">
                  <a:solidFill>
                    <a:srgbClr val="6600FF"/>
                  </a:solidFill>
                </a:rPr>
                <a:t>～</a:t>
              </a:r>
              <a:r>
                <a:rPr lang="en-US" altLang="zh-CN" sz="1400" dirty="0">
                  <a:solidFill>
                    <a:srgbClr val="6600FF"/>
                  </a:solidFill>
                </a:rPr>
                <a:t>100MΩ</a:t>
              </a:r>
              <a:endParaRPr lang="zh-CN" altLang="en-US" sz="1400" dirty="0">
                <a:solidFill>
                  <a:srgbClr val="6600FF"/>
                </a:solidFill>
              </a:endParaRPr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1667134" y="3511297"/>
              <a:ext cx="718652" cy="24505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电阻</a:t>
              </a:r>
              <a:r>
                <a:rPr lang="en-US" altLang="zh-CN" sz="1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endParaRPr lang="zh-CN" altLang="en-US" sz="1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68"/>
          <p:cNvGrpSpPr/>
          <p:nvPr/>
        </p:nvGrpSpPr>
        <p:grpSpPr>
          <a:xfrm>
            <a:off x="3312857" y="3495443"/>
            <a:ext cx="2406400" cy="998678"/>
            <a:chOff x="826918" y="3511297"/>
            <a:chExt cx="2406400" cy="998678"/>
          </a:xfrm>
        </p:grpSpPr>
        <p:sp>
          <p:nvSpPr>
            <p:cNvPr id="70" name="圆角矩形 69"/>
            <p:cNvSpPr/>
            <p:nvPr/>
          </p:nvSpPr>
          <p:spPr>
            <a:xfrm>
              <a:off x="826918" y="3609975"/>
              <a:ext cx="2406400" cy="90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1" name="矩形 70"/>
            <p:cNvSpPr/>
            <p:nvPr/>
          </p:nvSpPr>
          <p:spPr>
            <a:xfrm>
              <a:off x="868830" y="3745018"/>
              <a:ext cx="232257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反相器间的信号耦合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58775" indent="-358775"/>
              <a:r>
                <a:rPr lang="en-US" altLang="zh-CN" sz="1400" i="1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4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14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在频率为</a:t>
              </a:r>
              <a:r>
                <a:rPr lang="en-US" altLang="zh-CN" sz="1400" i="1" dirty="0" err="1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400" baseline="-25000" dirty="0" err="1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</a:t>
              </a:r>
              <a:r>
                <a:rPr lang="zh-CN" altLang="zh-CN" sz="14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时的容抗可以忽略不计</a:t>
              </a:r>
              <a:endParaRPr lang="en-US" altLang="zh-CN" sz="1400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1667134" y="3511297"/>
              <a:ext cx="718652" cy="24505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电容</a:t>
              </a:r>
              <a:r>
                <a:rPr lang="en-US" altLang="zh-CN" sz="1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lang="zh-CN" altLang="en-US" sz="1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72"/>
          <p:cNvGrpSpPr/>
          <p:nvPr/>
        </p:nvGrpSpPr>
        <p:grpSpPr>
          <a:xfrm>
            <a:off x="5831719" y="3501539"/>
            <a:ext cx="2406400" cy="998678"/>
            <a:chOff x="826918" y="3511297"/>
            <a:chExt cx="2406400" cy="998678"/>
          </a:xfrm>
        </p:grpSpPr>
        <p:sp>
          <p:nvSpPr>
            <p:cNvPr id="74" name="圆角矩形 73"/>
            <p:cNvSpPr/>
            <p:nvPr/>
          </p:nvSpPr>
          <p:spPr>
            <a:xfrm>
              <a:off x="826918" y="3609975"/>
              <a:ext cx="2406400" cy="90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5" name="矩形 74"/>
            <p:cNvSpPr/>
            <p:nvPr/>
          </p:nvSpPr>
          <p:spPr>
            <a:xfrm>
              <a:off x="868830" y="3745018"/>
              <a:ext cx="232257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抑制高次谐波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58775" indent="-358775"/>
              <a:r>
                <a:rPr lang="en-US" altLang="zh-CN" sz="1400" i="1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400" dirty="0">
                  <a:solidFill>
                    <a:srgbClr val="6600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400" dirty="0"/>
                <a:t> </a:t>
              </a:r>
              <a:r>
                <a:rPr lang="en-US" altLang="zh-CN" sz="14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2π</a:t>
              </a:r>
              <a:r>
                <a:rPr lang="en-US" altLang="zh-CN" sz="1400" i="1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RC</a:t>
              </a:r>
              <a:r>
                <a:rPr lang="en-US" altLang="zh-CN" sz="1400" baseline="-250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400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≈1/</a:t>
              </a:r>
              <a:r>
                <a:rPr lang="en-US" altLang="zh-CN" sz="1400" i="1" dirty="0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i="1" dirty="0" err="1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400" baseline="-25000" dirty="0" err="1">
                  <a:solidFill>
                    <a:srgbClr val="66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 dirty="0">
                <a:solidFill>
                  <a:srgbClr val="66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667134" y="3511297"/>
              <a:ext cx="718652" cy="24505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电容</a:t>
              </a:r>
              <a:r>
                <a:rPr lang="en-US" altLang="zh-CN" sz="1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sz="1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391390" y="954634"/>
            <a:ext cx="2889502" cy="3756353"/>
            <a:chOff x="5391390" y="954634"/>
            <a:chExt cx="2889502" cy="3756353"/>
          </a:xfrm>
        </p:grpSpPr>
        <p:grpSp>
          <p:nvGrpSpPr>
            <p:cNvPr id="50" name="组合 49"/>
            <p:cNvGrpSpPr/>
            <p:nvPr/>
          </p:nvGrpSpPr>
          <p:grpSpPr>
            <a:xfrm>
              <a:off x="5391390" y="954634"/>
              <a:ext cx="2889502" cy="3756353"/>
              <a:chOff x="5391390" y="954634"/>
              <a:chExt cx="2889502" cy="3756353"/>
            </a:xfrm>
          </p:grpSpPr>
          <p:sp>
            <p:nvSpPr>
              <p:cNvPr id="29" name="任意多边形 28"/>
              <p:cNvSpPr/>
              <p:nvPr/>
            </p:nvSpPr>
            <p:spPr>
              <a:xfrm>
                <a:off x="6427265" y="1230075"/>
                <a:ext cx="266230" cy="851851"/>
              </a:xfrm>
              <a:custGeom>
                <a:avLst/>
                <a:gdLst>
                  <a:gd name="connsiteX0" fmla="*/ 0 w 384227"/>
                  <a:gd name="connsiteY0" fmla="*/ 670163 h 670163"/>
                  <a:gd name="connsiteX1" fmla="*/ 187646 w 384227"/>
                  <a:gd name="connsiteY1" fmla="*/ 631443 h 670163"/>
                  <a:gd name="connsiteX2" fmla="*/ 288915 w 384227"/>
                  <a:gd name="connsiteY2" fmla="*/ 571873 h 670163"/>
                  <a:gd name="connsiteX3" fmla="*/ 354442 w 384227"/>
                  <a:gd name="connsiteY3" fmla="*/ 431883 h 670163"/>
                  <a:gd name="connsiteX4" fmla="*/ 384227 w 384227"/>
                  <a:gd name="connsiteY4" fmla="*/ 0 h 670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227" h="670163">
                    <a:moveTo>
                      <a:pt x="0" y="670163"/>
                    </a:moveTo>
                    <a:cubicBezTo>
                      <a:pt x="69747" y="658994"/>
                      <a:pt x="139494" y="647825"/>
                      <a:pt x="187646" y="631443"/>
                    </a:cubicBezTo>
                    <a:cubicBezTo>
                      <a:pt x="235798" y="615061"/>
                      <a:pt x="261116" y="605133"/>
                      <a:pt x="288915" y="571873"/>
                    </a:cubicBezTo>
                    <a:cubicBezTo>
                      <a:pt x="316714" y="538613"/>
                      <a:pt x="338557" y="527195"/>
                      <a:pt x="354442" y="431883"/>
                    </a:cubicBezTo>
                    <a:cubicBezTo>
                      <a:pt x="370327" y="336571"/>
                      <a:pt x="377277" y="168285"/>
                      <a:pt x="384227" y="0"/>
                    </a:cubicBezTo>
                  </a:path>
                </a:pathLst>
              </a:custGeom>
              <a:ln w="2857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5391390" y="954634"/>
                <a:ext cx="2889502" cy="3756353"/>
                <a:chOff x="5391390" y="954634"/>
                <a:chExt cx="2889502" cy="3756353"/>
              </a:xfrm>
            </p:grpSpPr>
            <p:grpSp>
              <p:nvGrpSpPr>
                <p:cNvPr id="47" name="组合 46"/>
                <p:cNvGrpSpPr/>
                <p:nvPr/>
              </p:nvGrpSpPr>
              <p:grpSpPr>
                <a:xfrm>
                  <a:off x="5741269" y="1191616"/>
                  <a:ext cx="2539623" cy="3519371"/>
                  <a:chOff x="5741269" y="1191616"/>
                  <a:chExt cx="2539623" cy="3519371"/>
                </a:xfrm>
              </p:grpSpPr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6428678" y="1191616"/>
                    <a:ext cx="0" cy="1944000"/>
                  </a:xfrm>
                  <a:prstGeom prst="line">
                    <a:avLst/>
                  </a:prstGeom>
                  <a:ln w="12700">
                    <a:solidFill>
                      <a:srgbClr val="7030A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6717890" y="1191616"/>
                    <a:ext cx="0" cy="1944000"/>
                  </a:xfrm>
                  <a:prstGeom prst="line">
                    <a:avLst/>
                  </a:prstGeom>
                  <a:ln w="12700">
                    <a:solidFill>
                      <a:srgbClr val="7030A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弧形 31"/>
                  <p:cNvSpPr/>
                  <p:nvPr/>
                </p:nvSpPr>
                <p:spPr>
                  <a:xfrm rot="16200000">
                    <a:off x="6576714" y="2291145"/>
                    <a:ext cx="1870498" cy="1537858"/>
                  </a:xfrm>
                  <a:prstGeom prst="arc">
                    <a:avLst>
                      <a:gd name="adj1" fmla="val 16752277"/>
                      <a:gd name="adj2" fmla="val 21288336"/>
                    </a:avLst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弧形 32"/>
                  <p:cNvSpPr/>
                  <p:nvPr/>
                </p:nvSpPr>
                <p:spPr>
                  <a:xfrm rot="16200000">
                    <a:off x="5206334" y="2615317"/>
                    <a:ext cx="2630605" cy="1560735"/>
                  </a:xfrm>
                  <a:prstGeom prst="arc">
                    <a:avLst>
                      <a:gd name="adj1" fmla="val 17858154"/>
                      <a:gd name="adj2" fmla="val 21288336"/>
                    </a:avLst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6" name="组合 45"/>
                <p:cNvGrpSpPr/>
                <p:nvPr/>
              </p:nvGrpSpPr>
              <p:grpSpPr>
                <a:xfrm>
                  <a:off x="5391390" y="954634"/>
                  <a:ext cx="2560234" cy="2377440"/>
                  <a:chOff x="5391390" y="954634"/>
                  <a:chExt cx="2560234" cy="2377440"/>
                </a:xfrm>
              </p:grpSpPr>
              <p:cxnSp>
                <p:nvCxnSpPr>
                  <p:cNvPr id="15" name="直接箭头连接符 14"/>
                  <p:cNvCxnSpPr/>
                  <p:nvPr/>
                </p:nvCxnSpPr>
                <p:spPr>
                  <a:xfrm flipH="1" flipV="1">
                    <a:off x="5710048" y="1076828"/>
                    <a:ext cx="0" cy="20880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16"/>
                  <p:cNvCxnSpPr/>
                  <p:nvPr/>
                </p:nvCxnSpPr>
                <p:spPr>
                  <a:xfrm>
                    <a:off x="5719575" y="2096003"/>
                    <a:ext cx="20160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" name="组合 37"/>
                  <p:cNvGrpSpPr/>
                  <p:nvPr/>
                </p:nvGrpSpPr>
                <p:grpSpPr>
                  <a:xfrm>
                    <a:off x="5391390" y="1042417"/>
                    <a:ext cx="2551532" cy="1204187"/>
                    <a:chOff x="5182820" y="1071677"/>
                    <a:chExt cx="2551532" cy="1204187"/>
                  </a:xfrm>
                </p:grpSpPr>
                <p:sp>
                  <p:nvSpPr>
                    <p:cNvPr id="35" name="TextBox 34"/>
                    <p:cNvSpPr txBox="1"/>
                    <p:nvPr/>
                  </p:nvSpPr>
                  <p:spPr>
                    <a:xfrm>
                      <a:off x="5182820" y="1071677"/>
                      <a:ext cx="33214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5218180" y="1937310"/>
                      <a:ext cx="28725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7491978" y="1928772"/>
                      <a:ext cx="24237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4" name="圆角矩形 43"/>
                  <p:cNvSpPr/>
                  <p:nvPr/>
                </p:nvSpPr>
                <p:spPr>
                  <a:xfrm>
                    <a:off x="5413250" y="954634"/>
                    <a:ext cx="2538374" cy="2377440"/>
                  </a:xfrm>
                  <a:prstGeom prst="roundRect">
                    <a:avLst>
                      <a:gd name="adj" fmla="val 6052"/>
                    </a:avLst>
                  </a:prstGeom>
                  <a:noFill/>
                  <a:ln w="285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sp>
          <p:nvSpPr>
            <p:cNvPr id="42" name="矩形 41"/>
            <p:cNvSpPr/>
            <p:nvPr/>
          </p:nvSpPr>
          <p:spPr>
            <a:xfrm>
              <a:off x="6137621" y="1732714"/>
              <a:ext cx="30649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600" b="1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1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6693143" y="1747463"/>
              <a:ext cx="32893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600" b="1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1600" b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d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9" grpId="0" animBg="1"/>
      <p:bldP spid="40" grpId="0" animBg="1"/>
      <p:bldP spid="41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学术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6102</Words>
  <Application>WPS 演示</Application>
  <PresentationFormat>全屏显示(16:10)</PresentationFormat>
  <Paragraphs>1339</Paragraphs>
  <Slides>50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60</vt:i4>
      </vt:variant>
      <vt:variant>
        <vt:lpstr>幻灯片标题</vt:lpstr>
      </vt:variant>
      <vt:variant>
        <vt:i4>50</vt:i4>
      </vt:variant>
    </vt:vector>
  </HeadingPairs>
  <TitlesOfParts>
    <vt:vector size="129" baseType="lpstr">
      <vt:lpstr>Arial</vt:lpstr>
      <vt:lpstr>宋体</vt:lpstr>
      <vt:lpstr>Wingdings</vt:lpstr>
      <vt:lpstr>微软雅黑</vt:lpstr>
      <vt:lpstr>方正粗黑宋简体</vt:lpstr>
      <vt:lpstr>Times New Roman</vt:lpstr>
      <vt:lpstr>Calibri</vt:lpstr>
      <vt:lpstr>黑体</vt:lpstr>
      <vt:lpstr>楷体</vt:lpstr>
      <vt:lpstr>楷体_GB2312</vt:lpstr>
      <vt:lpstr>新宋体</vt:lpstr>
      <vt:lpstr>Times New Roman</vt:lpstr>
      <vt:lpstr>Arial Unicode MS</vt:lpstr>
      <vt:lpstr>华文楷体</vt:lpstr>
      <vt:lpstr>Bell MT</vt:lpstr>
      <vt:lpstr>Wide Latin</vt:lpstr>
      <vt:lpstr>Microsoft JhengHei UI</vt:lpstr>
      <vt:lpstr>Calibri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Equation.3</vt:lpstr>
      <vt:lpstr>Visio.Drawing.11</vt:lpstr>
      <vt:lpstr>Visio.Drawing.11</vt:lpstr>
      <vt:lpstr>Visio.Drawing.11</vt:lpstr>
      <vt:lpstr>Visio.Drawing.11</vt:lpstr>
      <vt:lpstr>PBrush</vt:lpstr>
      <vt:lpstr>PBrush</vt:lpstr>
      <vt:lpstr>PBrush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Visio.Drawing.11</vt:lpstr>
      <vt:lpstr>Visio.Drawing.11</vt:lpstr>
      <vt:lpstr>Visio.Drawing.11</vt:lpstr>
      <vt:lpstr>Equation.3</vt:lpstr>
      <vt:lpstr>Equation.3</vt:lpstr>
      <vt:lpstr>Equation.3</vt:lpstr>
      <vt:lpstr>Visio.Drawing.11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Word.Picture.8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鼎鼎</cp:lastModifiedBy>
  <cp:revision>543</cp:revision>
  <dcterms:created xsi:type="dcterms:W3CDTF">2015-01-13T10:49:00Z</dcterms:created>
  <dcterms:modified xsi:type="dcterms:W3CDTF">2025-10-21T02:53:17Z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BC37022B87B947E0A23D65DF5648975B_12</vt:lpwstr>
  </property>
  <property fmtid="{D5CDD505-2E9C-101B-9397-08002B2CF9AE}" pid="3" name="KSOProductBuildVer">
    <vt:lpwstr>2052-12.1.0.23125</vt:lpwstr>
  </property>
</Properties>
</file>