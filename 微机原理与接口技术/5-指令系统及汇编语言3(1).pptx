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</p:sldMasterIdLst>
  <p:notesMasterIdLst>
    <p:notesMasterId r:id="rId48"/>
  </p:notesMasterIdLst>
  <p:sldIdLst>
    <p:sldId id="583" r:id="rId5"/>
    <p:sldId id="655" r:id="rId6"/>
    <p:sldId id="662" r:id="rId7"/>
    <p:sldId id="657" r:id="rId8"/>
    <p:sldId id="663" r:id="rId9"/>
    <p:sldId id="664" r:id="rId10"/>
    <p:sldId id="659" r:id="rId11"/>
    <p:sldId id="667" r:id="rId12"/>
    <p:sldId id="665" r:id="rId13"/>
    <p:sldId id="660" r:id="rId14"/>
    <p:sldId id="666" r:id="rId15"/>
    <p:sldId id="661" r:id="rId16"/>
    <p:sldId id="669" r:id="rId17"/>
    <p:sldId id="464" r:id="rId18"/>
    <p:sldId id="544" r:id="rId19"/>
    <p:sldId id="546" r:id="rId20"/>
    <p:sldId id="545" r:id="rId21"/>
    <p:sldId id="708" r:id="rId22"/>
    <p:sldId id="709" r:id="rId23"/>
    <p:sldId id="585" r:id="rId24"/>
    <p:sldId id="710" r:id="rId25"/>
    <p:sldId id="465" r:id="rId26"/>
    <p:sldId id="466" r:id="rId27"/>
    <p:sldId id="467" r:id="rId28"/>
    <p:sldId id="468" r:id="rId29"/>
    <p:sldId id="469" r:id="rId30"/>
    <p:sldId id="418" r:id="rId31"/>
    <p:sldId id="723" r:id="rId32"/>
    <p:sldId id="724" r:id="rId33"/>
    <p:sldId id="725" r:id="rId34"/>
    <p:sldId id="727" r:id="rId35"/>
    <p:sldId id="728" r:id="rId36"/>
    <p:sldId id="729" r:id="rId37"/>
    <p:sldId id="730" r:id="rId38"/>
    <p:sldId id="716" r:id="rId39"/>
    <p:sldId id="717" r:id="rId40"/>
    <p:sldId id="718" r:id="rId41"/>
    <p:sldId id="719" r:id="rId42"/>
    <p:sldId id="731" r:id="rId43"/>
    <p:sldId id="733" r:id="rId44"/>
    <p:sldId id="722" r:id="rId45"/>
    <p:sldId id="732" r:id="rId46"/>
    <p:sldId id="749" r:id="rId47"/>
  </p:sldIdLst>
  <p:sldSz cx="9144000" cy="6858000" type="screen4x3"/>
  <p:notesSz cx="6858000" cy="9144000"/>
  <p:custDataLst>
    <p:tags r:id="rId52"/>
  </p:custDataLst>
  <p:defaultTextStyle>
    <a:defPPr>
      <a:defRPr lang="en-US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ahom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33CC"/>
    <a:srgbClr val="FFFFCC"/>
    <a:srgbClr val="000099"/>
    <a:srgbClr val="9130B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vertBarState="maximized">
    <p:restoredLeft sz="22516"/>
    <p:restoredTop sz="85039"/>
  </p:normalViewPr>
  <p:slideViewPr>
    <p:cSldViewPr showGuides="1">
      <p:cViewPr varScale="1">
        <p:scale>
          <a:sx n="60" d="100"/>
          <a:sy n="60" d="100"/>
        </p:scale>
        <p:origin x="-1422" y="-84"/>
      </p:cViewPr>
      <p:guideLst>
        <p:guide orient="horz" pos="2159"/>
        <p:guide pos="2908"/>
      </p:guideLst>
    </p:cSldViewPr>
  </p:slideViewPr>
  <p:outlineViewPr>
    <p:cViewPr>
      <p:scale>
        <a:sx n="33" d="100"/>
        <a:sy n="33" d="100"/>
      </p:scale>
      <p:origin x="0" y="3186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2" Type="http://schemas.openxmlformats.org/officeDocument/2006/relationships/tags" Target="tags/tag101.xml"/><Relationship Id="rId51" Type="http://schemas.openxmlformats.org/officeDocument/2006/relationships/tableStyles" Target="tableStyles.xml"/><Relationship Id="rId50" Type="http://schemas.openxmlformats.org/officeDocument/2006/relationships/viewProps" Target="viewProps.xml"/><Relationship Id="rId5" Type="http://schemas.openxmlformats.org/officeDocument/2006/relationships/slide" Target="slides/slide1.xml"/><Relationship Id="rId49" Type="http://schemas.openxmlformats.org/officeDocument/2006/relationships/presProps" Target="presProps.xml"/><Relationship Id="rId48" Type="http://schemas.openxmlformats.org/officeDocument/2006/relationships/notesMaster" Target="notesMasters/notesMaster1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58B26E2-0CA9-437D-962D-66186EC24990}" type="datetimeFigureOut"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173" name="备注占位符 4"/>
          <p:cNvSpPr>
            <a:spLocks noGrp="1"/>
          </p:cNvSpPr>
          <p:nvPr>
            <p:ph type="body" sz="quarter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</a:ln>
        </p:spPr>
        <p:txBody>
          <a:bodyPr vert="horz" lIns="91440" tIns="45720" rIns="91440" bIns="45720"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p>
            <a:pPr lvl="0" algn="r" eaLnBrk="1" fontAlgn="base" hangingPunct="1">
              <a:buNone/>
            </a:pPr>
            <a:fld id="{9A0DB2DC-4C9A-4742-B13C-FB6460FD3503}" type="slidenum">
              <a:rPr lang="zh-CN" altLang="en-US" sz="1200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4099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4102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22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123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5126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46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6147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6150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ahoma" panose="020B060403050404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1" lang="zh-CN" altLang="en-US" sz="2400" b="0" i="0" u="none" strike="noStrike" kern="1200" cap="none" spc="0" normalizeH="0" baseline="0" noProof="0" smtClean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ahoma" panose="020B0604030504040204" pitchFamily="34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ahoma" panose="020B060403050404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655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655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24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5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p>
            <a:pPr algn="r" fontAlgn="base">
              <a:buNone/>
            </a:pPr>
            <a:fld id="{9A0DB2DC-4C9A-4742-B13C-FB6460FD3503}" type="slidenum">
              <a:rPr lang="zh-CN" altLang="en-US" strike="noStrike" noProof="1" dirty="0">
                <a:solidFill>
                  <a:schemeClr val="bg2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solidFill>
                <a:schemeClr val="bg2"/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1412875"/>
            <a:ext cx="3810000" cy="47196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1" lang="zh-CN" alt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44450"/>
            <a:ext cx="1951038" cy="6088063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44450"/>
            <a:ext cx="5700712" cy="6088063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7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8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417513" y="525463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7" name="Rectangle 3"/>
          <p:cNvSpPr>
            <a:spLocks noChangeArrowheads="1"/>
          </p:cNvSpPr>
          <p:nvPr/>
        </p:nvSpPr>
        <p:spPr bwMode="ltGray">
          <a:xfrm>
            <a:off x="800100" y="525463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ltGray">
          <a:xfrm>
            <a:off x="541338" y="947738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911225" y="947738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ltGray">
          <a:xfrm>
            <a:off x="127000" y="874713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ChangeArrowheads="1"/>
          </p:cNvSpPr>
          <p:nvPr/>
        </p:nvSpPr>
        <p:spPr bwMode="gray">
          <a:xfrm>
            <a:off x="762000" y="417513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gray">
          <a:xfrm>
            <a:off x="442913" y="120808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1" name="Rectangle 9"/>
          <p:cNvSpPr>
            <a:spLocks noGrp="1"/>
          </p:cNvSpPr>
          <p:nvPr>
            <p:ph type="title"/>
          </p:nvPr>
        </p:nvSpPr>
        <p:spPr>
          <a:xfrm>
            <a:off x="1150938" y="44450"/>
            <a:ext cx="7793037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082" name="Rectangle 10"/>
          <p:cNvSpPr>
            <a:spLocks noGrp="1"/>
          </p:cNvSpPr>
          <p:nvPr>
            <p:ph type="body"/>
          </p:nvPr>
        </p:nvSpPr>
        <p:spPr>
          <a:xfrm>
            <a:off x="1182688" y="1412875"/>
            <a:ext cx="7772400" cy="47196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4523" name="Rectangle 1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4" name="Rectangle 1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52800" y="6324600"/>
            <a:ext cx="28956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>
              <a:defRPr kumimoji="0"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45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81800" y="63246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lvl="0" eaLnBrk="1" fontAlgn="base" hangingPunct="1">
              <a:buNone/>
            </a:pPr>
            <a:fld id="{9A0DB2DC-4C9A-4742-B13C-FB6460FD3503}" type="slidenum">
              <a:rPr lang="zh-CN" altLang="en-US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ahoma" panose="020B060403050404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&#19977;-&#31532;3&#31456;%20&#25351;&#20196;&#31995;&#32479;&#21450;&#27719;&#32534;&#35821;&#35328;&#19968;.ppt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18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8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8.xml"/><Relationship Id="rId1" Type="http://schemas.openxmlformats.org/officeDocument/2006/relationships/tags" Target="../tags/tag2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tags" Target="../tags/tag2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0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.png"/><Relationship Id="rId2" Type="http://schemas.openxmlformats.org/officeDocument/2006/relationships/tags" Target="../tags/tag32.xml"/><Relationship Id="rId1" Type="http://schemas.openxmlformats.org/officeDocument/2006/relationships/tags" Target="../tags/tag31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0.xml"/><Relationship Id="rId8" Type="http://schemas.openxmlformats.org/officeDocument/2006/relationships/tags" Target="../tags/tag39.xml"/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image" Target="../media/image2.png"/><Relationship Id="rId20" Type="http://schemas.openxmlformats.org/officeDocument/2006/relationships/slideLayout" Target="../slideLayouts/slideLayout24.xml"/><Relationship Id="rId2" Type="http://schemas.openxmlformats.org/officeDocument/2006/relationships/tags" Target="../tags/tag34.xml"/><Relationship Id="rId19" Type="http://schemas.openxmlformats.org/officeDocument/2006/relationships/tags" Target="../tags/tag49.xml"/><Relationship Id="rId18" Type="http://schemas.openxmlformats.org/officeDocument/2006/relationships/tags" Target="../tags/tag48.xml"/><Relationship Id="rId17" Type="http://schemas.openxmlformats.org/officeDocument/2006/relationships/tags" Target="../tags/tag47.xml"/><Relationship Id="rId16" Type="http://schemas.openxmlformats.org/officeDocument/2006/relationships/tags" Target="../tags/tag46.xml"/><Relationship Id="rId15" Type="http://schemas.openxmlformats.org/officeDocument/2006/relationships/image" Target="../media/image3.png"/><Relationship Id="rId14" Type="http://schemas.openxmlformats.org/officeDocument/2006/relationships/tags" Target="../tags/tag45.xml"/><Relationship Id="rId13" Type="http://schemas.openxmlformats.org/officeDocument/2006/relationships/tags" Target="../tags/tag44.xml"/><Relationship Id="rId12" Type="http://schemas.openxmlformats.org/officeDocument/2006/relationships/tags" Target="../tags/tag43.xml"/><Relationship Id="rId11" Type="http://schemas.openxmlformats.org/officeDocument/2006/relationships/tags" Target="../tags/tag42.xml"/><Relationship Id="rId10" Type="http://schemas.openxmlformats.org/officeDocument/2006/relationships/tags" Target="../tags/tag41.xml"/><Relationship Id="rId1" Type="http://schemas.openxmlformats.org/officeDocument/2006/relationships/tags" Target="../tags/tag3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7.xml"/><Relationship Id="rId1" Type="http://schemas.openxmlformats.org/officeDocument/2006/relationships/tags" Target="../tags/tag5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hemeOverride" Target="../theme/themeOverride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tags" Target="../tags/tag5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59.xml"/><Relationship Id="rId1" Type="http://schemas.openxmlformats.org/officeDocument/2006/relationships/image" Target="../media/image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61.xml"/><Relationship Id="rId1" Type="http://schemas.openxmlformats.org/officeDocument/2006/relationships/tags" Target="../tags/tag60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9" Type="http://schemas.openxmlformats.org/officeDocument/2006/relationships/slideLayout" Target="../slideLayouts/slideLayout29.xml"/><Relationship Id="rId28" Type="http://schemas.openxmlformats.org/officeDocument/2006/relationships/tags" Target="../tags/tag89.xml"/><Relationship Id="rId27" Type="http://schemas.openxmlformats.org/officeDocument/2006/relationships/tags" Target="../tags/tag88.xml"/><Relationship Id="rId26" Type="http://schemas.openxmlformats.org/officeDocument/2006/relationships/tags" Target="../tags/tag87.xml"/><Relationship Id="rId25" Type="http://schemas.openxmlformats.org/officeDocument/2006/relationships/tags" Target="../tags/tag86.xml"/><Relationship Id="rId24" Type="http://schemas.openxmlformats.org/officeDocument/2006/relationships/tags" Target="../tags/tag85.xml"/><Relationship Id="rId23" Type="http://schemas.openxmlformats.org/officeDocument/2006/relationships/tags" Target="../tags/tag84.xml"/><Relationship Id="rId22" Type="http://schemas.openxmlformats.org/officeDocument/2006/relationships/tags" Target="../tags/tag83.xml"/><Relationship Id="rId21" Type="http://schemas.openxmlformats.org/officeDocument/2006/relationships/tags" Target="../tags/tag82.xml"/><Relationship Id="rId20" Type="http://schemas.openxmlformats.org/officeDocument/2006/relationships/tags" Target="../tags/tag81.xml"/><Relationship Id="rId2" Type="http://schemas.openxmlformats.org/officeDocument/2006/relationships/tags" Target="../tags/tag6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tags" Target="../tags/tag6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6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tags" Target="../tags/tag99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7.png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Grp="1"/>
          </p:cNvSpPr>
          <p:nvPr>
            <p:ph type="title"/>
          </p:nvPr>
        </p:nvSpPr>
        <p:spPr>
          <a:xfrm>
            <a:off x="23813" y="44450"/>
            <a:ext cx="9101137" cy="1143000"/>
          </a:xfrm>
          <a:solidFill>
            <a:schemeClr val="bg1"/>
          </a:solidFill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第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章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指令系统及汇编语言程序设计</a:t>
            </a:r>
            <a:r>
              <a:rPr lang="en-US" altLang="zh-CN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-3</a:t>
            </a:r>
            <a:r>
              <a:rPr lang="zh-CN" altLang="en-US" sz="4000" dirty="0">
                <a:solidFill>
                  <a:schemeClr val="hlink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</a:t>
            </a:r>
            <a:endParaRPr lang="zh-CN" altLang="en-US" sz="4000" dirty="0">
              <a:solidFill>
                <a:schemeClr val="hlink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075" name="Rectangle 3"/>
          <p:cNvSpPr>
            <a:spLocks noGrp="1"/>
          </p:cNvSpPr>
          <p:nvPr>
            <p:ph idx="1"/>
          </p:nvPr>
        </p:nvSpPr>
        <p:spPr>
          <a:xfrm>
            <a:off x="714375" y="1412875"/>
            <a:ext cx="8240713" cy="4719638"/>
          </a:xfrm>
        </p:spPr>
        <p:txBody>
          <a:bodyPr vert="horz" wrap="square" lIns="91440" tIns="45720" rIns="91440" bIns="45720" anchor="t" anchorCtr="0"/>
          <a:p>
            <a:pPr marL="342900" marR="0" indent="-34290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60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hlinkClick r:id="rId1" action="ppaction://hlinkpres?slideindex=1&amp;slidetitle="/>
              </a:rPr>
              <a:t>3.4 </a:t>
            </a:r>
            <a:r>
              <a:rPr kumimoji="1" lang="zh-CN" altLang="en-US" sz="360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cs"/>
                <a:hlinkClick r:id="rId1" action="ppaction://hlinkpres?slideindex=1&amp;slidetitle="/>
              </a:rPr>
              <a:t>指令系统</a:t>
            </a:r>
            <a:endParaRPr kumimoji="1" lang="zh-CN" altLang="en-US" sz="360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cs"/>
              <a:hlinkClick r:id="rId1" action="ppaction://hlinkpres?slideindex=1&amp;slidetitle=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  <a:t>3.4.3 </a:t>
            </a: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ea"/>
              </a:rPr>
              <a:t>逻辑运算与移位指令</a:t>
            </a:r>
            <a:endParaRPr kumimoji="1" lang="en-US" altLang="zh-CN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ea"/>
              </a:rPr>
              <a:t>3.4.4 串操作指令、输入输出指令</a:t>
            </a:r>
            <a:endParaRPr kumimoji="1" lang="en-US" altLang="zh-CN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</a:rPr>
              <a:t>3.4.5 控制</a:t>
            </a: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ea"/>
              </a:rPr>
              <a:t>转移指令</a:t>
            </a:r>
            <a:endParaRPr kumimoji="1" lang="en-US" altLang="zh-CN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ea"/>
              </a:rPr>
              <a:t>3.4.6 处理器控制指令</a:t>
            </a:r>
            <a:endParaRPr kumimoji="1" lang="en-US" altLang="zh-CN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sym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r>
              <a:rPr kumimoji="1" lang="en-US" altLang="zh-CN" sz="3150" b="0" i="0" u="none" strike="noStrike" kern="0" cap="none" spc="0" normalizeH="0" baseline="0" noProof="1" dirty="0">
                <a:solidFill>
                  <a:schemeClr val="tx2"/>
                </a:solidFill>
                <a:latin typeface="华文新魏" panose="02010800040101010101" pitchFamily="2" charset="-122"/>
                <a:ea typeface="华文新魏" panose="02010800040101010101" pitchFamily="2" charset="-122"/>
                <a:cs typeface="+mn-ea"/>
                <a:sym typeface="+mn-ea"/>
              </a:rPr>
              <a:t>3.4.7 常用DOS功能调用</a:t>
            </a:r>
            <a:endParaRPr kumimoji="1" lang="en-US" altLang="zh-CN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</a:pPr>
            <a:endParaRPr kumimoji="1" lang="zh-CN" altLang="en-US" sz="3150" b="0" i="0" u="none" strike="noStrike" kern="0" cap="none" spc="0" normalizeH="0" baseline="0" noProof="1" dirty="0">
              <a:solidFill>
                <a:schemeClr val="tx2"/>
              </a:solidFill>
              <a:latin typeface="华文新魏" panose="02010800040101010101" pitchFamily="2" charset="-122"/>
              <a:ea typeface="华文新魏" panose="02010800040101010101" pitchFamily="2" charset="-122"/>
              <a:cs typeface="+mn-ea"/>
              <a:hlinkClick r:id="rId1" action="ppaction://hlinkpres?slideindex=1&amp;slidetitle=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23" name="Text Box 20"/>
          <p:cNvSpPr txBox="1"/>
          <p:nvPr/>
        </p:nvSpPr>
        <p:spPr>
          <a:xfrm>
            <a:off x="611188" y="4437063"/>
            <a:ext cx="56261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zh-CN" b="1" dirty="0">
                <a:latin typeface="Tahoma" panose="020B0604030504040204" pitchFamily="34" charset="0"/>
                <a:ea typeface="宋体" panose="02010600030101010101" pitchFamily="2" charset="-122"/>
              </a:rPr>
              <a:t>对标志位的影响：</a:t>
            </a:r>
            <a:endParaRPr lang="zh-CN" altLang="zh-CN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3.4.3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逻辑运算与移位指令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9220" name="文本框 2"/>
          <p:cNvSpPr txBox="1"/>
          <p:nvPr/>
        </p:nvSpPr>
        <p:spPr>
          <a:xfrm>
            <a:off x="539750" y="1500188"/>
            <a:ext cx="4572000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zh-CN" sz="2800" b="1" dirty="0">
                <a:latin typeface="Tahoma" panose="020B0604030504040204" pitchFamily="34" charset="0"/>
              </a:rPr>
              <a:t>1. 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逻辑运算指令</a:t>
            </a: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82625" y="2054225"/>
            <a:ext cx="4572000" cy="241776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457200" indent="-457200"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ahoma" panose="020B0604030504040204" pitchFamily="34" charset="0"/>
              </a:rPr>
              <a:t>AND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ahoma" panose="020B0604030504040204" pitchFamily="34" charset="0"/>
              </a:rPr>
              <a:t>OR             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ahoma" panose="020B0604030504040204" pitchFamily="34" charset="0"/>
              </a:rPr>
              <a:t>XOR          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 marL="457200" indent="-457200"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NOT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marL="457200" indent="-457200"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en-US" altLang="zh-CN" sz="2800" b="1" dirty="0">
                <a:latin typeface="Tahoma" panose="020B0604030504040204" pitchFamily="34" charset="0"/>
              </a:rPr>
              <a:t>TEST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82625" y="4868863"/>
            <a:ext cx="8004175" cy="142081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NOT 指令的执行对所有标志位都不影响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其它指令的执行都会使 CF=OF=0，AF 值不定，并对 SF、PF 和 ZF 有影响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89090" name="Text Box 2"/>
          <p:cNvSpPr txBox="1"/>
          <p:nvPr/>
        </p:nvSpPr>
        <p:spPr>
          <a:xfrm>
            <a:off x="285750" y="1519238"/>
            <a:ext cx="8358188" cy="1846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AND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逻辑与指令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    (8/16)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b="1" dirty="0">
                <a:latin typeface="Tahoma" panose="020B0604030504040204" pitchFamily="34" charset="0"/>
              </a:rPr>
              <a:t>AND     reg,    reg/mem/imm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</a:t>
            </a:r>
            <a:r>
              <a:rPr lang="en-US" altLang="zh-CN" b="1" dirty="0">
                <a:latin typeface="Tahoma" panose="020B0604030504040204" pitchFamily="34" charset="0"/>
              </a:rPr>
              <a:t>AND     mem,  reg/imm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说明：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位操作，可将某些位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置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0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----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和“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0”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相“与”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7" name="Text Box 2"/>
          <p:cNvSpPr txBox="1"/>
          <p:nvPr/>
        </p:nvSpPr>
        <p:spPr>
          <a:xfrm>
            <a:off x="285750" y="3719513"/>
            <a:ext cx="8358188" cy="18446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OR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逻辑或指令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  (8/16)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OR     reg,    reg/mem/imm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OR     mem,  reg/imm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      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说明：可将某些位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置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 ----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和“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1”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相“或”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244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逻辑运算指令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9090">
                                            <p:txEl>
                                              <p:charRg st="0" end="2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89090">
                                            <p:txEl>
                                              <p:charRg st="23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charRg st="57" end="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89090">
                                            <p:txEl>
                                              <p:charRg st="57" end="8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90">
                                            <p:txEl>
                                              <p:charRg st="85" end="1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89090">
                                            <p:txEl>
                                              <p:charRg st="85" end="1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20" end="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charRg st="20" end="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50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7">
                                            <p:txEl>
                                              <p:charRg st="50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charRg st="90" end="1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7">
                                            <p:txEl>
                                              <p:charRg st="90" end="1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090" grpId="0" uiExpand="1" build="p"/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11266" name="Text Box 2"/>
          <p:cNvSpPr txBox="1"/>
          <p:nvPr/>
        </p:nvSpPr>
        <p:spPr>
          <a:xfrm>
            <a:off x="261938" y="1504950"/>
            <a:ext cx="8424862" cy="2489200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XOR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逻辑或指令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(8/16)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XOR     reg,    reg/mem/imm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XOR     mem,  reg/imm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10000"/>
              </a:lnSpc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说明：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常用于将寄存器内容清 0；</a:t>
            </a:r>
            <a:r>
              <a: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或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测试某一数是否与另一数相等</a:t>
            </a:r>
            <a:r>
              <a: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；也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可用于对某些位“求反”——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和“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1”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相“异或”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               </a:t>
            </a:r>
            <a:endParaRPr lang="en-US" altLang="zh-CN" b="1" dirty="0">
              <a:solidFill>
                <a:srgbClr val="CC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44035" name="Text Box 3"/>
          <p:cNvSpPr txBox="1"/>
          <p:nvPr/>
        </p:nvSpPr>
        <p:spPr>
          <a:xfrm>
            <a:off x="261938" y="4076700"/>
            <a:ext cx="8323262" cy="20304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NOT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逻辑非指令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  </a:t>
            </a:r>
            <a:r>
              <a:rPr lang="en-US" altLang="zh-CN" b="1" dirty="0">
                <a:latin typeface="Tahoma" panose="020B0604030504040204" pitchFamily="34" charset="0"/>
              </a:rPr>
              <a:t>NOT     reg/mem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(8/16)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操作：</a:t>
            </a:r>
            <a:r>
              <a:rPr lang="en-US" altLang="zh-CN" b="1" dirty="0">
                <a:latin typeface="Tahoma" panose="020B0604030504040204" pitchFamily="34" charset="0"/>
              </a:rPr>
              <a:t>OPR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OPR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逐位取反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说明：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NOT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指令执行后不影响标志位。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1268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逻辑运算指令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960938" y="2492375"/>
            <a:ext cx="37909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例：XOR AX,AX ;AX清 0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40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5" grpId="0"/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12290" name="Text Box 2"/>
          <p:cNvSpPr txBox="1"/>
          <p:nvPr/>
        </p:nvSpPr>
        <p:spPr>
          <a:xfrm>
            <a:off x="261938" y="1504950"/>
            <a:ext cx="8424862" cy="1084263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/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5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测试指令 TEST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TEST reg/mem，reg/mem/imm      ;不能同时为 mem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endParaRPr lang="en-US" altLang="zh-CN" b="1" dirty="0">
              <a:solidFill>
                <a:srgbClr val="CC0000"/>
              </a:solidFill>
              <a:latin typeface="Tahoma" panose="020B0604030504040204" pitchFamily="34" charset="0"/>
              <a:sym typeface="Symbol" panose="05050102010706020507" pitchFamily="18" charset="2"/>
            </a:endParaRPr>
          </a:p>
        </p:txBody>
      </p:sp>
      <p:sp>
        <p:nvSpPr>
          <p:cNvPr id="1229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逻辑运算指令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288" y="2492375"/>
            <a:ext cx="8188325" cy="4984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10000"/>
              </a:lnSpc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说明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根据与结果设置相应标志位，源和目的操作数都不变。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0275" y="2921000"/>
            <a:ext cx="7702550" cy="903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常用于对某特定位进行测试，后跟条件转移指令，以实现程序的相应转移。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39750" y="3860800"/>
            <a:ext cx="7899400" cy="14208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例：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TEST AL，04H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>
                <a:latin typeface="Tahoma" panose="020B0604030504040204" pitchFamily="34" charset="0"/>
              </a:rPr>
              <a:t>     </a:t>
            </a:r>
            <a:endParaRPr lang="en-US" altLang="zh-CN" b="1"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JNZ</a:t>
            </a:r>
            <a:r>
              <a:rPr lang="en-US" altLang="zh-CN" b="1">
                <a:solidFill>
                  <a:srgbClr val="C00000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LOOP1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916238" y="4306888"/>
            <a:ext cx="5770562" cy="533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;04H=00000100B，检测 </a:t>
            </a:r>
            <a:r>
              <a:rPr lang="en-US" altLang="zh-CN" b="1">
                <a:latin typeface="Tahoma" panose="020B0604030504040204" pitchFamily="34" charset="0"/>
              </a:rPr>
              <a:t>AL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的D2=1?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16238" y="4752975"/>
            <a:ext cx="6057900" cy="9779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;结果不为 0，即 D2=1，则转 LOOP1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执行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120000"/>
              </a:lnSpc>
            </a:pP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;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否则顺序执行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13314" name="Text Box 2"/>
          <p:cNvSpPr txBox="1"/>
          <p:nvPr/>
        </p:nvSpPr>
        <p:spPr>
          <a:xfrm>
            <a:off x="468313" y="1504950"/>
            <a:ext cx="8218487" cy="4857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/>
          <a:p>
            <a:pPr>
              <a:lnSpc>
                <a:spcPct val="110000"/>
              </a:lnSpc>
              <a:spcBef>
                <a:spcPct val="2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2.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移位指令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              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3315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68313" y="1993900"/>
            <a:ext cx="8188325" cy="496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算术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逻辑移位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8525" y="2490788"/>
            <a:ext cx="7702550" cy="12715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SHL/SAL reg/mem，imm8/CL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算术左移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SHR  reg/mem，imm8/CL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逻辑右移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SAR  reg/mem，imm8/CL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算术右移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468313" y="3717925"/>
            <a:ext cx="8218487" cy="4968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循环移位</a:t>
            </a:r>
            <a:endParaRPr lang="zh-CN" altLang="en-US" b="1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898525" y="4149725"/>
            <a:ext cx="7702550" cy="16779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ROL  reg/mem，imm8/CL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循环左移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ROR reg/mem，imm8/CL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循环右移</a:t>
            </a:r>
            <a:r>
              <a:rPr lang="en-US" altLang="zh-CN" b="1" dirty="0">
                <a:latin typeface="Tahoma" panose="020B0604030504040204" pitchFamily="34" charset="0"/>
              </a:rPr>
              <a:t>  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RCL  reg/mem，imm8/CL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带进位循环左移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RCR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 reg/mem，imm8/CL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带进位循环右移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" name="Text Box 5"/>
          <p:cNvSpPr txBox="1"/>
          <p:nvPr>
            <p:custDataLst>
              <p:tags r:id="rId4"/>
            </p:custDataLst>
          </p:nvPr>
        </p:nvSpPr>
        <p:spPr>
          <a:xfrm>
            <a:off x="682625" y="5876925"/>
            <a:ext cx="8004175" cy="830263"/>
          </a:xfrm>
          <a:prstGeom prst="rect">
            <a:avLst/>
          </a:prstGeom>
          <a:noFill/>
          <a:ln w="28575" cap="flat" cmpd="dbl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注意：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imm8/CL 为移位次数，对于 8086/8088 移位次数用立即数 imm8 时只能是 1。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7" grpId="0"/>
      <p:bldP spid="8" grpId="0"/>
      <p:bldP spid="14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6082" name="Text Box 2"/>
          <p:cNvSpPr txBox="1"/>
          <p:nvPr/>
        </p:nvSpPr>
        <p:spPr>
          <a:xfrm>
            <a:off x="323850" y="1457325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H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/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算术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左移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6" name="Text Box 6"/>
          <p:cNvSpPr txBox="1"/>
          <p:nvPr/>
        </p:nvSpPr>
        <p:spPr>
          <a:xfrm>
            <a:off x="4953000" y="2579688"/>
            <a:ext cx="5334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grpSp>
        <p:nvGrpSpPr>
          <p:cNvPr id="2" name="Group 60"/>
          <p:cNvGrpSpPr/>
          <p:nvPr/>
        </p:nvGrpSpPr>
        <p:grpSpPr>
          <a:xfrm>
            <a:off x="381000" y="2122488"/>
            <a:ext cx="5029200" cy="914400"/>
            <a:chOff x="240" y="1056"/>
            <a:chExt cx="3168" cy="576"/>
          </a:xfrm>
        </p:grpSpPr>
        <p:sp>
          <p:nvSpPr>
            <p:cNvPr id="14341" name="Rectangle 4"/>
            <p:cNvSpPr/>
            <p:nvPr/>
          </p:nvSpPr>
          <p:spPr>
            <a:xfrm>
              <a:off x="1104" y="1392"/>
              <a:ext cx="1776" cy="240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2" name="Rectangle 3"/>
            <p:cNvSpPr/>
            <p:nvPr/>
          </p:nvSpPr>
          <p:spPr>
            <a:xfrm>
              <a:off x="336" y="1344"/>
              <a:ext cx="336" cy="288"/>
            </a:xfrm>
            <a:prstGeom prst="rect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43" name="Line 5"/>
            <p:cNvSpPr/>
            <p:nvPr/>
          </p:nvSpPr>
          <p:spPr>
            <a:xfrm>
              <a:off x="2880" y="1536"/>
              <a:ext cx="2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4344" name="Line 9"/>
            <p:cNvSpPr/>
            <p:nvPr/>
          </p:nvSpPr>
          <p:spPr>
            <a:xfrm flipH="1">
              <a:off x="1584" y="1536"/>
              <a:ext cx="72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45" name="Line 10"/>
            <p:cNvSpPr/>
            <p:nvPr/>
          </p:nvSpPr>
          <p:spPr>
            <a:xfrm>
              <a:off x="720" y="1488"/>
              <a:ext cx="240" cy="0"/>
            </a:xfrm>
            <a:prstGeom prst="line">
              <a:avLst/>
            </a:prstGeom>
            <a:ln w="28575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4346" name="Text Box 13"/>
            <p:cNvSpPr txBox="1"/>
            <p:nvPr/>
          </p:nvSpPr>
          <p:spPr>
            <a:xfrm>
              <a:off x="240" y="1056"/>
              <a:ext cx="316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CF         D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15 </a:t>
              </a:r>
              <a:r>
                <a:rPr lang="en-US" altLang="zh-CN" b="1" dirty="0">
                  <a:latin typeface="Tahoma" panose="020B0604030504040204" pitchFamily="34" charset="0"/>
                </a:rPr>
                <a:t>/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b="1" dirty="0">
                  <a:latin typeface="Tahoma" panose="020B0604030504040204" pitchFamily="34" charset="0"/>
                </a:rPr>
                <a:t>    OPR      D0 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4347" name="Line 14"/>
            <p:cNvSpPr/>
            <p:nvPr/>
          </p:nvSpPr>
          <p:spPr>
            <a:xfrm>
              <a:off x="2640" y="1392"/>
              <a:ext cx="0" cy="24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48" name="Line 15"/>
            <p:cNvSpPr/>
            <p:nvPr/>
          </p:nvSpPr>
          <p:spPr>
            <a:xfrm>
              <a:off x="1440" y="1392"/>
              <a:ext cx="0" cy="240"/>
            </a:xfrm>
            <a:prstGeom prst="line">
              <a:avLst/>
            </a:prstGeom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099" name="Rectangle 19"/>
          <p:cNvSpPr/>
          <p:nvPr/>
        </p:nvSpPr>
        <p:spPr>
          <a:xfrm>
            <a:off x="5562600" y="2289175"/>
            <a:ext cx="3367088" cy="8302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乘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操作，如果符号位改变表示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溢出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101" name="Rectangle 21"/>
          <p:cNvSpPr/>
          <p:nvPr/>
        </p:nvSpPr>
        <p:spPr>
          <a:xfrm>
            <a:off x="323850" y="3332163"/>
            <a:ext cx="3549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H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逻辑右移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61"/>
          <p:cNvGrpSpPr/>
          <p:nvPr/>
        </p:nvGrpSpPr>
        <p:grpSpPr>
          <a:xfrm>
            <a:off x="-285750" y="3778250"/>
            <a:ext cx="5929313" cy="990600"/>
            <a:chOff x="-180" y="2304"/>
            <a:chExt cx="3735" cy="624"/>
          </a:xfrm>
        </p:grpSpPr>
        <p:sp>
          <p:nvSpPr>
            <p:cNvPr id="14352" name="Rectangle 24"/>
            <p:cNvSpPr/>
            <p:nvPr/>
          </p:nvSpPr>
          <p:spPr>
            <a:xfrm>
              <a:off x="864" y="2640"/>
              <a:ext cx="1776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3" name="Rectangle 25"/>
            <p:cNvSpPr/>
            <p:nvPr/>
          </p:nvSpPr>
          <p:spPr>
            <a:xfrm>
              <a:off x="2880" y="2640"/>
              <a:ext cx="336" cy="288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54" name="Text Box 26"/>
            <p:cNvSpPr txBox="1"/>
            <p:nvPr/>
          </p:nvSpPr>
          <p:spPr>
            <a:xfrm>
              <a:off x="240" y="2592"/>
              <a:ext cx="33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0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4355" name="Text Box 27"/>
            <p:cNvSpPr txBox="1"/>
            <p:nvPr/>
          </p:nvSpPr>
          <p:spPr>
            <a:xfrm>
              <a:off x="-180" y="2304"/>
              <a:ext cx="3735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              D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15 </a:t>
              </a:r>
              <a:r>
                <a:rPr lang="en-US" altLang="zh-CN" b="1" dirty="0">
                  <a:latin typeface="Tahoma" panose="020B0604030504040204" pitchFamily="34" charset="0"/>
                </a:rPr>
                <a:t>/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b="1" dirty="0">
                  <a:latin typeface="Tahoma" panose="020B0604030504040204" pitchFamily="34" charset="0"/>
                </a:rPr>
                <a:t>     OPR       D0     CF      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4356" name="Line 28"/>
            <p:cNvSpPr/>
            <p:nvPr/>
          </p:nvSpPr>
          <p:spPr>
            <a:xfrm>
              <a:off x="2400" y="2640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7" name="Line 29"/>
            <p:cNvSpPr/>
            <p:nvPr/>
          </p:nvSpPr>
          <p:spPr>
            <a:xfrm>
              <a:off x="1200" y="2640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58" name="Line 30"/>
            <p:cNvSpPr/>
            <p:nvPr/>
          </p:nvSpPr>
          <p:spPr>
            <a:xfrm>
              <a:off x="1344" y="2736"/>
              <a:ext cx="81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59" name="Line 31"/>
            <p:cNvSpPr/>
            <p:nvPr/>
          </p:nvSpPr>
          <p:spPr>
            <a:xfrm>
              <a:off x="432" y="2736"/>
              <a:ext cx="384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60" name="Line 32"/>
            <p:cNvSpPr/>
            <p:nvPr/>
          </p:nvSpPr>
          <p:spPr>
            <a:xfrm>
              <a:off x="2640" y="2784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46125" name="Rectangle 45"/>
          <p:cNvSpPr/>
          <p:nvPr/>
        </p:nvSpPr>
        <p:spPr>
          <a:xfrm>
            <a:off x="323850" y="4921250"/>
            <a:ext cx="341153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3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算术右移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62"/>
          <p:cNvGrpSpPr/>
          <p:nvPr/>
        </p:nvGrpSpPr>
        <p:grpSpPr>
          <a:xfrm>
            <a:off x="533400" y="5364163"/>
            <a:ext cx="4953000" cy="1066800"/>
            <a:chOff x="288" y="3456"/>
            <a:chExt cx="3120" cy="672"/>
          </a:xfrm>
        </p:grpSpPr>
        <p:sp>
          <p:nvSpPr>
            <p:cNvPr id="14363" name="Rectangle 47"/>
            <p:cNvSpPr/>
            <p:nvPr/>
          </p:nvSpPr>
          <p:spPr>
            <a:xfrm>
              <a:off x="528" y="3696"/>
              <a:ext cx="1776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4" name="Rectangle 48"/>
            <p:cNvSpPr/>
            <p:nvPr/>
          </p:nvSpPr>
          <p:spPr>
            <a:xfrm>
              <a:off x="2544" y="3696"/>
              <a:ext cx="240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4365" name="Line 49"/>
            <p:cNvSpPr/>
            <p:nvPr/>
          </p:nvSpPr>
          <p:spPr>
            <a:xfrm>
              <a:off x="2304" y="3840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66" name="Text Box 50"/>
            <p:cNvSpPr txBox="1"/>
            <p:nvPr/>
          </p:nvSpPr>
          <p:spPr>
            <a:xfrm>
              <a:off x="480" y="3456"/>
              <a:ext cx="29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D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15</a:t>
              </a:r>
              <a:r>
                <a:rPr lang="en-US" altLang="zh-CN" b="1" dirty="0">
                  <a:latin typeface="Tahoma" panose="020B0604030504040204" pitchFamily="34" charset="0"/>
                </a:rPr>
                <a:t>/</a:t>
              </a:r>
              <a:r>
                <a:rPr lang="en-US" altLang="zh-CN" b="1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b="1" dirty="0">
                  <a:latin typeface="Tahoma" panose="020B0604030504040204" pitchFamily="34" charset="0"/>
                </a:rPr>
                <a:t>        OPR   D0    CF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14367" name="Line 51"/>
            <p:cNvSpPr/>
            <p:nvPr/>
          </p:nvSpPr>
          <p:spPr>
            <a:xfrm flipH="1">
              <a:off x="1104" y="3840"/>
              <a:ext cx="72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4368" name="Line 52"/>
            <p:cNvSpPr/>
            <p:nvPr/>
          </p:nvSpPr>
          <p:spPr>
            <a:xfrm>
              <a:off x="288" y="3840"/>
              <a:ext cx="240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4369" name="Line 53"/>
            <p:cNvSpPr/>
            <p:nvPr/>
          </p:nvSpPr>
          <p:spPr>
            <a:xfrm>
              <a:off x="2064" y="3696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0" name="Line 54"/>
            <p:cNvSpPr/>
            <p:nvPr/>
          </p:nvSpPr>
          <p:spPr>
            <a:xfrm>
              <a:off x="816" y="3696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1" name="Line 55"/>
            <p:cNvSpPr/>
            <p:nvPr/>
          </p:nvSpPr>
          <p:spPr>
            <a:xfrm>
              <a:off x="624" y="3936"/>
              <a:ext cx="0" cy="192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2" name="Line 56"/>
            <p:cNvSpPr/>
            <p:nvPr/>
          </p:nvSpPr>
          <p:spPr>
            <a:xfrm>
              <a:off x="288" y="4128"/>
              <a:ext cx="336" cy="0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4373" name="Line 57"/>
            <p:cNvSpPr/>
            <p:nvPr/>
          </p:nvSpPr>
          <p:spPr>
            <a:xfrm>
              <a:off x="288" y="3840"/>
              <a:ext cx="0" cy="288"/>
            </a:xfrm>
            <a:prstGeom prst="line">
              <a:avLst/>
            </a:prstGeom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6102" name="Text Box 22"/>
          <p:cNvSpPr txBox="1"/>
          <p:nvPr/>
        </p:nvSpPr>
        <p:spPr>
          <a:xfrm>
            <a:off x="5572125" y="4235450"/>
            <a:ext cx="3505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无符号数除以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操作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138" name="Text Box 58"/>
          <p:cNvSpPr txBox="1"/>
          <p:nvPr/>
        </p:nvSpPr>
        <p:spPr>
          <a:xfrm>
            <a:off x="5562600" y="5664200"/>
            <a:ext cx="32956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有符号数除以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操作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4716463" y="1860550"/>
            <a:ext cx="3948112" cy="4603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dirty="0">
                <a:latin typeface="Tahoma" panose="020B0604030504040204" pitchFamily="34" charset="0"/>
              </a:rPr>
              <a:t>0000 0001B*2=0000 0010B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4702175" y="3330575"/>
            <a:ext cx="3984625" cy="4603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buClrTx/>
              <a:buFontTx/>
            </a:pPr>
            <a:r>
              <a:rPr lang="en-US" altLang="zh-CN" dirty="0">
                <a:latin typeface="Tahoma" panose="020B0604030504040204" pitchFamily="34" charset="0"/>
              </a:rPr>
              <a:t>0000 0010B/2=0000 0001B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787900" y="5003800"/>
            <a:ext cx="3898900" cy="460375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dirty="0">
                <a:latin typeface="Tahoma" panose="020B0604030504040204" pitchFamily="34" charset="0"/>
              </a:rPr>
              <a:t>1111 1110B/2=1111 1111B</a:t>
            </a:r>
            <a:endParaRPr lang="en-US" altLang="zh-CN" dirty="0">
              <a:latin typeface="Tahoma" panose="020B0604030504040204" pitchFamily="34" charset="0"/>
            </a:endParaRPr>
          </a:p>
        </p:txBody>
      </p:sp>
      <p:sp>
        <p:nvSpPr>
          <p:cNvPr id="14379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算术/逻辑移位指令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60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60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61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300" fill="hold"/>
                                        <p:tgtEl>
                                          <p:spTgt spid="461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00" fill="hold"/>
                                        <p:tgtEl>
                                          <p:spTgt spid="461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00" fill="hold"/>
                                        <p:tgtEl>
                                          <p:spTgt spid="461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300" fill="hold"/>
                                        <p:tgtEl>
                                          <p:spTgt spid="46102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61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6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61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61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13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300" fill="hold"/>
                                        <p:tgtEl>
                                          <p:spTgt spid="4613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300" fill="hold"/>
                                        <p:tgtEl>
                                          <p:spTgt spid="4613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300" fill="hold"/>
                                        <p:tgtEl>
                                          <p:spTgt spid="4613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300" fill="hold"/>
                                        <p:tgtEl>
                                          <p:spTgt spid="46138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ldLvl="0" animBg="1"/>
      <p:bldP spid="46086" grpId="0"/>
      <p:bldP spid="46099" grpId="0"/>
      <p:bldP spid="46101" grpId="0"/>
      <p:bldP spid="46125" grpId="0"/>
      <p:bldP spid="46102" grpId="0" build="p"/>
      <p:bldP spid="46138" grpId="0" build="p"/>
      <p:bldP spid="42" grpId="0" bldLvl="0" animBg="1"/>
      <p:bldP spid="43" grpId="0" bldLvl="0" animBg="1"/>
      <p:bldP spid="44" grpId="0" bldLvl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算术/逻辑移位指令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15362" name="Text Box 2"/>
          <p:cNvSpPr txBox="1"/>
          <p:nvPr>
            <p:custDataLst>
              <p:tags r:id="rId2"/>
            </p:custDataLst>
          </p:nvPr>
        </p:nvSpPr>
        <p:spPr>
          <a:xfrm>
            <a:off x="107950" y="1555750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4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算术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逻辑移位指令对标志位影响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95288" y="2133600"/>
            <a:ext cx="8320087" cy="1420813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SAL/SHL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在移位次数为 1 时，移位后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如果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CF 和操作数的最高位相等，则 OF=0，否则 OF=</a:t>
            </a:r>
            <a:r>
              <a:rPr lang="en-US" altLang="zh-CN" b="1">
                <a:latin typeface="Tahoma" panose="020B0604030504040204" pitchFamily="34" charset="0"/>
              </a:rPr>
              <a:t>1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。若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移位次数大于 1 时，OF 为不确定状态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。根据结果影响 PF、SF和 ZF。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288" y="3573463"/>
            <a:ext cx="8320087" cy="18637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marL="342900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>
                <a:latin typeface="Tahoma" panose="020B0604030504040204" pitchFamily="34" charset="0"/>
              </a:rPr>
              <a:t>当移位位数为 1 时，</a:t>
            </a:r>
            <a:r>
              <a:rPr lang="en-US" altLang="zh-CN" b="1">
                <a:solidFill>
                  <a:srgbClr val="C00000"/>
                </a:solidFill>
                <a:latin typeface="Tahoma" panose="020B0604030504040204" pitchFamily="34" charset="0"/>
              </a:rPr>
              <a:t>对SHR 指令</a:t>
            </a:r>
            <a:r>
              <a:rPr lang="en-US" altLang="zh-CN" b="1">
                <a:latin typeface="Tahoma" panose="020B0604030504040204" pitchFamily="34" charset="0"/>
              </a:rPr>
              <a:t>，移位后新的最高位和次高位不相等，则 OF=1，否则 OF=0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>
                <a:solidFill>
                  <a:srgbClr val="C00000"/>
                </a:solidFill>
                <a:latin typeface="Tahoma" panose="020B0604030504040204" pitchFamily="34" charset="0"/>
              </a:rPr>
              <a:t>若移位次数不为 1，则 OF 状态不确定</a:t>
            </a:r>
            <a:r>
              <a:rPr lang="en-US" altLang="zh-CN" b="1">
                <a:latin typeface="Tahoma" panose="020B0604030504040204" pitchFamily="34" charset="0"/>
              </a:rPr>
              <a:t>。</a:t>
            </a:r>
            <a:r>
              <a:rPr lang="en-US" altLang="zh-CN" b="1">
                <a:solidFill>
                  <a:srgbClr val="0033CC"/>
                </a:solidFill>
                <a:latin typeface="Tahoma" panose="020B0604030504040204" pitchFamily="34" charset="0"/>
              </a:rPr>
              <a:t>SAR 指令对标志位 CF、PF、SF、和ZF 有影响，但不影响 OF、AF</a:t>
            </a:r>
            <a:r>
              <a:rPr lang="en-US" altLang="zh-CN" b="1">
                <a:latin typeface="Tahoma" panose="020B0604030504040204" pitchFamily="34" charset="0"/>
              </a:rPr>
              <a:t>。</a:t>
            </a:r>
            <a:endParaRPr lang="en-US" altLang="zh-CN" b="1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算术/逻辑移位指令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794" name="矩形 4"/>
          <p:cNvSpPr/>
          <p:nvPr>
            <p:custDataLst>
              <p:tags r:id="rId2"/>
            </p:custDataLst>
          </p:nvPr>
        </p:nvSpPr>
        <p:spPr>
          <a:xfrm>
            <a:off x="357188" y="1435100"/>
            <a:ext cx="8112125" cy="1419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 fontAlgn="base">
              <a:lnSpc>
                <a:spcPct val="120000"/>
              </a:lnSpc>
              <a:buClrTx/>
              <a:buFontTx/>
            </a:pPr>
            <a:r>
              <a:rPr lang="zh-CN" altLang="en-US" b="1" strike="noStrike" noProof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思考：</a:t>
            </a:r>
            <a:endParaRPr lang="en-US" altLang="zh-CN" b="1" strike="noStrike" noProof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AL=1000 0001B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CL=3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；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分别执行下列指令，结果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AL=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？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</p:txBody>
      </p:sp>
      <p:sp>
        <p:nvSpPr>
          <p:cNvPr id="46082" name="Text Box 2"/>
          <p:cNvSpPr txBox="1"/>
          <p:nvPr>
            <p:custDataLst>
              <p:tags r:id="rId3"/>
            </p:custDataLst>
          </p:nvPr>
        </p:nvSpPr>
        <p:spPr>
          <a:xfrm>
            <a:off x="393700" y="2852738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SHL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 Box 2"/>
          <p:cNvSpPr txBox="1"/>
          <p:nvPr>
            <p:custDataLst>
              <p:tags r:id="rId4"/>
            </p:custDataLst>
          </p:nvPr>
        </p:nvSpPr>
        <p:spPr>
          <a:xfrm>
            <a:off x="393700" y="3333750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SHR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2"/>
          <p:cNvSpPr txBox="1"/>
          <p:nvPr>
            <p:custDataLst>
              <p:tags r:id="rId5"/>
            </p:custDataLst>
          </p:nvPr>
        </p:nvSpPr>
        <p:spPr>
          <a:xfrm>
            <a:off x="393700" y="3813175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3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SAL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CL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 Box 2"/>
          <p:cNvSpPr txBox="1"/>
          <p:nvPr>
            <p:custDataLst>
              <p:tags r:id="rId6"/>
            </p:custDataLst>
          </p:nvPr>
        </p:nvSpPr>
        <p:spPr>
          <a:xfrm>
            <a:off x="393700" y="4292600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4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SAR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CL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ldLvl="0" animBg="1"/>
      <p:bldP spid="2" grpId="0" bldLvl="0" animBg="1"/>
      <p:bldP spid="3" grpId="0" bldLvl="0" animBg="1"/>
      <p:bldP spid="4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9155" name="Text Box 3"/>
          <p:cNvSpPr txBox="1"/>
          <p:nvPr/>
        </p:nvSpPr>
        <p:spPr>
          <a:xfrm>
            <a:off x="538163" y="1600200"/>
            <a:ext cx="38719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O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循环左移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4"/>
          <p:cNvGrpSpPr/>
          <p:nvPr/>
        </p:nvGrpSpPr>
        <p:grpSpPr>
          <a:xfrm>
            <a:off x="3881438" y="1285875"/>
            <a:ext cx="4648200" cy="990600"/>
            <a:chOff x="2352" y="480"/>
            <a:chExt cx="2928" cy="624"/>
          </a:xfrm>
        </p:grpSpPr>
        <p:sp>
          <p:nvSpPr>
            <p:cNvPr id="17412" name="Text Box 11"/>
            <p:cNvSpPr txBox="1"/>
            <p:nvPr/>
          </p:nvSpPr>
          <p:spPr>
            <a:xfrm>
              <a:off x="2352" y="480"/>
              <a:ext cx="2928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</a:rPr>
                <a:t>   CF      D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15</a:t>
              </a:r>
              <a:r>
                <a:rPr lang="en-US" altLang="zh-CN" sz="2000" dirty="0">
                  <a:latin typeface="Tahoma" panose="020B0604030504040204" pitchFamily="34" charset="0"/>
                </a:rPr>
                <a:t>/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sz="2000" dirty="0">
                  <a:latin typeface="Tahoma" panose="020B0604030504040204" pitchFamily="34" charset="0"/>
                </a:rPr>
                <a:t>        OPR          D0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grpSp>
          <p:nvGrpSpPr>
            <p:cNvPr id="17413" name="Group 33"/>
            <p:cNvGrpSpPr/>
            <p:nvPr/>
          </p:nvGrpSpPr>
          <p:grpSpPr>
            <a:xfrm>
              <a:off x="2545" y="720"/>
              <a:ext cx="2495" cy="384"/>
              <a:chOff x="2401" y="1728"/>
              <a:chExt cx="2495" cy="384"/>
            </a:xfrm>
          </p:grpSpPr>
          <p:sp>
            <p:nvSpPr>
              <p:cNvPr id="17414" name="Rectangle 5"/>
              <p:cNvSpPr/>
              <p:nvPr/>
            </p:nvSpPr>
            <p:spPr>
              <a:xfrm>
                <a:off x="2880" y="1728"/>
                <a:ext cx="1776" cy="240"/>
              </a:xfrm>
              <a:prstGeom prst="rect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5" name="Rectangle 6"/>
              <p:cNvSpPr/>
              <p:nvPr/>
            </p:nvSpPr>
            <p:spPr>
              <a:xfrm>
                <a:off x="2401" y="1743"/>
                <a:ext cx="240" cy="240"/>
              </a:xfrm>
              <a:prstGeom prst="rect">
                <a:avLst/>
              </a:prstGeom>
              <a:noFill/>
              <a:ln w="9525" cap="flat" cmpd="sng">
                <a:solidFill>
                  <a:srgbClr val="CC0000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17416" name="Line 7"/>
              <p:cNvSpPr/>
              <p:nvPr/>
            </p:nvSpPr>
            <p:spPr>
              <a:xfrm>
                <a:off x="4656" y="187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17417" name="Line 9"/>
              <p:cNvSpPr/>
              <p:nvPr/>
            </p:nvSpPr>
            <p:spPr>
              <a:xfrm flipH="1">
                <a:off x="3360" y="1872"/>
                <a:ext cx="720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sp>
          <p:sp>
            <p:nvSpPr>
              <p:cNvPr id="17418" name="Line 10"/>
              <p:cNvSpPr/>
              <p:nvPr/>
            </p:nvSpPr>
            <p:spPr>
              <a:xfrm>
                <a:off x="2640" y="1872"/>
                <a:ext cx="240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sp>
          <p:sp>
            <p:nvSpPr>
              <p:cNvPr id="17419" name="Line 12"/>
              <p:cNvSpPr/>
              <p:nvPr/>
            </p:nvSpPr>
            <p:spPr>
              <a:xfrm>
                <a:off x="4416" y="172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0" name="Line 13"/>
              <p:cNvSpPr/>
              <p:nvPr/>
            </p:nvSpPr>
            <p:spPr>
              <a:xfrm>
                <a:off x="3216" y="1728"/>
                <a:ext cx="0" cy="240"/>
              </a:xfrm>
              <a:prstGeom prst="line">
                <a:avLst/>
              </a:prstGeom>
              <a:ln w="9525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1" name="Line 15"/>
              <p:cNvSpPr/>
              <p:nvPr/>
            </p:nvSpPr>
            <p:spPr>
              <a:xfrm>
                <a:off x="2784" y="187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2" name="Line 16"/>
              <p:cNvSpPr/>
              <p:nvPr/>
            </p:nvSpPr>
            <p:spPr>
              <a:xfrm>
                <a:off x="2784" y="2112"/>
                <a:ext cx="2112" cy="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17423" name="Line 17"/>
              <p:cNvSpPr/>
              <p:nvPr/>
            </p:nvSpPr>
            <p:spPr>
              <a:xfrm flipV="1">
                <a:off x="4896" y="1872"/>
                <a:ext cx="0" cy="240"/>
              </a:xfrm>
              <a:prstGeom prst="line">
                <a:avLst/>
              </a:prstGeom>
              <a:ln w="38100" cap="flat" cmpd="sng">
                <a:solidFill>
                  <a:srgbClr val="CC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</p:grpSp>
      <p:sp>
        <p:nvSpPr>
          <p:cNvPr id="49171" name="Text Box 19"/>
          <p:cNvSpPr txBox="1"/>
          <p:nvPr/>
        </p:nvSpPr>
        <p:spPr>
          <a:xfrm>
            <a:off x="538163" y="2590800"/>
            <a:ext cx="354806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O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循环右移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" name="Group 65"/>
          <p:cNvGrpSpPr/>
          <p:nvPr/>
        </p:nvGrpSpPr>
        <p:grpSpPr>
          <a:xfrm>
            <a:off x="4186238" y="2276475"/>
            <a:ext cx="4343400" cy="990600"/>
            <a:chOff x="2352" y="1392"/>
            <a:chExt cx="2736" cy="624"/>
          </a:xfrm>
        </p:grpSpPr>
        <p:sp>
          <p:nvSpPr>
            <p:cNvPr id="17426" name="Rectangle 21"/>
            <p:cNvSpPr/>
            <p:nvPr/>
          </p:nvSpPr>
          <p:spPr>
            <a:xfrm>
              <a:off x="2592" y="1632"/>
              <a:ext cx="1776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7" name="Rectangle 22"/>
            <p:cNvSpPr/>
            <p:nvPr/>
          </p:nvSpPr>
          <p:spPr>
            <a:xfrm>
              <a:off x="4608" y="1632"/>
              <a:ext cx="240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28" name="Line 23"/>
            <p:cNvSpPr/>
            <p:nvPr/>
          </p:nvSpPr>
          <p:spPr>
            <a:xfrm>
              <a:off x="4368" y="1776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29" name="Line 24"/>
            <p:cNvSpPr/>
            <p:nvPr/>
          </p:nvSpPr>
          <p:spPr>
            <a:xfrm flipH="1">
              <a:off x="3072" y="1776"/>
              <a:ext cx="72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430" name="Line 25"/>
            <p:cNvSpPr/>
            <p:nvPr/>
          </p:nvSpPr>
          <p:spPr>
            <a:xfrm>
              <a:off x="2352" y="1776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31" name="Text Box 26"/>
            <p:cNvSpPr txBox="1"/>
            <p:nvPr/>
          </p:nvSpPr>
          <p:spPr>
            <a:xfrm>
              <a:off x="2536" y="1392"/>
              <a:ext cx="2552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15</a:t>
              </a:r>
              <a:r>
                <a:rPr lang="en-US" altLang="zh-CN" sz="2000" dirty="0">
                  <a:latin typeface="Tahoma" panose="020B0604030504040204" pitchFamily="34" charset="0"/>
                </a:rPr>
                <a:t>/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sz="2000" dirty="0">
                  <a:latin typeface="Tahoma" panose="020B0604030504040204" pitchFamily="34" charset="0"/>
                </a:rPr>
                <a:t>        OPR          D0      CF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sp>
          <p:nvSpPr>
            <p:cNvPr id="17432" name="Line 27"/>
            <p:cNvSpPr/>
            <p:nvPr/>
          </p:nvSpPr>
          <p:spPr>
            <a:xfrm>
              <a:off x="4128" y="1632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3" name="Line 28"/>
            <p:cNvSpPr/>
            <p:nvPr/>
          </p:nvSpPr>
          <p:spPr>
            <a:xfrm>
              <a:off x="2928" y="1632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4" name="Line 29"/>
            <p:cNvSpPr/>
            <p:nvPr/>
          </p:nvSpPr>
          <p:spPr>
            <a:xfrm>
              <a:off x="2352" y="1776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5" name="Line 30"/>
            <p:cNvSpPr/>
            <p:nvPr/>
          </p:nvSpPr>
          <p:spPr>
            <a:xfrm>
              <a:off x="2352" y="2016"/>
              <a:ext cx="2112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36" name="Line 31"/>
            <p:cNvSpPr/>
            <p:nvPr/>
          </p:nvSpPr>
          <p:spPr>
            <a:xfrm flipV="1">
              <a:off x="4464" y="1776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9188" name="Text Box 36"/>
          <p:cNvSpPr txBox="1"/>
          <p:nvPr/>
        </p:nvSpPr>
        <p:spPr>
          <a:xfrm>
            <a:off x="539750" y="3429000"/>
            <a:ext cx="4946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带进位循环左移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9189" name="Text Box 37"/>
          <p:cNvSpPr txBox="1"/>
          <p:nvPr/>
        </p:nvSpPr>
        <p:spPr>
          <a:xfrm>
            <a:off x="539750" y="4929188"/>
            <a:ext cx="49498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C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带进位循环右移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66"/>
          <p:cNvGrpSpPr/>
          <p:nvPr/>
        </p:nvGrpSpPr>
        <p:grpSpPr>
          <a:xfrm>
            <a:off x="4110038" y="3800475"/>
            <a:ext cx="4419600" cy="990600"/>
            <a:chOff x="2256" y="2496"/>
            <a:chExt cx="2875" cy="624"/>
          </a:xfrm>
        </p:grpSpPr>
        <p:sp>
          <p:nvSpPr>
            <p:cNvPr id="17440" name="Text Box 39"/>
            <p:cNvSpPr txBox="1"/>
            <p:nvPr/>
          </p:nvSpPr>
          <p:spPr>
            <a:xfrm>
              <a:off x="2352" y="2496"/>
              <a:ext cx="2779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</a:rPr>
                <a:t>  CF      D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15</a:t>
              </a:r>
              <a:r>
                <a:rPr lang="en-US" altLang="zh-CN" sz="2000" dirty="0">
                  <a:latin typeface="Tahoma" panose="020B0604030504040204" pitchFamily="34" charset="0"/>
                </a:rPr>
                <a:t>/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sz="2000" dirty="0">
                  <a:latin typeface="Tahoma" panose="020B0604030504040204" pitchFamily="34" charset="0"/>
                </a:rPr>
                <a:t>        OPR         D0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sp>
          <p:nvSpPr>
            <p:cNvPr id="17441" name="Rectangle 40"/>
            <p:cNvSpPr/>
            <p:nvPr/>
          </p:nvSpPr>
          <p:spPr>
            <a:xfrm>
              <a:off x="3024" y="2736"/>
              <a:ext cx="1776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42" name="Rectangle 41"/>
            <p:cNvSpPr/>
            <p:nvPr/>
          </p:nvSpPr>
          <p:spPr>
            <a:xfrm>
              <a:off x="2496" y="2736"/>
              <a:ext cx="240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43" name="Line 42"/>
            <p:cNvSpPr/>
            <p:nvPr/>
          </p:nvSpPr>
          <p:spPr>
            <a:xfrm>
              <a:off x="4800" y="2880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444" name="Line 43"/>
            <p:cNvSpPr/>
            <p:nvPr/>
          </p:nvSpPr>
          <p:spPr>
            <a:xfrm flipH="1">
              <a:off x="3504" y="2880"/>
              <a:ext cx="72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45" name="Line 44"/>
            <p:cNvSpPr/>
            <p:nvPr/>
          </p:nvSpPr>
          <p:spPr>
            <a:xfrm>
              <a:off x="2737" y="2880"/>
              <a:ext cx="281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446" name="Line 45"/>
            <p:cNvSpPr/>
            <p:nvPr/>
          </p:nvSpPr>
          <p:spPr>
            <a:xfrm>
              <a:off x="4560" y="2736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47" name="Line 46"/>
            <p:cNvSpPr/>
            <p:nvPr/>
          </p:nvSpPr>
          <p:spPr>
            <a:xfrm>
              <a:off x="3360" y="2736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48" name="Line 47"/>
            <p:cNvSpPr/>
            <p:nvPr/>
          </p:nvSpPr>
          <p:spPr>
            <a:xfrm>
              <a:off x="2256" y="2880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49" name="Line 48"/>
            <p:cNvSpPr/>
            <p:nvPr/>
          </p:nvSpPr>
          <p:spPr>
            <a:xfrm>
              <a:off x="2256" y="3120"/>
              <a:ext cx="2784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0" name="Line 49"/>
            <p:cNvSpPr/>
            <p:nvPr/>
          </p:nvSpPr>
          <p:spPr>
            <a:xfrm flipV="1">
              <a:off x="5040" y="2880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51" name="Line 50"/>
            <p:cNvSpPr/>
            <p:nvPr/>
          </p:nvSpPr>
          <p:spPr>
            <a:xfrm>
              <a:off x="2256" y="2880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6" name="Group 67"/>
          <p:cNvGrpSpPr/>
          <p:nvPr/>
        </p:nvGrpSpPr>
        <p:grpSpPr>
          <a:xfrm>
            <a:off x="4110038" y="5248275"/>
            <a:ext cx="4419600" cy="990600"/>
            <a:chOff x="2256" y="3552"/>
            <a:chExt cx="2871" cy="624"/>
          </a:xfrm>
        </p:grpSpPr>
        <p:sp>
          <p:nvSpPr>
            <p:cNvPr id="17453" name="Rectangle 52"/>
            <p:cNvSpPr/>
            <p:nvPr/>
          </p:nvSpPr>
          <p:spPr>
            <a:xfrm>
              <a:off x="2496" y="3792"/>
              <a:ext cx="1776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54" name="Rectangle 53"/>
            <p:cNvSpPr/>
            <p:nvPr/>
          </p:nvSpPr>
          <p:spPr>
            <a:xfrm>
              <a:off x="4512" y="3792"/>
              <a:ext cx="240" cy="24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7455" name="Line 54"/>
            <p:cNvSpPr/>
            <p:nvPr/>
          </p:nvSpPr>
          <p:spPr>
            <a:xfrm>
              <a:off x="4272" y="3936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56" name="Line 55"/>
            <p:cNvSpPr/>
            <p:nvPr/>
          </p:nvSpPr>
          <p:spPr>
            <a:xfrm flipH="1">
              <a:off x="2976" y="3936"/>
              <a:ext cx="72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triangle" w="med" len="med"/>
              <a:tailEnd type="none" w="med" len="med"/>
            </a:ln>
          </p:spPr>
        </p:sp>
        <p:sp>
          <p:nvSpPr>
            <p:cNvPr id="17457" name="Line 56"/>
            <p:cNvSpPr/>
            <p:nvPr/>
          </p:nvSpPr>
          <p:spPr>
            <a:xfrm>
              <a:off x="2256" y="3936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17458" name="Text Box 57"/>
            <p:cNvSpPr txBox="1"/>
            <p:nvPr/>
          </p:nvSpPr>
          <p:spPr>
            <a:xfrm>
              <a:off x="2450" y="3552"/>
              <a:ext cx="2677" cy="251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en-US" altLang="zh-CN" sz="2000" dirty="0">
                  <a:latin typeface="Tahoma" panose="020B0604030504040204" pitchFamily="34" charset="0"/>
                </a:rPr>
                <a:t>D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15</a:t>
              </a:r>
              <a:r>
                <a:rPr lang="en-US" altLang="zh-CN" sz="2000" dirty="0">
                  <a:latin typeface="Tahoma" panose="020B0604030504040204" pitchFamily="34" charset="0"/>
                </a:rPr>
                <a:t>/</a:t>
              </a:r>
              <a:r>
                <a:rPr lang="en-US" altLang="zh-CN" sz="2000" baseline="-25000" dirty="0">
                  <a:latin typeface="Tahoma" panose="020B0604030504040204" pitchFamily="34" charset="0"/>
                </a:rPr>
                <a:t>7</a:t>
              </a:r>
              <a:r>
                <a:rPr lang="en-US" altLang="zh-CN" sz="2000" dirty="0">
                  <a:latin typeface="Tahoma" panose="020B0604030504040204" pitchFamily="34" charset="0"/>
                </a:rPr>
                <a:t>        OPR         D0     CF</a:t>
              </a:r>
              <a:endParaRPr lang="en-US" altLang="zh-CN" sz="2000" dirty="0">
                <a:latin typeface="Tahoma" panose="020B0604030504040204" pitchFamily="34" charset="0"/>
              </a:endParaRPr>
            </a:p>
          </p:txBody>
        </p:sp>
        <p:sp>
          <p:nvSpPr>
            <p:cNvPr id="17459" name="Line 58"/>
            <p:cNvSpPr/>
            <p:nvPr/>
          </p:nvSpPr>
          <p:spPr>
            <a:xfrm>
              <a:off x="4032" y="3792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0" name="Line 59"/>
            <p:cNvSpPr/>
            <p:nvPr/>
          </p:nvSpPr>
          <p:spPr>
            <a:xfrm>
              <a:off x="2832" y="3792"/>
              <a:ext cx="0" cy="24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1" name="Line 60"/>
            <p:cNvSpPr/>
            <p:nvPr/>
          </p:nvSpPr>
          <p:spPr>
            <a:xfrm>
              <a:off x="2256" y="3936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2" name="Line 61"/>
            <p:cNvSpPr/>
            <p:nvPr/>
          </p:nvSpPr>
          <p:spPr>
            <a:xfrm>
              <a:off x="2256" y="4176"/>
              <a:ext cx="2736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3" name="Line 62"/>
            <p:cNvSpPr/>
            <p:nvPr/>
          </p:nvSpPr>
          <p:spPr>
            <a:xfrm flipV="1">
              <a:off x="4992" y="3936"/>
              <a:ext cx="0" cy="24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17464" name="Line 63"/>
            <p:cNvSpPr/>
            <p:nvPr/>
          </p:nvSpPr>
          <p:spPr>
            <a:xfrm>
              <a:off x="4752" y="3936"/>
              <a:ext cx="240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7465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9750" y="5516563"/>
            <a:ext cx="3284538" cy="1198562"/>
          </a:xfrm>
          <a:prstGeom prst="rect">
            <a:avLst/>
          </a:prstGeom>
          <a:noFill/>
          <a:ln w="28575" cap="flat" cmpd="dbl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just"/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四条循环移位指令对标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 algn="just"/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志位 O</a:t>
            </a:r>
            <a:r>
              <a:rPr lang="en-US" altLang="zh-CN" b="1">
                <a:latin typeface="Tahoma" panose="020B0604030504040204" pitchFamily="34" charset="0"/>
              </a:rPr>
              <a:t>F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、SF、ZF、AF、PF 有影响。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7" dur="500"/>
                                        <p:tgtEl>
                                          <p:spTgt spid="49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17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7" dur="500"/>
                                        <p:tgtEl>
                                          <p:spTgt spid="49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37" dur="500"/>
                                        <p:tgtEl>
                                          <p:spTgt spid="49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5" grpId="0"/>
      <p:bldP spid="49171" grpId="0"/>
      <p:bldP spid="49188" grpId="0"/>
      <p:bldP spid="49189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循环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3794" name="矩形 4"/>
          <p:cNvSpPr/>
          <p:nvPr>
            <p:custDataLst>
              <p:tags r:id="rId2"/>
            </p:custDataLst>
          </p:nvPr>
        </p:nvSpPr>
        <p:spPr>
          <a:xfrm>
            <a:off x="357188" y="1435100"/>
            <a:ext cx="8112125" cy="141922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 fontAlgn="base">
              <a:lnSpc>
                <a:spcPct val="120000"/>
              </a:lnSpc>
              <a:buClrTx/>
              <a:buFontTx/>
            </a:pPr>
            <a:r>
              <a:rPr lang="zh-CN" altLang="en-US" b="1" strike="noStrike" noProof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思考：</a:t>
            </a:r>
            <a:endParaRPr lang="en-US" altLang="zh-CN" b="1" strike="noStrike" noProof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设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AL=1000 0001B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，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 CL=3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，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  <a:sym typeface="+mn-ea"/>
              </a:rPr>
              <a:t>CF=1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分别执行下列指令，结果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AL=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？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</p:txBody>
      </p:sp>
      <p:sp>
        <p:nvSpPr>
          <p:cNvPr id="46082" name="Text Box 2"/>
          <p:cNvSpPr txBox="1"/>
          <p:nvPr>
            <p:custDataLst>
              <p:tags r:id="rId3"/>
            </p:custDataLst>
          </p:nvPr>
        </p:nvSpPr>
        <p:spPr>
          <a:xfrm>
            <a:off x="393700" y="2852738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ROL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2" name="Text Box 2"/>
          <p:cNvSpPr txBox="1"/>
          <p:nvPr>
            <p:custDataLst>
              <p:tags r:id="rId4"/>
            </p:custDataLst>
          </p:nvPr>
        </p:nvSpPr>
        <p:spPr>
          <a:xfrm>
            <a:off x="393700" y="3333750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ROR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1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3" name="Text Box 2"/>
          <p:cNvSpPr txBox="1"/>
          <p:nvPr>
            <p:custDataLst>
              <p:tags r:id="rId5"/>
            </p:custDataLst>
          </p:nvPr>
        </p:nvSpPr>
        <p:spPr>
          <a:xfrm>
            <a:off x="393700" y="3813175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3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RCL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CL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  <p:sp>
        <p:nvSpPr>
          <p:cNvPr id="4" name="Text Box 2"/>
          <p:cNvSpPr txBox="1"/>
          <p:nvPr>
            <p:custDataLst>
              <p:tags r:id="rId6"/>
            </p:custDataLst>
          </p:nvPr>
        </p:nvSpPr>
        <p:spPr>
          <a:xfrm>
            <a:off x="393700" y="4292600"/>
            <a:ext cx="685800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4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0033CC"/>
                </a:solidFill>
                <a:latin typeface="Tahoma" panose="020B0604030504040204" pitchFamily="34" charset="0"/>
              </a:rPr>
              <a:t>RCR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  AL</a:t>
            </a:r>
            <a:r>
              <a: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solidFill>
                  <a:schemeClr val="tx2"/>
                </a:solidFill>
                <a:latin typeface="Tahoma" panose="020B0604030504040204" pitchFamily="34" charset="0"/>
              </a:rPr>
              <a:t>CL</a:t>
            </a:r>
            <a:endParaRPr lang="en-US" altLang="zh-CN" b="1" dirty="0">
              <a:solidFill>
                <a:schemeClr val="tx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60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082" grpId="0" bldLvl="0" animBg="1"/>
      <p:bldP spid="2" grpId="0" bldLvl="0" animBg="1"/>
      <p:bldP spid="3" grpId="0" bldLvl="0" animBg="1"/>
      <p:bldP spid="4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灯片编号占位符 3"/>
          <p:cNvSpPr txBox="1">
            <a:spLocks noGrp="1"/>
          </p:cNvSpPr>
          <p:nvPr/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33794" name="矩形 4"/>
          <p:cNvSpPr/>
          <p:nvPr/>
        </p:nvSpPr>
        <p:spPr>
          <a:xfrm>
            <a:off x="357188" y="1435100"/>
            <a:ext cx="8112125" cy="2305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just" fontAlgn="base">
              <a:lnSpc>
                <a:spcPct val="120000"/>
              </a:lnSpc>
              <a:buClrTx/>
              <a:buFontTx/>
            </a:pPr>
            <a:r>
              <a:rPr lang="zh-CN" altLang="en-US" b="1" strike="noStrike" noProof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习题</a:t>
            </a:r>
            <a:r>
              <a:rPr lang="en-US" altLang="zh-CN" b="1" strike="noStrike" noProof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8-1.</a:t>
            </a:r>
            <a:endParaRPr lang="en-US" altLang="zh-CN" b="1" strike="noStrike" noProof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在数据段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3000H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单元开始存放了数字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0~9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的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ASCII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码，求对应的十进制数字并存放到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3500H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开始的单元；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  <a:p>
            <a:pPr marL="342900" indent="-342900" algn="just" fontAlgn="base">
              <a:lnSpc>
                <a:spcPct val="120000"/>
              </a:lnSpc>
              <a:buClrTx/>
              <a:buFont typeface="Arial" panose="020B0604020202020204" pitchFamily="34" charset="0"/>
              <a:buChar char="•"/>
            </a:pP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再将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3500H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开始的十进制数字转换为对应的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ASCII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码，存放到</a:t>
            </a:r>
            <a:r>
              <a:rPr lang="en-US" altLang="zh-CN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3800H</a:t>
            </a:r>
            <a:r>
              <a:rPr lang="zh-CN" altLang="en-US" b="1" strike="noStrike" noProof="1" dirty="0"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开始单元。</a:t>
            </a:r>
            <a:endParaRPr lang="zh-CN" altLang="en-US" b="1" strike="noStrike" noProof="1" dirty="0">
              <a:latin typeface="Tahoma" panose="020B060403050404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87400" y="3932238"/>
            <a:ext cx="7440613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dirty="0">
                <a:solidFill>
                  <a:srgbClr val="0000FF"/>
                </a:solidFill>
                <a:latin typeface="Tahoma" panose="020B0604030504040204" pitchFamily="34" charset="0"/>
              </a:rPr>
              <a:t>30H,31H,32H,33H,34H,35H,36H,37H,38H,39H</a:t>
            </a:r>
            <a:endParaRPr lang="en-US" altLang="zh-CN" sz="28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8838" y="5703888"/>
            <a:ext cx="7442200" cy="522287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dirty="0">
                <a:solidFill>
                  <a:srgbClr val="0000FF"/>
                </a:solidFill>
                <a:latin typeface="Tahoma" panose="020B0604030504040204" pitchFamily="34" charset="0"/>
              </a:rPr>
              <a:t>00H,01H,02H,03H,04H,05H,06H,07H,08H,09H</a:t>
            </a:r>
            <a:endParaRPr lang="en-US" altLang="zh-CN" sz="2800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8" name="下箭头 7"/>
          <p:cNvSpPr/>
          <p:nvPr/>
        </p:nvSpPr>
        <p:spPr>
          <a:xfrm>
            <a:off x="4706938" y="4546600"/>
            <a:ext cx="428625" cy="1031875"/>
          </a:xfrm>
          <a:prstGeom prst="downArrow">
            <a:avLst>
              <a:gd name="adj1" fmla="val 50000"/>
              <a:gd name="adj2" fmla="val 49886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43500" y="4551363"/>
            <a:ext cx="34575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AND   AL, 00001111B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143500" y="5122863"/>
            <a:ext cx="226853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SUB   AL, 30H</a:t>
            </a:r>
            <a:endParaRPr lang="en-US" altLang="zh-CN" b="1" dirty="0">
              <a:solidFill>
                <a:srgbClr val="00B050"/>
              </a:solidFill>
              <a:latin typeface="Tahoma" panose="020B0604030504040204" pitchFamily="34" charset="0"/>
            </a:endParaRPr>
          </a:p>
        </p:txBody>
      </p:sp>
      <p:sp>
        <p:nvSpPr>
          <p:cNvPr id="11" name="下箭头 10"/>
          <p:cNvSpPr/>
          <p:nvPr/>
        </p:nvSpPr>
        <p:spPr>
          <a:xfrm rot="10800000">
            <a:off x="3500438" y="4508500"/>
            <a:ext cx="428625" cy="1028700"/>
          </a:xfrm>
          <a:prstGeom prst="downArrow">
            <a:avLst>
              <a:gd name="adj1" fmla="val 50000"/>
              <a:gd name="adj2" fmla="val 49922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sz="2800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2588" y="4575175"/>
            <a:ext cx="31496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OR  AL, 00110000B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77825" y="5194300"/>
            <a:ext cx="2312988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B050"/>
                </a:solidFill>
                <a:latin typeface="Tahoma" panose="020B0604030504040204" pitchFamily="34" charset="0"/>
              </a:rPr>
              <a:t>ADD   AL, 30H</a:t>
            </a:r>
            <a:endParaRPr lang="en-US" altLang="zh-CN" b="1" dirty="0">
              <a:solidFill>
                <a:srgbClr val="00B050"/>
              </a:solidFill>
              <a:latin typeface="Tahoma" panose="020B0604030504040204" pitchFamily="34" charset="0"/>
            </a:endParaRPr>
          </a:p>
        </p:txBody>
      </p:sp>
      <p:sp>
        <p:nvSpPr>
          <p:cNvPr id="19467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3.4.3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逻辑运算与移位指令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bldLvl="0" animBg="1"/>
      <p:bldP spid="9" grpId="0"/>
      <p:bldP spid="10" grpId="0"/>
      <p:bldP spid="11" grpId="0" bldLvl="0" animBg="1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51204" name="Rectangle 4"/>
          <p:cNvSpPr/>
          <p:nvPr/>
        </p:nvSpPr>
        <p:spPr>
          <a:xfrm>
            <a:off x="3132138" y="1671638"/>
            <a:ext cx="5405437" cy="3784600"/>
          </a:xfrm>
          <a:prstGeom prst="rect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约定：</a:t>
            </a:r>
            <a:endParaRPr lang="zh-CN" altLang="en-US" b="1" dirty="0">
              <a:solidFill>
                <a:srgbClr val="CC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源数据串地址：   </a:t>
            </a:r>
            <a:r>
              <a:rPr lang="en-US" altLang="zh-CN" b="1" dirty="0">
                <a:latin typeface="Tahoma" panose="020B0604030504040204" pitchFamily="34" charset="0"/>
              </a:rPr>
              <a:t>DS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目的数据串地址：</a:t>
            </a:r>
            <a:r>
              <a:rPr lang="en-US" altLang="zh-CN" b="1" dirty="0">
                <a:latin typeface="Tahoma" panose="020B0604030504040204" pitchFamily="34" charset="0"/>
              </a:rPr>
              <a:t>ES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传送次数：</a:t>
            </a:r>
            <a:r>
              <a:rPr lang="en-US" altLang="zh-CN" b="1" dirty="0">
                <a:latin typeface="Tahoma" panose="020B0604030504040204" pitchFamily="34" charset="0"/>
              </a:rPr>
              <a:t>CX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每传送一次，自动修改 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值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r>
              <a:rPr lang="en-US" altLang="zh-CN" b="1" dirty="0">
                <a:latin typeface="Tahoma" panose="020B0604030504040204" pitchFamily="34" charset="0"/>
              </a:rPr>
              <a:t>CLD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使标志</a:t>
            </a:r>
            <a:r>
              <a:rPr lang="en-US" altLang="zh-CN" b="1" dirty="0">
                <a:latin typeface="Tahoma" panose="020B0604030504040204" pitchFamily="34" charset="0"/>
              </a:rPr>
              <a:t>DF=0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，增址方向传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指令</a:t>
            </a:r>
            <a:r>
              <a:rPr lang="en-US" altLang="zh-CN" b="1" dirty="0">
                <a:latin typeface="Tahoma" panose="020B0604030504040204" pitchFamily="34" charset="0"/>
              </a:rPr>
              <a:t>STD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使标志</a:t>
            </a:r>
            <a:r>
              <a:rPr lang="en-US" altLang="zh-CN" b="1" dirty="0">
                <a:latin typeface="Tahoma" panose="020B0604030504040204" pitchFamily="34" charset="0"/>
              </a:rPr>
              <a:t>DF=1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，减址方向传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40"/>
          <p:cNvGrpSpPr/>
          <p:nvPr/>
        </p:nvGrpSpPr>
        <p:grpSpPr>
          <a:xfrm>
            <a:off x="330200" y="1524000"/>
            <a:ext cx="2743200" cy="5105400"/>
            <a:chOff x="4032" y="1104"/>
            <a:chExt cx="1728" cy="3216"/>
          </a:xfrm>
        </p:grpSpPr>
        <p:grpSp>
          <p:nvGrpSpPr>
            <p:cNvPr id="20484" name="Group 32"/>
            <p:cNvGrpSpPr/>
            <p:nvPr/>
          </p:nvGrpSpPr>
          <p:grpSpPr>
            <a:xfrm>
              <a:off x="4656" y="1104"/>
              <a:ext cx="720" cy="3216"/>
              <a:chOff x="4560" y="1104"/>
              <a:chExt cx="720" cy="3216"/>
            </a:xfrm>
          </p:grpSpPr>
          <p:sp>
            <p:nvSpPr>
              <p:cNvPr id="20485" name="Text Box 11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6" name="Rectangle 12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87" name="Line 13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88" name="Line 14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89" name="Line 19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0" name="Line 27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1" name="Line 28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2" name="Rectangle 30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3" name="Rectangle 29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0494" name="Line 15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5" name="Line 17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6" name="Line 20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7" name="Line 21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8" name="Line 31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499" name="Line 18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0" name="Line 22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1" name="Line 23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0502" name="Line 24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0503" name="Text Box 33"/>
            <p:cNvSpPr txBox="1"/>
            <p:nvPr/>
          </p:nvSpPr>
          <p:spPr>
            <a:xfrm>
              <a:off x="4032" y="1488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：</a:t>
              </a:r>
              <a:r>
                <a:rPr lang="en-US" altLang="zh-CN" b="1" dirty="0">
                  <a:latin typeface="Tahoma" panose="020B0604030504040204" pitchFamily="34" charset="0"/>
                </a:rPr>
                <a:t>SI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20504" name="Text Box 34"/>
            <p:cNvSpPr txBox="1"/>
            <p:nvPr/>
          </p:nvSpPr>
          <p:spPr>
            <a:xfrm>
              <a:off x="4032" y="288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：</a:t>
              </a:r>
              <a:r>
                <a:rPr lang="en-US" altLang="zh-CN" b="1" dirty="0"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20505" name="Text Box 36"/>
            <p:cNvSpPr txBox="1"/>
            <p:nvPr/>
          </p:nvSpPr>
          <p:spPr>
            <a:xfrm>
              <a:off x="5472" y="1296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源串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06" name="Text Box 37"/>
            <p:cNvSpPr txBox="1"/>
            <p:nvPr/>
          </p:nvSpPr>
          <p:spPr>
            <a:xfrm>
              <a:off x="5472" y="3216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目的串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0507" name="AutoShape 39"/>
            <p:cNvSpPr/>
            <p:nvPr/>
          </p:nvSpPr>
          <p:spPr>
            <a:xfrm rot="5110812">
              <a:off x="4619" y="1979"/>
              <a:ext cx="1248" cy="10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0508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串操作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132138" y="5537200"/>
            <a:ext cx="5392737" cy="977900"/>
          </a:xfrm>
          <a:prstGeom prst="rect">
            <a:avLst/>
          </a:prstGeom>
          <a:noFill/>
          <a:ln w="28575" cap="flat" cmpd="dbl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lnSpc>
                <a:spcPct val="120000"/>
              </a:lnSpc>
            </a:pP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通常把存放在</a:t>
            </a:r>
            <a:r>
              <a:rPr lang="zh-CN" altLang="en-US" b="1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存储器某一连续地址区域的字符或数据</a:t>
            </a:r>
            <a:r>
              <a:rPr lang="zh-CN" altLang="en-US" b="1">
                <a:latin typeface="Times New Roman" panose="02020603050405020304" pitchFamily="18" charset="0"/>
                <a:ea typeface="宋体" panose="02010600030101010101" pitchFamily="2" charset="-122"/>
              </a:rPr>
              <a:t>称为字符串或数据串</a:t>
            </a:r>
            <a:endParaRPr lang="zh-CN" altLang="en-US" b="1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500"/>
                                        <p:tgtEl>
                                          <p:spTgt spid="5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500"/>
                                        <p:tgtEl>
                                          <p:spTgt spid="51204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4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51204">
                                            <p:txEl>
                                              <p:charRg st="4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21" end="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1204">
                                            <p:txEl>
                                              <p:charRg st="21" end="3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35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51204">
                                            <p:txEl>
                                              <p:charRg st="35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43" end="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1204">
                                            <p:txEl>
                                              <p:charRg st="43" end="6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61" end="8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1204">
                                            <p:txEl>
                                              <p:charRg st="61" end="8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>
                                            <p:txEl>
                                              <p:charRg st="80" end="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1204">
                                            <p:txEl>
                                              <p:charRg st="80" end="9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4" grpId="0" animBg="1" build="p"/>
      <p:bldP spid="3" grpId="0" bldLvl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1506" name="Text Box 2"/>
          <p:cNvSpPr txBox="1"/>
          <p:nvPr/>
        </p:nvSpPr>
        <p:spPr>
          <a:xfrm>
            <a:off x="466725" y="2325688"/>
            <a:ext cx="26098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MOVSB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2227" name="Text Box 3"/>
          <p:cNvSpPr txBox="1"/>
          <p:nvPr/>
        </p:nvSpPr>
        <p:spPr>
          <a:xfrm>
            <a:off x="3181350" y="1944688"/>
            <a:ext cx="3319463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（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SI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1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2228" name="AutoShape 4"/>
          <p:cNvSpPr/>
          <p:nvPr/>
        </p:nvSpPr>
        <p:spPr>
          <a:xfrm>
            <a:off x="2984500" y="2025650"/>
            <a:ext cx="228600" cy="1090613"/>
          </a:xfrm>
          <a:prstGeom prst="leftBrace">
            <a:avLst>
              <a:gd name="adj1" fmla="val 39491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2231" name="Rectangle 7"/>
          <p:cNvSpPr/>
          <p:nvPr/>
        </p:nvSpPr>
        <p:spPr>
          <a:xfrm>
            <a:off x="428625" y="3541713"/>
            <a:ext cx="29908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MOVSW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2251" name="Rectangle 27"/>
          <p:cNvSpPr/>
          <p:nvPr/>
        </p:nvSpPr>
        <p:spPr>
          <a:xfrm>
            <a:off x="428625" y="4573588"/>
            <a:ext cx="62595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   MOVSB/MOVSW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2256" name="Text Box 32"/>
          <p:cNvSpPr txBox="1"/>
          <p:nvPr/>
        </p:nvSpPr>
        <p:spPr>
          <a:xfrm>
            <a:off x="357188" y="5143500"/>
            <a:ext cx="6599237" cy="1198563"/>
          </a:xfrm>
          <a:prstGeom prst="rect">
            <a:avLst/>
          </a:prstGeom>
          <a:noFill/>
          <a:ln w="9525" cap="flat" cmpd="sng">
            <a:solidFill>
              <a:srgbClr val="C0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just">
              <a:spcBef>
                <a:spcPct val="5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</a:t>
            </a:r>
            <a:r>
              <a:rPr lang="zh-CN" altLang="en-US" b="1" dirty="0">
                <a:latin typeface="Tahoma" panose="020B0604030504040204" pitchFamily="34" charset="0"/>
              </a:rPr>
              <a:t>是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重复前缀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，只能加在串操作指令前使之重复执行。重复次数由CX指定，执行中自动对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CX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减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sym typeface="宋体" panose="02010600030101010101" pitchFamily="2" charset="-122"/>
              </a:rPr>
              <a:t>，直到 CX=0 时结束。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2259" name="Text Box 35"/>
          <p:cNvSpPr txBox="1"/>
          <p:nvPr/>
        </p:nvSpPr>
        <p:spPr>
          <a:xfrm>
            <a:off x="3181350" y="3182938"/>
            <a:ext cx="2881313" cy="12350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</a:rPr>
              <a:t> （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2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 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2260" name="AutoShape 36"/>
          <p:cNvSpPr/>
          <p:nvPr/>
        </p:nvSpPr>
        <p:spPr>
          <a:xfrm>
            <a:off x="2960688" y="3178175"/>
            <a:ext cx="269875" cy="1227138"/>
          </a:xfrm>
          <a:prstGeom prst="leftBrace">
            <a:avLst>
              <a:gd name="adj1" fmla="val 37639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" name="Group 39"/>
          <p:cNvGrpSpPr/>
          <p:nvPr/>
        </p:nvGrpSpPr>
        <p:grpSpPr>
          <a:xfrm>
            <a:off x="6043613" y="990600"/>
            <a:ext cx="2743200" cy="5105400"/>
            <a:chOff x="4032" y="1104"/>
            <a:chExt cx="1728" cy="3216"/>
          </a:xfrm>
        </p:grpSpPr>
        <p:grpSp>
          <p:nvGrpSpPr>
            <p:cNvPr id="21515" name="Group 40"/>
            <p:cNvGrpSpPr/>
            <p:nvPr/>
          </p:nvGrpSpPr>
          <p:grpSpPr>
            <a:xfrm>
              <a:off x="4656" y="1104"/>
              <a:ext cx="720" cy="3216"/>
              <a:chOff x="4560" y="1104"/>
              <a:chExt cx="720" cy="3216"/>
            </a:xfrm>
          </p:grpSpPr>
          <p:sp>
            <p:nvSpPr>
              <p:cNvPr id="21516" name="Text Box 41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17" name="Rectangle 42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18" name="Line 43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19" name="Line 44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0" name="Line 45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1" name="Line 46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2" name="Line 47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3" name="Rectangle 48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24" name="Rectangle 49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1525" name="Line 50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6" name="Line 51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7" name="Line 52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8" name="Line 53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29" name="Line 54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30" name="Line 55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31" name="Line 56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32" name="Line 57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1533" name="Line 58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1534" name="Text Box 59"/>
            <p:cNvSpPr txBox="1"/>
            <p:nvPr/>
          </p:nvSpPr>
          <p:spPr>
            <a:xfrm>
              <a:off x="4032" y="1488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SI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21535" name="Text Box 60"/>
            <p:cNvSpPr txBox="1"/>
            <p:nvPr/>
          </p:nvSpPr>
          <p:spPr>
            <a:xfrm>
              <a:off x="4032" y="288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21536" name="Text Box 61"/>
            <p:cNvSpPr txBox="1"/>
            <p:nvPr/>
          </p:nvSpPr>
          <p:spPr>
            <a:xfrm>
              <a:off x="5472" y="1296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21537" name="Text Box 62"/>
            <p:cNvSpPr txBox="1"/>
            <p:nvPr/>
          </p:nvSpPr>
          <p:spPr>
            <a:xfrm>
              <a:off x="5472" y="3216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21538" name="AutoShape 63"/>
            <p:cNvSpPr/>
            <p:nvPr/>
          </p:nvSpPr>
          <p:spPr>
            <a:xfrm rot="5110812">
              <a:off x="4619" y="1979"/>
              <a:ext cx="1248" cy="10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21539" name="矩形 36"/>
          <p:cNvSpPr/>
          <p:nvPr/>
        </p:nvSpPr>
        <p:spPr>
          <a:xfrm>
            <a:off x="498475" y="1422400"/>
            <a:ext cx="44688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1. MOVS</a:t>
            </a:r>
            <a:r>
              <a:rPr lang="zh-CN" altLang="en-US" b="1" dirty="0">
                <a:latin typeface="Tahoma" panose="020B0604030504040204" pitchFamily="34" charset="0"/>
              </a:rPr>
              <a:t>串传送指令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154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6381750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2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300" fill="hold"/>
                                        <p:tgtEl>
                                          <p:spTgt spid="5222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300" fill="hold"/>
                                        <p:tgtEl>
                                          <p:spTgt spid="5222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300" fill="hold"/>
                                        <p:tgtEl>
                                          <p:spTgt spid="5222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" fill="hold"/>
                                        <p:tgtEl>
                                          <p:spTgt spid="52227">
                                            <p:txEl>
                                              <p:charRg st="0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11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300" fill="hold"/>
                                        <p:tgtEl>
                                          <p:spTgt spid="52227">
                                            <p:txEl>
                                              <p:charRg st="11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" fill="hold"/>
                                        <p:tgtEl>
                                          <p:spTgt spid="52227">
                                            <p:txEl>
                                              <p:charRg st="11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00" fill="hold"/>
                                        <p:tgtEl>
                                          <p:spTgt spid="52227">
                                            <p:txEl>
                                              <p:charRg st="11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300" fill="hold"/>
                                        <p:tgtEl>
                                          <p:spTgt spid="52227">
                                            <p:txEl>
                                              <p:charRg st="11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>
                                            <p:txEl>
                                              <p:charRg st="2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300" fill="hold"/>
                                        <p:tgtEl>
                                          <p:spTgt spid="52227">
                                            <p:txEl>
                                              <p:charRg st="2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300" fill="hold"/>
                                        <p:tgtEl>
                                          <p:spTgt spid="52227">
                                            <p:txEl>
                                              <p:charRg st="2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" fill="hold"/>
                                        <p:tgtEl>
                                          <p:spTgt spid="52227">
                                            <p:txEl>
                                              <p:charRg st="2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00" fill="hold"/>
                                        <p:tgtEl>
                                          <p:spTgt spid="52227">
                                            <p:txEl>
                                              <p:charRg st="2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52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52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52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52231">
                                            <p:txEl>
                                              <p:charRg st="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22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22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22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22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2259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52259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52259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2259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2259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9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2259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2259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2259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52259">
                                            <p:txEl>
                                              <p:charRg st="27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22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52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2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5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225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225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5225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52256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7" grpId="0" build="p"/>
      <p:bldP spid="52228" grpId="0" bldLvl="0" animBg="1"/>
      <p:bldP spid="52231" grpId="0" build="p"/>
      <p:bldP spid="52251" grpId="0"/>
      <p:bldP spid="52256" grpId="0" animBg="1" uiExpand="1" build="p"/>
      <p:bldP spid="52259" grpId="0" build="p"/>
      <p:bldP spid="52260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" name="矩形 43"/>
          <p:cNvSpPr/>
          <p:nvPr/>
        </p:nvSpPr>
        <p:spPr bwMode="auto">
          <a:xfrm>
            <a:off x="3857625" y="2005013"/>
            <a:ext cx="1500188" cy="185737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30" name="Rectangle 45"/>
          <p:cNvSpPr/>
          <p:nvPr/>
        </p:nvSpPr>
        <p:spPr>
          <a:xfrm>
            <a:off x="6643688" y="1143000"/>
            <a:ext cx="1370012" cy="5214938"/>
          </a:xfrm>
          <a:prstGeom prst="rect">
            <a:avLst/>
          </a:prstGeom>
          <a:solidFill>
            <a:schemeClr val="bg1"/>
          </a:solidFill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31" name="矩形 48"/>
          <p:cNvSpPr/>
          <p:nvPr/>
        </p:nvSpPr>
        <p:spPr>
          <a:xfrm>
            <a:off x="6643688" y="1500188"/>
            <a:ext cx="1357312" cy="2000250"/>
          </a:xfrm>
          <a:prstGeom prst="rect">
            <a:avLst/>
          </a:prstGeom>
          <a:solidFill>
            <a:srgbClr val="FFFFCC"/>
          </a:solidFill>
          <a:ln w="9525">
            <a:noFill/>
          </a:ln>
        </p:spPr>
        <p:txBody>
          <a:bodyPr wrap="none" anchor="t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01H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00H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02H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00H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32" name="Line 52"/>
          <p:cNvSpPr/>
          <p:nvPr/>
        </p:nvSpPr>
        <p:spPr>
          <a:xfrm>
            <a:off x="6643688" y="3856038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3" name="TextBox 47"/>
          <p:cNvSpPr txBox="1"/>
          <p:nvPr/>
        </p:nvSpPr>
        <p:spPr>
          <a:xfrm>
            <a:off x="5214938" y="3000375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2013H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34" name="Line 46"/>
          <p:cNvSpPr/>
          <p:nvPr/>
        </p:nvSpPr>
        <p:spPr>
          <a:xfrm>
            <a:off x="6643688" y="1539875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5" name="Line 47"/>
          <p:cNvSpPr/>
          <p:nvPr/>
        </p:nvSpPr>
        <p:spPr>
          <a:xfrm>
            <a:off x="6643688" y="1936750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6" name="Line 48"/>
          <p:cNvSpPr/>
          <p:nvPr/>
        </p:nvSpPr>
        <p:spPr>
          <a:xfrm>
            <a:off x="6643688" y="2268538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7" name="Line 49"/>
          <p:cNvSpPr/>
          <p:nvPr/>
        </p:nvSpPr>
        <p:spPr>
          <a:xfrm>
            <a:off x="6643688" y="2665413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38" name="Line 50"/>
          <p:cNvSpPr/>
          <p:nvPr/>
        </p:nvSpPr>
        <p:spPr>
          <a:xfrm>
            <a:off x="6643688" y="3062288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50" name="矩形 49"/>
          <p:cNvSpPr/>
          <p:nvPr/>
        </p:nvSpPr>
        <p:spPr bwMode="auto">
          <a:xfrm>
            <a:off x="6643688" y="4286250"/>
            <a:ext cx="1357313" cy="2071688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01H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  <a:t>00H</a:t>
            </a:r>
            <a:endParaRPr kumimoji="1" lang="en-US" altLang="zh-CN" sz="24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540" name="Line 51"/>
          <p:cNvSpPr/>
          <p:nvPr/>
        </p:nvSpPr>
        <p:spPr>
          <a:xfrm>
            <a:off x="6643688" y="3459163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1" name="Line 53"/>
          <p:cNvSpPr/>
          <p:nvPr/>
        </p:nvSpPr>
        <p:spPr>
          <a:xfrm>
            <a:off x="6643688" y="4252913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2" name="Line 54"/>
          <p:cNvSpPr/>
          <p:nvPr/>
        </p:nvSpPr>
        <p:spPr>
          <a:xfrm>
            <a:off x="6643688" y="4649788"/>
            <a:ext cx="1370012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3" name="Line 55"/>
          <p:cNvSpPr/>
          <p:nvPr/>
        </p:nvSpPr>
        <p:spPr>
          <a:xfrm>
            <a:off x="6677025" y="5072063"/>
            <a:ext cx="1370013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4" name="Line 56"/>
          <p:cNvSpPr/>
          <p:nvPr/>
        </p:nvSpPr>
        <p:spPr>
          <a:xfrm>
            <a:off x="6677025" y="5500688"/>
            <a:ext cx="1370013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5" name="Line 57"/>
          <p:cNvSpPr/>
          <p:nvPr/>
        </p:nvSpPr>
        <p:spPr>
          <a:xfrm>
            <a:off x="6677025" y="5857875"/>
            <a:ext cx="1370013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22546" name="TextBox 73"/>
          <p:cNvSpPr txBox="1"/>
          <p:nvPr/>
        </p:nvSpPr>
        <p:spPr>
          <a:xfrm>
            <a:off x="5214938" y="1928813"/>
            <a:ext cx="14287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2001H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47" name="TextBox 74"/>
          <p:cNvSpPr txBox="1"/>
          <p:nvPr/>
        </p:nvSpPr>
        <p:spPr>
          <a:xfrm>
            <a:off x="5214938" y="1571625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2000H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48" name="TextBox 75"/>
          <p:cNvSpPr txBox="1"/>
          <p:nvPr/>
        </p:nvSpPr>
        <p:spPr>
          <a:xfrm>
            <a:off x="5214938" y="2571750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49" name="TextBox 76"/>
          <p:cNvSpPr txBox="1"/>
          <p:nvPr/>
        </p:nvSpPr>
        <p:spPr>
          <a:xfrm>
            <a:off x="5214938" y="5715000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3013H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50" name="TextBox 77"/>
          <p:cNvSpPr txBox="1"/>
          <p:nvPr/>
        </p:nvSpPr>
        <p:spPr>
          <a:xfrm>
            <a:off x="5214938" y="4643438"/>
            <a:ext cx="14287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3001H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51" name="TextBox 78"/>
          <p:cNvSpPr txBox="1"/>
          <p:nvPr/>
        </p:nvSpPr>
        <p:spPr>
          <a:xfrm>
            <a:off x="5214938" y="4286250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3000H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52" name="TextBox 79"/>
          <p:cNvSpPr txBox="1"/>
          <p:nvPr/>
        </p:nvSpPr>
        <p:spPr>
          <a:xfrm>
            <a:off x="5214938" y="5286375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…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2553" name="组合 88"/>
          <p:cNvGrpSpPr/>
          <p:nvPr/>
        </p:nvGrpSpPr>
        <p:grpSpPr>
          <a:xfrm>
            <a:off x="8143875" y="1928813"/>
            <a:ext cx="358775" cy="2716212"/>
            <a:chOff x="8001024" y="2143116"/>
            <a:chExt cx="357984" cy="2716232"/>
          </a:xfrm>
        </p:grpSpPr>
        <p:cxnSp>
          <p:nvCxnSpPr>
            <p:cNvPr id="22554" name="直接连接符 81"/>
            <p:cNvCxnSpPr/>
            <p:nvPr/>
          </p:nvCxnSpPr>
          <p:spPr>
            <a:xfrm>
              <a:off x="8001024" y="2143116"/>
              <a:ext cx="357190" cy="1588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22555" name="直接连接符 84"/>
            <p:cNvCxnSpPr/>
            <p:nvPr/>
          </p:nvCxnSpPr>
          <p:spPr>
            <a:xfrm rot="5400000">
              <a:off x="7001686" y="3500438"/>
              <a:ext cx="2713850" cy="794"/>
            </a:xfrm>
            <a:prstGeom prst="line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</p:cxnSp>
        <p:cxnSp>
          <p:nvCxnSpPr>
            <p:cNvPr id="22556" name="直接箭头连接符 86"/>
            <p:cNvCxnSpPr/>
            <p:nvPr/>
          </p:nvCxnSpPr>
          <p:spPr>
            <a:xfrm rot="10800000">
              <a:off x="8072462" y="4857760"/>
              <a:ext cx="285752" cy="1588"/>
            </a:xfrm>
            <a:prstGeom prst="straightConnector1">
              <a:avLst/>
            </a:prstGeom>
            <a:ln w="19050" cap="flat" cmpd="sng">
              <a:solidFill>
                <a:schemeClr val="tx1"/>
              </a:solidFill>
              <a:prstDash val="solid"/>
              <a:miter/>
              <a:headEnd type="none" w="med" len="med"/>
              <a:tailEnd type="arrow" w="med" len="med"/>
            </a:ln>
          </p:spPr>
        </p:cxnSp>
      </p:grpSp>
      <p:sp>
        <p:nvSpPr>
          <p:cNvPr id="22557" name="TextBox 73"/>
          <p:cNvSpPr txBox="1"/>
          <p:nvPr/>
        </p:nvSpPr>
        <p:spPr>
          <a:xfrm>
            <a:off x="5214938" y="2286000"/>
            <a:ext cx="1428750" cy="461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2002H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58" name="TextBox 73"/>
          <p:cNvSpPr txBox="1"/>
          <p:nvPr/>
        </p:nvSpPr>
        <p:spPr>
          <a:xfrm>
            <a:off x="5214938" y="4967288"/>
            <a:ext cx="1428750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3002H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59" name="右大括号 46"/>
          <p:cNvSpPr/>
          <p:nvPr/>
        </p:nvSpPr>
        <p:spPr>
          <a:xfrm>
            <a:off x="8072438" y="1714500"/>
            <a:ext cx="142875" cy="500063"/>
          </a:xfrm>
          <a:prstGeom prst="rightBrace">
            <a:avLst>
              <a:gd name="adj1" fmla="val 8134"/>
              <a:gd name="adj2" fmla="val 500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2560" name="右大括号 47"/>
          <p:cNvSpPr/>
          <p:nvPr/>
        </p:nvSpPr>
        <p:spPr>
          <a:xfrm>
            <a:off x="8072438" y="4357688"/>
            <a:ext cx="142875" cy="500062"/>
          </a:xfrm>
          <a:prstGeom prst="rightBrace">
            <a:avLst>
              <a:gd name="adj1" fmla="val 8134"/>
              <a:gd name="adj2" fmla="val 500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2561" name="TextBox 48"/>
          <p:cNvSpPr txBox="1"/>
          <p:nvPr/>
        </p:nvSpPr>
        <p:spPr>
          <a:xfrm>
            <a:off x="538163" y="1987550"/>
            <a:ext cx="3143250" cy="1568450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AL, [SI]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[DI], AL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SI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DI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22562" name="TextBox 53"/>
          <p:cNvSpPr txBox="1"/>
          <p:nvPr/>
        </p:nvSpPr>
        <p:spPr>
          <a:xfrm>
            <a:off x="538163" y="4084638"/>
            <a:ext cx="4357687" cy="2308225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AX, [SI] ;0001H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[DI], AX ;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SI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SI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DI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INC    DI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1928813" y="3575050"/>
            <a:ext cx="12985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MOVSB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2000250" y="6346825"/>
            <a:ext cx="14017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MOVSW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5813" y="3562350"/>
            <a:ext cx="7921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REP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857250" y="6359525"/>
            <a:ext cx="7921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REP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929063" y="2076450"/>
            <a:ext cx="10572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DS:SI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3929063" y="3076575"/>
            <a:ext cx="10509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ES:DI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4357688" y="2647950"/>
            <a:ext cx="500062" cy="500063"/>
          </a:xfrm>
          <a:prstGeom prst="downArrow">
            <a:avLst>
              <a:gd name="adj1" fmla="val 50000"/>
              <a:gd name="adj2" fmla="val 49944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2257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2571" name="矩形 36"/>
          <p:cNvSpPr/>
          <p:nvPr>
            <p:custDataLst>
              <p:tags r:id="rId2"/>
            </p:custDataLst>
          </p:nvPr>
        </p:nvSpPr>
        <p:spPr>
          <a:xfrm>
            <a:off x="498475" y="1422400"/>
            <a:ext cx="44688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1. MOVS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串传送指令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2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37" grpId="0"/>
      <p:bldP spid="38" grpId="0"/>
      <p:bldP spid="39" grpId="0"/>
      <p:bldP spid="40" grpId="0"/>
      <p:bldP spid="41" grpId="0"/>
      <p:bldP spid="42" grpId="0"/>
      <p:bldP spid="43" grpId="0" bldLvl="0" animBg="1"/>
      <p:bldP spid="22561" grpId="0" animBg="1"/>
      <p:bldP spid="2256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1" name="标题 1"/>
          <p:cNvSpPr>
            <a:spLocks noGrp="1"/>
          </p:cNvSpPr>
          <p:nvPr>
            <p:ph type="title"/>
          </p:nvPr>
        </p:nvSpPr>
        <p:spPr>
          <a:xfrm>
            <a:off x="447675" y="1479550"/>
            <a:ext cx="8016875" cy="1735138"/>
          </a:xfrm>
          <a:solidFill>
            <a:schemeClr val="bg1"/>
          </a:solidFill>
        </p:spPr>
        <p:txBody>
          <a:bodyPr vert="horz" wrap="square" lIns="91440" tIns="45720" rIns="91440" bIns="45720" anchor="b" anchorCtr="0"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习题</a:t>
            </a:r>
            <a:r>
              <a:rPr lang="en-US" altLang="zh-CN" sz="2400" b="1" dirty="0">
                <a:solidFill>
                  <a:srgbClr val="FF0000"/>
                </a:solidFill>
              </a:rPr>
              <a:t>1-3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</a:rPr>
              <a:t>将习题</a:t>
            </a:r>
            <a:r>
              <a:rPr lang="en-US" altLang="zh-CN" sz="2400" b="1" dirty="0">
                <a:solidFill>
                  <a:srgbClr val="FF0000"/>
                </a:solidFill>
              </a:rPr>
              <a:t>1-1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</a:rPr>
              <a:t>将数据段</a:t>
            </a:r>
            <a:r>
              <a:rPr lang="en-US" altLang="zh-CN" sz="2400" b="1" dirty="0">
                <a:solidFill>
                  <a:schemeClr val="tx1"/>
                </a:solidFill>
              </a:rPr>
              <a:t>2000H</a:t>
            </a:r>
            <a:r>
              <a:rPr lang="zh-CN" altLang="en-US" sz="2400" b="1" dirty="0">
                <a:solidFill>
                  <a:schemeClr val="tx1"/>
                </a:solidFill>
              </a:rPr>
              <a:t>单元开始存放的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个数（</a:t>
            </a:r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</a:rPr>
              <a:t>位数）传送到</a:t>
            </a:r>
            <a:r>
              <a:rPr lang="en-US" altLang="zh-CN" sz="2400" b="1" dirty="0">
                <a:solidFill>
                  <a:schemeClr val="tx1"/>
                </a:solidFill>
              </a:rPr>
              <a:t>3000H</a:t>
            </a:r>
            <a:r>
              <a:rPr lang="zh-CN" altLang="en-US" sz="2400" b="1" dirty="0">
                <a:solidFill>
                  <a:schemeClr val="tx1"/>
                </a:solidFill>
              </a:rPr>
              <a:t>开始的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个字节中，要求使用</a:t>
            </a:r>
            <a:r>
              <a:rPr lang="en-US" altLang="zh-CN" sz="2400" b="1" dirty="0">
                <a:solidFill>
                  <a:srgbClr val="0000FF"/>
                </a:solidFill>
              </a:rPr>
              <a:t>REP MOVSB</a:t>
            </a:r>
            <a:r>
              <a:rPr lang="zh-CN" altLang="en-US" sz="2400" b="1" dirty="0">
                <a:solidFill>
                  <a:schemeClr val="tx1"/>
                </a:solidFill>
              </a:rPr>
              <a:t>语句完成。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23554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2000" fill="hold"/>
                                        <p:tgtEl>
                                          <p:spTgt spid="2253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ldLvl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4" name="矩形 43"/>
          <p:cNvSpPr/>
          <p:nvPr/>
        </p:nvSpPr>
        <p:spPr bwMode="auto">
          <a:xfrm>
            <a:off x="6281738" y="1225550"/>
            <a:ext cx="1500188" cy="142081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8575" cap="flat" cmpd="dbl" algn="ctr">
            <a:solidFill>
              <a:schemeClr val="accent1">
                <a:shade val="50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wrap="none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353175" y="1147763"/>
            <a:ext cx="1363663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DS:SI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353175" y="2147888"/>
            <a:ext cx="1355725" cy="5842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3200" b="1" dirty="0">
                <a:solidFill>
                  <a:srgbClr val="FF0000"/>
                </a:solidFill>
                <a:latin typeface="Tahoma" panose="020B0604030504040204" pitchFamily="34" charset="0"/>
              </a:rPr>
              <a:t>ES:DI</a:t>
            </a:r>
            <a:endParaRPr lang="zh-CN" altLang="en-US" sz="32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6781800" y="1719263"/>
            <a:ext cx="500063" cy="50006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pic>
        <p:nvPicPr>
          <p:cNvPr id="51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285750" y="-30162"/>
            <a:ext cx="4857750" cy="68659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52" name="TextBox 51"/>
          <p:cNvSpPr txBox="1"/>
          <p:nvPr/>
        </p:nvSpPr>
        <p:spPr>
          <a:xfrm>
            <a:off x="5995988" y="2574925"/>
            <a:ext cx="2332037" cy="11985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DATAS:2000H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DS:SI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3" name="左弧形箭头 52"/>
          <p:cNvSpPr/>
          <p:nvPr/>
        </p:nvSpPr>
        <p:spPr>
          <a:xfrm>
            <a:off x="5572125" y="2644775"/>
            <a:ext cx="428625" cy="1063625"/>
          </a:xfrm>
          <a:prstGeom prst="curvedRightArrow">
            <a:avLst>
              <a:gd name="adj1" fmla="val 25033"/>
              <a:gd name="adj2" fmla="val 50031"/>
              <a:gd name="adj3" fmla="val 25000"/>
            </a:avLst>
          </a:prstGeom>
          <a:solidFill>
            <a:srgbClr val="FF00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5995988" y="3787775"/>
            <a:ext cx="2332037" cy="1198563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DATAS:3000H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ES:DI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6" name="左弧形箭头 55"/>
          <p:cNvSpPr/>
          <p:nvPr/>
        </p:nvSpPr>
        <p:spPr>
          <a:xfrm>
            <a:off x="5572125" y="3857625"/>
            <a:ext cx="428625" cy="1060450"/>
          </a:xfrm>
          <a:prstGeom prst="curvedRightArrow">
            <a:avLst>
              <a:gd name="adj1" fmla="val 25037"/>
              <a:gd name="adj2" fmla="val 50030"/>
              <a:gd name="adj3" fmla="val 25000"/>
            </a:avLst>
          </a:prstGeom>
          <a:solidFill>
            <a:srgbClr val="0000FF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cxnSp>
        <p:nvCxnSpPr>
          <p:cNvPr id="58" name="直接连接符 57"/>
          <p:cNvCxnSpPr/>
          <p:nvPr/>
        </p:nvCxnSpPr>
        <p:spPr>
          <a:xfrm>
            <a:off x="1214438" y="3714750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9" name="直接连接符 58"/>
          <p:cNvCxnSpPr/>
          <p:nvPr/>
        </p:nvCxnSpPr>
        <p:spPr>
          <a:xfrm>
            <a:off x="1214438" y="4143375"/>
            <a:ext cx="1285875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62" name="直接连接符 61"/>
          <p:cNvCxnSpPr/>
          <p:nvPr/>
        </p:nvCxnSpPr>
        <p:spPr>
          <a:xfrm>
            <a:off x="1214438" y="4357688"/>
            <a:ext cx="1285875" cy="1587"/>
          </a:xfrm>
          <a:prstGeom prst="line">
            <a:avLst/>
          </a:prstGeom>
          <a:ln w="2857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4" name="TextBox 63"/>
          <p:cNvSpPr txBox="1"/>
          <p:nvPr/>
        </p:nvSpPr>
        <p:spPr>
          <a:xfrm>
            <a:off x="5643563" y="5000625"/>
            <a:ext cx="3071812" cy="156845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ASSUME ES:DATAS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 AX, DATAS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MOV    ES, AX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 flipV="1">
            <a:off x="3929063" y="3071813"/>
            <a:ext cx="3811587" cy="208597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68" name="直接连接符 67"/>
          <p:cNvCxnSpPr/>
          <p:nvPr/>
        </p:nvCxnSpPr>
        <p:spPr>
          <a:xfrm>
            <a:off x="6948488" y="5445125"/>
            <a:ext cx="1785937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sp>
        <p:nvSpPr>
          <p:cNvPr id="69" name="左大括号 68"/>
          <p:cNvSpPr/>
          <p:nvPr/>
        </p:nvSpPr>
        <p:spPr>
          <a:xfrm>
            <a:off x="5500688" y="5856288"/>
            <a:ext cx="214312" cy="500062"/>
          </a:xfrm>
          <a:prstGeom prst="leftBrace">
            <a:avLst>
              <a:gd name="adj1" fmla="val 8199"/>
              <a:gd name="adj2" fmla="val 50000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t" anchorCtr="0"/>
          <a:p>
            <a:pPr>
              <a:buClrTx/>
              <a:buFontTx/>
            </a:pPr>
            <a:endParaRPr lang="zh-CN" altLang="en-US" dirty="0">
              <a:latin typeface="Tahoma" panose="020B0604030504040204" pitchFamily="34" charset="0"/>
            </a:endParaRPr>
          </a:p>
        </p:txBody>
      </p:sp>
      <p:cxnSp>
        <p:nvCxnSpPr>
          <p:cNvPr id="70" name="直接箭头连接符 69"/>
          <p:cNvCxnSpPr/>
          <p:nvPr/>
        </p:nvCxnSpPr>
        <p:spPr>
          <a:xfrm flipH="1" flipV="1">
            <a:off x="2555875" y="3789363"/>
            <a:ext cx="2951163" cy="2303462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cxnSp>
        <p:nvCxnSpPr>
          <p:cNvPr id="73" name="直接连接符 72"/>
          <p:cNvCxnSpPr/>
          <p:nvPr/>
        </p:nvCxnSpPr>
        <p:spPr>
          <a:xfrm rot="5400000">
            <a:off x="1924050" y="5264150"/>
            <a:ext cx="1223963" cy="1588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75" name="直接箭头连接符 74"/>
          <p:cNvCxnSpPr/>
          <p:nvPr/>
        </p:nvCxnSpPr>
        <p:spPr>
          <a:xfrm flipV="1">
            <a:off x="2530475" y="5292725"/>
            <a:ext cx="323850" cy="9525"/>
          </a:xfrm>
          <a:prstGeom prst="straightConnector1">
            <a:avLst/>
          </a:prstGeom>
          <a:ln w="28575" cap="flat" cmpd="sng">
            <a:solidFill>
              <a:schemeClr val="tx1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77" name="TextBox 76"/>
          <p:cNvSpPr txBox="1"/>
          <p:nvPr/>
        </p:nvSpPr>
        <p:spPr>
          <a:xfrm>
            <a:off x="2857500" y="5000625"/>
            <a:ext cx="2298700" cy="522288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REP MOVSB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0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bldLvl="0" animBg="1"/>
      <p:bldP spid="41" grpId="0"/>
      <p:bldP spid="42" grpId="0"/>
      <p:bldP spid="43" grpId="0" bldLvl="0" animBg="1"/>
      <p:bldP spid="52" grpId="0"/>
      <p:bldP spid="53" grpId="0" bldLvl="0" animBg="1"/>
      <p:bldP spid="55" grpId="0"/>
      <p:bldP spid="56" grpId="0" bldLvl="0" animBg="1"/>
      <p:bldP spid="64" grpId="0"/>
      <p:bldP spid="69" grpId="0" bldLvl="0" animBg="1"/>
      <p:bldP spid="77" grpId="0" bldLvl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5602" name="标题 1"/>
          <p:cNvSpPr>
            <a:spLocks noGrp="1"/>
          </p:cNvSpPr>
          <p:nvPr>
            <p:ph type="title"/>
          </p:nvPr>
        </p:nvSpPr>
        <p:spPr>
          <a:xfrm>
            <a:off x="447675" y="1479550"/>
            <a:ext cx="8016875" cy="1735138"/>
          </a:xfrm>
          <a:solidFill>
            <a:schemeClr val="bg1"/>
          </a:solidFill>
        </p:spPr>
        <p:txBody>
          <a:bodyPr vert="horz" wrap="square" lIns="91440" tIns="45720" rIns="91440" bIns="45720" anchor="b" anchorCtr="0"/>
          <a:p>
            <a:pPr>
              <a:lnSpc>
                <a:spcPct val="120000"/>
              </a:lnSpc>
            </a:pPr>
            <a:r>
              <a:rPr lang="zh-CN" altLang="en-US" sz="2400" b="1" dirty="0">
                <a:solidFill>
                  <a:srgbClr val="FF0000"/>
                </a:solidFill>
              </a:rPr>
              <a:t>习题</a:t>
            </a:r>
            <a:r>
              <a:rPr lang="en-US" altLang="zh-CN" sz="2400" b="1" dirty="0">
                <a:solidFill>
                  <a:srgbClr val="FF0000"/>
                </a:solidFill>
              </a:rPr>
              <a:t>1-3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zh-CN" altLang="en-US" sz="2400" b="1" dirty="0">
                <a:solidFill>
                  <a:srgbClr val="FF0000"/>
                </a:solidFill>
              </a:rPr>
              <a:t>将习题</a:t>
            </a:r>
            <a:r>
              <a:rPr lang="en-US" altLang="zh-CN" sz="2400" b="1" dirty="0">
                <a:solidFill>
                  <a:srgbClr val="FF0000"/>
                </a:solidFill>
              </a:rPr>
              <a:t>1-1</a:t>
            </a:r>
            <a:r>
              <a:rPr lang="zh-CN" altLang="en-US" sz="2400" b="1" dirty="0">
                <a:solidFill>
                  <a:srgbClr val="FF0000"/>
                </a:solidFill>
              </a:rPr>
              <a:t>：</a:t>
            </a:r>
            <a:r>
              <a:rPr lang="zh-CN" altLang="en-US" sz="2400" b="1" dirty="0">
                <a:solidFill>
                  <a:schemeClr val="tx1"/>
                </a:solidFill>
              </a:rPr>
              <a:t>将数据段</a:t>
            </a:r>
            <a:r>
              <a:rPr lang="en-US" altLang="zh-CN" sz="2400" b="1" dirty="0">
                <a:solidFill>
                  <a:schemeClr val="tx1"/>
                </a:solidFill>
              </a:rPr>
              <a:t>2000H</a:t>
            </a:r>
            <a:r>
              <a:rPr lang="zh-CN" altLang="en-US" sz="2400" b="1" dirty="0">
                <a:solidFill>
                  <a:schemeClr val="tx1"/>
                </a:solidFill>
              </a:rPr>
              <a:t>单元开始存放的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个数（</a:t>
            </a:r>
            <a:r>
              <a:rPr lang="en-US" altLang="zh-CN" sz="2400" b="1" dirty="0">
                <a:solidFill>
                  <a:schemeClr val="tx1"/>
                </a:solidFill>
              </a:rPr>
              <a:t>8</a:t>
            </a:r>
            <a:r>
              <a:rPr lang="zh-CN" altLang="en-US" sz="2400" b="1" dirty="0">
                <a:solidFill>
                  <a:schemeClr val="tx1"/>
                </a:solidFill>
              </a:rPr>
              <a:t>位数）传送到</a:t>
            </a:r>
            <a:r>
              <a:rPr lang="en-US" altLang="zh-CN" sz="2400" b="1" dirty="0">
                <a:solidFill>
                  <a:schemeClr val="tx1"/>
                </a:solidFill>
              </a:rPr>
              <a:t>3000H</a:t>
            </a:r>
            <a:r>
              <a:rPr lang="zh-CN" altLang="en-US" sz="2400" b="1" dirty="0">
                <a:solidFill>
                  <a:schemeClr val="tx1"/>
                </a:solidFill>
              </a:rPr>
              <a:t>开始的</a:t>
            </a:r>
            <a:r>
              <a:rPr lang="en-US" altLang="zh-CN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个字节中，要求使用</a:t>
            </a:r>
            <a:r>
              <a:rPr lang="en-US" altLang="zh-CN" sz="2400" b="1" dirty="0">
                <a:solidFill>
                  <a:srgbClr val="0000FF"/>
                </a:solidFill>
              </a:rPr>
              <a:t>REP MOVSB</a:t>
            </a:r>
            <a:r>
              <a:rPr lang="zh-CN" altLang="en-US" sz="2400" b="1" dirty="0">
                <a:solidFill>
                  <a:schemeClr val="tx1"/>
                </a:solidFill>
              </a:rPr>
              <a:t>语句完成。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pic>
        <p:nvPicPr>
          <p:cNvPr id="44034" name="Picture 2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6962775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19" name="直接连接符 18"/>
          <p:cNvCxnSpPr/>
          <p:nvPr>
            <p:custDataLst>
              <p:tags r:id="rId4"/>
            </p:custDataLst>
          </p:nvPr>
        </p:nvCxnSpPr>
        <p:spPr>
          <a:xfrm>
            <a:off x="1000125" y="841375"/>
            <a:ext cx="1428750" cy="1588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0" name="直接连接符 19"/>
          <p:cNvCxnSpPr/>
          <p:nvPr>
            <p:custDataLst>
              <p:tags r:id="rId5"/>
            </p:custDataLst>
          </p:nvPr>
        </p:nvCxnSpPr>
        <p:spPr>
          <a:xfrm>
            <a:off x="928688" y="4159250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1" name="直接连接符 20"/>
          <p:cNvCxnSpPr/>
          <p:nvPr>
            <p:custDataLst>
              <p:tags r:id="rId6"/>
            </p:custDataLst>
          </p:nvPr>
        </p:nvCxnSpPr>
        <p:spPr>
          <a:xfrm>
            <a:off x="1000125" y="4445000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>
            <p:custDataLst>
              <p:tags r:id="rId7"/>
            </p:custDataLst>
          </p:nvPr>
        </p:nvCxnSpPr>
        <p:spPr>
          <a:xfrm>
            <a:off x="1071563" y="4913313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3" name="直接连接符 22"/>
          <p:cNvCxnSpPr/>
          <p:nvPr>
            <p:custDataLst>
              <p:tags r:id="rId8"/>
            </p:custDataLst>
          </p:nvPr>
        </p:nvCxnSpPr>
        <p:spPr>
          <a:xfrm>
            <a:off x="928688" y="1341438"/>
            <a:ext cx="1428750" cy="1587"/>
          </a:xfrm>
          <a:prstGeom prst="line">
            <a:avLst/>
          </a:prstGeom>
          <a:ln w="28575" cap="flat" cmpd="sng">
            <a:solidFill>
              <a:srgbClr val="FFFF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4" name="直接连接符 23"/>
          <p:cNvCxnSpPr/>
          <p:nvPr>
            <p:custDataLst>
              <p:tags r:id="rId9"/>
            </p:custDataLst>
          </p:nvPr>
        </p:nvCxnSpPr>
        <p:spPr>
          <a:xfrm>
            <a:off x="928688" y="5842000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5" name="直接连接符 24"/>
          <p:cNvCxnSpPr/>
          <p:nvPr>
            <p:custDataLst>
              <p:tags r:id="rId10"/>
            </p:custDataLst>
          </p:nvPr>
        </p:nvCxnSpPr>
        <p:spPr>
          <a:xfrm>
            <a:off x="1071563" y="5151438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6" name="直接连接符 25"/>
          <p:cNvCxnSpPr/>
          <p:nvPr>
            <p:custDataLst>
              <p:tags r:id="rId11"/>
            </p:custDataLst>
          </p:nvPr>
        </p:nvCxnSpPr>
        <p:spPr>
          <a:xfrm>
            <a:off x="928688" y="5641975"/>
            <a:ext cx="785812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2" name="直接连接符 1"/>
          <p:cNvCxnSpPr/>
          <p:nvPr>
            <p:custDataLst>
              <p:tags r:id="rId12"/>
            </p:custDataLst>
          </p:nvPr>
        </p:nvCxnSpPr>
        <p:spPr>
          <a:xfrm flipV="1">
            <a:off x="1357313" y="5072063"/>
            <a:ext cx="1643062" cy="5715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arrow" w="med" len="med"/>
          </a:ln>
        </p:spPr>
      </p:cxnSp>
      <p:sp>
        <p:nvSpPr>
          <p:cNvPr id="46" name="TextBox 45"/>
          <p:cNvSpPr txBox="1"/>
          <p:nvPr>
            <p:custDataLst>
              <p:tags r:id="rId13"/>
            </p:custDataLst>
          </p:nvPr>
        </p:nvSpPr>
        <p:spPr>
          <a:xfrm>
            <a:off x="3000375" y="4214813"/>
            <a:ext cx="2500313" cy="1384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;DF=0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;</a:t>
            </a:r>
            <a:r>
              <a:rPr lang="zh-CN" altLang="en-US" sz="2800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传送方向正序</a:t>
            </a:r>
            <a:endParaRPr lang="en-US" altLang="zh-CN" sz="2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buClrTx/>
              <a:buFontTx/>
            </a:pP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;INC  SI/DI</a:t>
            </a:r>
            <a:endParaRPr lang="zh-CN" altLang="en-US" sz="2800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4035" name="Picture 3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539750" y="0"/>
            <a:ext cx="8574088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8" name="直接连接符 47"/>
          <p:cNvCxnSpPr/>
          <p:nvPr>
            <p:custDataLst>
              <p:tags r:id="rId16"/>
            </p:custDataLst>
          </p:nvPr>
        </p:nvCxnSpPr>
        <p:spPr>
          <a:xfrm>
            <a:off x="611188" y="1973263"/>
            <a:ext cx="4357687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9" name="直接连接符 48"/>
          <p:cNvCxnSpPr/>
          <p:nvPr>
            <p:custDataLst>
              <p:tags r:id="rId17"/>
            </p:custDataLst>
          </p:nvPr>
        </p:nvCxnSpPr>
        <p:spPr>
          <a:xfrm>
            <a:off x="1692275" y="4038600"/>
            <a:ext cx="3240088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0" name="直接连接符 49"/>
          <p:cNvCxnSpPr/>
          <p:nvPr>
            <p:custDataLst>
              <p:tags r:id="rId18"/>
            </p:custDataLst>
          </p:nvPr>
        </p:nvCxnSpPr>
        <p:spPr>
          <a:xfrm>
            <a:off x="1692275" y="5570538"/>
            <a:ext cx="3240088" cy="17462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1" name="直接连接符 50"/>
          <p:cNvCxnSpPr/>
          <p:nvPr>
            <p:custDataLst>
              <p:tags r:id="rId19"/>
            </p:custDataLst>
          </p:nvPr>
        </p:nvCxnSpPr>
        <p:spPr>
          <a:xfrm>
            <a:off x="611188" y="3522663"/>
            <a:ext cx="1763712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440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bldLvl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标题 1"/>
          <p:cNvSpPr txBox="1"/>
          <p:nvPr/>
        </p:nvSpPr>
        <p:spPr>
          <a:xfrm>
            <a:off x="447675" y="1512888"/>
            <a:ext cx="8016875" cy="13350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anchor="b" anchorCtr="0"/>
          <a:p>
            <a:pPr eaLnBrk="0" hangingPunct="0">
              <a:lnSpc>
                <a:spcPct val="120000"/>
              </a:lnSpc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1-4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b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</a:b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将习题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1-2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将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数据段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DATA1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的</a:t>
            </a:r>
            <a:r>
              <a:rPr lang="en-US" altLang="zh-CN" b="1" dirty="0">
                <a:latin typeface="Tahoma" panose="020B0604030504040204" pitchFamily="34" charset="0"/>
              </a:rPr>
              <a:t>10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个字数据（</a:t>
            </a:r>
            <a:r>
              <a:rPr lang="en-US" altLang="zh-CN" b="1" dirty="0">
                <a:latin typeface="Tahoma" panose="020B0604030504040204" pitchFamily="34" charset="0"/>
              </a:rPr>
              <a:t>16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位数）传送到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数据段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DATA2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中，使用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 MOVSW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语句完成。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6626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MOVS串传送指令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7649" name="Picture 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376988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9" name="直接连接符 28"/>
          <p:cNvCxnSpPr/>
          <p:nvPr/>
        </p:nvCxnSpPr>
        <p:spPr>
          <a:xfrm>
            <a:off x="1071563" y="944563"/>
            <a:ext cx="3708400" cy="1587"/>
          </a:xfrm>
          <a:prstGeom prst="line">
            <a:avLst/>
          </a:prstGeom>
          <a:ln w="2857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0" name="直接连接符 29"/>
          <p:cNvCxnSpPr/>
          <p:nvPr/>
        </p:nvCxnSpPr>
        <p:spPr>
          <a:xfrm>
            <a:off x="1143000" y="4943475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1" name="直接连接符 30"/>
          <p:cNvCxnSpPr/>
          <p:nvPr/>
        </p:nvCxnSpPr>
        <p:spPr>
          <a:xfrm>
            <a:off x="1143000" y="3587750"/>
            <a:ext cx="1428750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32" name="直接连接符 31"/>
          <p:cNvCxnSpPr/>
          <p:nvPr/>
        </p:nvCxnSpPr>
        <p:spPr>
          <a:xfrm>
            <a:off x="1143000" y="4141788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0" name="直接连接符 39"/>
          <p:cNvCxnSpPr/>
          <p:nvPr/>
        </p:nvCxnSpPr>
        <p:spPr>
          <a:xfrm>
            <a:off x="1143000" y="4675188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1" name="直接连接符 40"/>
          <p:cNvCxnSpPr/>
          <p:nvPr/>
        </p:nvCxnSpPr>
        <p:spPr>
          <a:xfrm>
            <a:off x="1143000" y="2000250"/>
            <a:ext cx="2124075" cy="1588"/>
          </a:xfrm>
          <a:prstGeom prst="line">
            <a:avLst/>
          </a:prstGeom>
          <a:ln w="28575" cap="flat" cmpd="sng">
            <a:solidFill>
              <a:srgbClr val="FFC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2" name="直接连接符 41"/>
          <p:cNvCxnSpPr/>
          <p:nvPr/>
        </p:nvCxnSpPr>
        <p:spPr>
          <a:xfrm>
            <a:off x="1143000" y="5500688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3" name="直接连接符 42"/>
          <p:cNvCxnSpPr/>
          <p:nvPr/>
        </p:nvCxnSpPr>
        <p:spPr>
          <a:xfrm>
            <a:off x="1143000" y="5729288"/>
            <a:ext cx="1428750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8673" name="Picture 2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675" y="0"/>
            <a:ext cx="9039225" cy="6858000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44" name="直接连接符 43"/>
          <p:cNvCxnSpPr/>
          <p:nvPr/>
        </p:nvCxnSpPr>
        <p:spPr>
          <a:xfrm>
            <a:off x="114300" y="2200275"/>
            <a:ext cx="4357688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5" name="直接连接符 44"/>
          <p:cNvCxnSpPr/>
          <p:nvPr/>
        </p:nvCxnSpPr>
        <p:spPr>
          <a:xfrm>
            <a:off x="1368425" y="3960813"/>
            <a:ext cx="5500688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6" name="直接连接符 45"/>
          <p:cNvCxnSpPr/>
          <p:nvPr/>
        </p:nvCxnSpPr>
        <p:spPr>
          <a:xfrm>
            <a:off x="1352550" y="5543550"/>
            <a:ext cx="5500688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47" name="直接连接符 46"/>
          <p:cNvCxnSpPr/>
          <p:nvPr/>
        </p:nvCxnSpPr>
        <p:spPr>
          <a:xfrm>
            <a:off x="66675" y="3786188"/>
            <a:ext cx="1071563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1" name="直接连接符 50"/>
          <p:cNvCxnSpPr/>
          <p:nvPr/>
        </p:nvCxnSpPr>
        <p:spPr>
          <a:xfrm>
            <a:off x="66675" y="5373688"/>
            <a:ext cx="1071563" cy="1587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2" name="直接连接符 51"/>
          <p:cNvCxnSpPr/>
          <p:nvPr/>
        </p:nvCxnSpPr>
        <p:spPr>
          <a:xfrm>
            <a:off x="66675" y="3429000"/>
            <a:ext cx="1928813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4" name="直接连接符 53"/>
          <p:cNvCxnSpPr/>
          <p:nvPr/>
        </p:nvCxnSpPr>
        <p:spPr>
          <a:xfrm>
            <a:off x="1352550" y="4143375"/>
            <a:ext cx="1357313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  <p:cxnSp>
        <p:nvCxnSpPr>
          <p:cNvPr id="56" name="直接连接符 55"/>
          <p:cNvCxnSpPr/>
          <p:nvPr/>
        </p:nvCxnSpPr>
        <p:spPr>
          <a:xfrm>
            <a:off x="1352550" y="5715000"/>
            <a:ext cx="1357313" cy="1588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miter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STOS存入串指令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969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29699" name="Text Box 1030"/>
          <p:cNvSpPr txBox="1"/>
          <p:nvPr/>
        </p:nvSpPr>
        <p:spPr>
          <a:xfrm>
            <a:off x="539750" y="1497013"/>
            <a:ext cx="4495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2. STOS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存入串指令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91143" name="Rectangle 1031"/>
          <p:cNvSpPr/>
          <p:nvPr/>
        </p:nvSpPr>
        <p:spPr>
          <a:xfrm>
            <a:off x="609600" y="2692400"/>
            <a:ext cx="23114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STOSB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91148" name="Rectangle 1036"/>
          <p:cNvSpPr/>
          <p:nvPr/>
        </p:nvSpPr>
        <p:spPr>
          <a:xfrm>
            <a:off x="609600" y="3763963"/>
            <a:ext cx="241617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STOSW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91150" name="Text Box 1038"/>
          <p:cNvSpPr txBox="1"/>
          <p:nvPr/>
        </p:nvSpPr>
        <p:spPr>
          <a:xfrm>
            <a:off x="3429000" y="2430463"/>
            <a:ext cx="3286125" cy="866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</a:rPr>
              <a:t> （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1  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1151" name="AutoShape 1039"/>
          <p:cNvSpPr/>
          <p:nvPr/>
        </p:nvSpPr>
        <p:spPr>
          <a:xfrm>
            <a:off x="3414713" y="2503488"/>
            <a:ext cx="228600" cy="792162"/>
          </a:xfrm>
          <a:prstGeom prst="leftBrace">
            <a:avLst>
              <a:gd name="adj1" fmla="val 31011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91153" name="Text Box 1041"/>
          <p:cNvSpPr txBox="1"/>
          <p:nvPr/>
        </p:nvSpPr>
        <p:spPr>
          <a:xfrm>
            <a:off x="3429000" y="3536950"/>
            <a:ext cx="2708275" cy="10287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</a:rPr>
              <a:t> （</a:t>
            </a:r>
            <a:r>
              <a:rPr lang="en-US" altLang="zh-CN" b="1" dirty="0">
                <a:latin typeface="Tahoma" panose="020B0604030504040204" pitchFamily="34" charset="0"/>
              </a:rPr>
              <a:t>AX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2  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1154" name="AutoShape 1042"/>
          <p:cNvSpPr/>
          <p:nvPr/>
        </p:nvSpPr>
        <p:spPr>
          <a:xfrm>
            <a:off x="3429000" y="3560763"/>
            <a:ext cx="228600" cy="792162"/>
          </a:xfrm>
          <a:prstGeom prst="leftBrace">
            <a:avLst>
              <a:gd name="adj1" fmla="val 31011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91155" name="Rectangle 1043"/>
          <p:cNvSpPr/>
          <p:nvPr/>
        </p:nvSpPr>
        <p:spPr>
          <a:xfrm>
            <a:off x="609600" y="4502150"/>
            <a:ext cx="5164138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   STOSB/STOSW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grpSp>
        <p:nvGrpSpPr>
          <p:cNvPr id="2" name="Group 1074"/>
          <p:cNvGrpSpPr/>
          <p:nvPr/>
        </p:nvGrpSpPr>
        <p:grpSpPr>
          <a:xfrm>
            <a:off x="6186488" y="1289050"/>
            <a:ext cx="2600325" cy="5105400"/>
            <a:chOff x="3744" y="240"/>
            <a:chExt cx="1638" cy="3216"/>
          </a:xfrm>
        </p:grpSpPr>
        <p:grpSp>
          <p:nvGrpSpPr>
            <p:cNvPr id="29708" name="Group 1050"/>
            <p:cNvGrpSpPr/>
            <p:nvPr/>
          </p:nvGrpSpPr>
          <p:grpSpPr>
            <a:xfrm>
              <a:off x="4368" y="240"/>
              <a:ext cx="720" cy="3216"/>
              <a:chOff x="4560" y="1104"/>
              <a:chExt cx="720" cy="3216"/>
            </a:xfrm>
          </p:grpSpPr>
          <p:sp>
            <p:nvSpPr>
              <p:cNvPr id="29709" name="Text Box 1051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710" name="Rectangle 1052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711" name="Line 1053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2" name="Line 1054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3" name="Line 1055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4" name="Line 1056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5" name="Line 1057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6" name="Rectangle 1058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717" name="Rectangle 1059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9718" name="Line 1060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19" name="Line 1061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0" name="Line 1062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1" name="Line 1063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2" name="Line 1064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3" name="Line 1065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4" name="Line 1066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5" name="Line 1067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29726" name="Line 1068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29727" name="Text Box 1070"/>
            <p:cNvSpPr txBox="1"/>
            <p:nvPr/>
          </p:nvSpPr>
          <p:spPr>
            <a:xfrm>
              <a:off x="3744" y="201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29728" name="Text Box 1071"/>
            <p:cNvSpPr txBox="1"/>
            <p:nvPr/>
          </p:nvSpPr>
          <p:spPr>
            <a:xfrm>
              <a:off x="5094" y="747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29729" name="Text Box 1072"/>
            <p:cNvSpPr txBox="1"/>
            <p:nvPr/>
          </p:nvSpPr>
          <p:spPr>
            <a:xfrm>
              <a:off x="5094" y="2352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29730" name="AutoShape 1073"/>
            <p:cNvSpPr/>
            <p:nvPr/>
          </p:nvSpPr>
          <p:spPr>
            <a:xfrm rot="-4151183">
              <a:off x="3730" y="2453"/>
              <a:ext cx="1092" cy="81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grpSp>
        <p:nvGrpSpPr>
          <p:cNvPr id="4" name="Group 1077"/>
          <p:cNvGrpSpPr/>
          <p:nvPr/>
        </p:nvGrpSpPr>
        <p:grpSpPr>
          <a:xfrm>
            <a:off x="6143625" y="6218238"/>
            <a:ext cx="1295400" cy="552450"/>
            <a:chOff x="3705" y="3552"/>
            <a:chExt cx="816" cy="348"/>
          </a:xfrm>
        </p:grpSpPr>
        <p:sp>
          <p:nvSpPr>
            <p:cNvPr id="29732" name="Text Box 1075"/>
            <p:cNvSpPr txBox="1"/>
            <p:nvPr/>
          </p:nvSpPr>
          <p:spPr>
            <a:xfrm>
              <a:off x="3732" y="3552"/>
              <a:ext cx="754" cy="348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/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29733" name="Text Box 1076"/>
            <p:cNvSpPr txBox="1"/>
            <p:nvPr/>
          </p:nvSpPr>
          <p:spPr>
            <a:xfrm>
              <a:off x="3705" y="360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AL/AX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641350" y="4975225"/>
            <a:ext cx="5583238" cy="123507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457200" marR="0" indent="-457200" defTabSz="914400" fontAlgn="base">
              <a:spcBef>
                <a:spcPct val="5000"/>
              </a:spcBef>
              <a:buClrTx/>
              <a:buSzTx/>
              <a:buFontTx/>
              <a:buAutoNum type="arabicParenR"/>
              <a:defRPr/>
            </a:pP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CX=0 </a:t>
            </a: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？若相等，则退出</a:t>
            </a: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</a:t>
            </a: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语句；</a:t>
            </a:r>
            <a:endParaRPr kumimoji="1" lang="en-US" altLang="zh-CN" b="1" strike="noStrike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indent="-457200" defTabSz="914400" fontAlgn="base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否则执行指令 </a:t>
            </a:r>
            <a:r>
              <a:rPr kumimoji="1" lang="en-US" altLang="zh-CN" b="1" strike="noStrike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STOSB/</a:t>
            </a:r>
            <a:r>
              <a:rPr kumimoji="1" lang="en-US" altLang="zh-CN" b="1" strike="noStrike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sym typeface="+mn-ea"/>
              </a:rPr>
              <a:t>STOSW</a:t>
            </a:r>
            <a:endParaRPr kumimoji="1" lang="en-US" altLang="zh-CN" b="1" strike="noStrike" kern="1200" cap="none" spc="0" normalizeH="0" baseline="0" noProof="0" dirty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 fontAlgn="base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CX</a:t>
            </a: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CX-1</a:t>
            </a: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，转</a:t>
            </a:r>
            <a:r>
              <a:rPr kumimoji="1" lang="en-US" altLang="zh-CN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b="1" strike="noStrike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endParaRPr kumimoji="1" lang="en-US" altLang="zh-CN" b="1" strike="noStrike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735" name="Text Box 1048"/>
          <p:cNvSpPr txBox="1"/>
          <p:nvPr/>
        </p:nvSpPr>
        <p:spPr>
          <a:xfrm>
            <a:off x="539750" y="1949450"/>
            <a:ext cx="37131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  </a:t>
            </a:r>
            <a:r>
              <a:rPr lang="zh-CN" altLang="en-US" b="1" dirty="0">
                <a:latin typeface="Tahoma" panose="020B0604030504040204" pitchFamily="34" charset="0"/>
              </a:rPr>
              <a:t>常用来对内存初始化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1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115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0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1150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1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9115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3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1153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91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4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0">
                                            <p:txEl>
                                              <p:charRg st="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2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40">
                                            <p:txEl>
                                              <p:charRg st="2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40">
                                            <p:txEl>
                                              <p:charRg st="2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0">
                                            <p:txEl>
                                              <p:charRg st="2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0">
                                            <p:txEl>
                                              <p:charRg st="20" end="3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40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40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0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0">
                                            <p:txEl>
                                              <p:charRg st="39" end="5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43" grpId="0"/>
      <p:bldP spid="91148" grpId="0"/>
      <p:bldP spid="91150" grpId="0" uiExpand="1" build="p"/>
      <p:bldP spid="91151" grpId="0" bldLvl="0" animBg="1"/>
      <p:bldP spid="91153" grpId="0" uiExpand="1" build="p"/>
      <p:bldP spid="91154" grpId="0" bldLvl="0" animBg="1"/>
      <p:bldP spid="91155" grpId="0"/>
      <p:bldP spid="40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0722" name="Text Box 6"/>
          <p:cNvSpPr txBox="1"/>
          <p:nvPr/>
        </p:nvSpPr>
        <p:spPr>
          <a:xfrm>
            <a:off x="611188" y="1484313"/>
            <a:ext cx="4495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3. LODS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串装入指令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3255" name="Rectangle 7"/>
          <p:cNvSpPr/>
          <p:nvPr/>
        </p:nvSpPr>
        <p:spPr>
          <a:xfrm>
            <a:off x="609600" y="2282825"/>
            <a:ext cx="396716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LODSB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；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3260" name="Rectangle 12"/>
          <p:cNvSpPr/>
          <p:nvPr/>
        </p:nvSpPr>
        <p:spPr>
          <a:xfrm>
            <a:off x="609600" y="3886200"/>
            <a:ext cx="274796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LODSW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；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3263" name="Text Box 15"/>
          <p:cNvSpPr txBox="1"/>
          <p:nvPr/>
        </p:nvSpPr>
        <p:spPr>
          <a:xfrm>
            <a:off x="2133600" y="2873375"/>
            <a:ext cx="2870200" cy="866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</a:rPr>
              <a:t> （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 </a:t>
            </a:r>
            <a:r>
              <a:rPr lang="en-US" altLang="zh-CN" b="1" dirty="0">
                <a:latin typeface="Tahoma" panose="020B0604030504040204" pitchFamily="34" charset="0"/>
              </a:rPr>
              <a:t> 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3264" name="AutoShape 16"/>
          <p:cNvSpPr/>
          <p:nvPr/>
        </p:nvSpPr>
        <p:spPr>
          <a:xfrm>
            <a:off x="2052638" y="2925763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3266" name="Text Box 18"/>
          <p:cNvSpPr txBox="1"/>
          <p:nvPr/>
        </p:nvSpPr>
        <p:spPr>
          <a:xfrm>
            <a:off x="2124075" y="4648200"/>
            <a:ext cx="2951163" cy="8667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AX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zh-CN" altLang="en-US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</a:rPr>
              <a:t> （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 </a:t>
            </a:r>
            <a:r>
              <a:rPr lang="en-US" altLang="zh-CN" b="1" dirty="0">
                <a:latin typeface="Tahoma" panose="020B0604030504040204" pitchFamily="34" charset="0"/>
              </a:rPr>
              <a:t> 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3267" name="AutoShape 19"/>
          <p:cNvSpPr/>
          <p:nvPr/>
        </p:nvSpPr>
        <p:spPr>
          <a:xfrm>
            <a:off x="2047875" y="4676775"/>
            <a:ext cx="228600" cy="857250"/>
          </a:xfrm>
          <a:prstGeom prst="leftBrace">
            <a:avLst>
              <a:gd name="adj1" fmla="val 31250"/>
              <a:gd name="adj2" fmla="val 50000"/>
            </a:avLst>
          </a:prstGeom>
          <a:noFill/>
          <a:ln w="2857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" name="Group 47"/>
          <p:cNvGrpSpPr/>
          <p:nvPr/>
        </p:nvGrpSpPr>
        <p:grpSpPr>
          <a:xfrm>
            <a:off x="5768975" y="1358900"/>
            <a:ext cx="2819400" cy="5105400"/>
            <a:chOff x="3696" y="240"/>
            <a:chExt cx="1776" cy="3216"/>
          </a:xfrm>
        </p:grpSpPr>
        <p:grpSp>
          <p:nvGrpSpPr>
            <p:cNvPr id="30730" name="Group 21"/>
            <p:cNvGrpSpPr/>
            <p:nvPr/>
          </p:nvGrpSpPr>
          <p:grpSpPr>
            <a:xfrm>
              <a:off x="4368" y="240"/>
              <a:ext cx="720" cy="3216"/>
              <a:chOff x="4560" y="1104"/>
              <a:chExt cx="720" cy="3216"/>
            </a:xfrm>
          </p:grpSpPr>
          <p:sp>
            <p:nvSpPr>
              <p:cNvPr id="30731" name="Text Box 22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32" name="Rectangle 23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33" name="Line 24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4" name="Line 25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5" name="Line 26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6" name="Line 27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7" name="Line 28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38" name="Rectangle 29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39" name="Rectangle 30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0740" name="Line 31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1" name="Line 32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2" name="Line 33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3" name="Line 34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4" name="Line 35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5" name="Line 36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6" name="Line 37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7" name="Line 38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0748" name="Line 39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0749" name="Text Box 40"/>
            <p:cNvSpPr txBox="1"/>
            <p:nvPr/>
          </p:nvSpPr>
          <p:spPr>
            <a:xfrm>
              <a:off x="3696" y="624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SI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50" name="Text Box 41"/>
            <p:cNvSpPr txBox="1"/>
            <p:nvPr/>
          </p:nvSpPr>
          <p:spPr>
            <a:xfrm>
              <a:off x="5184" y="432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0751" name="Text Box 42"/>
            <p:cNvSpPr txBox="1"/>
            <p:nvPr/>
          </p:nvSpPr>
          <p:spPr>
            <a:xfrm>
              <a:off x="5184" y="2352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53291" name="AutoShape 43"/>
          <p:cNvSpPr/>
          <p:nvPr/>
        </p:nvSpPr>
        <p:spPr>
          <a:xfrm rot="7950732" flipV="1">
            <a:off x="6094413" y="2481263"/>
            <a:ext cx="1981200" cy="1108075"/>
          </a:xfrm>
          <a:custGeom>
            <a:avLst/>
            <a:gdLst/>
            <a:ahLst/>
            <a:cxnLst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  <a:cxn ang="0">
                <a:pos x="2147483647" y="2147483647"/>
              </a:cxn>
            </a:cxnLst>
            <a:pathLst>
              <a:path w="21600" h="21600">
                <a:moveTo>
                  <a:pt x="17291" y="6751"/>
                </a:moveTo>
                <a:cubicBezTo>
                  <a:pt x="15894" y="4510"/>
                  <a:pt x="13440" y="3149"/>
                  <a:pt x="10800" y="3149"/>
                </a:cubicBezTo>
                <a:cubicBezTo>
                  <a:pt x="7209" y="3148"/>
                  <a:pt x="4101" y="5646"/>
                  <a:pt x="3328" y="9152"/>
                </a:cubicBezTo>
                <a:lnTo>
                  <a:pt x="253" y="8474"/>
                </a:lnTo>
                <a:cubicBezTo>
                  <a:pt x="1344" y="3524"/>
                  <a:pt x="5731" y="-1"/>
                  <a:pt x="10800" y="0"/>
                </a:cubicBezTo>
                <a:cubicBezTo>
                  <a:pt x="14527" y="0"/>
                  <a:pt x="17991" y="1921"/>
                  <a:pt x="19963" y="5084"/>
                </a:cubicBezTo>
                <a:lnTo>
                  <a:pt x="22254" y="3655"/>
                </a:lnTo>
                <a:lnTo>
                  <a:pt x="20890" y="9545"/>
                </a:lnTo>
                <a:lnTo>
                  <a:pt x="15000" y="8179"/>
                </a:lnTo>
                <a:lnTo>
                  <a:pt x="17291" y="6751"/>
                </a:lnTo>
                <a:close/>
              </a:path>
            </a:pathLst>
          </a:custGeom>
          <a:solidFill>
            <a:srgbClr val="FFFF00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/>
          <a:p>
            <a:endParaRPr lang="zh-CN" altLang="en-US"/>
          </a:p>
        </p:txBody>
      </p:sp>
      <p:grpSp>
        <p:nvGrpSpPr>
          <p:cNvPr id="4" name="Group 44"/>
          <p:cNvGrpSpPr/>
          <p:nvPr/>
        </p:nvGrpSpPr>
        <p:grpSpPr>
          <a:xfrm>
            <a:off x="5783263" y="3640138"/>
            <a:ext cx="1295400" cy="461962"/>
            <a:chOff x="3705" y="3597"/>
            <a:chExt cx="816" cy="291"/>
          </a:xfrm>
        </p:grpSpPr>
        <p:sp>
          <p:nvSpPr>
            <p:cNvPr id="30754" name="Text Box 45"/>
            <p:cNvSpPr txBox="1"/>
            <p:nvPr/>
          </p:nvSpPr>
          <p:spPr>
            <a:xfrm>
              <a:off x="3739" y="3597"/>
              <a:ext cx="678" cy="29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0755" name="Text Box 46"/>
            <p:cNvSpPr txBox="1"/>
            <p:nvPr/>
          </p:nvSpPr>
          <p:spPr>
            <a:xfrm>
              <a:off x="3705" y="360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AL/AX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30756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LODS串装入指令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3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7" dur="300"/>
                                        <p:tgtEl>
                                          <p:spTgt spid="53263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3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2" dur="300"/>
                                        <p:tgtEl>
                                          <p:spTgt spid="53263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2" dur="500"/>
                                        <p:tgtEl>
                                          <p:spTgt spid="5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2" dur="500"/>
                                        <p:tgtEl>
                                          <p:spTgt spid="53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47" dur="500"/>
                                        <p:tgtEl>
                                          <p:spTgt spid="53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2" dur="500"/>
                                        <p:tgtEl>
                                          <p:spTgt spid="53266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6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57" dur="500"/>
                                        <p:tgtEl>
                                          <p:spTgt spid="53266">
                                            <p:txEl>
                                              <p:charRg st="12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5" grpId="0"/>
      <p:bldP spid="53260" grpId="0"/>
      <p:bldP spid="53263" grpId="0" build="p"/>
      <p:bldP spid="53264" grpId="0" bldLvl="0" animBg="1"/>
      <p:bldP spid="53266" grpId="0" build="p"/>
      <p:bldP spid="53267" grpId="0" bldLvl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1746" name="Text Box 2"/>
          <p:cNvSpPr txBox="1"/>
          <p:nvPr/>
        </p:nvSpPr>
        <p:spPr>
          <a:xfrm>
            <a:off x="539750" y="1484313"/>
            <a:ext cx="470535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4. CMPS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串比较指令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55314" name="Rectangle 18"/>
          <p:cNvSpPr/>
          <p:nvPr/>
        </p:nvSpPr>
        <p:spPr>
          <a:xfrm>
            <a:off x="466725" y="2779713"/>
            <a:ext cx="2373313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CMPSB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5327" name="Text Box 31"/>
          <p:cNvSpPr txBox="1"/>
          <p:nvPr/>
        </p:nvSpPr>
        <p:spPr>
          <a:xfrm>
            <a:off x="2971800" y="2374900"/>
            <a:ext cx="4386263" cy="127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-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r>
              <a:rPr lang="zh-CN" altLang="zh-CN" b="1" dirty="0">
                <a:latin typeface="Tahoma" panose="020B0604030504040204" pitchFamily="34" charset="0"/>
              </a:rPr>
              <a:t>置标志</a:t>
            </a:r>
            <a:r>
              <a:rPr lang="en-US" altLang="zh-CN" b="1" dirty="0">
                <a:latin typeface="Tahoma" panose="020B0604030504040204" pitchFamily="34" charset="0"/>
              </a:rPr>
              <a:t>ZF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1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5328" name="AutoShape 32"/>
          <p:cNvSpPr/>
          <p:nvPr/>
        </p:nvSpPr>
        <p:spPr>
          <a:xfrm>
            <a:off x="2909888" y="2436813"/>
            <a:ext cx="228600" cy="1090612"/>
          </a:xfrm>
          <a:prstGeom prst="leftBrace">
            <a:avLst>
              <a:gd name="adj1" fmla="val 39491"/>
              <a:gd name="adj2" fmla="val 50000"/>
            </a:avLst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endParaRPr lang="zh-CN" altLang="zh-CN" b="1" dirty="0">
              <a:latin typeface="Tahoma" panose="020B0604030504040204" pitchFamily="34" charset="0"/>
            </a:endParaRPr>
          </a:p>
        </p:txBody>
      </p:sp>
      <p:sp>
        <p:nvSpPr>
          <p:cNvPr id="55329" name="Rectangle 33"/>
          <p:cNvSpPr/>
          <p:nvPr/>
        </p:nvSpPr>
        <p:spPr>
          <a:xfrm>
            <a:off x="433388" y="4013200"/>
            <a:ext cx="247650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CMPSW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55331" name="Text Box 35"/>
          <p:cNvSpPr txBox="1"/>
          <p:nvPr/>
        </p:nvSpPr>
        <p:spPr>
          <a:xfrm>
            <a:off x="3048000" y="3603625"/>
            <a:ext cx="2768600" cy="12715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SI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-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SI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</a:t>
            </a:r>
            <a:r>
              <a:rPr lang="en-US" altLang="zh-CN" b="1" dirty="0">
                <a:latin typeface="Tahoma" panose="020B0604030504040204" pitchFamily="34" charset="0"/>
              </a:rPr>
              <a:t> 2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  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5332" name="AutoShape 36"/>
          <p:cNvSpPr/>
          <p:nvPr/>
        </p:nvSpPr>
        <p:spPr>
          <a:xfrm>
            <a:off x="2914650" y="3703638"/>
            <a:ext cx="228600" cy="1090612"/>
          </a:xfrm>
          <a:prstGeom prst="leftBrace">
            <a:avLst>
              <a:gd name="adj1" fmla="val 39491"/>
              <a:gd name="adj2" fmla="val 50000"/>
            </a:avLst>
          </a:prstGeom>
          <a:noFill/>
          <a:ln w="28575" cap="flat" cmpd="sng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55333" name="Rectangle 37"/>
          <p:cNvSpPr/>
          <p:nvPr/>
        </p:nvSpPr>
        <p:spPr>
          <a:xfrm>
            <a:off x="433388" y="4905375"/>
            <a:ext cx="51038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REPE   CMPSB/CMPSW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1754" name="Rectangle 41"/>
          <p:cNvSpPr/>
          <p:nvPr/>
        </p:nvSpPr>
        <p:spPr>
          <a:xfrm>
            <a:off x="539750" y="1893888"/>
            <a:ext cx="5068888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  </a:t>
            </a:r>
            <a:r>
              <a:rPr lang="zh-CN" altLang="en-US" b="1" dirty="0">
                <a:latin typeface="Tahoma" panose="020B0604030504040204" pitchFamily="34" charset="0"/>
              </a:rPr>
              <a:t>常用于比较串数据是否对应相等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" name="Group 69"/>
          <p:cNvGrpSpPr/>
          <p:nvPr/>
        </p:nvGrpSpPr>
        <p:grpSpPr>
          <a:xfrm>
            <a:off x="6357938" y="1290638"/>
            <a:ext cx="2743200" cy="5105400"/>
            <a:chOff x="3744" y="240"/>
            <a:chExt cx="1728" cy="3216"/>
          </a:xfrm>
        </p:grpSpPr>
        <p:grpSp>
          <p:nvGrpSpPr>
            <p:cNvPr id="31756" name="Group 44"/>
            <p:cNvGrpSpPr/>
            <p:nvPr/>
          </p:nvGrpSpPr>
          <p:grpSpPr>
            <a:xfrm>
              <a:off x="4368" y="240"/>
              <a:ext cx="720" cy="3216"/>
              <a:chOff x="4560" y="1104"/>
              <a:chExt cx="720" cy="3216"/>
            </a:xfrm>
          </p:grpSpPr>
          <p:sp>
            <p:nvSpPr>
              <p:cNvPr id="31757" name="Text Box 45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758" name="Rectangle 46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759" name="Line 47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0" name="Line 48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1" name="Line 49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2" name="Line 50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3" name="Line 51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4" name="Rectangle 52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765" name="Rectangle 53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1766" name="Line 54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7" name="Line 55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8" name="Line 56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69" name="Line 57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0" name="Line 58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1" name="Line 59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2" name="Line 60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3" name="Line 61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1774" name="Line 62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1775" name="Text Box 63"/>
            <p:cNvSpPr txBox="1"/>
            <p:nvPr/>
          </p:nvSpPr>
          <p:spPr>
            <a:xfrm>
              <a:off x="3744" y="624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SI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1776" name="Text Box 64"/>
            <p:cNvSpPr txBox="1"/>
            <p:nvPr/>
          </p:nvSpPr>
          <p:spPr>
            <a:xfrm>
              <a:off x="3744" y="201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1777" name="Text Box 65"/>
            <p:cNvSpPr txBox="1"/>
            <p:nvPr/>
          </p:nvSpPr>
          <p:spPr>
            <a:xfrm>
              <a:off x="5184" y="432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1778" name="Text Box 66"/>
            <p:cNvSpPr txBox="1"/>
            <p:nvPr/>
          </p:nvSpPr>
          <p:spPr>
            <a:xfrm>
              <a:off x="5184" y="2352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1779" name="AutoShape 67"/>
            <p:cNvSpPr/>
            <p:nvPr/>
          </p:nvSpPr>
          <p:spPr>
            <a:xfrm rot="5110812">
              <a:off x="4329" y="1117"/>
              <a:ext cx="1200" cy="9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1780" name="AutoShape 68"/>
            <p:cNvSpPr/>
            <p:nvPr/>
          </p:nvSpPr>
          <p:spPr>
            <a:xfrm rot="5377731" flipH="1">
              <a:off x="4343" y="1079"/>
              <a:ext cx="1248" cy="10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7709" y="8912"/>
                  </a:moveTo>
                  <a:cubicBezTo>
                    <a:pt x="16858" y="5797"/>
                    <a:pt x="14028" y="3637"/>
                    <a:pt x="10800" y="3637"/>
                  </a:cubicBezTo>
                  <a:cubicBezTo>
                    <a:pt x="7582" y="3636"/>
                    <a:pt x="4760" y="5782"/>
                    <a:pt x="3898" y="8881"/>
                  </a:cubicBezTo>
                  <a:lnTo>
                    <a:pt x="394" y="7907"/>
                  </a:lnTo>
                  <a:cubicBezTo>
                    <a:pt x="1693" y="3234"/>
                    <a:pt x="5949" y="-1"/>
                    <a:pt x="10800" y="0"/>
                  </a:cubicBezTo>
                  <a:cubicBezTo>
                    <a:pt x="15668" y="0"/>
                    <a:pt x="19934" y="3257"/>
                    <a:pt x="21218" y="7953"/>
                  </a:cubicBezTo>
                  <a:lnTo>
                    <a:pt x="23822" y="7241"/>
                  </a:lnTo>
                  <a:lnTo>
                    <a:pt x="20655" y="12791"/>
                  </a:lnTo>
                  <a:lnTo>
                    <a:pt x="15105" y="9623"/>
                  </a:lnTo>
                  <a:lnTo>
                    <a:pt x="17709" y="8912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40" name="Text Box 32"/>
          <p:cNvSpPr txBox="1">
            <a:spLocks noChangeArrowheads="1"/>
          </p:cNvSpPr>
          <p:nvPr/>
        </p:nvSpPr>
        <p:spPr bwMode="auto">
          <a:xfrm>
            <a:off x="466725" y="5407025"/>
            <a:ext cx="6770688" cy="1217613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</a:ln>
        </p:spPr>
        <p:txBody>
          <a:bodyPr wrap="square">
            <a:spAutoFit/>
          </a:bodyPr>
          <a:lstStyle/>
          <a:p>
            <a:pPr marL="457200" marR="0" indent="-457200" defTabSz="914400">
              <a:spcBef>
                <a:spcPct val="5000"/>
              </a:spcBef>
              <a:buClrTx/>
              <a:buSzTx/>
              <a:buFontTx/>
              <a:buAutoNum type="arabicParenR"/>
              <a:defRPr/>
            </a:pP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CX=0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？若相等，则退出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REPE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；否则执行指令</a:t>
            </a: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CMPS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；置标志位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ZF,  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CX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CX-1</a:t>
            </a:r>
            <a:endParaRPr kumimoji="1" lang="en-US" altLang="zh-CN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ZF=1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？相等则转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）；否则退出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REPE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语句</a:t>
            </a:r>
            <a:endParaRPr kumimoji="1" lang="en-US" altLang="zh-CN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1782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CMPS串比较指令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5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55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5327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5327">
                                            <p:txEl>
                                              <p:charRg st="16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7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55327">
                                            <p:txEl>
                                              <p:charRg st="31" end="4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5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553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55331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5331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1">
                                            <p:txEl>
                                              <p:charRg st="27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5331">
                                            <p:txEl>
                                              <p:charRg st="27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5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40">
                                            <p:txEl>
                                              <p:charRg st="0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charRg st="48" end="7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4" dur="500"/>
                                        <p:tgtEl>
                                          <p:spTgt spid="40">
                                            <p:txEl>
                                              <p:charRg st="48" end="7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4" grpId="0"/>
      <p:bldP spid="55327" grpId="0" uiExpand="1" build="p"/>
      <p:bldP spid="55328" grpId="0" bldLvl="0" animBg="1"/>
      <p:bldP spid="55329" grpId="0"/>
      <p:bldP spid="55331" grpId="0" build="p"/>
      <p:bldP spid="55332" grpId="0" bldLvl="0" animBg="1"/>
      <p:bldP spid="55333" grpId="0"/>
      <p:bldP spid="40" grpId="0" animBg="1" uiExpand="1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32770" name="Text Box 2"/>
          <p:cNvSpPr txBox="1"/>
          <p:nvPr/>
        </p:nvSpPr>
        <p:spPr>
          <a:xfrm>
            <a:off x="501650" y="1503363"/>
            <a:ext cx="4495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 5. SCAS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串扫描指令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</p:txBody>
      </p:sp>
      <p:sp>
        <p:nvSpPr>
          <p:cNvPr id="93187" name="Rectangle 3"/>
          <p:cNvSpPr/>
          <p:nvPr/>
        </p:nvSpPr>
        <p:spPr>
          <a:xfrm>
            <a:off x="573088" y="2727325"/>
            <a:ext cx="2303462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SCASB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93188" name="Rectangle 4"/>
          <p:cNvSpPr/>
          <p:nvPr/>
        </p:nvSpPr>
        <p:spPr>
          <a:xfrm>
            <a:off x="573088" y="3767138"/>
            <a:ext cx="2406650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SCASW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93196" name="Text Box 12"/>
          <p:cNvSpPr txBox="1"/>
          <p:nvPr/>
        </p:nvSpPr>
        <p:spPr>
          <a:xfrm>
            <a:off x="3144838" y="2432050"/>
            <a:ext cx="3746500" cy="8651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AL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-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）置</a:t>
            </a:r>
            <a:r>
              <a:rPr lang="en-US" altLang="zh-CN" b="1" dirty="0">
                <a:latin typeface="Tahoma" panose="020B0604030504040204" pitchFamily="34" charset="0"/>
              </a:rPr>
              <a:t>ZF</a:t>
            </a:r>
            <a:r>
              <a:rPr lang="zh-CN" altLang="en-US" b="1" dirty="0">
                <a:latin typeface="Tahoma" panose="020B0604030504040204" pitchFamily="34" charset="0"/>
              </a:rPr>
              <a:t>标志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 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3197" name="AutoShape 13"/>
          <p:cNvSpPr/>
          <p:nvPr/>
        </p:nvSpPr>
        <p:spPr>
          <a:xfrm>
            <a:off x="3168650" y="2463800"/>
            <a:ext cx="228600" cy="885825"/>
          </a:xfrm>
          <a:prstGeom prst="leftBrace">
            <a:avLst>
              <a:gd name="adj1" fmla="val 32076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93200" name="Text Box 16"/>
          <p:cNvSpPr txBox="1"/>
          <p:nvPr/>
        </p:nvSpPr>
        <p:spPr>
          <a:xfrm>
            <a:off x="3216275" y="3538538"/>
            <a:ext cx="2828925" cy="8651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AX</a:t>
            </a:r>
            <a:r>
              <a:rPr lang="zh-CN" altLang="en-US" b="1" dirty="0">
                <a:latin typeface="Tahoma" panose="020B0604030504040204" pitchFamily="34" charset="0"/>
              </a:rPr>
              <a:t>）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-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en-US" b="1" dirty="0">
                <a:latin typeface="Tahoma" panose="020B0604030504040204" pitchFamily="34" charset="0"/>
              </a:rPr>
              <a:t>（</a:t>
            </a:r>
            <a:r>
              <a:rPr lang="en-US" altLang="zh-CN" b="1" dirty="0">
                <a:latin typeface="Tahoma" panose="020B0604030504040204" pitchFamily="34" charset="0"/>
              </a:rPr>
              <a:t>DI</a:t>
            </a:r>
            <a:r>
              <a:rPr lang="zh-CN" altLang="en-US" b="1" dirty="0">
                <a:latin typeface="Tahoma" panose="020B0604030504040204" pitchFamily="34" charset="0"/>
              </a:rPr>
              <a:t>）</a:t>
            </a:r>
            <a:endParaRPr lang="zh-CN" altLang="en-US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  </a:t>
            </a:r>
            <a:r>
              <a:rPr lang="en-US" altLang="zh-CN" b="1" dirty="0">
                <a:latin typeface="Tahoma" panose="020B0604030504040204" pitchFamily="34" charset="0"/>
              </a:rPr>
              <a:t>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DI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  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93201" name="AutoShape 17"/>
          <p:cNvSpPr/>
          <p:nvPr/>
        </p:nvSpPr>
        <p:spPr>
          <a:xfrm>
            <a:off x="3216275" y="3570288"/>
            <a:ext cx="228600" cy="885825"/>
          </a:xfrm>
          <a:prstGeom prst="leftBrace">
            <a:avLst>
              <a:gd name="adj1" fmla="val 32076"/>
              <a:gd name="adj2" fmla="val 50000"/>
            </a:avLst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</a:endParaRPr>
          </a:p>
        </p:txBody>
      </p:sp>
      <p:sp>
        <p:nvSpPr>
          <p:cNvPr id="93202" name="Rectangle 18"/>
          <p:cNvSpPr/>
          <p:nvPr/>
        </p:nvSpPr>
        <p:spPr>
          <a:xfrm>
            <a:off x="574675" y="4645025"/>
            <a:ext cx="47053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格式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</a:rPr>
              <a:t>：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REPNE   SCASB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2778" name="Rectangle 22"/>
          <p:cNvSpPr/>
          <p:nvPr/>
        </p:nvSpPr>
        <p:spPr>
          <a:xfrm>
            <a:off x="539750" y="1911350"/>
            <a:ext cx="6713538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latin typeface="Tahoma" panose="020B0604030504040204" pitchFamily="34" charset="0"/>
              </a:rPr>
              <a:t>  </a:t>
            </a:r>
            <a:r>
              <a:rPr lang="zh-CN" altLang="en-US" b="1" dirty="0">
                <a:latin typeface="Tahoma" panose="020B0604030504040204" pitchFamily="34" charset="0"/>
              </a:rPr>
              <a:t>用来在一个字符串中搜索特定的关键字</a:t>
            </a:r>
            <a:endParaRPr lang="zh-CN" altLang="en-US" b="1" dirty="0">
              <a:latin typeface="Tahoma" panose="020B0604030504040204" pitchFamily="34" charset="0"/>
            </a:endParaRPr>
          </a:p>
        </p:txBody>
      </p:sp>
      <p:grpSp>
        <p:nvGrpSpPr>
          <p:cNvPr id="2" name="Group 52"/>
          <p:cNvGrpSpPr/>
          <p:nvPr/>
        </p:nvGrpSpPr>
        <p:grpSpPr>
          <a:xfrm>
            <a:off x="6472238" y="1328738"/>
            <a:ext cx="2600325" cy="5105400"/>
            <a:chOff x="3744" y="240"/>
            <a:chExt cx="1638" cy="3216"/>
          </a:xfrm>
        </p:grpSpPr>
        <p:grpSp>
          <p:nvGrpSpPr>
            <p:cNvPr id="32780" name="Group 24"/>
            <p:cNvGrpSpPr/>
            <p:nvPr/>
          </p:nvGrpSpPr>
          <p:grpSpPr>
            <a:xfrm>
              <a:off x="4368" y="240"/>
              <a:ext cx="720" cy="3216"/>
              <a:chOff x="4560" y="1104"/>
              <a:chExt cx="720" cy="3216"/>
            </a:xfrm>
          </p:grpSpPr>
          <p:sp>
            <p:nvSpPr>
              <p:cNvPr id="32781" name="Text Box 25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782" name="Rectangle 26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783" name="Line 27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4" name="Line 28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5" name="Line 29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6" name="Line 30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7" name="Line 31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88" name="Rectangle 32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789" name="Rectangle 33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2790" name="Line 34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1" name="Line 35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2" name="Line 36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3" name="Line 37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4" name="Line 38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5" name="Line 39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6" name="Line 40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7" name="Line 41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2798" name="Line 42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2799" name="Text Box 43"/>
            <p:cNvSpPr txBox="1"/>
            <p:nvPr/>
          </p:nvSpPr>
          <p:spPr>
            <a:xfrm>
              <a:off x="3744" y="201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2800" name="Text Box 44"/>
            <p:cNvSpPr txBox="1"/>
            <p:nvPr/>
          </p:nvSpPr>
          <p:spPr>
            <a:xfrm>
              <a:off x="5094" y="432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2801" name="Text Box 45"/>
            <p:cNvSpPr txBox="1"/>
            <p:nvPr/>
          </p:nvSpPr>
          <p:spPr>
            <a:xfrm>
              <a:off x="5094" y="2217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7"/>
          <p:cNvGrpSpPr/>
          <p:nvPr/>
        </p:nvGrpSpPr>
        <p:grpSpPr>
          <a:xfrm>
            <a:off x="5629275" y="4646613"/>
            <a:ext cx="1185863" cy="465137"/>
            <a:chOff x="3682" y="3597"/>
            <a:chExt cx="784" cy="293"/>
          </a:xfrm>
        </p:grpSpPr>
        <p:sp>
          <p:nvSpPr>
            <p:cNvPr id="32803" name="Text Box 48"/>
            <p:cNvSpPr txBox="1"/>
            <p:nvPr/>
          </p:nvSpPr>
          <p:spPr>
            <a:xfrm>
              <a:off x="3710" y="3597"/>
              <a:ext cx="706" cy="290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2804" name="Text Box 49"/>
            <p:cNvSpPr txBox="1"/>
            <p:nvPr/>
          </p:nvSpPr>
          <p:spPr>
            <a:xfrm>
              <a:off x="3682" y="3600"/>
              <a:ext cx="78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AL/AX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54"/>
          <p:cNvGrpSpPr/>
          <p:nvPr/>
        </p:nvGrpSpPr>
        <p:grpSpPr>
          <a:xfrm>
            <a:off x="6762750" y="4651375"/>
            <a:ext cx="914400" cy="841375"/>
            <a:chOff x="4119" y="2352"/>
            <a:chExt cx="576" cy="530"/>
          </a:xfrm>
        </p:grpSpPr>
        <p:sp>
          <p:nvSpPr>
            <p:cNvPr id="32806" name="AutoShape 50"/>
            <p:cNvSpPr/>
            <p:nvPr/>
          </p:nvSpPr>
          <p:spPr>
            <a:xfrm>
              <a:off x="4119" y="2352"/>
              <a:ext cx="576" cy="240"/>
            </a:xfrm>
            <a:prstGeom prst="leftRightArrow">
              <a:avLst>
                <a:gd name="adj1" fmla="val 50000"/>
                <a:gd name="adj2" fmla="val 48000"/>
              </a:avLst>
            </a:prstGeom>
            <a:solidFill>
              <a:srgbClr val="0099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dirty="0">
                <a:latin typeface="Tahoma" panose="020B0604030504040204" pitchFamily="34" charset="0"/>
              </a:endParaRPr>
            </a:p>
          </p:txBody>
        </p:sp>
        <p:sp>
          <p:nvSpPr>
            <p:cNvPr id="32807" name="Text Box 51"/>
            <p:cNvSpPr txBox="1"/>
            <p:nvPr/>
          </p:nvSpPr>
          <p:spPr>
            <a:xfrm>
              <a:off x="4119" y="2592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比较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43" name="Text Box 32"/>
          <p:cNvSpPr txBox="1">
            <a:spLocks noChangeArrowheads="1"/>
          </p:cNvSpPr>
          <p:nvPr/>
        </p:nvSpPr>
        <p:spPr bwMode="auto">
          <a:xfrm>
            <a:off x="534988" y="5157788"/>
            <a:ext cx="6588125" cy="13255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square">
            <a:spAutoFit/>
          </a:bodyPr>
          <a:lstStyle/>
          <a:p>
            <a:pPr marL="457200" marR="0" indent="-457200" defTabSz="914400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AutoNum type="arabicParenR"/>
              <a:defRPr/>
            </a:pP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CX=0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？若相等，退出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REPNE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；否则执行</a:t>
            </a:r>
            <a:r>
              <a:rPr kumimoji="1" lang="en-US" altLang="zh-CN" b="1" kern="1200" cap="none" spc="0" normalizeH="0" baseline="0" noProof="0" dirty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SCASB 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；置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ZF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标志位，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 CX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CX-1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；</a:t>
            </a:r>
            <a:endParaRPr kumimoji="1" lang="en-US" altLang="zh-CN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R="0" defTabSz="914400">
              <a:lnSpc>
                <a:spcPct val="110000"/>
              </a:lnSpc>
              <a:spcBef>
                <a:spcPct val="5000"/>
              </a:spcBef>
              <a:buClrTx/>
              <a:buSzTx/>
              <a:buFontTx/>
              <a:buNone/>
              <a:defRPr/>
            </a:pP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ZF=0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？不相等则转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1</a:t>
            </a:r>
            <a:r>
              <a:rPr kumimoji="1" lang="zh-CN" altLang="en-US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）；否则退出</a:t>
            </a:r>
            <a:r>
              <a:rPr kumimoji="1" lang="en-US" altLang="zh-CN" b="1" kern="1200" cap="none" spc="0" normalizeH="0" baseline="0" noProof="0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REPNE</a:t>
            </a:r>
            <a:endParaRPr kumimoji="1" lang="en-US" altLang="zh-CN" b="1" kern="1200" cap="none" spc="0" normalizeH="0" baseline="0" noProof="0" dirty="0"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809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--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SCAS串扫描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31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31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931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931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32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9320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93200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0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93200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93200">
                                            <p:txEl>
                                              <p:charRg st="12" end="2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932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932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3">
                                            <p:txEl>
                                              <p:charRg st="0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charRg st="47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43">
                                            <p:txEl>
                                              <p:charRg st="47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87" grpId="0"/>
      <p:bldP spid="93188" grpId="0"/>
      <p:bldP spid="93196" grpId="0"/>
      <p:bldP spid="93197" grpId="0" bldLvl="0" animBg="1"/>
      <p:bldP spid="93200" grpId="0" build="p"/>
      <p:bldP spid="93201" grpId="0" bldLvl="0" animBg="1"/>
      <p:bldP spid="93202" grpId="0"/>
      <p:bldP spid="43" grpId="0" uiExpand="1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SzTx/>
              <a:buFontTx/>
            </a:pPr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sp>
        <p:nvSpPr>
          <p:cNvPr id="54274" name="Text Box 2"/>
          <p:cNvSpPr txBox="1"/>
          <p:nvPr/>
        </p:nvSpPr>
        <p:spPr>
          <a:xfrm>
            <a:off x="571500" y="1450975"/>
            <a:ext cx="5100638" cy="2085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6. CLD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清除方向标志指令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格式：</a:t>
            </a:r>
            <a:r>
              <a:rPr lang="en-US" altLang="zh-CN" b="1" dirty="0">
                <a:latin typeface="Tahoma" panose="020B0604030504040204" pitchFamily="34" charset="0"/>
              </a:rPr>
              <a:t>CLD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操作：使方向标志</a:t>
            </a:r>
            <a:r>
              <a:rPr lang="en-US" altLang="zh-CN" b="1" dirty="0">
                <a:latin typeface="Tahoma" panose="020B0604030504040204" pitchFamily="34" charset="0"/>
              </a:rPr>
              <a:t>DF=0</a:t>
            </a:r>
            <a:r>
              <a:rPr lang="zh-CN" altLang="en-US" b="1" dirty="0">
                <a:latin typeface="Tahoma" panose="020B0604030504040204" pitchFamily="34" charset="0"/>
              </a:rPr>
              <a:t>，串操作指令中地址自动增量变化。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54275" name="Text Box 3"/>
          <p:cNvSpPr txBox="1"/>
          <p:nvPr/>
        </p:nvSpPr>
        <p:spPr>
          <a:xfrm>
            <a:off x="571500" y="3965575"/>
            <a:ext cx="5761038" cy="20859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7. STD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</a:rPr>
              <a:t>设置方向标志指令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格式：</a:t>
            </a:r>
            <a:r>
              <a:rPr lang="en-US" altLang="zh-CN" b="1" dirty="0">
                <a:latin typeface="Tahoma" panose="020B0604030504040204" pitchFamily="34" charset="0"/>
              </a:rPr>
              <a:t>STD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</a:rPr>
              <a:t>操作：使方向标志</a:t>
            </a:r>
            <a:r>
              <a:rPr lang="en-US" altLang="zh-CN" b="1" dirty="0">
                <a:latin typeface="Tahoma" panose="020B0604030504040204" pitchFamily="34" charset="0"/>
              </a:rPr>
              <a:t>DF=1</a:t>
            </a:r>
            <a:r>
              <a:rPr lang="zh-CN" altLang="en-US" b="1" dirty="0">
                <a:latin typeface="Tahoma" panose="020B0604030504040204" pitchFamily="34" charset="0"/>
              </a:rPr>
              <a:t>，执行串操作指令地址自动减量变化。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grpSp>
        <p:nvGrpSpPr>
          <p:cNvPr id="33796" name="Group 4"/>
          <p:cNvGrpSpPr/>
          <p:nvPr/>
        </p:nvGrpSpPr>
        <p:grpSpPr>
          <a:xfrm>
            <a:off x="5829300" y="1143000"/>
            <a:ext cx="2743200" cy="5105400"/>
            <a:chOff x="4032" y="1104"/>
            <a:chExt cx="1728" cy="3216"/>
          </a:xfrm>
        </p:grpSpPr>
        <p:grpSp>
          <p:nvGrpSpPr>
            <p:cNvPr id="33797" name="Group 5"/>
            <p:cNvGrpSpPr/>
            <p:nvPr/>
          </p:nvGrpSpPr>
          <p:grpSpPr>
            <a:xfrm>
              <a:off x="4656" y="1104"/>
              <a:ext cx="720" cy="3216"/>
              <a:chOff x="4560" y="1104"/>
              <a:chExt cx="720" cy="3216"/>
            </a:xfrm>
          </p:grpSpPr>
          <p:sp>
            <p:nvSpPr>
              <p:cNvPr id="33798" name="Text Box 6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799" name="Rectangle 7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800" name="Line 8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1" name="Line 9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2" name="Line 10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3" name="Line 11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4" name="Line 12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5" name="Rectangle 13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806" name="Rectangle 14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3807" name="Line 15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8" name="Line 16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09" name="Line 17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0" name="Line 18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1" name="Line 19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2" name="Line 20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3" name="Line 21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4" name="Line 22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3815" name="Line 23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3816" name="Text Box 24"/>
            <p:cNvSpPr txBox="1"/>
            <p:nvPr/>
          </p:nvSpPr>
          <p:spPr>
            <a:xfrm>
              <a:off x="4032" y="1488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SI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3817" name="Text Box 25"/>
            <p:cNvSpPr txBox="1"/>
            <p:nvPr/>
          </p:nvSpPr>
          <p:spPr>
            <a:xfrm>
              <a:off x="4032" y="2880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3818" name="Text Box 26"/>
            <p:cNvSpPr txBox="1"/>
            <p:nvPr/>
          </p:nvSpPr>
          <p:spPr>
            <a:xfrm>
              <a:off x="5472" y="1296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3819" name="Text Box 27"/>
            <p:cNvSpPr txBox="1"/>
            <p:nvPr/>
          </p:nvSpPr>
          <p:spPr>
            <a:xfrm>
              <a:off x="5472" y="3216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3820" name="AutoShape 28"/>
            <p:cNvSpPr/>
            <p:nvPr/>
          </p:nvSpPr>
          <p:spPr>
            <a:xfrm rot="5110812">
              <a:off x="4619" y="1979"/>
              <a:ext cx="1248" cy="1009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3382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3.4.4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串操作指令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5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54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74" grpId="0"/>
      <p:bldP spid="54275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标题 1"/>
          <p:cNvSpPr>
            <a:spLocks noGrp="1"/>
          </p:cNvSpPr>
          <p:nvPr>
            <p:ph type="title"/>
          </p:nvPr>
        </p:nvSpPr>
        <p:spPr>
          <a:xfrm>
            <a:off x="71438" y="0"/>
            <a:ext cx="8805862" cy="1571625"/>
          </a:xfrm>
          <a:solidFill>
            <a:schemeClr val="bg1"/>
          </a:solidFill>
        </p:spPr>
        <p:txBody>
          <a:bodyPr vert="horz" wrap="square" lIns="91440" tIns="45720" rIns="91440" bIns="45720" anchor="b" anchorCtr="0"/>
          <a:p>
            <a:pPr>
              <a:lnSpc>
                <a:spcPct val="120000"/>
              </a:lnSpc>
            </a:pPr>
            <a:r>
              <a:rPr lang="en-US" altLang="zh-CN" sz="2400" b="1" dirty="0">
                <a:solidFill>
                  <a:srgbClr val="FF0000"/>
                </a:solidFill>
              </a:rPr>
              <a:t>	</a:t>
            </a:r>
            <a:r>
              <a:rPr lang="zh-CN" altLang="en-US" sz="2400" b="1" dirty="0">
                <a:solidFill>
                  <a:srgbClr val="FF0000"/>
                </a:solidFill>
              </a:rPr>
              <a:t>习题</a:t>
            </a:r>
            <a:r>
              <a:rPr lang="en-US" altLang="zh-CN" sz="2400" b="1" dirty="0">
                <a:solidFill>
                  <a:srgbClr val="FF0000"/>
                </a:solidFill>
              </a:rPr>
              <a:t>7-1. </a:t>
            </a:r>
            <a:br>
              <a:rPr lang="en-US" altLang="zh-CN" sz="2400" b="1" dirty="0">
                <a:solidFill>
                  <a:srgbClr val="FF0000"/>
                </a:solidFill>
              </a:rPr>
            </a:br>
            <a:r>
              <a:rPr lang="en-US" altLang="zh-CN" sz="2400" b="1" dirty="0">
                <a:solidFill>
                  <a:schemeClr val="tx1"/>
                </a:solidFill>
              </a:rPr>
              <a:t>	</a:t>
            </a:r>
            <a:r>
              <a:rPr lang="zh-CN" altLang="en-US" sz="2400" b="1" dirty="0">
                <a:solidFill>
                  <a:schemeClr val="tx1"/>
                </a:solidFill>
              </a:rPr>
              <a:t>分别在</a:t>
            </a:r>
            <a:r>
              <a:rPr lang="en-US" altLang="en-US" sz="2400" b="1" dirty="0">
                <a:solidFill>
                  <a:schemeClr val="tx1"/>
                </a:solidFill>
              </a:rPr>
              <a:t>FARD1</a:t>
            </a:r>
            <a:r>
              <a:rPr lang="zh-CN" altLang="en-US" sz="2400" b="1" dirty="0">
                <a:solidFill>
                  <a:schemeClr val="tx1"/>
                </a:solidFill>
              </a:rPr>
              <a:t>和</a:t>
            </a:r>
            <a:r>
              <a:rPr lang="en-US" altLang="en-US" sz="2400" b="1" dirty="0">
                <a:solidFill>
                  <a:schemeClr val="tx1"/>
                </a:solidFill>
              </a:rPr>
              <a:t>FARD2</a:t>
            </a:r>
            <a:r>
              <a:rPr lang="zh-CN" altLang="en-US" sz="2400" b="1" dirty="0">
                <a:solidFill>
                  <a:schemeClr val="tx1"/>
                </a:solidFill>
              </a:rPr>
              <a:t>单元开始存放了</a:t>
            </a:r>
            <a:r>
              <a:rPr lang="en-US" altLang="en-US" sz="2400" b="1" dirty="0">
                <a:solidFill>
                  <a:schemeClr val="tx1"/>
                </a:solidFill>
              </a:rPr>
              <a:t>10</a:t>
            </a:r>
            <a:r>
              <a:rPr lang="zh-CN" altLang="en-US" sz="2400" b="1" dirty="0">
                <a:solidFill>
                  <a:schemeClr val="tx1"/>
                </a:solidFill>
              </a:rPr>
              <a:t>个字节数据，</a:t>
            </a:r>
            <a:br>
              <a:rPr lang="zh-CN" altLang="en-US" sz="2400" b="1" dirty="0">
                <a:solidFill>
                  <a:schemeClr val="tx1"/>
                </a:solidFill>
              </a:rPr>
            </a:br>
            <a:r>
              <a:rPr lang="zh-CN" altLang="en-US" sz="2400" b="1" dirty="0">
                <a:solidFill>
                  <a:schemeClr val="tx1"/>
                </a:solidFill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</a:rPr>
              <a:t>         </a:t>
            </a:r>
            <a:r>
              <a:rPr lang="zh-CN" altLang="en-US" sz="2400" b="1" dirty="0">
                <a:solidFill>
                  <a:schemeClr val="tx1"/>
                </a:solidFill>
              </a:rPr>
              <a:t>编程比较是否一致（数据自己定义）。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  <p:grpSp>
        <p:nvGrpSpPr>
          <p:cNvPr id="2" name="Group 69"/>
          <p:cNvGrpSpPr/>
          <p:nvPr/>
        </p:nvGrpSpPr>
        <p:grpSpPr>
          <a:xfrm>
            <a:off x="6072188" y="1609725"/>
            <a:ext cx="2743200" cy="5105400"/>
            <a:chOff x="3744" y="240"/>
            <a:chExt cx="1728" cy="3216"/>
          </a:xfrm>
        </p:grpSpPr>
        <p:grpSp>
          <p:nvGrpSpPr>
            <p:cNvPr id="34819" name="Group 44"/>
            <p:cNvGrpSpPr/>
            <p:nvPr/>
          </p:nvGrpSpPr>
          <p:grpSpPr>
            <a:xfrm>
              <a:off x="4368" y="240"/>
              <a:ext cx="720" cy="3216"/>
              <a:chOff x="4560" y="1104"/>
              <a:chExt cx="720" cy="3216"/>
            </a:xfrm>
          </p:grpSpPr>
          <p:sp>
            <p:nvSpPr>
              <p:cNvPr id="34820" name="Text Box 45"/>
              <p:cNvSpPr txBox="1"/>
              <p:nvPr/>
            </p:nvSpPr>
            <p:spPr>
              <a:xfrm>
                <a:off x="4560" y="1104"/>
                <a:ext cx="672" cy="28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endParaRPr lang="zh-CN" altLang="zh-CN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1" name="Rectangle 46"/>
              <p:cNvSpPr/>
              <p:nvPr/>
            </p:nvSpPr>
            <p:spPr>
              <a:xfrm>
                <a:off x="4704" y="1104"/>
                <a:ext cx="576" cy="3216"/>
              </a:xfrm>
              <a:prstGeom prst="rect">
                <a:avLst/>
              </a:prstGeom>
              <a:solidFill>
                <a:schemeClr val="accent1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2" name="Line 47"/>
              <p:cNvSpPr/>
              <p:nvPr/>
            </p:nvSpPr>
            <p:spPr>
              <a:xfrm>
                <a:off x="4704" y="134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3" name="Line 48"/>
              <p:cNvSpPr/>
              <p:nvPr/>
            </p:nvSpPr>
            <p:spPr>
              <a:xfrm>
                <a:off x="4704" y="153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4" name="Line 49"/>
              <p:cNvSpPr/>
              <p:nvPr/>
            </p:nvSpPr>
            <p:spPr>
              <a:xfrm>
                <a:off x="4704" y="26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5" name="Line 50"/>
              <p:cNvSpPr/>
              <p:nvPr/>
            </p:nvSpPr>
            <p:spPr>
              <a:xfrm>
                <a:off x="4704" y="40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6" name="Line 51"/>
              <p:cNvSpPr/>
              <p:nvPr/>
            </p:nvSpPr>
            <p:spPr>
              <a:xfrm>
                <a:off x="4704" y="388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27" name="Rectangle 52" descr="浅色下对角线"/>
              <p:cNvSpPr/>
              <p:nvPr/>
            </p:nvSpPr>
            <p:spPr>
              <a:xfrm>
                <a:off x="4704" y="2880"/>
                <a:ext cx="576" cy="816"/>
              </a:xfrm>
              <a:prstGeom prst="rect">
                <a:avLst/>
              </a:prstGeom>
              <a:pattFill prst="ltDnDiag">
                <a:fgClr>
                  <a:srgbClr val="CC0000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8" name="Rectangle 53" descr="浅色下对角线"/>
              <p:cNvSpPr/>
              <p:nvPr/>
            </p:nvSpPr>
            <p:spPr>
              <a:xfrm>
                <a:off x="4704" y="1536"/>
                <a:ext cx="576" cy="768"/>
              </a:xfrm>
              <a:prstGeom prst="rect">
                <a:avLst/>
              </a:prstGeom>
              <a:pattFill prst="ltDnDiag">
                <a:fgClr>
                  <a:schemeClr val="accent1"/>
                </a:fgClr>
                <a:bgClr>
                  <a:schemeClr val="bg1"/>
                </a:bgClr>
              </a:patt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>
                  <a:buClrTx/>
                  <a:buFontTx/>
                </a:pPr>
                <a:endParaRPr lang="zh-CN" altLang="en-US" b="1"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34829" name="Line 54"/>
              <p:cNvSpPr/>
              <p:nvPr/>
            </p:nvSpPr>
            <p:spPr>
              <a:xfrm>
                <a:off x="4704" y="21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0" name="Line 55"/>
              <p:cNvSpPr/>
              <p:nvPr/>
            </p:nvSpPr>
            <p:spPr>
              <a:xfrm>
                <a:off x="4704" y="19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1" name="Line 56"/>
              <p:cNvSpPr/>
              <p:nvPr/>
            </p:nvSpPr>
            <p:spPr>
              <a:xfrm>
                <a:off x="4704" y="23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2" name="Line 57"/>
              <p:cNvSpPr/>
              <p:nvPr/>
            </p:nvSpPr>
            <p:spPr>
              <a:xfrm>
                <a:off x="4704" y="2496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3" name="Line 58"/>
              <p:cNvSpPr/>
              <p:nvPr/>
            </p:nvSpPr>
            <p:spPr>
              <a:xfrm>
                <a:off x="4704" y="1728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4" name="Line 59"/>
              <p:cNvSpPr/>
              <p:nvPr/>
            </p:nvSpPr>
            <p:spPr>
              <a:xfrm>
                <a:off x="4704" y="288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5" name="Line 60"/>
              <p:cNvSpPr/>
              <p:nvPr/>
            </p:nvSpPr>
            <p:spPr>
              <a:xfrm>
                <a:off x="4704" y="3120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6" name="Line 61"/>
              <p:cNvSpPr/>
              <p:nvPr/>
            </p:nvSpPr>
            <p:spPr>
              <a:xfrm>
                <a:off x="4704" y="3504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4837" name="Line 62"/>
              <p:cNvSpPr/>
              <p:nvPr/>
            </p:nvSpPr>
            <p:spPr>
              <a:xfrm>
                <a:off x="4704" y="3312"/>
                <a:ext cx="576" cy="0"/>
              </a:xfrm>
              <a:prstGeom prst="line">
                <a:avLst/>
              </a:prstGeom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4838" name="Text Box 63"/>
            <p:cNvSpPr txBox="1"/>
            <p:nvPr/>
          </p:nvSpPr>
          <p:spPr>
            <a:xfrm>
              <a:off x="3744" y="624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SI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34839" name="Text Box 64"/>
            <p:cNvSpPr txBox="1"/>
            <p:nvPr/>
          </p:nvSpPr>
          <p:spPr>
            <a:xfrm>
              <a:off x="3744" y="2016"/>
              <a:ext cx="81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ES</a:t>
              </a: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：</a:t>
              </a: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DI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34840" name="Text Box 65"/>
            <p:cNvSpPr txBox="1"/>
            <p:nvPr/>
          </p:nvSpPr>
          <p:spPr>
            <a:xfrm>
              <a:off x="5184" y="432"/>
              <a:ext cx="288" cy="523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源串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4841" name="Text Box 66"/>
            <p:cNvSpPr txBox="1"/>
            <p:nvPr/>
          </p:nvSpPr>
          <p:spPr>
            <a:xfrm>
              <a:off x="5184" y="2352"/>
              <a:ext cx="288" cy="756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</a:rPr>
                <a:t>目的串</a:t>
              </a:r>
              <a:endParaRPr lang="zh-CN" altLang="en-US" b="1" dirty="0">
                <a:latin typeface="Tahoma" panose="020B0604030504040204" pitchFamily="34" charset="0"/>
              </a:endParaRPr>
            </a:p>
          </p:txBody>
        </p:sp>
        <p:sp>
          <p:nvSpPr>
            <p:cNvPr id="34842" name="AutoShape 67"/>
            <p:cNvSpPr/>
            <p:nvPr/>
          </p:nvSpPr>
          <p:spPr>
            <a:xfrm rot="5110812">
              <a:off x="4329" y="1117"/>
              <a:ext cx="1200" cy="961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8524" y="8368"/>
                  </a:moveTo>
                  <a:cubicBezTo>
                    <a:pt x="17462" y="4995"/>
                    <a:pt x="14335" y="2702"/>
                    <a:pt x="10800" y="2702"/>
                  </a:cubicBezTo>
                  <a:cubicBezTo>
                    <a:pt x="6491" y="2701"/>
                    <a:pt x="2937" y="6075"/>
                    <a:pt x="2713" y="10377"/>
                  </a:cubicBezTo>
                  <a:lnTo>
                    <a:pt x="14" y="10236"/>
                  </a:lnTo>
                  <a:cubicBezTo>
                    <a:pt x="314" y="4498"/>
                    <a:pt x="5054" y="-1"/>
                    <a:pt x="10800" y="0"/>
                  </a:cubicBezTo>
                  <a:cubicBezTo>
                    <a:pt x="15515" y="0"/>
                    <a:pt x="19685" y="3059"/>
                    <a:pt x="21101" y="7556"/>
                  </a:cubicBezTo>
                  <a:lnTo>
                    <a:pt x="23676" y="6746"/>
                  </a:lnTo>
                  <a:lnTo>
                    <a:pt x="21029" y="11826"/>
                  </a:lnTo>
                  <a:lnTo>
                    <a:pt x="15948" y="9179"/>
                  </a:lnTo>
                  <a:lnTo>
                    <a:pt x="18524" y="8368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34843" name="AutoShape 68"/>
            <p:cNvSpPr/>
            <p:nvPr/>
          </p:nvSpPr>
          <p:spPr>
            <a:xfrm rot="5377731" flipH="1">
              <a:off x="4343" y="1079"/>
              <a:ext cx="1248" cy="1008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7709" y="8912"/>
                  </a:moveTo>
                  <a:cubicBezTo>
                    <a:pt x="16858" y="5797"/>
                    <a:pt x="14028" y="3637"/>
                    <a:pt x="10800" y="3637"/>
                  </a:cubicBezTo>
                  <a:cubicBezTo>
                    <a:pt x="7582" y="3636"/>
                    <a:pt x="4760" y="5782"/>
                    <a:pt x="3898" y="8881"/>
                  </a:cubicBezTo>
                  <a:lnTo>
                    <a:pt x="394" y="7907"/>
                  </a:lnTo>
                  <a:cubicBezTo>
                    <a:pt x="1693" y="3234"/>
                    <a:pt x="5949" y="-1"/>
                    <a:pt x="10800" y="0"/>
                  </a:cubicBezTo>
                  <a:cubicBezTo>
                    <a:pt x="15668" y="0"/>
                    <a:pt x="19934" y="3257"/>
                    <a:pt x="21218" y="7953"/>
                  </a:cubicBezTo>
                  <a:lnTo>
                    <a:pt x="23822" y="7241"/>
                  </a:lnTo>
                  <a:lnTo>
                    <a:pt x="20655" y="12791"/>
                  </a:lnTo>
                  <a:lnTo>
                    <a:pt x="15105" y="9623"/>
                  </a:lnTo>
                  <a:lnTo>
                    <a:pt x="17709" y="8912"/>
                  </a:lnTo>
                  <a:close/>
                </a:path>
              </a:pathLst>
            </a:custGeom>
            <a:solidFill>
              <a:srgbClr val="FFFF00"/>
            </a:solidFill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endParaRPr lang="zh-CN" altLang="en-US"/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4616450" y="2714625"/>
            <a:ext cx="27416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DATAS:FARD1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4616450" y="4929188"/>
            <a:ext cx="2741613" cy="5238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DATAS:FARD2</a:t>
            </a:r>
            <a:endParaRPr lang="zh-CN" altLang="en-US" sz="2800" b="1" dirty="0">
              <a:latin typeface="Tahoma" panose="020B0604030504040204" pitchFamily="34" charset="0"/>
            </a:endParaRPr>
          </a:p>
        </p:txBody>
      </p:sp>
      <p:sp>
        <p:nvSpPr>
          <p:cNvPr id="19486" name="TextBox 75"/>
          <p:cNvSpPr txBox="1"/>
          <p:nvPr/>
        </p:nvSpPr>
        <p:spPr>
          <a:xfrm>
            <a:off x="563880" y="1574800"/>
            <a:ext cx="3940175" cy="5197475"/>
          </a:xfrm>
          <a:prstGeom prst="rect">
            <a:avLst/>
          </a:prstGeom>
          <a:solidFill>
            <a:srgbClr val="FFFFCC"/>
          </a:solidFill>
          <a:ln w="28575" cap="flat" cmpd="dbl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t" anchorCtr="0">
            <a:noAutofit/>
          </a:bodyPr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MOV AX, DATAS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MOV 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DS</a:t>
            </a:r>
            <a:r>
              <a:rPr lang="en-US" altLang="zh-CN" sz="1800" b="1" dirty="0">
                <a:latin typeface="Tahoma" panose="020B0604030504040204" pitchFamily="34" charset="0"/>
              </a:rPr>
              <a:t>,AX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MOV 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ES</a:t>
            </a:r>
            <a:r>
              <a:rPr lang="en-US" altLang="zh-CN" sz="1800" b="1" dirty="0">
                <a:latin typeface="Tahoma" panose="020B0604030504040204" pitchFamily="34" charset="0"/>
              </a:rPr>
              <a:t>,AX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LEA  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SI</a:t>
            </a:r>
            <a:r>
              <a:rPr lang="en-US" altLang="zh-CN" sz="1800" b="1" dirty="0">
                <a:latin typeface="Tahoma" panose="020B0604030504040204" pitchFamily="34" charset="0"/>
              </a:rPr>
              <a:t>, FARD1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LEA  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DI</a:t>
            </a:r>
            <a:r>
              <a:rPr lang="en-US" altLang="zh-CN" sz="1800" b="1" dirty="0">
                <a:latin typeface="Tahoma" panose="020B0604030504040204" pitchFamily="34" charset="0"/>
              </a:rPr>
              <a:t>, FARD2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MOV </a:t>
            </a: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CX</a:t>
            </a:r>
            <a:r>
              <a:rPr lang="en-US" altLang="zh-CN" sz="1800" b="1" dirty="0">
                <a:latin typeface="Tahoma" panose="020B0604030504040204" pitchFamily="34" charset="0"/>
              </a:rPr>
              <a:t>, 10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CLD</a:t>
            </a:r>
            <a:endParaRPr lang="en-US" altLang="zh-CN" sz="1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solidFill>
                  <a:srgbClr val="FF0000"/>
                </a:solidFill>
                <a:latin typeface="Tahoma" panose="020B0604030504040204" pitchFamily="34" charset="0"/>
              </a:rPr>
              <a:t>REPE  CMPSB</a:t>
            </a:r>
            <a:endParaRPr lang="en-US" altLang="zh-CN" sz="1800" b="1" dirty="0">
              <a:solidFill>
                <a:srgbClr val="FF0000"/>
              </a:solidFill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JNZ     </a:t>
            </a:r>
            <a:r>
              <a:rPr lang="en-US" altLang="zh-CN" sz="1800" b="1" dirty="0">
                <a:solidFill>
                  <a:srgbClr val="00B0F0"/>
                </a:solidFill>
                <a:latin typeface="Tahoma" panose="020B0604030504040204" pitchFamily="34" charset="0"/>
              </a:rPr>
              <a:t>NEQUAL</a:t>
            </a:r>
            <a:r>
              <a:rPr lang="en-US" altLang="zh-CN" sz="1800" b="1" dirty="0">
                <a:latin typeface="Tahoma" panose="020B0604030504040204" pitchFamily="34" charset="0"/>
              </a:rPr>
              <a:t>  ;</a:t>
            </a:r>
            <a:r>
              <a:rPr lang="zh-CN" altLang="en-US" sz="1800" b="1" dirty="0">
                <a:latin typeface="Tahoma" panose="020B0604030504040204" pitchFamily="34" charset="0"/>
              </a:rPr>
              <a:t>不相同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;</a:t>
            </a:r>
            <a:r>
              <a:rPr lang="zh-CN" altLang="en-US" sz="1800" b="1" dirty="0">
                <a:latin typeface="Tahoma" panose="020B0604030504040204" pitchFamily="34" charset="0"/>
              </a:rPr>
              <a:t>输出“</a:t>
            </a:r>
            <a:r>
              <a:rPr lang="en-US" altLang="zh-CN" sz="1800" b="1" dirty="0">
                <a:latin typeface="Tahoma" panose="020B0604030504040204" pitchFamily="34" charset="0"/>
              </a:rPr>
              <a:t>EQUAL!</a:t>
            </a:r>
            <a:r>
              <a:rPr lang="zh-CN" altLang="en-US" sz="1800" b="1" dirty="0">
                <a:latin typeface="Tahoma" panose="020B0604030504040204" pitchFamily="34" charset="0"/>
              </a:rPr>
              <a:t>”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JMP  </a:t>
            </a:r>
            <a:r>
              <a:rPr lang="en-US" altLang="zh-CN" sz="1800" b="1" dirty="0">
                <a:solidFill>
                  <a:srgbClr val="00B050"/>
                </a:solidFill>
                <a:latin typeface="Tahoma" panose="020B0604030504040204" pitchFamily="34" charset="0"/>
              </a:rPr>
              <a:t>EXIT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solidFill>
                  <a:srgbClr val="00B0F0"/>
                </a:solidFill>
                <a:latin typeface="Tahoma" panose="020B0604030504040204" pitchFamily="34" charset="0"/>
              </a:rPr>
              <a:t>NEQUAL</a:t>
            </a:r>
            <a:r>
              <a:rPr lang="en-US" altLang="zh-CN" sz="1800" b="1" dirty="0">
                <a:latin typeface="Tahoma" panose="020B0604030504040204" pitchFamily="34" charset="0"/>
              </a:rPr>
              <a:t>: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;</a:t>
            </a:r>
            <a:r>
              <a:rPr lang="zh-CN" altLang="en-US" sz="1800" b="1" dirty="0">
                <a:latin typeface="Tahoma" panose="020B0604030504040204" pitchFamily="34" charset="0"/>
              </a:rPr>
              <a:t>输出“</a:t>
            </a:r>
            <a:r>
              <a:rPr lang="en-US" altLang="zh-CN" sz="1800" b="1" dirty="0">
                <a:latin typeface="Tahoma" panose="020B0604030504040204" pitchFamily="34" charset="0"/>
              </a:rPr>
              <a:t>NOT EQUAL!</a:t>
            </a:r>
            <a:r>
              <a:rPr lang="zh-CN" altLang="en-US" sz="1800" b="1" dirty="0">
                <a:latin typeface="Tahoma" panose="020B0604030504040204" pitchFamily="34" charset="0"/>
              </a:rPr>
              <a:t>”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solidFill>
                  <a:srgbClr val="00B050"/>
                </a:solidFill>
                <a:latin typeface="Tahoma" panose="020B0604030504040204" pitchFamily="34" charset="0"/>
              </a:rPr>
              <a:t>EXIT</a:t>
            </a:r>
            <a:r>
              <a:rPr lang="en-US" altLang="zh-CN" sz="1800" b="1" dirty="0">
                <a:latin typeface="Tahoma" panose="020B0604030504040204" pitchFamily="34" charset="0"/>
              </a:rPr>
              <a:t>:MOV AH,4CH</a:t>
            </a:r>
            <a:endParaRPr lang="en-US" altLang="zh-CN" sz="1800" b="1" dirty="0">
              <a:latin typeface="Tahoma" panose="020B060403050404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FontTx/>
            </a:pPr>
            <a:r>
              <a:rPr lang="en-US" altLang="zh-CN" sz="1800" b="1" dirty="0">
                <a:latin typeface="Tahoma" panose="020B0604030504040204" pitchFamily="34" charset="0"/>
              </a:rPr>
              <a:t>	INT  21H</a:t>
            </a:r>
            <a:endParaRPr lang="zh-CN" altLang="en-US" sz="1800" b="1" dirty="0">
              <a:latin typeface="Tahoma" panose="020B060403050404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563880" y="4293235"/>
            <a:ext cx="3700780" cy="36576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anchor="t" anchorCtr="0">
            <a:noAutofit/>
          </a:bodyPr>
          <a:p>
            <a:pPr>
              <a:buClrTx/>
              <a:buFontTx/>
            </a:pPr>
            <a:r>
              <a:rPr lang="en-US" altLang="zh-CN" sz="1800" b="1" dirty="0">
                <a:solidFill>
                  <a:srgbClr val="0000FF"/>
                </a:solidFill>
                <a:latin typeface="Tahoma" panose="020B0604030504040204" pitchFamily="34" charset="0"/>
              </a:rPr>
              <a:t>MOV  DX, 0000H</a:t>
            </a:r>
            <a:endParaRPr lang="zh-CN" altLang="en-US" sz="1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11505" y="5229225"/>
            <a:ext cx="3700463" cy="368300"/>
          </a:xfrm>
          <a:prstGeom prst="rect">
            <a:avLst/>
          </a:prstGeom>
          <a:solidFill>
            <a:srgbClr val="FFFFCC"/>
          </a:solidFill>
          <a:ln w="28575">
            <a:noFill/>
          </a:ln>
        </p:spPr>
        <p:txBody>
          <a:bodyPr anchor="t" anchorCtr="0">
            <a:spAutoFit/>
          </a:bodyPr>
          <a:p>
            <a:pPr>
              <a:buClrTx/>
              <a:buFontTx/>
            </a:pPr>
            <a:r>
              <a:rPr lang="en-US" altLang="zh-CN" sz="1800" b="1" dirty="0">
                <a:solidFill>
                  <a:srgbClr val="0000FF"/>
                </a:solidFill>
                <a:latin typeface="Tahoma" panose="020B0604030504040204" pitchFamily="34" charset="0"/>
              </a:rPr>
              <a:t>MOV  DX, 0FFFFH</a:t>
            </a:r>
            <a:endParaRPr lang="zh-CN" altLang="en-US" sz="1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94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0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" grpId="0"/>
      <p:bldP spid="75" grpId="0"/>
      <p:bldP spid="77" grpId="0" bldLvl="0" animBg="1"/>
      <p:bldP spid="78" grpId="0" bldLvl="0" animBg="1"/>
      <p:bldP spid="19486" grpId="0" bldLvl="0" animBg="1"/>
      <p:bldP spid="19486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3.4.5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控制转移类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5842" name="TextBox 7"/>
          <p:cNvSpPr txBox="1"/>
          <p:nvPr>
            <p:custDataLst>
              <p:tags r:id="rId2"/>
            </p:custDataLst>
          </p:nvPr>
        </p:nvSpPr>
        <p:spPr>
          <a:xfrm>
            <a:off x="539750" y="1484313"/>
            <a:ext cx="5572125" cy="33226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无条件转移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JMP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条件转移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JCC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循环控制指令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pitchFamily="2" charset="2"/>
              <a:buChar char="Ø"/>
            </a:pP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子程序调用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>
              <a:lnSpc>
                <a:spcPct val="150000"/>
              </a:lnSpc>
              <a:buClrTx/>
              <a:buFont typeface="Wingdings" panose="05000000000000000000" pitchFamily="2" charset="2"/>
              <a:buChar char="Ø"/>
            </a:pP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35843" name="文本框 3"/>
          <p:cNvSpPr txBox="1"/>
          <p:nvPr/>
        </p:nvSpPr>
        <p:spPr>
          <a:xfrm>
            <a:off x="539750" y="4292600"/>
            <a:ext cx="7705725" cy="1125538"/>
          </a:xfrm>
          <a:prstGeom prst="rect">
            <a:avLst/>
          </a:prstGeom>
          <a:noFill/>
          <a:ln w="28575" cap="flat" cmpd="sng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 algn="just">
              <a:lnSpc>
                <a:spcPct val="120000"/>
              </a:lnSpc>
            </a:pP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控制转移类指令通过改变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</a:rPr>
              <a:t>IP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（和</a:t>
            </a:r>
            <a:r>
              <a:rPr lang="en-US" altLang="zh-CN" sz="2800" b="1" dirty="0">
                <a:solidFill>
                  <a:srgbClr val="C00000"/>
                </a:solidFill>
                <a:latin typeface="Arial" panose="020B0604020202020204" pitchFamily="34" charset="0"/>
              </a:rPr>
              <a:t>CS</a:t>
            </a:r>
            <a:r>
              <a:rPr lang="zh-CN" altLang="en-US" sz="2800" b="1" dirty="0">
                <a:solidFill>
                  <a:srgbClr val="C00000"/>
                </a:solidFill>
                <a:latin typeface="Arial" panose="020B0604020202020204" pitchFamily="34" charset="0"/>
              </a:rPr>
              <a:t>）值，实现程序执行顺序的改变</a:t>
            </a:r>
            <a:endParaRPr lang="zh-CN" altLang="en-US" sz="2800" b="1" dirty="0">
              <a:solidFill>
                <a:srgbClr val="C000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686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61443" name="Text Box 3"/>
          <p:cNvSpPr txBox="1"/>
          <p:nvPr/>
        </p:nvSpPr>
        <p:spPr>
          <a:xfrm>
            <a:off x="587375" y="2438400"/>
            <a:ext cx="4975225" cy="1235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目的地址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IP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当前地址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+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位移量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位移量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=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目的地址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-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当前地址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段内转移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CS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不变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1510" name="Text Box 70"/>
          <p:cNvSpPr txBox="1"/>
          <p:nvPr/>
        </p:nvSpPr>
        <p:spPr>
          <a:xfrm>
            <a:off x="595313" y="3735388"/>
            <a:ext cx="8188325" cy="12350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位移量 ：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8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补码时： </a:t>
            </a:r>
            <a:r>
              <a:rPr lang="en-US" altLang="zh-CN" b="1" dirty="0">
                <a:latin typeface="Tahoma" panose="020B0604030504040204" pitchFamily="34" charset="0"/>
              </a:rPr>
              <a:t> JMP    SHORT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目的地址</a:t>
            </a:r>
            <a:r>
              <a:rPr lang="en-US" altLang="zh-CN" b="1" dirty="0">
                <a:latin typeface="Tahoma" panose="020B0604030504040204" pitchFamily="34" charset="0"/>
              </a:rPr>
              <a:t>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zh-CN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短转移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70000"/>
              </a:lnSpc>
              <a:spcBef>
                <a:spcPct val="5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为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16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位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补码时：</a:t>
            </a:r>
            <a:r>
              <a:rPr lang="en-US" altLang="zh-CN" b="1" dirty="0">
                <a:latin typeface="Tahoma" panose="020B0604030504040204" pitchFamily="34" charset="0"/>
              </a:rPr>
              <a:t>JMP [NEAR  PTR ]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目的地址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zh-CN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近转移</a:t>
            </a:r>
            <a:endParaRPr lang="zh-CN" altLang="zh-CN" b="1" dirty="0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36869" name="Rectangle 79"/>
          <p:cNvSpPr/>
          <p:nvPr/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1.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JMP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652463" y="5080000"/>
            <a:ext cx="7893050" cy="1366838"/>
          </a:xfrm>
          <a:prstGeom prst="rect">
            <a:avLst/>
          </a:prstGeom>
          <a:solidFill>
            <a:srgbClr val="FF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lnSpc>
                <a:spcPct val="12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JMP	1200H           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；直接转向</a:t>
            </a:r>
            <a:r>
              <a:rPr lang="en-US" altLang="zh-CN" b="1" dirty="0">
                <a:latin typeface="Tahoma" panose="020B0604030504040204" pitchFamily="34" charset="0"/>
              </a:rPr>
              <a:t>1200H	 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JMP	SHORT LP	  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；转向</a:t>
            </a:r>
            <a:r>
              <a:rPr lang="en-US" altLang="zh-CN" b="1" dirty="0">
                <a:latin typeface="Tahoma" panose="020B0604030504040204" pitchFamily="34" charset="0"/>
              </a:rPr>
              <a:t>LP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120000"/>
              </a:lnSpc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JMP	NEAR PTR AAA	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；转向</a:t>
            </a:r>
            <a:r>
              <a:rPr lang="en-US" altLang="zh-CN" b="1" dirty="0">
                <a:latin typeface="Tahoma" panose="020B0604030504040204" pitchFamily="34" charset="0"/>
              </a:rPr>
              <a:t>AAA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6871" name="文本框 2"/>
          <p:cNvSpPr txBox="1"/>
          <p:nvPr/>
        </p:nvSpPr>
        <p:spPr>
          <a:xfrm>
            <a:off x="328613" y="1485900"/>
            <a:ext cx="75549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）段内直接转移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36872" name="文本框 3"/>
          <p:cNvSpPr txBox="1"/>
          <p:nvPr/>
        </p:nvSpPr>
        <p:spPr>
          <a:xfrm>
            <a:off x="381000" y="1917700"/>
            <a:ext cx="82518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格式： 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JMP  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Label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Label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标号为目的地址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1443">
                                            <p:txEl>
                                              <p:charRg st="0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1443">
                                            <p:txEl>
                                              <p:charRg st="17" end="3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1443">
                                            <p:txEl>
                                              <p:charRg st="31" end="4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1510">
                                            <p:txEl>
                                              <p:charRg st="0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61510">
                                            <p:txEl>
                                              <p:charRg st="6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10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1510">
                                            <p:txEl>
                                              <p:charRg st="40" end="7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3" grpId="0" build="p"/>
      <p:bldP spid="61510" grpId="0" build="p"/>
      <p:bldP spid="27" grpId="0" bldLvl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文本占位符 211971"/>
          <p:cNvSpPr>
            <a:spLocks noGrp="1"/>
          </p:cNvSpPr>
          <p:nvPr>
            <p:ph idx="1"/>
          </p:nvPr>
        </p:nvSpPr>
        <p:spPr>
          <a:xfrm>
            <a:off x="395288" y="1560513"/>
            <a:ext cx="6951662" cy="3505200"/>
          </a:xfrm>
        </p:spPr>
        <p:txBody>
          <a:bodyPr anchor="t" anchorCtr="0"/>
          <a:p>
            <a:r>
              <a:rPr lang="zh-CN" altLang="en-US" sz="2400" b="1" dirty="0"/>
              <a:t>段内转移</a:t>
            </a:r>
            <a:r>
              <a:rPr lang="en-US" altLang="zh-CN" sz="2400" b="1"/>
              <a:t>——</a:t>
            </a:r>
            <a:r>
              <a:rPr lang="zh-CN" altLang="en-US" sz="2400" b="1" dirty="0">
                <a:solidFill>
                  <a:srgbClr val="C00000"/>
                </a:solidFill>
              </a:rPr>
              <a:t>近转移（</a:t>
            </a:r>
            <a:r>
              <a:rPr lang="en-US" altLang="zh-CN" sz="2400" b="1" dirty="0">
                <a:solidFill>
                  <a:srgbClr val="C00000"/>
                </a:solidFill>
              </a:rPr>
              <a:t>near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在当前代码段</a:t>
            </a:r>
            <a:r>
              <a:rPr lang="en-US" altLang="zh-CN" sz="2400" b="1" dirty="0"/>
              <a:t>64KB</a:t>
            </a:r>
            <a:r>
              <a:rPr lang="zh-CN" altLang="en-US" sz="2400" b="1" dirty="0"/>
              <a:t>范围内转移（ </a:t>
            </a:r>
            <a:r>
              <a:rPr lang="en-US" altLang="zh-CN" sz="2400" b="1" dirty="0"/>
              <a:t>±32KB</a:t>
            </a:r>
            <a:r>
              <a:rPr lang="zh-CN" altLang="en-US" sz="2400" b="1" dirty="0"/>
              <a:t>范围）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不需要更改</a:t>
            </a:r>
            <a:r>
              <a:rPr lang="en-US" altLang="zh-CN" sz="2400" b="1" dirty="0"/>
              <a:t>CS</a:t>
            </a:r>
            <a:r>
              <a:rPr lang="zh-CN" altLang="en-US" sz="2400" b="1" dirty="0"/>
              <a:t>段地址，</a:t>
            </a:r>
            <a:r>
              <a:rPr lang="zh-CN" altLang="en-US" sz="2400" b="1" dirty="0">
                <a:solidFill>
                  <a:srgbClr val="006600"/>
                </a:solidFill>
              </a:rPr>
              <a:t>只要改变</a:t>
            </a:r>
            <a:r>
              <a:rPr lang="en-US" altLang="zh-CN" sz="2400" b="1" dirty="0">
                <a:solidFill>
                  <a:srgbClr val="006600"/>
                </a:solidFill>
              </a:rPr>
              <a:t>IP</a:t>
            </a:r>
            <a:r>
              <a:rPr lang="zh-CN" altLang="en-US" sz="2400" b="1" dirty="0">
                <a:solidFill>
                  <a:srgbClr val="006600"/>
                </a:solidFill>
              </a:rPr>
              <a:t>偏移地址</a:t>
            </a:r>
            <a:endParaRPr lang="zh-CN" altLang="en-US" sz="2400" b="1" dirty="0">
              <a:solidFill>
                <a:srgbClr val="006600"/>
              </a:solidFill>
            </a:endParaRPr>
          </a:p>
          <a:p>
            <a:endParaRPr lang="zh-CN" altLang="en-US" sz="2400" b="1" dirty="0"/>
          </a:p>
          <a:p>
            <a:r>
              <a:rPr lang="zh-CN" altLang="en-US" sz="2400" b="1" dirty="0"/>
              <a:t>段内转移</a:t>
            </a:r>
            <a:r>
              <a:rPr lang="en-US" altLang="zh-CN" sz="2400" b="1"/>
              <a:t>——</a:t>
            </a:r>
            <a:r>
              <a:rPr lang="zh-CN" altLang="en-US" sz="2400" b="1" dirty="0">
                <a:solidFill>
                  <a:srgbClr val="C00000"/>
                </a:solidFill>
              </a:rPr>
              <a:t>短转移（</a:t>
            </a:r>
            <a:r>
              <a:rPr lang="en-US" altLang="zh-CN" sz="2400" b="1" dirty="0">
                <a:solidFill>
                  <a:srgbClr val="C00000"/>
                </a:solidFill>
              </a:rPr>
              <a:t>short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转移范围可以用一个字节表达，在段内－</a:t>
            </a:r>
            <a:r>
              <a:rPr lang="en-US" altLang="zh-CN" sz="2400" b="1" dirty="0"/>
              <a:t>128</a:t>
            </a:r>
            <a:r>
              <a:rPr lang="zh-CN" altLang="en-US" sz="2400" b="1" dirty="0"/>
              <a:t>～＋</a:t>
            </a:r>
            <a:r>
              <a:rPr lang="en-US" altLang="zh-CN" sz="2400" b="1" dirty="0"/>
              <a:t>127</a:t>
            </a:r>
            <a:r>
              <a:rPr lang="zh-CN" altLang="en-US" sz="2400" b="1" dirty="0"/>
              <a:t>字节范围的转移</a:t>
            </a:r>
            <a:endParaRPr lang="zh-CN" altLang="en-US" sz="2400" b="1" dirty="0"/>
          </a:p>
        </p:txBody>
      </p:sp>
      <p:grpSp>
        <p:nvGrpSpPr>
          <p:cNvPr id="37890" name="组合 211972"/>
          <p:cNvGrpSpPr/>
          <p:nvPr/>
        </p:nvGrpSpPr>
        <p:grpSpPr>
          <a:xfrm>
            <a:off x="7481888" y="1484313"/>
            <a:ext cx="1447800" cy="4419600"/>
            <a:chOff x="4608" y="960"/>
            <a:chExt cx="912" cy="2784"/>
          </a:xfrm>
        </p:grpSpPr>
        <p:grpSp>
          <p:nvGrpSpPr>
            <p:cNvPr id="37891" name="组合 211973"/>
            <p:cNvGrpSpPr/>
            <p:nvPr/>
          </p:nvGrpSpPr>
          <p:grpSpPr>
            <a:xfrm>
              <a:off x="4608" y="960"/>
              <a:ext cx="624" cy="2784"/>
              <a:chOff x="4320" y="1200"/>
              <a:chExt cx="528" cy="2688"/>
            </a:xfrm>
          </p:grpSpPr>
          <p:sp>
            <p:nvSpPr>
              <p:cNvPr id="37892" name="直接连接符 211974"/>
              <p:cNvSpPr/>
              <p:nvPr/>
            </p:nvSpPr>
            <p:spPr>
              <a:xfrm>
                <a:off x="4320" y="1200"/>
                <a:ext cx="0" cy="26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893" name="直接连接符 211975"/>
              <p:cNvSpPr/>
              <p:nvPr/>
            </p:nvSpPr>
            <p:spPr>
              <a:xfrm>
                <a:off x="4848" y="1200"/>
                <a:ext cx="0" cy="2688"/>
              </a:xfrm>
              <a:prstGeom prst="line">
                <a:avLst/>
              </a:prstGeom>
              <a:ln w="2857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grpSp>
          <p:nvGrpSpPr>
            <p:cNvPr id="37894" name="组合 211976"/>
            <p:cNvGrpSpPr/>
            <p:nvPr/>
          </p:nvGrpSpPr>
          <p:grpSpPr>
            <a:xfrm rot="-5400000">
              <a:off x="4428" y="2580"/>
              <a:ext cx="984" cy="624"/>
              <a:chOff x="4320" y="1200"/>
              <a:chExt cx="528" cy="2688"/>
            </a:xfrm>
          </p:grpSpPr>
          <p:sp>
            <p:nvSpPr>
              <p:cNvPr id="37895" name="直接连接符 211977"/>
              <p:cNvSpPr/>
              <p:nvPr/>
            </p:nvSpPr>
            <p:spPr>
              <a:xfrm>
                <a:off x="4320" y="120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896" name="直接连接符 211978"/>
              <p:cNvSpPr/>
              <p:nvPr/>
            </p:nvSpPr>
            <p:spPr>
              <a:xfrm>
                <a:off x="4848" y="120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897" name="右弧形箭头 211979"/>
            <p:cNvSpPr/>
            <p:nvPr/>
          </p:nvSpPr>
          <p:spPr>
            <a:xfrm flipV="1">
              <a:off x="5232" y="2544"/>
              <a:ext cx="288" cy="672"/>
            </a:xfrm>
            <a:prstGeom prst="curvedLeftArrow">
              <a:avLst>
                <a:gd name="adj1" fmla="val 25440"/>
                <a:gd name="adj2" fmla="val 72107"/>
                <a:gd name="adj3" fmla="val 3328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pSp>
          <p:nvGrpSpPr>
            <p:cNvPr id="37898" name="组合 211980"/>
            <p:cNvGrpSpPr/>
            <p:nvPr/>
          </p:nvGrpSpPr>
          <p:grpSpPr>
            <a:xfrm rot="-5400000">
              <a:off x="4428" y="1428"/>
              <a:ext cx="984" cy="624"/>
              <a:chOff x="4320" y="1200"/>
              <a:chExt cx="528" cy="2688"/>
            </a:xfrm>
          </p:grpSpPr>
          <p:sp>
            <p:nvSpPr>
              <p:cNvPr id="37899" name="直接连接符 211981"/>
              <p:cNvSpPr/>
              <p:nvPr/>
            </p:nvSpPr>
            <p:spPr>
              <a:xfrm>
                <a:off x="4320" y="120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  <p:sp>
            <p:nvSpPr>
              <p:cNvPr id="37900" name="直接连接符 211982"/>
              <p:cNvSpPr/>
              <p:nvPr/>
            </p:nvSpPr>
            <p:spPr>
              <a:xfrm>
                <a:off x="4848" y="1200"/>
                <a:ext cx="0" cy="2688"/>
              </a:xfrm>
              <a:prstGeom prst="line">
                <a:avLst/>
              </a:prstGeom>
              <a:ln w="28575" cap="flat" cmpd="sng">
                <a:solidFill>
                  <a:srgbClr val="7AA3DA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sp>
        </p:grpSp>
        <p:sp>
          <p:nvSpPr>
            <p:cNvPr id="37901" name="文本框 211983"/>
            <p:cNvSpPr txBox="1"/>
            <p:nvPr/>
          </p:nvSpPr>
          <p:spPr>
            <a:xfrm>
              <a:off x="4756" y="1459"/>
              <a:ext cx="348" cy="6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zh-CN" altLang="en-US" b="1" dirty="0">
                  <a:latin typeface="Arial" panose="020B0604020202020204" pitchFamily="34" charset="0"/>
                  <a:ea typeface="宋体" panose="02010600030101010101" pitchFamily="2" charset="-122"/>
                </a:rPr>
                <a:t>代码段</a:t>
              </a:r>
              <a:endParaRPr lang="zh-CN" altLang="en-US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2" name="文本框 211984"/>
            <p:cNvSpPr txBox="1"/>
            <p:nvPr/>
          </p:nvSpPr>
          <p:spPr>
            <a:xfrm>
              <a:off x="4750" y="2592"/>
              <a:ext cx="348" cy="63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wrap="none" anchor="t" anchorCtr="0">
              <a:spAutoFit/>
            </a:bodyPr>
            <a:p>
              <a:r>
                <a:rPr lang="zh-CN" altLang="en-US" b="1" dirty="0">
                  <a:latin typeface="Arial" panose="020B0604020202020204" pitchFamily="34" charset="0"/>
                  <a:ea typeface="宋体" panose="02010600030101010101" pitchFamily="2" charset="-122"/>
                </a:rPr>
                <a:t>代码段</a:t>
              </a:r>
              <a:endParaRPr lang="zh-CN" altLang="en-US" b="1" dirty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7903" name="右弧形箭头 211985"/>
            <p:cNvSpPr/>
            <p:nvPr/>
          </p:nvSpPr>
          <p:spPr>
            <a:xfrm>
              <a:off x="5232" y="1344"/>
              <a:ext cx="288" cy="672"/>
            </a:xfrm>
            <a:prstGeom prst="curvedLeftArrow">
              <a:avLst>
                <a:gd name="adj1" fmla="val 25440"/>
                <a:gd name="adj2" fmla="val 72107"/>
                <a:gd name="adj3" fmla="val 3328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endParaRPr lang="zh-CN" altLang="en-US" b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37904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段内转移</a:t>
            </a:r>
            <a:endParaRPr lang="zh-CN" altLang="zh-CN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146">
                                            <p:txEl>
                                              <p:charRg st="0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charRg st="16" end="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146">
                                            <p:txEl>
                                              <p:charRg st="16" end="4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6146">
                                            <p:txEl>
                                              <p:charRg st="42" end="6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charRg st="65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146">
                                            <p:txEl>
                                              <p:charRg st="65" end="8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>
                                            <p:txEl>
                                              <p:charRg st="82" end="1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6146">
                                            <p:txEl>
                                              <p:charRg st="82" end="1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文本占位符 213001"/>
          <p:cNvSpPr>
            <a:spLocks noGrp="1"/>
          </p:cNvSpPr>
          <p:nvPr>
            <p:ph idx="1"/>
          </p:nvPr>
        </p:nvSpPr>
        <p:spPr>
          <a:xfrm>
            <a:off x="422275" y="1520825"/>
            <a:ext cx="6540500" cy="2606675"/>
          </a:xfrm>
        </p:spPr>
        <p:txBody>
          <a:bodyPr anchor="t" anchorCtr="0"/>
          <a:p>
            <a:r>
              <a:rPr lang="zh-CN" altLang="en-US" sz="2400" b="1" dirty="0"/>
              <a:t>段间转移</a:t>
            </a:r>
            <a:r>
              <a:rPr lang="en-US" altLang="zh-CN" sz="2400" b="1"/>
              <a:t>——</a:t>
            </a:r>
            <a:r>
              <a:rPr lang="zh-CN" altLang="en-US" sz="2400" b="1" dirty="0">
                <a:solidFill>
                  <a:srgbClr val="C00000"/>
                </a:solidFill>
              </a:rPr>
              <a:t>远转移（</a:t>
            </a:r>
            <a:r>
              <a:rPr lang="en-US" altLang="zh-CN" sz="2400" b="1" dirty="0">
                <a:solidFill>
                  <a:srgbClr val="C00000"/>
                </a:solidFill>
              </a:rPr>
              <a:t>far</a:t>
            </a:r>
            <a:r>
              <a:rPr lang="zh-CN" altLang="en-US" sz="2400" b="1" dirty="0">
                <a:solidFill>
                  <a:srgbClr val="C00000"/>
                </a:solidFill>
              </a:rPr>
              <a:t>）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从当前代码段跳转到另一个代码段，可以在</a:t>
            </a:r>
            <a:r>
              <a:rPr lang="en-US" altLang="zh-CN" sz="2400" b="1" dirty="0"/>
              <a:t>1MB</a:t>
            </a:r>
            <a:r>
              <a:rPr lang="zh-CN" altLang="en-US" sz="2400" b="1" dirty="0"/>
              <a:t>范围</a:t>
            </a:r>
            <a:endParaRPr lang="zh-CN" altLang="en-US" sz="2400" b="1" dirty="0"/>
          </a:p>
          <a:p>
            <a:pPr lvl="1"/>
            <a:r>
              <a:rPr lang="zh-CN" altLang="en-US" sz="2400" b="1" dirty="0"/>
              <a:t>需要</a:t>
            </a:r>
            <a:r>
              <a:rPr lang="zh-CN" altLang="en-US" sz="2400" b="1" dirty="0">
                <a:solidFill>
                  <a:srgbClr val="006600"/>
                </a:solidFill>
              </a:rPr>
              <a:t>更改</a:t>
            </a:r>
            <a:r>
              <a:rPr lang="en-US" altLang="zh-CN" sz="2400" b="1" dirty="0">
                <a:solidFill>
                  <a:srgbClr val="006600"/>
                </a:solidFill>
              </a:rPr>
              <a:t>CS</a:t>
            </a:r>
            <a:r>
              <a:rPr lang="zh-CN" altLang="en-US" sz="2400" b="1" dirty="0">
                <a:solidFill>
                  <a:srgbClr val="006600"/>
                </a:solidFill>
              </a:rPr>
              <a:t>段地址和</a:t>
            </a:r>
            <a:r>
              <a:rPr lang="en-US" altLang="zh-CN" sz="2400" b="1" dirty="0">
                <a:solidFill>
                  <a:srgbClr val="006600"/>
                </a:solidFill>
              </a:rPr>
              <a:t>IP</a:t>
            </a:r>
            <a:r>
              <a:rPr lang="zh-CN" altLang="en-US" sz="2400" b="1" dirty="0">
                <a:solidFill>
                  <a:srgbClr val="006600"/>
                </a:solidFill>
              </a:rPr>
              <a:t>偏移地址</a:t>
            </a:r>
            <a:endParaRPr lang="zh-CN" altLang="en-US" sz="2400" b="1" dirty="0">
              <a:solidFill>
                <a:srgbClr val="006600"/>
              </a:solidFill>
            </a:endParaRPr>
          </a:p>
          <a:p>
            <a:pPr lvl="1"/>
            <a:r>
              <a:rPr lang="zh-CN" altLang="en-US" sz="2400" b="1" dirty="0"/>
              <a:t>目标地址必须用一个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位数表达，叫做</a:t>
            </a:r>
            <a:r>
              <a:rPr lang="en-US" altLang="zh-CN" sz="2400" b="1" dirty="0"/>
              <a:t>32</a:t>
            </a:r>
            <a:r>
              <a:rPr lang="zh-CN" altLang="en-US" sz="2400" b="1" dirty="0"/>
              <a:t>位远指针，它就是逻辑地址</a:t>
            </a:r>
            <a:endParaRPr lang="zh-CN" altLang="en-US" sz="2400" b="1" dirty="0"/>
          </a:p>
        </p:txBody>
      </p:sp>
      <p:grpSp>
        <p:nvGrpSpPr>
          <p:cNvPr id="38914" name="组合 213002"/>
          <p:cNvGrpSpPr/>
          <p:nvPr/>
        </p:nvGrpSpPr>
        <p:grpSpPr>
          <a:xfrm>
            <a:off x="7588250" y="1919288"/>
            <a:ext cx="990600" cy="4419600"/>
            <a:chOff x="4320" y="1200"/>
            <a:chExt cx="528" cy="2688"/>
          </a:xfrm>
        </p:grpSpPr>
        <p:sp>
          <p:nvSpPr>
            <p:cNvPr id="38915" name="直接连接符 213003"/>
            <p:cNvSpPr/>
            <p:nvPr/>
          </p:nvSpPr>
          <p:spPr>
            <a:xfrm>
              <a:off x="4320" y="1200"/>
              <a:ext cx="0" cy="26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6" name="直接连接符 213004"/>
            <p:cNvSpPr/>
            <p:nvPr/>
          </p:nvSpPr>
          <p:spPr>
            <a:xfrm>
              <a:off x="4848" y="1200"/>
              <a:ext cx="0" cy="2688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38917" name="组合 213005"/>
          <p:cNvGrpSpPr/>
          <p:nvPr/>
        </p:nvGrpSpPr>
        <p:grpSpPr>
          <a:xfrm rot="-5400000">
            <a:off x="7302500" y="2662238"/>
            <a:ext cx="1562100" cy="990600"/>
            <a:chOff x="4320" y="1200"/>
            <a:chExt cx="528" cy="2688"/>
          </a:xfrm>
        </p:grpSpPr>
        <p:sp>
          <p:nvSpPr>
            <p:cNvPr id="38918" name="直接连接符 213006"/>
            <p:cNvSpPr/>
            <p:nvPr/>
          </p:nvSpPr>
          <p:spPr>
            <a:xfrm>
              <a:off x="4320" y="120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19" name="直接连接符 213007"/>
            <p:cNvSpPr/>
            <p:nvPr/>
          </p:nvSpPr>
          <p:spPr>
            <a:xfrm>
              <a:off x="4848" y="120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8920" name="文本框 213008"/>
          <p:cNvSpPr txBox="1"/>
          <p:nvPr/>
        </p:nvSpPr>
        <p:spPr>
          <a:xfrm>
            <a:off x="7826375" y="2711450"/>
            <a:ext cx="549275" cy="1011238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代码段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1" name="右弧形箭头 213009"/>
          <p:cNvSpPr/>
          <p:nvPr/>
        </p:nvSpPr>
        <p:spPr>
          <a:xfrm>
            <a:off x="8578850" y="2909888"/>
            <a:ext cx="457200" cy="2514600"/>
          </a:xfrm>
          <a:prstGeom prst="curvedLeftArrow">
            <a:avLst>
              <a:gd name="adj1" fmla="val 30965"/>
              <a:gd name="adj2" fmla="val 140965"/>
              <a:gd name="adj3" fmla="val 513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2" name="右弧形箭头 213010"/>
          <p:cNvSpPr/>
          <p:nvPr/>
        </p:nvSpPr>
        <p:spPr>
          <a:xfrm flipH="1" flipV="1">
            <a:off x="7131050" y="2986088"/>
            <a:ext cx="457200" cy="2514600"/>
          </a:xfrm>
          <a:prstGeom prst="curvedLeftArrow">
            <a:avLst>
              <a:gd name="adj1" fmla="val 30965"/>
              <a:gd name="adj2" fmla="val 140965"/>
              <a:gd name="adj3" fmla="val 51375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/>
          <a:p>
            <a:endParaRPr lang="zh-CN" altLang="en-US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38923" name="组合 213012"/>
          <p:cNvGrpSpPr/>
          <p:nvPr/>
        </p:nvGrpSpPr>
        <p:grpSpPr>
          <a:xfrm rot="-5400000">
            <a:off x="7308850" y="4454525"/>
            <a:ext cx="1562100" cy="990600"/>
            <a:chOff x="4320" y="1200"/>
            <a:chExt cx="528" cy="2688"/>
          </a:xfrm>
        </p:grpSpPr>
        <p:sp>
          <p:nvSpPr>
            <p:cNvPr id="38924" name="直接连接符 213013"/>
            <p:cNvSpPr/>
            <p:nvPr/>
          </p:nvSpPr>
          <p:spPr>
            <a:xfrm>
              <a:off x="4320" y="120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38925" name="直接连接符 213014"/>
            <p:cNvSpPr/>
            <p:nvPr/>
          </p:nvSpPr>
          <p:spPr>
            <a:xfrm>
              <a:off x="4848" y="1200"/>
              <a:ext cx="0" cy="2688"/>
            </a:xfrm>
            <a:prstGeom prst="line">
              <a:avLst/>
            </a:prstGeom>
            <a:ln w="28575" cap="flat" cmpd="sng">
              <a:solidFill>
                <a:srgbClr val="7AA3DA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38926" name="文本框 213015"/>
          <p:cNvSpPr txBox="1"/>
          <p:nvPr/>
        </p:nvSpPr>
        <p:spPr>
          <a:xfrm>
            <a:off x="7837488" y="4503738"/>
            <a:ext cx="549275" cy="1011237"/>
          </a:xfrm>
          <a:prstGeom prst="rect">
            <a:avLst/>
          </a:prstGeom>
          <a:noFill/>
          <a:ln w="9525">
            <a:noFill/>
          </a:ln>
        </p:spPr>
        <p:txBody>
          <a:bodyPr vert="eaVert" wrap="none" anchor="t" anchorCtr="0">
            <a:spAutoFit/>
          </a:bodyPr>
          <a:p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代码段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3018" name="圆角矩形 213017" descr="画布"/>
          <p:cNvSpPr/>
          <p:nvPr/>
        </p:nvSpPr>
        <p:spPr>
          <a:xfrm>
            <a:off x="611188" y="4508500"/>
            <a:ext cx="6389687" cy="1903413"/>
          </a:xfrm>
          <a:prstGeom prst="roundRect">
            <a:avLst>
              <a:gd name="adj" fmla="val 16667"/>
            </a:avLst>
          </a:prstGeom>
          <a:solidFill>
            <a:srgbClr val="C7FFF0"/>
          </a:solidFill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txBody>
          <a:bodyPr anchor="ctr" anchorCtr="0"/>
          <a:p>
            <a:pPr algn="just">
              <a:buBlip>
                <a:blip r:embed="rId1"/>
              </a:buBlip>
            </a:pP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实际编程时，汇编程序会根据目标地址的属性，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自动处理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成短转移、近转移或远转移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  <a:p>
            <a:pPr algn="just">
              <a:lnSpc>
                <a:spcPct val="120000"/>
              </a:lnSpc>
              <a:buBlip>
                <a:blip r:embed="rId1"/>
              </a:buBlip>
            </a:pP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 程序员可用操作符</a:t>
            </a:r>
            <a:r>
              <a:rPr lang="en-US" altLang="zh-CN" b="1" dirty="0">
                <a:latin typeface="Arial" panose="020B0604020202020204" pitchFamily="34" charset="0"/>
              </a:rPr>
              <a:t>short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err="1">
                <a:latin typeface="Arial" panose="020B0604020202020204" pitchFamily="34" charset="0"/>
              </a:rPr>
              <a:t>near ptr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或</a:t>
            </a:r>
            <a:r>
              <a:rPr lang="en-US" altLang="zh-CN" b="1" err="1">
                <a:latin typeface="Arial" panose="020B0604020202020204" pitchFamily="34" charset="0"/>
              </a:rPr>
              <a:t>far ptr</a:t>
            </a:r>
            <a:r>
              <a:rPr lang="en-US" altLang="zh-CN" b="1" dirty="0">
                <a:latin typeface="Arial" panose="020B0604020202020204" pitchFamily="34" charset="0"/>
              </a:rPr>
              <a:t> </a:t>
            </a:r>
            <a:r>
              <a:rPr lang="zh-CN" altLang="en-US" b="1" dirty="0">
                <a:latin typeface="Arial" panose="020B0604020202020204" pitchFamily="34" charset="0"/>
                <a:ea typeface="宋体" panose="02010600030101010101" pitchFamily="2" charset="-122"/>
              </a:rPr>
              <a:t>强制成为需要的转移类型</a:t>
            </a:r>
            <a:endParaRPr lang="zh-CN" altLang="en-US" b="1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38928" name="Rectangle 79"/>
          <p:cNvSpPr/>
          <p:nvPr>
            <p:custDataLst>
              <p:tags r:id="rId2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</a:t>
            </a:r>
            <a:r>
              <a:rPr lang="zh-CN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段间转移</a:t>
            </a:r>
            <a:endParaRPr lang="zh-CN" altLang="zh-CN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170">
                                            <p:txEl>
                                              <p:charRg st="0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charRg st="15" end="4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170">
                                            <p:txEl>
                                              <p:charRg st="15" end="4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charRg st="40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170">
                                            <p:txEl>
                                              <p:charRg st="40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>
                                            <p:txEl>
                                              <p:charRg st="57" end="9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170">
                                            <p:txEl>
                                              <p:charRg st="57" end="9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2" presetClass="entr" presetSubtype="4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/>
                                        <p:tgtEl>
                                          <p:spTgt spid="213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130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70" grpId="0" build="p"/>
      <p:bldP spid="213018" grpId="1" bldLvl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24675" y="6400800"/>
            <a:ext cx="1905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b="1" dirty="0">
                <a:latin typeface="Tahoma" panose="020B0604030504040204" pitchFamily="34" charset="0"/>
              </a:rPr>
            </a:fld>
            <a:endParaRPr lang="en-US" altLang="zh-CN" sz="1400" b="1" dirty="0">
              <a:latin typeface="Tahoma" panose="020B0604030504040204" pitchFamily="34" charset="0"/>
            </a:endParaRPr>
          </a:p>
        </p:txBody>
      </p:sp>
      <p:sp>
        <p:nvSpPr>
          <p:cNvPr id="68612" name="Text Box 4"/>
          <p:cNvSpPr txBox="1"/>
          <p:nvPr/>
        </p:nvSpPr>
        <p:spPr>
          <a:xfrm>
            <a:off x="357188" y="3190875"/>
            <a:ext cx="81899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Tahoma" panose="020B0604030504040204" pitchFamily="34" charset="0"/>
              </a:rPr>
              <a:t>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JMP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WORD PTR</a:t>
            </a:r>
            <a:r>
              <a:rPr lang="en-US" altLang="zh-CN" b="1" dirty="0">
                <a:latin typeface="Tahoma" panose="020B0604030504040204" pitchFamily="34" charset="0"/>
              </a:rPr>
              <a:t> [BX]</a:t>
            </a:r>
            <a:r>
              <a:rPr lang="en-US" altLang="zh-CN" b="1" dirty="0">
                <a:latin typeface="隶书" panose="02010509060101010101" pitchFamily="49" charset="-122"/>
                <a:ea typeface="隶书" panose="02010509060101010101" pitchFamily="49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;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目的地址</a:t>
            </a:r>
            <a:r>
              <a:rPr lang="en-US" altLang="zh-CN" b="1" dirty="0">
                <a:latin typeface="Tahoma" panose="020B0604030504040204" pitchFamily="34" charset="0"/>
              </a:rPr>
              <a:t>IP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DS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[BX] 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9939" name="Rectangle 84"/>
          <p:cNvSpPr/>
          <p:nvPr/>
        </p:nvSpPr>
        <p:spPr>
          <a:xfrm>
            <a:off x="252413" y="1462088"/>
            <a:ext cx="3270250" cy="5111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）段内间接转移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93" name="Text Box 85"/>
          <p:cNvSpPr txBox="1"/>
          <p:nvPr/>
        </p:nvSpPr>
        <p:spPr>
          <a:xfrm>
            <a:off x="357188" y="2649538"/>
            <a:ext cx="8145462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JMP   BX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；目的地址</a:t>
            </a:r>
            <a:r>
              <a:rPr lang="en-US" altLang="zh-CN" b="1" dirty="0">
                <a:latin typeface="Tahoma" panose="020B0604030504040204" pitchFamily="34" charset="0"/>
              </a:rPr>
              <a:t>IP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BX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39941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1.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JMP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39942" name="文本框 3"/>
          <p:cNvSpPr txBox="1"/>
          <p:nvPr>
            <p:custDataLst>
              <p:tags r:id="rId2"/>
            </p:custDataLst>
          </p:nvPr>
        </p:nvSpPr>
        <p:spPr>
          <a:xfrm>
            <a:off x="381000" y="1989138"/>
            <a:ext cx="8121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2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格式： 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JMP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reg16/mem16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；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IP←r</a:t>
            </a:r>
            <a:r>
              <a:rPr lang="en-US" altLang="zh-CN" b="1" dirty="0">
                <a:latin typeface="Tahoma" panose="020B0604030504040204" pitchFamily="34" charset="0"/>
              </a:rPr>
              <a:t>eg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16/m</a:t>
            </a:r>
            <a:r>
              <a:rPr lang="en-US" altLang="zh-CN" b="1" dirty="0">
                <a:latin typeface="Tahoma" panose="020B0604030504040204" pitchFamily="34" charset="0"/>
              </a:rPr>
              <a:t>em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16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8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2" grpId="0"/>
      <p:bldP spid="68693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24675" y="6400800"/>
            <a:ext cx="1905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b="1" dirty="0">
                <a:latin typeface="Tahoma" panose="020B0604030504040204" pitchFamily="34" charset="0"/>
              </a:rPr>
            </a:fld>
            <a:endParaRPr lang="en-US" altLang="zh-CN" sz="1400" b="1" dirty="0">
              <a:latin typeface="Tahoma" panose="020B0604030504040204" pitchFamily="34" charset="0"/>
            </a:endParaRPr>
          </a:p>
        </p:txBody>
      </p:sp>
      <p:sp>
        <p:nvSpPr>
          <p:cNvPr id="40962" name="Rectangle 84"/>
          <p:cNvSpPr/>
          <p:nvPr/>
        </p:nvSpPr>
        <p:spPr>
          <a:xfrm>
            <a:off x="252413" y="1462088"/>
            <a:ext cx="6056312" cy="5111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3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）段间直接（远）转移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93" name="Text Box 85"/>
          <p:cNvSpPr txBox="1"/>
          <p:nvPr/>
        </p:nvSpPr>
        <p:spPr>
          <a:xfrm>
            <a:off x="395288" y="2536825"/>
            <a:ext cx="5094287" cy="922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操作：</a:t>
            </a:r>
            <a:r>
              <a:rPr lang="en-US" altLang="zh-CN" b="1" dirty="0">
                <a:latin typeface="Tahoma" panose="020B0604030504040204" pitchFamily="34" charset="0"/>
              </a:rPr>
              <a:t>IP  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Label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的偏移地址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Tahoma" panose="020B0604030504040204" pitchFamily="34" charset="0"/>
              </a:rPr>
              <a:t>CS 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Label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的段地址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0964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1.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JMP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0965" name="文本框 3"/>
          <p:cNvSpPr txBox="1"/>
          <p:nvPr>
            <p:custDataLst>
              <p:tags r:id="rId2"/>
            </p:custDataLst>
          </p:nvPr>
        </p:nvSpPr>
        <p:spPr>
          <a:xfrm>
            <a:off x="381000" y="1989138"/>
            <a:ext cx="8121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格式：</a:t>
            </a:r>
            <a:r>
              <a:rPr lang="en-US" altLang="zh-CN" b="1" dirty="0">
                <a:latin typeface="Tahoma" panose="020B0604030504040204" pitchFamily="34" charset="0"/>
              </a:rPr>
              <a:t>JMP  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FAR</a:t>
            </a:r>
            <a:r>
              <a:rPr lang="en-US" altLang="zh-CN" b="1" dirty="0">
                <a:latin typeface="Tahoma" panose="020B0604030504040204" pitchFamily="34" charset="0"/>
              </a:rPr>
              <a:t>  PTR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Label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3214688" y="5459413"/>
            <a:ext cx="2711450" cy="512762"/>
            <a:chOff x="2823" y="1296"/>
            <a:chExt cx="1101" cy="323"/>
          </a:xfrm>
        </p:grpSpPr>
        <p:sp>
          <p:nvSpPr>
            <p:cNvPr id="40967" name="Text Box 20"/>
            <p:cNvSpPr txBox="1"/>
            <p:nvPr>
              <p:custDataLst>
                <p:tags r:id="rId3"/>
              </p:custDataLst>
            </p:nvPr>
          </p:nvSpPr>
          <p:spPr>
            <a:xfrm>
              <a:off x="2823" y="1296"/>
              <a:ext cx="1017" cy="291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  <a:ea typeface="楷体_GB2312" pitchFamily="49" charset="-122"/>
                </a:rPr>
                <a:t>           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楷体_GB2312" pitchFamily="49" charset="-122"/>
                </a:rPr>
                <a:t>目的地址 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  <p:sp>
          <p:nvSpPr>
            <p:cNvPr id="40968" name="Line 21"/>
            <p:cNvSpPr/>
            <p:nvPr>
              <p:custDataLst>
                <p:tags r:id="rId4"/>
              </p:custDataLst>
            </p:nvPr>
          </p:nvSpPr>
          <p:spPr>
            <a:xfrm>
              <a:off x="3600" y="1619"/>
              <a:ext cx="324" cy="0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grpSp>
        <p:nvGrpSpPr>
          <p:cNvPr id="3" name="Group 39"/>
          <p:cNvGrpSpPr/>
          <p:nvPr/>
        </p:nvGrpSpPr>
        <p:grpSpPr>
          <a:xfrm>
            <a:off x="1068388" y="3478213"/>
            <a:ext cx="4800600" cy="457200"/>
            <a:chOff x="1248" y="1728"/>
            <a:chExt cx="2448" cy="288"/>
          </a:xfrm>
        </p:grpSpPr>
        <p:sp>
          <p:nvSpPr>
            <p:cNvPr id="40970" name="Text Box 23"/>
            <p:cNvSpPr txBox="1"/>
            <p:nvPr>
              <p:custDataLst>
                <p:tags r:id="rId5"/>
              </p:custDataLst>
            </p:nvPr>
          </p:nvSpPr>
          <p:spPr>
            <a:xfrm>
              <a:off x="2640" y="1728"/>
              <a:ext cx="1056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当前地址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0971" name="Line 24"/>
            <p:cNvSpPr/>
            <p:nvPr>
              <p:custDataLst>
                <p:tags r:id="rId6"/>
              </p:custDataLst>
            </p:nvPr>
          </p:nvSpPr>
          <p:spPr>
            <a:xfrm>
              <a:off x="3408" y="1872"/>
              <a:ext cx="243" cy="2"/>
            </a:xfrm>
            <a:prstGeom prst="line">
              <a:avLst/>
            </a:prstGeom>
            <a:ln w="3810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</p:spPr>
        </p:sp>
        <p:sp>
          <p:nvSpPr>
            <p:cNvPr id="40972" name="Text Box 25"/>
            <p:cNvSpPr txBox="1"/>
            <p:nvPr>
              <p:custDataLst>
                <p:tags r:id="rId7"/>
              </p:custDataLst>
            </p:nvPr>
          </p:nvSpPr>
          <p:spPr>
            <a:xfrm>
              <a:off x="1248" y="1728"/>
              <a:ext cx="1392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楷体_GB2312" pitchFamily="49" charset="-122"/>
                </a:rPr>
                <a:t>当前指令地址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楷体_GB2312" pitchFamily="49" charset="-122"/>
              </a:endParaRPr>
            </a:p>
          </p:txBody>
        </p:sp>
      </p:grpSp>
      <p:sp>
        <p:nvSpPr>
          <p:cNvPr id="117790" name="AutoShape 30"/>
          <p:cNvSpPr/>
          <p:nvPr>
            <p:custDataLst>
              <p:tags r:id="rId8"/>
            </p:custDataLst>
          </p:nvPr>
        </p:nvSpPr>
        <p:spPr>
          <a:xfrm rot="5189598">
            <a:off x="6638925" y="4238625"/>
            <a:ext cx="2892425" cy="1371600"/>
          </a:xfrm>
          <a:prstGeom prst="curvedDownArrow">
            <a:avLst>
              <a:gd name="adj1" fmla="val 15484"/>
              <a:gd name="adj2" fmla="val 73982"/>
              <a:gd name="adj3" fmla="val 26384"/>
            </a:avLst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7791" name="Text Box 31"/>
          <p:cNvSpPr txBox="1"/>
          <p:nvPr>
            <p:custDataLst>
              <p:tags r:id="rId9"/>
            </p:custDataLst>
          </p:nvPr>
        </p:nvSpPr>
        <p:spPr>
          <a:xfrm>
            <a:off x="7697788" y="3706813"/>
            <a:ext cx="762000" cy="1570037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跨段转移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5" name="Group 48"/>
          <p:cNvGrpSpPr/>
          <p:nvPr/>
        </p:nvGrpSpPr>
        <p:grpSpPr>
          <a:xfrm>
            <a:off x="6021388" y="1801813"/>
            <a:ext cx="2819400" cy="4851400"/>
            <a:chOff x="3792" y="864"/>
            <a:chExt cx="1776" cy="3056"/>
          </a:xfrm>
        </p:grpSpPr>
        <p:sp>
          <p:nvSpPr>
            <p:cNvPr id="40976" name="Text Box 8"/>
            <p:cNvSpPr txBox="1"/>
            <p:nvPr>
              <p:custDataLst>
                <p:tags r:id="rId10"/>
              </p:custDataLst>
            </p:nvPr>
          </p:nvSpPr>
          <p:spPr>
            <a:xfrm>
              <a:off x="3792" y="903"/>
              <a:ext cx="960" cy="3017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"/>
                </a:spcBef>
                <a:buClrTx/>
                <a:buFontTx/>
              </a:pPr>
              <a:r>
                <a:rPr lang="zh-CN" altLang="en-US" sz="2000" b="1" dirty="0">
                  <a:latin typeface="Tahoma" panose="020B0604030504040204" pitchFamily="34" charset="0"/>
                  <a:ea typeface="宋体" panose="02010600030101010101" pitchFamily="2" charset="-122"/>
                </a:rPr>
                <a:t>操作码</a:t>
              </a:r>
              <a:endParaRPr lang="zh-CN" altLang="en-US" sz="2000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sym typeface="宋体" panose="02010600030101010101" pitchFamily="2" charset="-122"/>
                </a:rPr>
                <a:t>Label</a:t>
              </a:r>
              <a:r>
                <a:rPr lang="zh-CN" altLang="en-US" sz="20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的</a:t>
              </a:r>
              <a:endParaRPr lang="zh-CN" altLang="en-US" sz="20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r>
                <a:rPr lang="zh-CN" altLang="en-US" sz="20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偏移地址</a:t>
              </a:r>
              <a:endParaRPr lang="zh-CN" altLang="en-US" sz="20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5000"/>
                </a:spcBef>
                <a:buClrTx/>
                <a:buFontTx/>
              </a:pPr>
              <a:r>
                <a:rPr lang="zh-CN" altLang="en-US" sz="20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   </a:t>
              </a:r>
              <a:r>
                <a:rPr lang="en-US" altLang="zh-CN" sz="2000" b="1" dirty="0">
                  <a:solidFill>
                    <a:srgbClr val="FF0000"/>
                  </a:solidFill>
                  <a:latin typeface="Tahoma" panose="020B0604030504040204" pitchFamily="34" charset="0"/>
                  <a:sym typeface="宋体" panose="02010600030101010101" pitchFamily="2" charset="-122"/>
                </a:rPr>
                <a:t>Label</a:t>
              </a:r>
              <a:r>
                <a:rPr lang="zh-CN" altLang="en-US" sz="20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的</a:t>
              </a:r>
              <a:endParaRPr lang="zh-CN" altLang="en-US" sz="2000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r>
                <a:rPr lang="zh-CN" altLang="en-US" sz="2000" b="1" dirty="0">
                  <a:solidFill>
                    <a:schemeClr val="tx2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段地址</a:t>
              </a:r>
              <a:endParaRPr lang="zh-CN" altLang="en-US" b="1" dirty="0">
                <a:solidFill>
                  <a:schemeClr val="tx2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 algn="ctr">
                <a:spcBef>
                  <a:spcPct val="5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0977" name="Line 9"/>
            <p:cNvSpPr/>
            <p:nvPr>
              <p:custDataLst>
                <p:tags r:id="rId11"/>
              </p:custDataLst>
            </p:nvPr>
          </p:nvSpPr>
          <p:spPr>
            <a:xfrm>
              <a:off x="3792" y="1101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8" name="Line 10"/>
            <p:cNvSpPr/>
            <p:nvPr>
              <p:custDataLst>
                <p:tags r:id="rId12"/>
              </p:custDataLst>
            </p:nvPr>
          </p:nvSpPr>
          <p:spPr>
            <a:xfrm>
              <a:off x="3792" y="1332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79" name="Line 11"/>
            <p:cNvSpPr/>
            <p:nvPr>
              <p:custDataLst>
                <p:tags r:id="rId13"/>
              </p:custDataLst>
            </p:nvPr>
          </p:nvSpPr>
          <p:spPr>
            <a:xfrm>
              <a:off x="3792" y="1925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0" name="Line 12"/>
            <p:cNvSpPr/>
            <p:nvPr>
              <p:custDataLst>
                <p:tags r:id="rId14"/>
              </p:custDataLst>
            </p:nvPr>
          </p:nvSpPr>
          <p:spPr>
            <a:xfrm>
              <a:off x="3792" y="1728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1" name="Line 13"/>
            <p:cNvSpPr/>
            <p:nvPr>
              <p:custDataLst>
                <p:tags r:id="rId15"/>
              </p:custDataLst>
            </p:nvPr>
          </p:nvSpPr>
          <p:spPr>
            <a:xfrm>
              <a:off x="3792" y="1530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2" name="Line 14"/>
            <p:cNvSpPr/>
            <p:nvPr>
              <p:custDataLst>
                <p:tags r:id="rId16"/>
              </p:custDataLst>
            </p:nvPr>
          </p:nvSpPr>
          <p:spPr>
            <a:xfrm>
              <a:off x="3792" y="2140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3" name="Line 15"/>
            <p:cNvSpPr/>
            <p:nvPr>
              <p:custDataLst>
                <p:tags r:id="rId17"/>
              </p:custDataLst>
            </p:nvPr>
          </p:nvSpPr>
          <p:spPr>
            <a:xfrm>
              <a:off x="3792" y="2334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grpSp>
          <p:nvGrpSpPr>
            <p:cNvPr id="40984" name="Group 16"/>
            <p:cNvGrpSpPr/>
            <p:nvPr/>
          </p:nvGrpSpPr>
          <p:grpSpPr>
            <a:xfrm>
              <a:off x="4848" y="864"/>
              <a:ext cx="720" cy="1049"/>
              <a:chOff x="5040" y="2064"/>
              <a:chExt cx="720" cy="768"/>
            </a:xfrm>
          </p:grpSpPr>
          <p:sp>
            <p:nvSpPr>
              <p:cNvPr id="40985" name="Text Box 17"/>
              <p:cNvSpPr txBox="1"/>
              <p:nvPr>
                <p:custDataLst>
                  <p:tags r:id="rId18"/>
                </p:custDataLst>
              </p:nvPr>
            </p:nvSpPr>
            <p:spPr>
              <a:xfrm>
                <a:off x="5136" y="2160"/>
                <a:ext cx="624" cy="383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anchor="t" anchorCtr="0">
                <a:spAutoFit/>
              </a:bodyPr>
              <a:p>
                <a:pPr algn="ctr">
                  <a:spcBef>
                    <a:spcPct val="50000"/>
                  </a:spcBef>
                  <a:buClrTx/>
                  <a:buFontTx/>
                </a:pPr>
                <a:r>
                  <a:rPr lang="en-US" altLang="zh-CN" b="1" dirty="0">
                    <a:latin typeface="Tahoma" panose="020B0604030504040204" pitchFamily="34" charset="0"/>
                  </a:rPr>
                  <a:t>5</a:t>
                </a:r>
                <a:r>
                  <a:rPr lang="zh-CN" altLang="en-US" b="1" dirty="0">
                    <a:latin typeface="Tahoma" panose="020B0604030504040204" pitchFamily="34" charset="0"/>
                    <a:ea typeface="宋体" panose="02010600030101010101" pitchFamily="2" charset="-122"/>
                  </a:rPr>
                  <a:t>字节指令</a:t>
                </a:r>
                <a:endPara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40986" name="AutoShape 1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040" y="2064"/>
                <a:ext cx="96" cy="768"/>
              </a:xfrm>
              <a:prstGeom prst="rightBrace">
                <a:avLst>
                  <a:gd name="adj1" fmla="val 66222"/>
                  <a:gd name="adj2" fmla="val 50000"/>
                </a:avLst>
              </a:prstGeom>
              <a:noFill/>
              <a:ln w="9525" cap="flat" cmpd="sng">
                <a:solidFill>
                  <a:srgbClr val="0000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pPr algn="ctr">
                  <a:buClrTx/>
                  <a:buFontTx/>
                </a:pPr>
                <a:endParaRPr lang="zh-CN" altLang="zh-CN" b="1" dirty="0">
                  <a:solidFill>
                    <a:srgbClr val="003399"/>
                  </a:solidFill>
                  <a:latin typeface="Tahoma" panose="020B0604030504040204" pitchFamily="34" charset="0"/>
                  <a:ea typeface="宋体" panose="02010600030101010101" pitchFamily="2" charset="-122"/>
                </a:endParaRPr>
              </a:p>
            </p:txBody>
          </p:sp>
        </p:grpSp>
        <p:sp>
          <p:nvSpPr>
            <p:cNvPr id="40987" name="Line 27"/>
            <p:cNvSpPr/>
            <p:nvPr>
              <p:custDataLst>
                <p:tags r:id="rId20"/>
              </p:custDataLst>
            </p:nvPr>
          </p:nvSpPr>
          <p:spPr>
            <a:xfrm>
              <a:off x="3792" y="3195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8" name="Line 28"/>
            <p:cNvSpPr/>
            <p:nvPr>
              <p:custDataLst>
                <p:tags r:id="rId21"/>
              </p:custDataLst>
            </p:nvPr>
          </p:nvSpPr>
          <p:spPr>
            <a:xfrm>
              <a:off x="3792" y="3389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89" name="Line 29"/>
            <p:cNvSpPr/>
            <p:nvPr>
              <p:custDataLst>
                <p:tags r:id="rId22"/>
              </p:custDataLst>
            </p:nvPr>
          </p:nvSpPr>
          <p:spPr>
            <a:xfrm>
              <a:off x="3792" y="3583"/>
              <a:ext cx="960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0990" name="Line 40"/>
            <p:cNvSpPr/>
            <p:nvPr>
              <p:custDataLst>
                <p:tags r:id="rId23"/>
              </p:custDataLst>
            </p:nvPr>
          </p:nvSpPr>
          <p:spPr>
            <a:xfrm>
              <a:off x="4224" y="2352"/>
              <a:ext cx="0" cy="672"/>
            </a:xfrm>
            <a:prstGeom prst="line">
              <a:avLst/>
            </a:prstGeom>
            <a:ln w="9525" cap="rnd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</p:grpSp>
      <p:sp>
        <p:nvSpPr>
          <p:cNvPr id="117801" name="Text Box 41"/>
          <p:cNvSpPr txBox="1"/>
          <p:nvPr>
            <p:custDataLst>
              <p:tags r:id="rId24"/>
            </p:custDataLst>
          </p:nvPr>
        </p:nvSpPr>
        <p:spPr>
          <a:xfrm>
            <a:off x="1296988" y="4697413"/>
            <a:ext cx="4038600" cy="4572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段间转移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CS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IP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内容均改变</a:t>
            </a:r>
            <a:endParaRPr lang="zh-CN" altLang="en-US" b="1" dirty="0">
              <a:solidFill>
                <a:srgbClr val="CC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17802" name="Line 42"/>
          <p:cNvSpPr/>
          <p:nvPr>
            <p:custDataLst>
              <p:tags r:id="rId25"/>
            </p:custDataLst>
          </p:nvPr>
        </p:nvSpPr>
        <p:spPr>
          <a:xfrm flipH="1">
            <a:off x="2897188" y="3935413"/>
            <a:ext cx="914400" cy="762000"/>
          </a:xfrm>
          <a:prstGeom prst="line">
            <a:avLst/>
          </a:prstGeom>
          <a:ln w="19050" cap="flat" cmpd="sng">
            <a:solidFill>
              <a:srgbClr val="0033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7803" name="Line 43"/>
          <p:cNvSpPr/>
          <p:nvPr>
            <p:custDataLst>
              <p:tags r:id="rId26"/>
            </p:custDataLst>
          </p:nvPr>
        </p:nvSpPr>
        <p:spPr>
          <a:xfrm flipH="1" flipV="1">
            <a:off x="2820988" y="5154613"/>
            <a:ext cx="914400" cy="1143000"/>
          </a:xfrm>
          <a:prstGeom prst="line">
            <a:avLst/>
          </a:prstGeom>
          <a:ln w="19050" cap="flat" cmpd="sng">
            <a:solidFill>
              <a:srgbClr val="003399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17804" name="Line 44"/>
          <p:cNvSpPr/>
          <p:nvPr>
            <p:custDataLst>
              <p:tags r:id="rId27"/>
            </p:custDataLst>
          </p:nvPr>
        </p:nvSpPr>
        <p:spPr>
          <a:xfrm>
            <a:off x="3887788" y="3935413"/>
            <a:ext cx="1828800" cy="0"/>
          </a:xfrm>
          <a:prstGeom prst="line">
            <a:avLst/>
          </a:prstGeom>
          <a:ln w="9525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17805" name="Line 45"/>
          <p:cNvSpPr/>
          <p:nvPr>
            <p:custDataLst>
              <p:tags r:id="rId28"/>
            </p:custDataLst>
          </p:nvPr>
        </p:nvSpPr>
        <p:spPr>
          <a:xfrm>
            <a:off x="3735388" y="6297613"/>
            <a:ext cx="1828800" cy="0"/>
          </a:xfrm>
          <a:prstGeom prst="line">
            <a:avLst/>
          </a:prstGeom>
          <a:ln w="9525" cap="flat" cmpd="sng">
            <a:solidFill>
              <a:srgbClr val="003399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" name="文本框 5"/>
          <p:cNvSpPr txBox="1"/>
          <p:nvPr/>
        </p:nvSpPr>
        <p:spPr>
          <a:xfrm>
            <a:off x="517525" y="5621338"/>
            <a:ext cx="3708400" cy="903287"/>
          </a:xfrm>
          <a:prstGeom prst="rect">
            <a:avLst/>
          </a:prstGeom>
          <a:solidFill>
            <a:srgbClr val="FFF5CC"/>
          </a:solidFill>
          <a:ln w="28575" cap="flat" cmpd="dbl">
            <a:solidFill>
              <a:srgbClr val="00A77A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JMP 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FAR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 PTR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next</a:t>
            </a:r>
            <a:endParaRPr lang="en-US" altLang="zh-CN" b="1" dirty="0">
              <a:solidFill>
                <a:srgbClr val="FF0000"/>
              </a:solidFill>
              <a:latin typeface="Tahoma" panose="020B0604030504040204" pitchFamily="34" charset="0"/>
              <a:sym typeface="宋体" panose="02010600030101010101" pitchFamily="2" charset="-122"/>
            </a:endParaRPr>
          </a:p>
          <a:p>
            <a:pPr>
              <a:spcBef>
                <a:spcPct val="2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JMP  6000H:2000H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17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9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17791">
                                            <p:txEl>
                                              <p:charRg st="0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178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1178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1178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500"/>
                            </p:stCondLst>
                            <p:childTnLst>
                              <p:par>
                                <p:cTn id="4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1178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1780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93" grpId="0"/>
      <p:bldP spid="117790" grpId="0" bldLvl="0" animBg="1"/>
      <p:bldP spid="117791" grpId="0" advAuto="1000" build="p"/>
      <p:bldP spid="117801" grpId="0"/>
      <p:bldP spid="6" grpId="0" bldLvl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924675" y="6400800"/>
            <a:ext cx="1905000" cy="457200"/>
          </a:xfrm>
        </p:spPr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b="1" dirty="0">
                <a:latin typeface="Tahoma" panose="020B0604030504040204" pitchFamily="34" charset="0"/>
              </a:rPr>
            </a:fld>
            <a:endParaRPr lang="en-US" altLang="zh-CN" sz="1400" b="1" dirty="0">
              <a:latin typeface="Tahoma" panose="020B0604030504040204" pitchFamily="34" charset="0"/>
            </a:endParaRPr>
          </a:p>
        </p:txBody>
      </p:sp>
      <p:sp>
        <p:nvSpPr>
          <p:cNvPr id="41986" name="Rectangle 84"/>
          <p:cNvSpPr/>
          <p:nvPr/>
        </p:nvSpPr>
        <p:spPr>
          <a:xfrm>
            <a:off x="252413" y="1462088"/>
            <a:ext cx="6056312" cy="5111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4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段间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间接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（远）转移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93" name="Text Box 85"/>
          <p:cNvSpPr txBox="1"/>
          <p:nvPr/>
        </p:nvSpPr>
        <p:spPr>
          <a:xfrm>
            <a:off x="395288" y="2536825"/>
            <a:ext cx="6132512" cy="9223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操作：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IP  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mem32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低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16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位为偏移地址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         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CS  </a:t>
            </a:r>
            <a:r>
              <a:rPr lang="en-US" altLang="zh-CN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 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mem32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高</a:t>
            </a:r>
            <a:r>
              <a:rPr lang="en-US" altLang="zh-CN" b="1" dirty="0">
                <a:solidFill>
                  <a:srgbClr val="C0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16</a:t>
            </a:r>
            <a:r>
              <a:rPr lang="zh-CN" altLang="en-US" b="1" dirty="0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位为段地址</a:t>
            </a:r>
            <a:endParaRPr lang="zh-CN" altLang="en-US" b="1" dirty="0">
              <a:solidFill>
                <a:srgbClr val="C00000"/>
              </a:solidFill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1988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1.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无条件转移指令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JMP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1989" name="文本框 3"/>
          <p:cNvSpPr txBox="1"/>
          <p:nvPr>
            <p:custDataLst>
              <p:tags r:id="rId2"/>
            </p:custDataLst>
          </p:nvPr>
        </p:nvSpPr>
        <p:spPr>
          <a:xfrm>
            <a:off x="381000" y="1989138"/>
            <a:ext cx="81216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格式：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JMP   FAR PTR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宋体" panose="02010600030101010101" pitchFamily="2" charset="-122"/>
              </a:rPr>
              <a:t>mem32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宋体" panose="02010600030101010101" pitchFamily="2" charset="-122"/>
              </a:rPr>
              <a:t>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47106" name="Text Box 2"/>
          <p:cNvSpPr txBox="1"/>
          <p:nvPr/>
        </p:nvSpPr>
        <p:spPr>
          <a:xfrm>
            <a:off x="381000" y="3500438"/>
            <a:ext cx="8393113" cy="1754187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例：</a:t>
            </a:r>
            <a:r>
              <a:rPr lang="en-US" altLang="zh-CN" b="1" dirty="0">
                <a:latin typeface="Tahoma" panose="020B0604030504040204" pitchFamily="34" charset="0"/>
              </a:rPr>
              <a:t>JMP   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DWORD</a:t>
            </a:r>
            <a:r>
              <a:rPr lang="en-US" altLang="zh-CN" b="1" dirty="0">
                <a:latin typeface="Tahoma" panose="020B0604030504040204" pitchFamily="34" charset="0"/>
              </a:rPr>
              <a:t> PTR   [BX]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设指令执行前：DS=3000H，BX=3000H，[33000H]=0BH，[33001H]=20H，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2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[33002H]=10H</a:t>
            </a:r>
            <a:r>
              <a:rPr lang="en-US" altLang="zh-CN" b="1" dirty="0">
                <a:latin typeface="Tahoma" panose="020B0604030504040204" pitchFamily="34" charset="0"/>
              </a:rPr>
              <a:t>，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[33003H]=80H；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指令执行后</a:t>
            </a:r>
            <a:r>
              <a:rPr lang="en-US" altLang="zh-CN" b="1">
                <a:solidFill>
                  <a:srgbClr val="C00000"/>
                </a:solidFill>
                <a:latin typeface="Tahoma" panose="020B0604030504040204" pitchFamily="34" charset="0"/>
              </a:rPr>
              <a:t>IP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和</a:t>
            </a:r>
            <a:r>
              <a:rPr lang="en-US" altLang="zh-CN" b="1">
                <a:solidFill>
                  <a:srgbClr val="C00000"/>
                </a:solidFill>
                <a:latin typeface="Tahoma" panose="020B0604030504040204" pitchFamily="34" charset="0"/>
              </a:rPr>
              <a:t>CS=</a:t>
            </a:r>
            <a:r>
              <a:rPr lang="zh-CN" altLang="en-US" b="1">
                <a:solidFill>
                  <a:srgbClr val="C0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？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95288" y="5295900"/>
            <a:ext cx="6754812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则指令执行后，IP=200BH，CS=8010H.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5288" y="5805488"/>
            <a:ext cx="4643437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转移的目的地址=8210BH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6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47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93" grpId="0"/>
      <p:bldP spid="47106" grpId="0" bldLvl="0" animBg="1"/>
      <p:bldP spid="6" grpId="0"/>
      <p:bldP spid="7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69635" name="AutoShape 3"/>
          <p:cNvSpPr/>
          <p:nvPr/>
        </p:nvSpPr>
        <p:spPr>
          <a:xfrm>
            <a:off x="4333875" y="2730500"/>
            <a:ext cx="2895600" cy="762000"/>
          </a:xfrm>
          <a:prstGeom prst="flowChartDecision">
            <a:avLst/>
          </a:prstGeom>
          <a:noFill/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AL&gt;0?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69636" name="Line 4"/>
          <p:cNvSpPr/>
          <p:nvPr/>
        </p:nvSpPr>
        <p:spPr>
          <a:xfrm>
            <a:off x="7229475" y="3111500"/>
            <a:ext cx="533400" cy="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69637" name="Line 5"/>
          <p:cNvSpPr/>
          <p:nvPr/>
        </p:nvSpPr>
        <p:spPr>
          <a:xfrm flipH="1">
            <a:off x="7762875" y="3111500"/>
            <a:ext cx="0" cy="7620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638" name="Line 6"/>
          <p:cNvSpPr/>
          <p:nvPr/>
        </p:nvSpPr>
        <p:spPr>
          <a:xfrm>
            <a:off x="5781675" y="3492500"/>
            <a:ext cx="0" cy="4572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639" name="Text Box 7"/>
          <p:cNvSpPr txBox="1"/>
          <p:nvPr/>
        </p:nvSpPr>
        <p:spPr>
          <a:xfrm>
            <a:off x="4929188" y="3873500"/>
            <a:ext cx="184308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顺序执行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0" name="Text Box 8"/>
          <p:cNvSpPr txBox="1"/>
          <p:nvPr/>
        </p:nvSpPr>
        <p:spPr>
          <a:xfrm>
            <a:off x="6858000" y="3873500"/>
            <a:ext cx="1916113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转向标号处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1" name="Line 9"/>
          <p:cNvSpPr/>
          <p:nvPr/>
        </p:nvSpPr>
        <p:spPr>
          <a:xfrm>
            <a:off x="5781675" y="2192338"/>
            <a:ext cx="0" cy="533400"/>
          </a:xfrm>
          <a:prstGeom prst="line">
            <a:avLst/>
          </a:prstGeom>
          <a:ln w="38100" cap="flat" cmpd="sng">
            <a:solidFill>
              <a:srgbClr val="CC0000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69642" name="Text Box 10"/>
          <p:cNvSpPr txBox="1"/>
          <p:nvPr/>
        </p:nvSpPr>
        <p:spPr>
          <a:xfrm>
            <a:off x="7229475" y="2654300"/>
            <a:ext cx="10668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满足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3" name="Text Box 11"/>
          <p:cNvSpPr txBox="1"/>
          <p:nvPr/>
        </p:nvSpPr>
        <p:spPr>
          <a:xfrm>
            <a:off x="5870575" y="3492500"/>
            <a:ext cx="5302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否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45" name="Text Box 13"/>
          <p:cNvSpPr txBox="1"/>
          <p:nvPr/>
        </p:nvSpPr>
        <p:spPr>
          <a:xfrm>
            <a:off x="685800" y="4359275"/>
            <a:ext cx="7772400" cy="182403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110000"/>
              </a:lnSpc>
              <a:spcBef>
                <a:spcPct val="10000"/>
              </a:spcBef>
              <a:buClrTx/>
              <a:buFontTx/>
            </a:pP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说明：</a:t>
            </a:r>
            <a:endParaRPr lang="zh-CN" altLang="en-US" b="1" noProof="1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转移范围</a:t>
            </a:r>
            <a:r>
              <a:rPr lang="en-US" altLang="zh-CN" b="1" noProof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-128~+127</a:t>
            </a:r>
            <a:r>
              <a:rPr lang="zh-CN" altLang="en-US" b="1" noProof="1" dirty="0">
                <a:solidFill>
                  <a:srgbClr val="CC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字节</a:t>
            </a: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，不能跨段；</a:t>
            </a:r>
            <a:endParaRPr lang="zh-CN" altLang="en-US" b="1" noProof="1" dirty="0">
              <a:latin typeface="宋体" panose="02010600030101010101" pitchFamily="2" charset="-122"/>
              <a:sym typeface="Monotype Sorts" pitchFamily="2" charset="2"/>
            </a:endParaRP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不影响标志位；</a:t>
            </a:r>
            <a:endParaRPr lang="zh-CN" altLang="en-US" b="1" noProof="1" dirty="0">
              <a:latin typeface="宋体" panose="02010600030101010101" pitchFamily="2" charset="-122"/>
            </a:endParaRPr>
          </a:p>
          <a:p>
            <a:pPr marL="342900" indent="-342900">
              <a:lnSpc>
                <a:spcPct val="110000"/>
              </a:lnSpc>
              <a:spcBef>
                <a:spcPct val="10000"/>
              </a:spcBef>
              <a:buClrTx/>
              <a:buFont typeface="Arial" panose="020B0604020202020204" pitchFamily="34" charset="0"/>
              <a:buChar char="•"/>
            </a:pP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  <a:sym typeface="Monotype Sorts" pitchFamily="2" charset="2"/>
              </a:rPr>
              <a:t>条件转移指令之前要使用设置标志的指令。</a:t>
            </a:r>
            <a:r>
              <a:rPr lang="zh-CN" altLang="en-US" b="1" noProof="1" dirty="0">
                <a:latin typeface="宋体" panose="02010600030101010101" pitchFamily="2" charset="-122"/>
                <a:ea typeface="宋体" panose="02010600030101010101" pitchFamily="2" charset="-122"/>
                <a:cs typeface="+mn-cs"/>
              </a:rPr>
              <a:t> 	</a:t>
            </a:r>
            <a:endParaRPr lang="zh-CN" altLang="en-US" b="1" noProof="1" dirty="0">
              <a:latin typeface="宋体" panose="02010600030101010101" pitchFamily="2" charset="-122"/>
            </a:endParaRPr>
          </a:p>
        </p:txBody>
      </p:sp>
      <p:sp>
        <p:nvSpPr>
          <p:cNvPr id="69649" name="Text Box 17"/>
          <p:cNvSpPr txBox="1"/>
          <p:nvPr/>
        </p:nvSpPr>
        <p:spPr>
          <a:xfrm>
            <a:off x="755650" y="2397125"/>
            <a:ext cx="34290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r>
              <a:rPr lang="en-US" altLang="zh-CN" b="1" u="sng" dirty="0">
                <a:solidFill>
                  <a:srgbClr val="0000FF"/>
                </a:solidFill>
                <a:latin typeface="Tahoma" panose="020B0604030504040204" pitchFamily="34" charset="0"/>
              </a:rPr>
              <a:t>JG    NEXT</a:t>
            </a:r>
            <a:endParaRPr lang="en-US" altLang="zh-CN" b="1" u="sng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69650" name="Text Box 18"/>
          <p:cNvSpPr txBox="1"/>
          <p:nvPr/>
        </p:nvSpPr>
        <p:spPr>
          <a:xfrm>
            <a:off x="4319588" y="1735138"/>
            <a:ext cx="2933700" cy="460375"/>
          </a:xfrm>
          <a:prstGeom prst="rect">
            <a:avLst/>
          </a:prstGeom>
          <a:noFill/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AL-0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；置标志位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9654" name="Text Box 22"/>
          <p:cNvSpPr txBox="1"/>
          <p:nvPr/>
        </p:nvSpPr>
        <p:spPr>
          <a:xfrm>
            <a:off x="533400" y="1858963"/>
            <a:ext cx="33242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例</a:t>
            </a:r>
            <a:r>
              <a:rPr lang="en-US" altLang="zh-CN" b="1" dirty="0">
                <a:latin typeface="Tahoma" panose="020B0604030504040204" pitchFamily="34" charset="0"/>
              </a:rPr>
              <a:t>:  CMP   AL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b="1" dirty="0">
                <a:latin typeface="Tahoma" panose="020B0604030504040204" pitchFamily="34" charset="0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3023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2.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JCC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9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6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9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69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9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9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9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69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100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9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69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69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69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96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>
                                            <p:txEl>
                                              <p:charRg st="0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69645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>
                                            <p:txEl>
                                              <p:charRg st="4" end="2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>
                                            <p:txEl>
                                              <p:charRg st="2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69645">
                                            <p:txEl>
                                              <p:charRg st="26" end="3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>
                                            <p:txEl>
                                              <p:charRg st="26" end="3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45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69645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9645">
                                            <p:txEl>
                                              <p:charRg st="36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3399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35" grpId="0" bldLvl="0" animBg="1"/>
      <p:bldP spid="69639" grpId="0"/>
      <p:bldP spid="69640" grpId="0"/>
      <p:bldP spid="69642" grpId="0"/>
      <p:bldP spid="69643" grpId="0"/>
      <p:bldP spid="69645" grpId="0" build="p"/>
      <p:bldP spid="69649" grpId="0"/>
      <p:bldP spid="69650" grpId="0" bldLvl="0" animBg="1"/>
      <p:bldP spid="69654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grpSp>
        <p:nvGrpSpPr>
          <p:cNvPr id="44034" name="Group 7"/>
          <p:cNvGrpSpPr/>
          <p:nvPr/>
        </p:nvGrpSpPr>
        <p:grpSpPr>
          <a:xfrm>
            <a:off x="3200400" y="1290638"/>
            <a:ext cx="5486400" cy="4884737"/>
            <a:chOff x="240" y="336"/>
            <a:chExt cx="3312" cy="3077"/>
          </a:xfrm>
        </p:grpSpPr>
        <p:sp>
          <p:nvSpPr>
            <p:cNvPr id="44035" name="Text Box 3"/>
            <p:cNvSpPr txBox="1"/>
            <p:nvPr/>
          </p:nvSpPr>
          <p:spPr>
            <a:xfrm>
              <a:off x="240" y="336"/>
              <a:ext cx="3312" cy="3077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指令助记符    测试条件        指令功能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4036" name="Line 4"/>
            <p:cNvSpPr/>
            <p:nvPr/>
          </p:nvSpPr>
          <p:spPr>
            <a:xfrm>
              <a:off x="240" y="672"/>
              <a:ext cx="3312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37" name="Line 5"/>
            <p:cNvSpPr/>
            <p:nvPr/>
          </p:nvSpPr>
          <p:spPr>
            <a:xfrm flipH="1">
              <a:off x="1296" y="336"/>
              <a:ext cx="2" cy="307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4038" name="Line 6"/>
            <p:cNvSpPr/>
            <p:nvPr/>
          </p:nvSpPr>
          <p:spPr>
            <a:xfrm>
              <a:off x="2304" y="336"/>
              <a:ext cx="0" cy="307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44039" name="Text Box 12"/>
          <p:cNvSpPr txBox="1"/>
          <p:nvPr/>
        </p:nvSpPr>
        <p:spPr>
          <a:xfrm>
            <a:off x="71438" y="1465263"/>
            <a:ext cx="313055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）直接检测标志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4040" name="Rectangle 13"/>
          <p:cNvSpPr/>
          <p:nvPr/>
        </p:nvSpPr>
        <p:spPr>
          <a:xfrm>
            <a:off x="3276600" y="1976438"/>
            <a:ext cx="5688013" cy="41179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JC           	   CF=1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有进位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JNC                 CF=0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无进位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JZ</a:t>
            </a:r>
            <a:r>
              <a:rPr lang="en-US" altLang="zh-CN" b="1" dirty="0">
                <a:latin typeface="Tahoma" panose="020B0604030504040204" pitchFamily="34" charset="0"/>
              </a:rPr>
              <a:t>/JE              ZF=1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结果为零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JNZ</a:t>
            </a:r>
            <a:r>
              <a:rPr lang="en-US" altLang="zh-CN" b="1" dirty="0">
                <a:latin typeface="Tahoma" panose="020B0604030504040204" pitchFamily="34" charset="0"/>
              </a:rPr>
              <a:t>/JNE         ZF=0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结果不为零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JS                    SF=1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符号为负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JNS                 SF=0 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符号为正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JO                    OF=1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溢出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JNO                 OF=0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无溢出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JP/JPE            PF=1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偶数个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JNP/JPO         PF=0   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奇数个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4041" name="Rectangle 14"/>
          <p:cNvSpPr/>
          <p:nvPr/>
        </p:nvSpPr>
        <p:spPr>
          <a:xfrm>
            <a:off x="233363" y="1925638"/>
            <a:ext cx="2808287" cy="12366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可测标志位有：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CF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ZF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SF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OF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、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PF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4042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2.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JCC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grpSp>
        <p:nvGrpSpPr>
          <p:cNvPr id="2" name="Group 1034"/>
          <p:cNvGrpSpPr/>
          <p:nvPr/>
        </p:nvGrpSpPr>
        <p:grpSpPr>
          <a:xfrm>
            <a:off x="2378075" y="2030413"/>
            <a:ext cx="6324600" cy="4519612"/>
            <a:chOff x="1152" y="864"/>
            <a:chExt cx="3744" cy="3088"/>
          </a:xfrm>
        </p:grpSpPr>
        <p:sp>
          <p:nvSpPr>
            <p:cNvPr id="45059" name="Text Box 1027"/>
            <p:cNvSpPr txBox="1"/>
            <p:nvPr/>
          </p:nvSpPr>
          <p:spPr>
            <a:xfrm>
              <a:off x="1152" y="864"/>
              <a:ext cx="3744" cy="3088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>
                <a:spcBef>
                  <a:spcPct val="1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    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类别        指令助记符           指令功能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无符号数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比较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有符号数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比较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spcBef>
                  <a:spcPct val="10000"/>
                </a:spcBef>
                <a:buClrTx/>
                <a:buFontTx/>
              </a:pPr>
              <a:endParaRPr lang="en-US" altLang="zh-CN" b="1" dirty="0">
                <a:solidFill>
                  <a:srgbClr val="FFFF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5060" name="Line 1028"/>
            <p:cNvSpPr/>
            <p:nvPr/>
          </p:nvSpPr>
          <p:spPr>
            <a:xfrm>
              <a:off x="1152" y="1200"/>
              <a:ext cx="3744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1" name="Line 1029"/>
            <p:cNvSpPr/>
            <p:nvPr/>
          </p:nvSpPr>
          <p:spPr>
            <a:xfrm flipH="1">
              <a:off x="2064" y="864"/>
              <a:ext cx="2" cy="307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2" name="Line 1030"/>
            <p:cNvSpPr/>
            <p:nvPr/>
          </p:nvSpPr>
          <p:spPr>
            <a:xfrm>
              <a:off x="3216" y="864"/>
              <a:ext cx="0" cy="3072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5063" name="Line 1033"/>
            <p:cNvSpPr/>
            <p:nvPr/>
          </p:nvSpPr>
          <p:spPr>
            <a:xfrm>
              <a:off x="1152" y="2496"/>
              <a:ext cx="3744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sp>
        <p:nvSpPr>
          <p:cNvPr id="103435" name="Text Box 1035"/>
          <p:cNvSpPr txBox="1"/>
          <p:nvPr/>
        </p:nvSpPr>
        <p:spPr>
          <a:xfrm>
            <a:off x="179388" y="1989138"/>
            <a:ext cx="2170112" cy="17335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5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 A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bove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 </a:t>
            </a:r>
            <a:r>
              <a:rPr lang="en-US" altLang="zh-CN" b="1" dirty="0">
                <a:solidFill>
                  <a:srgbClr val="FFFF00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高于</a:t>
            </a: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endParaRPr lang="zh-CN" altLang="en-US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5000"/>
              </a:spcBef>
              <a:buClrTx/>
              <a:buFontTx/>
            </a:pP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B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elow</a:t>
            </a:r>
            <a:r>
              <a:rPr lang="en-US" altLang="zh-CN" b="1" dirty="0">
                <a:solidFill>
                  <a:srgbClr val="000099"/>
                </a:solidFill>
                <a:latin typeface="Tahoma" panose="020B0604030504040204" pitchFamily="34" charset="0"/>
              </a:rPr>
              <a:t> 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低于</a:t>
            </a: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  </a:t>
            </a:r>
            <a:endParaRPr lang="zh-CN" altLang="en-US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5000"/>
              </a:spcBef>
              <a:buClrTx/>
              <a:buFontTx/>
            </a:pP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G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reat </a:t>
            </a:r>
            <a:r>
              <a:rPr lang="en-US" altLang="zh-CN" b="1" dirty="0">
                <a:solidFill>
                  <a:srgbClr val="FFFF00"/>
                </a:solidFill>
                <a:latin typeface="Tahoma" panose="020B0604030504040204" pitchFamily="34" charset="0"/>
              </a:rPr>
              <a:t>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大于</a:t>
            </a: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endParaRPr lang="zh-CN" altLang="en-US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5000"/>
              </a:spcBef>
              <a:buClrTx/>
              <a:buFontTx/>
            </a:pP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L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ess </a:t>
            </a:r>
            <a:r>
              <a:rPr lang="en-US" altLang="zh-CN" b="1" dirty="0">
                <a:solidFill>
                  <a:srgbClr val="FFFF00"/>
                </a:solidFill>
                <a:latin typeface="Tahoma" panose="020B0604030504040204" pitchFamily="34" charset="0"/>
              </a:rPr>
              <a:t>   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小于   </a:t>
            </a:r>
            <a:r>
              <a:rPr lang="zh-CN" altLang="en-US" b="1" dirty="0">
                <a:solidFill>
                  <a:srgbClr val="FFFF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  </a:t>
            </a:r>
            <a:endParaRPr lang="zh-CN" altLang="en-US" b="1" dirty="0">
              <a:solidFill>
                <a:srgbClr val="FFFF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3436" name="Rectangle 1036"/>
          <p:cNvSpPr/>
          <p:nvPr/>
        </p:nvSpPr>
        <p:spPr>
          <a:xfrm>
            <a:off x="3997325" y="2716213"/>
            <a:ext cx="4689475" cy="37084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JA</a:t>
            </a:r>
            <a:r>
              <a:rPr lang="en-US" altLang="zh-CN" b="1" dirty="0">
                <a:latin typeface="Tahoma" panose="020B0604030504040204" pitchFamily="34" charset="0"/>
              </a:rPr>
              <a:t> / JNBE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高于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不低于等于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JAE</a:t>
            </a:r>
            <a:r>
              <a:rPr lang="en-US" altLang="zh-CN" b="1" dirty="0">
                <a:latin typeface="Tahoma" panose="020B0604030504040204" pitchFamily="34" charset="0"/>
              </a:rPr>
              <a:t> / JNB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高于等于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不低于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JB</a:t>
            </a:r>
            <a:r>
              <a:rPr lang="en-US" altLang="zh-CN" b="1" dirty="0">
                <a:latin typeface="Tahoma" panose="020B0604030504040204" pitchFamily="34" charset="0"/>
              </a:rPr>
              <a:t> / JNAE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低于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不高于等于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JBE</a:t>
            </a:r>
            <a:r>
              <a:rPr lang="en-US" altLang="zh-CN" b="1" dirty="0">
                <a:latin typeface="Tahoma" panose="020B0604030504040204" pitchFamily="34" charset="0"/>
              </a:rPr>
              <a:t> / JNA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低于等于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不高于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JG</a:t>
            </a:r>
            <a:r>
              <a:rPr lang="en-US" altLang="zh-CN" b="1" dirty="0">
                <a:latin typeface="Tahoma" panose="020B0604030504040204" pitchFamily="34" charset="0"/>
              </a:rPr>
              <a:t> / JNLE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大于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不小于等于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JGE</a:t>
            </a:r>
            <a:r>
              <a:rPr lang="en-US" altLang="zh-CN" b="1" dirty="0">
                <a:latin typeface="Tahoma" panose="020B0604030504040204" pitchFamily="34" charset="0"/>
              </a:rPr>
              <a:t> / JNL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大于等于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不小于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JL</a:t>
            </a:r>
            <a:r>
              <a:rPr lang="en-US" altLang="zh-CN" b="1" dirty="0">
                <a:latin typeface="Tahoma" panose="020B0604030504040204" pitchFamily="34" charset="0"/>
              </a:rPr>
              <a:t> / JNGE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小于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不大于等于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JLE</a:t>
            </a:r>
            <a:r>
              <a:rPr lang="en-US" altLang="zh-CN" b="1" dirty="0">
                <a:latin typeface="Tahoma" panose="020B0604030504040204" pitchFamily="34" charset="0"/>
              </a:rPr>
              <a:t> / JNG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小于等于</a:t>
            </a:r>
            <a:r>
              <a:rPr lang="en-US" altLang="zh-CN" b="1" dirty="0">
                <a:latin typeface="Tahoma" panose="020B0604030504040204" pitchFamily="34" charset="0"/>
              </a:rPr>
              <a:t>/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不大于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6" name="Text Box 1040"/>
          <p:cNvSpPr txBox="1"/>
          <p:nvPr/>
        </p:nvSpPr>
        <p:spPr>
          <a:xfrm>
            <a:off x="107950" y="1484313"/>
            <a:ext cx="40719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2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）间接检测标志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5067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2.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JCC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3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3436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0" end="24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0343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24" end="48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03436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48" end="72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7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3436">
                                            <p:txEl>
                                              <p:charRg st="72" end="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72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97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3436">
                                            <p:txEl>
                                              <p:charRg st="97" end="1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97" end="121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121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3436">
                                            <p:txEl>
                                              <p:charRg st="121" end="1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121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145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3436">
                                            <p:txEl>
                                              <p:charRg st="145" end="16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145" end="169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36">
                                            <p:txEl>
                                              <p:charRg st="16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03436">
                                            <p:txEl>
                                              <p:charRg st="169" end="19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nimClr clrSpc="rgb" dir="cw"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03436">
                                            <p:txEl>
                                              <p:charRg st="169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ppt_c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435" grpId="0"/>
      <p:bldP spid="103436" grpId="0" uiExpand="1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46082" name="Text Box 2"/>
          <p:cNvSpPr txBox="1"/>
          <p:nvPr/>
        </p:nvSpPr>
        <p:spPr>
          <a:xfrm>
            <a:off x="308610" y="1701165"/>
            <a:ext cx="3120390" cy="46037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 wrap="square" anchor="t" anchorCtr="0">
            <a:spAutoFit/>
          </a:bodyPr>
          <a:p>
            <a:pPr algn="just">
              <a:buClrTx/>
              <a:buFontTx/>
            </a:pP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习题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9-1</a:t>
            </a:r>
            <a:r>
              <a:rPr lang="zh-CN" altLang="en-US" b="1" dirty="0">
                <a:solidFill>
                  <a:srgbClr val="FF0000"/>
                </a:solidFill>
                <a:latin typeface="Tahoma" panose="020B0604030504040204" pitchFamily="34" charset="0"/>
                <a:ea typeface="隶书" panose="02010509060101010101" pitchFamily="49" charset="-122"/>
              </a:rPr>
              <a:t>：计算</a:t>
            </a:r>
            <a:endParaRPr lang="zh-CN" altLang="en-US" b="1" dirty="0">
              <a:solidFill>
                <a:srgbClr val="FF0000"/>
              </a:solidFill>
              <a:latin typeface="Tahoma" panose="020B0604030504040204" pitchFamily="34" charset="0"/>
              <a:ea typeface="隶书" panose="02010509060101010101" pitchFamily="49" charset="-122"/>
            </a:endParaRPr>
          </a:p>
        </p:txBody>
      </p:sp>
      <p:sp>
        <p:nvSpPr>
          <p:cNvPr id="46083" name="AutoShape 3"/>
          <p:cNvSpPr/>
          <p:nvPr/>
        </p:nvSpPr>
        <p:spPr>
          <a:xfrm>
            <a:off x="3276600" y="1366838"/>
            <a:ext cx="152400" cy="990600"/>
          </a:xfrm>
          <a:prstGeom prst="leftBrace">
            <a:avLst>
              <a:gd name="adj1" fmla="val 53805"/>
              <a:gd name="adj2" fmla="val 50000"/>
            </a:avLst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sz="2800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084" name="Text Box 4"/>
          <p:cNvSpPr txBox="1"/>
          <p:nvPr/>
        </p:nvSpPr>
        <p:spPr>
          <a:xfrm>
            <a:off x="2362200" y="1671638"/>
            <a:ext cx="1143000" cy="519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Y=</a:t>
            </a:r>
            <a:endParaRPr lang="en-US" altLang="zh-CN" sz="2800" b="1" dirty="0">
              <a:solidFill>
                <a:srgbClr val="0000FF"/>
              </a:solidFill>
              <a:latin typeface="Tahoma" panose="020B0604030504040204" pitchFamily="34" charset="0"/>
            </a:endParaRPr>
          </a:p>
        </p:txBody>
      </p:sp>
      <p:sp>
        <p:nvSpPr>
          <p:cNvPr id="46085" name="Text Box 5"/>
          <p:cNvSpPr txBox="1"/>
          <p:nvPr/>
        </p:nvSpPr>
        <p:spPr>
          <a:xfrm>
            <a:off x="3505200" y="1290638"/>
            <a:ext cx="2074863" cy="11604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1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X 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 0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zh-CN" altLang="en-US" sz="2800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-1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（</a:t>
            </a: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X &lt; 0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）</a:t>
            </a:r>
            <a:endParaRPr lang="zh-CN" altLang="en-US" sz="2800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46086" name="Group 13"/>
          <p:cNvGrpSpPr/>
          <p:nvPr/>
        </p:nvGrpSpPr>
        <p:grpSpPr>
          <a:xfrm>
            <a:off x="6257925" y="1300163"/>
            <a:ext cx="1828800" cy="1371600"/>
            <a:chOff x="3408" y="384"/>
            <a:chExt cx="1152" cy="1200"/>
          </a:xfrm>
        </p:grpSpPr>
        <p:sp>
          <p:nvSpPr>
            <p:cNvPr id="46087" name="Rectangle 6"/>
            <p:cNvSpPr/>
            <p:nvPr/>
          </p:nvSpPr>
          <p:spPr>
            <a:xfrm>
              <a:off x="3888" y="384"/>
              <a:ext cx="672" cy="1200"/>
            </a:xfrm>
            <a:prstGeom prst="rect">
              <a:avLst/>
            </a:prstGeom>
            <a:solidFill>
              <a:schemeClr val="bg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088" name="Line 7"/>
            <p:cNvSpPr/>
            <p:nvPr/>
          </p:nvSpPr>
          <p:spPr>
            <a:xfrm>
              <a:off x="3888" y="672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89" name="Line 8"/>
            <p:cNvSpPr/>
            <p:nvPr/>
          </p:nvSpPr>
          <p:spPr>
            <a:xfrm>
              <a:off x="3888" y="960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90" name="Text Box 9"/>
            <p:cNvSpPr txBox="1"/>
            <p:nvPr/>
          </p:nvSpPr>
          <p:spPr>
            <a:xfrm>
              <a:off x="3408" y="384"/>
              <a:ext cx="528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X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091" name="Text Box 10"/>
            <p:cNvSpPr txBox="1"/>
            <p:nvPr/>
          </p:nvSpPr>
          <p:spPr>
            <a:xfrm>
              <a:off x="3408" y="672"/>
              <a:ext cx="528" cy="40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Y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092" name="Line 11"/>
            <p:cNvSpPr/>
            <p:nvPr/>
          </p:nvSpPr>
          <p:spPr>
            <a:xfrm>
              <a:off x="3888" y="1248"/>
              <a:ext cx="67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6093" name="Text Box 12"/>
            <p:cNvSpPr txBox="1"/>
            <p:nvPr/>
          </p:nvSpPr>
          <p:spPr>
            <a:xfrm>
              <a:off x="3840" y="384"/>
              <a:ext cx="720" cy="34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sz="2000" b="1" dirty="0">
                  <a:latin typeface="Tahoma" panose="020B0604030504040204" pitchFamily="34" charset="0"/>
                  <a:sym typeface="Symbol" panose="05050102010706020507" pitchFamily="18" charset="2"/>
                </a:rPr>
                <a:t>H</a:t>
              </a:r>
              <a:endParaRPr lang="en-US" altLang="zh-CN" sz="2000" b="1" dirty="0">
                <a:latin typeface="Tahoma" panose="020B0604030504040204" pitchFamily="34" charset="0"/>
              </a:endParaRPr>
            </a:p>
          </p:txBody>
        </p:sp>
      </p:grpSp>
      <p:sp>
        <p:nvSpPr>
          <p:cNvPr id="144414" name="Text Box 30"/>
          <p:cNvSpPr txBox="1"/>
          <p:nvPr/>
        </p:nvSpPr>
        <p:spPr>
          <a:xfrm>
            <a:off x="4572000" y="2884488"/>
            <a:ext cx="4038600" cy="336550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	  MOV AL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X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	  CMP  AL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0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	  </a:t>
            </a:r>
            <a:r>
              <a:rPr lang="en-US" altLang="zh-CN" sz="2800" b="1" dirty="0">
                <a:solidFill>
                  <a:srgbClr val="FF0000"/>
                </a:solidFill>
                <a:latin typeface="Tahoma" panose="020B0604030504040204" pitchFamily="34" charset="0"/>
              </a:rPr>
              <a:t>JGE</a:t>
            </a:r>
            <a:r>
              <a:rPr lang="en-US" altLang="zh-CN" sz="2800" b="1" dirty="0">
                <a:latin typeface="Tahoma" panose="020B0604030504040204" pitchFamily="34" charset="0"/>
              </a:rPr>
              <a:t>  </a:t>
            </a:r>
            <a:r>
              <a:rPr lang="en-US" altLang="zh-CN" sz="2800" b="1" dirty="0">
                <a:solidFill>
                  <a:srgbClr val="00B050"/>
                </a:solidFill>
                <a:latin typeface="Tahoma" panose="020B0604030504040204" pitchFamily="34" charset="0"/>
              </a:rPr>
              <a:t>NEXT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	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 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solidFill>
                  <a:srgbClr val="00B050"/>
                </a:solidFill>
                <a:latin typeface="Tahoma" panose="020B0604030504040204" pitchFamily="34" charset="0"/>
              </a:rPr>
              <a:t>NEXT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sz="2800" b="1" dirty="0">
                <a:latin typeface="Tahoma" panose="020B0604030504040204" pitchFamily="34" charset="0"/>
              </a:rPr>
              <a:t>MOV  Y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1</a:t>
            </a:r>
            <a:endParaRPr lang="en-US" altLang="zh-CN" sz="2800" b="1" dirty="0">
              <a:latin typeface="Tahoma" panose="020B0604030504040204" pitchFamily="34" charset="0"/>
            </a:endParaRPr>
          </a:p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	    HLT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44420" name="Text Box 36"/>
          <p:cNvSpPr txBox="1"/>
          <p:nvPr/>
        </p:nvSpPr>
        <p:spPr>
          <a:xfrm>
            <a:off x="5772150" y="4765675"/>
            <a:ext cx="2603500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>
              <a:spcBef>
                <a:spcPct val="10000"/>
              </a:spcBef>
              <a:buClrTx/>
              <a:buFontTx/>
            </a:pPr>
            <a:r>
              <a:rPr lang="en-US" altLang="zh-CN" sz="2800" b="1" u="sng" dirty="0">
                <a:solidFill>
                  <a:srgbClr val="0000FF"/>
                </a:solidFill>
                <a:latin typeface="Tahoma" panose="020B0604030504040204" pitchFamily="34" charset="0"/>
              </a:rPr>
              <a:t>JMP    DONE</a:t>
            </a:r>
            <a:r>
              <a:rPr lang="en-US" altLang="zh-CN" sz="2800" b="1" u="sng" dirty="0">
                <a:solidFill>
                  <a:srgbClr val="000099"/>
                </a:solidFill>
                <a:latin typeface="Tahoma" panose="020B0604030504040204" pitchFamily="34" charset="0"/>
              </a:rPr>
              <a:t>   </a:t>
            </a:r>
            <a:endParaRPr lang="en-US" altLang="zh-CN" sz="2800" b="1" u="sng" dirty="0">
              <a:solidFill>
                <a:srgbClr val="000099"/>
              </a:solidFill>
              <a:latin typeface="Tahoma" panose="020B0604030504040204" pitchFamily="34" charset="0"/>
            </a:endParaRPr>
          </a:p>
        </p:txBody>
      </p:sp>
      <p:grpSp>
        <p:nvGrpSpPr>
          <p:cNvPr id="3" name="Group 38"/>
          <p:cNvGrpSpPr/>
          <p:nvPr/>
        </p:nvGrpSpPr>
        <p:grpSpPr>
          <a:xfrm>
            <a:off x="350838" y="2454275"/>
            <a:ext cx="3884612" cy="4048125"/>
            <a:chOff x="122" y="1242"/>
            <a:chExt cx="2278" cy="2550"/>
          </a:xfrm>
        </p:grpSpPr>
        <p:sp>
          <p:nvSpPr>
            <p:cNvPr id="46097" name="Text Box 14"/>
            <p:cNvSpPr txBox="1"/>
            <p:nvPr/>
          </p:nvSpPr>
          <p:spPr>
            <a:xfrm>
              <a:off x="1200" y="1242"/>
              <a:ext cx="960" cy="294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AL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X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098" name="AutoShape 15"/>
            <p:cNvSpPr/>
            <p:nvPr/>
          </p:nvSpPr>
          <p:spPr>
            <a:xfrm>
              <a:off x="960" y="2208"/>
              <a:ext cx="1440" cy="432"/>
            </a:xfrm>
            <a:prstGeom prst="diamond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AL 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0?</a:t>
              </a:r>
              <a:endParaRPr lang="en-US" altLang="zh-CN" b="1" dirty="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6099" name="Text Box 16"/>
            <p:cNvSpPr txBox="1"/>
            <p:nvPr/>
          </p:nvSpPr>
          <p:spPr>
            <a:xfrm>
              <a:off x="1200" y="1725"/>
              <a:ext cx="960" cy="294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AL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-0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100" name="Line 17"/>
            <p:cNvSpPr/>
            <p:nvPr/>
          </p:nvSpPr>
          <p:spPr>
            <a:xfrm flipH="1">
              <a:off x="768" y="2415"/>
              <a:ext cx="19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1" name="Line 18"/>
            <p:cNvSpPr/>
            <p:nvPr/>
          </p:nvSpPr>
          <p:spPr>
            <a:xfrm>
              <a:off x="768" y="2400"/>
              <a:ext cx="0" cy="48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2" name="Line 19"/>
            <p:cNvSpPr/>
            <p:nvPr/>
          </p:nvSpPr>
          <p:spPr>
            <a:xfrm>
              <a:off x="1680" y="2640"/>
              <a:ext cx="0" cy="227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3" name="Text Box 20"/>
            <p:cNvSpPr txBox="1"/>
            <p:nvPr/>
          </p:nvSpPr>
          <p:spPr>
            <a:xfrm>
              <a:off x="1254" y="2880"/>
              <a:ext cx="864" cy="294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Y 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 -1</a:t>
              </a:r>
              <a:endParaRPr lang="en-US" altLang="zh-CN" b="1" dirty="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6104" name="Text Box 22"/>
            <p:cNvSpPr txBox="1"/>
            <p:nvPr/>
          </p:nvSpPr>
          <p:spPr>
            <a:xfrm>
              <a:off x="342" y="2880"/>
              <a:ext cx="864" cy="294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Y </a:t>
              </a:r>
              <a:r>
                <a:rPr lang="en-US" altLang="zh-CN" b="1" dirty="0">
                  <a:latin typeface="Tahoma" panose="020B0604030504040204" pitchFamily="34" charset="0"/>
                  <a:sym typeface="Symbol" panose="05050102010706020507" pitchFamily="18" charset="2"/>
                </a:rPr>
                <a:t> 1</a:t>
              </a:r>
              <a:endParaRPr lang="en-US" altLang="zh-CN" b="1" dirty="0">
                <a:latin typeface="Tahoma" panose="020B0604030504040204" pitchFamily="34" charset="0"/>
                <a:sym typeface="Symbol" panose="05050102010706020507" pitchFamily="18" charset="2"/>
              </a:endParaRPr>
            </a:p>
          </p:txBody>
        </p:sp>
        <p:sp>
          <p:nvSpPr>
            <p:cNvPr id="46105" name="AutoShape 24"/>
            <p:cNvSpPr/>
            <p:nvPr/>
          </p:nvSpPr>
          <p:spPr>
            <a:xfrm>
              <a:off x="1296" y="3456"/>
              <a:ext cx="768" cy="336"/>
            </a:xfrm>
            <a:prstGeom prst="flowChartAlternateProcess">
              <a:avLst/>
            </a:prstGeom>
            <a:solidFill>
              <a:schemeClr val="bg1"/>
            </a:solidFill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 algn="ctr">
                <a:buClrTx/>
                <a:buFontTx/>
              </a:pP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结束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6106" name="Line 25"/>
            <p:cNvSpPr/>
            <p:nvPr/>
          </p:nvSpPr>
          <p:spPr>
            <a:xfrm>
              <a:off x="1680" y="3171"/>
              <a:ext cx="0" cy="288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7" name="Line 26"/>
            <p:cNvSpPr/>
            <p:nvPr/>
          </p:nvSpPr>
          <p:spPr>
            <a:xfrm>
              <a:off x="768" y="3171"/>
              <a:ext cx="0" cy="181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8" name="Line 27"/>
            <p:cNvSpPr/>
            <p:nvPr/>
          </p:nvSpPr>
          <p:spPr>
            <a:xfrm>
              <a:off x="768" y="3360"/>
              <a:ext cx="912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09" name="Line 28"/>
            <p:cNvSpPr/>
            <p:nvPr/>
          </p:nvSpPr>
          <p:spPr>
            <a:xfrm>
              <a:off x="1680" y="1533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10" name="Line 29"/>
            <p:cNvSpPr/>
            <p:nvPr/>
          </p:nvSpPr>
          <p:spPr>
            <a:xfrm>
              <a:off x="1680" y="2016"/>
              <a:ext cx="0" cy="192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stealth" w="lg" len="lg"/>
            </a:ln>
          </p:spPr>
        </p:sp>
        <p:sp>
          <p:nvSpPr>
            <p:cNvPr id="46111" name="Text Box 31"/>
            <p:cNvSpPr txBox="1"/>
            <p:nvPr/>
          </p:nvSpPr>
          <p:spPr>
            <a:xfrm>
              <a:off x="122" y="2579"/>
              <a:ext cx="624" cy="288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B050"/>
                  </a:solidFill>
                  <a:latin typeface="Tahoma" panose="020B0604030504040204" pitchFamily="34" charset="0"/>
                </a:rPr>
                <a:t>NEXT</a:t>
              </a:r>
              <a:endParaRPr lang="en-US" altLang="zh-CN" b="1" dirty="0">
                <a:solidFill>
                  <a:srgbClr val="00B05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6112" name="Text Box 34"/>
            <p:cNvSpPr txBox="1"/>
            <p:nvPr/>
          </p:nvSpPr>
          <p:spPr>
            <a:xfrm>
              <a:off x="624" y="2016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Y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113" name="Text Box 35"/>
            <p:cNvSpPr txBox="1"/>
            <p:nvPr/>
          </p:nvSpPr>
          <p:spPr>
            <a:xfrm>
              <a:off x="1728" y="2544"/>
              <a:ext cx="52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N</a:t>
              </a: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6114" name="Text Box 37"/>
            <p:cNvSpPr txBox="1"/>
            <p:nvPr/>
          </p:nvSpPr>
          <p:spPr>
            <a:xfrm>
              <a:off x="1680" y="3168"/>
              <a:ext cx="709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DONE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</p:grpSp>
      <p:sp>
        <p:nvSpPr>
          <p:cNvPr id="144423" name="Rectangle 39"/>
          <p:cNvSpPr/>
          <p:nvPr/>
        </p:nvSpPr>
        <p:spPr>
          <a:xfrm>
            <a:off x="5570538" y="4265613"/>
            <a:ext cx="2674937" cy="522287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10000"/>
              </a:spcBef>
              <a:buClrTx/>
              <a:buFontTx/>
            </a:pPr>
            <a:r>
              <a:rPr lang="en-US" altLang="zh-CN" sz="2800" b="1" dirty="0">
                <a:latin typeface="Tahoma" panose="020B0604030504040204" pitchFamily="34" charset="0"/>
              </a:rPr>
              <a:t>MOV   Y</a:t>
            </a:r>
            <a:r>
              <a:rPr lang="zh-CN" altLang="en-US" sz="2800" b="1" dirty="0">
                <a:latin typeface="Tahoma" panose="020B0604030504040204" pitchFamily="34" charset="0"/>
                <a:ea typeface="宋体" panose="02010600030101010101" pitchFamily="2" charset="-122"/>
              </a:rPr>
              <a:t>，</a:t>
            </a:r>
            <a:r>
              <a:rPr lang="en-US" altLang="zh-CN" sz="2800" b="1" dirty="0">
                <a:latin typeface="Tahoma" panose="020B0604030504040204" pitchFamily="34" charset="0"/>
              </a:rPr>
              <a:t>-1</a:t>
            </a:r>
            <a:endParaRPr lang="en-US" altLang="zh-CN" sz="2800" b="1" dirty="0">
              <a:latin typeface="Tahoma" panose="020B0604030504040204" pitchFamily="34" charset="0"/>
            </a:endParaRPr>
          </a:p>
        </p:txBody>
      </p:sp>
      <p:sp>
        <p:nvSpPr>
          <p:cNvPr id="144425" name="Text Box 41"/>
          <p:cNvSpPr txBox="1"/>
          <p:nvPr/>
        </p:nvSpPr>
        <p:spPr>
          <a:xfrm>
            <a:off x="4645025" y="5718175"/>
            <a:ext cx="1303338" cy="52228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sz="2800" b="1" dirty="0">
                <a:solidFill>
                  <a:srgbClr val="0000FF"/>
                </a:solidFill>
                <a:latin typeface="Tahoma" panose="020B0604030504040204" pitchFamily="34" charset="0"/>
              </a:rPr>
              <a:t>DONE</a:t>
            </a:r>
            <a:r>
              <a:rPr lang="zh-CN" altLang="en-US" sz="2800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endParaRPr lang="zh-CN" altLang="en-US" sz="2800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6117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2.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条件转移指令</a:t>
            </a: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JCC</a:t>
            </a:r>
            <a:endParaRPr lang="zh-CN" altLang="en-US" sz="3600" b="1" dirty="0"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44414">
                                            <p:txEl>
                                              <p:charRg st="0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4414">
                                            <p:txEl>
                                              <p:charRg st="12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charRg st="25" end="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4414">
                                            <p:txEl>
                                              <p:charRg st="25" end="3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4414">
                                            <p:txEl>
                                              <p:charRg st="42" end="5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14">
                                            <p:txEl>
                                              <p:charRg st="57" end="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44414">
                                            <p:txEl>
                                              <p:charRg st="57" end="6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44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44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44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414" grpId="0" uiExpand="1" build="p"/>
      <p:bldP spid="144420" grpId="0"/>
      <p:bldP spid="144423" grpId="0"/>
      <p:bldP spid="14442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4463" name="Text Box 15"/>
          <p:cNvSpPr txBox="1"/>
          <p:nvPr/>
        </p:nvSpPr>
        <p:spPr>
          <a:xfrm>
            <a:off x="539750" y="1447800"/>
            <a:ext cx="5100638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*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循环控制指令不影响标志位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19"/>
          <p:cNvGrpSpPr/>
          <p:nvPr/>
        </p:nvGrpSpPr>
        <p:grpSpPr>
          <a:xfrm>
            <a:off x="2209800" y="1955800"/>
            <a:ext cx="6632575" cy="4746625"/>
            <a:chOff x="336" y="768"/>
            <a:chExt cx="4178" cy="3360"/>
          </a:xfrm>
        </p:grpSpPr>
        <p:sp>
          <p:nvSpPr>
            <p:cNvPr id="47107" name="Text Box 3"/>
            <p:cNvSpPr txBox="1"/>
            <p:nvPr/>
          </p:nvSpPr>
          <p:spPr>
            <a:xfrm>
              <a:off x="336" y="771"/>
              <a:ext cx="4178" cy="3357"/>
            </a:xfrm>
            <a:prstGeom prst="rect">
              <a:avLst/>
            </a:prstGeom>
            <a:noFill/>
            <a:ln w="9525" cap="flat" cmpd="sng">
              <a:solidFill>
                <a:srgbClr val="CC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anchor="t" anchorCtr="0"/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      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指令助记符                       指令功能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LOOP    </a:t>
              </a: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短标号</a:t>
              </a: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  <a:p>
              <a:pPr>
                <a:lnSpc>
                  <a:spcPct val="90000"/>
                </a:lnSpc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LOOPE/LOOPZ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LOOPNE/LOOPNZ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r>
                <a:rPr lang="en-US" altLang="zh-CN" b="1" dirty="0">
                  <a:latin typeface="Tahoma" panose="020B0604030504040204" pitchFamily="34" charset="0"/>
                </a:rPr>
                <a:t>JCXZ    </a:t>
              </a:r>
              <a:r>
                <a:rPr lang="zh-CN" altLang="en-US" b="1" dirty="0">
                  <a:latin typeface="Tahoma" panose="020B0604030504040204" pitchFamily="34" charset="0"/>
                  <a:ea typeface="宋体" panose="02010600030101010101" pitchFamily="2" charset="-122"/>
                </a:rPr>
                <a:t>短标号</a:t>
              </a:r>
              <a:endParaRPr lang="en-US" altLang="zh-CN" b="1" dirty="0">
                <a:latin typeface="Tahoma" panose="020B0604030504040204" pitchFamily="34" charset="0"/>
              </a:endParaRPr>
            </a:p>
            <a:p>
              <a:pPr>
                <a:lnSpc>
                  <a:spcPct val="90000"/>
                </a:lnSpc>
                <a:spcBef>
                  <a:spcPct val="10000"/>
                </a:spcBef>
                <a:buClrTx/>
                <a:buFontTx/>
              </a:pPr>
              <a:endParaRPr lang="en-US" altLang="zh-CN" b="1" dirty="0">
                <a:latin typeface="Tahoma" panose="020B0604030504040204" pitchFamily="34" charset="0"/>
              </a:endParaRPr>
            </a:p>
          </p:txBody>
        </p:sp>
        <p:sp>
          <p:nvSpPr>
            <p:cNvPr id="47108" name="Line 4"/>
            <p:cNvSpPr/>
            <p:nvPr/>
          </p:nvSpPr>
          <p:spPr>
            <a:xfrm>
              <a:off x="336" y="1155"/>
              <a:ext cx="4173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09" name="Line 6"/>
            <p:cNvSpPr/>
            <p:nvPr/>
          </p:nvSpPr>
          <p:spPr>
            <a:xfrm>
              <a:off x="2118" y="768"/>
              <a:ext cx="0" cy="336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0" name="Line 7"/>
            <p:cNvSpPr/>
            <p:nvPr/>
          </p:nvSpPr>
          <p:spPr>
            <a:xfrm>
              <a:off x="336" y="1872"/>
              <a:ext cx="4173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1" name="Text Box 10"/>
            <p:cNvSpPr txBox="1"/>
            <p:nvPr/>
          </p:nvSpPr>
          <p:spPr>
            <a:xfrm>
              <a:off x="1968" y="1151"/>
              <a:ext cx="1920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7112" name="Text Box 11"/>
            <p:cNvSpPr txBox="1"/>
            <p:nvPr/>
          </p:nvSpPr>
          <p:spPr>
            <a:xfrm>
              <a:off x="1968" y="2016"/>
              <a:ext cx="2496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7113" name="Text Box 12"/>
            <p:cNvSpPr txBox="1"/>
            <p:nvPr/>
          </p:nvSpPr>
          <p:spPr>
            <a:xfrm>
              <a:off x="2112" y="2880"/>
              <a:ext cx="2352" cy="327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sp>
          <p:nvSpPr>
            <p:cNvPr id="47114" name="Line 13"/>
            <p:cNvSpPr/>
            <p:nvPr/>
          </p:nvSpPr>
          <p:spPr>
            <a:xfrm>
              <a:off x="336" y="2784"/>
              <a:ext cx="4173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5" name="Line 17"/>
            <p:cNvSpPr/>
            <p:nvPr/>
          </p:nvSpPr>
          <p:spPr>
            <a:xfrm>
              <a:off x="336" y="3600"/>
              <a:ext cx="4173" cy="0"/>
            </a:xfrm>
            <a:prstGeom prst="line">
              <a:avLst/>
            </a:prstGeom>
            <a:ln w="9525" cap="flat" cmpd="sng">
              <a:solidFill>
                <a:srgbClr val="CC0000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7116" name="Text Box 18"/>
            <p:cNvSpPr txBox="1"/>
            <p:nvPr/>
          </p:nvSpPr>
          <p:spPr>
            <a:xfrm>
              <a:off x="2112" y="3687"/>
              <a:ext cx="2352" cy="324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endParaRPr lang="zh-CN" altLang="zh-CN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</p:grpSp>
      <p:sp>
        <p:nvSpPr>
          <p:cNvPr id="104464" name="Text Box 16"/>
          <p:cNvSpPr txBox="1"/>
          <p:nvPr/>
        </p:nvSpPr>
        <p:spPr>
          <a:xfrm>
            <a:off x="228600" y="2497138"/>
            <a:ext cx="1981200" cy="10160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DEC  CX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JNZ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短标号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471" name="Rectangle 23"/>
          <p:cNvSpPr/>
          <p:nvPr/>
        </p:nvSpPr>
        <p:spPr>
          <a:xfrm>
            <a:off x="5403850" y="2497138"/>
            <a:ext cx="2201863" cy="1016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CX-1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0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转短标号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4472" name="Rectangle 24"/>
          <p:cNvSpPr/>
          <p:nvPr/>
        </p:nvSpPr>
        <p:spPr>
          <a:xfrm>
            <a:off x="4924425" y="3640138"/>
            <a:ext cx="3817938" cy="1016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CX-1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相等（ </a:t>
            </a:r>
            <a:r>
              <a:rPr lang="en-US" altLang="zh-CN" b="1" dirty="0">
                <a:latin typeface="Tahoma" panose="020B0604030504040204" pitchFamily="34" charset="0"/>
              </a:rPr>
              <a:t>ZF=1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）且 </a:t>
            </a: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0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转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4473" name="Rectangle 25"/>
          <p:cNvSpPr/>
          <p:nvPr/>
        </p:nvSpPr>
        <p:spPr>
          <a:xfrm>
            <a:off x="5029200" y="4772025"/>
            <a:ext cx="3908425" cy="10160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CX-1</a:t>
            </a:r>
            <a:endParaRPr lang="en-US" altLang="zh-CN" b="1" dirty="0">
              <a:latin typeface="Tahoma" panose="020B0604030504040204" pitchFamily="34" charset="0"/>
              <a:sym typeface="Symbol" panose="05050102010706020507" pitchFamily="18" charset="2"/>
            </a:endParaRPr>
          </a:p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不等（ </a:t>
            </a:r>
            <a:r>
              <a:rPr lang="en-US" altLang="zh-CN" b="1" dirty="0">
                <a:latin typeface="Tahoma" panose="020B0604030504040204" pitchFamily="34" charset="0"/>
              </a:rPr>
              <a:t>ZF=0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）且 </a:t>
            </a: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0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转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4474" name="Rectangle 26"/>
          <p:cNvSpPr/>
          <p:nvPr/>
        </p:nvSpPr>
        <p:spPr>
          <a:xfrm>
            <a:off x="5500688" y="6145213"/>
            <a:ext cx="2714625" cy="46196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CX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=0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转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短标号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104475" name="AutoShape 27"/>
          <p:cNvSpPr/>
          <p:nvPr/>
        </p:nvSpPr>
        <p:spPr>
          <a:xfrm>
            <a:off x="1905000" y="2649538"/>
            <a:ext cx="304800" cy="762000"/>
          </a:xfrm>
          <a:prstGeom prst="rightBrace">
            <a:avLst>
              <a:gd name="adj1" fmla="val 20694"/>
              <a:gd name="adj2" fmla="val 50000"/>
            </a:avLst>
          </a:prstGeom>
          <a:noFill/>
          <a:ln w="19050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wrap="none" anchor="ctr" anchorCtr="0"/>
          <a:p>
            <a:pPr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04476" name="Line 28"/>
          <p:cNvSpPr/>
          <p:nvPr/>
        </p:nvSpPr>
        <p:spPr>
          <a:xfrm flipH="1">
            <a:off x="2286000" y="3106738"/>
            <a:ext cx="2209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sp>
      <p:sp>
        <p:nvSpPr>
          <p:cNvPr id="47124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3. 循环控制指令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04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04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04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04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104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4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04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104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463" grpId="0"/>
      <p:bldP spid="104464" grpId="0"/>
      <p:bldP spid="104471" grpId="0"/>
      <p:bldP spid="104472" grpId="0"/>
      <p:bldP spid="104473" grpId="0"/>
      <p:bldP spid="104474" grpId="0"/>
      <p:bldP spid="104475" grpId="0" bldLvl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29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169987" name="Text Box 3"/>
          <p:cNvSpPr txBox="1"/>
          <p:nvPr/>
        </p:nvSpPr>
        <p:spPr>
          <a:xfrm>
            <a:off x="2438400" y="1860550"/>
            <a:ext cx="6477000" cy="8651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10000"/>
              </a:spcBef>
              <a:buClrTx/>
              <a:buFontTx/>
              <a:buChar char="•"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第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步 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(SP)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en-US" altLang="zh-CN" b="1" u="sng" dirty="0">
                <a:latin typeface="Tahoma" panose="020B0604030504040204" pitchFamily="34" charset="0"/>
              </a:rPr>
              <a:t>CS</a:t>
            </a: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u="sng" dirty="0">
                <a:latin typeface="Tahoma" panose="020B0604030504040204" pitchFamily="34" charset="0"/>
              </a:rPr>
              <a:t>IP</a:t>
            </a: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保护断点）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spcBef>
                <a:spcPct val="10000"/>
              </a:spcBef>
              <a:buClrTx/>
              <a:buFontTx/>
              <a:buChar char="•"/>
            </a:pP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第</a:t>
            </a:r>
            <a:r>
              <a:rPr lang="en-US" altLang="zh-CN" b="1" u="sng" dirty="0">
                <a:latin typeface="Tahoma" panose="020B0604030504040204" pitchFamily="34" charset="0"/>
              </a:rPr>
              <a:t>2</a:t>
            </a: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步   </a:t>
            </a:r>
            <a:r>
              <a:rPr lang="en-US" altLang="zh-CN" b="1" u="sng" dirty="0">
                <a:latin typeface="Tahoma" panose="020B0604030504040204" pitchFamily="34" charset="0"/>
              </a:rPr>
              <a:t>CS</a:t>
            </a: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u="sng" dirty="0">
                <a:latin typeface="Tahoma" panose="020B0604030504040204" pitchFamily="34" charset="0"/>
              </a:rPr>
              <a:t>IP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入口（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调用）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9988" name="Text Box 4"/>
          <p:cNvSpPr txBox="1"/>
          <p:nvPr/>
        </p:nvSpPr>
        <p:spPr>
          <a:xfrm>
            <a:off x="381000" y="1936750"/>
            <a:ext cx="1981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CALL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功能</a:t>
            </a:r>
            <a:endParaRPr lang="zh-CN" altLang="en-US" b="1" dirty="0">
              <a:solidFill>
                <a:srgbClr val="CC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69989" name="Text Box 5"/>
          <p:cNvSpPr txBox="1"/>
          <p:nvPr/>
        </p:nvSpPr>
        <p:spPr>
          <a:xfrm>
            <a:off x="604838" y="3136900"/>
            <a:ext cx="6172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Bef>
                <a:spcPct val="50000"/>
              </a:spcBef>
              <a:buClrTx/>
              <a:buFontTx/>
            </a:pP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</a:rPr>
              <a:t>RET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功能： </a:t>
            </a:r>
            <a:r>
              <a:rPr lang="en-US" altLang="zh-CN" b="1" dirty="0">
                <a:latin typeface="Tahoma" panose="020B0604030504040204" pitchFamily="34" charset="0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IP 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  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</a:rPr>
              <a:t>(SP)</a:t>
            </a:r>
            <a:r>
              <a:rPr lang="en-US" altLang="zh-CN" b="1" dirty="0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2" name="Group 6"/>
          <p:cNvGrpSpPr/>
          <p:nvPr/>
        </p:nvGrpSpPr>
        <p:grpSpPr>
          <a:xfrm>
            <a:off x="4932363" y="3787775"/>
            <a:ext cx="1676400" cy="677863"/>
            <a:chOff x="3299" y="1344"/>
            <a:chExt cx="1056" cy="427"/>
          </a:xfrm>
        </p:grpSpPr>
        <p:sp>
          <p:nvSpPr>
            <p:cNvPr id="48134" name="Text Box 7"/>
            <p:cNvSpPr txBox="1"/>
            <p:nvPr/>
          </p:nvSpPr>
          <p:spPr>
            <a:xfrm>
              <a:off x="3299" y="1481"/>
              <a:ext cx="1056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入口</a:t>
              </a:r>
              <a:endPara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5" name="Line 8"/>
            <p:cNvSpPr/>
            <p:nvPr/>
          </p:nvSpPr>
          <p:spPr>
            <a:xfrm>
              <a:off x="4080" y="1344"/>
              <a:ext cx="240" cy="0"/>
            </a:xfrm>
            <a:prstGeom prst="line">
              <a:avLst/>
            </a:prstGeom>
            <a:ln w="38100">
              <a:noFill/>
            </a:ln>
          </p:spPr>
        </p:sp>
      </p:grpSp>
      <p:sp>
        <p:nvSpPr>
          <p:cNvPr id="169993" name="Text Box 9"/>
          <p:cNvSpPr txBox="1"/>
          <p:nvPr/>
        </p:nvSpPr>
        <p:spPr>
          <a:xfrm>
            <a:off x="1143000" y="3702050"/>
            <a:ext cx="1600200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spcBef>
                <a:spcPct val="5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主程序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3" name="Group 10"/>
          <p:cNvGrpSpPr/>
          <p:nvPr/>
        </p:nvGrpSpPr>
        <p:grpSpPr>
          <a:xfrm>
            <a:off x="1371600" y="5149850"/>
            <a:ext cx="1447800" cy="460375"/>
            <a:chOff x="528" y="2160"/>
            <a:chExt cx="912" cy="290"/>
          </a:xfrm>
        </p:grpSpPr>
        <p:sp>
          <p:nvSpPr>
            <p:cNvPr id="48138" name="Text Box 11"/>
            <p:cNvSpPr txBox="1"/>
            <p:nvPr/>
          </p:nvSpPr>
          <p:spPr>
            <a:xfrm>
              <a:off x="528" y="2160"/>
              <a:ext cx="864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CC0000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断点</a:t>
              </a:r>
              <a:endPara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39" name="Line 12"/>
            <p:cNvSpPr/>
            <p:nvPr/>
          </p:nvSpPr>
          <p:spPr>
            <a:xfrm>
              <a:off x="1200" y="2304"/>
              <a:ext cx="240" cy="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  <p:sp>
        <p:nvSpPr>
          <p:cNvPr id="169997" name="Line 13"/>
          <p:cNvSpPr/>
          <p:nvPr/>
        </p:nvSpPr>
        <p:spPr>
          <a:xfrm flipV="1">
            <a:off x="4144963" y="4116388"/>
            <a:ext cx="2408237" cy="1171575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169998" name="Line 14"/>
          <p:cNvSpPr/>
          <p:nvPr/>
        </p:nvSpPr>
        <p:spPr>
          <a:xfrm flipH="1" flipV="1">
            <a:off x="4125913" y="5413375"/>
            <a:ext cx="2427287" cy="88900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sp>
      <p:grpSp>
        <p:nvGrpSpPr>
          <p:cNvPr id="4" name="Group 15"/>
          <p:cNvGrpSpPr/>
          <p:nvPr/>
        </p:nvGrpSpPr>
        <p:grpSpPr>
          <a:xfrm>
            <a:off x="6324600" y="3549650"/>
            <a:ext cx="1600200" cy="2984500"/>
            <a:chOff x="4224" y="906"/>
            <a:chExt cx="1008" cy="1880"/>
          </a:xfrm>
        </p:grpSpPr>
        <p:sp>
          <p:nvSpPr>
            <p:cNvPr id="48143" name="Text Box 16"/>
            <p:cNvSpPr txBox="1"/>
            <p:nvPr/>
          </p:nvSpPr>
          <p:spPr>
            <a:xfrm>
              <a:off x="4224" y="906"/>
              <a:ext cx="1008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子程序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4" name="Rectangle 17"/>
            <p:cNvSpPr/>
            <p:nvPr/>
          </p:nvSpPr>
          <p:spPr>
            <a:xfrm>
              <a:off x="4368" y="1219"/>
              <a:ext cx="816" cy="154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45" name="Line 18"/>
            <p:cNvSpPr/>
            <p:nvPr/>
          </p:nvSpPr>
          <p:spPr>
            <a:xfrm>
              <a:off x="4800" y="1421"/>
              <a:ext cx="0" cy="1027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48146" name="Text Box 19"/>
            <p:cNvSpPr txBox="1"/>
            <p:nvPr/>
          </p:nvSpPr>
          <p:spPr>
            <a:xfrm>
              <a:off x="4464" y="2496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RET</a:t>
              </a:r>
              <a:endParaRPr lang="en-US" altLang="zh-CN" b="1" dirty="0">
                <a:solidFill>
                  <a:srgbClr val="0000FF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147" name="Line 20"/>
            <p:cNvSpPr/>
            <p:nvPr/>
          </p:nvSpPr>
          <p:spPr>
            <a:xfrm>
              <a:off x="4368" y="144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8" name="Line 21"/>
            <p:cNvSpPr/>
            <p:nvPr/>
          </p:nvSpPr>
          <p:spPr>
            <a:xfrm>
              <a:off x="4368" y="168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49" name="Line 22"/>
            <p:cNvSpPr/>
            <p:nvPr/>
          </p:nvSpPr>
          <p:spPr>
            <a:xfrm>
              <a:off x="4368" y="216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0" name="Line 23"/>
            <p:cNvSpPr/>
            <p:nvPr/>
          </p:nvSpPr>
          <p:spPr>
            <a:xfrm>
              <a:off x="4368" y="192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1" name="Line 24"/>
            <p:cNvSpPr/>
            <p:nvPr/>
          </p:nvSpPr>
          <p:spPr>
            <a:xfrm>
              <a:off x="4368" y="2352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2" name="Line 25"/>
            <p:cNvSpPr/>
            <p:nvPr/>
          </p:nvSpPr>
          <p:spPr>
            <a:xfrm>
              <a:off x="4368" y="2544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</p:grpSp>
      <p:grpSp>
        <p:nvGrpSpPr>
          <p:cNvPr id="5" name="Group 47"/>
          <p:cNvGrpSpPr/>
          <p:nvPr/>
        </p:nvGrpSpPr>
        <p:grpSpPr>
          <a:xfrm>
            <a:off x="990600" y="3625850"/>
            <a:ext cx="3124200" cy="2971800"/>
            <a:chOff x="624" y="1968"/>
            <a:chExt cx="1968" cy="1872"/>
          </a:xfrm>
        </p:grpSpPr>
        <p:sp>
          <p:nvSpPr>
            <p:cNvPr id="48154" name="Rectangle 27"/>
            <p:cNvSpPr/>
            <p:nvPr/>
          </p:nvSpPr>
          <p:spPr>
            <a:xfrm>
              <a:off x="1776" y="1968"/>
              <a:ext cx="816" cy="187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55" name="Line 28"/>
            <p:cNvSpPr/>
            <p:nvPr/>
          </p:nvSpPr>
          <p:spPr>
            <a:xfrm>
              <a:off x="2208" y="206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48156" name="Line 29"/>
            <p:cNvSpPr/>
            <p:nvPr/>
          </p:nvSpPr>
          <p:spPr>
            <a:xfrm>
              <a:off x="2208" y="3264"/>
              <a:ext cx="0" cy="480"/>
            </a:xfrm>
            <a:prstGeom prst="line">
              <a:avLst/>
            </a:prstGeom>
            <a:ln w="38100" cap="flat" cmpd="sng">
              <a:solidFill>
                <a:schemeClr val="tx1"/>
              </a:solidFill>
              <a:prstDash val="sysDot"/>
              <a:round/>
              <a:headEnd type="none" w="med" len="med"/>
              <a:tailEnd type="triangle" w="med" len="med"/>
            </a:ln>
          </p:spPr>
        </p:sp>
        <p:sp>
          <p:nvSpPr>
            <p:cNvPr id="48157" name="Text Box 30"/>
            <p:cNvSpPr txBox="1"/>
            <p:nvPr/>
          </p:nvSpPr>
          <p:spPr>
            <a:xfrm>
              <a:off x="1824" y="2736"/>
              <a:ext cx="720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ct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CC0000"/>
                  </a:solidFill>
                  <a:latin typeface="Tahoma" panose="020B0604030504040204" pitchFamily="34" charset="0"/>
                </a:rPr>
                <a:t>CALL </a:t>
              </a:r>
              <a:endParaRPr lang="en-US" altLang="zh-CN" b="1" dirty="0">
                <a:solidFill>
                  <a:srgbClr val="CC0000"/>
                </a:solidFill>
                <a:latin typeface="Tahoma" panose="020B0604030504040204" pitchFamily="34" charset="0"/>
              </a:endParaRPr>
            </a:p>
          </p:txBody>
        </p:sp>
        <p:sp>
          <p:nvSpPr>
            <p:cNvPr id="48158" name="Line 31"/>
            <p:cNvSpPr/>
            <p:nvPr/>
          </p:nvSpPr>
          <p:spPr>
            <a:xfrm>
              <a:off x="1776" y="2208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59" name="Line 32"/>
            <p:cNvSpPr/>
            <p:nvPr/>
          </p:nvSpPr>
          <p:spPr>
            <a:xfrm>
              <a:off x="1776" y="240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0" name="Line 33"/>
            <p:cNvSpPr/>
            <p:nvPr/>
          </p:nvSpPr>
          <p:spPr>
            <a:xfrm>
              <a:off x="1776" y="2592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1" name="Line 34"/>
            <p:cNvSpPr/>
            <p:nvPr/>
          </p:nvSpPr>
          <p:spPr>
            <a:xfrm>
              <a:off x="1776" y="3264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2" name="Line 35"/>
            <p:cNvSpPr/>
            <p:nvPr/>
          </p:nvSpPr>
          <p:spPr>
            <a:xfrm>
              <a:off x="1776" y="3456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3" name="Line 36"/>
            <p:cNvSpPr/>
            <p:nvPr/>
          </p:nvSpPr>
          <p:spPr>
            <a:xfrm>
              <a:off x="1776" y="2784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4" name="Line 37"/>
            <p:cNvSpPr/>
            <p:nvPr/>
          </p:nvSpPr>
          <p:spPr>
            <a:xfrm>
              <a:off x="1776" y="384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5" name="Line 38"/>
            <p:cNvSpPr/>
            <p:nvPr/>
          </p:nvSpPr>
          <p:spPr>
            <a:xfrm>
              <a:off x="1776" y="3648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sp>
        <p:sp>
          <p:nvSpPr>
            <p:cNvPr id="48166" name="Line 39"/>
            <p:cNvSpPr/>
            <p:nvPr/>
          </p:nvSpPr>
          <p:spPr>
            <a:xfrm>
              <a:off x="1776" y="2976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48167" name="Line 40"/>
            <p:cNvSpPr/>
            <p:nvPr/>
          </p:nvSpPr>
          <p:spPr>
            <a:xfrm>
              <a:off x="1776" y="3120"/>
              <a:ext cx="816" cy="0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ysDot"/>
              <a:round/>
              <a:headEnd type="none" w="med" len="med"/>
              <a:tailEnd type="none" w="med" len="med"/>
            </a:ln>
          </p:spPr>
        </p:sp>
        <p:sp>
          <p:nvSpPr>
            <p:cNvPr id="48168" name="Rectangle 41" descr="深色下对角线"/>
            <p:cNvSpPr/>
            <p:nvPr/>
          </p:nvSpPr>
          <p:spPr>
            <a:xfrm>
              <a:off x="1776" y="2976"/>
              <a:ext cx="816" cy="192"/>
            </a:xfrm>
            <a:prstGeom prst="rect">
              <a:avLst/>
            </a:prstGeom>
            <a:pattFill prst="dkDnDiag">
              <a:fgClr>
                <a:srgbClr val="FFFF00"/>
              </a:fgClr>
              <a:bgClr>
                <a:schemeClr val="tx1"/>
              </a:bgClr>
            </a:patt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p>
              <a:pPr>
                <a:buClrTx/>
                <a:buFontTx/>
              </a:pPr>
              <a:endParaRPr lang="zh-CN" altLang="en-US" b="1" dirty="0"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48169" name="Text Box 43"/>
            <p:cNvSpPr txBox="1"/>
            <p:nvPr/>
          </p:nvSpPr>
          <p:spPr>
            <a:xfrm>
              <a:off x="624" y="2736"/>
              <a:ext cx="1152" cy="290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 anchorCtr="0">
              <a:spAutoFit/>
            </a:bodyPr>
            <a:p>
              <a:pPr algn="r">
                <a:spcBef>
                  <a:spcPct val="50000"/>
                </a:spcBef>
                <a:buClrTx/>
                <a:buFontTx/>
              </a:pPr>
              <a:r>
                <a:rPr lang="en-US" altLang="zh-CN" b="1" dirty="0">
                  <a:solidFill>
                    <a:srgbClr val="0000FF"/>
                  </a:solidFill>
                  <a:latin typeface="Tahoma" panose="020B0604030504040204" pitchFamily="34" charset="0"/>
                </a:rPr>
                <a:t>3~5</a:t>
              </a:r>
              <a:r>
                <a:rPr lang="zh-CN" altLang="en-US" b="1" dirty="0">
                  <a:solidFill>
                    <a:srgbClr val="0000FF"/>
                  </a:solidFill>
                  <a:latin typeface="Tahoma" panose="020B0604030504040204" pitchFamily="34" charset="0"/>
                  <a:ea typeface="宋体" panose="02010600030101010101" pitchFamily="2" charset="-122"/>
                </a:rPr>
                <a:t>字节</a:t>
              </a:r>
              <a:endPara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endParaRPr>
            </a:p>
          </p:txBody>
        </p:sp>
      </p:grpSp>
      <p:sp>
        <p:nvSpPr>
          <p:cNvPr id="170030" name="Rectangle 46"/>
          <p:cNvSpPr/>
          <p:nvPr/>
        </p:nvSpPr>
        <p:spPr>
          <a:xfrm>
            <a:off x="1339850" y="5530850"/>
            <a:ext cx="1508125" cy="460375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>
            <a:spAutoFit/>
          </a:bodyPr>
          <a:p>
            <a:pPr algn="ctr">
              <a:buClrTx/>
              <a:buFontTx/>
            </a:pPr>
            <a:r>
              <a:rPr lang="en-US" altLang="zh-CN" b="1" u="sng" dirty="0">
                <a:latin typeface="Tahoma" panose="020B0604030504040204" pitchFamily="34" charset="0"/>
              </a:rPr>
              <a:t>(CS</a:t>
            </a:r>
            <a:r>
              <a:rPr lang="zh-CN" altLang="en-US" b="1" u="sng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u="sng" dirty="0">
                <a:latin typeface="Tahoma" panose="020B0604030504040204" pitchFamily="34" charset="0"/>
              </a:rPr>
              <a:t>IP)</a:t>
            </a:r>
            <a:endParaRPr lang="en-US" altLang="zh-CN" b="1" u="sng" dirty="0">
              <a:latin typeface="Tahoma" panose="020B0604030504040204" pitchFamily="34" charset="0"/>
            </a:endParaRPr>
          </a:p>
        </p:txBody>
      </p:sp>
      <p:sp>
        <p:nvSpPr>
          <p:cNvPr id="48171" name="Rectangle 79"/>
          <p:cNvSpPr/>
          <p:nvPr>
            <p:custDataLst>
              <p:tags r:id="rId1"/>
            </p:custDataLst>
          </p:nvPr>
        </p:nvSpPr>
        <p:spPr>
          <a:xfrm>
            <a:off x="755650" y="531813"/>
            <a:ext cx="7524750" cy="646112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spcAft>
                <a:spcPts val="1200"/>
              </a:spcAft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 4. 子程序调用和返回指令</a:t>
            </a:r>
            <a:endParaRPr lang="en-US" alt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8172" name="文本框 5"/>
          <p:cNvSpPr txBox="1"/>
          <p:nvPr/>
        </p:nvSpPr>
        <p:spPr>
          <a:xfrm>
            <a:off x="246063" y="1484313"/>
            <a:ext cx="4572000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Tahoma" panose="020B0604030504040204" pitchFamily="34" charset="0"/>
              </a:rPr>
              <a:t>1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）子程序调用指令 CALL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48173" name="文本框 6"/>
          <p:cNvSpPr txBox="1"/>
          <p:nvPr>
            <p:custDataLst>
              <p:tags r:id="rId2"/>
            </p:custDataLst>
          </p:nvPr>
        </p:nvSpPr>
        <p:spPr>
          <a:xfrm>
            <a:off x="246063" y="2708275"/>
            <a:ext cx="4505325" cy="46037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（</a:t>
            </a:r>
            <a:r>
              <a:rPr lang="en-US" altLang="zh-CN" b="1">
                <a:latin typeface="Tahoma" panose="020B0604030504040204" pitchFamily="34" charset="0"/>
              </a:rPr>
              <a:t>2</a:t>
            </a:r>
            <a:r>
              <a:rPr lang="zh-CN" altLang="en-US" b="1">
                <a:latin typeface="Tahoma" panose="020B0604030504040204" pitchFamily="34" charset="0"/>
                <a:ea typeface="宋体" panose="02010600030101010101" pitchFamily="2" charset="-122"/>
              </a:rPr>
              <a:t>）返回指令 RET</a:t>
            </a:r>
            <a:endParaRPr lang="zh-CN" altLang="en-US" b="1"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699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70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699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699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99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169987">
                                            <p:txEl>
                                              <p:charRg st="0" end="2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7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69987">
                                            <p:txEl>
                                              <p:charRg st="25" end="4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699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9987" grpId="0" build="p"/>
      <p:bldP spid="169988" grpId="0"/>
      <p:bldP spid="169989" grpId="0"/>
      <p:bldP spid="169993" grpId="0"/>
      <p:bldP spid="170030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99339" name="Text Box 3"/>
          <p:cNvSpPr txBox="1"/>
          <p:nvPr/>
        </p:nvSpPr>
        <p:spPr>
          <a:xfrm>
            <a:off x="142875" y="357188"/>
            <a:ext cx="8812213" cy="5511800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CC0000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 anchorCtr="0">
            <a:spAutoFit/>
          </a:bodyPr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类别                 指令助记符                              指令功能</a:t>
            </a:r>
            <a:endParaRPr lang="zh-CN" altLang="en-US" b="1" dirty="0">
              <a:solidFill>
                <a:srgbClr val="CC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Aft>
                <a:spcPts val="1200"/>
              </a:spcAft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段内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CALL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近标号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10000"/>
              </a:spcBef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调用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CALL  WORD  PTR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地址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                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段间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</a:t>
            </a:r>
            <a:r>
              <a:rPr lang="en-US" altLang="zh-CN" b="1" dirty="0">
                <a:latin typeface="Tahoma" panose="020B0604030504040204" pitchFamily="34" charset="0"/>
              </a:rPr>
              <a:t>CALL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远标号 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调用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   </a:t>
            </a:r>
            <a:r>
              <a:rPr lang="en-US" altLang="zh-CN" b="1" dirty="0">
                <a:latin typeface="Tahoma" panose="020B0604030504040204" pitchFamily="34" charset="0"/>
              </a:rPr>
              <a:t> CALL DWORD  PTR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地址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 </a:t>
            </a:r>
            <a:r>
              <a:rPr lang="en-US" altLang="zh-CN" b="1" dirty="0">
                <a:latin typeface="Tahoma" panose="020B0604030504040204" pitchFamily="34" charset="0"/>
              </a:rPr>
              <a:t> RET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返回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       </a:t>
            </a:r>
            <a:r>
              <a:rPr lang="en-US" altLang="zh-CN" b="1" dirty="0">
                <a:latin typeface="Tahoma" panose="020B0604030504040204" pitchFamily="34" charset="0"/>
              </a:rPr>
              <a:t>RET</a:t>
            </a: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49155" name="Line 4"/>
          <p:cNvSpPr/>
          <p:nvPr/>
        </p:nvSpPr>
        <p:spPr>
          <a:xfrm>
            <a:off x="142875" y="865188"/>
            <a:ext cx="8812213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6" name="Line 5"/>
          <p:cNvSpPr/>
          <p:nvPr/>
        </p:nvSpPr>
        <p:spPr>
          <a:xfrm flipH="1">
            <a:off x="976313" y="357188"/>
            <a:ext cx="31750" cy="550703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7" name="Line 6"/>
          <p:cNvSpPr/>
          <p:nvPr/>
        </p:nvSpPr>
        <p:spPr>
          <a:xfrm flipH="1">
            <a:off x="4740275" y="357188"/>
            <a:ext cx="46038" cy="550703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8" name="Line 7"/>
          <p:cNvSpPr/>
          <p:nvPr/>
        </p:nvSpPr>
        <p:spPr>
          <a:xfrm flipV="1">
            <a:off x="142875" y="2500313"/>
            <a:ext cx="8812213" cy="793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59" name="Line 8"/>
          <p:cNvSpPr/>
          <p:nvPr/>
        </p:nvSpPr>
        <p:spPr>
          <a:xfrm>
            <a:off x="1008063" y="1663700"/>
            <a:ext cx="7947025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0" name="Line 11"/>
          <p:cNvSpPr/>
          <p:nvPr/>
        </p:nvSpPr>
        <p:spPr>
          <a:xfrm>
            <a:off x="1008063" y="3551238"/>
            <a:ext cx="7947025" cy="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9161" name="Line 14"/>
          <p:cNvSpPr/>
          <p:nvPr/>
        </p:nvSpPr>
        <p:spPr>
          <a:xfrm flipV="1">
            <a:off x="142875" y="4568825"/>
            <a:ext cx="8812213" cy="6350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07539" name="Rectangle 19"/>
          <p:cNvSpPr/>
          <p:nvPr/>
        </p:nvSpPr>
        <p:spPr>
          <a:xfrm>
            <a:off x="4733925" y="927100"/>
            <a:ext cx="4267200" cy="72072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，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 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  <a:p>
            <a:pPr algn="ctr">
              <a:lnSpc>
                <a:spcPct val="80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IP+D16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D16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位移量）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107540" name="Rectangle 20"/>
          <p:cNvSpPr/>
          <p:nvPr/>
        </p:nvSpPr>
        <p:spPr>
          <a:xfrm>
            <a:off x="4837113" y="1784350"/>
            <a:ext cx="4033837" cy="636588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lnSpc>
                <a:spcPct val="65000"/>
              </a:lnSpc>
              <a:spcBef>
                <a:spcPct val="15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，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  <a:p>
            <a:pPr algn="ctr">
              <a:lnSpc>
                <a:spcPct val="65000"/>
              </a:lnSpc>
              <a:spcBef>
                <a:spcPct val="15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 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 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EA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107541" name="Rectangle 21"/>
          <p:cNvSpPr/>
          <p:nvPr/>
        </p:nvSpPr>
        <p:spPr>
          <a:xfrm>
            <a:off x="4770438" y="2720975"/>
            <a:ext cx="4170362" cy="706438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/>
          <a:p>
            <a:pPr algn="ctr">
              <a:lnSpc>
                <a:spcPct val="55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：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4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字节）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  <a:p>
            <a:pPr>
              <a:lnSpc>
                <a:spcPct val="55000"/>
              </a:lnSpc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：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远标号地址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107542" name="Rectangle 22"/>
          <p:cNvSpPr/>
          <p:nvPr/>
        </p:nvSpPr>
        <p:spPr>
          <a:xfrm>
            <a:off x="4764088" y="3748088"/>
            <a:ext cx="4165600" cy="6096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>
              <a:lnSpc>
                <a:spcPct val="45000"/>
              </a:lnSpc>
              <a:spcBef>
                <a:spcPct val="10000"/>
              </a:spcBef>
              <a:buClrTx/>
              <a:buFontTx/>
            </a:pP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 </a:t>
            </a:r>
            <a:r>
              <a:rPr lang="zh-CN" altLang="en-US" b="1" dirty="0">
                <a:solidFill>
                  <a:srgbClr val="CC0000"/>
                </a:solidFill>
                <a:latin typeface="Tahoma" panose="020B0604030504040204" pitchFamily="34" charset="0"/>
                <a:ea typeface="宋体" panose="02010600030101010101" pitchFamily="2" charset="-122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：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，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  <a:p>
            <a:pPr algn="ctr">
              <a:lnSpc>
                <a:spcPct val="45000"/>
              </a:lnSpc>
              <a:spcBef>
                <a:spcPct val="50000"/>
              </a:spcBef>
              <a:buClrTx/>
              <a:buFontTx/>
            </a:pP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 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：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  <a:sym typeface="Monotype Sorts" pitchFamily="2" charset="2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EA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  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4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字节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107543" name="Rectangle 23"/>
          <p:cNvSpPr/>
          <p:nvPr/>
        </p:nvSpPr>
        <p:spPr>
          <a:xfrm>
            <a:off x="4621213" y="4686300"/>
            <a:ext cx="40338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）段内返回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107544" name="Rectangle 24"/>
          <p:cNvSpPr/>
          <p:nvPr/>
        </p:nvSpPr>
        <p:spPr>
          <a:xfrm>
            <a:off x="4643438" y="5429250"/>
            <a:ext cx="4033837" cy="460375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pPr algn="ctr"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CS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： 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IP</a:t>
            </a:r>
            <a:r>
              <a:rPr lang="en-US" altLang="zh-CN" b="1" dirty="0">
                <a:solidFill>
                  <a:srgbClr val="CC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（</a:t>
            </a:r>
            <a:r>
              <a:rPr lang="en-US" altLang="zh-CN" b="1" dirty="0">
                <a:latin typeface="Tahoma" panose="020B0604030504040204" pitchFamily="34" charset="0"/>
                <a:sym typeface="Monotype Sorts" pitchFamily="2" charset="2"/>
              </a:rPr>
              <a:t>SP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  <a:sym typeface="Monotype Sorts" pitchFamily="2" charset="2"/>
              </a:rPr>
              <a:t>）段间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  <a:sym typeface="Monotype Sorts" pitchFamily="2" charset="2"/>
            </a:endParaRPr>
          </a:p>
        </p:txBody>
      </p:sp>
      <p:sp>
        <p:nvSpPr>
          <p:cNvPr id="49168" name="Line 14"/>
          <p:cNvSpPr/>
          <p:nvPr/>
        </p:nvSpPr>
        <p:spPr>
          <a:xfrm flipV="1">
            <a:off x="142875" y="5357813"/>
            <a:ext cx="8812213" cy="7937"/>
          </a:xfrm>
          <a:prstGeom prst="line">
            <a:avLst/>
          </a:prstGeom>
          <a:ln w="9525" cap="flat" cmpd="sng">
            <a:solidFill>
              <a:srgbClr val="CC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9339">
                                            <p:txEl>
                                              <p:charRg st="60" end="7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76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99339">
                                            <p:txEl>
                                              <p:charRg st="76" end="10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07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07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130" end="1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99339">
                                            <p:txEl>
                                              <p:charRg st="130" end="14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147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99339">
                                            <p:txEl>
                                              <p:charRg st="147" end="15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150" end="17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99339">
                                            <p:txEl>
                                              <p:charRg st="150" end="17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07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07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181" end="1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99339">
                                            <p:txEl>
                                              <p:charRg st="181" end="1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1" dur="500"/>
                                        <p:tgtEl>
                                          <p:spTgt spid="107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39">
                                            <p:txEl>
                                              <p:charRg st="196" end="2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99339">
                                            <p:txEl>
                                              <p:charRg st="196" end="2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07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39" grpId="0"/>
      <p:bldP spid="107540" grpId="0"/>
      <p:bldP spid="107541" grpId="0"/>
      <p:bldP spid="107542" grpId="0"/>
      <p:bldP spid="107543" grpId="0"/>
      <p:bldP spid="107544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b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ClrTx/>
              <a:buFontTx/>
            </a:pPr>
            <a:fld id="{9A0DB2DC-4C9A-4742-B13C-FB6460FD3503}" type="slidenum">
              <a:rPr lang="en-US" altLang="zh-CN" sz="1400" dirty="0">
                <a:latin typeface="Tahoma" panose="020B0604030504040204" pitchFamily="34" charset="0"/>
              </a:rPr>
            </a:fld>
            <a:endParaRPr lang="en-US" altLang="zh-CN" sz="1400" dirty="0">
              <a:latin typeface="Tahoma" panose="020B0604030504040204" pitchFamily="34" charset="0"/>
            </a:endParaRPr>
          </a:p>
        </p:txBody>
      </p:sp>
      <p:sp>
        <p:nvSpPr>
          <p:cNvPr id="81922" name="Text Box 2"/>
          <p:cNvSpPr txBox="1"/>
          <p:nvPr/>
        </p:nvSpPr>
        <p:spPr>
          <a:xfrm>
            <a:off x="571500" y="1536700"/>
            <a:ext cx="7537450" cy="2543175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1.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进位清零：</a:t>
            </a:r>
            <a:r>
              <a:rPr lang="en-US" altLang="zh-CN" b="1" dirty="0">
                <a:latin typeface="Tahoma" panose="020B0604030504040204" pitchFamily="34" charset="0"/>
              </a:rPr>
              <a:t>CLC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CF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0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2.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进位取反：</a:t>
            </a:r>
            <a:r>
              <a:rPr lang="en-US" altLang="zh-CN" b="1" dirty="0">
                <a:latin typeface="Tahoma" panose="020B0604030504040204" pitchFamily="34" charset="0"/>
              </a:rPr>
              <a:t>CMC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3.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进位置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：</a:t>
            </a:r>
            <a:r>
              <a:rPr lang="en-US" altLang="zh-CN" b="1" dirty="0">
                <a:latin typeface="Tahoma" panose="020B0604030504040204" pitchFamily="34" charset="0"/>
              </a:rPr>
              <a:t> STC 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</a:t>
            </a:r>
            <a:r>
              <a:rPr lang="en-US" altLang="zh-CN" b="1" dirty="0">
                <a:latin typeface="Tahoma" panose="020B0604030504040204" pitchFamily="34" charset="0"/>
              </a:rPr>
              <a:t>CF</a:t>
            </a:r>
            <a:r>
              <a:rPr lang="en-US" altLang="zh-CN" b="1" dirty="0">
                <a:latin typeface="Tahoma" panose="020B0604030504040204" pitchFamily="34" charset="0"/>
                <a:sym typeface="Symbol" panose="05050102010706020507" pitchFamily="18" charset="2"/>
              </a:rPr>
              <a:t></a:t>
            </a:r>
            <a:r>
              <a:rPr lang="en-US" altLang="zh-CN" b="1" dirty="0">
                <a:latin typeface="Tahoma" panose="020B0604030504040204" pitchFamily="34" charset="0"/>
              </a:rPr>
              <a:t>1</a:t>
            </a:r>
            <a:endParaRPr lang="en-US" altLang="zh-CN" b="1" dirty="0">
              <a:latin typeface="Tahoma" panose="020B0604030504040204" pitchFamily="34" charset="0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4.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空操作： </a:t>
            </a:r>
            <a:r>
              <a:rPr lang="en-US" altLang="zh-CN" b="1" dirty="0">
                <a:latin typeface="Tahoma" panose="020B0604030504040204" pitchFamily="34" charset="0"/>
              </a:rPr>
              <a:t>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 </a:t>
            </a:r>
            <a:r>
              <a:rPr lang="en-US" altLang="zh-CN" b="1" dirty="0">
                <a:latin typeface="Tahoma" panose="020B0604030504040204" pitchFamily="34" charset="0"/>
              </a:rPr>
              <a:t>NOP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；机器码占一个字节单元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r>
              <a:rPr lang="en-US" altLang="zh-CN" b="1" dirty="0">
                <a:latin typeface="Tahoma" panose="020B0604030504040204" pitchFamily="34" charset="0"/>
              </a:rPr>
              <a:t>5.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停机指令：</a:t>
            </a:r>
            <a:r>
              <a:rPr lang="en-US" altLang="zh-CN" b="1" dirty="0">
                <a:latin typeface="Tahoma" panose="020B0604030504040204" pitchFamily="34" charset="0"/>
              </a:rPr>
              <a:t>HLT     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；使</a:t>
            </a:r>
            <a:r>
              <a:rPr lang="en-US" altLang="zh-CN" b="1" dirty="0">
                <a:latin typeface="Tahoma" panose="020B0604030504040204" pitchFamily="34" charset="0"/>
              </a:rPr>
              <a:t>CPU</a:t>
            </a:r>
            <a:r>
              <a:rPr lang="zh-CN" altLang="en-US" b="1" dirty="0">
                <a:latin typeface="Tahoma" panose="020B0604030504040204" pitchFamily="34" charset="0"/>
                <a:ea typeface="宋体" panose="02010600030101010101" pitchFamily="2" charset="-122"/>
              </a:rPr>
              <a:t>处于暂停状态</a:t>
            </a:r>
            <a:endParaRPr lang="zh-CN" altLang="en-US" b="1" dirty="0">
              <a:latin typeface="Tahoma" panose="020B0604030504040204" pitchFamily="34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  <a:spcBef>
                <a:spcPct val="50000"/>
              </a:spcBef>
              <a:buClrTx/>
              <a:buFontTx/>
            </a:pPr>
            <a:endParaRPr lang="en-US" altLang="zh-CN" b="1" dirty="0">
              <a:latin typeface="Tahoma" panose="020B0604030504040204" pitchFamily="34" charset="0"/>
            </a:endParaRPr>
          </a:p>
        </p:txBody>
      </p:sp>
      <p:sp>
        <p:nvSpPr>
          <p:cNvPr id="81927" name="Rectangle 7"/>
          <p:cNvSpPr/>
          <p:nvPr/>
        </p:nvSpPr>
        <p:spPr>
          <a:xfrm>
            <a:off x="571500" y="4006850"/>
            <a:ext cx="8024495" cy="1795780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algn="just">
              <a:lnSpc>
                <a:spcPct val="120000"/>
              </a:lnSpc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HLT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说明：复位或中断操作使其脱离暂停。 汇编语言程序中，不用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HLT</a:t>
            </a:r>
            <a:r>
              <a:rPr lang="zh-CN" altLang="en-US" b="1" dirty="0">
                <a:solidFill>
                  <a:srgbClr val="0000FF"/>
                </a:solidFill>
                <a:latin typeface="Tahoma" panose="020B0604030504040204" pitchFamily="34" charset="0"/>
                <a:ea typeface="宋体" panose="02010600030101010101" pitchFamily="2" charset="-122"/>
              </a:rPr>
              <a:t>结束，要用</a:t>
            </a: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: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MOV  AH,4CH</a:t>
            </a:r>
            <a:endParaRPr lang="en-US" altLang="zh-CN" b="1" dirty="0">
              <a:solidFill>
                <a:srgbClr val="0000FF"/>
              </a:solidFill>
              <a:latin typeface="Tahoma" panose="020B0604030504040204" pitchFamily="34" charset="0"/>
            </a:endParaRPr>
          </a:p>
          <a:p>
            <a:pPr algn="just">
              <a:lnSpc>
                <a:spcPct val="120000"/>
              </a:lnSpc>
              <a:buClrTx/>
              <a:buFontTx/>
            </a:pPr>
            <a:r>
              <a:rPr lang="en-US" altLang="zh-CN" b="1" dirty="0">
                <a:solidFill>
                  <a:srgbClr val="0000FF"/>
                </a:solidFill>
                <a:latin typeface="Tahoma" panose="020B0604030504040204" pitchFamily="34" charset="0"/>
              </a:rPr>
              <a:t>                       INT 21H</a:t>
            </a:r>
            <a:endParaRPr lang="zh-CN" altLang="en-US" b="1" dirty="0">
              <a:solidFill>
                <a:srgbClr val="0000FF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5018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3.4.6 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处理器控制</a:t>
            </a:r>
            <a:r>
              <a:rPr lang="zh-CN" altLang="en-US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宋体" panose="02010600030101010101" pitchFamily="2" charset="-122"/>
              </a:rPr>
              <a:t>指令</a:t>
            </a:r>
            <a:endParaRPr lang="zh-CN" altLang="en-US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1922">
                                            <p:txEl>
                                              <p:charRg st="0" end="2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28" end="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1922">
                                            <p:txEl>
                                              <p:charRg st="28" end="4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47" end="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1922">
                                            <p:txEl>
                                              <p:charRg st="47" end="7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76" end="1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81922">
                                            <p:txEl>
                                              <p:charRg st="76" end="10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2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81922">
                                            <p:txEl>
                                              <p:charRg st="103" end="12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1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922" grpId="0" uiExpand="1" build="p"/>
      <p:bldP spid="81927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/>
      <p:sp>
        <p:nvSpPr>
          <p:cNvPr id="50180" name="矩形 59"/>
          <p:cNvSpPr/>
          <p:nvPr>
            <p:custDataLst>
              <p:tags r:id="rId1"/>
            </p:custDataLst>
          </p:nvPr>
        </p:nvSpPr>
        <p:spPr>
          <a:xfrm>
            <a:off x="822325" y="501650"/>
            <a:ext cx="8029575" cy="723900"/>
          </a:xfrm>
          <a:prstGeom prst="rect">
            <a:avLst/>
          </a:prstGeom>
          <a:noFill/>
          <a:ln w="9525">
            <a:noFill/>
          </a:ln>
        </p:spPr>
        <p:txBody>
          <a:bodyPr wrap="none" anchor="t" anchorCtr="0"/>
          <a:p>
            <a:pPr>
              <a:buClrTx/>
              <a:buFontTx/>
            </a:pPr>
            <a:r>
              <a:rPr lang="en-US" alt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sz="3600" b="1" dirty="0">
                <a:solidFill>
                  <a:srgbClr val="FF000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课后习题</a:t>
            </a:r>
            <a:endParaRPr lang="zh-CN" sz="3600" b="1" dirty="0">
              <a:solidFill>
                <a:srgbClr val="FF0000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750" y="1412875"/>
            <a:ext cx="7924800" cy="36360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 fontAlgn="base">
              <a:lnSpc>
                <a:spcPct val="120000"/>
              </a:lnSpc>
              <a:buClrTx/>
              <a:buFont typeface="Arial" panose="020B0604020202020204" pitchFamily="34" charset="0"/>
            </a:pPr>
            <a:r>
              <a:rPr lang="en-US" altLang="zh-CN" b="1" dirty="0">
                <a:sym typeface="+mn-ea"/>
              </a:rPr>
              <a:t>1</a:t>
            </a:r>
            <a:r>
              <a:rPr lang="zh-CN" altLang="en-US" b="1" dirty="0">
                <a:sym typeface="+mn-ea"/>
              </a:rPr>
              <a:t>）在数据段</a:t>
            </a:r>
            <a:r>
              <a:rPr lang="en-US" altLang="zh-CN" b="1" dirty="0">
                <a:sym typeface="+mn-ea"/>
              </a:rPr>
              <a:t>3000H</a:t>
            </a:r>
            <a:r>
              <a:rPr lang="zh-CN" altLang="en-US" b="1" dirty="0">
                <a:sym typeface="+mn-ea"/>
              </a:rPr>
              <a:t>单元开始存放了数字</a:t>
            </a:r>
            <a:r>
              <a:rPr lang="en-US" altLang="zh-CN" b="1" dirty="0">
                <a:sym typeface="+mn-ea"/>
              </a:rPr>
              <a:t>0~9</a:t>
            </a:r>
            <a:r>
              <a:rPr lang="zh-CN" altLang="en-US" b="1" dirty="0">
                <a:sym typeface="+mn-ea"/>
              </a:rPr>
              <a:t>的</a:t>
            </a:r>
            <a:r>
              <a:rPr lang="en-US" altLang="zh-CN" b="1" dirty="0">
                <a:sym typeface="+mn-ea"/>
              </a:rPr>
              <a:t>ASCII</a:t>
            </a:r>
            <a:r>
              <a:rPr lang="zh-CN" altLang="en-US" b="1" dirty="0">
                <a:sym typeface="+mn-ea"/>
              </a:rPr>
              <a:t>码，求对应的十进制数字并存放到</a:t>
            </a:r>
            <a:r>
              <a:rPr lang="en-US" altLang="zh-CN" b="1" dirty="0">
                <a:sym typeface="+mn-ea"/>
              </a:rPr>
              <a:t>3500H</a:t>
            </a:r>
            <a:r>
              <a:rPr lang="zh-CN" altLang="en-US" b="1" dirty="0">
                <a:sym typeface="+mn-ea"/>
              </a:rPr>
              <a:t>开始的单元；再将</a:t>
            </a:r>
            <a:r>
              <a:rPr lang="en-US" altLang="zh-CN" b="1" dirty="0">
                <a:sym typeface="+mn-ea"/>
              </a:rPr>
              <a:t>3500H</a:t>
            </a:r>
            <a:r>
              <a:rPr lang="zh-CN" altLang="en-US" b="1" dirty="0">
                <a:sym typeface="+mn-ea"/>
              </a:rPr>
              <a:t>开始的十进制数字转换为对应的</a:t>
            </a:r>
            <a:r>
              <a:rPr lang="en-US" altLang="zh-CN" b="1" dirty="0">
                <a:sym typeface="+mn-ea"/>
              </a:rPr>
              <a:t>ASCII</a:t>
            </a:r>
            <a:r>
              <a:rPr lang="zh-CN" altLang="en-US" b="1" dirty="0">
                <a:sym typeface="+mn-ea"/>
              </a:rPr>
              <a:t>码，存放到</a:t>
            </a:r>
            <a:r>
              <a:rPr lang="en-US" altLang="zh-CN" b="1" dirty="0">
                <a:sym typeface="+mn-ea"/>
              </a:rPr>
              <a:t>3800H</a:t>
            </a:r>
            <a:r>
              <a:rPr lang="zh-CN" altLang="en-US" b="1" dirty="0">
                <a:sym typeface="+mn-ea"/>
              </a:rPr>
              <a:t>开始单元。</a:t>
            </a:r>
            <a:endParaRPr lang="zh-CN" altLang="en-US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ym typeface="+mn-ea"/>
              </a:rPr>
              <a:t>2</a:t>
            </a:r>
            <a:r>
              <a:rPr lang="zh-CN" altLang="en-US" b="1" dirty="0">
                <a:sym typeface="+mn-ea"/>
              </a:rPr>
              <a:t>）将数据段</a:t>
            </a:r>
            <a:r>
              <a:rPr lang="en-US" altLang="zh-CN" b="1" dirty="0">
                <a:sym typeface="+mn-ea"/>
              </a:rPr>
              <a:t>2000H</a:t>
            </a:r>
            <a:r>
              <a:rPr lang="zh-CN" altLang="en-US" b="1" dirty="0">
                <a:sym typeface="+mn-ea"/>
              </a:rPr>
              <a:t>单元开始存放的</a:t>
            </a:r>
            <a:r>
              <a:rPr lang="en-US" altLang="zh-CN" b="1" dirty="0">
                <a:sym typeface="+mn-ea"/>
              </a:rPr>
              <a:t>10</a:t>
            </a:r>
            <a:r>
              <a:rPr lang="zh-CN" altLang="en-US" b="1" dirty="0">
                <a:sym typeface="+mn-ea"/>
              </a:rPr>
              <a:t>个数（</a:t>
            </a:r>
            <a:r>
              <a:rPr lang="en-US" altLang="zh-CN" b="1" dirty="0">
                <a:sym typeface="+mn-ea"/>
              </a:rPr>
              <a:t>8</a:t>
            </a:r>
            <a:r>
              <a:rPr lang="zh-CN" altLang="en-US" b="1" dirty="0">
                <a:sym typeface="+mn-ea"/>
              </a:rPr>
              <a:t>位数）传送到</a:t>
            </a:r>
            <a:r>
              <a:rPr lang="en-US" altLang="zh-CN" b="1" dirty="0">
                <a:sym typeface="+mn-ea"/>
              </a:rPr>
              <a:t>3000H</a:t>
            </a:r>
            <a:r>
              <a:rPr lang="zh-CN" altLang="en-US" b="1" dirty="0">
                <a:sym typeface="+mn-ea"/>
              </a:rPr>
              <a:t>开始的</a:t>
            </a:r>
            <a:r>
              <a:rPr lang="en-US" altLang="zh-CN" b="1" dirty="0">
                <a:sym typeface="+mn-ea"/>
              </a:rPr>
              <a:t>10</a:t>
            </a:r>
            <a:r>
              <a:rPr lang="zh-CN" altLang="en-US" b="1" dirty="0">
                <a:sym typeface="+mn-ea"/>
              </a:rPr>
              <a:t>个字节中，</a:t>
            </a:r>
            <a:r>
              <a:rPr lang="zh-CN" b="1" dirty="0">
                <a:sym typeface="+mn-ea"/>
              </a:rPr>
              <a:t>采用两种方法实现</a:t>
            </a:r>
            <a:r>
              <a:rPr lang="zh-CN" altLang="en-US" b="1" dirty="0">
                <a:sym typeface="+mn-ea"/>
              </a:rPr>
              <a:t>。</a:t>
            </a:r>
            <a:endParaRPr lang="zh-CN" altLang="en-US" b="1" dirty="0">
              <a:sym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b="1" dirty="0">
                <a:sym typeface="+mn-ea"/>
              </a:rPr>
              <a:t>3</a:t>
            </a:r>
            <a:r>
              <a:rPr lang="zh-CN" altLang="en-US" b="1" dirty="0">
                <a:sym typeface="+mn-ea"/>
              </a:rPr>
              <a:t>）计算</a:t>
            </a:r>
            <a:endParaRPr lang="zh-CN" altLang="en-US" b="1" dirty="0">
              <a:sym typeface="+mn-ea"/>
            </a:endParaRPr>
          </a:p>
          <a:p>
            <a:pPr>
              <a:lnSpc>
                <a:spcPct val="120000"/>
              </a:lnSpc>
            </a:pPr>
            <a:endParaRPr lang="zh-CN" altLang="en-US" b="1" dirty="0"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395" y="4077335"/>
            <a:ext cx="2580005" cy="1022985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539750" y="5013960"/>
            <a:ext cx="8051800" cy="1863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just">
              <a:lnSpc>
                <a:spcPct val="120000"/>
              </a:lnSpc>
            </a:pPr>
            <a:r>
              <a:rPr lang="zh-CN" b="1" dirty="0">
                <a:sym typeface="+mn-ea"/>
              </a:rPr>
              <a:t>要求：</a:t>
            </a:r>
            <a:r>
              <a:rPr lang="en-US" altLang="zh-CN" b="1" dirty="0">
                <a:sym typeface="+mn-ea"/>
              </a:rPr>
              <a:t>(1)</a:t>
            </a:r>
            <a:r>
              <a:rPr lang="zh-CN" altLang="en-US" b="1" dirty="0">
                <a:sym typeface="+mn-ea"/>
              </a:rPr>
              <a:t>给出正确的源程序截图；</a:t>
            </a:r>
            <a:r>
              <a:rPr lang="en-US" altLang="zh-CN" b="1" dirty="0">
                <a:sym typeface="+mn-ea"/>
              </a:rPr>
              <a:t>(2)</a:t>
            </a:r>
            <a:r>
              <a:rPr lang="zh-CN" altLang="en-US" b="1" dirty="0">
                <a:sym typeface="+mn-ea"/>
              </a:rPr>
              <a:t>给出运行前相关存储单元数据截图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ym typeface="+mn-ea"/>
              </a:rPr>
              <a:t>用红框标出，并文字说明</a:t>
            </a:r>
            <a:r>
              <a:rPr lang="en-US" altLang="zh-CN" b="1" dirty="0">
                <a:sym typeface="+mn-ea"/>
              </a:rPr>
              <a:t>)</a:t>
            </a:r>
            <a:r>
              <a:rPr lang="zh-CN" altLang="en-US" b="1" dirty="0">
                <a:sym typeface="+mn-ea"/>
              </a:rPr>
              <a:t>；</a:t>
            </a:r>
            <a:r>
              <a:rPr lang="en-US" altLang="zh-CN" b="1" dirty="0">
                <a:sym typeface="+mn-ea"/>
              </a:rPr>
              <a:t>(3)</a:t>
            </a:r>
            <a:r>
              <a:rPr lang="zh-CN" altLang="en-US" b="1" dirty="0">
                <a:sym typeface="+mn-ea"/>
              </a:rPr>
              <a:t>给出运行程序命令；</a:t>
            </a:r>
            <a:r>
              <a:rPr lang="en-US" altLang="zh-CN" b="1" dirty="0">
                <a:sym typeface="+mn-ea"/>
              </a:rPr>
              <a:t>(4)</a:t>
            </a:r>
            <a:r>
              <a:rPr lang="zh-CN" altLang="en-US" b="1" dirty="0">
                <a:sym typeface="+mn-ea"/>
              </a:rPr>
              <a:t>给出运行后存储单元数据截图</a:t>
            </a:r>
            <a:r>
              <a:rPr lang="en-US" altLang="zh-CN" b="1" dirty="0">
                <a:sym typeface="+mn-ea"/>
              </a:rPr>
              <a:t>(</a:t>
            </a:r>
            <a:r>
              <a:rPr lang="zh-CN" altLang="en-US" b="1" dirty="0">
                <a:sym typeface="+mn-ea"/>
              </a:rPr>
              <a:t>用红框标出，并文字说明</a:t>
            </a:r>
            <a:r>
              <a:rPr lang="en-US" altLang="zh-CN" b="1" dirty="0">
                <a:sym typeface="+mn-ea"/>
              </a:rPr>
              <a:t>)</a:t>
            </a:r>
            <a:endParaRPr lang="en-US" altLang="zh-CN" b="1" dirty="0">
              <a:sym typeface="+mn-ea"/>
            </a:endParaRPr>
          </a:p>
        </p:txBody>
      </p:sp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UNIT_PLACING_PICTURE_USER_VIEWPORT" val="{&quot;height&quot;:10812.499212598424,&quot;width&quot;:7650}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commondata" val="eyJoZGlkIjoiNGNiMWI2MjUxYmM1ZWM5YzFjOGE2MWRjMWE5MWY1N2Q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anose="020B0604030504040204" pitchFamily="34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Blends 2">
    <a:dk1>
      <a:srgbClr val="000000"/>
    </a:dk1>
    <a:lt1>
      <a:srgbClr val="FFFFFF"/>
    </a:lt1>
    <a:dk2>
      <a:srgbClr val="333399"/>
    </a:dk2>
    <a:lt2>
      <a:srgbClr val="1C1C1C"/>
    </a:lt2>
    <a:accent1>
      <a:srgbClr val="00E4A8"/>
    </a:accent1>
    <a:accent2>
      <a:srgbClr val="FFCF01"/>
    </a:accent2>
    <a:accent3>
      <a:srgbClr val="FFFFFF"/>
    </a:accent3>
    <a:accent4>
      <a:srgbClr val="000000"/>
    </a:accent4>
    <a:accent5>
      <a:srgbClr val="AAEFD1"/>
    </a:accent5>
    <a:accent6>
      <a:srgbClr val="E7BB01"/>
    </a:accent6>
    <a:hlink>
      <a:srgbClr val="FF0000"/>
    </a:hlink>
    <a:folHlink>
      <a:srgbClr val="3333C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8385</Words>
  <Application>WPS 演示</Application>
  <PresentationFormat>全屏显示(4:3)</PresentationFormat>
  <Paragraphs>925</Paragraphs>
  <Slides>43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43</vt:i4>
      </vt:variant>
    </vt:vector>
  </HeadingPairs>
  <TitlesOfParts>
    <vt:vector size="61" baseType="lpstr">
      <vt:lpstr>Arial</vt:lpstr>
      <vt:lpstr>宋体</vt:lpstr>
      <vt:lpstr>Wingdings</vt:lpstr>
      <vt:lpstr>Tahoma</vt:lpstr>
      <vt:lpstr>华文新魏</vt:lpstr>
      <vt:lpstr>Symbol</vt:lpstr>
      <vt:lpstr>微软雅黑</vt:lpstr>
      <vt:lpstr>Arial Unicode MS</vt:lpstr>
      <vt:lpstr>Calibri</vt:lpstr>
      <vt:lpstr>Times New Roman</vt:lpstr>
      <vt:lpstr>隶书</vt:lpstr>
      <vt:lpstr>楷体_GB2312</vt:lpstr>
      <vt:lpstr>新宋体</vt:lpstr>
      <vt:lpstr>Monotype Sorts</vt:lpstr>
      <vt:lpstr>Wingdings</vt:lpstr>
      <vt:lpstr>Blends</vt:lpstr>
      <vt:lpstr>1_Blends</vt:lpstr>
      <vt:lpstr>2_Blends</vt:lpstr>
      <vt:lpstr>第3章 指令系统及汇编语言程序设计-3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习题1-3： 将习题1-1：将数据段2000H单元开始存放的10个数（8位数）传送到3000H开始的10个字节中，要求使用REP MOVSB语句完成。</vt:lpstr>
      <vt:lpstr>PowerPoint 演示文稿</vt:lpstr>
      <vt:lpstr>习题1-3： 将习题1-1：将数据段2000H单元开始存放的10个数（8位数）传送到3000H开始的10个字节中，要求使用REP MOVSB语句完成。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	习题7-1.  	分别在FARD1和FARD2单元开始存放了10个字节数据，           编程比较是否一致（数据自己定义）。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清华大学计算机系微机组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戴梅萼</dc:creator>
  <cp:lastModifiedBy>曹锦纲</cp:lastModifiedBy>
  <cp:revision>604</cp:revision>
  <dcterms:created xsi:type="dcterms:W3CDTF">2003-08-15T08:41:00Z</dcterms:created>
  <dcterms:modified xsi:type="dcterms:W3CDTF">2025-10-19T13:02:05Z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CAA9E6B5DA6B4F89BFEEDC4A366ED906_13</vt:lpwstr>
  </property>
  <property fmtid="{D5CDD505-2E9C-101B-9397-08002B2CF9AE}" pid="3" name="KSOProductBuildVer">
    <vt:lpwstr>2052-12.1.0.22529</vt:lpwstr>
  </property>
</Properties>
</file>