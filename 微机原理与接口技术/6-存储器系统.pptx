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notesMasterIdLst>
    <p:notesMasterId r:id="rId8"/>
  </p:notesMasterIdLst>
  <p:sldIdLst>
    <p:sldId id="268" r:id="rId5"/>
    <p:sldId id="698" r:id="rId6"/>
    <p:sldId id="699" r:id="rId7"/>
    <p:sldId id="571" r:id="rId9"/>
    <p:sldId id="700" r:id="rId10"/>
    <p:sldId id="701" r:id="rId11"/>
    <p:sldId id="702" r:id="rId12"/>
    <p:sldId id="703" r:id="rId13"/>
    <p:sldId id="572" r:id="rId14"/>
    <p:sldId id="704" r:id="rId15"/>
    <p:sldId id="705" r:id="rId16"/>
    <p:sldId id="706" r:id="rId17"/>
    <p:sldId id="707" r:id="rId18"/>
    <p:sldId id="708" r:id="rId19"/>
    <p:sldId id="745" r:id="rId20"/>
    <p:sldId id="746" r:id="rId21"/>
    <p:sldId id="748" r:id="rId22"/>
    <p:sldId id="747" r:id="rId23"/>
    <p:sldId id="749" r:id="rId24"/>
    <p:sldId id="750" r:id="rId25"/>
    <p:sldId id="751" r:id="rId26"/>
    <p:sldId id="604" r:id="rId27"/>
    <p:sldId id="638" r:id="rId28"/>
    <p:sldId id="752" r:id="rId29"/>
    <p:sldId id="605" r:id="rId30"/>
    <p:sldId id="754" r:id="rId31"/>
    <p:sldId id="606" r:id="rId32"/>
    <p:sldId id="607" r:id="rId33"/>
    <p:sldId id="609" r:id="rId34"/>
    <p:sldId id="610" r:id="rId35"/>
    <p:sldId id="611" r:id="rId36"/>
    <p:sldId id="612" r:id="rId37"/>
    <p:sldId id="616" r:id="rId38"/>
    <p:sldId id="755" r:id="rId39"/>
    <p:sldId id="636" r:id="rId40"/>
    <p:sldId id="637" r:id="rId41"/>
    <p:sldId id="618" r:id="rId42"/>
    <p:sldId id="756" r:id="rId43"/>
    <p:sldId id="620" r:id="rId44"/>
    <p:sldId id="668" r:id="rId45"/>
    <p:sldId id="622" r:id="rId46"/>
    <p:sldId id="623" r:id="rId47"/>
    <p:sldId id="624" r:id="rId48"/>
    <p:sldId id="625" r:id="rId49"/>
    <p:sldId id="626" r:id="rId50"/>
    <p:sldId id="692" r:id="rId51"/>
    <p:sldId id="695" r:id="rId52"/>
    <p:sldId id="696" r:id="rId53"/>
    <p:sldId id="627" r:id="rId54"/>
  </p:sldIdLst>
  <p:sldSz cx="9144000" cy="6858000" type="screen4x3"/>
  <p:notesSz cx="6858000" cy="9144000"/>
  <p:custDataLst>
    <p:tags r:id="rId58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0" userDrawn="1">
          <p15:clr>
            <a:srgbClr val="A4A3A4"/>
          </p15:clr>
        </p15:guide>
        <p15:guide id="2" pos="28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00FF"/>
    <a:srgbClr val="9130B4"/>
    <a:srgbClr val="FFFFCC"/>
    <a:srgbClr val="0033CC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21102"/>
    <p:restoredTop sz="84972"/>
  </p:normalViewPr>
  <p:slideViewPr>
    <p:cSldViewPr showGuides="1">
      <p:cViewPr>
        <p:scale>
          <a:sx n="67" d="100"/>
          <a:sy n="67" d="100"/>
        </p:scale>
        <p:origin x="-1248" y="-186"/>
      </p:cViewPr>
      <p:guideLst>
        <p:guide orient="horz" pos="2250"/>
        <p:guide pos="28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5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8" Type="http://schemas.openxmlformats.org/officeDocument/2006/relationships/tags" Target="tags/tag176.xml"/><Relationship Id="rId57" Type="http://schemas.openxmlformats.org/officeDocument/2006/relationships/tableStyles" Target="tableStyles.xml"/><Relationship Id="rId56" Type="http://schemas.openxmlformats.org/officeDocument/2006/relationships/viewProps" Target="viewProps.xml"/><Relationship Id="rId55" Type="http://schemas.openxmlformats.org/officeDocument/2006/relationships/presProps" Target="presProps.xml"/><Relationship Id="rId54" Type="http://schemas.openxmlformats.org/officeDocument/2006/relationships/slide" Target="slides/slide49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" Type="http://schemas.openxmlformats.org/officeDocument/2006/relationships/slide" Target="slides/slide1.xml"/><Relationship Id="rId49" Type="http://schemas.openxmlformats.org/officeDocument/2006/relationships/slide" Target="slides/slide4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977132-E679-4098-84F4-B443F4F1BE82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221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p>
            <a:pPr lvl="0" algn="r" eaLnBrk="1" fontAlgn="base" hangingPunct="1">
              <a:buNone/>
            </a:pPr>
            <a:fld id="{9A0DB2DC-4C9A-4742-B13C-FB6460FD3503}" type="slidenum">
              <a:rPr lang="zh-CN" altLang="en-US" sz="1200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12290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2291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>
                <a:ea typeface="宋体" panose="02010600030101010101" pitchFamily="2" charset="-122"/>
              </a:rPr>
              <a:t>按存取方式分类</a:t>
            </a:r>
            <a:endParaRPr lang="zh-CN" altLang="en-US" dirty="0">
              <a:ea typeface="宋体" panose="02010600030101010101" pitchFamily="2" charset="-122"/>
            </a:endParaRPr>
          </a:p>
          <a:p>
            <a:pPr lvl="0"/>
            <a:r>
              <a:rPr lang="zh-CN" altLang="en-US" dirty="0">
                <a:ea typeface="宋体" panose="02010600030101010101" pitchFamily="2" charset="-122"/>
              </a:rPr>
              <a:t>可编程</a:t>
            </a:r>
            <a:r>
              <a:rPr lang="en-US" altLang="zh-CN" dirty="0">
                <a:ea typeface="宋体" panose="02010600030101010101" pitchFamily="2" charset="-122"/>
              </a:rPr>
              <a:t>ROM</a:t>
            </a:r>
            <a:r>
              <a:rPr lang="zh-CN" altLang="en-US" dirty="0">
                <a:ea typeface="宋体" panose="02010600030101010101" pitchFamily="2" charset="-122"/>
              </a:rPr>
              <a:t>，熔丝烧断表示</a:t>
            </a:r>
            <a:r>
              <a:rPr lang="en-US" altLang="zh-CN" dirty="0">
                <a:ea typeface="宋体" panose="02010600030101010101" pitchFamily="2" charset="-122"/>
              </a:rPr>
              <a:t>0</a:t>
            </a:r>
            <a:r>
              <a:rPr lang="zh-CN" altLang="en-US" dirty="0">
                <a:ea typeface="宋体" panose="02010600030101010101" pitchFamily="2" charset="-122"/>
              </a:rPr>
              <a:t>，熔丝接通表示</a:t>
            </a:r>
            <a:r>
              <a:rPr lang="en-US" altLang="zh-CN" dirty="0">
                <a:ea typeface="宋体" panose="02010600030101010101" pitchFamily="2" charset="-122"/>
              </a:rPr>
              <a:t>1</a:t>
            </a:r>
            <a:r>
              <a:rPr lang="zh-CN" altLang="en-US" dirty="0">
                <a:ea typeface="宋体" panose="02010600030101010101" pitchFamily="2" charset="-122"/>
              </a:rPr>
              <a:t>，是一次性的</a:t>
            </a:r>
            <a:endParaRPr lang="zh-CN" altLang="en-US" dirty="0">
              <a:ea typeface="宋体" panose="02010600030101010101" pitchFamily="2" charset="-122"/>
            </a:endParaRPr>
          </a:p>
          <a:p>
            <a:pPr lvl="0"/>
            <a:r>
              <a:rPr lang="en-US" altLang="zh-CN" dirty="0">
                <a:ea typeface="宋体" panose="02010600030101010101" pitchFamily="2" charset="-122"/>
              </a:rPr>
              <a:t>PROM</a:t>
            </a:r>
            <a:r>
              <a:rPr lang="zh-CN" altLang="en-US" dirty="0">
                <a:ea typeface="宋体" panose="02010600030101010101" pitchFamily="2" charset="-122"/>
              </a:rPr>
              <a:t>，写入信息在专业编程器上实现，紫外线照射恢复初始状态</a:t>
            </a:r>
            <a:endParaRPr lang="zh-CN" altLang="en-US" dirty="0">
              <a:ea typeface="宋体" panose="02010600030101010101" pitchFamily="2" charset="-122"/>
            </a:endParaRPr>
          </a:p>
          <a:p>
            <a:pPr lvl="0"/>
            <a:r>
              <a:rPr lang="en-US" altLang="zh-CN" dirty="0">
                <a:ea typeface="宋体" panose="02010600030101010101" pitchFamily="2" charset="-122"/>
              </a:rPr>
              <a:t>e2PROM</a:t>
            </a:r>
            <a:r>
              <a:rPr lang="zh-CN" altLang="en-US" dirty="0">
                <a:ea typeface="宋体" panose="02010600030101010101" pitchFamily="2" charset="-122"/>
              </a:rPr>
              <a:t>，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r>
              <a:rPr lang="zh-CN" altLang="en-US"/>
              <a:t>考虑容量的大小、包括哪些区域如</a:t>
            </a:r>
            <a:r>
              <a:rPr lang="en-US" altLang="zh-CN"/>
              <a:t>ROM</a:t>
            </a:r>
            <a:r>
              <a:rPr lang="zh-CN" altLang="en-US"/>
              <a:t>、</a:t>
            </a:r>
            <a:r>
              <a:rPr lang="en-US" altLang="zh-CN"/>
              <a:t>RAM</a:t>
            </a:r>
            <a:r>
              <a:rPr lang="zh-CN" altLang="en-US"/>
              <a:t>区，各区中存放哪些数据，这是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sym typeface="+mn-ea"/>
              </a:rPr>
              <a:t>系统内存的配置要考虑的问题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r>
              <a:rPr lang="zh-CN" altLang="en-US"/>
              <a:t>分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r>
              <a:rPr lang="zh-CN" altLang="en-US"/>
              <a:t>CPU要实现对存储单元的访问，首先要选择存储器芯片（片选），然后再从选中的芯片中根据输入的地址来选择相应的存储单元（片内寻址）进行数据读/写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r>
              <a:rPr lang="zh-CN" altLang="en-US"/>
              <a:t>片选译码方式是什么？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</a:ln>
        </p:spPr>
      </p:sp>
      <p:sp>
        <p:nvSpPr>
          <p:cNvPr id="49154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sym typeface="+mn-ea"/>
              </a:rPr>
              <a:t>第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  <a:sym typeface="+mn-ea"/>
              </a:rPr>
              <a:t>2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sym typeface="+mn-ea"/>
              </a:rPr>
              <a:t>步：为每片芯片分配地址范围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4915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123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5126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24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algn="r" fontAlgn="base">
              <a:buNone/>
            </a:pPr>
            <a:fld id="{9A0DB2DC-4C9A-4742-B13C-FB6460FD3503}" type="slidenum">
              <a:rPr lang="zh-CN" altLang="en-US" strike="noStrike" noProof="1" dirty="0">
                <a:solidFill>
                  <a:schemeClr val="bg2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1412875"/>
            <a:ext cx="3810000" cy="4719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1412875"/>
            <a:ext cx="3810000" cy="4719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44450"/>
            <a:ext cx="1951038" cy="6088063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44450"/>
            <a:ext cx="5700712" cy="6088063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6147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6150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24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algn="r" fontAlgn="base">
              <a:buNone/>
            </a:pPr>
            <a:fld id="{9A0DB2DC-4C9A-4742-B13C-FB6460FD3503}" type="slidenum">
              <a:rPr lang="zh-CN" altLang="en-US" strike="noStrike" noProof="1" dirty="0">
                <a:solidFill>
                  <a:schemeClr val="bg2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1412875"/>
            <a:ext cx="3810000" cy="4719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1412875"/>
            <a:ext cx="3810000" cy="4719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44450"/>
            <a:ext cx="1951038" cy="6088063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44450"/>
            <a:ext cx="5700712" cy="6088063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7171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7174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24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algn="r" fontAlgn="base">
              <a:buNone/>
            </a:pPr>
            <a:fld id="{9A0DB2DC-4C9A-4742-B13C-FB6460FD3503}" type="slidenum">
              <a:rPr lang="zh-CN" altLang="en-US" strike="noStrike" noProof="1" dirty="0">
                <a:solidFill>
                  <a:schemeClr val="bg2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1412875"/>
            <a:ext cx="3810000" cy="4719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1412875"/>
            <a:ext cx="3810000" cy="4719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44450"/>
            <a:ext cx="1951038" cy="6088063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44450"/>
            <a:ext cx="5700712" cy="6088063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525463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525463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947738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947738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87471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417513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20808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9"/>
          <p:cNvSpPr>
            <a:spLocks noGrp="1"/>
          </p:cNvSpPr>
          <p:nvPr>
            <p:ph type="title"/>
          </p:nvPr>
        </p:nvSpPr>
        <p:spPr>
          <a:xfrm>
            <a:off x="1150938" y="44450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4" name="Rectangle 10"/>
          <p:cNvSpPr>
            <a:spLocks noGrp="1"/>
          </p:cNvSpPr>
          <p:nvPr>
            <p:ph type="body"/>
          </p:nvPr>
        </p:nvSpPr>
        <p:spPr>
          <a:xfrm>
            <a:off x="1182688" y="1412875"/>
            <a:ext cx="7772400" cy="47196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452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2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kumimoji="0"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/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525463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525463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947738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947738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87471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417513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20808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7" name="Rectangle 9"/>
          <p:cNvSpPr>
            <a:spLocks noGrp="1"/>
          </p:cNvSpPr>
          <p:nvPr>
            <p:ph type="title"/>
          </p:nvPr>
        </p:nvSpPr>
        <p:spPr>
          <a:xfrm>
            <a:off x="1150938" y="44450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8" name="Rectangle 10"/>
          <p:cNvSpPr>
            <a:spLocks noGrp="1"/>
          </p:cNvSpPr>
          <p:nvPr>
            <p:ph type="body"/>
          </p:nvPr>
        </p:nvSpPr>
        <p:spPr>
          <a:xfrm>
            <a:off x="1182688" y="1412875"/>
            <a:ext cx="7772400" cy="47196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452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2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kumimoji="0"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/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525463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525463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947738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947738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87471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417513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20808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1" name="Rectangle 9"/>
          <p:cNvSpPr>
            <a:spLocks noGrp="1"/>
          </p:cNvSpPr>
          <p:nvPr>
            <p:ph type="title"/>
          </p:nvPr>
        </p:nvSpPr>
        <p:spPr>
          <a:xfrm>
            <a:off x="1150938" y="44450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082" name="Rectangle 10"/>
          <p:cNvSpPr>
            <a:spLocks noGrp="1"/>
          </p:cNvSpPr>
          <p:nvPr>
            <p:ph type="body"/>
          </p:nvPr>
        </p:nvSpPr>
        <p:spPr>
          <a:xfrm>
            <a:off x="1182688" y="1412875"/>
            <a:ext cx="7772400" cy="47196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452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2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kumimoji="0"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/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.xml"/><Relationship Id="rId3" Type="http://schemas.openxmlformats.org/officeDocument/2006/relationships/slide" Target="slide4.xml"/><Relationship Id="rId2" Type="http://schemas.openxmlformats.org/officeDocument/2006/relationships/hyperlink" Target="&#31532;&#20116;&#31456;%20&#23384;&#20648;&#22120;.ppt" TargetMode="External"/><Relationship Id="rId1" Type="http://schemas.openxmlformats.org/officeDocument/2006/relationships/slide" Target="sl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5" Type="http://schemas.openxmlformats.org/officeDocument/2006/relationships/slideLayout" Target="../slideLayouts/slideLayout7.xml"/><Relationship Id="rId24" Type="http://schemas.openxmlformats.org/officeDocument/2006/relationships/tags" Target="../tags/tag31.xml"/><Relationship Id="rId23" Type="http://schemas.openxmlformats.org/officeDocument/2006/relationships/tags" Target="../tags/tag30.xml"/><Relationship Id="rId22" Type="http://schemas.openxmlformats.org/officeDocument/2006/relationships/tags" Target="../tags/tag29.xml"/><Relationship Id="rId21" Type="http://schemas.openxmlformats.org/officeDocument/2006/relationships/tags" Target="../tags/tag28.xml"/><Relationship Id="rId20" Type="http://schemas.openxmlformats.org/officeDocument/2006/relationships/tags" Target="../tags/tag27.xml"/><Relationship Id="rId2" Type="http://schemas.openxmlformats.org/officeDocument/2006/relationships/tags" Target="../tags/tag9.xml"/><Relationship Id="rId19" Type="http://schemas.openxmlformats.org/officeDocument/2006/relationships/tags" Target="../tags/tag26.xml"/><Relationship Id="rId18" Type="http://schemas.openxmlformats.org/officeDocument/2006/relationships/tags" Target="../tags/tag25.xml"/><Relationship Id="rId17" Type="http://schemas.openxmlformats.org/officeDocument/2006/relationships/tags" Target="../tags/tag24.xml"/><Relationship Id="rId16" Type="http://schemas.openxmlformats.org/officeDocument/2006/relationships/tags" Target="../tags/tag23.xml"/><Relationship Id="rId15" Type="http://schemas.openxmlformats.org/officeDocument/2006/relationships/tags" Target="../tags/tag22.xml"/><Relationship Id="rId14" Type="http://schemas.openxmlformats.org/officeDocument/2006/relationships/tags" Target="../tags/tag21.xml"/><Relationship Id="rId13" Type="http://schemas.openxmlformats.org/officeDocument/2006/relationships/tags" Target="../tags/tag20.xml"/><Relationship Id="rId12" Type="http://schemas.openxmlformats.org/officeDocument/2006/relationships/tags" Target="../tags/tag19.xml"/><Relationship Id="rId11" Type="http://schemas.openxmlformats.org/officeDocument/2006/relationships/tags" Target="../tags/tag18.xml"/><Relationship Id="rId10" Type="http://schemas.openxmlformats.org/officeDocument/2006/relationships/tags" Target="../tags/tag17.xml"/><Relationship Id="rId1" Type="http://schemas.openxmlformats.org/officeDocument/2006/relationships/tags" Target="../tags/tag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image" Target="../media/image2.png"/><Relationship Id="rId3" Type="http://schemas.openxmlformats.org/officeDocument/2006/relationships/tags" Target="../tags/tag40.xml"/><Relationship Id="rId2" Type="http://schemas.openxmlformats.org/officeDocument/2006/relationships/image" Target="../media/image1.png"/><Relationship Id="rId1" Type="http://schemas.openxmlformats.org/officeDocument/2006/relationships/tags" Target="../tags/tag3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6.xml"/><Relationship Id="rId1" Type="http://schemas.openxmlformats.org/officeDocument/2006/relationships/tags" Target="../tags/tag4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image" Target="../media/image3.png"/><Relationship Id="rId2" Type="http://schemas.openxmlformats.org/officeDocument/2006/relationships/tags" Target="../tags/tag48.xml"/><Relationship Id="rId1" Type="http://schemas.openxmlformats.org/officeDocument/2006/relationships/tags" Target="../tags/tag4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54.xml"/><Relationship Id="rId1" Type="http://schemas.openxmlformats.org/officeDocument/2006/relationships/tags" Target="../tags/tag5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5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image" Target="../media/image4.png"/><Relationship Id="rId1" Type="http://schemas.openxmlformats.org/officeDocument/2006/relationships/tags" Target="../tags/tag56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jpeg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image" Target="../media/image5.png"/><Relationship Id="rId2" Type="http://schemas.openxmlformats.org/officeDocument/2006/relationships/tags" Target="../tags/tag62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61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75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84.xml"/><Relationship Id="rId8" Type="http://schemas.openxmlformats.org/officeDocument/2006/relationships/tags" Target="../tags/tag83.xml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1" Type="http://schemas.openxmlformats.org/officeDocument/2006/relationships/notesSlide" Target="../notesSlides/notesSlide5.xml"/><Relationship Id="rId30" Type="http://schemas.openxmlformats.org/officeDocument/2006/relationships/slideLayout" Target="../slideLayouts/slideLayout18.xml"/><Relationship Id="rId3" Type="http://schemas.openxmlformats.org/officeDocument/2006/relationships/tags" Target="../tags/tag78.xml"/><Relationship Id="rId29" Type="http://schemas.openxmlformats.org/officeDocument/2006/relationships/tags" Target="../tags/tag104.xml"/><Relationship Id="rId28" Type="http://schemas.openxmlformats.org/officeDocument/2006/relationships/tags" Target="../tags/tag103.xml"/><Relationship Id="rId27" Type="http://schemas.openxmlformats.org/officeDocument/2006/relationships/tags" Target="../tags/tag102.xml"/><Relationship Id="rId26" Type="http://schemas.openxmlformats.org/officeDocument/2006/relationships/tags" Target="../tags/tag101.xml"/><Relationship Id="rId25" Type="http://schemas.openxmlformats.org/officeDocument/2006/relationships/tags" Target="../tags/tag100.xml"/><Relationship Id="rId24" Type="http://schemas.openxmlformats.org/officeDocument/2006/relationships/tags" Target="../tags/tag99.xml"/><Relationship Id="rId23" Type="http://schemas.openxmlformats.org/officeDocument/2006/relationships/tags" Target="../tags/tag98.xml"/><Relationship Id="rId22" Type="http://schemas.openxmlformats.org/officeDocument/2006/relationships/tags" Target="../tags/tag97.xml"/><Relationship Id="rId21" Type="http://schemas.openxmlformats.org/officeDocument/2006/relationships/tags" Target="../tags/tag96.xml"/><Relationship Id="rId20" Type="http://schemas.openxmlformats.org/officeDocument/2006/relationships/tags" Target="../tags/tag95.xml"/><Relationship Id="rId2" Type="http://schemas.openxmlformats.org/officeDocument/2006/relationships/tags" Target="../tags/tag77.xml"/><Relationship Id="rId19" Type="http://schemas.openxmlformats.org/officeDocument/2006/relationships/tags" Target="../tags/tag94.xml"/><Relationship Id="rId18" Type="http://schemas.openxmlformats.org/officeDocument/2006/relationships/tags" Target="../tags/tag93.xml"/><Relationship Id="rId17" Type="http://schemas.openxmlformats.org/officeDocument/2006/relationships/tags" Target="../tags/tag92.xml"/><Relationship Id="rId16" Type="http://schemas.openxmlformats.org/officeDocument/2006/relationships/tags" Target="../tags/tag91.xml"/><Relationship Id="rId15" Type="http://schemas.openxmlformats.org/officeDocument/2006/relationships/tags" Target="../tags/tag90.xml"/><Relationship Id="rId14" Type="http://schemas.openxmlformats.org/officeDocument/2006/relationships/tags" Target="../tags/tag89.xml"/><Relationship Id="rId13" Type="http://schemas.openxmlformats.org/officeDocument/2006/relationships/tags" Target="../tags/tag88.xml"/><Relationship Id="rId12" Type="http://schemas.openxmlformats.org/officeDocument/2006/relationships/tags" Target="../tags/tag87.xml"/><Relationship Id="rId11" Type="http://schemas.openxmlformats.org/officeDocument/2006/relationships/tags" Target="../tags/tag86.xml"/><Relationship Id="rId10" Type="http://schemas.openxmlformats.org/officeDocument/2006/relationships/tags" Target="../tags/tag85.xml"/><Relationship Id="rId1" Type="http://schemas.openxmlformats.org/officeDocument/2006/relationships/tags" Target="../tags/tag7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07.xml"/><Relationship Id="rId1" Type="http://schemas.openxmlformats.org/officeDocument/2006/relationships/tags" Target="../tags/tag10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8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116.xml"/><Relationship Id="rId8" Type="http://schemas.openxmlformats.org/officeDocument/2006/relationships/tags" Target="../tags/tag115.xml"/><Relationship Id="rId7" Type="http://schemas.openxmlformats.org/officeDocument/2006/relationships/tags" Target="../tags/tag114.xml"/><Relationship Id="rId6" Type="http://schemas.openxmlformats.org/officeDocument/2006/relationships/tags" Target="../tags/tag113.xml"/><Relationship Id="rId5" Type="http://schemas.openxmlformats.org/officeDocument/2006/relationships/tags" Target="../tags/tag112.xml"/><Relationship Id="rId4" Type="http://schemas.openxmlformats.org/officeDocument/2006/relationships/tags" Target="../tags/tag111.xml"/><Relationship Id="rId3" Type="http://schemas.openxmlformats.org/officeDocument/2006/relationships/tags" Target="../tags/tag110.xml"/><Relationship Id="rId2" Type="http://schemas.openxmlformats.org/officeDocument/2006/relationships/image" Target="../media/image7.png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tags" Target="../tags/tag118.xml"/><Relationship Id="rId10" Type="http://schemas.openxmlformats.org/officeDocument/2006/relationships/tags" Target="../tags/tag117.xml"/><Relationship Id="rId1" Type="http://schemas.openxmlformats.org/officeDocument/2006/relationships/tags" Target="../tags/tag10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tags" Target="../tags/tag124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136.xml"/><Relationship Id="rId7" Type="http://schemas.openxmlformats.org/officeDocument/2006/relationships/tags" Target="../tags/tag135.xml"/><Relationship Id="rId6" Type="http://schemas.openxmlformats.org/officeDocument/2006/relationships/tags" Target="../tags/tag134.xml"/><Relationship Id="rId5" Type="http://schemas.openxmlformats.org/officeDocument/2006/relationships/tags" Target="../tags/tag133.xml"/><Relationship Id="rId4" Type="http://schemas.openxmlformats.org/officeDocument/2006/relationships/tags" Target="../tags/tag132.xml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0" Type="http://schemas.openxmlformats.org/officeDocument/2006/relationships/notesSlide" Target="../notesSlides/notesSlide9.xml"/><Relationship Id="rId1" Type="http://schemas.openxmlformats.org/officeDocument/2006/relationships/tags" Target="../tags/tag129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tags" Target="../tags/tag145.xml"/><Relationship Id="rId8" Type="http://schemas.openxmlformats.org/officeDocument/2006/relationships/tags" Target="../tags/tag144.xml"/><Relationship Id="rId7" Type="http://schemas.openxmlformats.org/officeDocument/2006/relationships/tags" Target="../tags/tag143.xml"/><Relationship Id="rId6" Type="http://schemas.openxmlformats.org/officeDocument/2006/relationships/tags" Target="../tags/tag142.xml"/><Relationship Id="rId5" Type="http://schemas.openxmlformats.org/officeDocument/2006/relationships/tags" Target="../tags/tag141.xml"/><Relationship Id="rId4" Type="http://schemas.openxmlformats.org/officeDocument/2006/relationships/tags" Target="../tags/tag140.xml"/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151.xml"/><Relationship Id="rId14" Type="http://schemas.openxmlformats.org/officeDocument/2006/relationships/tags" Target="../tags/tag150.xml"/><Relationship Id="rId13" Type="http://schemas.openxmlformats.org/officeDocument/2006/relationships/tags" Target="../tags/tag149.xml"/><Relationship Id="rId12" Type="http://schemas.openxmlformats.org/officeDocument/2006/relationships/tags" Target="../tags/tag148.xml"/><Relationship Id="rId11" Type="http://schemas.openxmlformats.org/officeDocument/2006/relationships/tags" Target="../tags/tag147.xml"/><Relationship Id="rId10" Type="http://schemas.openxmlformats.org/officeDocument/2006/relationships/tags" Target="../tags/tag146.xml"/><Relationship Id="rId1" Type="http://schemas.openxmlformats.org/officeDocument/2006/relationships/tags" Target="../tags/tag137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52.xml"/><Relationship Id="rId1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155.xml"/><Relationship Id="rId1" Type="http://schemas.openxmlformats.org/officeDocument/2006/relationships/tags" Target="../tags/tag15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157.xml"/><Relationship Id="rId1" Type="http://schemas.openxmlformats.org/officeDocument/2006/relationships/tags" Target="../tags/tag15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9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61.xml"/><Relationship Id="rId1" Type="http://schemas.openxmlformats.org/officeDocument/2006/relationships/tags" Target="../tags/tag16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62.xml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165.xml"/><Relationship Id="rId3" Type="http://schemas.openxmlformats.org/officeDocument/2006/relationships/tags" Target="../tags/tag164.xml"/><Relationship Id="rId2" Type="http://schemas.openxmlformats.org/officeDocument/2006/relationships/image" Target="../media/image9.png"/><Relationship Id="rId1" Type="http://schemas.openxmlformats.org/officeDocument/2006/relationships/tags" Target="../tags/tag16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66.xml"/><Relationship Id="rId1" Type="http://schemas.openxmlformats.org/officeDocument/2006/relationships/image" Target="../media/image10.png"/></Relationships>
</file>

<file path=ppt/slides/_rels/slide4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171.xml"/><Relationship Id="rId4" Type="http://schemas.openxmlformats.org/officeDocument/2006/relationships/tags" Target="../tags/tag170.xml"/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" Type="http://schemas.openxmlformats.org/officeDocument/2006/relationships/tags" Target="../tags/tag167.xml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73.xml"/><Relationship Id="rId1" Type="http://schemas.openxmlformats.org/officeDocument/2006/relationships/tags" Target="../tags/tag17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74.xml"/><Relationship Id="rId1" Type="http://schemas.openxmlformats.org/officeDocument/2006/relationships/image" Target="../media/image11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标题 1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endParaRPr lang="zh-CN" altLang="en-US"/>
          </a:p>
        </p:txBody>
      </p:sp>
      <p:sp>
        <p:nvSpPr>
          <p:cNvPr id="10242" name="Rectangle 2"/>
          <p:cNvSpPr>
            <a:spLocks noGrp="1"/>
          </p:cNvSpPr>
          <p:nvPr/>
        </p:nvSpPr>
        <p:spPr>
          <a:xfrm>
            <a:off x="23813" y="44450"/>
            <a:ext cx="9101137" cy="11430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lIns="91440" tIns="45720" rIns="91440" bIns="45720" anchor="b" anchorCtr="0"/>
          <a:p>
            <a:pPr algn="ctr"/>
            <a:r>
              <a:rPr lang="zh-CN" altLang="en-US" sz="4000" dirty="0">
                <a:solidFill>
                  <a:schemeClr val="hlin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lang="en-US" altLang="zh-CN" sz="4000" dirty="0">
                <a:solidFill>
                  <a:schemeClr val="hlin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4000" dirty="0">
                <a:solidFill>
                  <a:schemeClr val="hlin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</a:t>
            </a:r>
            <a:r>
              <a:rPr lang="en-US" altLang="zh-CN" sz="4000" dirty="0">
                <a:solidFill>
                  <a:schemeClr val="hlin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4000" dirty="0">
                <a:solidFill>
                  <a:schemeClr val="hlin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存储器系统</a:t>
            </a:r>
            <a:endParaRPr lang="zh-CN" altLang="en-US" sz="4000" dirty="0">
              <a:solidFill>
                <a:schemeClr val="hlink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243" name="内容占位符 2"/>
          <p:cNvSpPr>
            <a:spLocks noGrp="1"/>
          </p:cNvSpPr>
          <p:nvPr>
            <p:ph idx="1"/>
          </p:nvPr>
        </p:nvSpPr>
        <p:spPr>
          <a:xfrm>
            <a:off x="1182688" y="2058988"/>
            <a:ext cx="7772400" cy="3370262"/>
          </a:xfrm>
        </p:spPr>
        <p:txBody>
          <a:bodyPr anchor="t" anchorCtr="0"/>
          <a:p>
            <a:r>
              <a:rPr lang="en-US" altLang="zh-CN">
                <a:solidFill>
                  <a:srgbClr val="FF0000"/>
                </a:solidFill>
              </a:rPr>
              <a:t>4.1 </a:t>
            </a:r>
            <a:r>
              <a:rPr lang="zh-CN" altLang="en-US">
                <a:solidFill>
                  <a:srgbClr val="FF0000"/>
                </a:solidFill>
              </a:rPr>
              <a:t>存储器系统的基本知识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</a:rPr>
              <a:t>4.2 </a:t>
            </a:r>
            <a:r>
              <a:rPr lang="zh-CN" altLang="en-US">
                <a:solidFill>
                  <a:srgbClr val="FF0000"/>
                </a:solidFill>
              </a:rPr>
              <a:t>存储器系统设计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4.1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存储器系统的基本知识</a:t>
            </a:r>
            <a:endParaRPr lang="zh-CN" altLang="en-US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9750" y="1484630"/>
            <a:ext cx="4572000" cy="497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571500" indent="-571500">
              <a:lnSpc>
                <a:spcPct val="110000"/>
              </a:lnSpc>
            </a:pPr>
            <a:r>
              <a:rPr lang="zh-CN" altLang="en-US" b="1">
                <a:latin typeface="宋体" panose="02010600030101010101" pitchFamily="2" charset="-122"/>
                <a:sym typeface="+mn-ea"/>
              </a:rPr>
              <a:t>按所处的位置分类：</a:t>
            </a:r>
            <a:endParaRPr lang="zh-CN" altLang="en-US" b="1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9750" y="1981835"/>
            <a:ext cx="2611755" cy="497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571500" indent="-5715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b="1">
                <a:latin typeface="宋体" panose="02010600030101010101" pitchFamily="2" charset="-122"/>
                <a:sym typeface="+mn-ea"/>
              </a:rPr>
              <a:t>内存（主存）</a:t>
            </a:r>
            <a:endParaRPr lang="zh-CN" altLang="en-US" b="1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42060" y="2407285"/>
            <a:ext cx="7230745" cy="902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algn="l">
              <a:lnSpc>
                <a:spcPct val="110000"/>
              </a:lnSpc>
              <a:buClrTx/>
              <a:buSzPct val="60000"/>
              <a:buFont typeface="Wingdings" panose="05000000000000000000" charset="0"/>
              <a:buChar char="u"/>
            </a:pPr>
            <a:r>
              <a:rPr lang="zh-CN" altLang="en-US" b="1">
                <a:sym typeface="+mn-ea"/>
              </a:rPr>
              <a:t>由MOS型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半导体存储器</a:t>
            </a:r>
            <a:r>
              <a:rPr lang="zh-CN" altLang="en-US" b="1">
                <a:sym typeface="+mn-ea"/>
              </a:rPr>
              <a:t>组成，用来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存放计算机当前运行的程序和数据</a:t>
            </a:r>
            <a:r>
              <a:rPr lang="zh-CN" altLang="en-US" b="1">
                <a:sym typeface="+mn-ea"/>
              </a:rPr>
              <a:t>，CPU可通过总线直接访问</a:t>
            </a:r>
            <a:endParaRPr lang="zh-CN" altLang="en-US" b="1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39750" y="3845560"/>
            <a:ext cx="2611755" cy="497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571500" indent="-5715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b="1">
                <a:latin typeface="宋体" panose="02010600030101010101" pitchFamily="2" charset="-122"/>
                <a:sym typeface="+mn-ea"/>
              </a:rPr>
              <a:t>外存（辅存）</a:t>
            </a:r>
            <a:endParaRPr lang="zh-CN" altLang="en-US" b="1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41425" y="4365625"/>
            <a:ext cx="649351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algn="l">
              <a:buClrTx/>
              <a:buSzPct val="60000"/>
              <a:buFont typeface="Wingdings" panose="05000000000000000000" charset="0"/>
              <a:buChar char="u"/>
            </a:pPr>
            <a:r>
              <a:rPr lang="zh-CN" altLang="en-US" b="1"/>
              <a:t>可以长期保存程序和数据，但存取速度较慢</a:t>
            </a:r>
            <a:endParaRPr lang="zh-CN" altLang="en-US" b="1"/>
          </a:p>
        </p:txBody>
      </p:sp>
      <p:sp>
        <p:nvSpPr>
          <p:cNvPr id="10" name="文本框 9"/>
          <p:cNvSpPr txBox="1"/>
          <p:nvPr/>
        </p:nvSpPr>
        <p:spPr>
          <a:xfrm>
            <a:off x="1242695" y="3357245"/>
            <a:ext cx="723074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algn="l">
              <a:buClrTx/>
              <a:buSzPct val="60000"/>
              <a:buFont typeface="Wingdings" panose="05000000000000000000" charset="0"/>
              <a:buChar char="u"/>
            </a:pPr>
            <a:r>
              <a:rPr lang="zh-CN" altLang="en-US" b="1"/>
              <a:t>又分为高速缓冲存储器（Cache）和主存储器</a:t>
            </a:r>
            <a:endParaRPr lang="zh-CN" altLang="en-US" b="1"/>
          </a:p>
        </p:txBody>
      </p:sp>
      <p:sp>
        <p:nvSpPr>
          <p:cNvPr id="11" name="文本框 10"/>
          <p:cNvSpPr txBox="1"/>
          <p:nvPr/>
        </p:nvSpPr>
        <p:spPr>
          <a:xfrm>
            <a:off x="539750" y="4878070"/>
            <a:ext cx="7766050" cy="9772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zh-CN" altLang="en-US" b="1"/>
              <a:t>目前微机系统中，</a:t>
            </a:r>
            <a:r>
              <a:rPr lang="zh-CN" altLang="en-US" b="1">
                <a:solidFill>
                  <a:srgbClr val="FF0000"/>
                </a:solidFill>
              </a:rPr>
              <a:t>存储器系统采用外存</a:t>
            </a:r>
            <a:r>
              <a:rPr lang="en-US" altLang="zh-CN" b="1">
                <a:solidFill>
                  <a:srgbClr val="FF0000"/>
                </a:solidFill>
              </a:rPr>
              <a:t>-</a:t>
            </a:r>
            <a:r>
              <a:rPr lang="zh-CN" altLang="en-US" b="1">
                <a:solidFill>
                  <a:srgbClr val="FF0000"/>
                </a:solidFill>
              </a:rPr>
              <a:t>主存</a:t>
            </a:r>
            <a:r>
              <a:rPr lang="en-US" altLang="zh-CN" b="1">
                <a:solidFill>
                  <a:srgbClr val="FF0000"/>
                </a:solidFill>
              </a:rPr>
              <a:t>-Cache</a:t>
            </a:r>
            <a:r>
              <a:rPr lang="zh-CN" altLang="en-US" b="1">
                <a:solidFill>
                  <a:srgbClr val="FF0000"/>
                </a:solidFill>
              </a:rPr>
              <a:t>构成的多层结构</a:t>
            </a:r>
            <a:endParaRPr lang="zh-CN" alt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7" grpId="0"/>
      <p:bldP spid="10" grpId="0"/>
      <p:bldP spid="9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3668" name="Text Box 4"/>
          <p:cNvSpPr txBox="1"/>
          <p:nvPr/>
        </p:nvSpPr>
        <p:spPr>
          <a:xfrm>
            <a:off x="404813" y="2946400"/>
            <a:ext cx="684212" cy="23082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b="1" dirty="0">
                <a:solidFill>
                  <a:schemeClr val="tx1"/>
                </a:solidFill>
                <a:latin typeface="Tahoma" panose="020B0604030504040204" pitchFamily="34" charset="0"/>
              </a:rPr>
              <a:t>半导体存储器</a:t>
            </a:r>
            <a:endParaRPr lang="zh-CN" altLang="en-US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13669" name="AutoShape 5"/>
          <p:cNvSpPr/>
          <p:nvPr/>
        </p:nvSpPr>
        <p:spPr>
          <a:xfrm>
            <a:off x="944563" y="1938338"/>
            <a:ext cx="360362" cy="4321175"/>
          </a:xfrm>
          <a:prstGeom prst="leftBrace">
            <a:avLst>
              <a:gd name="adj1" fmla="val 99704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113670" name="Text Box 6"/>
          <p:cNvSpPr txBox="1"/>
          <p:nvPr/>
        </p:nvSpPr>
        <p:spPr>
          <a:xfrm>
            <a:off x="1308100" y="1866900"/>
            <a:ext cx="3490913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随机读写存储器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RAM</a:t>
            </a:r>
            <a:endParaRPr lang="en-US" altLang="zh-CN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113671" name="Text Box 7"/>
          <p:cNvSpPr txBox="1"/>
          <p:nvPr/>
        </p:nvSpPr>
        <p:spPr>
          <a:xfrm>
            <a:off x="1343025" y="4268788"/>
            <a:ext cx="269875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只读存储器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ROM</a:t>
            </a:r>
            <a:endParaRPr lang="en-US" altLang="zh-CN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113672" name="Text Box 8"/>
          <p:cNvSpPr txBox="1"/>
          <p:nvPr/>
        </p:nvSpPr>
        <p:spPr>
          <a:xfrm>
            <a:off x="1377950" y="2227263"/>
            <a:ext cx="2808288" cy="19380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  <a:buChar char="•"/>
            </a:pPr>
            <a:r>
              <a:rPr lang="zh-CN" altLang="en-US" b="1" dirty="0">
                <a:latin typeface="Tahoma" panose="020B0604030504040204" pitchFamily="34" charset="0"/>
              </a:rPr>
              <a:t>可读、写，存放正在运行程序和数据</a:t>
            </a:r>
            <a:endParaRPr lang="zh-CN" altLang="en-US" b="1" dirty="0">
              <a:latin typeface="Tahoma" panose="020B0604030504040204" pitchFamily="34" charset="0"/>
            </a:endParaRPr>
          </a:p>
          <a:p>
            <a:pPr>
              <a:spcBef>
                <a:spcPct val="50000"/>
              </a:spcBef>
              <a:buClrTx/>
              <a:buFontTx/>
              <a:buChar char="•"/>
            </a:pPr>
            <a:r>
              <a:rPr lang="zh-CN" altLang="en-US" b="1" dirty="0">
                <a:latin typeface="Tahoma" panose="020B0604030504040204" pitchFamily="34" charset="0"/>
              </a:rPr>
              <a:t>断电后信息消失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--</a:t>
            </a:r>
            <a:r>
              <a:rPr lang="zh-CN" altLang="en-US" b="1" dirty="0">
                <a:latin typeface="Tahoma" panose="020B0604030504040204" pitchFamily="34" charset="0"/>
              </a:rPr>
              <a:t>内存、</a:t>
            </a:r>
            <a:r>
              <a:rPr lang="en-US" altLang="zh-CN" b="1" dirty="0">
                <a:latin typeface="Tahoma" panose="020B0604030504040204" pitchFamily="34" charset="0"/>
              </a:rPr>
              <a:t>Cache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113673" name="Text Box 9"/>
          <p:cNvSpPr txBox="1"/>
          <p:nvPr/>
        </p:nvSpPr>
        <p:spPr>
          <a:xfrm>
            <a:off x="1377950" y="4700588"/>
            <a:ext cx="2808288" cy="19380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  <a:buChar char="•"/>
            </a:pPr>
            <a:r>
              <a:rPr lang="zh-CN" altLang="en-US" b="1" dirty="0">
                <a:latin typeface="Tahoma" panose="020B0604030504040204" pitchFamily="34" charset="0"/>
              </a:rPr>
              <a:t>只读，存放引导程序（加电运行）等</a:t>
            </a:r>
            <a:endParaRPr lang="zh-CN" altLang="en-US" b="1" dirty="0">
              <a:latin typeface="Tahoma" panose="020B0604030504040204" pitchFamily="34" charset="0"/>
            </a:endParaRPr>
          </a:p>
          <a:p>
            <a:pPr>
              <a:spcBef>
                <a:spcPct val="50000"/>
              </a:spcBef>
              <a:buClrTx/>
              <a:buFontTx/>
              <a:buChar char="•"/>
            </a:pPr>
            <a:r>
              <a:rPr lang="zh-CN" altLang="en-US" b="1" dirty="0">
                <a:latin typeface="Tahoma" panose="020B0604030504040204" pitchFamily="34" charset="0"/>
              </a:rPr>
              <a:t>断电后内容不消失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--BIOS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113674" name="AutoShape 10"/>
          <p:cNvSpPr/>
          <p:nvPr/>
        </p:nvSpPr>
        <p:spPr>
          <a:xfrm>
            <a:off x="4257675" y="1598613"/>
            <a:ext cx="215900" cy="2089150"/>
          </a:xfrm>
          <a:prstGeom prst="leftBrace">
            <a:avLst>
              <a:gd name="adj1" fmla="val 80458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113675" name="Text Box 11"/>
          <p:cNvSpPr txBox="1"/>
          <p:nvPr/>
        </p:nvSpPr>
        <p:spPr>
          <a:xfrm>
            <a:off x="4402138" y="1311275"/>
            <a:ext cx="452755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b="1" dirty="0">
                <a:solidFill>
                  <a:srgbClr val="00B050"/>
                </a:solidFill>
                <a:latin typeface="Tahoma" panose="020B0604030504040204" pitchFamily="34" charset="0"/>
              </a:rPr>
              <a:t>静态</a:t>
            </a:r>
            <a:r>
              <a:rPr lang="zh-CN" altLang="en-US" b="1" dirty="0">
                <a:solidFill>
                  <a:srgbClr val="00B050"/>
                </a:solidFill>
                <a:sym typeface="+mn-ea"/>
              </a:rPr>
              <a:t>RAM(</a:t>
            </a:r>
            <a:r>
              <a:rPr lang="zh-CN" altLang="en-US" b="1" dirty="0">
                <a:solidFill>
                  <a:srgbClr val="00B050"/>
                </a:solidFill>
                <a:latin typeface="Tahoma" panose="020B0604030504040204" pitchFamily="34" charset="0"/>
              </a:rPr>
              <a:t>SRAM)--Cache</a:t>
            </a:r>
            <a:endParaRPr lang="zh-CN" altLang="en-US" b="1" dirty="0">
              <a:solidFill>
                <a:srgbClr val="00B050"/>
              </a:solidFill>
              <a:latin typeface="Tahoma" panose="020B0604030504040204" pitchFamily="34" charset="0"/>
            </a:endParaRPr>
          </a:p>
        </p:txBody>
      </p:sp>
      <p:sp>
        <p:nvSpPr>
          <p:cNvPr id="113676" name="Text Box 12"/>
          <p:cNvSpPr txBox="1"/>
          <p:nvPr/>
        </p:nvSpPr>
        <p:spPr>
          <a:xfrm>
            <a:off x="4402138" y="2319338"/>
            <a:ext cx="4456112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b="1" dirty="0">
                <a:solidFill>
                  <a:srgbClr val="00B050"/>
                </a:solidFill>
                <a:latin typeface="Tahoma" panose="020B0604030504040204" pitchFamily="34" charset="0"/>
                <a:hlinkClick r:id="rId1" action="ppaction://hlinksldjump"/>
              </a:rPr>
              <a:t>动态</a:t>
            </a:r>
            <a:r>
              <a:rPr lang="zh-CN" altLang="en-US" b="1" dirty="0">
                <a:solidFill>
                  <a:srgbClr val="00B050"/>
                </a:solidFill>
                <a:sym typeface="+mn-ea"/>
                <a:hlinkClick r:id="rId1" action="ppaction://hlinksldjump"/>
              </a:rPr>
              <a:t>RAM</a:t>
            </a:r>
            <a:r>
              <a:rPr lang="zh-CN" altLang="en-US" b="1" dirty="0">
                <a:solidFill>
                  <a:srgbClr val="00B050"/>
                </a:solidFill>
                <a:sym typeface="+mn-ea"/>
                <a:hlinkClick r:id="rId1" action="ppaction://hlinksldjump"/>
              </a:rPr>
              <a:t>(</a:t>
            </a:r>
            <a:r>
              <a:rPr lang="zh-CN" altLang="en-US" b="1" dirty="0">
                <a:solidFill>
                  <a:srgbClr val="00B050"/>
                </a:solidFill>
                <a:latin typeface="Tahoma" panose="020B0604030504040204" pitchFamily="34" charset="0"/>
                <a:hlinkClick r:id="rId1" action="ppaction://hlinksldjump"/>
              </a:rPr>
              <a:t>DRAM)--内存条</a:t>
            </a:r>
            <a:endParaRPr lang="zh-CN" altLang="en-US" b="1" dirty="0">
              <a:solidFill>
                <a:srgbClr val="00B050"/>
              </a:solidFill>
              <a:latin typeface="Tahoma" panose="020B0604030504040204" pitchFamily="34" charset="0"/>
              <a:hlinkClick r:id="rId1" action="ppaction://hlinksldjump"/>
            </a:endParaRPr>
          </a:p>
        </p:txBody>
      </p:sp>
      <p:sp>
        <p:nvSpPr>
          <p:cNvPr id="113677" name="Text Box 13"/>
          <p:cNvSpPr txBox="1"/>
          <p:nvPr/>
        </p:nvSpPr>
        <p:spPr>
          <a:xfrm>
            <a:off x="4473575" y="1743075"/>
            <a:ext cx="4068763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</a:rPr>
              <a:t>集成度低、速度快、容量小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113678" name="Text Box 14"/>
          <p:cNvSpPr txBox="1"/>
          <p:nvPr/>
        </p:nvSpPr>
        <p:spPr>
          <a:xfrm>
            <a:off x="4473258" y="2751138"/>
            <a:ext cx="4068762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</a:rPr>
              <a:t>集成度高、速度慢、容量大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113679" name="AutoShape 15"/>
          <p:cNvSpPr/>
          <p:nvPr/>
        </p:nvSpPr>
        <p:spPr>
          <a:xfrm>
            <a:off x="4257675" y="4052253"/>
            <a:ext cx="215900" cy="2376487"/>
          </a:xfrm>
          <a:prstGeom prst="leftBrace">
            <a:avLst>
              <a:gd name="adj1" fmla="val 91524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113680" name="Text Box 16"/>
          <p:cNvSpPr txBox="1"/>
          <p:nvPr/>
        </p:nvSpPr>
        <p:spPr>
          <a:xfrm>
            <a:off x="4473575" y="3954463"/>
            <a:ext cx="3024188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b="1" dirty="0">
                <a:solidFill>
                  <a:schemeClr val="tx2"/>
                </a:solidFill>
                <a:latin typeface="Tahoma" panose="020B0604030504040204" pitchFamily="34" charset="0"/>
              </a:rPr>
              <a:t>掩膜式</a:t>
            </a:r>
            <a:r>
              <a:rPr lang="en-US" altLang="zh-CN" b="1" dirty="0">
                <a:solidFill>
                  <a:schemeClr val="tx2"/>
                </a:solidFill>
                <a:latin typeface="Tahoma" panose="020B0604030504040204" pitchFamily="34" charset="0"/>
              </a:rPr>
              <a:t>ROM</a:t>
            </a:r>
            <a:endParaRPr lang="en-US" altLang="zh-CN" b="1" dirty="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113681" name="Text Box 17"/>
          <p:cNvSpPr txBox="1"/>
          <p:nvPr/>
        </p:nvSpPr>
        <p:spPr>
          <a:xfrm>
            <a:off x="4473575" y="4457700"/>
            <a:ext cx="3419475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b="1" dirty="0">
                <a:solidFill>
                  <a:schemeClr val="tx2"/>
                </a:solidFill>
                <a:latin typeface="Tahoma" panose="020B0604030504040204" pitchFamily="34" charset="0"/>
              </a:rPr>
              <a:t>可编程</a:t>
            </a:r>
            <a:r>
              <a:rPr lang="en-US" altLang="zh-CN" b="1" dirty="0">
                <a:solidFill>
                  <a:schemeClr val="tx2"/>
                </a:solidFill>
                <a:latin typeface="Tahoma" panose="020B0604030504040204" pitchFamily="34" charset="0"/>
              </a:rPr>
              <a:t>ROM</a:t>
            </a:r>
            <a:r>
              <a:rPr lang="zh-CN" altLang="en-US" b="1" dirty="0">
                <a:solidFill>
                  <a:schemeClr val="tx2"/>
                </a:solidFill>
                <a:latin typeface="Tahoma" panose="020B0604030504040204" pitchFamily="34" charset="0"/>
              </a:rPr>
              <a:t>：</a:t>
            </a:r>
            <a:r>
              <a:rPr lang="en-US" altLang="zh-CN" b="1" dirty="0">
                <a:solidFill>
                  <a:schemeClr val="tx2"/>
                </a:solidFill>
                <a:latin typeface="Tahoma" panose="020B0604030504040204" pitchFamily="34" charset="0"/>
              </a:rPr>
              <a:t>PROM</a:t>
            </a:r>
            <a:endParaRPr lang="en-US" altLang="zh-CN" b="1" dirty="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113682" name="Text Box 18"/>
          <p:cNvSpPr txBox="1"/>
          <p:nvPr/>
        </p:nvSpPr>
        <p:spPr>
          <a:xfrm>
            <a:off x="4473575" y="4962525"/>
            <a:ext cx="360045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b="1" dirty="0">
                <a:solidFill>
                  <a:schemeClr val="tx2"/>
                </a:solidFill>
                <a:latin typeface="Tahoma" panose="020B0604030504040204" pitchFamily="34" charset="0"/>
              </a:rPr>
              <a:t>可擦除</a:t>
            </a:r>
            <a:r>
              <a:rPr lang="en-US" altLang="zh-CN" b="1" dirty="0">
                <a:solidFill>
                  <a:schemeClr val="tx2"/>
                </a:solidFill>
                <a:latin typeface="Tahoma" panose="020B0604030504040204" pitchFamily="34" charset="0"/>
              </a:rPr>
              <a:t>PROM</a:t>
            </a:r>
            <a:r>
              <a:rPr lang="zh-CN" altLang="en-US" b="1" dirty="0">
                <a:solidFill>
                  <a:schemeClr val="tx2"/>
                </a:solidFill>
                <a:latin typeface="Tahoma" panose="020B0604030504040204" pitchFamily="34" charset="0"/>
              </a:rPr>
              <a:t>：</a:t>
            </a:r>
            <a:r>
              <a:rPr lang="en-US" altLang="zh-CN" b="1" dirty="0">
                <a:solidFill>
                  <a:schemeClr val="tx2"/>
                </a:solidFill>
                <a:latin typeface="Tahoma" panose="020B0604030504040204" pitchFamily="34" charset="0"/>
              </a:rPr>
              <a:t>EPROM</a:t>
            </a:r>
            <a:endParaRPr lang="en-US" altLang="zh-CN" b="1" dirty="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113683" name="Text Box 19">
            <a:hlinkClick r:id="rId2" action="ppaction://hlinkpres?slideindex=1&amp;slidetitle="/>
          </p:cNvPr>
          <p:cNvSpPr txBox="1"/>
          <p:nvPr/>
        </p:nvSpPr>
        <p:spPr>
          <a:xfrm>
            <a:off x="4473575" y="5472113"/>
            <a:ext cx="5256213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b="1" dirty="0">
                <a:solidFill>
                  <a:schemeClr val="tx2"/>
                </a:solidFill>
                <a:latin typeface="Tahoma" panose="020B0604030504040204" pitchFamily="34" charset="0"/>
              </a:rPr>
              <a:t>可擦除可编程</a:t>
            </a:r>
            <a:r>
              <a:rPr lang="en-US" altLang="zh-CN" b="1" dirty="0">
                <a:solidFill>
                  <a:schemeClr val="tx2"/>
                </a:solidFill>
                <a:latin typeface="Tahoma" panose="020B0604030504040204" pitchFamily="34" charset="0"/>
              </a:rPr>
              <a:t>PROM</a:t>
            </a:r>
            <a:r>
              <a:rPr lang="zh-CN" altLang="en-US" b="1" dirty="0">
                <a:solidFill>
                  <a:schemeClr val="tx2"/>
                </a:solidFill>
                <a:latin typeface="Tahoma" panose="020B0604030504040204" pitchFamily="34" charset="0"/>
              </a:rPr>
              <a:t>：</a:t>
            </a:r>
            <a:r>
              <a:rPr lang="en-US" altLang="zh-CN" b="1" dirty="0">
                <a:solidFill>
                  <a:schemeClr val="tx2"/>
                </a:solidFill>
                <a:latin typeface="Tahoma" panose="020B0604030504040204" pitchFamily="34" charset="0"/>
              </a:rPr>
              <a:t>E</a:t>
            </a:r>
            <a:r>
              <a:rPr lang="en-US" altLang="zh-CN" b="1" baseline="30000" dirty="0">
                <a:solidFill>
                  <a:schemeClr val="tx2"/>
                </a:solidFill>
                <a:latin typeface="Tahoma" panose="020B0604030504040204" pitchFamily="34" charset="0"/>
              </a:rPr>
              <a:t>2</a:t>
            </a:r>
            <a:r>
              <a:rPr lang="en-US" altLang="zh-CN" b="1" dirty="0">
                <a:solidFill>
                  <a:schemeClr val="tx2"/>
                </a:solidFill>
                <a:latin typeface="Tahoma" panose="020B0604030504040204" pitchFamily="34" charset="0"/>
              </a:rPr>
              <a:t>PROM</a:t>
            </a:r>
            <a:endParaRPr lang="en-US" altLang="zh-CN" b="1" dirty="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113684" name="Text Box 20"/>
          <p:cNvSpPr txBox="1"/>
          <p:nvPr/>
        </p:nvSpPr>
        <p:spPr>
          <a:xfrm>
            <a:off x="4402138" y="3281363"/>
            <a:ext cx="4211637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b="1" dirty="0">
                <a:solidFill>
                  <a:srgbClr val="00B050"/>
                </a:solidFill>
                <a:latin typeface="Tahoma" panose="020B0604030504040204" pitchFamily="34" charset="0"/>
                <a:hlinkClick r:id="rId3" action="ppaction://hlinksldjump"/>
              </a:rPr>
              <a:t>非易失性</a:t>
            </a:r>
            <a:r>
              <a:rPr lang="en-US" altLang="zh-CN" b="1" dirty="0">
                <a:solidFill>
                  <a:srgbClr val="00B050"/>
                </a:solidFill>
                <a:sym typeface="+mn-ea"/>
                <a:hlinkClick r:id="rId3" action="ppaction://hlinksldjump"/>
              </a:rPr>
              <a:t>RAM</a:t>
            </a:r>
            <a:r>
              <a:rPr lang="en-US" altLang="zh-CN" b="1" dirty="0">
                <a:solidFill>
                  <a:srgbClr val="00B050"/>
                </a:solidFill>
                <a:sym typeface="+mn-ea"/>
                <a:hlinkClick r:id="rId1" action="ppaction://hlinksldjump"/>
              </a:rPr>
              <a:t>(</a:t>
            </a:r>
            <a:r>
              <a:rPr lang="en-US" altLang="zh-CN" b="1" dirty="0">
                <a:solidFill>
                  <a:srgbClr val="00B050"/>
                </a:solidFill>
                <a:latin typeface="Tahoma" panose="020B0604030504040204" pitchFamily="34" charset="0"/>
                <a:hlinkClick r:id="rId3" action="ppaction://hlinksldjump"/>
              </a:rPr>
              <a:t>NVRAM</a:t>
            </a:r>
            <a:r>
              <a:rPr lang="en-US" altLang="zh-CN" b="1" dirty="0">
                <a:solidFill>
                  <a:srgbClr val="00B050"/>
                </a:solidFill>
                <a:sym typeface="+mn-ea"/>
                <a:hlinkClick r:id="rId1" action="ppaction://hlinksldjump"/>
              </a:rPr>
              <a:t>)</a:t>
            </a:r>
            <a:endParaRPr lang="en-US" altLang="zh-CN" b="1" dirty="0">
              <a:solidFill>
                <a:srgbClr val="00B050"/>
              </a:solidFill>
              <a:latin typeface="Tahoma" panose="020B0604030504040204" pitchFamily="34" charset="0"/>
              <a:sym typeface="+mn-ea"/>
              <a:hlinkClick r:id="rId1" action="ppaction://hlinksldjump"/>
            </a:endParaRPr>
          </a:p>
        </p:txBody>
      </p:sp>
      <p:sp>
        <p:nvSpPr>
          <p:cNvPr id="113685" name="Text Box 21"/>
          <p:cNvSpPr txBox="1"/>
          <p:nvPr/>
        </p:nvSpPr>
        <p:spPr>
          <a:xfrm>
            <a:off x="4473575" y="5995988"/>
            <a:ext cx="3024188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b="1" dirty="0">
                <a:solidFill>
                  <a:schemeClr val="tx2"/>
                </a:solidFill>
                <a:latin typeface="Tahoma" panose="020B0604030504040204" pitchFamily="34" charset="0"/>
              </a:rPr>
              <a:t>闪速存储器FLASH</a:t>
            </a:r>
            <a:endParaRPr lang="zh-CN" altLang="en-US" b="1" dirty="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10243" name="矩形 59"/>
          <p:cNvSpPr/>
          <p:nvPr>
            <p:custDataLst>
              <p:tags r:id="rId4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4.1.1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半导体存储器的分类</a:t>
            </a:r>
            <a:endParaRPr lang="zh-CN" altLang="en-US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36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36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13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36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3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36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36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13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13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13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36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36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3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3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13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13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13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13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13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13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13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136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136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136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13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136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136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13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13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68" grpId="0"/>
      <p:bldP spid="113669" grpId="0" bldLvl="0" animBg="1"/>
      <p:bldP spid="113670" grpId="0"/>
      <p:bldP spid="113671" grpId="0"/>
      <p:bldP spid="113672" grpId="0"/>
      <p:bldP spid="113673" grpId="0"/>
      <p:bldP spid="113674" grpId="0" bldLvl="0" animBg="1"/>
      <p:bldP spid="113675" grpId="0"/>
      <p:bldP spid="113676" grpId="0"/>
      <p:bldP spid="113677" grpId="0"/>
      <p:bldP spid="113678" grpId="0"/>
      <p:bldP spid="113679" grpId="0" bldLvl="0" animBg="1"/>
      <p:bldP spid="113680" grpId="0"/>
      <p:bldP spid="113681" grpId="0"/>
      <p:bldP spid="113682" grpId="0"/>
      <p:bldP spid="113683" grpId="0"/>
      <p:bldP spid="113684" grpId="0"/>
      <p:bldP spid="11368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3313" name="Group 2"/>
          <p:cNvGrpSpPr/>
          <p:nvPr/>
        </p:nvGrpSpPr>
        <p:grpSpPr>
          <a:xfrm>
            <a:off x="4885690" y="2402523"/>
            <a:ext cx="3581400" cy="2986087"/>
            <a:chOff x="384" y="1200"/>
            <a:chExt cx="2352" cy="2493"/>
          </a:xfrm>
        </p:grpSpPr>
        <p:sp>
          <p:nvSpPr>
            <p:cNvPr id="13314" name="Text Box 3"/>
            <p:cNvSpPr txBox="1"/>
            <p:nvPr/>
          </p:nvSpPr>
          <p:spPr>
            <a:xfrm>
              <a:off x="912" y="1200"/>
              <a:ext cx="1536" cy="3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zh-CN" altLang="en-US" sz="2000" b="1" dirty="0">
                  <a:solidFill>
                    <a:srgbClr val="000000"/>
                  </a:solidFill>
                  <a:latin typeface="Tahoma" panose="020B0604030504040204" pitchFamily="34" charset="0"/>
                </a:rPr>
                <a:t>行选择线</a:t>
              </a:r>
              <a:endParaRPr lang="zh-CN" altLang="en-US" sz="2000" b="1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315" name="Text Box 4"/>
            <p:cNvSpPr txBox="1"/>
            <p:nvPr/>
          </p:nvSpPr>
          <p:spPr>
            <a:xfrm>
              <a:off x="384" y="2399"/>
              <a:ext cx="384" cy="109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zh-CN" altLang="en-US" sz="2000" b="1" dirty="0">
                  <a:solidFill>
                    <a:srgbClr val="000000"/>
                  </a:solidFill>
                  <a:latin typeface="Tahoma" panose="020B0604030504040204" pitchFamily="34" charset="0"/>
                </a:rPr>
                <a:t>列选择线</a:t>
              </a:r>
              <a:endParaRPr lang="zh-CN" altLang="en-US" sz="2000" b="1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grpSp>
          <p:nvGrpSpPr>
            <p:cNvPr id="13316" name="Group 5"/>
            <p:cNvGrpSpPr/>
            <p:nvPr/>
          </p:nvGrpSpPr>
          <p:grpSpPr>
            <a:xfrm>
              <a:off x="1344" y="1200"/>
              <a:ext cx="816" cy="624"/>
              <a:chOff x="816" y="1584"/>
              <a:chExt cx="816" cy="624"/>
            </a:xfrm>
          </p:grpSpPr>
          <p:sp>
            <p:nvSpPr>
              <p:cNvPr id="13317" name="Line 6"/>
              <p:cNvSpPr/>
              <p:nvPr/>
            </p:nvSpPr>
            <p:spPr>
              <a:xfrm>
                <a:off x="1248" y="1584"/>
                <a:ext cx="0" cy="38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18" name="Line 7"/>
              <p:cNvSpPr/>
              <p:nvPr/>
            </p:nvSpPr>
            <p:spPr>
              <a:xfrm>
                <a:off x="1152" y="1968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19" name="Line 8"/>
              <p:cNvSpPr/>
              <p:nvPr/>
            </p:nvSpPr>
            <p:spPr>
              <a:xfrm>
                <a:off x="1008" y="2064"/>
                <a:ext cx="43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20" name="Line 9"/>
              <p:cNvSpPr/>
              <p:nvPr/>
            </p:nvSpPr>
            <p:spPr>
              <a:xfrm>
                <a:off x="1104" y="2064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21" name="Line 10"/>
              <p:cNvSpPr/>
              <p:nvPr/>
            </p:nvSpPr>
            <p:spPr>
              <a:xfrm>
                <a:off x="1344" y="2064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22" name="Line 11"/>
              <p:cNvSpPr/>
              <p:nvPr/>
            </p:nvSpPr>
            <p:spPr>
              <a:xfrm>
                <a:off x="816" y="2208"/>
                <a:ext cx="28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23" name="Line 12"/>
              <p:cNvSpPr/>
              <p:nvPr/>
            </p:nvSpPr>
            <p:spPr>
              <a:xfrm>
                <a:off x="1344" y="2208"/>
                <a:ext cx="28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3324" name="Group 13"/>
            <p:cNvGrpSpPr/>
            <p:nvPr/>
          </p:nvGrpSpPr>
          <p:grpSpPr>
            <a:xfrm rot="-5400000">
              <a:off x="624" y="2592"/>
              <a:ext cx="816" cy="624"/>
              <a:chOff x="816" y="1584"/>
              <a:chExt cx="816" cy="624"/>
            </a:xfrm>
          </p:grpSpPr>
          <p:sp>
            <p:nvSpPr>
              <p:cNvPr id="13325" name="Line 14"/>
              <p:cNvSpPr/>
              <p:nvPr/>
            </p:nvSpPr>
            <p:spPr>
              <a:xfrm>
                <a:off x="1248" y="1584"/>
                <a:ext cx="0" cy="38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26" name="Line 15"/>
              <p:cNvSpPr/>
              <p:nvPr/>
            </p:nvSpPr>
            <p:spPr>
              <a:xfrm>
                <a:off x="1152" y="1968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27" name="Line 16"/>
              <p:cNvSpPr/>
              <p:nvPr/>
            </p:nvSpPr>
            <p:spPr>
              <a:xfrm>
                <a:off x="1008" y="2064"/>
                <a:ext cx="43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28" name="Line 17"/>
              <p:cNvSpPr/>
              <p:nvPr/>
            </p:nvSpPr>
            <p:spPr>
              <a:xfrm>
                <a:off x="1104" y="2064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29" name="Line 18"/>
              <p:cNvSpPr/>
              <p:nvPr/>
            </p:nvSpPr>
            <p:spPr>
              <a:xfrm>
                <a:off x="1344" y="2064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30" name="Line 19"/>
              <p:cNvSpPr/>
              <p:nvPr/>
            </p:nvSpPr>
            <p:spPr>
              <a:xfrm>
                <a:off x="816" y="2208"/>
                <a:ext cx="28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31" name="Line 20"/>
              <p:cNvSpPr/>
              <p:nvPr/>
            </p:nvSpPr>
            <p:spPr>
              <a:xfrm>
                <a:off x="1344" y="2208"/>
                <a:ext cx="28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13332" name="Text Box 21"/>
            <p:cNvSpPr txBox="1"/>
            <p:nvPr/>
          </p:nvSpPr>
          <p:spPr>
            <a:xfrm>
              <a:off x="959" y="2063"/>
              <a:ext cx="721" cy="593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CC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 algn="ctr">
                <a:buClrTx/>
                <a:buFontTx/>
              </a:pPr>
              <a:r>
                <a:rPr lang="zh-CN" altLang="en-US" sz="2000" b="1" dirty="0">
                  <a:solidFill>
                    <a:srgbClr val="000000"/>
                  </a:solidFill>
                  <a:latin typeface="Tahoma" panose="020B0604030504040204" pitchFamily="34" charset="0"/>
                </a:rPr>
                <a:t>刷新</a:t>
              </a:r>
              <a:endParaRPr lang="zh-CN" altLang="en-US" sz="2000" b="1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  <a:p>
              <a:pPr algn="ctr">
                <a:buClrTx/>
                <a:buFontTx/>
              </a:pPr>
              <a:r>
                <a:rPr lang="zh-CN" altLang="en-US" sz="2000" b="1" dirty="0">
                  <a:solidFill>
                    <a:srgbClr val="000000"/>
                  </a:solidFill>
                  <a:latin typeface="Tahoma" panose="020B0604030504040204" pitchFamily="34" charset="0"/>
                </a:rPr>
                <a:t>放大器</a:t>
              </a:r>
              <a:endParaRPr lang="zh-CN" altLang="en-US" sz="2000" b="1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333" name="Line 22"/>
            <p:cNvSpPr/>
            <p:nvPr/>
          </p:nvSpPr>
          <p:spPr>
            <a:xfrm>
              <a:off x="1344" y="1824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34" name="Line 23"/>
            <p:cNvSpPr/>
            <p:nvPr/>
          </p:nvSpPr>
          <p:spPr>
            <a:xfrm>
              <a:off x="2160" y="1824"/>
              <a:ext cx="0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35" name="Line 24"/>
            <p:cNvSpPr/>
            <p:nvPr/>
          </p:nvSpPr>
          <p:spPr>
            <a:xfrm>
              <a:off x="2064" y="2256"/>
              <a:ext cx="192" cy="0"/>
            </a:xfrm>
            <a:prstGeom prst="line">
              <a:avLst/>
            </a:prstGeom>
            <a:ln w="3810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36" name="Line 25"/>
            <p:cNvSpPr/>
            <p:nvPr/>
          </p:nvSpPr>
          <p:spPr>
            <a:xfrm>
              <a:off x="2064" y="2352"/>
              <a:ext cx="192" cy="0"/>
            </a:xfrm>
            <a:prstGeom prst="line">
              <a:avLst/>
            </a:prstGeom>
            <a:ln w="3810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37" name="Line 26"/>
            <p:cNvSpPr/>
            <p:nvPr/>
          </p:nvSpPr>
          <p:spPr>
            <a:xfrm>
              <a:off x="2160" y="2352"/>
              <a:ext cx="0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38" name="Line 27"/>
            <p:cNvSpPr/>
            <p:nvPr/>
          </p:nvSpPr>
          <p:spPr>
            <a:xfrm>
              <a:off x="2064" y="2688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39" name="Text Box 28"/>
            <p:cNvSpPr txBox="1"/>
            <p:nvPr/>
          </p:nvSpPr>
          <p:spPr>
            <a:xfrm>
              <a:off x="1872" y="1344"/>
              <a:ext cx="480" cy="43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b="1" dirty="0">
                  <a:solidFill>
                    <a:srgbClr val="000000"/>
                  </a:solidFill>
                  <a:latin typeface="Tahoma" panose="020B0604030504040204" pitchFamily="34" charset="0"/>
                </a:rPr>
                <a:t>Q</a:t>
              </a:r>
              <a:endParaRPr lang="en-US" altLang="zh-CN" b="1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340" name="Text Box 29"/>
            <p:cNvSpPr txBox="1"/>
            <p:nvPr/>
          </p:nvSpPr>
          <p:spPr>
            <a:xfrm>
              <a:off x="2256" y="2112"/>
              <a:ext cx="480" cy="43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b="1" dirty="0">
                  <a:solidFill>
                    <a:srgbClr val="000000"/>
                  </a:solidFill>
                  <a:latin typeface="Tahoma" panose="020B0604030504040204" pitchFamily="34" charset="0"/>
                </a:rPr>
                <a:t>C</a:t>
              </a:r>
              <a:endParaRPr lang="en-US" altLang="zh-CN" b="1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341" name="Text Box 30"/>
            <p:cNvSpPr txBox="1"/>
            <p:nvPr/>
          </p:nvSpPr>
          <p:spPr>
            <a:xfrm>
              <a:off x="959" y="3361"/>
              <a:ext cx="817" cy="3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zh-CN" altLang="en-US" sz="2000" b="1" dirty="0">
                  <a:solidFill>
                    <a:srgbClr val="000000"/>
                  </a:solidFill>
                  <a:latin typeface="Tahoma" panose="020B0604030504040204" pitchFamily="34" charset="0"/>
                </a:rPr>
                <a:t>数据线</a:t>
              </a:r>
              <a:endParaRPr lang="zh-CN" altLang="en-US" sz="2000" b="1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13342" name="Rectangle 31"/>
          <p:cNvSpPr/>
          <p:nvPr/>
        </p:nvSpPr>
        <p:spPr>
          <a:xfrm>
            <a:off x="718185" y="1483995"/>
            <a:ext cx="3093720" cy="8477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>
              <a:spcBef>
                <a:spcPct val="5000"/>
              </a:spcBef>
              <a:buClrTx/>
              <a:buFontTx/>
            </a:pPr>
            <a:r>
              <a:rPr lang="en-US" altLang="zh-CN" b="1" dirty="0">
                <a:solidFill>
                  <a:srgbClr val="3333FF"/>
                </a:solidFill>
                <a:latin typeface="Tahoma" panose="020B060403050404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  <a:sym typeface="Monotype Sorts" pitchFamily="2" charset="2"/>
              </a:rPr>
              <a:t>SRAM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sym typeface="Monotype Sorts" pitchFamily="2" charset="2"/>
              </a:rPr>
              <a:t>（静态）</a:t>
            </a:r>
            <a:endParaRPr lang="zh-CN" altLang="en-US" b="1" dirty="0">
              <a:solidFill>
                <a:srgbClr val="FF0000"/>
              </a:solidFill>
              <a:latin typeface="Tahoma" panose="020B0604030504040204" pitchFamily="34" charset="0"/>
              <a:sym typeface="Monotype Sorts" pitchFamily="2" charset="2"/>
            </a:endParaRPr>
          </a:p>
          <a:p>
            <a:pPr algn="ctr">
              <a:spcBef>
                <a:spcPct val="5000"/>
              </a:spcBef>
              <a:buClrTx/>
              <a:buFontTx/>
            </a:pPr>
            <a:r>
              <a:rPr lang="en-US" altLang="zh-CN" b="1" dirty="0">
                <a:solidFill>
                  <a:srgbClr val="3333FF"/>
                </a:solidFill>
                <a:latin typeface="Tahoma" panose="020B0604030504040204" pitchFamily="34" charset="0"/>
              </a:rPr>
              <a:t>6</a:t>
            </a:r>
            <a:r>
              <a:rPr lang="zh-CN" altLang="en-US" b="1" dirty="0">
                <a:solidFill>
                  <a:srgbClr val="3333FF"/>
                </a:solidFill>
                <a:latin typeface="Tahoma" panose="020B0604030504040204" pitchFamily="34" charset="0"/>
              </a:rPr>
              <a:t>管双稳态电路构成</a:t>
            </a:r>
            <a:endParaRPr lang="zh-CN" altLang="en-US" b="1" dirty="0">
              <a:solidFill>
                <a:srgbClr val="3333FF"/>
              </a:solidFill>
              <a:latin typeface="Tahoma" panose="020B0604030504040204" pitchFamily="34" charset="0"/>
            </a:endParaRPr>
          </a:p>
        </p:txBody>
      </p:sp>
      <p:sp>
        <p:nvSpPr>
          <p:cNvPr id="13343" name="Rectangle 32"/>
          <p:cNvSpPr/>
          <p:nvPr/>
        </p:nvSpPr>
        <p:spPr>
          <a:xfrm>
            <a:off x="5148580" y="1483678"/>
            <a:ext cx="2895600" cy="841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"/>
              </a:spcBef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  <a:sym typeface="Monotype Sorts" pitchFamily="2" charset="2"/>
              </a:rPr>
              <a:t>DRAM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sym typeface="Monotype Sorts" pitchFamily="2" charset="2"/>
              </a:rPr>
              <a:t>（动态）</a:t>
            </a:r>
            <a:endParaRPr lang="zh-CN" altLang="en-US" b="1" dirty="0">
              <a:solidFill>
                <a:srgbClr val="FF0000"/>
              </a:solidFill>
              <a:latin typeface="Tahoma" panose="020B0604030504040204" pitchFamily="34" charset="0"/>
              <a:sym typeface="Monotype Sorts" pitchFamily="2" charset="2"/>
            </a:endParaRPr>
          </a:p>
          <a:p>
            <a:pPr algn="ctr">
              <a:spcBef>
                <a:spcPct val="5000"/>
              </a:spcBef>
              <a:buClrTx/>
              <a:buFontTx/>
            </a:pPr>
            <a:r>
              <a:rPr lang="zh-CN" altLang="en-US" b="1" dirty="0">
                <a:solidFill>
                  <a:srgbClr val="3333FF"/>
                </a:solidFill>
                <a:latin typeface="Tahoma" panose="020B0604030504040204" pitchFamily="34" charset="0"/>
              </a:rPr>
              <a:t>单管基本存储电路</a:t>
            </a:r>
            <a:endParaRPr lang="zh-CN" altLang="en-US" b="1" dirty="0">
              <a:solidFill>
                <a:srgbClr val="3333FF"/>
              </a:solidFill>
              <a:latin typeface="Tahoma" panose="020B0604030504040204" pitchFamily="34" charset="0"/>
            </a:endParaRPr>
          </a:p>
        </p:txBody>
      </p:sp>
      <p:sp>
        <p:nvSpPr>
          <p:cNvPr id="114721" name="Rectangle 33"/>
          <p:cNvSpPr/>
          <p:nvPr/>
        </p:nvSpPr>
        <p:spPr>
          <a:xfrm>
            <a:off x="762000" y="5517833"/>
            <a:ext cx="3089275" cy="9772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  <a:buClrTx/>
              <a:buFontTx/>
              <a:buChar char="•"/>
            </a:pPr>
            <a:r>
              <a:rPr lang="zh-CN" altLang="en-US" b="1" dirty="0">
                <a:latin typeface="Tahoma" panose="020B0604030504040204" pitchFamily="34" charset="0"/>
                <a:sym typeface="Monotype Sorts" pitchFamily="2" charset="2"/>
              </a:rPr>
              <a:t>集成度低，速度快</a:t>
            </a:r>
            <a:endParaRPr lang="zh-CN" altLang="en-US" b="1" dirty="0">
              <a:latin typeface="Tahoma" panose="020B0604030504040204" pitchFamily="34" charset="0"/>
              <a:sym typeface="Monotype Sorts" pitchFamily="2" charset="2"/>
            </a:endParaRPr>
          </a:p>
          <a:p>
            <a:pPr>
              <a:lnSpc>
                <a:spcPct val="120000"/>
              </a:lnSpc>
              <a:buClrTx/>
              <a:buFontTx/>
              <a:buChar char="•"/>
            </a:pPr>
            <a:r>
              <a:rPr lang="zh-CN" altLang="en-US" b="1" dirty="0">
                <a:latin typeface="Tahoma" panose="020B0604030504040204" pitchFamily="34" charset="0"/>
                <a:sym typeface="Monotype Sorts" pitchFamily="2" charset="2"/>
              </a:rPr>
              <a:t>作高速缓冲存储器</a:t>
            </a:r>
            <a:endParaRPr lang="zh-CN" altLang="en-US" b="1" dirty="0">
              <a:latin typeface="Tahoma" panose="020B0604030504040204" pitchFamily="34" charset="0"/>
              <a:sym typeface="Monotype Sorts" pitchFamily="2" charset="2"/>
            </a:endParaRPr>
          </a:p>
        </p:txBody>
      </p:sp>
      <p:sp>
        <p:nvSpPr>
          <p:cNvPr id="114722" name="Rectangle 34"/>
          <p:cNvSpPr/>
          <p:nvPr/>
        </p:nvSpPr>
        <p:spPr>
          <a:xfrm>
            <a:off x="4419600" y="5517833"/>
            <a:ext cx="4724400" cy="9772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  <a:buClrTx/>
              <a:buFontTx/>
              <a:buChar char="•"/>
            </a:pPr>
            <a:r>
              <a:rPr lang="zh-CN" altLang="en-US" b="1" dirty="0">
                <a:latin typeface="Tahoma" panose="020B0604030504040204" pitchFamily="34" charset="0"/>
                <a:sym typeface="Monotype Sorts" pitchFamily="2" charset="2"/>
              </a:rPr>
              <a:t>集成度高、速度慢、容量大</a:t>
            </a:r>
            <a:endParaRPr lang="zh-CN" altLang="en-US" b="1" dirty="0">
              <a:latin typeface="Tahoma" panose="020B0604030504040204" pitchFamily="34" charset="0"/>
              <a:sym typeface="Monotype Sorts" pitchFamily="2" charset="2"/>
            </a:endParaRPr>
          </a:p>
          <a:p>
            <a:pPr>
              <a:lnSpc>
                <a:spcPct val="120000"/>
              </a:lnSpc>
              <a:buClrTx/>
              <a:buFontTx/>
              <a:buChar char="•"/>
            </a:pPr>
            <a:r>
              <a:rPr lang="zh-CN" altLang="en-US" b="1" dirty="0">
                <a:latin typeface="Tahoma" panose="020B0604030504040204" pitchFamily="34" charset="0"/>
                <a:sym typeface="Monotype Sorts" pitchFamily="2" charset="2"/>
              </a:rPr>
              <a:t>由于电容放电需进行周期刷新</a:t>
            </a:r>
            <a:endParaRPr lang="zh-CN" altLang="en-US" b="1" dirty="0">
              <a:latin typeface="Tahoma" panose="020B0604030504040204" pitchFamily="34" charset="0"/>
              <a:sym typeface="Monotype Sorts" pitchFamily="2" charset="2"/>
            </a:endParaRPr>
          </a:p>
        </p:txBody>
      </p:sp>
      <p:grpSp>
        <p:nvGrpSpPr>
          <p:cNvPr id="13346" name="Group 36"/>
          <p:cNvGrpSpPr/>
          <p:nvPr/>
        </p:nvGrpSpPr>
        <p:grpSpPr>
          <a:xfrm>
            <a:off x="572135" y="2357438"/>
            <a:ext cx="3511550" cy="3263900"/>
            <a:chOff x="336" y="1248"/>
            <a:chExt cx="2212" cy="2056"/>
          </a:xfrm>
        </p:grpSpPr>
        <p:sp>
          <p:nvSpPr>
            <p:cNvPr id="13347" name="Line 37"/>
            <p:cNvSpPr/>
            <p:nvPr/>
          </p:nvSpPr>
          <p:spPr>
            <a:xfrm>
              <a:off x="480" y="1248"/>
              <a:ext cx="18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48" name="Line 38"/>
            <p:cNvSpPr/>
            <p:nvPr/>
          </p:nvSpPr>
          <p:spPr>
            <a:xfrm>
              <a:off x="816" y="1248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49" name="Line 39"/>
            <p:cNvSpPr/>
            <p:nvPr/>
          </p:nvSpPr>
          <p:spPr>
            <a:xfrm>
              <a:off x="768" y="1536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50" name="Line 40"/>
            <p:cNvSpPr/>
            <p:nvPr/>
          </p:nvSpPr>
          <p:spPr>
            <a:xfrm>
              <a:off x="720" y="1584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51" name="Line 41"/>
            <p:cNvSpPr/>
            <p:nvPr/>
          </p:nvSpPr>
          <p:spPr>
            <a:xfrm>
              <a:off x="864" y="1584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52" name="Line 42"/>
            <p:cNvSpPr/>
            <p:nvPr/>
          </p:nvSpPr>
          <p:spPr>
            <a:xfrm>
              <a:off x="768" y="1584"/>
              <a:ext cx="0" cy="72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53" name="Line 43"/>
            <p:cNvSpPr/>
            <p:nvPr/>
          </p:nvSpPr>
          <p:spPr>
            <a:xfrm>
              <a:off x="864" y="1776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54" name="Line 44"/>
            <p:cNvSpPr/>
            <p:nvPr/>
          </p:nvSpPr>
          <p:spPr>
            <a:xfrm>
              <a:off x="1152" y="1776"/>
              <a:ext cx="288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55" name="Line 45"/>
            <p:cNvSpPr/>
            <p:nvPr/>
          </p:nvSpPr>
          <p:spPr>
            <a:xfrm>
              <a:off x="1872" y="1248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56" name="Line 46"/>
            <p:cNvSpPr/>
            <p:nvPr/>
          </p:nvSpPr>
          <p:spPr>
            <a:xfrm>
              <a:off x="1824" y="1536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57" name="Line 47"/>
            <p:cNvSpPr/>
            <p:nvPr/>
          </p:nvSpPr>
          <p:spPr>
            <a:xfrm>
              <a:off x="1776" y="1584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58" name="Line 48"/>
            <p:cNvSpPr/>
            <p:nvPr/>
          </p:nvSpPr>
          <p:spPr>
            <a:xfrm>
              <a:off x="1920" y="1584"/>
              <a:ext cx="0" cy="72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59" name="Line 49"/>
            <p:cNvSpPr/>
            <p:nvPr/>
          </p:nvSpPr>
          <p:spPr>
            <a:xfrm>
              <a:off x="1152" y="1584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60" name="Line 50"/>
            <p:cNvSpPr/>
            <p:nvPr/>
          </p:nvSpPr>
          <p:spPr>
            <a:xfrm>
              <a:off x="1152" y="1536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61" name="Line 51"/>
            <p:cNvSpPr/>
            <p:nvPr/>
          </p:nvSpPr>
          <p:spPr>
            <a:xfrm>
              <a:off x="1536" y="1536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62" name="Line 52"/>
            <p:cNvSpPr/>
            <p:nvPr/>
          </p:nvSpPr>
          <p:spPr>
            <a:xfrm>
              <a:off x="1104" y="1488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63" name="Line 53"/>
            <p:cNvSpPr/>
            <p:nvPr/>
          </p:nvSpPr>
          <p:spPr>
            <a:xfrm>
              <a:off x="1584" y="1488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64" name="Line 54"/>
            <p:cNvSpPr/>
            <p:nvPr/>
          </p:nvSpPr>
          <p:spPr>
            <a:xfrm>
              <a:off x="1056" y="1440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65" name="Line 55"/>
            <p:cNvSpPr/>
            <p:nvPr/>
          </p:nvSpPr>
          <p:spPr>
            <a:xfrm>
              <a:off x="1056" y="1440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66" name="Line 56"/>
            <p:cNvSpPr/>
            <p:nvPr/>
          </p:nvSpPr>
          <p:spPr>
            <a:xfrm>
              <a:off x="1632" y="1440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67" name="Line 57"/>
            <p:cNvSpPr/>
            <p:nvPr/>
          </p:nvSpPr>
          <p:spPr>
            <a:xfrm>
              <a:off x="1584" y="1536"/>
              <a:ext cx="4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68" name="Line 58"/>
            <p:cNvSpPr/>
            <p:nvPr/>
          </p:nvSpPr>
          <p:spPr>
            <a:xfrm>
              <a:off x="1056" y="1536"/>
              <a:ext cx="4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69" name="Line 59"/>
            <p:cNvSpPr/>
            <p:nvPr/>
          </p:nvSpPr>
          <p:spPr>
            <a:xfrm>
              <a:off x="1008" y="1632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70" name="Line 60"/>
            <p:cNvSpPr/>
            <p:nvPr/>
          </p:nvSpPr>
          <p:spPr>
            <a:xfrm>
              <a:off x="1008" y="1632"/>
              <a:ext cx="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71" name="Line 61"/>
            <p:cNvSpPr/>
            <p:nvPr/>
          </p:nvSpPr>
          <p:spPr>
            <a:xfrm>
              <a:off x="1152" y="2016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72" name="Line 62"/>
            <p:cNvSpPr/>
            <p:nvPr/>
          </p:nvSpPr>
          <p:spPr>
            <a:xfrm>
              <a:off x="1536" y="2016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73" name="Line 63"/>
            <p:cNvSpPr/>
            <p:nvPr/>
          </p:nvSpPr>
          <p:spPr>
            <a:xfrm>
              <a:off x="1104" y="1968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74" name="Line 64"/>
            <p:cNvSpPr/>
            <p:nvPr/>
          </p:nvSpPr>
          <p:spPr>
            <a:xfrm>
              <a:off x="1584" y="1968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75" name="Line 65"/>
            <p:cNvSpPr/>
            <p:nvPr/>
          </p:nvSpPr>
          <p:spPr>
            <a:xfrm>
              <a:off x="1584" y="1968"/>
              <a:ext cx="0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76" name="Line 66"/>
            <p:cNvSpPr/>
            <p:nvPr/>
          </p:nvSpPr>
          <p:spPr>
            <a:xfrm>
              <a:off x="1584" y="2016"/>
              <a:ext cx="4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77" name="Line 67"/>
            <p:cNvSpPr/>
            <p:nvPr/>
          </p:nvSpPr>
          <p:spPr>
            <a:xfrm flipV="1">
              <a:off x="1008" y="2016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78" name="Line 68"/>
            <p:cNvSpPr/>
            <p:nvPr/>
          </p:nvSpPr>
          <p:spPr>
            <a:xfrm>
              <a:off x="1440" y="2064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79" name="Line 69"/>
            <p:cNvSpPr/>
            <p:nvPr/>
          </p:nvSpPr>
          <p:spPr>
            <a:xfrm>
              <a:off x="1152" y="2064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80" name="Line 70"/>
            <p:cNvSpPr/>
            <p:nvPr/>
          </p:nvSpPr>
          <p:spPr>
            <a:xfrm>
              <a:off x="1824" y="1584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81" name="Line 71"/>
            <p:cNvSpPr/>
            <p:nvPr/>
          </p:nvSpPr>
          <p:spPr>
            <a:xfrm>
              <a:off x="1536" y="1776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82" name="Line 72"/>
            <p:cNvSpPr/>
            <p:nvPr/>
          </p:nvSpPr>
          <p:spPr>
            <a:xfrm rot="4644694">
              <a:off x="1294" y="1730"/>
              <a:ext cx="192" cy="39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83" name="Line 73"/>
            <p:cNvSpPr/>
            <p:nvPr/>
          </p:nvSpPr>
          <p:spPr>
            <a:xfrm flipV="1">
              <a:off x="1584" y="2016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84" name="Line 74"/>
            <p:cNvSpPr/>
            <p:nvPr/>
          </p:nvSpPr>
          <p:spPr>
            <a:xfrm>
              <a:off x="1680" y="1632"/>
              <a:ext cx="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85" name="Line 75"/>
            <p:cNvSpPr/>
            <p:nvPr/>
          </p:nvSpPr>
          <p:spPr>
            <a:xfrm>
              <a:off x="1584" y="1632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86" name="Line 76"/>
            <p:cNvSpPr/>
            <p:nvPr/>
          </p:nvSpPr>
          <p:spPr>
            <a:xfrm>
              <a:off x="1344" y="1440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13387" name="Line 77"/>
            <p:cNvSpPr/>
            <p:nvPr/>
          </p:nvSpPr>
          <p:spPr>
            <a:xfrm flipV="1">
              <a:off x="1344" y="1344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88" name="Line 78"/>
            <p:cNvSpPr/>
            <p:nvPr/>
          </p:nvSpPr>
          <p:spPr>
            <a:xfrm flipH="1">
              <a:off x="864" y="1776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oval" w="med" len="med"/>
              <a:tailEnd type="none" w="med" len="med"/>
            </a:ln>
          </p:spPr>
        </p:sp>
        <p:sp>
          <p:nvSpPr>
            <p:cNvPr id="13389" name="Line 79"/>
            <p:cNvSpPr/>
            <p:nvPr/>
          </p:nvSpPr>
          <p:spPr>
            <a:xfrm flipH="1">
              <a:off x="1680" y="1776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13390" name="Line 80"/>
            <p:cNvSpPr/>
            <p:nvPr/>
          </p:nvSpPr>
          <p:spPr>
            <a:xfrm>
              <a:off x="1008" y="2112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91" name="Line 81"/>
            <p:cNvSpPr/>
            <p:nvPr/>
          </p:nvSpPr>
          <p:spPr>
            <a:xfrm>
              <a:off x="1008" y="2112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92" name="Line 82"/>
            <p:cNvSpPr/>
            <p:nvPr/>
          </p:nvSpPr>
          <p:spPr>
            <a:xfrm>
              <a:off x="1584" y="2112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93" name="Line 83"/>
            <p:cNvSpPr/>
            <p:nvPr/>
          </p:nvSpPr>
          <p:spPr>
            <a:xfrm>
              <a:off x="1680" y="2112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94" name="Line 84"/>
            <p:cNvSpPr/>
            <p:nvPr/>
          </p:nvSpPr>
          <p:spPr>
            <a:xfrm>
              <a:off x="960" y="2208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95" name="Line 85"/>
            <p:cNvSpPr/>
            <p:nvPr/>
          </p:nvSpPr>
          <p:spPr>
            <a:xfrm>
              <a:off x="1632" y="2208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96" name="Line 86"/>
            <p:cNvSpPr/>
            <p:nvPr/>
          </p:nvSpPr>
          <p:spPr>
            <a:xfrm>
              <a:off x="768" y="2304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97" name="Line 87"/>
            <p:cNvSpPr/>
            <p:nvPr/>
          </p:nvSpPr>
          <p:spPr>
            <a:xfrm>
              <a:off x="1776" y="2304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98" name="Line 88"/>
            <p:cNvSpPr/>
            <p:nvPr/>
          </p:nvSpPr>
          <p:spPr>
            <a:xfrm>
              <a:off x="912" y="2256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99" name="Line 89"/>
            <p:cNvSpPr/>
            <p:nvPr/>
          </p:nvSpPr>
          <p:spPr>
            <a:xfrm>
              <a:off x="1776" y="2256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00" name="Line 90"/>
            <p:cNvSpPr/>
            <p:nvPr/>
          </p:nvSpPr>
          <p:spPr>
            <a:xfrm>
              <a:off x="960" y="2304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01" name="Line 91"/>
            <p:cNvSpPr/>
            <p:nvPr/>
          </p:nvSpPr>
          <p:spPr>
            <a:xfrm>
              <a:off x="1728" y="2304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02" name="Line 92"/>
            <p:cNvSpPr/>
            <p:nvPr/>
          </p:nvSpPr>
          <p:spPr>
            <a:xfrm>
              <a:off x="960" y="2352"/>
              <a:ext cx="76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03" name="Line 93"/>
            <p:cNvSpPr/>
            <p:nvPr/>
          </p:nvSpPr>
          <p:spPr>
            <a:xfrm flipH="1">
              <a:off x="816" y="2400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04" name="Line 94"/>
            <p:cNvSpPr/>
            <p:nvPr/>
          </p:nvSpPr>
          <p:spPr>
            <a:xfrm>
              <a:off x="1776" y="2400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05" name="Line 95"/>
            <p:cNvSpPr/>
            <p:nvPr/>
          </p:nvSpPr>
          <p:spPr>
            <a:xfrm>
              <a:off x="816" y="2400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06" name="Line 96"/>
            <p:cNvSpPr/>
            <p:nvPr/>
          </p:nvSpPr>
          <p:spPr>
            <a:xfrm>
              <a:off x="1872" y="2400"/>
              <a:ext cx="0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07" name="Line 97"/>
            <p:cNvSpPr/>
            <p:nvPr/>
          </p:nvSpPr>
          <p:spPr>
            <a:xfrm>
              <a:off x="816" y="2640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08" name="Line 98"/>
            <p:cNvSpPr/>
            <p:nvPr/>
          </p:nvSpPr>
          <p:spPr>
            <a:xfrm>
              <a:off x="1632" y="2640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09" name="Rectangle 99"/>
            <p:cNvSpPr/>
            <p:nvPr/>
          </p:nvSpPr>
          <p:spPr>
            <a:xfrm>
              <a:off x="1008" y="2592"/>
              <a:ext cx="96" cy="14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13410" name="Oval 100"/>
            <p:cNvSpPr/>
            <p:nvPr/>
          </p:nvSpPr>
          <p:spPr>
            <a:xfrm>
              <a:off x="960" y="2640"/>
              <a:ext cx="48" cy="4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13411" name="Line 101"/>
            <p:cNvSpPr/>
            <p:nvPr/>
          </p:nvSpPr>
          <p:spPr>
            <a:xfrm>
              <a:off x="1104" y="2640"/>
              <a:ext cx="43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12" name="Line 102"/>
            <p:cNvSpPr/>
            <p:nvPr/>
          </p:nvSpPr>
          <p:spPr>
            <a:xfrm>
              <a:off x="1056" y="2832"/>
              <a:ext cx="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13" name="Line 103"/>
            <p:cNvSpPr/>
            <p:nvPr/>
          </p:nvSpPr>
          <p:spPr>
            <a:xfrm>
              <a:off x="816" y="2832"/>
              <a:ext cx="76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14" name="Line 104"/>
            <p:cNvSpPr/>
            <p:nvPr/>
          </p:nvSpPr>
          <p:spPr>
            <a:xfrm>
              <a:off x="1584" y="2736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15" name="Line 105"/>
            <p:cNvSpPr/>
            <p:nvPr/>
          </p:nvSpPr>
          <p:spPr>
            <a:xfrm>
              <a:off x="816" y="2976"/>
              <a:ext cx="62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16" name="Line 106"/>
            <p:cNvSpPr/>
            <p:nvPr/>
          </p:nvSpPr>
          <p:spPr>
            <a:xfrm>
              <a:off x="1344" y="2640"/>
              <a:ext cx="0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13417" name="Line 107"/>
            <p:cNvSpPr/>
            <p:nvPr/>
          </p:nvSpPr>
          <p:spPr>
            <a:xfrm>
              <a:off x="816" y="3120"/>
              <a:ext cx="6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18" name="Line 108"/>
            <p:cNvSpPr/>
            <p:nvPr/>
          </p:nvSpPr>
          <p:spPr>
            <a:xfrm>
              <a:off x="1488" y="3024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19" name="Line 109"/>
            <p:cNvSpPr/>
            <p:nvPr/>
          </p:nvSpPr>
          <p:spPr>
            <a:xfrm>
              <a:off x="1536" y="2976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20" name="Rectangle 110"/>
            <p:cNvSpPr/>
            <p:nvPr/>
          </p:nvSpPr>
          <p:spPr>
            <a:xfrm>
              <a:off x="1536" y="2592"/>
              <a:ext cx="96" cy="14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13421" name="Line 111"/>
            <p:cNvSpPr/>
            <p:nvPr/>
          </p:nvSpPr>
          <p:spPr>
            <a:xfrm>
              <a:off x="1056" y="2736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22" name="Rectangle 112"/>
            <p:cNvSpPr/>
            <p:nvPr/>
          </p:nvSpPr>
          <p:spPr>
            <a:xfrm>
              <a:off x="1440" y="2880"/>
              <a:ext cx="96" cy="14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13423" name="Line 113"/>
            <p:cNvSpPr/>
            <p:nvPr/>
          </p:nvSpPr>
          <p:spPr>
            <a:xfrm>
              <a:off x="1344" y="2352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24" name="Line 114"/>
            <p:cNvSpPr/>
            <p:nvPr/>
          </p:nvSpPr>
          <p:spPr>
            <a:xfrm>
              <a:off x="1344" y="2496"/>
              <a:ext cx="9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425" name="Rectangle 115"/>
            <p:cNvSpPr/>
            <p:nvPr/>
          </p:nvSpPr>
          <p:spPr>
            <a:xfrm>
              <a:off x="1968" y="1248"/>
              <a:ext cx="58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1800" b="1" dirty="0">
                  <a:latin typeface="Tahoma" panose="020B0604030504040204" pitchFamily="34" charset="0"/>
                </a:rPr>
                <a:t>  </a:t>
              </a:r>
              <a:r>
                <a:rPr lang="zh-CN" altLang="en-US" sz="1800" b="1" dirty="0">
                  <a:latin typeface="Tahoma" panose="020B0604030504040204" pitchFamily="34" charset="0"/>
                </a:rPr>
                <a:t>行线</a:t>
              </a:r>
              <a:r>
                <a:rPr lang="en-US" altLang="zh-CN" sz="1800" b="1" dirty="0">
                  <a:latin typeface="Tahoma" panose="020B0604030504040204" pitchFamily="34" charset="0"/>
                </a:rPr>
                <a:t>X</a:t>
              </a:r>
              <a:endParaRPr lang="en-US" altLang="zh-CN" sz="1800" b="1" dirty="0">
                <a:latin typeface="Tahoma" panose="020B0604030504040204" pitchFamily="34" charset="0"/>
              </a:endParaRPr>
            </a:p>
          </p:txBody>
        </p:sp>
        <p:sp>
          <p:nvSpPr>
            <p:cNvPr id="13426" name="Rectangle 116"/>
            <p:cNvSpPr/>
            <p:nvPr/>
          </p:nvSpPr>
          <p:spPr>
            <a:xfrm>
              <a:off x="1968" y="2256"/>
              <a:ext cx="50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zh-CN" altLang="en-US" sz="1800" b="1" dirty="0">
                  <a:latin typeface="Tahoma" panose="020B0604030504040204" pitchFamily="34" charset="0"/>
                </a:rPr>
                <a:t>列线</a:t>
              </a:r>
              <a:r>
                <a:rPr lang="en-US" altLang="zh-CN" sz="1800" b="1" dirty="0">
                  <a:latin typeface="Tahoma" panose="020B0604030504040204" pitchFamily="34" charset="0"/>
                </a:rPr>
                <a:t>Y</a:t>
              </a:r>
              <a:endParaRPr lang="en-US" altLang="zh-CN" sz="1800" b="1" dirty="0">
                <a:latin typeface="Tahoma" panose="020B0604030504040204" pitchFamily="34" charset="0"/>
              </a:endParaRPr>
            </a:p>
          </p:txBody>
        </p:sp>
        <p:sp>
          <p:nvSpPr>
            <p:cNvPr id="13427" name="Rectangle 117"/>
            <p:cNvSpPr/>
            <p:nvPr/>
          </p:nvSpPr>
          <p:spPr>
            <a:xfrm>
              <a:off x="336" y="2640"/>
              <a:ext cx="528" cy="66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zh-CN" altLang="en-US" sz="1800" b="1" dirty="0">
                  <a:latin typeface="Tahoma" panose="020B0604030504040204" pitchFamily="34" charset="0"/>
                </a:rPr>
                <a:t>写</a:t>
              </a:r>
              <a:endParaRPr lang="zh-CN" altLang="en-US" sz="1800" b="1" dirty="0">
                <a:latin typeface="Tahoma" panose="020B0604030504040204" pitchFamily="34" charset="0"/>
              </a:endParaRPr>
            </a:p>
            <a:p>
              <a:pPr>
                <a:spcBef>
                  <a:spcPct val="50000"/>
                </a:spcBef>
                <a:buClrTx/>
                <a:buFontTx/>
              </a:pPr>
              <a:r>
                <a:rPr lang="zh-CN" altLang="en-US" sz="1800" b="1" dirty="0">
                  <a:latin typeface="Tahoma" panose="020B0604030504040204" pitchFamily="34" charset="0"/>
                </a:rPr>
                <a:t>数据读</a:t>
              </a:r>
              <a:endParaRPr lang="zh-CN" altLang="en-US" sz="1800" b="1" dirty="0">
                <a:latin typeface="Tahoma" panose="020B0604030504040204" pitchFamily="34" charset="0"/>
              </a:endParaRPr>
            </a:p>
          </p:txBody>
        </p:sp>
        <p:sp>
          <p:nvSpPr>
            <p:cNvPr id="13428" name="Text Box 118"/>
            <p:cNvSpPr txBox="1"/>
            <p:nvPr/>
          </p:nvSpPr>
          <p:spPr>
            <a:xfrm>
              <a:off x="1488" y="2592"/>
              <a:ext cx="154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1200" dirty="0">
                  <a:latin typeface="Tahoma" panose="020B0604030504040204" pitchFamily="34" charset="0"/>
                </a:rPr>
                <a:t>1</a:t>
              </a:r>
              <a:endParaRPr lang="en-US" altLang="zh-CN" sz="1200" dirty="0">
                <a:latin typeface="Tahoma" panose="020B0604030504040204" pitchFamily="34" charset="0"/>
              </a:endParaRPr>
            </a:p>
          </p:txBody>
        </p:sp>
        <p:sp>
          <p:nvSpPr>
            <p:cNvPr id="13429" name="Text Box 119"/>
            <p:cNvSpPr txBox="1"/>
            <p:nvPr/>
          </p:nvSpPr>
          <p:spPr>
            <a:xfrm>
              <a:off x="960" y="2592"/>
              <a:ext cx="154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1200" dirty="0">
                  <a:latin typeface="Tahoma" panose="020B0604030504040204" pitchFamily="34" charset="0"/>
                </a:rPr>
                <a:t>1</a:t>
              </a:r>
              <a:endParaRPr lang="en-US" altLang="zh-CN" sz="1200" dirty="0">
                <a:latin typeface="Tahoma" panose="020B0604030504040204" pitchFamily="34" charset="0"/>
              </a:endParaRPr>
            </a:p>
          </p:txBody>
        </p:sp>
        <p:sp>
          <p:nvSpPr>
            <p:cNvPr id="13430" name="Text Box 120"/>
            <p:cNvSpPr txBox="1"/>
            <p:nvPr/>
          </p:nvSpPr>
          <p:spPr>
            <a:xfrm>
              <a:off x="1392" y="2832"/>
              <a:ext cx="154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1200" dirty="0">
                  <a:latin typeface="Tahoma" panose="020B0604030504040204" pitchFamily="34" charset="0"/>
                </a:rPr>
                <a:t>1</a:t>
              </a:r>
              <a:endParaRPr lang="en-US" altLang="zh-CN" sz="1200" dirty="0">
                <a:latin typeface="Tahoma" panose="020B0604030504040204" pitchFamily="34" charset="0"/>
              </a:endParaRPr>
            </a:p>
          </p:txBody>
        </p:sp>
        <p:sp>
          <p:nvSpPr>
            <p:cNvPr id="13431" name="Rectangle 121"/>
            <p:cNvSpPr/>
            <p:nvPr/>
          </p:nvSpPr>
          <p:spPr>
            <a:xfrm>
              <a:off x="1680" y="1344"/>
              <a:ext cx="245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1600" b="1" dirty="0">
                  <a:solidFill>
                    <a:srgbClr val="000000"/>
                  </a:solidFill>
                  <a:latin typeface="Tahoma" panose="020B0604030504040204" pitchFamily="34" charset="0"/>
                </a:rPr>
                <a:t>T</a:t>
              </a:r>
              <a:r>
                <a:rPr lang="en-US" altLang="zh-CN" sz="1600" b="1" baseline="-18000" dirty="0">
                  <a:solidFill>
                    <a:srgbClr val="000000"/>
                  </a:solidFill>
                  <a:latin typeface="Tahoma" panose="020B0604030504040204" pitchFamily="34" charset="0"/>
                </a:rPr>
                <a:t>6</a:t>
              </a:r>
              <a:endParaRPr lang="en-US" altLang="zh-CN" sz="1600" b="1" baseline="-18000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432" name="Rectangle 122"/>
            <p:cNvSpPr/>
            <p:nvPr/>
          </p:nvSpPr>
          <p:spPr>
            <a:xfrm>
              <a:off x="816" y="1344"/>
              <a:ext cx="245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1600" b="1" dirty="0">
                  <a:solidFill>
                    <a:srgbClr val="000000"/>
                  </a:solidFill>
                  <a:latin typeface="Tahoma" panose="020B0604030504040204" pitchFamily="34" charset="0"/>
                </a:rPr>
                <a:t>T</a:t>
              </a:r>
              <a:r>
                <a:rPr lang="en-US" altLang="zh-CN" sz="1600" b="1" baseline="-18000" dirty="0">
                  <a:solidFill>
                    <a:srgbClr val="000000"/>
                  </a:solidFill>
                  <a:latin typeface="Tahoma" panose="020B0604030504040204" pitchFamily="34" charset="0"/>
                </a:rPr>
                <a:t>5</a:t>
              </a:r>
              <a:endParaRPr lang="en-US" altLang="zh-CN" sz="1600" b="1" baseline="-18000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433" name="Rectangle 123"/>
            <p:cNvSpPr/>
            <p:nvPr/>
          </p:nvSpPr>
          <p:spPr>
            <a:xfrm>
              <a:off x="1152" y="1536"/>
              <a:ext cx="245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1600" b="1" dirty="0">
                  <a:solidFill>
                    <a:srgbClr val="000000"/>
                  </a:solidFill>
                  <a:latin typeface="Tahoma" panose="020B0604030504040204" pitchFamily="34" charset="0"/>
                </a:rPr>
                <a:t>T</a:t>
              </a:r>
              <a:r>
                <a:rPr lang="en-US" altLang="zh-CN" sz="1600" b="1" baseline="-18000" dirty="0">
                  <a:solidFill>
                    <a:srgbClr val="000000"/>
                  </a:solidFill>
                  <a:latin typeface="Tahoma" panose="020B0604030504040204" pitchFamily="34" charset="0"/>
                </a:rPr>
                <a:t>3</a:t>
              </a:r>
              <a:endParaRPr lang="en-US" altLang="zh-CN" sz="1600" b="1" baseline="-18000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434" name="Rectangle 124"/>
            <p:cNvSpPr/>
            <p:nvPr/>
          </p:nvSpPr>
          <p:spPr>
            <a:xfrm>
              <a:off x="1344" y="1536"/>
              <a:ext cx="246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1600" b="1" dirty="0">
                  <a:solidFill>
                    <a:srgbClr val="000000"/>
                  </a:solidFill>
                  <a:latin typeface="Tahoma" panose="020B0604030504040204" pitchFamily="34" charset="0"/>
                </a:rPr>
                <a:t>T</a:t>
              </a:r>
              <a:r>
                <a:rPr lang="en-US" altLang="zh-CN" sz="1600" b="1" baseline="-18000" dirty="0">
                  <a:solidFill>
                    <a:srgbClr val="000000"/>
                  </a:solidFill>
                  <a:latin typeface="Tahoma" panose="020B0604030504040204" pitchFamily="34" charset="0"/>
                </a:rPr>
                <a:t>4</a:t>
              </a:r>
              <a:endParaRPr lang="en-US" altLang="zh-CN" sz="1600" b="1" baseline="-18000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435" name="Rectangle 125"/>
            <p:cNvSpPr/>
            <p:nvPr/>
          </p:nvSpPr>
          <p:spPr>
            <a:xfrm>
              <a:off x="1104" y="2064"/>
              <a:ext cx="245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1600" b="1" dirty="0">
                  <a:solidFill>
                    <a:srgbClr val="000000"/>
                  </a:solidFill>
                  <a:latin typeface="Tahoma" panose="020B0604030504040204" pitchFamily="34" charset="0"/>
                </a:rPr>
                <a:t>T</a:t>
              </a:r>
              <a:r>
                <a:rPr lang="en-US" altLang="zh-CN" sz="1600" b="1" baseline="-18000" dirty="0">
                  <a:solidFill>
                    <a:srgbClr val="000000"/>
                  </a:solidFill>
                  <a:latin typeface="Tahoma" panose="020B0604030504040204" pitchFamily="34" charset="0"/>
                </a:rPr>
                <a:t>1</a:t>
              </a:r>
              <a:endParaRPr lang="en-US" altLang="zh-CN" sz="1600" b="1" baseline="-18000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436" name="Rectangle 126"/>
            <p:cNvSpPr/>
            <p:nvPr/>
          </p:nvSpPr>
          <p:spPr>
            <a:xfrm>
              <a:off x="1392" y="2064"/>
              <a:ext cx="245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1600" b="1" dirty="0">
                  <a:solidFill>
                    <a:srgbClr val="000000"/>
                  </a:solidFill>
                  <a:latin typeface="Tahoma" panose="020B0604030504040204" pitchFamily="34" charset="0"/>
                </a:rPr>
                <a:t>T</a:t>
              </a:r>
              <a:r>
                <a:rPr lang="en-US" altLang="zh-CN" sz="1600" b="1" baseline="-18000" dirty="0">
                  <a:solidFill>
                    <a:srgbClr val="000000"/>
                  </a:solidFill>
                  <a:latin typeface="Tahoma" panose="020B0604030504040204" pitchFamily="34" charset="0"/>
                </a:rPr>
                <a:t>2</a:t>
              </a:r>
              <a:endParaRPr lang="en-US" altLang="zh-CN" sz="1600" b="1" baseline="-18000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437" name="Rectangle 127"/>
            <p:cNvSpPr/>
            <p:nvPr/>
          </p:nvSpPr>
          <p:spPr>
            <a:xfrm>
              <a:off x="912" y="2352"/>
              <a:ext cx="245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1600" b="1" dirty="0">
                  <a:solidFill>
                    <a:srgbClr val="000000"/>
                  </a:solidFill>
                  <a:latin typeface="Tahoma" panose="020B0604030504040204" pitchFamily="34" charset="0"/>
                </a:rPr>
                <a:t>T</a:t>
              </a:r>
              <a:r>
                <a:rPr lang="en-US" altLang="zh-CN" sz="1600" b="1" baseline="-18000" dirty="0">
                  <a:solidFill>
                    <a:srgbClr val="000000"/>
                  </a:solidFill>
                  <a:latin typeface="Tahoma" panose="020B0604030504040204" pitchFamily="34" charset="0"/>
                </a:rPr>
                <a:t>7</a:t>
              </a:r>
              <a:endParaRPr lang="en-US" altLang="zh-CN" sz="1600" b="1" baseline="-18000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438" name="Rectangle 128"/>
            <p:cNvSpPr/>
            <p:nvPr/>
          </p:nvSpPr>
          <p:spPr>
            <a:xfrm>
              <a:off x="1536" y="2304"/>
              <a:ext cx="245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1600" b="1" dirty="0">
                  <a:solidFill>
                    <a:srgbClr val="000000"/>
                  </a:solidFill>
                  <a:latin typeface="Tahoma" panose="020B0604030504040204" pitchFamily="34" charset="0"/>
                </a:rPr>
                <a:t>T</a:t>
              </a:r>
              <a:r>
                <a:rPr lang="en-US" altLang="zh-CN" sz="1600" b="1" baseline="-18000" dirty="0">
                  <a:solidFill>
                    <a:srgbClr val="000000"/>
                  </a:solidFill>
                  <a:latin typeface="Tahoma" panose="020B0604030504040204" pitchFamily="34" charset="0"/>
                </a:rPr>
                <a:t>8</a:t>
              </a:r>
              <a:endParaRPr lang="en-US" altLang="zh-CN" sz="1600" b="1" baseline="-18000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439" name="Rectangle 129"/>
            <p:cNvSpPr/>
            <p:nvPr/>
          </p:nvSpPr>
          <p:spPr>
            <a:xfrm>
              <a:off x="1344" y="1248"/>
              <a:ext cx="345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1600" b="1" dirty="0">
                  <a:solidFill>
                    <a:srgbClr val="000000"/>
                  </a:solidFill>
                  <a:latin typeface="Tahoma" panose="020B0604030504040204" pitchFamily="34" charset="0"/>
                </a:rPr>
                <a:t>+5V</a:t>
              </a:r>
              <a:endParaRPr lang="en-US" altLang="zh-CN" sz="1600" b="1" baseline="-18000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440" name="Rectangle 130"/>
            <p:cNvSpPr/>
            <p:nvPr/>
          </p:nvSpPr>
          <p:spPr>
            <a:xfrm>
              <a:off x="672" y="1296"/>
              <a:ext cx="1344" cy="960"/>
            </a:xfrm>
            <a:prstGeom prst="rect">
              <a:avLst/>
            </a:prstGeom>
            <a:noFill/>
            <a:ln w="9525" cap="rnd" cmpd="sng">
              <a:solidFill>
                <a:srgbClr val="FF0000"/>
              </a:solidFill>
              <a:prstDash val="sysDot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</p:grpSp>
      <p:sp>
        <p:nvSpPr>
          <p:cNvPr id="13441" name="Rectangle 131"/>
          <p:cNvSpPr/>
          <p:nvPr/>
        </p:nvSpPr>
        <p:spPr>
          <a:xfrm>
            <a:off x="824230" y="476250"/>
            <a:ext cx="7201535" cy="73279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SRAM、DRAM存储单元电路图</a:t>
            </a:r>
            <a:endParaRPr lang="zh-CN" altLang="en-US" sz="2800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4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4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721" grpId="0"/>
      <p:bldP spid="1147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4.1.2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半导体存储器的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主要技术指标</a:t>
            </a:r>
            <a:endParaRPr lang="zh-CN" altLang="en-US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92760" y="1484630"/>
            <a:ext cx="435864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/>
              <a:t> </a:t>
            </a:r>
            <a:r>
              <a:rPr lang="zh-CN" altLang="en-US" b="1"/>
              <a:t>1</a:t>
            </a:r>
            <a:r>
              <a:rPr lang="en-US" altLang="zh-CN" b="1"/>
              <a:t>. </a:t>
            </a:r>
            <a:r>
              <a:rPr lang="zh-CN" altLang="en-US" b="1"/>
              <a:t>存储容量</a:t>
            </a:r>
            <a:endParaRPr lang="zh-CN" altLang="en-US" b="1"/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492760" y="2413000"/>
            <a:ext cx="435864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/>
              <a:t> 2. </a:t>
            </a:r>
            <a:r>
              <a:rPr lang="zh-CN" altLang="en-US" b="1"/>
              <a:t>存取时间和存取周期</a:t>
            </a:r>
            <a:endParaRPr lang="zh-CN" altLang="en-US" b="1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492760" y="3341370"/>
            <a:ext cx="448564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/>
              <a:t> 3. </a:t>
            </a:r>
            <a:r>
              <a:rPr lang="zh-CN" altLang="en-US" b="1"/>
              <a:t>可靠性</a:t>
            </a:r>
            <a:endParaRPr lang="zh-CN" altLang="en-US" b="1"/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492760" y="4269740"/>
            <a:ext cx="46132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/>
              <a:t> 4. </a:t>
            </a:r>
            <a:r>
              <a:rPr lang="zh-CN" altLang="en-US" b="1"/>
              <a:t>功耗</a:t>
            </a:r>
            <a:endParaRPr lang="zh-CN" altLang="en-US" b="1"/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492760" y="5198110"/>
            <a:ext cx="46132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/>
              <a:t> 5. </a:t>
            </a:r>
            <a:r>
              <a:rPr lang="zh-CN" altLang="en-US" b="1"/>
              <a:t>性价比</a:t>
            </a:r>
            <a:endParaRPr lang="zh-CN" altLang="en-US" b="1"/>
          </a:p>
        </p:txBody>
      </p:sp>
      <p:sp>
        <p:nvSpPr>
          <p:cNvPr id="8" name="文本框 7"/>
          <p:cNvSpPr txBox="1"/>
          <p:nvPr/>
        </p:nvSpPr>
        <p:spPr>
          <a:xfrm>
            <a:off x="611505" y="1948815"/>
            <a:ext cx="84124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b="1">
                <a:solidFill>
                  <a:srgbClr val="C00000"/>
                </a:solidFill>
              </a:rPr>
              <a:t>可</a:t>
            </a:r>
            <a:r>
              <a:rPr b="1">
                <a:solidFill>
                  <a:srgbClr val="C00000"/>
                </a:solidFill>
              </a:rPr>
              <a:t>存储的二进制信息总量</a:t>
            </a:r>
            <a:r>
              <a:rPr lang="zh-CN" b="1">
                <a:solidFill>
                  <a:srgbClr val="C00000"/>
                </a:solidFill>
              </a:rPr>
              <a:t>，（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  <a:ea typeface="+mn-ea"/>
                <a:sym typeface="+mn-ea"/>
              </a:rPr>
              <a:t>存储器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  <a:ea typeface="+mn-ea"/>
                <a:sym typeface="+mn-ea"/>
              </a:rPr>
              <a:t>Byte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  <a:ea typeface="+mn-ea"/>
                <a:sym typeface="+mn-ea"/>
              </a:rPr>
              <a:t>，存储器芯片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  <a:ea typeface="+mn-ea"/>
                <a:sym typeface="+mn-ea"/>
              </a:rPr>
              <a:t>bit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  <a:ea typeface="+mn-ea"/>
                <a:sym typeface="+mn-ea"/>
              </a:rPr>
              <a:t>）</a:t>
            </a:r>
            <a:endParaRPr lang="zh-CN" altLang="en-US" b="1" dirty="0">
              <a:solidFill>
                <a:srgbClr val="C00000"/>
              </a:solidFill>
              <a:latin typeface="宋体" panose="02010600030101010101" pitchFamily="2" charset="-122"/>
              <a:ea typeface="+mn-ea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11505" y="2877185"/>
            <a:ext cx="84124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b="1">
                <a:solidFill>
                  <a:srgbClr val="C00000"/>
                </a:solidFill>
              </a:rPr>
              <a:t>反映了计算机的存取速度，存取周期大于等于存取时间</a:t>
            </a:r>
            <a:endParaRPr lang="zh-CN" altLang="en-US" b="1" dirty="0">
              <a:solidFill>
                <a:srgbClr val="C00000"/>
              </a:solidFill>
              <a:latin typeface="宋体" panose="02010600030101010101" pitchFamily="2" charset="-122"/>
              <a:ea typeface="+mn-ea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1505" y="3805555"/>
            <a:ext cx="84124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b="1">
                <a:solidFill>
                  <a:srgbClr val="C00000"/>
                </a:solidFill>
              </a:rPr>
              <a:t>用平均故障间隔时间MTBF衡量，MTBF越长，可靠性越高</a:t>
            </a:r>
            <a:endParaRPr lang="zh-CN" b="1">
              <a:solidFill>
                <a:srgbClr val="C0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1505" y="4733925"/>
            <a:ext cx="84124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b="1">
                <a:solidFill>
                  <a:srgbClr val="C00000"/>
                </a:solidFill>
              </a:rPr>
              <a:t>反映存储器件的能耗，也反映其发热的程度</a:t>
            </a:r>
            <a:endParaRPr lang="zh-CN" b="1">
              <a:solidFill>
                <a:srgbClr val="C0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1505" y="5662295"/>
            <a:ext cx="84124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b="1">
                <a:solidFill>
                  <a:srgbClr val="C00000"/>
                </a:solidFill>
              </a:rPr>
              <a:t>衡量存储器经济性能的好坏，是以上指标的综合参数</a:t>
            </a:r>
            <a:endParaRPr lang="zh-CN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4.1.3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半导体存储器的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基本结构</a:t>
            </a:r>
            <a:endParaRPr lang="zh-CN" altLang="en-US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316230" y="1571625"/>
            <a:ext cx="8464550" cy="4499610"/>
            <a:chOff x="498" y="2475"/>
            <a:chExt cx="13330" cy="7086"/>
          </a:xfrm>
        </p:grpSpPr>
        <p:grpSp>
          <p:nvGrpSpPr>
            <p:cNvPr id="33" name="组合 32"/>
            <p:cNvGrpSpPr/>
            <p:nvPr/>
          </p:nvGrpSpPr>
          <p:grpSpPr>
            <a:xfrm>
              <a:off x="498" y="2475"/>
              <a:ext cx="13331" cy="7086"/>
              <a:chOff x="498" y="2475"/>
              <a:chExt cx="13331" cy="7086"/>
            </a:xfrm>
          </p:grpSpPr>
          <p:grpSp>
            <p:nvGrpSpPr>
              <p:cNvPr id="18434" name="组合 17410"/>
              <p:cNvGrpSpPr/>
              <p:nvPr/>
            </p:nvGrpSpPr>
            <p:grpSpPr>
              <a:xfrm>
                <a:off x="498" y="4152"/>
                <a:ext cx="11550" cy="4565"/>
                <a:chOff x="-144" y="-557"/>
                <a:chExt cx="4620" cy="1826"/>
              </a:xfrm>
            </p:grpSpPr>
            <p:sp>
              <p:nvSpPr>
                <p:cNvPr id="18435" name="矩形 17411"/>
                <p:cNvSpPr/>
                <p:nvPr>
                  <p:custDataLst>
                    <p:tags r:id="rId2"/>
                  </p:custDataLst>
                </p:nvPr>
              </p:nvSpPr>
              <p:spPr>
                <a:xfrm>
                  <a:off x="1949" y="0"/>
                  <a:ext cx="803" cy="1151"/>
                </a:xfrm>
                <a:prstGeom prst="rect">
                  <a:avLst/>
                </a:prstGeom>
                <a:solidFill>
                  <a:schemeClr val="accent2"/>
                </a:solidFill>
                <a:ln w="28575" cap="flat" cmpd="sng">
                  <a:solidFill>
                    <a:srgbClr val="0066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 anchorCtr="0"/>
                <a:p>
                  <a:endParaRPr lang="zh-CN" altLang="en-US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436" name="矩形 17412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489" y="0"/>
                  <a:ext cx="330" cy="1151"/>
                </a:xfrm>
                <a:prstGeom prst="rect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12700" tIns="12700" rIns="12700" bIns="12700" anchor="t" anchorCtr="0"/>
                <a:p>
                  <a:pPr algn="ctr" eaLnBrk="0" hangingPunct="0"/>
                  <a:r>
                    <a:rPr lang="zh-CN" altLang="en-US" sz="24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地</a:t>
                  </a:r>
                  <a:endParaRPr lang="zh-CN" altLang="en-US" sz="2400" b="1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  <a:p>
                  <a:pPr algn="ctr" eaLnBrk="0" hangingPunct="0"/>
                  <a:r>
                    <a:rPr lang="zh-CN" altLang="en-US" sz="24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址</a:t>
                  </a:r>
                  <a:endParaRPr lang="zh-CN" altLang="en-US" sz="2400" b="1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  <a:p>
                  <a:pPr algn="ctr" eaLnBrk="0" hangingPunct="0"/>
                  <a:r>
                    <a:rPr lang="zh-CN" altLang="en-US" sz="24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寄</a:t>
                  </a:r>
                  <a:endParaRPr lang="zh-CN" altLang="en-US" sz="2400" b="1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  <a:p>
                  <a:pPr algn="ctr" eaLnBrk="0" hangingPunct="0"/>
                  <a:r>
                    <a:rPr lang="zh-CN" altLang="en-US" sz="24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存器</a:t>
                  </a:r>
                  <a:endParaRPr lang="zh-CN" altLang="en-US" sz="2400" b="1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  <a:p>
                  <a:pPr algn="ctr" eaLnBrk="0" hangingPunct="0"/>
                  <a:endParaRPr lang="zh-CN" altLang="en-US" sz="2400" b="1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437" name="矩形 17413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1105" y="0"/>
                  <a:ext cx="330" cy="1151"/>
                </a:xfrm>
                <a:prstGeom prst="rect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12700" tIns="12700" rIns="12700" bIns="12700" anchor="t" anchorCtr="0"/>
                <a:p>
                  <a:pPr algn="ctr" eaLnBrk="0" hangingPunct="0"/>
                  <a:r>
                    <a:rPr lang="zh-CN" altLang="en-US" sz="24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地</a:t>
                  </a:r>
                  <a:endParaRPr lang="zh-CN" altLang="en-US" sz="2400" b="1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  <a:p>
                  <a:pPr algn="ctr" eaLnBrk="0" hangingPunct="0"/>
                  <a:r>
                    <a:rPr lang="zh-CN" altLang="en-US" sz="24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址</a:t>
                  </a:r>
                  <a:endParaRPr lang="zh-CN" altLang="en-US" sz="2400" b="1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  <a:p>
                  <a:pPr algn="ctr" eaLnBrk="0" hangingPunct="0"/>
                  <a:r>
                    <a:rPr lang="zh-CN" altLang="en-US" sz="24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译</a:t>
                  </a:r>
                  <a:endParaRPr lang="zh-CN" altLang="en-US" sz="2400" b="1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  <a:p>
                  <a:pPr algn="ctr" eaLnBrk="0" hangingPunct="0"/>
                  <a:r>
                    <a:rPr lang="zh-CN" altLang="en-US" sz="24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码器</a:t>
                  </a:r>
                  <a:endParaRPr lang="zh-CN" altLang="en-US" sz="2400" b="1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  <a:p>
                  <a:pPr algn="ctr" eaLnBrk="0" hangingPunct="0"/>
                  <a:endParaRPr lang="zh-CN" altLang="en-US" sz="2400" b="1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  <a:p>
                  <a:pPr algn="ctr" eaLnBrk="0" hangingPunct="0"/>
                  <a:endParaRPr lang="zh-CN" altLang="en-US" sz="2400" b="1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438" name="矩形 17414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1809" y="365"/>
                  <a:ext cx="1070" cy="51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12700" tIns="12700" rIns="12700" bIns="12700" anchor="t" anchorCtr="0"/>
                <a:p>
                  <a:pPr algn="ctr" eaLnBrk="0" hangingPunct="0"/>
                  <a:r>
                    <a:rPr lang="zh-CN" altLang="en-US" sz="24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存储体</a:t>
                  </a:r>
                  <a:endParaRPr lang="zh-CN" altLang="en-US" sz="2400" b="1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439" name="直接连接符 17415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1434" y="328"/>
                  <a:ext cx="522" cy="2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arrow" w="sm" len="sm"/>
                </a:ln>
              </p:spPr>
            </p:sp>
            <p:sp>
              <p:nvSpPr>
                <p:cNvPr id="18444" name="直接连接符 17420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1434" y="944"/>
                  <a:ext cx="522" cy="1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arrow" w="sm" len="sm"/>
                </a:ln>
              </p:spPr>
            </p:sp>
            <p:sp>
              <p:nvSpPr>
                <p:cNvPr id="18445" name="直接连接符 17421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1434" y="164"/>
                  <a:ext cx="522" cy="2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arrow" w="sm" len="sm"/>
                </a:ln>
              </p:spPr>
            </p:sp>
            <p:sp>
              <p:nvSpPr>
                <p:cNvPr id="18446" name="矩形 17422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1740" y="-557"/>
                  <a:ext cx="1308" cy="329"/>
                </a:xfrm>
                <a:prstGeom prst="rect">
                  <a:avLst/>
                </a:prstGeom>
                <a:solidFill>
                  <a:srgbClr val="66FFFF"/>
                </a:solidFill>
                <a:ln w="28575" cap="flat" cmpd="sng">
                  <a:solidFill>
                    <a:srgbClr val="0066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12700" tIns="12700" rIns="12700" bIns="12700" anchor="ctr" anchorCtr="0"/>
                <a:p>
                  <a:pPr algn="ctr" eaLnBrk="0" hangingPunct="0"/>
                  <a:r>
                    <a:rPr lang="zh-CN" altLang="en-US" sz="24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读</a:t>
                  </a:r>
                  <a:r>
                    <a:rPr lang="en-US" altLang="zh-CN" sz="24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/</a:t>
                  </a:r>
                  <a:r>
                    <a:rPr lang="zh-CN" altLang="en-US" sz="24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写控制电路</a:t>
                  </a:r>
                  <a:endParaRPr lang="zh-CN" altLang="en-US" sz="2400" b="1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447" name="矩形 17423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-144" y="-537"/>
                  <a:ext cx="227" cy="180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12700" tIns="12700" rIns="12700" bIns="12700" anchor="t" anchorCtr="0"/>
                <a:p>
                  <a:pPr algn="ctr" eaLnBrk="0" hangingPunct="0"/>
                  <a:r>
                    <a:rPr lang="en-US" altLang="zh-CN" sz="2400" b="1">
                      <a:solidFill>
                        <a:srgbClr val="FF0066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n</a:t>
                  </a:r>
                  <a:r>
                    <a:rPr lang="zh-CN" altLang="en-US" sz="2400" b="1">
                      <a:solidFill>
                        <a:srgbClr val="FF0066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位地址总线</a:t>
                  </a:r>
                  <a:endParaRPr lang="zh-CN" altLang="en-US" sz="2400" b="1">
                    <a:solidFill>
                      <a:srgbClr val="FF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448" name="矩形 17424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4146" y="0"/>
                  <a:ext cx="330" cy="1151"/>
                </a:xfrm>
                <a:prstGeom prst="rect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12700" tIns="12700" rIns="12700" bIns="12700" anchor="t" anchorCtr="0"/>
                <a:p>
                  <a:pPr algn="ctr" eaLnBrk="0" hangingPunct="0"/>
                  <a:r>
                    <a:rPr lang="zh-CN" altLang="en-US" sz="24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数</a:t>
                  </a:r>
                  <a:endParaRPr lang="zh-CN" altLang="en-US" sz="2400" b="1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  <a:p>
                  <a:pPr algn="ctr" eaLnBrk="0" hangingPunct="0"/>
                  <a:r>
                    <a:rPr lang="zh-CN" altLang="en-US" sz="24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据</a:t>
                  </a:r>
                  <a:endParaRPr lang="zh-CN" altLang="en-US" sz="2400" b="1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  <a:p>
                  <a:pPr algn="ctr" eaLnBrk="0" hangingPunct="0"/>
                  <a:r>
                    <a:rPr lang="zh-CN" altLang="en-US" sz="24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寄</a:t>
                  </a:r>
                  <a:endParaRPr lang="zh-CN" altLang="en-US" sz="2400" b="1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  <a:p>
                  <a:pPr algn="ctr" eaLnBrk="0" hangingPunct="0"/>
                  <a:r>
                    <a:rPr lang="zh-CN" altLang="en-US" sz="24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存器</a:t>
                  </a:r>
                  <a:endParaRPr lang="zh-CN" altLang="en-US" sz="2400" b="1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  <a:p>
                  <a:pPr algn="ctr" eaLnBrk="0" hangingPunct="0"/>
                  <a:endParaRPr lang="zh-CN" altLang="en-US" sz="2400" b="1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449" name="矩形 17425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3283" y="0"/>
                  <a:ext cx="330" cy="1151"/>
                </a:xfrm>
                <a:prstGeom prst="rect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12700" tIns="12700" rIns="12700" bIns="12700" anchor="t" anchorCtr="0"/>
                <a:p>
                  <a:pPr algn="ctr" eaLnBrk="0" hangingPunct="0"/>
                  <a:r>
                    <a:rPr lang="zh-CN" altLang="en-US" sz="20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读</a:t>
                  </a:r>
                  <a:endParaRPr lang="zh-CN" altLang="en-US" sz="2000" b="1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  <a:p>
                  <a:pPr algn="ctr" eaLnBrk="0" hangingPunct="0"/>
                  <a:r>
                    <a:rPr lang="zh-CN" altLang="en-US" sz="20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写驱动</a:t>
                  </a:r>
                  <a:endParaRPr lang="zh-CN" altLang="en-US" sz="2000" b="1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  <a:p>
                  <a:pPr algn="ctr" eaLnBrk="0" hangingPunct="0"/>
                  <a:r>
                    <a:rPr lang="zh-CN" altLang="en-US" sz="20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电</a:t>
                  </a:r>
                  <a:endParaRPr lang="zh-CN" altLang="en-US" sz="2000" b="1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  <a:p>
                  <a:pPr algn="ctr" eaLnBrk="0" hangingPunct="0"/>
                  <a:r>
                    <a:rPr lang="zh-CN" altLang="en-US" sz="2000" b="1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路</a:t>
                  </a:r>
                  <a:endParaRPr lang="zh-CN" altLang="en-US" sz="2400" b="1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  <a:p>
                  <a:pPr algn="ctr" eaLnBrk="0" hangingPunct="0"/>
                  <a:endParaRPr lang="zh-CN" altLang="en-US" sz="2400" b="1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461" name="直接连接符 17437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1686" y="558"/>
                  <a:ext cx="1" cy="186"/>
                </a:xfrm>
                <a:prstGeom prst="line">
                  <a:avLst/>
                </a:prstGeom>
                <a:ln w="28575" cap="flat" cmpd="sng">
                  <a:solidFill>
                    <a:srgbClr val="000000"/>
                  </a:solidFill>
                  <a:prstDash val="sysDot"/>
                  <a:round/>
                  <a:headEnd type="none" w="med" len="med"/>
                  <a:tailEnd type="none" w="med" len="med"/>
                </a:ln>
              </p:spPr>
            </p:sp>
          </p:grpSp>
          <p:cxnSp>
            <p:nvCxnSpPr>
              <p:cNvPr id="13" name="肘形连接符 12"/>
              <p:cNvCxnSpPr/>
              <p:nvPr/>
            </p:nvCxnSpPr>
            <p:spPr>
              <a:xfrm rot="10800000" flipV="1">
                <a:off x="2477" y="4373"/>
                <a:ext cx="2721" cy="1171"/>
              </a:xfrm>
              <a:prstGeom prst="bentConnector2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stealth" w="med" len="med"/>
              </a:ln>
            </p:spPr>
          </p:cxnSp>
          <p:cxnSp>
            <p:nvCxnSpPr>
              <p:cNvPr id="14" name="肘形连接符 13"/>
              <p:cNvCxnSpPr/>
              <p:nvPr/>
            </p:nvCxnSpPr>
            <p:spPr>
              <a:xfrm rot="10800000" flipV="1">
                <a:off x="4034" y="4798"/>
                <a:ext cx="1169" cy="747"/>
              </a:xfrm>
              <a:prstGeom prst="bentConnector2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stealth" w="med" len="med"/>
              </a:ln>
            </p:spPr>
          </p:cxnSp>
          <p:cxnSp>
            <p:nvCxnSpPr>
              <p:cNvPr id="15" name="肘形连接符 14"/>
              <p:cNvCxnSpPr/>
              <p:nvPr/>
            </p:nvCxnSpPr>
            <p:spPr>
              <a:xfrm>
                <a:off x="8478" y="4751"/>
                <a:ext cx="1001" cy="794"/>
              </a:xfrm>
              <a:prstGeom prst="bentConnector2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stealth" w="med" len="med"/>
              </a:ln>
            </p:spPr>
          </p:cxnSp>
          <p:cxnSp>
            <p:nvCxnSpPr>
              <p:cNvPr id="16" name="肘形连接符 15"/>
              <p:cNvCxnSpPr/>
              <p:nvPr/>
            </p:nvCxnSpPr>
            <p:spPr>
              <a:xfrm>
                <a:off x="8477" y="4378"/>
                <a:ext cx="3159" cy="1167"/>
              </a:xfrm>
              <a:prstGeom prst="bentConnector2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stealth" w="med" len="med"/>
              </a:ln>
            </p:spPr>
          </p:cxnSp>
          <p:sp>
            <p:nvSpPr>
              <p:cNvPr id="17" name="左右箭头 16"/>
              <p:cNvSpPr/>
              <p:nvPr/>
            </p:nvSpPr>
            <p:spPr>
              <a:xfrm>
                <a:off x="7767" y="6756"/>
                <a:ext cx="1304" cy="340"/>
              </a:xfrm>
              <a:prstGeom prst="leftRightArrow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vert="horz" wrap="non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en-US" alt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" name="左右箭头 17"/>
              <p:cNvSpPr/>
              <p:nvPr>
                <p:custDataLst>
                  <p:tags r:id="rId14"/>
                </p:custDataLst>
              </p:nvPr>
            </p:nvSpPr>
            <p:spPr>
              <a:xfrm>
                <a:off x="9911" y="6756"/>
                <a:ext cx="1304" cy="340"/>
              </a:xfrm>
              <a:prstGeom prst="leftRightArrow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vert="horz" wrap="non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en-US" alt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" name="矩形 17422"/>
              <p:cNvSpPr/>
              <p:nvPr>
                <p:custDataLst>
                  <p:tags r:id="rId15"/>
                </p:custDataLst>
              </p:nvPr>
            </p:nvSpPr>
            <p:spPr>
              <a:xfrm>
                <a:off x="4516" y="2565"/>
                <a:ext cx="5169" cy="823"/>
              </a:xfrm>
              <a:prstGeom prst="rect">
                <a:avLst/>
              </a:prstGeom>
              <a:noFill/>
              <a:ln w="28575" cap="flat" cmpd="sng">
                <a:solidFill>
                  <a:srgbClr val="0066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2700" tIns="12700" rIns="12700" bIns="12700" anchor="ctr" anchorCtr="0"/>
              <a:p>
                <a:pPr algn="ctr" eaLnBrk="0" hangingPunct="0"/>
                <a:r>
                  <a:rPr lang="en-US" sz="24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CPU</a:t>
                </a:r>
                <a:endParaRPr lang="en-US" sz="2400" b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" name="下箭头 19"/>
              <p:cNvSpPr/>
              <p:nvPr/>
            </p:nvSpPr>
            <p:spPr>
              <a:xfrm>
                <a:off x="6677" y="3388"/>
                <a:ext cx="510" cy="793"/>
              </a:xfrm>
              <a:prstGeom prst="downArrow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vert="horz" wrap="non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en-US" alt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7077" y="3407"/>
                <a:ext cx="2456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b="1">
                    <a:solidFill>
                      <a:srgbClr val="FF0000"/>
                    </a:solidFill>
                  </a:rPr>
                  <a:t>控制总线</a:t>
                </a:r>
                <a:endParaRPr lang="zh-CN" altLang="en-US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22" name="右箭头 21"/>
              <p:cNvSpPr/>
              <p:nvPr/>
            </p:nvSpPr>
            <p:spPr>
              <a:xfrm>
                <a:off x="2891" y="6761"/>
                <a:ext cx="737" cy="454"/>
              </a:xfrm>
              <a:prstGeom prst="rightArrow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vert="horz" wrap="non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en-US" alt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" name="右箭头 22"/>
              <p:cNvSpPr/>
              <p:nvPr>
                <p:custDataLst>
                  <p:tags r:id="rId16"/>
                </p:custDataLst>
              </p:nvPr>
            </p:nvSpPr>
            <p:spPr>
              <a:xfrm>
                <a:off x="1344" y="6756"/>
                <a:ext cx="737" cy="454"/>
              </a:xfrm>
              <a:prstGeom prst="rightArrow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vert="horz" wrap="non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en-US" alt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" name="左右箭头 23"/>
              <p:cNvSpPr/>
              <p:nvPr>
                <p:custDataLst>
                  <p:tags r:id="rId17"/>
                </p:custDataLst>
              </p:nvPr>
            </p:nvSpPr>
            <p:spPr>
              <a:xfrm>
                <a:off x="12076" y="6756"/>
                <a:ext cx="964" cy="340"/>
              </a:xfrm>
              <a:prstGeom prst="leftRightArrow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vert="horz" wrap="non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en-US" alt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25" name="直接连接符 24"/>
              <p:cNvCxnSpPr/>
              <p:nvPr/>
            </p:nvCxnSpPr>
            <p:spPr>
              <a:xfrm>
                <a:off x="1158" y="2475"/>
                <a:ext cx="12" cy="7087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26" name="直接连接符 25"/>
              <p:cNvCxnSpPr/>
              <p:nvPr>
                <p:custDataLst>
                  <p:tags r:id="rId18"/>
                </p:custDataLst>
              </p:nvPr>
            </p:nvCxnSpPr>
            <p:spPr>
              <a:xfrm>
                <a:off x="1358" y="2475"/>
                <a:ext cx="12" cy="7087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27" name="直接连接符 26"/>
              <p:cNvCxnSpPr/>
              <p:nvPr>
                <p:custDataLst>
                  <p:tags r:id="rId19"/>
                </p:custDataLst>
              </p:nvPr>
            </p:nvCxnSpPr>
            <p:spPr>
              <a:xfrm>
                <a:off x="13049" y="2475"/>
                <a:ext cx="12" cy="7087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28" name="直接连接符 27"/>
              <p:cNvCxnSpPr/>
              <p:nvPr>
                <p:custDataLst>
                  <p:tags r:id="rId20"/>
                </p:custDataLst>
              </p:nvPr>
            </p:nvCxnSpPr>
            <p:spPr>
              <a:xfrm>
                <a:off x="13249" y="2475"/>
                <a:ext cx="12" cy="7087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29" name="矩形 17423"/>
              <p:cNvSpPr/>
              <p:nvPr>
                <p:custDataLst>
                  <p:tags r:id="rId21"/>
                </p:custDataLst>
              </p:nvPr>
            </p:nvSpPr>
            <p:spPr>
              <a:xfrm>
                <a:off x="498" y="4202"/>
                <a:ext cx="568" cy="451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2700" tIns="12700" rIns="12700" bIns="12700" anchor="t" anchorCtr="0"/>
              <a:p>
                <a:pPr algn="ctr" eaLnBrk="0" hangingPunct="0"/>
                <a:r>
                  <a:rPr lang="en-US" altLang="zh-CN" sz="2400" b="1">
                    <a:solidFill>
                      <a:srgbClr val="FF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n</a:t>
                </a:r>
                <a:r>
                  <a:rPr lang="zh-CN" altLang="en-US" sz="2400" b="1">
                    <a:solidFill>
                      <a:srgbClr val="FF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位地址总线</a:t>
                </a:r>
                <a:endParaRPr lang="zh-CN" altLang="en-US" sz="2400" b="1">
                  <a:solidFill>
                    <a:srgbClr val="FF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" name="矩形 17423"/>
              <p:cNvSpPr/>
              <p:nvPr>
                <p:custDataLst>
                  <p:tags r:id="rId22"/>
                </p:custDataLst>
              </p:nvPr>
            </p:nvSpPr>
            <p:spPr>
              <a:xfrm>
                <a:off x="13261" y="4150"/>
                <a:ext cx="568" cy="451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2700" tIns="12700" rIns="12700" bIns="12700" anchor="t" anchorCtr="0"/>
              <a:p>
                <a:pPr algn="ctr" eaLnBrk="0" hangingPunct="0"/>
                <a:r>
                  <a:rPr lang="en-US" altLang="zh-CN" sz="2400" b="1">
                    <a:solidFill>
                      <a:srgbClr val="FF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m</a:t>
                </a:r>
                <a:r>
                  <a:rPr lang="zh-CN" altLang="en-US" sz="2400" b="1">
                    <a:solidFill>
                      <a:srgbClr val="FF00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位数据总线</a:t>
                </a:r>
                <a:endParaRPr lang="zh-CN" altLang="en-US" sz="2400" b="1">
                  <a:solidFill>
                    <a:srgbClr val="FF0066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" name="左右箭头 30"/>
              <p:cNvSpPr/>
              <p:nvPr>
                <p:custDataLst>
                  <p:tags r:id="rId23"/>
                </p:custDataLst>
              </p:nvPr>
            </p:nvSpPr>
            <p:spPr>
              <a:xfrm>
                <a:off x="9694" y="2801"/>
                <a:ext cx="3345" cy="340"/>
              </a:xfrm>
              <a:prstGeom prst="leftRightArrow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vert="horz" wrap="non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en-US" alt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" name="左右箭头 31"/>
              <p:cNvSpPr/>
              <p:nvPr>
                <p:custDataLst>
                  <p:tags r:id="rId24"/>
                </p:custDataLst>
              </p:nvPr>
            </p:nvSpPr>
            <p:spPr>
              <a:xfrm>
                <a:off x="1388" y="2798"/>
                <a:ext cx="3118" cy="340"/>
              </a:xfrm>
              <a:prstGeom prst="leftRightArrow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vert="horz" wrap="non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en-US" alt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4" name="矩形 33"/>
            <p:cNvSpPr/>
            <p:nvPr/>
          </p:nvSpPr>
          <p:spPr>
            <a:xfrm>
              <a:off x="1644" y="3472"/>
              <a:ext cx="10886" cy="5330"/>
            </a:xfrm>
            <a:prstGeom prst="rect">
              <a:avLst/>
            </a:prstGeom>
            <a:noFill/>
            <a:ln w="28575" cap="flat" cmpd="sng" algn="ctr">
              <a:solidFill>
                <a:schemeClr val="accent1">
                  <a:shade val="50000"/>
                </a:schemeClr>
              </a:solidFill>
              <a:prstDash val="sysDash"/>
              <a:miter lim="800000"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2124075" y="6165215"/>
            <a:ext cx="503491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半导体存储器芯片内部的基本结构</a:t>
            </a:r>
            <a:endParaRPr lang="zh-CN" altLang="en-US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4.1.3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半导体存储器的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基本结构</a:t>
            </a:r>
            <a:endParaRPr lang="zh-CN" altLang="en-US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39115" y="1556385"/>
            <a:ext cx="503491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/>
              <a:t> 1. </a:t>
            </a:r>
            <a:r>
              <a:rPr lang="zh-CN" altLang="en-US" b="1"/>
              <a:t>半体存储器芯片内部的基本结构：</a:t>
            </a:r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611505" y="1988820"/>
            <a:ext cx="8406130" cy="26015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spcBef>
                <a:spcPct val="20000"/>
              </a:spcBef>
              <a:buClr>
                <a:srgbClr val="9900FF"/>
              </a:buClr>
              <a:buSzPct val="65000"/>
              <a:buFont typeface="Wingdings" panose="05000000000000000000" pitchFamily="2" charset="2"/>
            </a:pPr>
            <a:r>
              <a:rPr lang="zh-CN" altLang="en-US" b="1">
                <a:latin typeface="Calibri" panose="020F0502020204030204" charset="0"/>
                <a:sym typeface="+mn-ea"/>
              </a:rPr>
              <a:t>①</a:t>
            </a:r>
            <a:r>
              <a:rPr lang="en-US" altLang="zh-CN" b="1">
                <a:latin typeface="Calibri" panose="020F0502020204030204" charset="0"/>
                <a:sym typeface="+mn-ea"/>
              </a:rPr>
              <a:t> </a:t>
            </a:r>
            <a:r>
              <a:rPr lang="zh-CN" altLang="en-US" b="1">
                <a:latin typeface="Times New Roman" panose="02020603050405020304" pitchFamily="18" charset="0"/>
                <a:sym typeface="+mn-ea"/>
              </a:rPr>
              <a:t>存储体</a:t>
            </a:r>
            <a:endParaRPr lang="zh-CN" altLang="en-US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669925" lvl="1" indent="-325120" algn="l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</a:pP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存储信息的实体，是存储元的集合体</a:t>
            </a:r>
            <a:endParaRPr lang="zh-CN" altLang="en-US" b="1">
              <a:solidFill>
                <a:srgbClr val="FF0000"/>
              </a:solidFill>
              <a:latin typeface="Times New Roman" panose="02020603050405020304" pitchFamily="18" charset="0"/>
              <a:sym typeface="+mn-ea"/>
            </a:endParaRPr>
          </a:p>
          <a:p>
            <a:pPr marL="669925" lvl="1" indent="-325120" algn="l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charset="0"/>
              <a:buChar char="q"/>
            </a:pP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存储元存储一位二进制，若干存储元构成一个存储单元</a:t>
            </a:r>
            <a:endParaRPr lang="zh-CN" altLang="en-US" b="1">
              <a:solidFill>
                <a:srgbClr val="FF0000"/>
              </a:solidFill>
              <a:latin typeface="Times New Roman" panose="02020603050405020304" pitchFamily="18" charset="0"/>
              <a:sym typeface="+mn-ea"/>
            </a:endParaRPr>
          </a:p>
          <a:p>
            <a:pPr marL="669925" lvl="1" indent="-325120" algn="l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charset="0"/>
              <a:buChar char="q"/>
            </a:pP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容量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=存储单元个数×存储单元中数据的位数</a:t>
            </a:r>
            <a:r>
              <a:rPr lang="zh-CN" altLang="en-US">
                <a:latin typeface="Times New Roman" panose="02020603050405020304" pitchFamily="18" charset="0"/>
                <a:sym typeface="+mn-ea"/>
              </a:rPr>
              <a:t>＝</a:t>
            </a:r>
            <a:r>
              <a:rPr lang="en-US" altLang="zh-CN">
                <a:sym typeface="+mn-ea"/>
              </a:rPr>
              <a:t>2</a:t>
            </a:r>
            <a:r>
              <a:rPr lang="en-US" altLang="zh-CN" baseline="30000">
                <a:solidFill>
                  <a:schemeClr val="hlink"/>
                </a:solidFill>
                <a:sym typeface="+mn-ea"/>
              </a:rPr>
              <a:t>M</a:t>
            </a:r>
            <a:r>
              <a:rPr lang="en-US" altLang="zh-CN">
                <a:latin typeface="Times New Roman" panose="02020603050405020304" pitchFamily="18" charset="0"/>
                <a:sym typeface="+mn-ea"/>
              </a:rPr>
              <a:t>×</a:t>
            </a:r>
            <a:r>
              <a:rPr lang="en-US" altLang="zh-CN">
                <a:solidFill>
                  <a:srgbClr val="663300"/>
                </a:solidFill>
                <a:sym typeface="+mn-ea"/>
              </a:rPr>
              <a:t>N</a:t>
            </a:r>
            <a:endParaRPr lang="en-US" altLang="zh-CN">
              <a:solidFill>
                <a:srgbClr val="663300"/>
              </a:solidFill>
              <a:sym typeface="+mn-ea"/>
            </a:endParaRPr>
          </a:p>
          <a:p>
            <a:pPr marL="1127125" lvl="2" indent="-325120" algn="l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charset="0"/>
              <a:buChar char="q"/>
            </a:pPr>
            <a:r>
              <a:rPr lang="en-US" altLang="zh-CN" sz="2200">
                <a:solidFill>
                  <a:schemeClr val="hlink"/>
                </a:solidFill>
                <a:latin typeface="Times New Roman" panose="02020603050405020304" pitchFamily="18" charset="0"/>
                <a:sym typeface="+mn-ea"/>
              </a:rPr>
              <a:t>M</a:t>
            </a:r>
            <a:r>
              <a:rPr lang="zh-CN" altLang="en-US" sz="2200">
                <a:latin typeface="Times New Roman" panose="02020603050405020304" pitchFamily="18" charset="0"/>
                <a:sym typeface="+mn-ea"/>
              </a:rPr>
              <a:t>：芯片的</a:t>
            </a:r>
            <a:r>
              <a:rPr lang="zh-CN" altLang="en-US" sz="2200">
                <a:solidFill>
                  <a:schemeClr val="hlink"/>
                </a:solidFill>
                <a:latin typeface="Times New Roman" panose="02020603050405020304" pitchFamily="18" charset="0"/>
                <a:sym typeface="+mn-ea"/>
              </a:rPr>
              <a:t>地址线根数</a:t>
            </a:r>
            <a:endParaRPr lang="zh-CN" altLang="en-US" sz="2200">
              <a:solidFill>
                <a:schemeClr val="hlink"/>
              </a:solidFill>
              <a:latin typeface="Times New Roman" panose="02020603050405020304" pitchFamily="18" charset="0"/>
              <a:sym typeface="+mn-ea"/>
            </a:endParaRPr>
          </a:p>
          <a:p>
            <a:pPr marL="1127125" lvl="2" indent="-325120" algn="l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charset="0"/>
              <a:buChar char="q"/>
            </a:pPr>
            <a:r>
              <a:rPr lang="en-US" altLang="zh-CN" sz="2200">
                <a:solidFill>
                  <a:srgbClr val="663300"/>
                </a:solidFill>
                <a:latin typeface="Times New Roman" panose="02020603050405020304" pitchFamily="18" charset="0"/>
                <a:sym typeface="+mn-ea"/>
              </a:rPr>
              <a:t>N</a:t>
            </a:r>
            <a:r>
              <a:rPr lang="zh-CN" altLang="en-US" sz="2200">
                <a:latin typeface="Times New Roman" panose="02020603050405020304" pitchFamily="18" charset="0"/>
                <a:sym typeface="+mn-ea"/>
              </a:rPr>
              <a:t>：芯片的</a:t>
            </a:r>
            <a:r>
              <a:rPr lang="zh-CN" altLang="en-US" sz="2200">
                <a:solidFill>
                  <a:srgbClr val="663300"/>
                </a:solidFill>
                <a:latin typeface="Times New Roman" panose="02020603050405020304" pitchFamily="18" charset="0"/>
                <a:sym typeface="+mn-ea"/>
              </a:rPr>
              <a:t>数据线根数</a:t>
            </a:r>
            <a:endParaRPr lang="en-US" altLang="zh-CN" sz="2200" b="1">
              <a:solidFill>
                <a:srgbClr val="FF0000"/>
              </a:solidFill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1505" y="4505325"/>
            <a:ext cx="8201025" cy="9036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spcBef>
                <a:spcPct val="20000"/>
              </a:spcBef>
              <a:buClr>
                <a:srgbClr val="9900FF"/>
              </a:buClr>
              <a:buSzPct val="65000"/>
              <a:buFont typeface="Wingdings" panose="05000000000000000000" pitchFamily="2" charset="2"/>
            </a:pPr>
            <a:r>
              <a:rPr lang="zh-CN" altLang="en-US" b="1">
                <a:latin typeface="Times New Roman" panose="02020603050405020304" pitchFamily="18" charset="0"/>
                <a:sym typeface="+mn-ea"/>
              </a:rPr>
              <a:t>② 地址译码器</a:t>
            </a:r>
            <a:endParaRPr lang="zh-CN" altLang="en-US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669925" lvl="1" indent="-325120" algn="l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</a:pP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根据输入的地址，完成译码选中芯片内特定的存储单元</a:t>
            </a:r>
            <a:endParaRPr lang="zh-CN" altLang="en-US" b="1">
              <a:solidFill>
                <a:srgbClr val="FF0000"/>
              </a:solidFill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11505" y="5369560"/>
            <a:ext cx="6752590" cy="9036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spcBef>
                <a:spcPct val="20000"/>
              </a:spcBef>
              <a:buClr>
                <a:srgbClr val="9900FF"/>
              </a:buClr>
              <a:buSzPct val="65000"/>
              <a:buFont typeface="Wingdings" panose="05000000000000000000" pitchFamily="2" charset="2"/>
            </a:pPr>
            <a:r>
              <a:rPr lang="zh-CN" altLang="en-US" b="1">
                <a:latin typeface="Times New Roman" panose="02020603050405020304" pitchFamily="18" charset="0"/>
                <a:sym typeface="+mn-ea"/>
              </a:rPr>
              <a:t>③</a:t>
            </a:r>
            <a:r>
              <a:rPr lang="en-US" altLang="zh-CN" b="1">
                <a:latin typeface="Times New Roman" panose="02020603050405020304" pitchFamily="18" charset="0"/>
                <a:sym typeface="+mn-ea"/>
              </a:rPr>
              <a:t> </a:t>
            </a:r>
            <a:r>
              <a:rPr lang="zh-CN" altLang="en-US" b="1">
                <a:latin typeface="Times New Roman" panose="02020603050405020304" pitchFamily="18" charset="0"/>
                <a:sym typeface="+mn-ea"/>
              </a:rPr>
              <a:t>读</a:t>
            </a:r>
            <a:r>
              <a:rPr lang="en-US" altLang="zh-CN" b="1">
                <a:latin typeface="Times New Roman" panose="02020603050405020304" pitchFamily="18" charset="0"/>
                <a:sym typeface="+mn-ea"/>
              </a:rPr>
              <a:t>/</a:t>
            </a:r>
            <a:r>
              <a:rPr lang="zh-CN" altLang="en-US" b="1">
                <a:latin typeface="Times New Roman" panose="02020603050405020304" pitchFamily="18" charset="0"/>
                <a:sym typeface="+mn-ea"/>
              </a:rPr>
              <a:t>写</a:t>
            </a:r>
            <a:r>
              <a:rPr lang="zh-CN" altLang="en-US" b="1">
                <a:latin typeface="Arial" panose="020B0604020202020204" pitchFamily="34" charset="0"/>
                <a:sym typeface="+mn-ea"/>
              </a:rPr>
              <a:t>控制电路 </a:t>
            </a:r>
            <a:endParaRPr lang="zh-CN" altLang="en-US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669925" lvl="1" indent="-325120" algn="l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</a:pP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选中存储芯片，控制读写操作</a:t>
            </a:r>
            <a:endParaRPr lang="zh-CN" altLang="en-US" b="1">
              <a:solidFill>
                <a:srgbClr val="FF0000"/>
              </a:solidFill>
              <a:latin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Rectangle 3"/>
          <p:cNvSpPr/>
          <p:nvPr/>
        </p:nvSpPr>
        <p:spPr>
          <a:xfrm>
            <a:off x="467360" y="1484630"/>
            <a:ext cx="6105525" cy="58293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>
              <a:buClrTx/>
              <a:buFontTx/>
            </a:pPr>
            <a:r>
              <a:rPr lang="en-US" altLang="zh-CN" b="1" dirty="0">
                <a:solidFill>
                  <a:schemeClr val="tx1"/>
                </a:solidFill>
                <a:latin typeface="Tahoma" panose="020B0604030504040204" pitchFamily="34" charset="0"/>
              </a:rPr>
              <a:t> 2. </a:t>
            </a:r>
            <a:r>
              <a:rPr lang="zh-CN" altLang="en-US" b="1" dirty="0">
                <a:solidFill>
                  <a:schemeClr val="tx1"/>
                </a:solidFill>
                <a:latin typeface="Tahoma" panose="020B0604030504040204" pitchFamily="34" charset="0"/>
              </a:rPr>
              <a:t>半导体存储器的存储矩阵</a:t>
            </a:r>
            <a:endParaRPr lang="zh-CN" altLang="en-US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750" y="1995805"/>
            <a:ext cx="7987030" cy="14204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zh-CN" altLang="en-US" b="1" dirty="0">
                <a:sym typeface="+mn-ea"/>
              </a:rPr>
              <a:t>存储器芯片的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基本存储电路</a:t>
            </a:r>
            <a:r>
              <a:rPr lang="en-US" altLang="zh-CN" b="1" dirty="0">
                <a:sym typeface="+mn-ea"/>
              </a:rPr>
              <a:t>(</a:t>
            </a:r>
            <a:r>
              <a:rPr lang="zh-CN" altLang="en-US" b="1" dirty="0">
                <a:solidFill>
                  <a:schemeClr val="tx2"/>
                </a:solidFill>
                <a:sym typeface="+mn-ea"/>
              </a:rPr>
              <a:t>存储元</a:t>
            </a:r>
            <a:r>
              <a:rPr lang="en-US" altLang="zh-CN" b="1" dirty="0">
                <a:sym typeface="+mn-ea"/>
              </a:rPr>
              <a:t>)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按一定的规则排列</a:t>
            </a:r>
            <a:r>
              <a:rPr lang="zh-CN" altLang="en-US" b="1" dirty="0">
                <a:sym typeface="+mn-ea"/>
              </a:rPr>
              <a:t>成适当的阵列，这种阵列称为存储矩阵。两种存储矩阵结构方式：</a:t>
            </a:r>
            <a:endParaRPr lang="zh-CN" altLang="en-US" b="1" dirty="0">
              <a:sym typeface="+mn-ea"/>
            </a:endParaRPr>
          </a:p>
        </p:txBody>
      </p:sp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4.1.3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半导体存储器的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基本结构</a:t>
            </a:r>
            <a:endParaRPr lang="zh-CN" altLang="en-US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11505" y="3356610"/>
            <a:ext cx="4572000" cy="497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10000"/>
              </a:lnSpc>
              <a:spcBef>
                <a:spcPct val="20000"/>
              </a:spcBef>
              <a:buClrTx/>
              <a:buFontTx/>
              <a:buChar char="•"/>
            </a:pPr>
            <a:r>
              <a:rPr lang="zh-CN" altLang="en-US" b="1" dirty="0">
                <a:solidFill>
                  <a:srgbClr val="0000FF"/>
                </a:solidFill>
                <a:sym typeface="+mn-ea"/>
              </a:rPr>
              <a:t>字结构</a:t>
            </a:r>
            <a:endParaRPr lang="zh-CN" altLang="en-US" b="1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1505" y="4725035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spcBef>
                <a:spcPct val="20000"/>
              </a:spcBef>
              <a:buClrTx/>
              <a:buFontTx/>
              <a:buChar char="•"/>
            </a:pPr>
            <a:r>
              <a:rPr lang="zh-CN" altLang="en-US" b="1" dirty="0">
                <a:solidFill>
                  <a:srgbClr val="0000FF"/>
                </a:solidFill>
                <a:sym typeface="+mn-ea"/>
              </a:rPr>
              <a:t>位结构</a:t>
            </a:r>
            <a:endParaRPr lang="zh-CN" altLang="en-US" b="1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71550" y="3853815"/>
            <a:ext cx="742378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 dirty="0">
                <a:sym typeface="+mn-ea"/>
              </a:rPr>
              <a:t>每个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存储单元</a:t>
            </a:r>
            <a:r>
              <a:rPr lang="zh-CN" altLang="en-US" b="1" dirty="0">
                <a:sym typeface="+mn-ea"/>
              </a:rPr>
              <a:t>有多位（如</a:t>
            </a:r>
            <a:r>
              <a:rPr lang="en-US" altLang="zh-CN" b="1" dirty="0">
                <a:sym typeface="+mn-ea"/>
              </a:rPr>
              <a:t>8</a:t>
            </a:r>
            <a:r>
              <a:rPr lang="zh-CN" altLang="en-US" b="1" dirty="0">
                <a:sym typeface="+mn-ea"/>
              </a:rPr>
              <a:t>位），</a:t>
            </a:r>
            <a:r>
              <a:rPr lang="en-US" altLang="zh-CN" b="1" dirty="0">
                <a:sym typeface="+mn-ea"/>
              </a:rPr>
              <a:t>SRAM</a:t>
            </a:r>
            <a:r>
              <a:rPr lang="zh-CN" altLang="en-US" b="1" dirty="0">
                <a:sym typeface="+mn-ea"/>
              </a:rPr>
              <a:t>采用此结构</a:t>
            </a:r>
            <a:endParaRPr lang="zh-CN" altLang="en-US" b="1" dirty="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71550" y="5227955"/>
            <a:ext cx="74961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 dirty="0">
                <a:sym typeface="+mn-ea"/>
              </a:rPr>
              <a:t>每个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存储单元</a:t>
            </a:r>
            <a:r>
              <a:rPr lang="zh-CN" altLang="en-US" b="1" dirty="0">
                <a:sym typeface="+mn-ea"/>
              </a:rPr>
              <a:t>有</a:t>
            </a:r>
            <a:r>
              <a:rPr lang="en-US" altLang="zh-CN" b="1" dirty="0">
                <a:sym typeface="+mn-ea"/>
              </a:rPr>
              <a:t>1</a:t>
            </a:r>
            <a:r>
              <a:rPr lang="zh-CN" altLang="en-US" b="1" dirty="0">
                <a:sym typeface="+mn-ea"/>
              </a:rPr>
              <a:t>位，</a:t>
            </a:r>
            <a:r>
              <a:rPr lang="en-US" altLang="zh-CN" b="1" dirty="0">
                <a:sym typeface="+mn-ea"/>
              </a:rPr>
              <a:t>D</a:t>
            </a:r>
            <a:r>
              <a:rPr lang="en-US" altLang="zh-CN" b="1" dirty="0">
                <a:sym typeface="+mn-ea"/>
              </a:rPr>
              <a:t>RAM</a:t>
            </a:r>
            <a:r>
              <a:rPr lang="zh-CN" altLang="en-US" b="1" dirty="0">
                <a:sym typeface="+mn-ea"/>
              </a:rPr>
              <a:t>采用此结构</a:t>
            </a:r>
            <a:endParaRPr lang="zh-CN" altLang="en-US" b="1" dirty="0"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972185" y="4293235"/>
            <a:ext cx="75501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b="1" dirty="0">
                <a:sym typeface="+mn-ea"/>
              </a:rPr>
              <a:t>主要缺点</a:t>
            </a:r>
            <a:r>
              <a:rPr lang="zh-CN" b="1" dirty="0">
                <a:sym typeface="+mn-ea"/>
              </a:rPr>
              <a:t>：</a:t>
            </a:r>
            <a:r>
              <a:rPr b="1" dirty="0">
                <a:solidFill>
                  <a:srgbClr val="FF0000"/>
                </a:solidFill>
                <a:sym typeface="+mn-ea"/>
              </a:rPr>
              <a:t>芯片封装时引线较多</a:t>
            </a:r>
            <a:endParaRPr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972185" y="5692140"/>
            <a:ext cx="762190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b="1" dirty="0">
                <a:solidFill>
                  <a:schemeClr val="tx1"/>
                </a:solidFill>
                <a:sym typeface="+mn-ea"/>
              </a:rPr>
              <a:t>特点：</a:t>
            </a:r>
            <a:r>
              <a:rPr b="1" dirty="0">
                <a:solidFill>
                  <a:srgbClr val="FF0000"/>
                </a:solidFill>
                <a:sym typeface="+mn-ea"/>
              </a:rPr>
              <a:t>芯片封装时引线较少</a:t>
            </a:r>
            <a:endParaRPr b="1" dirty="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Rectangle 3"/>
          <p:cNvSpPr/>
          <p:nvPr/>
        </p:nvSpPr>
        <p:spPr>
          <a:xfrm>
            <a:off x="828040" y="478790"/>
            <a:ext cx="7558405" cy="7270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>
              <a:buClrTx/>
              <a:buFontTx/>
            </a:pPr>
            <a:r>
              <a:rPr lang="en-US" altLang="zh-CN" sz="3200" b="1" dirty="0">
                <a:solidFill>
                  <a:srgbClr val="FF0000"/>
                </a:solidFill>
                <a:latin typeface="Tahoma" panose="020B0604030504040204" pitchFamily="34" charset="0"/>
              </a:rPr>
              <a:t>   1024bit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的芯片可有以下两种结构</a:t>
            </a:r>
            <a:endParaRPr lang="zh-CN" altLang="en-US" sz="3200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grpSp>
        <p:nvGrpSpPr>
          <p:cNvPr id="2" name="组合 49"/>
          <p:cNvGrpSpPr/>
          <p:nvPr/>
        </p:nvGrpSpPr>
        <p:grpSpPr>
          <a:xfrm>
            <a:off x="1857375" y="1357313"/>
            <a:ext cx="428625" cy="5000625"/>
            <a:chOff x="1857356" y="1357298"/>
            <a:chExt cx="428628" cy="5000660"/>
          </a:xfrm>
        </p:grpSpPr>
        <p:sp>
          <p:nvSpPr>
            <p:cNvPr id="17411" name="矩形 2"/>
            <p:cNvSpPr/>
            <p:nvPr/>
          </p:nvSpPr>
          <p:spPr>
            <a:xfrm>
              <a:off x="1857356" y="1357298"/>
              <a:ext cx="428628" cy="500066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17412" name="矩形 4"/>
            <p:cNvSpPr/>
            <p:nvPr/>
          </p:nvSpPr>
          <p:spPr>
            <a:xfrm>
              <a:off x="1857356" y="1857364"/>
              <a:ext cx="428628" cy="500066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17413" name="矩形 5"/>
            <p:cNvSpPr/>
            <p:nvPr/>
          </p:nvSpPr>
          <p:spPr>
            <a:xfrm>
              <a:off x="1857356" y="2357430"/>
              <a:ext cx="428628" cy="500066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17414" name="矩形 6"/>
            <p:cNvSpPr/>
            <p:nvPr/>
          </p:nvSpPr>
          <p:spPr>
            <a:xfrm>
              <a:off x="1857356" y="2857496"/>
              <a:ext cx="428628" cy="500066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17415" name="矩形 7"/>
            <p:cNvSpPr/>
            <p:nvPr/>
          </p:nvSpPr>
          <p:spPr>
            <a:xfrm>
              <a:off x="1857356" y="3357562"/>
              <a:ext cx="428628" cy="500066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17416" name="矩形 8"/>
            <p:cNvSpPr/>
            <p:nvPr/>
          </p:nvSpPr>
          <p:spPr>
            <a:xfrm>
              <a:off x="1857356" y="3857628"/>
              <a:ext cx="428628" cy="500066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17417" name="矩形 9"/>
            <p:cNvSpPr/>
            <p:nvPr/>
          </p:nvSpPr>
          <p:spPr>
            <a:xfrm>
              <a:off x="1857356" y="4357694"/>
              <a:ext cx="428628" cy="500066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17418" name="矩形 10"/>
            <p:cNvSpPr/>
            <p:nvPr/>
          </p:nvSpPr>
          <p:spPr>
            <a:xfrm>
              <a:off x="1857356" y="4857760"/>
              <a:ext cx="428628" cy="500066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17419" name="矩形 19"/>
            <p:cNvSpPr/>
            <p:nvPr/>
          </p:nvSpPr>
          <p:spPr>
            <a:xfrm>
              <a:off x="1857356" y="5357826"/>
              <a:ext cx="428628" cy="500066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17420" name="矩形 20"/>
            <p:cNvSpPr/>
            <p:nvPr/>
          </p:nvSpPr>
          <p:spPr>
            <a:xfrm>
              <a:off x="1857356" y="5857892"/>
              <a:ext cx="428628" cy="500066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3" name="组合 50"/>
          <p:cNvGrpSpPr/>
          <p:nvPr/>
        </p:nvGrpSpPr>
        <p:grpSpPr>
          <a:xfrm>
            <a:off x="642938" y="1357313"/>
            <a:ext cx="1071562" cy="5000625"/>
            <a:chOff x="642910" y="1357298"/>
            <a:chExt cx="1071570" cy="5000660"/>
          </a:xfrm>
        </p:grpSpPr>
        <p:sp>
          <p:nvSpPr>
            <p:cNvPr id="17422" name="矩形 21"/>
            <p:cNvSpPr/>
            <p:nvPr/>
          </p:nvSpPr>
          <p:spPr>
            <a:xfrm>
              <a:off x="642910" y="1357298"/>
              <a:ext cx="1071570" cy="5000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/>
            <a:p>
              <a:pPr algn="r">
                <a:buClrTx/>
                <a:buFontTx/>
              </a:pPr>
              <a:r>
                <a:rPr lang="en-US" altLang="zh-CN" b="1" dirty="0">
                  <a:latin typeface="Tahoma" panose="020B0604030504040204" pitchFamily="34" charset="0"/>
                </a:rPr>
                <a:t>000H</a:t>
              </a:r>
              <a:endParaRPr lang="en-US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17423" name="矩形 22"/>
            <p:cNvSpPr/>
            <p:nvPr/>
          </p:nvSpPr>
          <p:spPr>
            <a:xfrm>
              <a:off x="642910" y="1857364"/>
              <a:ext cx="1071570" cy="5000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/>
            <a:p>
              <a:pPr algn="r">
                <a:buClrTx/>
                <a:buFontTx/>
              </a:pPr>
              <a:r>
                <a:rPr lang="en-US" altLang="zh-CN" b="1" dirty="0">
                  <a:latin typeface="Tahoma" panose="020B0604030504040204" pitchFamily="34" charset="0"/>
                </a:rPr>
                <a:t>001H</a:t>
              </a:r>
              <a:endParaRPr lang="en-US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17424" name="矩形 23"/>
            <p:cNvSpPr/>
            <p:nvPr/>
          </p:nvSpPr>
          <p:spPr>
            <a:xfrm>
              <a:off x="642910" y="2357430"/>
              <a:ext cx="1071570" cy="5000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/>
            <a:p>
              <a:pPr algn="r">
                <a:buClrTx/>
                <a:buFontTx/>
              </a:pPr>
              <a:r>
                <a:rPr lang="en-US" altLang="zh-CN" b="1" dirty="0">
                  <a:latin typeface="Tahoma" panose="020B0604030504040204" pitchFamily="34" charset="0"/>
                </a:rPr>
                <a:t>002H</a:t>
              </a:r>
              <a:endParaRPr lang="en-US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17425" name="矩形 24"/>
            <p:cNvSpPr/>
            <p:nvPr/>
          </p:nvSpPr>
          <p:spPr>
            <a:xfrm>
              <a:off x="642910" y="2857496"/>
              <a:ext cx="1071570" cy="5000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/>
            <a:p>
              <a:pPr algn="r">
                <a:buClrTx/>
                <a:buFontTx/>
              </a:pPr>
              <a:r>
                <a:rPr lang="en-US" altLang="zh-CN" b="1" dirty="0">
                  <a:latin typeface="Tahoma" panose="020B0604030504040204" pitchFamily="34" charset="0"/>
                </a:rPr>
                <a:t>003H</a:t>
              </a:r>
              <a:endParaRPr lang="en-US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17426" name="矩形 25"/>
            <p:cNvSpPr/>
            <p:nvPr/>
          </p:nvSpPr>
          <p:spPr>
            <a:xfrm>
              <a:off x="642910" y="3357562"/>
              <a:ext cx="1071570" cy="5000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/>
            <a:p>
              <a:pPr algn="r">
                <a:buClrTx/>
                <a:buFontTx/>
              </a:pPr>
              <a:endParaRPr lang="zh-CN" altLang="en-US" b="1" dirty="0">
                <a:latin typeface="Tahoma" panose="020B0604030504040204" pitchFamily="34" charset="0"/>
              </a:endParaRPr>
            </a:p>
          </p:txBody>
        </p:sp>
        <p:sp>
          <p:nvSpPr>
            <p:cNvPr id="17427" name="矩形 26"/>
            <p:cNvSpPr/>
            <p:nvPr/>
          </p:nvSpPr>
          <p:spPr>
            <a:xfrm>
              <a:off x="642910" y="3857628"/>
              <a:ext cx="1071570" cy="5000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/>
            <a:p>
              <a:pPr algn="ctr">
                <a:buClrTx/>
                <a:buFontTx/>
              </a:pPr>
              <a:r>
                <a:rPr lang="en-US" altLang="zh-CN" b="1" dirty="0">
                  <a:latin typeface="Tahoma" panose="020B0604030504040204" pitchFamily="34" charset="0"/>
                </a:rPr>
                <a:t>…</a:t>
              </a:r>
              <a:endParaRPr lang="en-US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17428" name="矩形 27"/>
            <p:cNvSpPr/>
            <p:nvPr/>
          </p:nvSpPr>
          <p:spPr>
            <a:xfrm>
              <a:off x="642910" y="4357694"/>
              <a:ext cx="1071570" cy="5000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/>
            <a:p>
              <a:pPr algn="r">
                <a:buClrTx/>
                <a:buFontTx/>
              </a:pPr>
              <a:endParaRPr lang="zh-CN" altLang="en-US" b="1" dirty="0">
                <a:latin typeface="Tahoma" panose="020B0604030504040204" pitchFamily="34" charset="0"/>
              </a:endParaRPr>
            </a:p>
          </p:txBody>
        </p:sp>
        <p:sp>
          <p:nvSpPr>
            <p:cNvPr id="17429" name="矩形 28"/>
            <p:cNvSpPr/>
            <p:nvPr/>
          </p:nvSpPr>
          <p:spPr>
            <a:xfrm>
              <a:off x="642910" y="4857760"/>
              <a:ext cx="1071570" cy="5000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/>
            <a:p>
              <a:pPr algn="r">
                <a:buClrTx/>
                <a:buFontTx/>
              </a:pPr>
              <a:endParaRPr lang="zh-CN" altLang="en-US" b="1" dirty="0">
                <a:latin typeface="Tahoma" panose="020B0604030504040204" pitchFamily="34" charset="0"/>
              </a:endParaRPr>
            </a:p>
          </p:txBody>
        </p:sp>
        <p:sp>
          <p:nvSpPr>
            <p:cNvPr id="17430" name="矩形 29"/>
            <p:cNvSpPr/>
            <p:nvPr/>
          </p:nvSpPr>
          <p:spPr>
            <a:xfrm>
              <a:off x="642910" y="5357826"/>
              <a:ext cx="1071570" cy="5000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/>
            <a:p>
              <a:pPr algn="r">
                <a:buClrTx/>
                <a:buFontTx/>
              </a:pPr>
              <a:endParaRPr lang="zh-CN" altLang="en-US" b="1" dirty="0">
                <a:latin typeface="Tahoma" panose="020B0604030504040204" pitchFamily="34" charset="0"/>
              </a:endParaRPr>
            </a:p>
          </p:txBody>
        </p:sp>
        <p:sp>
          <p:nvSpPr>
            <p:cNvPr id="17431" name="矩形 30"/>
            <p:cNvSpPr/>
            <p:nvPr/>
          </p:nvSpPr>
          <p:spPr>
            <a:xfrm>
              <a:off x="642910" y="5857892"/>
              <a:ext cx="1071570" cy="5000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/>
            <a:p>
              <a:pPr algn="r">
                <a:buClrTx/>
                <a:buFontTx/>
              </a:pPr>
              <a:r>
                <a:rPr lang="en-US" altLang="zh-CN" b="1" dirty="0">
                  <a:latin typeface="Tahoma" panose="020B0604030504040204" pitchFamily="34" charset="0"/>
                </a:rPr>
                <a:t>3FFH</a:t>
              </a:r>
              <a:endParaRPr lang="en-US" altLang="zh-CN" b="1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4" name="组合 51"/>
          <p:cNvGrpSpPr/>
          <p:nvPr/>
        </p:nvGrpSpPr>
        <p:grpSpPr>
          <a:xfrm>
            <a:off x="2928938" y="2714625"/>
            <a:ext cx="1143000" cy="2500313"/>
            <a:chOff x="2928926" y="3143248"/>
            <a:chExt cx="1143008" cy="2500330"/>
          </a:xfrm>
        </p:grpSpPr>
        <p:sp>
          <p:nvSpPr>
            <p:cNvPr id="17433" name="矩形 31"/>
            <p:cNvSpPr/>
            <p:nvPr/>
          </p:nvSpPr>
          <p:spPr>
            <a:xfrm>
              <a:off x="2928926" y="3143248"/>
              <a:ext cx="1143008" cy="5000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/>
            <a:p>
              <a:pPr algn="r">
                <a:buClrTx/>
                <a:buFontTx/>
              </a:pPr>
              <a:r>
                <a:rPr lang="en-US" altLang="zh-CN" b="1" dirty="0">
                  <a:latin typeface="Tahoma" panose="020B0604030504040204" pitchFamily="34" charset="0"/>
                </a:rPr>
                <a:t>00H</a:t>
              </a:r>
              <a:endParaRPr lang="en-US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17434" name="矩形 32"/>
            <p:cNvSpPr/>
            <p:nvPr/>
          </p:nvSpPr>
          <p:spPr>
            <a:xfrm>
              <a:off x="2928926" y="3643314"/>
              <a:ext cx="1143008" cy="5000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/>
            <a:p>
              <a:pPr algn="r">
                <a:buClrTx/>
                <a:buFontTx/>
              </a:pPr>
              <a:r>
                <a:rPr lang="en-US" altLang="zh-CN" b="1" dirty="0">
                  <a:latin typeface="Tahoma" panose="020B0604030504040204" pitchFamily="34" charset="0"/>
                </a:rPr>
                <a:t>01H</a:t>
              </a:r>
              <a:endParaRPr lang="en-US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17435" name="矩形 33"/>
            <p:cNvSpPr/>
            <p:nvPr/>
          </p:nvSpPr>
          <p:spPr>
            <a:xfrm>
              <a:off x="2928926" y="4143380"/>
              <a:ext cx="1143008" cy="5000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/>
            <a:p>
              <a:pPr algn="r">
                <a:buClrTx/>
                <a:buFontTx/>
              </a:pPr>
              <a:r>
                <a:rPr lang="en-US" altLang="zh-CN" b="1" dirty="0">
                  <a:latin typeface="Tahoma" panose="020B0604030504040204" pitchFamily="34" charset="0"/>
                </a:rPr>
                <a:t>02H</a:t>
              </a:r>
              <a:endParaRPr lang="en-US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17436" name="矩形 34"/>
            <p:cNvSpPr/>
            <p:nvPr/>
          </p:nvSpPr>
          <p:spPr>
            <a:xfrm>
              <a:off x="2928926" y="4643446"/>
              <a:ext cx="1143008" cy="5000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/>
            <a:p>
              <a:pPr algn="ctr">
                <a:buClrTx/>
                <a:buFontTx/>
              </a:pPr>
              <a:r>
                <a:rPr lang="en-US" altLang="zh-CN" b="1" dirty="0">
                  <a:latin typeface="Tahoma" panose="020B0604030504040204" pitchFamily="34" charset="0"/>
                </a:rPr>
                <a:t>…</a:t>
              </a:r>
              <a:endParaRPr lang="en-US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17437" name="矩形 35"/>
            <p:cNvSpPr/>
            <p:nvPr/>
          </p:nvSpPr>
          <p:spPr>
            <a:xfrm>
              <a:off x="2928926" y="5143512"/>
              <a:ext cx="1143008" cy="5000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/>
            <a:p>
              <a:pPr algn="r">
                <a:buClrTx/>
                <a:buFontTx/>
              </a:pPr>
              <a:r>
                <a:rPr lang="en-US" altLang="zh-CN" b="1" dirty="0">
                  <a:latin typeface="Tahoma" panose="020B0604030504040204" pitchFamily="34" charset="0"/>
                </a:rPr>
                <a:t>7FH</a:t>
              </a:r>
              <a:endParaRPr lang="en-US" altLang="zh-CN" b="1" dirty="0">
                <a:latin typeface="Tahoma" panose="020B0604030504040204" pitchFamily="34" charset="0"/>
              </a:endParaRPr>
            </a:p>
          </p:txBody>
        </p:sp>
      </p:grpSp>
      <p:sp>
        <p:nvSpPr>
          <p:cNvPr id="38" name="矩形 37"/>
          <p:cNvSpPr/>
          <p:nvPr/>
        </p:nvSpPr>
        <p:spPr>
          <a:xfrm>
            <a:off x="2428875" y="1285875"/>
            <a:ext cx="5000625" cy="5000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00 0000 0000B - 11 1111 1111B</a:t>
            </a:r>
            <a:endParaRPr lang="en-US" altLang="zh-CN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428875" y="2000250"/>
            <a:ext cx="5000625" cy="5000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000 0000B - 111 1111B</a:t>
            </a:r>
            <a:endParaRPr lang="en-US" altLang="zh-CN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grpSp>
        <p:nvGrpSpPr>
          <p:cNvPr id="5" name="组合 52"/>
          <p:cNvGrpSpPr/>
          <p:nvPr/>
        </p:nvGrpSpPr>
        <p:grpSpPr>
          <a:xfrm>
            <a:off x="4071938" y="2714625"/>
            <a:ext cx="3286125" cy="2500313"/>
            <a:chOff x="4071934" y="3143248"/>
            <a:chExt cx="3286148" cy="2500330"/>
          </a:xfrm>
        </p:grpSpPr>
        <p:sp>
          <p:nvSpPr>
            <p:cNvPr id="17441" name="矩形 11"/>
            <p:cNvSpPr/>
            <p:nvPr/>
          </p:nvSpPr>
          <p:spPr>
            <a:xfrm>
              <a:off x="4071934" y="3143248"/>
              <a:ext cx="3286148" cy="500066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17442" name="矩形 12"/>
            <p:cNvSpPr/>
            <p:nvPr/>
          </p:nvSpPr>
          <p:spPr>
            <a:xfrm>
              <a:off x="4071934" y="3643314"/>
              <a:ext cx="3286148" cy="500066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>
                <a:buClrTx/>
                <a:buFontTx/>
              </a:pPr>
              <a:r>
                <a:rPr lang="en-US" altLang="zh-CN" dirty="0">
                  <a:latin typeface="Tahoma" panose="020B0604030504040204" pitchFamily="34" charset="0"/>
                </a:rPr>
                <a:t>…</a:t>
              </a:r>
              <a:endParaRPr lang="en-US" altLang="zh-CN" dirty="0">
                <a:latin typeface="Tahoma" panose="020B0604030504040204" pitchFamily="34" charset="0"/>
              </a:endParaRPr>
            </a:p>
          </p:txBody>
        </p:sp>
        <p:sp>
          <p:nvSpPr>
            <p:cNvPr id="17443" name="矩形 13"/>
            <p:cNvSpPr/>
            <p:nvPr/>
          </p:nvSpPr>
          <p:spPr>
            <a:xfrm>
              <a:off x="4071934" y="4143380"/>
              <a:ext cx="3286148" cy="500066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>
                <a:buClrTx/>
                <a:buFontTx/>
              </a:pPr>
              <a:r>
                <a:rPr lang="en-US" altLang="zh-CN" dirty="0">
                  <a:latin typeface="Tahoma" panose="020B0604030504040204" pitchFamily="34" charset="0"/>
                </a:rPr>
                <a:t>…</a:t>
              </a:r>
              <a:endParaRPr lang="en-US" altLang="zh-CN" dirty="0">
                <a:latin typeface="Tahoma" panose="020B0604030504040204" pitchFamily="34" charset="0"/>
              </a:endParaRPr>
            </a:p>
          </p:txBody>
        </p:sp>
        <p:sp>
          <p:nvSpPr>
            <p:cNvPr id="17444" name="矩形 14"/>
            <p:cNvSpPr/>
            <p:nvPr/>
          </p:nvSpPr>
          <p:spPr>
            <a:xfrm>
              <a:off x="4071934" y="4643446"/>
              <a:ext cx="3286148" cy="500066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>
                <a:buClrTx/>
                <a:buFontTx/>
              </a:pPr>
              <a:r>
                <a:rPr lang="en-US" altLang="zh-CN" dirty="0">
                  <a:latin typeface="Tahoma" panose="020B0604030504040204" pitchFamily="34" charset="0"/>
                </a:rPr>
                <a:t>…</a:t>
              </a:r>
              <a:endParaRPr lang="en-US" altLang="zh-CN" dirty="0">
                <a:latin typeface="Tahoma" panose="020B0604030504040204" pitchFamily="34" charset="0"/>
              </a:endParaRPr>
            </a:p>
          </p:txBody>
        </p:sp>
        <p:sp>
          <p:nvSpPr>
            <p:cNvPr id="17445" name="矩形 15"/>
            <p:cNvSpPr/>
            <p:nvPr/>
          </p:nvSpPr>
          <p:spPr>
            <a:xfrm>
              <a:off x="4071934" y="5143512"/>
              <a:ext cx="3286148" cy="500066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 algn="ctr">
                <a:buClrTx/>
                <a:buFontTx/>
              </a:pPr>
              <a:r>
                <a:rPr lang="en-US" altLang="zh-CN" dirty="0">
                  <a:latin typeface="Tahoma" panose="020B0604030504040204" pitchFamily="34" charset="0"/>
                </a:rPr>
                <a:t>…</a:t>
              </a:r>
              <a:endParaRPr lang="en-US" altLang="zh-CN" dirty="0">
                <a:latin typeface="Tahoma" panose="020B0604030504040204" pitchFamily="34" charset="0"/>
              </a:endParaRPr>
            </a:p>
          </p:txBody>
        </p:sp>
        <p:cxnSp>
          <p:nvCxnSpPr>
            <p:cNvPr id="17446" name="直接连接符 40"/>
            <p:cNvCxnSpPr>
              <a:stCxn id="17441" idx="0"/>
              <a:endCxn id="17442" idx="0"/>
            </p:cNvCxnSpPr>
            <p:nvPr/>
          </p:nvCxnSpPr>
          <p:spPr>
            <a:xfrm rot="-5400000" flipH="1">
              <a:off x="5464975" y="3393281"/>
              <a:ext cx="500066" cy="15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17447" name="直接连接符 41"/>
            <p:cNvCxnSpPr>
              <a:stCxn id="17441" idx="0"/>
              <a:endCxn id="17442" idx="0"/>
            </p:cNvCxnSpPr>
            <p:nvPr/>
          </p:nvCxnSpPr>
          <p:spPr>
            <a:xfrm rot="-5400000" flipH="1">
              <a:off x="6249999" y="3392488"/>
              <a:ext cx="500066" cy="15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17448" name="直接连接符 42"/>
            <p:cNvCxnSpPr>
              <a:stCxn id="17441" idx="0"/>
              <a:endCxn id="17442" idx="0"/>
            </p:cNvCxnSpPr>
            <p:nvPr/>
          </p:nvCxnSpPr>
          <p:spPr>
            <a:xfrm rot="-5400000" flipH="1">
              <a:off x="4606925" y="3392488"/>
              <a:ext cx="500066" cy="15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17449" name="直接连接符 43"/>
            <p:cNvCxnSpPr>
              <a:stCxn id="17441" idx="0"/>
              <a:endCxn id="17442" idx="0"/>
            </p:cNvCxnSpPr>
            <p:nvPr/>
          </p:nvCxnSpPr>
          <p:spPr>
            <a:xfrm rot="-5400000" flipH="1">
              <a:off x="5822959" y="3392488"/>
              <a:ext cx="500066" cy="15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17450" name="直接连接符 44"/>
            <p:cNvCxnSpPr>
              <a:stCxn id="17441" idx="0"/>
              <a:endCxn id="17442" idx="0"/>
            </p:cNvCxnSpPr>
            <p:nvPr/>
          </p:nvCxnSpPr>
          <p:spPr>
            <a:xfrm rot="-5400000" flipH="1">
              <a:off x="6678627" y="3392488"/>
              <a:ext cx="500066" cy="15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17451" name="直接连接符 45"/>
            <p:cNvCxnSpPr>
              <a:stCxn id="17441" idx="0"/>
              <a:endCxn id="17442" idx="0"/>
            </p:cNvCxnSpPr>
            <p:nvPr/>
          </p:nvCxnSpPr>
          <p:spPr>
            <a:xfrm rot="-5400000" flipH="1">
              <a:off x="5035553" y="3392488"/>
              <a:ext cx="500066" cy="15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17452" name="直接连接符 46"/>
            <p:cNvCxnSpPr>
              <a:stCxn id="17441" idx="0"/>
              <a:endCxn id="17442" idx="0"/>
            </p:cNvCxnSpPr>
            <p:nvPr/>
          </p:nvCxnSpPr>
          <p:spPr>
            <a:xfrm rot="-5400000" flipH="1">
              <a:off x="4249735" y="3392488"/>
              <a:ext cx="500066" cy="15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cxnSp>
      </p:grpSp>
      <p:sp>
        <p:nvSpPr>
          <p:cNvPr id="48" name="TextBox 47"/>
          <p:cNvSpPr txBox="1"/>
          <p:nvPr/>
        </p:nvSpPr>
        <p:spPr>
          <a:xfrm>
            <a:off x="214630" y="3074988"/>
            <a:ext cx="488950" cy="119888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位</a:t>
            </a:r>
            <a:endParaRPr lang="en-US" altLang="zh-CN" b="1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结</a:t>
            </a:r>
            <a:endParaRPr lang="en-US" altLang="zh-CN" b="1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构</a:t>
            </a:r>
            <a:endParaRPr lang="zh-CN" altLang="en-US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500620" y="2641600"/>
            <a:ext cx="488950" cy="119888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字</a:t>
            </a:r>
            <a:endParaRPr lang="en-US" altLang="zh-CN" b="1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结</a:t>
            </a:r>
            <a:endParaRPr lang="en-US" altLang="zh-CN" b="1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构</a:t>
            </a:r>
            <a:endParaRPr lang="zh-CN" altLang="en-US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2786380" y="5716270"/>
            <a:ext cx="2786380" cy="8267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大容量存储器</a:t>
            </a:r>
            <a:endParaRPr lang="en-US" altLang="zh-CN" b="1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如：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DRAM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6074410" y="5715635"/>
            <a:ext cx="2786380" cy="82740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小容量存储器</a:t>
            </a:r>
            <a:endParaRPr lang="en-US" altLang="zh-CN" b="1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如：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SRAM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57" name="左箭头 56"/>
          <p:cNvSpPr/>
          <p:nvPr/>
        </p:nvSpPr>
        <p:spPr>
          <a:xfrm>
            <a:off x="2286000" y="5929313"/>
            <a:ext cx="500063" cy="428625"/>
          </a:xfrm>
          <a:prstGeom prst="leftArrow">
            <a:avLst>
              <a:gd name="adj1" fmla="val 50000"/>
              <a:gd name="adj2" fmla="val 4997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ClrTx/>
              <a:buFontTx/>
            </a:pPr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58" name="上箭头 57"/>
          <p:cNvSpPr/>
          <p:nvPr/>
        </p:nvSpPr>
        <p:spPr>
          <a:xfrm>
            <a:off x="6858000" y="5214938"/>
            <a:ext cx="428625" cy="428625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ClrTx/>
              <a:buFontTx/>
            </a:pPr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57480" y="4191000"/>
            <a:ext cx="16776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C00000"/>
                </a:solidFill>
              </a:rPr>
              <a:t>容量</a:t>
            </a:r>
            <a:r>
              <a:rPr lang="en-US" altLang="zh-CN" b="1">
                <a:solidFill>
                  <a:srgbClr val="C00000"/>
                </a:solidFill>
              </a:rPr>
              <a:t>1K</a:t>
            </a:r>
            <a:r>
              <a:rPr lang="en-US" altLang="zh-CN" b="1">
                <a:solidFill>
                  <a:srgbClr val="C00000"/>
                </a:solidFill>
                <a:latin typeface="Arial" panose="020B0604020202020204" pitchFamily="34" charset="0"/>
              </a:rPr>
              <a:t>×1bit</a:t>
            </a:r>
            <a:endParaRPr lang="en-US" altLang="zh-CN" b="1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57745" y="3790315"/>
            <a:ext cx="16776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C00000"/>
                </a:solidFill>
              </a:rPr>
              <a:t>容量</a:t>
            </a:r>
            <a:r>
              <a:rPr lang="en-US" altLang="zh-CN" b="1">
                <a:solidFill>
                  <a:srgbClr val="C00000"/>
                </a:solidFill>
              </a:rPr>
              <a:t>128</a:t>
            </a:r>
            <a:r>
              <a:rPr lang="en-US" altLang="zh-CN" b="1">
                <a:solidFill>
                  <a:srgbClr val="C00000"/>
                </a:solidFill>
                <a:latin typeface="Arial" panose="020B0604020202020204" pitchFamily="34" charset="0"/>
              </a:rPr>
              <a:t>×8bit</a:t>
            </a:r>
            <a:endParaRPr lang="en-US" altLang="zh-CN" b="1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48" grpId="0"/>
      <p:bldP spid="49" grpId="0"/>
      <p:bldP spid="55" grpId="0"/>
      <p:bldP spid="56" grpId="0"/>
      <p:bldP spid="57" grpId="0" animBg="1"/>
      <p:bldP spid="58" grpId="0" animBg="1"/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Rectangle 3"/>
          <p:cNvSpPr/>
          <p:nvPr/>
        </p:nvSpPr>
        <p:spPr>
          <a:xfrm>
            <a:off x="467360" y="1484630"/>
            <a:ext cx="6105525" cy="58293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>
              <a:buClrTx/>
              <a:buFontTx/>
            </a:pPr>
            <a:r>
              <a:rPr lang="en-US" altLang="zh-CN" b="1" dirty="0">
                <a:solidFill>
                  <a:schemeClr val="tx1"/>
                </a:solidFill>
                <a:latin typeface="Tahoma" panose="020B0604030504040204" pitchFamily="34" charset="0"/>
              </a:rPr>
              <a:t> 3. </a:t>
            </a:r>
            <a:r>
              <a:rPr lang="zh-CN" altLang="en-US" b="1" dirty="0">
                <a:solidFill>
                  <a:schemeClr val="tx1"/>
                </a:solidFill>
                <a:sym typeface="+mn-ea"/>
              </a:rPr>
              <a:t>地址译码方式</a:t>
            </a:r>
            <a:endParaRPr lang="zh-CN" altLang="en-US" b="1" dirty="0">
              <a:solidFill>
                <a:schemeClr val="tx1"/>
              </a:solidFill>
              <a:latin typeface="Tahoma" panose="020B0604030504040204" pitchFamily="34" charset="0"/>
              <a:sym typeface="+mn-ea"/>
            </a:endParaRPr>
          </a:p>
        </p:txBody>
      </p:sp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4.1.3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半导体存储器的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基本结构</a:t>
            </a:r>
            <a:endParaRPr lang="zh-CN" altLang="en-US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11505" y="1993265"/>
            <a:ext cx="5979160" cy="497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10000"/>
              </a:lnSpc>
              <a:spcBef>
                <a:spcPct val="20000"/>
              </a:spcBef>
              <a:buClrTx/>
              <a:buFontTx/>
              <a:buChar char="•"/>
            </a:pPr>
            <a:r>
              <a:rPr lang="zh-CN" altLang="en-US" b="1" dirty="0">
                <a:solidFill>
                  <a:srgbClr val="0000FF"/>
                </a:solidFill>
                <a:sym typeface="+mn-ea"/>
              </a:rPr>
              <a:t>单译码方式：仅有一个地址译码器</a:t>
            </a:r>
            <a:endParaRPr lang="zh-CN" altLang="en-US" b="1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1505" y="3361690"/>
            <a:ext cx="644461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spcBef>
                <a:spcPct val="20000"/>
              </a:spcBef>
              <a:buClrTx/>
              <a:buFontTx/>
              <a:buChar char="•"/>
            </a:pPr>
            <a:r>
              <a:rPr lang="zh-CN" altLang="en-US" b="1" dirty="0">
                <a:solidFill>
                  <a:srgbClr val="0000FF"/>
                </a:solidFill>
                <a:sym typeface="+mn-ea"/>
              </a:rPr>
              <a:t>双译码方式：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有行、列两个地址译码器</a:t>
            </a:r>
            <a:endParaRPr lang="zh-CN" altLang="en-US" b="1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71550" y="2490470"/>
            <a:ext cx="742378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b="1" dirty="0">
                <a:sym typeface="+mn-ea"/>
              </a:rPr>
              <a:t>译码器输出的每条译码线对应一个存储单元</a:t>
            </a:r>
            <a:endParaRPr b="1" dirty="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71550" y="3864610"/>
            <a:ext cx="7496175" cy="9772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b="1" dirty="0">
                <a:sym typeface="+mn-ea"/>
              </a:rPr>
              <a:t>将输入的地址码分成两部分</a:t>
            </a:r>
            <a:r>
              <a:rPr lang="zh-CN" b="1" dirty="0">
                <a:sym typeface="+mn-ea"/>
              </a:rPr>
              <a:t>，当行地址、列地址同时有效选中一个存储单元</a:t>
            </a:r>
            <a:endParaRPr lang="zh-CN" b="1" dirty="0"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972185" y="2929890"/>
            <a:ext cx="75501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b="1" dirty="0">
                <a:sym typeface="+mn-ea"/>
              </a:rPr>
              <a:t>缺点</a:t>
            </a:r>
            <a:r>
              <a:rPr lang="zh-CN" b="1" dirty="0">
                <a:sym typeface="+mn-ea"/>
              </a:rPr>
              <a:t>：</a:t>
            </a:r>
            <a:r>
              <a:rPr b="1" dirty="0">
                <a:solidFill>
                  <a:srgbClr val="FF0000"/>
                </a:solidFill>
                <a:sym typeface="+mn-ea"/>
              </a:rPr>
              <a:t>译码器输出线</a:t>
            </a:r>
            <a:r>
              <a:rPr b="1" dirty="0">
                <a:solidFill>
                  <a:srgbClr val="FF0000"/>
                </a:solidFill>
                <a:sym typeface="+mn-ea"/>
              </a:rPr>
              <a:t>较多</a:t>
            </a:r>
            <a:endParaRPr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972185" y="4831080"/>
            <a:ext cx="762190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b="1" dirty="0">
                <a:solidFill>
                  <a:schemeClr val="tx1"/>
                </a:solidFill>
                <a:sym typeface="+mn-ea"/>
              </a:rPr>
              <a:t>特点：</a:t>
            </a:r>
            <a:r>
              <a:rPr b="1" dirty="0">
                <a:solidFill>
                  <a:srgbClr val="FF0000"/>
                </a:solidFill>
                <a:sym typeface="+mn-ea"/>
              </a:rPr>
              <a:t>可以减少译码器输出线的条数</a:t>
            </a:r>
            <a:endParaRPr b="1" dirty="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334135" y="1412240"/>
            <a:ext cx="5448300" cy="22574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2453" r="1977"/>
          <a:stretch>
            <a:fillRect/>
          </a:stretch>
        </p:blipFill>
        <p:spPr>
          <a:xfrm>
            <a:off x="1189990" y="3716655"/>
            <a:ext cx="5616575" cy="2867025"/>
          </a:xfrm>
          <a:prstGeom prst="rect">
            <a:avLst/>
          </a:prstGeom>
        </p:spPr>
      </p:pic>
      <p:sp>
        <p:nvSpPr>
          <p:cNvPr id="10243" name="矩形 59"/>
          <p:cNvSpPr/>
          <p:nvPr>
            <p:custDataLst>
              <p:tags r:id="rId5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4.1.3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半导体存储器的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基本结构</a:t>
            </a:r>
            <a:endParaRPr lang="zh-CN" altLang="en-US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3550" y="1628140"/>
            <a:ext cx="647700" cy="1734820"/>
          </a:xfrm>
          <a:prstGeom prst="rect">
            <a:avLst/>
          </a:prstGeom>
          <a:noFill/>
        </p:spPr>
        <p:txBody>
          <a:bodyPr vert="eaVert" wrap="square" rtlCol="0" anchor="t">
            <a:noAutofit/>
          </a:bodyPr>
          <a:p>
            <a:pPr>
              <a:lnSpc>
                <a:spcPct val="110000"/>
              </a:lnSpc>
              <a:spcBef>
                <a:spcPct val="20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sym typeface="+mn-ea"/>
              </a:rPr>
              <a:t>单译码方式</a:t>
            </a:r>
            <a:endParaRPr lang="zh-CN" altLang="en-US" b="1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6"/>
            </p:custDataLst>
          </p:nvPr>
        </p:nvSpPr>
        <p:spPr>
          <a:xfrm>
            <a:off x="463550" y="3860800"/>
            <a:ext cx="647700" cy="1734820"/>
          </a:xfrm>
          <a:prstGeom prst="rect">
            <a:avLst/>
          </a:prstGeom>
          <a:noFill/>
        </p:spPr>
        <p:txBody>
          <a:bodyPr vert="eaVert" wrap="square" rtlCol="0" anchor="t">
            <a:noAutofit/>
          </a:bodyPr>
          <a:p>
            <a:pPr>
              <a:lnSpc>
                <a:spcPct val="110000"/>
              </a:lnSpc>
              <a:spcBef>
                <a:spcPct val="20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sym typeface="+mn-ea"/>
              </a:rPr>
              <a:t>双译码方式</a:t>
            </a:r>
            <a:endParaRPr lang="zh-CN" altLang="en-US" b="1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20" name="Text Box 5"/>
          <p:cNvSpPr txBox="1"/>
          <p:nvPr>
            <p:custDataLst>
              <p:tags r:id="rId7"/>
            </p:custDataLst>
          </p:nvPr>
        </p:nvSpPr>
        <p:spPr>
          <a:xfrm>
            <a:off x="5222240" y="1628140"/>
            <a:ext cx="2401570" cy="9258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2</a:t>
            </a:r>
            <a:r>
              <a:rPr lang="en-US" altLang="zh-CN" b="1" baseline="30000" dirty="0">
                <a:solidFill>
                  <a:srgbClr val="0000FF"/>
                </a:solidFill>
                <a:latin typeface="Tahoma" panose="020B0604030504040204" pitchFamily="34" charset="0"/>
              </a:rPr>
              <a:t>10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=1024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根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译码输出线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</a:pP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6" name="Text Box 5"/>
          <p:cNvSpPr txBox="1"/>
          <p:nvPr>
            <p:custDataLst>
              <p:tags r:id="rId8"/>
            </p:custDataLst>
          </p:nvPr>
        </p:nvSpPr>
        <p:spPr>
          <a:xfrm>
            <a:off x="5076190" y="4005580"/>
            <a:ext cx="3387725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2</a:t>
            </a:r>
            <a:r>
              <a:rPr lang="en-US" altLang="zh-CN" b="1" baseline="30000" dirty="0">
                <a:solidFill>
                  <a:srgbClr val="0000FF"/>
                </a:solidFill>
                <a:latin typeface="Tahoma" panose="020B0604030504040204" pitchFamily="34" charset="0"/>
              </a:rPr>
              <a:t>5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+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2</a:t>
            </a:r>
            <a:r>
              <a:rPr lang="en-US" altLang="zh-CN" b="1" baseline="30000" dirty="0">
                <a:solidFill>
                  <a:srgbClr val="0000FF"/>
                </a:solidFill>
                <a:latin typeface="Tahoma" panose="020B0604030504040204" pitchFamily="34" charset="0"/>
              </a:rPr>
              <a:t>5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=32+32=64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根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sym typeface="+mn-ea"/>
              </a:rPr>
              <a:t>译码输出线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4.1.3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半导体存储器的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基本结构</a:t>
            </a:r>
            <a:endParaRPr lang="zh-CN" altLang="en-US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6385" name="Rectangle 3"/>
          <p:cNvSpPr/>
          <p:nvPr>
            <p:custDataLst>
              <p:tags r:id="rId2"/>
            </p:custDataLst>
          </p:nvPr>
        </p:nvSpPr>
        <p:spPr>
          <a:xfrm>
            <a:off x="467360" y="1484630"/>
            <a:ext cx="6105525" cy="58293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>
              <a:buClrTx/>
              <a:buFontTx/>
            </a:pPr>
            <a:r>
              <a:rPr lang="en-US" altLang="zh-CN" b="1" dirty="0">
                <a:solidFill>
                  <a:schemeClr val="tx1"/>
                </a:solidFill>
                <a:latin typeface="Tahoma" panose="020B0604030504040204" pitchFamily="34" charset="0"/>
              </a:rPr>
              <a:t> 4. </a:t>
            </a:r>
            <a:r>
              <a:rPr lang="zh-CN" altLang="en-US" b="1" dirty="0">
                <a:solidFill>
                  <a:schemeClr val="tx1"/>
                </a:solidFill>
                <a:sym typeface="+mn-ea"/>
              </a:rPr>
              <a:t>读</a:t>
            </a:r>
            <a:r>
              <a:rPr lang="en-US" altLang="zh-CN" b="1" dirty="0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b="1" dirty="0">
                <a:solidFill>
                  <a:schemeClr val="tx1"/>
                </a:solidFill>
                <a:sym typeface="+mn-ea"/>
              </a:rPr>
              <a:t>写控制逻辑</a:t>
            </a:r>
            <a:endParaRPr lang="zh-CN" altLang="en-US" b="1" dirty="0">
              <a:solidFill>
                <a:schemeClr val="tx1"/>
              </a:solidFill>
              <a:latin typeface="Tahoma" panose="020B0604030504040204" pitchFamily="34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66725" y="2491740"/>
            <a:ext cx="7813040" cy="902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C00000"/>
                </a:solidFill>
                <a:sym typeface="+mn-ea"/>
              </a:rPr>
              <a:t>片选端CS*（芯片选中）或CE*（芯片使能）</a:t>
            </a:r>
            <a:r>
              <a:rPr lang="zh-CN" altLang="en-US" b="1" dirty="0">
                <a:sym typeface="+mn-ea"/>
              </a:rPr>
              <a:t> </a:t>
            </a:r>
            <a:endParaRPr lang="zh-CN" altLang="en-US" b="1" dirty="0"/>
          </a:p>
          <a:p>
            <a:pPr marL="840105" lvl="1" indent="-495300">
              <a:lnSpc>
                <a:spcPct val="110000"/>
              </a:lnSpc>
              <a:buSzPct val="60000"/>
              <a:buFont typeface="Wingdings" panose="05000000000000000000" charset="0"/>
              <a:buChar char="u"/>
            </a:pP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有效时，可以对该芯片进行读写操作</a:t>
            </a:r>
            <a:endParaRPr lang="zh-CN" altLang="en-US" b="1" dirty="0"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7360" y="3378200"/>
            <a:ext cx="7939405" cy="13087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00FF"/>
                </a:solidFill>
                <a:sym typeface="+mn-ea"/>
              </a:rPr>
              <a:t>读控制OE*（输出允许） 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840105" lvl="1" indent="-495300" algn="l">
              <a:lnSpc>
                <a:spcPct val="110000"/>
              </a:lnSpc>
              <a:buClrTx/>
              <a:buSzPct val="60000"/>
              <a:buFont typeface="Wingdings" panose="05000000000000000000" charset="0"/>
              <a:buChar char="u"/>
            </a:pP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控制读操作。有效时，芯片内数据输出</a:t>
            </a:r>
            <a:endParaRPr lang="zh-CN" altLang="en-US" b="1" dirty="0">
              <a:latin typeface="Times New Roman" panose="02020603050405020304" pitchFamily="18" charset="0"/>
              <a:sym typeface="+mn-ea"/>
            </a:endParaRPr>
          </a:p>
          <a:p>
            <a:pPr marL="840105" lvl="1" indent="-495300" algn="l">
              <a:lnSpc>
                <a:spcPct val="110000"/>
              </a:lnSpc>
              <a:buClrTx/>
              <a:buSzPct val="60000"/>
              <a:buFont typeface="Wingdings" panose="05000000000000000000" charset="0"/>
              <a:buChar char="u"/>
            </a:pP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该控制端对应系统的读控制线</a:t>
            </a:r>
            <a:endParaRPr lang="zh-CN" altLang="en-US" b="1" dirty="0"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6725" y="2030095"/>
            <a:ext cx="739267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 dirty="0">
                <a:sym typeface="+mn-ea"/>
              </a:rPr>
              <a:t>典型控制信号一般有</a:t>
            </a:r>
            <a:r>
              <a:rPr lang="en-US" altLang="zh-CN" b="1" dirty="0">
                <a:sym typeface="+mn-ea"/>
              </a:rPr>
              <a:t>3</a:t>
            </a:r>
            <a:r>
              <a:rPr lang="zh-CN" altLang="en-US" b="1" dirty="0">
                <a:sym typeface="+mn-ea"/>
              </a:rPr>
              <a:t>种：</a:t>
            </a:r>
            <a:r>
              <a:rPr lang="zh-CN" altLang="en-US" b="1" dirty="0">
                <a:solidFill>
                  <a:srgbClr val="C00000"/>
                </a:solidFill>
                <a:sym typeface="+mn-ea"/>
              </a:rPr>
              <a:t>片选</a:t>
            </a:r>
            <a:r>
              <a:rPr lang="zh-CN" altLang="en-US" b="1" dirty="0">
                <a:sym typeface="+mn-ea"/>
              </a:rPr>
              <a:t>、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读</a:t>
            </a:r>
            <a:r>
              <a:rPr lang="zh-CN" altLang="en-US" b="1" dirty="0">
                <a:sym typeface="+mn-ea"/>
              </a:rPr>
              <a:t>和</a:t>
            </a:r>
            <a:r>
              <a:rPr lang="zh-CN" altLang="en-US" b="1" dirty="0">
                <a:solidFill>
                  <a:srgbClr val="00B050"/>
                </a:solidFill>
                <a:sym typeface="+mn-ea"/>
              </a:rPr>
              <a:t>写控制</a:t>
            </a:r>
            <a:r>
              <a:rPr lang="zh-CN" altLang="en-US" b="1" dirty="0">
                <a:sym typeface="+mn-ea"/>
              </a:rPr>
              <a:t>。</a:t>
            </a:r>
            <a:endParaRPr lang="zh-CN" altLang="en-US" b="1" dirty="0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67360" y="4686935"/>
            <a:ext cx="7999730" cy="13087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B050"/>
                </a:solidFill>
                <a:sym typeface="+mn-ea"/>
              </a:rPr>
              <a:t>写控制WE*（写允许）</a:t>
            </a:r>
            <a:endParaRPr lang="zh-CN" altLang="en-US" b="1" dirty="0">
              <a:latin typeface="Times New Roman" panose="02020603050405020304" pitchFamily="18" charset="0"/>
            </a:endParaRPr>
          </a:p>
          <a:p>
            <a:pPr marL="840105" lvl="1" indent="-495300" algn="l">
              <a:lnSpc>
                <a:spcPct val="110000"/>
              </a:lnSpc>
              <a:buClrTx/>
              <a:buSzPct val="60000"/>
              <a:buFont typeface="Wingdings" panose="05000000000000000000" charset="0"/>
              <a:buChar char="u"/>
            </a:pP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控制写操作。有效时，数据进入芯片中</a:t>
            </a:r>
            <a:endParaRPr lang="zh-CN" altLang="en-US" b="1" dirty="0">
              <a:latin typeface="Times New Roman" panose="02020603050405020304" pitchFamily="18" charset="0"/>
              <a:sym typeface="+mn-ea"/>
            </a:endParaRPr>
          </a:p>
          <a:p>
            <a:pPr marL="840105" lvl="1" indent="-495300" algn="l">
              <a:lnSpc>
                <a:spcPct val="110000"/>
              </a:lnSpc>
              <a:buClrTx/>
              <a:buSzPct val="60000"/>
              <a:buFont typeface="Wingdings" panose="05000000000000000000" charset="0"/>
              <a:buChar char="u"/>
            </a:pP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该控制端对应系统的写控制线</a:t>
            </a:r>
            <a:endParaRPr lang="zh-CN" altLang="en-US" b="1" dirty="0">
              <a:latin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4.1.4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典型存储芯片</a:t>
            </a:r>
            <a:endParaRPr lang="zh-CN" altLang="en-US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9750" y="1484630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 dirty="0">
                <a:solidFill>
                  <a:schemeClr val="tx1"/>
                </a:solidFill>
                <a:sym typeface="+mn-ea"/>
              </a:rPr>
              <a:t>1.  </a:t>
            </a:r>
            <a:r>
              <a:rPr lang="zh-CN" altLang="en-US" b="1" dirty="0">
                <a:solidFill>
                  <a:schemeClr val="tx1"/>
                </a:solidFill>
                <a:sym typeface="+mn-ea"/>
              </a:rPr>
              <a:t>静态</a:t>
            </a:r>
            <a:r>
              <a:rPr lang="en-US" altLang="zh-CN" b="1" dirty="0">
                <a:solidFill>
                  <a:schemeClr val="tx1"/>
                </a:solidFill>
                <a:sym typeface="+mn-ea"/>
              </a:rPr>
              <a:t>RAM</a:t>
            </a:r>
            <a:r>
              <a:rPr lang="zh-CN" altLang="en-US" b="1" dirty="0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 b="1" dirty="0">
                <a:solidFill>
                  <a:schemeClr val="tx1"/>
                </a:solidFill>
                <a:sym typeface="+mn-ea"/>
              </a:rPr>
              <a:t>SRAM</a:t>
            </a:r>
            <a:r>
              <a:rPr lang="zh-CN" altLang="en-US" b="1" dirty="0">
                <a:solidFill>
                  <a:schemeClr val="tx1"/>
                </a:solidFill>
                <a:sym typeface="+mn-ea"/>
              </a:rPr>
              <a:t>）</a:t>
            </a:r>
            <a:endParaRPr lang="zh-CN" altLang="en-US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6" name="Text Box 93"/>
          <p:cNvSpPr txBox="1"/>
          <p:nvPr>
            <p:custDataLst>
              <p:tags r:id="rId2"/>
            </p:custDataLst>
          </p:nvPr>
        </p:nvSpPr>
        <p:spPr>
          <a:xfrm>
            <a:off x="539750" y="1945005"/>
            <a:ext cx="8462963" cy="86614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典型芯片：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6264 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8K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×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位）、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62128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16K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×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位）、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62256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32K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  <a:sym typeface="+mn-ea"/>
              </a:rPr>
              <a:t>×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位）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1505" y="2637155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FF0000"/>
                </a:solidFill>
                <a:sym typeface="+mn-ea"/>
              </a:rPr>
              <a:t>6264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介绍</a:t>
            </a:r>
            <a:endParaRPr lang="zh-CN" altLang="en-US" b="1" dirty="0">
              <a:solidFill>
                <a:srgbClr val="FF0000"/>
              </a:solidFill>
              <a:sym typeface="+mn-ea"/>
            </a:endParaRPr>
          </a:p>
        </p:txBody>
      </p:sp>
      <p:pic>
        <p:nvPicPr>
          <p:cNvPr id="12" name="图片 11" descr="6264引脚"/>
          <p:cNvPicPr>
            <a:picLocks noChangeAspect="1"/>
          </p:cNvPicPr>
          <p:nvPr/>
        </p:nvPicPr>
        <p:blipFill>
          <a:blip r:embed="rId3"/>
          <a:srcRect t="2279" b="10810"/>
          <a:stretch>
            <a:fillRect/>
          </a:stretch>
        </p:blipFill>
        <p:spPr>
          <a:xfrm>
            <a:off x="5723890" y="2564765"/>
            <a:ext cx="3044825" cy="4081145"/>
          </a:xfrm>
          <a:prstGeom prst="rect">
            <a:avLst/>
          </a:prstGeom>
        </p:spPr>
      </p:pic>
      <p:grpSp>
        <p:nvGrpSpPr>
          <p:cNvPr id="16" name="组合 15"/>
          <p:cNvGrpSpPr/>
          <p:nvPr/>
        </p:nvGrpSpPr>
        <p:grpSpPr>
          <a:xfrm>
            <a:off x="683260" y="3141345"/>
            <a:ext cx="4310380" cy="2668270"/>
            <a:chOff x="1076" y="5173"/>
            <a:chExt cx="6788" cy="4202"/>
          </a:xfrm>
        </p:grpSpPr>
        <p:sp>
          <p:nvSpPr>
            <p:cNvPr id="27651" name="矩形 27650"/>
            <p:cNvSpPr/>
            <p:nvPr>
              <p:custDataLst>
                <p:tags r:id="rId4"/>
              </p:custDataLst>
            </p:nvPr>
          </p:nvSpPr>
          <p:spPr>
            <a:xfrm>
              <a:off x="1076" y="5173"/>
              <a:ext cx="6788" cy="4202"/>
            </a:xfrm>
            <a:prstGeom prst="rect">
              <a:avLst/>
            </a:prstGeom>
            <a:noFill/>
            <a:ln w="28575" cap="flat" cmpd="dbl">
              <a:solidFill>
                <a:schemeClr val="accent1">
                  <a:shade val="50000"/>
                </a:scheme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marL="342900" indent="-342900">
                <a:spcBef>
                  <a:spcPct val="20000"/>
                </a:spcBef>
                <a:buClr>
                  <a:srgbClr val="9900FF"/>
                </a:buClr>
                <a:buSzPct val="65000"/>
                <a:buFont typeface="Wingdings" panose="05000000000000000000" pitchFamily="2" charset="2"/>
                <a:buChar char="&amp;"/>
              </a:pPr>
              <a:r>
                <a:rPr lang="zh-CN" altLang="en-US" b="1">
                  <a:latin typeface="Times New Roman" panose="02020603050405020304" pitchFamily="18" charset="0"/>
                  <a:ea typeface="宋体" panose="02010600030101010101" pitchFamily="2" charset="-122"/>
                </a:rPr>
                <a:t>存储容量为</a:t>
              </a: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8K×8bit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342900" indent="-342900">
                <a:spcBef>
                  <a:spcPct val="20000"/>
                </a:spcBef>
                <a:buClr>
                  <a:srgbClr val="9900FF"/>
                </a:buClr>
                <a:buSzPct val="65000"/>
                <a:buFont typeface="Wingdings" panose="05000000000000000000" pitchFamily="2" charset="2"/>
                <a:buChar char="&amp;"/>
              </a:pPr>
              <a:r>
                <a:rPr lang="en-US" altLang="zh-CN" b="1">
                  <a:latin typeface="Arial" panose="020B0604020202020204" pitchFamily="34" charset="0"/>
                  <a:ea typeface="宋体" panose="02010600030101010101" pitchFamily="2" charset="-122"/>
                </a:rPr>
                <a:t>28</a:t>
              </a:r>
              <a:r>
                <a:rPr lang="zh-CN" altLang="en-US" b="1">
                  <a:latin typeface="Arial" panose="020B0604020202020204" pitchFamily="34" charset="0"/>
                  <a:ea typeface="宋体" panose="02010600030101010101" pitchFamily="2" charset="-122"/>
                </a:rPr>
                <a:t>根</a:t>
              </a:r>
              <a:r>
                <a:rPr lang="zh-CN" altLang="en-US" b="1">
                  <a:latin typeface="Times New Roman" panose="02020603050405020304" pitchFamily="18" charset="0"/>
                  <a:ea typeface="宋体" panose="02010600030101010101" pitchFamily="2" charset="-122"/>
                </a:rPr>
                <a:t>引脚：</a:t>
              </a:r>
              <a:endParaRPr lang="zh-CN" altLang="en-US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669925" lvl="1" indent="-325120" algn="l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</a:pPr>
              <a:r>
                <a:rPr lang="en-US" altLang="zh-CN" b="1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13</a:t>
              </a:r>
              <a:r>
                <a:rPr lang="zh-CN" altLang="en-US" b="1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根地址线</a:t>
              </a:r>
              <a:r>
                <a:rPr lang="en-US" altLang="zh-CN" b="1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A</a:t>
              </a:r>
              <a:r>
                <a:rPr lang="en-US" altLang="zh-CN" b="1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12</a:t>
              </a:r>
              <a:r>
                <a:rPr lang="zh-CN" altLang="en-US" b="1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～</a:t>
              </a:r>
              <a:r>
                <a:rPr lang="en-US" altLang="zh-CN" b="1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A</a:t>
              </a:r>
              <a:r>
                <a:rPr lang="en-US" altLang="zh-CN" b="1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b="1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669925" lvl="1" indent="-325120" algn="l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</a:pPr>
              <a:r>
                <a:rPr lang="en-US" altLang="zh-CN" b="1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  <a:r>
                <a:rPr lang="zh-CN" altLang="en-US" b="1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根数据线</a:t>
              </a:r>
              <a:r>
                <a:rPr lang="en-US" altLang="zh-CN" b="1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b="1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  <a:r>
                <a:rPr lang="zh-CN" altLang="en-US" b="1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～</a:t>
              </a:r>
              <a:r>
                <a:rPr lang="en-US" altLang="zh-CN" b="1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b="1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b="1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669925" lvl="1" indent="-325120" algn="l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</a:pPr>
              <a:r>
                <a:rPr lang="zh-CN" altLang="en-US" b="1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片选</a:t>
              </a:r>
              <a:r>
                <a:rPr lang="en-US" altLang="zh-CN" b="1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CE</a:t>
              </a:r>
              <a:r>
                <a:rPr lang="en-US" altLang="zh-CN" b="1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zh-CN" altLang="en-US" b="1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r>
                <a:rPr lang="en-US" altLang="zh-CN" b="1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CE</a:t>
              </a:r>
              <a:r>
                <a:rPr lang="en-US" altLang="zh-CN" b="1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b="1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669925" lvl="1" indent="-325120" algn="l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</a:pPr>
              <a:r>
                <a:rPr lang="zh-CN" altLang="en-US" b="1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读</a:t>
              </a:r>
              <a:r>
                <a:rPr lang="en-US" altLang="zh-CN" b="1">
                  <a:latin typeface="Times New Roman" panose="02020603050405020304" pitchFamily="18" charset="0"/>
                  <a:sym typeface="+mn-ea"/>
                </a:rPr>
                <a:t>OE</a:t>
              </a:r>
              <a:r>
                <a:rPr lang="zh-CN" altLang="en-US" b="1">
                  <a:latin typeface="Times New Roman" panose="02020603050405020304" pitchFamily="18" charset="0"/>
                  <a:sym typeface="+mn-ea"/>
                </a:rPr>
                <a:t>、</a:t>
              </a:r>
              <a:r>
                <a:rPr lang="zh-CN" altLang="en-US" b="1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写</a:t>
              </a:r>
              <a:r>
                <a:rPr lang="en-US" altLang="zh-CN" b="1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WE</a:t>
              </a:r>
              <a:endParaRPr lang="en-US" altLang="zh-CN" b="1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2777" y="8723"/>
              <a:ext cx="681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4" name="直接连接符 13"/>
            <p:cNvCxnSpPr/>
            <p:nvPr>
              <p:custDataLst>
                <p:tags r:id="rId5"/>
              </p:custDataLst>
            </p:nvPr>
          </p:nvCxnSpPr>
          <p:spPr>
            <a:xfrm>
              <a:off x="4427" y="8723"/>
              <a:ext cx="794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5" name="直接连接符 14"/>
            <p:cNvCxnSpPr/>
            <p:nvPr>
              <p:custDataLst>
                <p:tags r:id="rId6"/>
              </p:custDataLst>
            </p:nvPr>
          </p:nvCxnSpPr>
          <p:spPr>
            <a:xfrm>
              <a:off x="3266" y="8047"/>
              <a:ext cx="794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sp>
        <p:nvSpPr>
          <p:cNvPr id="27693" name="矩形 27692"/>
          <p:cNvSpPr/>
          <p:nvPr>
            <p:custDataLst>
              <p:tags r:id="rId7"/>
            </p:custDataLst>
          </p:nvPr>
        </p:nvSpPr>
        <p:spPr>
          <a:xfrm>
            <a:off x="396240" y="5885180"/>
            <a:ext cx="5496560" cy="846455"/>
          </a:xfrm>
          <a:prstGeom prst="rect">
            <a:avLst/>
          </a:prstGeom>
          <a:solidFill>
            <a:schemeClr val="bg1"/>
          </a:solidFill>
          <a:ln w="38100" cap="flat" cmpd="dbl">
            <a:noFill/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l"/>
            <a:r>
              <a:rPr lang="zh-CN" altLang="en-US" b="1" dirty="0">
                <a:solidFill>
                  <a:srgbClr val="00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安排两个有效信号互补的片选端，可为多个</a:t>
            </a:r>
            <a:r>
              <a:rPr lang="en-US" altLang="zh-CN" b="1">
                <a:solidFill>
                  <a:srgbClr val="00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6264</a:t>
            </a:r>
            <a:r>
              <a:rPr lang="zh-CN" altLang="en-US" b="1" dirty="0">
                <a:solidFill>
                  <a:srgbClr val="00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芯片的片选译码带来方便。</a:t>
            </a:r>
            <a:endParaRPr lang="zh-CN" altLang="en-US" b="1" dirty="0">
              <a:solidFill>
                <a:srgbClr val="0033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27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7693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4.1.4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典型存储芯片</a:t>
            </a:r>
            <a:endParaRPr lang="zh-CN" altLang="en-US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9750" y="1484630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 dirty="0">
                <a:solidFill>
                  <a:schemeClr val="tx1"/>
                </a:solidFill>
                <a:sym typeface="+mn-ea"/>
              </a:rPr>
              <a:t>1.  </a:t>
            </a:r>
            <a:r>
              <a:rPr lang="zh-CN" altLang="en-US" b="1" dirty="0">
                <a:solidFill>
                  <a:schemeClr val="tx1"/>
                </a:solidFill>
                <a:sym typeface="+mn-ea"/>
              </a:rPr>
              <a:t>静态</a:t>
            </a:r>
            <a:r>
              <a:rPr lang="en-US" altLang="zh-CN" b="1" dirty="0">
                <a:solidFill>
                  <a:schemeClr val="tx1"/>
                </a:solidFill>
                <a:sym typeface="+mn-ea"/>
              </a:rPr>
              <a:t>RAM</a:t>
            </a:r>
            <a:r>
              <a:rPr lang="zh-CN" altLang="en-US" b="1" dirty="0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 b="1" dirty="0">
                <a:solidFill>
                  <a:schemeClr val="tx1"/>
                </a:solidFill>
                <a:sym typeface="+mn-ea"/>
              </a:rPr>
              <a:t>SRAM</a:t>
            </a:r>
            <a:r>
              <a:rPr lang="zh-CN" altLang="en-US" b="1" dirty="0">
                <a:solidFill>
                  <a:schemeClr val="tx1"/>
                </a:solidFill>
                <a:sym typeface="+mn-ea"/>
              </a:rPr>
              <a:t>）</a:t>
            </a:r>
            <a:endParaRPr lang="zh-CN" altLang="en-US" b="1" dirty="0">
              <a:solidFill>
                <a:schemeClr val="tx1"/>
              </a:solidFill>
              <a:sym typeface="+mn-ea"/>
            </a:endParaRPr>
          </a:p>
        </p:txBody>
      </p:sp>
      <p:graphicFrame>
        <p:nvGraphicFramePr>
          <p:cNvPr id="87043" name="表格 87042"/>
          <p:cNvGraphicFramePr/>
          <p:nvPr>
            <p:custDataLst>
              <p:tags r:id="rId2"/>
            </p:custDataLst>
          </p:nvPr>
        </p:nvGraphicFramePr>
        <p:xfrm>
          <a:off x="440690" y="2557780"/>
          <a:ext cx="7936865" cy="2425700"/>
        </p:xfrm>
        <a:graphic>
          <a:graphicData uri="http://schemas.openxmlformats.org/drawingml/2006/table">
            <a:tbl>
              <a:tblPr/>
              <a:tblGrid>
                <a:gridCol w="1886585"/>
                <a:gridCol w="1160145"/>
                <a:gridCol w="989330"/>
                <a:gridCol w="1047115"/>
                <a:gridCol w="976630"/>
                <a:gridCol w="1877060"/>
              </a:tblGrid>
              <a:tr h="56197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400" b="1">
                          <a:solidFill>
                            <a:schemeClr val="tx1"/>
                          </a:solidFill>
                        </a:rPr>
                        <a:t>操作方式</a:t>
                      </a:r>
                      <a:endParaRPr lang="zh-CN" altLang="en-US" sz="24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>
                          <a:solidFill>
                            <a:schemeClr val="tx1"/>
                          </a:solidFill>
                        </a:rPr>
                        <a:t>CE</a:t>
                      </a:r>
                      <a:r>
                        <a:rPr lang="en-US" altLang="zh-CN" sz="2400" b="1" baseline="-2500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</a:rPr>
                        <a:t>*</a:t>
                      </a:r>
                      <a:endParaRPr lang="en-US" altLang="zh-CN" sz="24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>
                          <a:solidFill>
                            <a:schemeClr val="tx1"/>
                          </a:solidFill>
                        </a:rPr>
                        <a:t>CE</a:t>
                      </a:r>
                      <a:r>
                        <a:rPr lang="en-US" altLang="zh-CN" sz="2400" b="1" baseline="-2500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sz="2400" b="1" baseline="-25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>
                          <a:solidFill>
                            <a:schemeClr val="tx1"/>
                          </a:solidFill>
                        </a:rPr>
                        <a:t>WE*</a:t>
                      </a:r>
                      <a:endParaRPr lang="en-US" altLang="zh-CN" sz="24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>
                          <a:solidFill>
                            <a:schemeClr val="tx1"/>
                          </a:solidFill>
                        </a:rPr>
                        <a:t>OE*</a:t>
                      </a:r>
                      <a:endParaRPr lang="en-US" altLang="zh-CN" sz="24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altLang="zh-CN" sz="2400" b="1" baseline="-25000">
                          <a:solidFill>
                            <a:schemeClr val="tx1"/>
                          </a:solidFill>
                        </a:rPr>
                        <a:t>7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</a:rPr>
                        <a:t> ~ D</a:t>
                      </a:r>
                      <a:r>
                        <a:rPr lang="en-US" altLang="zh-CN" sz="2400" b="1" baseline="-250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2400" b="1" baseline="-25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6372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400" b="1">
                          <a:solidFill>
                            <a:schemeClr val="tx1"/>
                          </a:solidFill>
                        </a:rPr>
                        <a:t>保持</a:t>
                      </a:r>
                      <a:endParaRPr lang="zh-CN" altLang="en-US" sz="2400" b="1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2400" b="1">
                          <a:solidFill>
                            <a:schemeClr val="tx1"/>
                          </a:solidFill>
                        </a:rPr>
                        <a:t>保持</a:t>
                      </a:r>
                      <a:endParaRPr lang="zh-CN" altLang="en-US" sz="2400" b="1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2400" b="1">
                          <a:solidFill>
                            <a:schemeClr val="tx1"/>
                          </a:solidFill>
                        </a:rPr>
                        <a:t>读出</a:t>
                      </a:r>
                      <a:endParaRPr lang="zh-CN" altLang="en-US" sz="2400" b="1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2400" b="1">
                          <a:solidFill>
                            <a:schemeClr val="tx1"/>
                          </a:solidFill>
                        </a:rPr>
                        <a:t>写入</a:t>
                      </a:r>
                      <a:endParaRPr lang="zh-CN" altLang="en-US" sz="24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2400" b="1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altLang="zh-CN" sz="2400" b="1">
                          <a:solidFill>
                            <a:schemeClr val="tx1"/>
                          </a:solidFill>
                        </a:rPr>
                        <a:t>×</a:t>
                      </a:r>
                      <a:endParaRPr lang="en-US" altLang="zh-CN" sz="2400" b="1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altLang="zh-CN" sz="2400" b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2400" b="1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altLang="zh-CN" sz="2400" b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24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>
                          <a:solidFill>
                            <a:schemeClr val="tx1"/>
                          </a:solidFill>
                        </a:rPr>
                        <a:t>×</a:t>
                      </a:r>
                      <a:endParaRPr lang="en-US" altLang="zh-CN" sz="2400" b="1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altLang="zh-CN" sz="2400" b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2400" b="1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altLang="zh-CN" sz="2400" b="1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2400" b="1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altLang="zh-CN" sz="2400" b="1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24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>
                          <a:solidFill>
                            <a:schemeClr val="tx1"/>
                          </a:solidFill>
                        </a:rPr>
                        <a:t>×</a:t>
                      </a:r>
                      <a:endParaRPr lang="en-US" altLang="zh-CN" sz="2400" b="1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altLang="zh-CN" sz="2400" b="1">
                          <a:solidFill>
                            <a:schemeClr val="tx1"/>
                          </a:solidFill>
                        </a:rPr>
                        <a:t>×</a:t>
                      </a:r>
                      <a:endParaRPr lang="en-US" altLang="zh-CN" sz="2400" b="1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altLang="zh-CN" sz="2400" b="1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2400" b="1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altLang="zh-CN" sz="2400" b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24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400" b="1">
                          <a:solidFill>
                            <a:schemeClr val="tx1"/>
                          </a:solidFill>
                        </a:rPr>
                        <a:t>×</a:t>
                      </a:r>
                      <a:endParaRPr lang="en-US" altLang="zh-CN" sz="2400" b="1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altLang="zh-CN" sz="2400" b="1">
                          <a:solidFill>
                            <a:schemeClr val="tx1"/>
                          </a:solidFill>
                        </a:rPr>
                        <a:t>×</a:t>
                      </a:r>
                      <a:endParaRPr lang="en-US" altLang="zh-CN" sz="2400" b="1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altLang="zh-CN" sz="2400" b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2400" b="1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altLang="zh-CN" sz="2400" b="1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24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400" b="1">
                          <a:solidFill>
                            <a:schemeClr val="tx1"/>
                          </a:solidFill>
                        </a:rPr>
                        <a:t>高阻</a:t>
                      </a:r>
                      <a:endParaRPr lang="zh-CN" altLang="en-US" sz="2400" b="1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2400" b="1">
                          <a:solidFill>
                            <a:schemeClr val="tx1"/>
                          </a:solidFill>
                        </a:rPr>
                        <a:t>高阻</a:t>
                      </a:r>
                      <a:endParaRPr lang="zh-CN" altLang="en-US" sz="2400" b="1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2400" b="1">
                          <a:solidFill>
                            <a:schemeClr val="tx1"/>
                          </a:solidFill>
                        </a:rPr>
                        <a:t>数据输出</a:t>
                      </a:r>
                      <a:endParaRPr lang="zh-CN" altLang="en-US" sz="2400" b="1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zh-CN" altLang="en-US" sz="2400" b="1">
                          <a:solidFill>
                            <a:schemeClr val="tx1"/>
                          </a:solidFill>
                        </a:rPr>
                        <a:t>数据输入</a:t>
                      </a:r>
                      <a:endParaRPr lang="zh-CN" altLang="en-US" sz="24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122805" y="2025650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b="1"/>
              <a:t> Intel 6264 的操作方式</a:t>
            </a:r>
            <a:endParaRPr lang="zh-CN" altLang="en-US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Text Box 2"/>
          <p:cNvSpPr txBox="1"/>
          <p:nvPr/>
        </p:nvSpPr>
        <p:spPr>
          <a:xfrm>
            <a:off x="508953" y="1484630"/>
            <a:ext cx="61722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b="1" dirty="0">
                <a:solidFill>
                  <a:schemeClr val="tx1"/>
                </a:solidFill>
                <a:latin typeface="Tahoma" panose="020B0604030504040204" pitchFamily="34" charset="0"/>
              </a:rPr>
              <a:t>2. </a:t>
            </a:r>
            <a:r>
              <a:rPr lang="zh-CN" altLang="en-US" b="1" dirty="0">
                <a:solidFill>
                  <a:schemeClr val="tx1"/>
                </a:solidFill>
                <a:latin typeface="Tahoma" panose="020B0604030504040204" pitchFamily="34" charset="0"/>
              </a:rPr>
              <a:t>动态</a:t>
            </a:r>
            <a:r>
              <a:rPr lang="en-US" altLang="zh-CN" b="1" dirty="0">
                <a:sym typeface="+mn-ea"/>
              </a:rPr>
              <a:t>RAM</a:t>
            </a:r>
            <a:r>
              <a:rPr lang="zh-CN" altLang="en-US" b="1" dirty="0">
                <a:solidFill>
                  <a:schemeClr val="tx1"/>
                </a:solidFill>
                <a:latin typeface="Tahoma" panose="020B0604030504040204" pitchFamily="34" charset="0"/>
              </a:rPr>
              <a:t>（</a:t>
            </a:r>
            <a:r>
              <a:rPr lang="en-US" altLang="zh-CN" b="1" dirty="0">
                <a:solidFill>
                  <a:schemeClr val="tx1"/>
                </a:solidFill>
                <a:latin typeface="Tahoma" panose="020B0604030504040204" pitchFamily="34" charset="0"/>
              </a:rPr>
              <a:t>DRAM</a:t>
            </a:r>
            <a:r>
              <a:rPr lang="zh-CN" altLang="en-US" b="1" dirty="0">
                <a:solidFill>
                  <a:schemeClr val="tx1"/>
                </a:solidFill>
                <a:latin typeface="Tahoma" panose="020B0604030504040204" pitchFamily="34" charset="0"/>
              </a:rPr>
              <a:t>）</a:t>
            </a:r>
            <a:endParaRPr lang="zh-CN" altLang="en-US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1269" name="Rectangle 5"/>
          <p:cNvSpPr/>
          <p:nvPr/>
        </p:nvSpPr>
        <p:spPr>
          <a:xfrm>
            <a:off x="509270" y="1917383"/>
            <a:ext cx="8705850" cy="18453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342900" indent="-342900">
              <a:spcBef>
                <a:spcPct val="2500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0000"/>
                </a:solidFill>
                <a:latin typeface="Tahoma" panose="020B0604030504040204" pitchFamily="34" charset="0"/>
              </a:rPr>
              <a:t>电容存储 </a:t>
            </a:r>
            <a:r>
              <a:rPr lang="en-US" altLang="zh-CN" b="1" dirty="0">
                <a:solidFill>
                  <a:srgbClr val="000000"/>
                </a:solidFill>
                <a:latin typeface="Tahoma" panose="020B0604030504040204" pitchFamily="34" charset="0"/>
              </a:rPr>
              <a:t>“1”</a:t>
            </a:r>
            <a:r>
              <a:rPr lang="zh-CN" altLang="en-US" b="1" dirty="0">
                <a:solidFill>
                  <a:srgbClr val="000000"/>
                </a:solidFill>
                <a:latin typeface="Tahoma" panose="020B0604030504040204" pitchFamily="34" charset="0"/>
              </a:rPr>
              <a:t>或</a:t>
            </a:r>
            <a:r>
              <a:rPr lang="en-US" altLang="zh-CN" b="1" dirty="0">
                <a:solidFill>
                  <a:srgbClr val="000000"/>
                </a:solidFill>
                <a:latin typeface="Tahoma" panose="020B0604030504040204" pitchFamily="34" charset="0"/>
              </a:rPr>
              <a:t>“0”</a:t>
            </a:r>
            <a:r>
              <a:rPr lang="zh-CN" altLang="en-US" b="1" dirty="0">
                <a:solidFill>
                  <a:srgbClr val="000000"/>
                </a:solidFill>
                <a:latin typeface="Tahoma" panose="020B0604030504040204" pitchFamily="34" charset="0"/>
              </a:rPr>
              <a:t>，存储信息不稳定</a:t>
            </a:r>
            <a:endParaRPr lang="en-US" altLang="zh-CN" b="1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marL="342900" indent="-342900">
              <a:spcBef>
                <a:spcPct val="2500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0000"/>
                </a:solidFill>
                <a:latin typeface="Tahoma" panose="020B0604030504040204" pitchFamily="34" charset="0"/>
              </a:rPr>
              <a:t>刷新电路：将存储的数据读出、经放大后再写入</a:t>
            </a:r>
            <a:endParaRPr lang="zh-CN" altLang="en-US" b="1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marL="342900" indent="-342900">
              <a:spcBef>
                <a:spcPct val="2500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0000"/>
                </a:solidFill>
                <a:latin typeface="Tahoma" panose="020B0604030504040204" pitchFamily="34" charset="0"/>
              </a:rPr>
              <a:t>由</a:t>
            </a:r>
            <a:r>
              <a:rPr lang="en-US" altLang="zh-CN" b="1" dirty="0">
                <a:solidFill>
                  <a:srgbClr val="000000"/>
                </a:solidFill>
                <a:latin typeface="Tahoma" panose="020B0604030504040204" pitchFamily="34" charset="0"/>
              </a:rPr>
              <a:t>DRAM</a:t>
            </a:r>
            <a:r>
              <a:rPr lang="zh-CN" altLang="en-US" b="1" dirty="0">
                <a:solidFill>
                  <a:srgbClr val="000000"/>
                </a:solidFill>
                <a:latin typeface="Tahoma" panose="020B0604030504040204" pitchFamily="34" charset="0"/>
              </a:rPr>
              <a:t>控制器使行列地址线分时输入</a:t>
            </a:r>
            <a:endParaRPr lang="zh-CN" altLang="en-US" b="1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marL="342900" indent="-342900">
              <a:spcBef>
                <a:spcPct val="25000"/>
              </a:spcBef>
              <a:buClrTx/>
              <a:buFont typeface="Arial" panose="020B0604020202020204" pitchFamily="34" charset="0"/>
              <a:buChar char="•"/>
            </a:pPr>
            <a:endParaRPr lang="en-US" altLang="zh-CN" b="1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grpSp>
        <p:nvGrpSpPr>
          <p:cNvPr id="20483" name="Group 35"/>
          <p:cNvGrpSpPr/>
          <p:nvPr/>
        </p:nvGrpSpPr>
        <p:grpSpPr>
          <a:xfrm>
            <a:off x="2461578" y="3350260"/>
            <a:ext cx="3581400" cy="3489325"/>
            <a:chOff x="384" y="1200"/>
            <a:chExt cx="2352" cy="2439"/>
          </a:xfrm>
        </p:grpSpPr>
        <p:sp>
          <p:nvSpPr>
            <p:cNvPr id="20484" name="Text Box 7"/>
            <p:cNvSpPr txBox="1"/>
            <p:nvPr/>
          </p:nvSpPr>
          <p:spPr>
            <a:xfrm>
              <a:off x="912" y="1200"/>
              <a:ext cx="1536" cy="27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zh-CN" altLang="en-US" sz="2000" b="1" dirty="0">
                  <a:solidFill>
                    <a:srgbClr val="000000"/>
                  </a:solidFill>
                  <a:latin typeface="Tahoma" panose="020B0604030504040204" pitchFamily="34" charset="0"/>
                </a:rPr>
                <a:t>行选择线</a:t>
              </a:r>
              <a:endParaRPr lang="zh-CN" altLang="en-US" sz="2000" b="1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485" name="Text Box 8"/>
            <p:cNvSpPr txBox="1"/>
            <p:nvPr/>
          </p:nvSpPr>
          <p:spPr>
            <a:xfrm>
              <a:off x="384" y="2399"/>
              <a:ext cx="384" cy="91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zh-CN" altLang="en-US" sz="2000" b="1" dirty="0">
                  <a:solidFill>
                    <a:srgbClr val="000000"/>
                  </a:solidFill>
                  <a:latin typeface="Tahoma" panose="020B0604030504040204" pitchFamily="34" charset="0"/>
                </a:rPr>
                <a:t>列选择线</a:t>
              </a:r>
              <a:endParaRPr lang="zh-CN" altLang="en-US" sz="2000" b="1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grpSp>
          <p:nvGrpSpPr>
            <p:cNvPr id="20486" name="Group 16"/>
            <p:cNvGrpSpPr/>
            <p:nvPr/>
          </p:nvGrpSpPr>
          <p:grpSpPr>
            <a:xfrm>
              <a:off x="1344" y="1200"/>
              <a:ext cx="816" cy="624"/>
              <a:chOff x="816" y="1584"/>
              <a:chExt cx="816" cy="624"/>
            </a:xfrm>
          </p:grpSpPr>
          <p:sp>
            <p:nvSpPr>
              <p:cNvPr id="20487" name="Line 9"/>
              <p:cNvSpPr/>
              <p:nvPr/>
            </p:nvSpPr>
            <p:spPr>
              <a:xfrm>
                <a:off x="1248" y="1584"/>
                <a:ext cx="0" cy="38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488" name="Line 10"/>
              <p:cNvSpPr/>
              <p:nvPr/>
            </p:nvSpPr>
            <p:spPr>
              <a:xfrm>
                <a:off x="1152" y="1968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489" name="Line 11"/>
              <p:cNvSpPr/>
              <p:nvPr/>
            </p:nvSpPr>
            <p:spPr>
              <a:xfrm>
                <a:off x="1008" y="2064"/>
                <a:ext cx="43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490" name="Line 12"/>
              <p:cNvSpPr/>
              <p:nvPr/>
            </p:nvSpPr>
            <p:spPr>
              <a:xfrm>
                <a:off x="1104" y="2064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491" name="Line 13"/>
              <p:cNvSpPr/>
              <p:nvPr/>
            </p:nvSpPr>
            <p:spPr>
              <a:xfrm>
                <a:off x="1344" y="2064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492" name="Line 14"/>
              <p:cNvSpPr/>
              <p:nvPr/>
            </p:nvSpPr>
            <p:spPr>
              <a:xfrm>
                <a:off x="816" y="2208"/>
                <a:ext cx="28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493" name="Line 15"/>
              <p:cNvSpPr/>
              <p:nvPr/>
            </p:nvSpPr>
            <p:spPr>
              <a:xfrm>
                <a:off x="1344" y="2208"/>
                <a:ext cx="28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0494" name="Group 17"/>
            <p:cNvGrpSpPr/>
            <p:nvPr/>
          </p:nvGrpSpPr>
          <p:grpSpPr>
            <a:xfrm rot="-5400000">
              <a:off x="624" y="2592"/>
              <a:ext cx="816" cy="624"/>
              <a:chOff x="816" y="1584"/>
              <a:chExt cx="816" cy="624"/>
            </a:xfrm>
          </p:grpSpPr>
          <p:sp>
            <p:nvSpPr>
              <p:cNvPr id="20495" name="Line 18"/>
              <p:cNvSpPr/>
              <p:nvPr/>
            </p:nvSpPr>
            <p:spPr>
              <a:xfrm>
                <a:off x="1248" y="1584"/>
                <a:ext cx="0" cy="38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496" name="Line 19"/>
              <p:cNvSpPr/>
              <p:nvPr/>
            </p:nvSpPr>
            <p:spPr>
              <a:xfrm>
                <a:off x="1152" y="1968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497" name="Line 20"/>
              <p:cNvSpPr/>
              <p:nvPr/>
            </p:nvSpPr>
            <p:spPr>
              <a:xfrm>
                <a:off x="1008" y="2064"/>
                <a:ext cx="43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498" name="Line 21"/>
              <p:cNvSpPr/>
              <p:nvPr/>
            </p:nvSpPr>
            <p:spPr>
              <a:xfrm>
                <a:off x="1104" y="2064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499" name="Line 22"/>
              <p:cNvSpPr/>
              <p:nvPr/>
            </p:nvSpPr>
            <p:spPr>
              <a:xfrm>
                <a:off x="1344" y="2064"/>
                <a:ext cx="0" cy="1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500" name="Line 23"/>
              <p:cNvSpPr/>
              <p:nvPr/>
            </p:nvSpPr>
            <p:spPr>
              <a:xfrm>
                <a:off x="816" y="2208"/>
                <a:ext cx="28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501" name="Line 24"/>
              <p:cNvSpPr/>
              <p:nvPr/>
            </p:nvSpPr>
            <p:spPr>
              <a:xfrm>
                <a:off x="1344" y="2208"/>
                <a:ext cx="28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0502" name="Text Box 25"/>
            <p:cNvSpPr txBox="1"/>
            <p:nvPr/>
          </p:nvSpPr>
          <p:spPr>
            <a:xfrm>
              <a:off x="960" y="2063"/>
              <a:ext cx="720" cy="49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>
              <a:solidFill>
                <a:srgbClr val="CC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 algn="ctr">
                <a:buClrTx/>
                <a:buFontTx/>
              </a:pPr>
              <a:r>
                <a:rPr lang="zh-CN" altLang="en-US" sz="2000" b="1" dirty="0">
                  <a:solidFill>
                    <a:srgbClr val="000000"/>
                  </a:solidFill>
                  <a:latin typeface="Tahoma" panose="020B0604030504040204" pitchFamily="34" charset="0"/>
                </a:rPr>
                <a:t>刷新</a:t>
              </a:r>
              <a:endParaRPr lang="zh-CN" altLang="en-US" sz="2000" b="1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  <a:p>
              <a:pPr algn="ctr">
                <a:buClrTx/>
                <a:buFontTx/>
              </a:pPr>
              <a:r>
                <a:rPr lang="zh-CN" altLang="en-US" sz="2000" b="1" dirty="0">
                  <a:solidFill>
                    <a:srgbClr val="000000"/>
                  </a:solidFill>
                  <a:latin typeface="Tahoma" panose="020B0604030504040204" pitchFamily="34" charset="0"/>
                </a:rPr>
                <a:t>放大器</a:t>
              </a:r>
              <a:endParaRPr lang="zh-CN" altLang="en-US" sz="2000" b="1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503" name="Line 26"/>
            <p:cNvSpPr/>
            <p:nvPr/>
          </p:nvSpPr>
          <p:spPr>
            <a:xfrm>
              <a:off x="1344" y="1824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504" name="Line 27"/>
            <p:cNvSpPr/>
            <p:nvPr/>
          </p:nvSpPr>
          <p:spPr>
            <a:xfrm>
              <a:off x="2160" y="1824"/>
              <a:ext cx="0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505" name="Line 28"/>
            <p:cNvSpPr/>
            <p:nvPr/>
          </p:nvSpPr>
          <p:spPr>
            <a:xfrm>
              <a:off x="2064" y="2256"/>
              <a:ext cx="192" cy="0"/>
            </a:xfrm>
            <a:prstGeom prst="line">
              <a:avLst/>
            </a:prstGeom>
            <a:ln w="3810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506" name="Line 29"/>
            <p:cNvSpPr/>
            <p:nvPr/>
          </p:nvSpPr>
          <p:spPr>
            <a:xfrm>
              <a:off x="2064" y="2352"/>
              <a:ext cx="192" cy="0"/>
            </a:xfrm>
            <a:prstGeom prst="line">
              <a:avLst/>
            </a:prstGeom>
            <a:ln w="3810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507" name="Line 30"/>
            <p:cNvSpPr/>
            <p:nvPr/>
          </p:nvSpPr>
          <p:spPr>
            <a:xfrm>
              <a:off x="2160" y="2352"/>
              <a:ext cx="0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508" name="Line 31"/>
            <p:cNvSpPr/>
            <p:nvPr/>
          </p:nvSpPr>
          <p:spPr>
            <a:xfrm>
              <a:off x="2064" y="2688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509" name="Text Box 32"/>
            <p:cNvSpPr txBox="1"/>
            <p:nvPr/>
          </p:nvSpPr>
          <p:spPr>
            <a:xfrm>
              <a:off x="1872" y="1344"/>
              <a:ext cx="480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b="1" dirty="0">
                  <a:solidFill>
                    <a:srgbClr val="000000"/>
                  </a:solidFill>
                  <a:latin typeface="Tahoma" panose="020B0604030504040204" pitchFamily="34" charset="0"/>
                </a:rPr>
                <a:t>Q</a:t>
              </a:r>
              <a:endParaRPr lang="en-US" altLang="zh-CN" b="1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510" name="Text Box 33"/>
            <p:cNvSpPr txBox="1"/>
            <p:nvPr/>
          </p:nvSpPr>
          <p:spPr>
            <a:xfrm>
              <a:off x="2256" y="2112"/>
              <a:ext cx="480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b="1" dirty="0">
                  <a:solidFill>
                    <a:srgbClr val="000000"/>
                  </a:solidFill>
                  <a:latin typeface="Tahoma" panose="020B0604030504040204" pitchFamily="34" charset="0"/>
                </a:rPr>
                <a:t>C</a:t>
              </a:r>
              <a:endParaRPr lang="en-US" altLang="zh-CN" b="1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511" name="Text Box 34"/>
            <p:cNvSpPr txBox="1"/>
            <p:nvPr/>
          </p:nvSpPr>
          <p:spPr>
            <a:xfrm>
              <a:off x="959" y="3361"/>
              <a:ext cx="817" cy="27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zh-CN" altLang="en-US" sz="2000" b="1" dirty="0">
                  <a:solidFill>
                    <a:srgbClr val="000000"/>
                  </a:solidFill>
                  <a:latin typeface="Tahoma" panose="020B0604030504040204" pitchFamily="34" charset="0"/>
                </a:rPr>
                <a:t>数据线</a:t>
              </a:r>
              <a:endParaRPr lang="zh-CN" altLang="en-US" sz="2000" b="1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4.1.4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典型存储芯片</a:t>
            </a:r>
            <a:endParaRPr lang="zh-CN" altLang="en-US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11269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charRg st="25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11269">
                                            <p:txEl>
                                              <p:charRg st="25" end="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charRg st="49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11269">
                                            <p:txEl>
                                              <p:charRg st="49" end="7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9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Text Box 3"/>
          <p:cNvSpPr txBox="1"/>
          <p:nvPr/>
        </p:nvSpPr>
        <p:spPr>
          <a:xfrm>
            <a:off x="551180" y="1484630"/>
            <a:ext cx="658939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b="1" dirty="0">
                <a:solidFill>
                  <a:schemeClr val="tx1"/>
                </a:solidFill>
                <a:latin typeface="Tahoma" panose="020B0604030504040204" pitchFamily="34" charset="0"/>
              </a:rPr>
              <a:t>Intel 2164DRAM </a:t>
            </a:r>
            <a:r>
              <a:rPr lang="zh-CN" altLang="en-US" b="1" dirty="0">
                <a:solidFill>
                  <a:schemeClr val="tx1"/>
                </a:solidFill>
                <a:latin typeface="Tahoma" panose="020B0604030504040204" pitchFamily="34" charset="0"/>
              </a:rPr>
              <a:t>芯片（</a:t>
            </a:r>
            <a:r>
              <a:rPr lang="en-US" altLang="zh-CN" b="1" dirty="0">
                <a:solidFill>
                  <a:schemeClr val="tx1"/>
                </a:solidFill>
                <a:latin typeface="Tahoma" panose="020B0604030504040204" pitchFamily="34" charset="0"/>
              </a:rPr>
              <a:t>64K*1bit</a:t>
            </a:r>
            <a:r>
              <a:rPr lang="zh-CN" altLang="en-US" b="1" dirty="0">
                <a:solidFill>
                  <a:schemeClr val="tx1"/>
                </a:solidFill>
                <a:latin typeface="Tahoma" panose="020B0604030504040204" pitchFamily="34" charset="0"/>
              </a:rPr>
              <a:t>）</a:t>
            </a:r>
            <a:endParaRPr lang="zh-CN" altLang="en-US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4.1.4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典型存储芯片</a:t>
            </a:r>
            <a:endParaRPr lang="zh-CN" altLang="en-US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7" name="图片 6" descr="2164引脚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935" y="2132965"/>
            <a:ext cx="3006090" cy="2991485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683895" y="1988820"/>
            <a:ext cx="4202430" cy="3438525"/>
            <a:chOff x="1077" y="3132"/>
            <a:chExt cx="6618" cy="5415"/>
          </a:xfrm>
        </p:grpSpPr>
        <p:sp>
          <p:nvSpPr>
            <p:cNvPr id="39938" name="文本占位符 34818"/>
            <p:cNvSpPr>
              <a:spLocks noGrp="1"/>
            </p:cNvSpPr>
            <p:nvPr>
              <p:custDataLst>
                <p:tags r:id="rId3"/>
              </p:custDataLst>
            </p:nvPr>
          </p:nvSpPr>
          <p:spPr>
            <a:xfrm>
              <a:off x="1077" y="3132"/>
              <a:ext cx="6618" cy="5415"/>
            </a:xfrm>
            <a:prstGeom prst="rect">
              <a:avLst/>
            </a:prstGeom>
            <a:noFill/>
            <a:ln w="28575" cmpd="dbl">
              <a:solidFill>
                <a:schemeClr val="accent1">
                  <a:shade val="50000"/>
                </a:schemeClr>
              </a:solidFill>
              <a:prstDash val="solid"/>
              <a:miter/>
            </a:ln>
          </p:spPr>
          <p:txBody>
            <a:bodyPr anchor="t" anchorCtr="0"/>
            <a:lstStyle>
              <a:lvl1pPr marL="34290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9900FF"/>
                </a:buClr>
                <a:buSzPct val="65000"/>
                <a:buFont typeface="Wingdings" panose="05000000000000000000" pitchFamily="2" charset="2"/>
                <a:buChar char="&amp;"/>
                <a:defRPr sz="30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lvl="1" indent="-32512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22350" lvl="2" indent="-35052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66FF"/>
                </a:buClr>
                <a:buSzPct val="65000"/>
                <a:buFont typeface="Wingdings" panose="05000000000000000000" pitchFamily="2" charset="2"/>
                <a:buChar char="v"/>
                <a:defRPr sz="22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39850" lvl="3" indent="-315595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81480" lvl="4" indent="-339725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lvl="5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lvl="6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lvl="7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lvl="8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600" b="1"/>
                <a:t>采用位结构 </a:t>
              </a:r>
              <a:endParaRPr lang="zh-CN" altLang="en-US" sz="2600" b="1">
                <a:latin typeface="Times New Roman" panose="02020603050405020304" pitchFamily="18" charset="0"/>
              </a:endParaRPr>
            </a:p>
            <a:p>
              <a:r>
                <a:rPr lang="en-US" altLang="zh-CN" sz="2600" b="1"/>
                <a:t>16</a:t>
              </a:r>
              <a:r>
                <a:rPr lang="zh-CN" altLang="en-US" sz="2600" b="1"/>
                <a:t>根</a:t>
              </a:r>
              <a:r>
                <a:rPr lang="zh-CN" altLang="en-US" sz="2600" b="1">
                  <a:latin typeface="Times New Roman" panose="02020603050405020304" pitchFamily="18" charset="0"/>
                </a:rPr>
                <a:t>引脚：</a:t>
              </a:r>
              <a:endParaRPr lang="zh-CN" altLang="en-US" sz="2600" b="1">
                <a:latin typeface="Times New Roman" panose="02020603050405020304" pitchFamily="18" charset="0"/>
              </a:endParaRPr>
            </a:p>
            <a:p>
              <a:pPr lvl="1"/>
              <a:r>
                <a:rPr lang="en-US" altLang="zh-CN" sz="2200" b="1">
                  <a:latin typeface="Times New Roman" panose="02020603050405020304" pitchFamily="18" charset="0"/>
                </a:rPr>
                <a:t>8</a:t>
              </a:r>
              <a:r>
                <a:rPr lang="zh-CN" altLang="en-US" sz="2200" b="1">
                  <a:latin typeface="Times New Roman" panose="02020603050405020304" pitchFamily="18" charset="0"/>
                </a:rPr>
                <a:t>根地址线</a:t>
              </a:r>
              <a:r>
                <a:rPr lang="en-US" altLang="zh-CN" sz="2200" b="1"/>
                <a:t>A</a:t>
              </a:r>
              <a:r>
                <a:rPr lang="en-US" altLang="zh-CN" sz="2200" b="1" baseline="-25000">
                  <a:latin typeface="Times New Roman" panose="02020603050405020304" pitchFamily="18" charset="0"/>
                </a:rPr>
                <a:t>7</a:t>
              </a:r>
              <a:r>
                <a:rPr lang="zh-CN" altLang="en-US" sz="2200" b="1">
                  <a:latin typeface="Times New Roman" panose="02020603050405020304" pitchFamily="18" charset="0"/>
                </a:rPr>
                <a:t>～</a:t>
              </a:r>
              <a:r>
                <a:rPr lang="en-US" altLang="zh-CN" sz="2200" b="1"/>
                <a:t>A</a:t>
              </a:r>
              <a:r>
                <a:rPr lang="en-US" altLang="zh-CN" sz="2200" b="1" baseline="-25000">
                  <a:latin typeface="Times New Roman" panose="02020603050405020304" pitchFamily="18" charset="0"/>
                </a:rPr>
                <a:t>0</a:t>
              </a:r>
              <a:endParaRPr lang="en-US" altLang="zh-CN" sz="2200" b="1" baseline="-25000">
                <a:latin typeface="Times New Roman" panose="02020603050405020304" pitchFamily="18" charset="0"/>
              </a:endParaRPr>
            </a:p>
            <a:p>
              <a:pPr lvl="1"/>
              <a:r>
                <a:rPr lang="en-US" altLang="zh-CN" sz="2200" b="1">
                  <a:latin typeface="Times New Roman" panose="02020603050405020304" pitchFamily="18" charset="0"/>
                </a:rPr>
                <a:t>1</a:t>
              </a:r>
              <a:r>
                <a:rPr lang="zh-CN" altLang="en-US" sz="2200" b="1">
                  <a:latin typeface="Times New Roman" panose="02020603050405020304" pitchFamily="18" charset="0"/>
                </a:rPr>
                <a:t>根数据输入线</a:t>
              </a:r>
              <a:r>
                <a:rPr lang="en-US" altLang="zh-CN" sz="2200" b="1">
                  <a:latin typeface="Times New Roman" panose="02020603050405020304" pitchFamily="18" charset="0"/>
                </a:rPr>
                <a:t>D</a:t>
              </a:r>
              <a:r>
                <a:rPr lang="en-US" altLang="zh-CN" sz="2200" b="1" baseline="-25000">
                  <a:latin typeface="Times New Roman" panose="02020603050405020304" pitchFamily="18" charset="0"/>
                </a:rPr>
                <a:t>IN</a:t>
              </a:r>
              <a:endParaRPr lang="en-US" altLang="zh-CN" sz="2200" b="1" baseline="-25000">
                <a:latin typeface="Times New Roman" panose="02020603050405020304" pitchFamily="18" charset="0"/>
              </a:endParaRPr>
            </a:p>
            <a:p>
              <a:pPr lvl="1"/>
              <a:r>
                <a:rPr lang="en-US" altLang="zh-CN" sz="2200" b="1">
                  <a:latin typeface="Times New Roman" panose="02020603050405020304" pitchFamily="18" charset="0"/>
                </a:rPr>
                <a:t>1</a:t>
              </a:r>
              <a:r>
                <a:rPr lang="zh-CN" altLang="en-US" sz="2200" b="1">
                  <a:latin typeface="Times New Roman" panose="02020603050405020304" pitchFamily="18" charset="0"/>
                </a:rPr>
                <a:t>根数据输出线</a:t>
              </a:r>
              <a:r>
                <a:rPr lang="en-US" altLang="zh-CN" sz="2200" b="1">
                  <a:latin typeface="Times New Roman" panose="02020603050405020304" pitchFamily="18" charset="0"/>
                </a:rPr>
                <a:t>D</a:t>
              </a:r>
              <a:r>
                <a:rPr lang="en-US" altLang="zh-CN" sz="2200" b="1" baseline="-25000">
                  <a:latin typeface="Times New Roman" panose="02020603050405020304" pitchFamily="18" charset="0"/>
                </a:rPr>
                <a:t>OUT</a:t>
              </a:r>
              <a:endParaRPr lang="en-US" altLang="zh-CN" sz="2200" b="1" baseline="-25000">
                <a:latin typeface="Times New Roman" panose="02020603050405020304" pitchFamily="18" charset="0"/>
              </a:endParaRPr>
            </a:p>
            <a:p>
              <a:pPr lvl="1"/>
              <a:r>
                <a:rPr lang="zh-CN" altLang="en-US" sz="2200" b="1">
                  <a:latin typeface="Times New Roman" panose="02020603050405020304" pitchFamily="18" charset="0"/>
                </a:rPr>
                <a:t>行地址锁存</a:t>
              </a:r>
              <a:r>
                <a:rPr lang="en-US" altLang="zh-CN" sz="2200" b="1">
                  <a:latin typeface="Times New Roman" panose="02020603050405020304" pitchFamily="18" charset="0"/>
                </a:rPr>
                <a:t>RAS</a:t>
              </a:r>
              <a:endParaRPr lang="en-US" altLang="zh-CN" sz="2200" b="1">
                <a:latin typeface="Times New Roman" panose="02020603050405020304" pitchFamily="18" charset="0"/>
              </a:endParaRPr>
            </a:p>
            <a:p>
              <a:pPr lvl="1"/>
              <a:r>
                <a:rPr lang="zh-CN" altLang="en-US" sz="2200" b="1">
                  <a:latin typeface="Times New Roman" panose="02020603050405020304" pitchFamily="18" charset="0"/>
                </a:rPr>
                <a:t>列地址锁存</a:t>
              </a:r>
              <a:r>
                <a:rPr lang="en-US" altLang="zh-CN" sz="2200" b="1">
                  <a:latin typeface="Times New Roman" panose="02020603050405020304" pitchFamily="18" charset="0"/>
                </a:rPr>
                <a:t>CAS</a:t>
              </a:r>
              <a:endParaRPr lang="en-US" altLang="zh-CN" sz="2200" b="1">
                <a:latin typeface="Times New Roman" panose="02020603050405020304" pitchFamily="18" charset="0"/>
              </a:endParaRPr>
            </a:p>
            <a:p>
              <a:pPr lvl="1"/>
              <a:r>
                <a:rPr lang="zh-CN" altLang="en-US" sz="2200" b="1">
                  <a:latin typeface="Times New Roman" panose="02020603050405020304" pitchFamily="18" charset="0"/>
                </a:rPr>
                <a:t>写允许信号</a:t>
              </a:r>
              <a:r>
                <a:rPr lang="en-US" altLang="zh-CN" sz="2200" b="1">
                  <a:latin typeface="Times New Roman" panose="02020603050405020304" pitchFamily="18" charset="0"/>
                </a:rPr>
                <a:t>WE</a:t>
              </a:r>
              <a:endParaRPr lang="en-US" altLang="zh-CN" sz="2200" b="1">
                <a:latin typeface="Times New Roman" panose="02020603050405020304" pitchFamily="18" charset="0"/>
              </a:endParaRPr>
            </a:p>
          </p:txBody>
        </p:sp>
        <p:sp>
          <p:nvSpPr>
            <p:cNvPr id="8" name="Line 49"/>
            <p:cNvSpPr/>
            <p:nvPr>
              <p:custDataLst>
                <p:tags r:id="rId4"/>
              </p:custDataLst>
            </p:nvPr>
          </p:nvSpPr>
          <p:spPr>
            <a:xfrm>
              <a:off x="4479" y="6608"/>
              <a:ext cx="90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" name="Line 49"/>
            <p:cNvSpPr/>
            <p:nvPr>
              <p:custDataLst>
                <p:tags r:id="rId5"/>
              </p:custDataLst>
            </p:nvPr>
          </p:nvSpPr>
          <p:spPr>
            <a:xfrm>
              <a:off x="4479" y="7214"/>
              <a:ext cx="90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" name="Line 49"/>
            <p:cNvSpPr/>
            <p:nvPr>
              <p:custDataLst>
                <p:tags r:id="rId6"/>
              </p:custDataLst>
            </p:nvPr>
          </p:nvSpPr>
          <p:spPr>
            <a:xfrm>
              <a:off x="4477" y="7869"/>
              <a:ext cx="73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2" name="文本框 11"/>
          <p:cNvSpPr txBox="1"/>
          <p:nvPr/>
        </p:nvSpPr>
        <p:spPr>
          <a:xfrm>
            <a:off x="683895" y="5517515"/>
            <a:ext cx="704913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200" b="1">
                <a:latin typeface="Times New Roman" panose="02020603050405020304" pitchFamily="18" charset="0"/>
                <a:sym typeface="+mn-ea"/>
              </a:rPr>
              <a:t>行、列地址锁存信号同时有效，相当于片选有效</a:t>
            </a:r>
            <a:endParaRPr lang="zh-CN" altLang="en-US" sz="2200" b="1"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83895" y="5949315"/>
            <a:ext cx="7601585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200" b="1">
                <a:latin typeface="Times New Roman" panose="02020603050405020304" pitchFamily="18" charset="0"/>
                <a:sym typeface="+mn-ea"/>
              </a:rPr>
              <a:t>2164DRAM有三种工作方式：</a:t>
            </a:r>
            <a:r>
              <a:rPr lang="zh-CN" altLang="en-US" sz="2200" b="1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读出数据、写入数据和刷新</a:t>
            </a:r>
            <a:endParaRPr lang="zh-CN" altLang="en-US" sz="2200" b="1">
              <a:solidFill>
                <a:srgbClr val="FF0000"/>
              </a:solidFill>
              <a:latin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Text Box 2"/>
          <p:cNvSpPr txBox="1"/>
          <p:nvPr/>
        </p:nvSpPr>
        <p:spPr>
          <a:xfrm>
            <a:off x="508953" y="1484630"/>
            <a:ext cx="61722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b="1" dirty="0">
                <a:solidFill>
                  <a:schemeClr val="tx1"/>
                </a:solidFill>
                <a:latin typeface="Tahoma" panose="020B0604030504040204" pitchFamily="34" charset="0"/>
              </a:rPr>
              <a:t>3. </a:t>
            </a:r>
            <a:r>
              <a:rPr lang="zh-CN" altLang="en-US" b="1" dirty="0">
                <a:solidFill>
                  <a:schemeClr val="tx1"/>
                </a:solidFill>
                <a:sym typeface="+mn-ea"/>
              </a:rPr>
              <a:t>可编程可擦除</a:t>
            </a:r>
            <a:r>
              <a:rPr lang="en-US" altLang="zh-CN" b="1" dirty="0">
                <a:solidFill>
                  <a:schemeClr val="tx1"/>
                </a:solidFill>
                <a:sym typeface="+mn-ea"/>
              </a:rPr>
              <a:t>EPROM</a:t>
            </a:r>
            <a:r>
              <a:rPr lang="zh-CN" altLang="en-US" b="1" dirty="0">
                <a:solidFill>
                  <a:schemeClr val="tx1"/>
                </a:solidFill>
                <a:sym typeface="+mn-ea"/>
              </a:rPr>
              <a:t>芯片</a:t>
            </a:r>
            <a:endParaRPr lang="zh-CN" altLang="en-US" b="1" dirty="0">
              <a:solidFill>
                <a:schemeClr val="tx1"/>
              </a:solidFill>
              <a:latin typeface="Tahoma" panose="020B0604030504040204" pitchFamily="34" charset="0"/>
              <a:sym typeface="+mn-ea"/>
            </a:endParaRPr>
          </a:p>
        </p:txBody>
      </p:sp>
      <p:sp>
        <p:nvSpPr>
          <p:cNvPr id="11269" name="Rectangle 5"/>
          <p:cNvSpPr/>
          <p:nvPr/>
        </p:nvSpPr>
        <p:spPr>
          <a:xfrm>
            <a:off x="509270" y="1917383"/>
            <a:ext cx="8705850" cy="9772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20000"/>
              </a:lnSpc>
              <a:spcBef>
                <a:spcPct val="25000"/>
              </a:spcBef>
              <a:buClrTx/>
              <a:buFont typeface="Arial" panose="020B0604020202020204" pitchFamily="34" charset="0"/>
            </a:pPr>
            <a:r>
              <a:rPr lang="en-US" altLang="zh-CN" b="1" dirty="0">
                <a:solidFill>
                  <a:srgbClr val="000000"/>
                </a:solidFill>
                <a:latin typeface="Tahoma" panose="020B0604030504040204" pitchFamily="34" charset="0"/>
              </a:rPr>
              <a:t>常用的EPROM芯片有Intel 2732(4KB)、2764(8KB)和27128(16KB)等</a:t>
            </a:r>
            <a:endParaRPr lang="en-US" altLang="zh-CN" b="1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4.1.4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典型存储芯片</a:t>
            </a:r>
            <a:endParaRPr lang="zh-CN" altLang="en-US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8066" name="Text Box 2"/>
          <p:cNvSpPr txBox="1"/>
          <p:nvPr>
            <p:custDataLst>
              <p:tags r:id="rId2"/>
            </p:custDataLst>
          </p:nvPr>
        </p:nvSpPr>
        <p:spPr>
          <a:xfrm>
            <a:off x="538798" y="2853055"/>
            <a:ext cx="3533775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Intel 2764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简介</a:t>
            </a:r>
            <a:endParaRPr lang="zh-CN" altLang="en-US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pic>
        <p:nvPicPr>
          <p:cNvPr id="5" name="图片 4" descr="2764引脚"/>
          <p:cNvPicPr>
            <a:picLocks noChangeAspect="1"/>
          </p:cNvPicPr>
          <p:nvPr/>
        </p:nvPicPr>
        <p:blipFill>
          <a:blip r:embed="rId3"/>
          <a:srcRect r="7436" b="9356"/>
          <a:stretch>
            <a:fillRect/>
          </a:stretch>
        </p:blipFill>
        <p:spPr>
          <a:xfrm>
            <a:off x="6012180" y="2420620"/>
            <a:ext cx="2592705" cy="4257675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538480" y="3284855"/>
            <a:ext cx="3971925" cy="3394075"/>
            <a:chOff x="848" y="5173"/>
            <a:chExt cx="6255" cy="5345"/>
          </a:xfrm>
        </p:grpSpPr>
        <p:sp>
          <p:nvSpPr>
            <p:cNvPr id="46082" name="矩形 39938"/>
            <p:cNvSpPr/>
            <p:nvPr>
              <p:custDataLst>
                <p:tags r:id="rId4"/>
              </p:custDataLst>
            </p:nvPr>
          </p:nvSpPr>
          <p:spPr>
            <a:xfrm>
              <a:off x="848" y="5173"/>
              <a:ext cx="6255" cy="5345"/>
            </a:xfrm>
            <a:prstGeom prst="rect">
              <a:avLst/>
            </a:prstGeom>
            <a:noFill/>
            <a:ln w="28575" cap="flat" cmpd="dbl">
              <a:solidFill>
                <a:schemeClr val="accent1">
                  <a:shade val="50000"/>
                </a:scheme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rgbClr val="9900FF"/>
                </a:buClr>
                <a:buSzPct val="65000"/>
                <a:buFont typeface="Wingdings" panose="05000000000000000000" pitchFamily="2" charset="2"/>
                <a:buChar char="&amp;"/>
              </a:pPr>
              <a:r>
                <a:rPr lang="zh-CN" altLang="en-US" b="1">
                  <a:latin typeface="Times New Roman" panose="02020603050405020304" pitchFamily="18" charset="0"/>
                  <a:ea typeface="宋体" panose="02010600030101010101" pitchFamily="2" charset="-122"/>
                </a:rPr>
                <a:t>存储容量为</a:t>
              </a: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8K×8bit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rgbClr val="9900FF"/>
                </a:buClr>
                <a:buSzPct val="65000"/>
                <a:buFont typeface="Wingdings" panose="05000000000000000000" pitchFamily="2" charset="2"/>
                <a:buChar char="&amp;"/>
              </a:pPr>
              <a:r>
                <a:rPr lang="en-US" altLang="zh-CN" b="1">
                  <a:latin typeface="Arial" panose="020B0604020202020204" pitchFamily="34" charset="0"/>
                  <a:ea typeface="宋体" panose="02010600030101010101" pitchFamily="2" charset="-122"/>
                </a:rPr>
                <a:t>28</a:t>
              </a:r>
              <a:r>
                <a:rPr lang="zh-CN" altLang="en-US" b="1">
                  <a:latin typeface="Arial" panose="020B0604020202020204" pitchFamily="34" charset="0"/>
                  <a:ea typeface="宋体" panose="02010600030101010101" pitchFamily="2" charset="-122"/>
                </a:rPr>
                <a:t>根</a:t>
              </a:r>
              <a:r>
                <a:rPr lang="zh-CN" altLang="en-US" b="1">
                  <a:latin typeface="Times New Roman" panose="02020603050405020304" pitchFamily="18" charset="0"/>
                  <a:ea typeface="宋体" panose="02010600030101010101" pitchFamily="2" charset="-122"/>
                </a:rPr>
                <a:t>引脚：</a:t>
              </a:r>
              <a:endParaRPr lang="zh-CN" altLang="en-US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669925" lvl="1" indent="-325120" algn="l" rtl="0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</a:pPr>
              <a:r>
                <a:rPr lang="en-US" altLang="zh-CN" sz="2200" b="1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13</a:t>
              </a:r>
              <a:r>
                <a:rPr lang="zh-CN" altLang="en-US" sz="2200" b="1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根地址线</a:t>
              </a:r>
              <a:r>
                <a:rPr lang="en-US" altLang="zh-CN" sz="2200" b="1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A</a:t>
              </a:r>
              <a:r>
                <a:rPr lang="en-US" altLang="zh-CN" sz="2200" b="1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12</a:t>
              </a:r>
              <a:r>
                <a:rPr lang="zh-CN" altLang="en-US" sz="2200" b="1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～</a:t>
              </a:r>
              <a:r>
                <a:rPr lang="en-US" altLang="zh-CN" sz="2200" b="1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A</a:t>
              </a:r>
              <a:r>
                <a:rPr lang="en-US" altLang="zh-CN" sz="2200" b="1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200" b="1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669925" lvl="1" indent="-325120" algn="l" rtl="0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</a:pPr>
              <a:r>
                <a:rPr lang="en-US" altLang="zh-CN" sz="2200" b="1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  <a:r>
                <a:rPr lang="zh-CN" altLang="en-US" sz="2200" b="1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根数据线</a:t>
              </a:r>
              <a:r>
                <a:rPr lang="en-US" altLang="zh-CN" sz="2200" b="1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sz="2200" b="1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  <a:r>
                <a:rPr lang="zh-CN" altLang="en-US" sz="2200" b="1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～</a:t>
              </a:r>
              <a:r>
                <a:rPr lang="en-US" altLang="zh-CN" sz="2200" b="1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sz="2200" b="1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200" b="1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669925" lvl="1" indent="-325120" algn="l" rtl="0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</a:pPr>
              <a:r>
                <a:rPr lang="zh-CN" altLang="en-US" sz="2200" b="1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两个电源输入：工作电压</a:t>
              </a:r>
              <a:r>
                <a:rPr lang="en-US" altLang="zh-CN" sz="2200" b="1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V</a:t>
              </a:r>
              <a:r>
                <a:rPr lang="en-US" altLang="zh-CN" sz="2200" b="1" baseline="-25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CC</a:t>
              </a:r>
              <a:r>
                <a:rPr lang="zh-CN" altLang="en-US" sz="2200" b="1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和</a:t>
              </a:r>
              <a:r>
                <a:rPr lang="zh-CN" altLang="en-US" sz="2200" b="1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编程电压</a:t>
              </a:r>
              <a:r>
                <a:rPr lang="en-US" altLang="zh-CN" sz="2200" b="1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</a:t>
              </a:r>
              <a:r>
                <a:rPr lang="en-US" altLang="zh-CN" sz="2200" b="1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PP</a:t>
              </a:r>
              <a:endParaRPr lang="en-US" altLang="zh-CN" sz="2200" b="1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669925" lvl="1" indent="-325120" algn="l" rtl="0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</a:pPr>
              <a:r>
                <a:rPr lang="zh-CN" altLang="en-US" sz="2200" b="1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片选</a:t>
              </a:r>
              <a:r>
                <a:rPr lang="en-US" altLang="zh-CN" sz="2200" b="1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CE</a:t>
              </a:r>
              <a:endParaRPr lang="en-US" altLang="zh-CN" sz="2200" b="1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669925" lvl="1" indent="-325120" algn="l" rtl="0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</a:pPr>
              <a:r>
                <a:rPr lang="zh-CN" altLang="en-US" sz="2200" b="1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编程脉冲输入</a:t>
              </a:r>
              <a:r>
                <a:rPr lang="en-US" altLang="zh-CN" sz="2200" b="1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PGM</a:t>
              </a:r>
              <a:endParaRPr lang="en-US" altLang="zh-CN" sz="2200" b="1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669925" lvl="1" indent="-325120" algn="l" rtl="0" eaLnBrk="1" fontAlgn="base" latinLnBrk="0" hangingPunct="1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</a:pPr>
              <a:r>
                <a:rPr lang="zh-CN" altLang="en-US" sz="2200" b="1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输出允许</a:t>
              </a:r>
              <a:r>
                <a:rPr lang="en-US" altLang="zh-CN" sz="2200" b="1" baseline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OE</a:t>
              </a:r>
              <a:endParaRPr lang="en-US" altLang="zh-CN" sz="2200" b="1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" name="Line 49"/>
            <p:cNvSpPr/>
            <p:nvPr>
              <p:custDataLst>
                <p:tags r:id="rId5"/>
              </p:custDataLst>
            </p:nvPr>
          </p:nvSpPr>
          <p:spPr>
            <a:xfrm>
              <a:off x="2891" y="8688"/>
              <a:ext cx="73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" name="Line 49"/>
            <p:cNvSpPr/>
            <p:nvPr>
              <p:custDataLst>
                <p:tags r:id="rId6"/>
              </p:custDataLst>
            </p:nvPr>
          </p:nvSpPr>
          <p:spPr>
            <a:xfrm>
              <a:off x="4644" y="9255"/>
              <a:ext cx="113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" name="Line 49"/>
            <p:cNvSpPr/>
            <p:nvPr>
              <p:custDataLst>
                <p:tags r:id="rId7"/>
              </p:custDataLst>
            </p:nvPr>
          </p:nvSpPr>
          <p:spPr>
            <a:xfrm>
              <a:off x="3798" y="9822"/>
              <a:ext cx="73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pic>
        <p:nvPicPr>
          <p:cNvPr id="43011" name="图片 37891" descr="eprom270c20-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515735" y="44450"/>
            <a:ext cx="2427288" cy="10747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11269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8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9" grpId="0" uiExpand="1" build="p"/>
      <p:bldP spid="8806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Text Box 2"/>
          <p:cNvSpPr txBox="1"/>
          <p:nvPr/>
        </p:nvSpPr>
        <p:spPr>
          <a:xfrm>
            <a:off x="508953" y="1484630"/>
            <a:ext cx="61722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b="1" dirty="0">
                <a:solidFill>
                  <a:schemeClr val="tx1"/>
                </a:solidFill>
                <a:latin typeface="Tahoma" panose="020B0604030504040204" pitchFamily="34" charset="0"/>
              </a:rPr>
              <a:t>3. </a:t>
            </a:r>
            <a:r>
              <a:rPr lang="zh-CN" altLang="en-US" b="1" dirty="0">
                <a:solidFill>
                  <a:schemeClr val="tx1"/>
                </a:solidFill>
                <a:sym typeface="+mn-ea"/>
              </a:rPr>
              <a:t>可编程可擦除</a:t>
            </a:r>
            <a:r>
              <a:rPr lang="en-US" altLang="zh-CN" b="1" dirty="0">
                <a:solidFill>
                  <a:schemeClr val="tx1"/>
                </a:solidFill>
                <a:sym typeface="+mn-ea"/>
              </a:rPr>
              <a:t>EPROM</a:t>
            </a:r>
            <a:r>
              <a:rPr lang="zh-CN" altLang="en-US" b="1" dirty="0">
                <a:solidFill>
                  <a:schemeClr val="tx1"/>
                </a:solidFill>
                <a:sym typeface="+mn-ea"/>
              </a:rPr>
              <a:t>芯片</a:t>
            </a:r>
            <a:endParaRPr lang="zh-CN" altLang="en-US" b="1" dirty="0">
              <a:solidFill>
                <a:schemeClr val="tx1"/>
              </a:solidFill>
              <a:latin typeface="Tahoma" panose="020B0604030504040204" pitchFamily="34" charset="0"/>
              <a:sym typeface="+mn-ea"/>
            </a:endParaRPr>
          </a:p>
        </p:txBody>
      </p:sp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4.1.4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典型存储芯片</a:t>
            </a:r>
            <a:endParaRPr lang="zh-CN" altLang="en-US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8066" name="Text Box 2"/>
          <p:cNvSpPr txBox="1"/>
          <p:nvPr>
            <p:custDataLst>
              <p:tags r:id="rId2"/>
            </p:custDataLst>
          </p:nvPr>
        </p:nvSpPr>
        <p:spPr>
          <a:xfrm>
            <a:off x="2699703" y="1988820"/>
            <a:ext cx="3533775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b="1" dirty="0">
                <a:solidFill>
                  <a:srgbClr val="FF0000"/>
                </a:solidFill>
                <a:latin typeface="Tahoma" panose="020B0604030504040204" pitchFamily="34" charset="0"/>
              </a:rPr>
              <a:t>Intel 2764 的工作方式</a:t>
            </a:r>
            <a:endParaRPr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11" name="表格 10"/>
          <p:cNvGraphicFramePr/>
          <p:nvPr>
            <p:custDataLst>
              <p:tags r:id="rId3"/>
            </p:custDataLst>
          </p:nvPr>
        </p:nvGraphicFramePr>
        <p:xfrm>
          <a:off x="466408" y="2564765"/>
          <a:ext cx="7848600" cy="3297555"/>
        </p:xfrm>
        <a:graphic>
          <a:graphicData uri="http://schemas.openxmlformats.org/drawingml/2006/table">
            <a:tbl>
              <a:tblPr/>
              <a:tblGrid>
                <a:gridCol w="1511300"/>
                <a:gridCol w="1008063"/>
                <a:gridCol w="1008062"/>
                <a:gridCol w="1296988"/>
                <a:gridCol w="1273175"/>
                <a:gridCol w="1751012"/>
              </a:tblGrid>
              <a:tr h="48260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20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工作方式</a:t>
                      </a:r>
                      <a:endParaRPr lang="zh-CN" altLang="en-US" sz="22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200">
                          <a:solidFill>
                            <a:schemeClr val="bg1"/>
                          </a:solidFill>
                        </a:rPr>
                        <a:t>CE*</a:t>
                      </a:r>
                      <a:endParaRPr lang="en-US" altLang="zh-CN" sz="22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200">
                          <a:solidFill>
                            <a:schemeClr val="bg1"/>
                          </a:solidFill>
                        </a:rPr>
                        <a:t>OE*</a:t>
                      </a:r>
                      <a:endParaRPr lang="en-US" altLang="zh-CN" sz="22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200">
                          <a:solidFill>
                            <a:schemeClr val="bg1"/>
                          </a:solidFill>
                        </a:rPr>
                        <a:t>PGM*</a:t>
                      </a:r>
                      <a:endParaRPr lang="en-US" altLang="zh-CN" sz="22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200">
                          <a:solidFill>
                            <a:schemeClr val="bg1"/>
                          </a:solidFill>
                        </a:rPr>
                        <a:t>V</a:t>
                      </a:r>
                      <a:r>
                        <a:rPr lang="en-US" altLang="zh-CN" sz="2200" baseline="-25000">
                          <a:solidFill>
                            <a:schemeClr val="bg1"/>
                          </a:solidFill>
                        </a:rPr>
                        <a:t>PP</a:t>
                      </a:r>
                      <a:endParaRPr lang="en-US" altLang="zh-CN" sz="2200" baseline="-250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200">
                          <a:solidFill>
                            <a:schemeClr val="bg1"/>
                          </a:solidFill>
                        </a:rPr>
                        <a:t>D</a:t>
                      </a:r>
                      <a:r>
                        <a:rPr lang="en-US" altLang="zh-CN" sz="2200" baseline="-25000">
                          <a:solidFill>
                            <a:schemeClr val="bg1"/>
                          </a:solidFill>
                        </a:rPr>
                        <a:t>7</a:t>
                      </a:r>
                      <a:r>
                        <a:rPr lang="en-US" altLang="zh-CN" sz="2200">
                          <a:solidFill>
                            <a:schemeClr val="bg1"/>
                          </a:solidFill>
                        </a:rPr>
                        <a:t> ~ D</a:t>
                      </a:r>
                      <a:r>
                        <a:rPr lang="en-US" altLang="zh-CN" sz="2200" baseline="-2500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US" altLang="zh-CN" sz="2200" baseline="-2500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</a:tr>
              <a:tr h="46990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20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读出</a:t>
                      </a:r>
                      <a:endParaRPr lang="zh-CN" altLang="en-US" sz="220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2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2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20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200">
                          <a:solidFill>
                            <a:schemeClr val="tx1"/>
                          </a:solidFill>
                        </a:rPr>
                        <a:t>＋</a:t>
                      </a:r>
                      <a:r>
                        <a:rPr lang="en-US" altLang="zh-CN" sz="2200">
                          <a:solidFill>
                            <a:schemeClr val="tx1"/>
                          </a:solidFill>
                        </a:rPr>
                        <a:t>5V</a:t>
                      </a:r>
                      <a:endParaRPr lang="en-US" altLang="zh-CN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200">
                          <a:solidFill>
                            <a:schemeClr val="tx1"/>
                          </a:solidFill>
                        </a:rPr>
                        <a:t>输出</a:t>
                      </a:r>
                      <a:endParaRPr lang="zh-CN" altLang="en-US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</a:tr>
              <a:tr h="47307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20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读出禁止</a:t>
                      </a:r>
                      <a:endParaRPr lang="zh-CN" altLang="en-US" sz="220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2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20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20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200">
                          <a:solidFill>
                            <a:schemeClr val="tx1"/>
                          </a:solidFill>
                        </a:rPr>
                        <a:t>＋</a:t>
                      </a:r>
                      <a:r>
                        <a:rPr lang="en-US" altLang="zh-CN" sz="2200">
                          <a:solidFill>
                            <a:schemeClr val="tx1"/>
                          </a:solidFill>
                        </a:rPr>
                        <a:t>5V</a:t>
                      </a:r>
                      <a:endParaRPr lang="en-US" altLang="zh-CN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200">
                          <a:solidFill>
                            <a:schemeClr val="tx1"/>
                          </a:solidFill>
                        </a:rPr>
                        <a:t>高阻</a:t>
                      </a:r>
                      <a:endParaRPr lang="zh-CN" altLang="en-US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</a:tr>
              <a:tr h="45561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20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保持</a:t>
                      </a:r>
                      <a:endParaRPr lang="zh-CN" altLang="en-US" sz="220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20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200">
                          <a:solidFill>
                            <a:schemeClr val="tx1"/>
                          </a:solidFill>
                        </a:rPr>
                        <a:t>×</a:t>
                      </a:r>
                      <a:endParaRPr lang="en-US" altLang="zh-CN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200">
                          <a:solidFill>
                            <a:schemeClr val="tx1"/>
                          </a:solidFill>
                        </a:rPr>
                        <a:t>×</a:t>
                      </a:r>
                      <a:endParaRPr lang="en-US" altLang="zh-CN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200">
                          <a:solidFill>
                            <a:schemeClr val="tx1"/>
                          </a:solidFill>
                        </a:rPr>
                        <a:t>＋</a:t>
                      </a:r>
                      <a:r>
                        <a:rPr lang="en-US" altLang="zh-CN" sz="2200">
                          <a:solidFill>
                            <a:schemeClr val="tx1"/>
                          </a:solidFill>
                        </a:rPr>
                        <a:t>5V</a:t>
                      </a:r>
                      <a:endParaRPr lang="en-US" altLang="zh-CN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200">
                          <a:solidFill>
                            <a:schemeClr val="tx1"/>
                          </a:solidFill>
                        </a:rPr>
                        <a:t>高阻</a:t>
                      </a:r>
                      <a:endParaRPr lang="zh-CN" altLang="en-US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</a:tr>
              <a:tr h="47307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20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编程写入</a:t>
                      </a:r>
                      <a:endParaRPr lang="zh-CN" altLang="en-US" sz="220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2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20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200">
                          <a:solidFill>
                            <a:schemeClr val="tx1"/>
                          </a:solidFill>
                        </a:rPr>
                        <a:t>负脉冲</a:t>
                      </a:r>
                      <a:endParaRPr lang="zh-CN" altLang="en-US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200">
                          <a:solidFill>
                            <a:schemeClr val="tx1"/>
                          </a:solidFill>
                        </a:rPr>
                        <a:t>＋</a:t>
                      </a:r>
                      <a:r>
                        <a:rPr lang="en-US" altLang="zh-CN" sz="2200">
                          <a:solidFill>
                            <a:schemeClr val="tx1"/>
                          </a:solidFill>
                        </a:rPr>
                        <a:t>12.5V</a:t>
                      </a:r>
                      <a:endParaRPr lang="en-US" altLang="zh-CN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200">
                          <a:solidFill>
                            <a:schemeClr val="tx1"/>
                          </a:solidFill>
                        </a:rPr>
                        <a:t>输入</a:t>
                      </a:r>
                      <a:endParaRPr lang="zh-CN" altLang="en-US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46990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20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编程校验</a:t>
                      </a:r>
                      <a:endParaRPr lang="zh-CN" altLang="en-US" sz="220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2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2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20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200">
                          <a:solidFill>
                            <a:schemeClr val="tx1"/>
                          </a:solidFill>
                          <a:sym typeface="+mn-ea"/>
                        </a:rPr>
                        <a:t>＋</a:t>
                      </a:r>
                      <a:r>
                        <a:rPr lang="en-US" altLang="zh-CN" sz="2200">
                          <a:solidFill>
                            <a:schemeClr val="tx1"/>
                          </a:solidFill>
                          <a:sym typeface="+mn-ea"/>
                        </a:rPr>
                        <a:t>12.5V</a:t>
                      </a:r>
                      <a:endParaRPr lang="en-US" altLang="zh-CN" sz="22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200">
                          <a:solidFill>
                            <a:schemeClr val="tx1"/>
                          </a:solidFill>
                        </a:rPr>
                        <a:t>输出</a:t>
                      </a:r>
                      <a:endParaRPr lang="zh-CN" altLang="en-US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47307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20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</a:rPr>
                        <a:t>编程禁止</a:t>
                      </a:r>
                      <a:endParaRPr lang="zh-CN" altLang="en-US" sz="220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20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200">
                          <a:solidFill>
                            <a:schemeClr val="tx1"/>
                          </a:solidFill>
                        </a:rPr>
                        <a:t>×</a:t>
                      </a:r>
                      <a:endParaRPr lang="en-US" altLang="zh-CN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200">
                          <a:solidFill>
                            <a:schemeClr val="tx1"/>
                          </a:solidFill>
                        </a:rPr>
                        <a:t>×</a:t>
                      </a:r>
                      <a:endParaRPr lang="en-US" altLang="zh-CN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200">
                          <a:solidFill>
                            <a:schemeClr val="tx1"/>
                          </a:solidFill>
                          <a:sym typeface="+mn-ea"/>
                        </a:rPr>
                        <a:t>＋</a:t>
                      </a:r>
                      <a:r>
                        <a:rPr lang="en-US" altLang="zh-CN" sz="2200">
                          <a:solidFill>
                            <a:schemeClr val="tx1"/>
                          </a:solidFill>
                          <a:sym typeface="+mn-ea"/>
                        </a:rPr>
                        <a:t>12.5V</a:t>
                      </a:r>
                      <a:endParaRPr lang="en-US" altLang="zh-CN" sz="22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FF"/>
                        </a:buClr>
                        <a:buSzPct val="65000"/>
                        <a:buFont typeface="Wingdings" panose="05000000000000000000" pitchFamily="2" charset="2"/>
                        <a:buChar char="&amp;"/>
                        <a:defRPr sz="26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lvl="1" indent="-3251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buFont typeface="Wingdings" panose="05000000000000000000" pitchFamily="2" charset="2"/>
                        <a:buChar char="q"/>
                        <a:defRPr sz="22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lvl="2" indent="-35052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66FF"/>
                        </a:buClr>
                        <a:buSzPct val="65000"/>
                        <a:buFont typeface="Wingdings" panose="05000000000000000000" pitchFamily="2" charset="2"/>
                        <a:buChar char="v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lvl="3" indent="-31559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buChar char="q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480" lvl="4" indent="-339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200">
                          <a:solidFill>
                            <a:schemeClr val="tx1"/>
                          </a:solidFill>
                        </a:rPr>
                        <a:t>高阻</a:t>
                      </a:r>
                      <a:endParaRPr lang="zh-CN" altLang="en-US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64" name="Rectangle 15"/>
          <p:cNvSpPr/>
          <p:nvPr/>
        </p:nvSpPr>
        <p:spPr>
          <a:xfrm>
            <a:off x="534670" y="1484630"/>
            <a:ext cx="318833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spcBef>
                <a:spcPct val="15000"/>
              </a:spcBef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4.2.1 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系统内存的配置</a:t>
            </a:r>
            <a:endParaRPr lang="zh-CN" altLang="en-US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87057" name="Rectangle 17"/>
          <p:cNvSpPr/>
          <p:nvPr/>
        </p:nvSpPr>
        <p:spPr>
          <a:xfrm>
            <a:off x="534670" y="1991360"/>
            <a:ext cx="3827463" cy="1568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1. 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容量的配置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2. 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区域的分配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3. 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内存中的数据组织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4.2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存储器系统设计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4211955" y="1295400"/>
            <a:ext cx="4572000" cy="4124960"/>
            <a:chOff x="6633" y="2379"/>
            <a:chExt cx="7200" cy="6496"/>
          </a:xfrm>
        </p:grpSpPr>
        <p:sp>
          <p:nvSpPr>
            <p:cNvPr id="87044" name="Text Box 4"/>
            <p:cNvSpPr txBox="1"/>
            <p:nvPr/>
          </p:nvSpPr>
          <p:spPr>
            <a:xfrm>
              <a:off x="6960" y="2379"/>
              <a:ext cx="2520" cy="725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b="1" dirty="0">
                  <a:latin typeface="Tahoma" panose="020B0604030504040204" pitchFamily="34" charset="0"/>
                </a:rPr>
                <a:t>00000</a:t>
              </a:r>
              <a:r>
                <a:rPr lang="zh-CN" altLang="zh-CN" b="1" dirty="0">
                  <a:latin typeface="Tahoma" panose="020B0604030504040204" pitchFamily="34" charset="0"/>
                </a:rPr>
                <a:t>H</a:t>
              </a:r>
              <a:endParaRPr lang="zh-CN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87045" name="Text Box 5"/>
            <p:cNvSpPr txBox="1"/>
            <p:nvPr/>
          </p:nvSpPr>
          <p:spPr>
            <a:xfrm>
              <a:off x="6960" y="5139"/>
              <a:ext cx="2703" cy="72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anchor="t" anchorCtr="0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b="1" dirty="0">
                  <a:latin typeface="Tahoma" panose="020B0604030504040204" pitchFamily="34" charset="0"/>
                </a:rPr>
                <a:t>A0000</a:t>
              </a:r>
              <a:r>
                <a:rPr lang="zh-CN" altLang="zh-CN" b="1" dirty="0">
                  <a:latin typeface="Tahoma" panose="020B0604030504040204" pitchFamily="34" charset="0"/>
                </a:rPr>
                <a:t>H</a:t>
              </a:r>
              <a:endParaRPr lang="zh-CN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87046" name="Text Box 6"/>
            <p:cNvSpPr txBox="1"/>
            <p:nvPr/>
          </p:nvSpPr>
          <p:spPr>
            <a:xfrm>
              <a:off x="6960" y="6459"/>
              <a:ext cx="2655" cy="72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anchor="t" anchorCtr="0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b="1" dirty="0">
                  <a:latin typeface="Tahoma" panose="020B0604030504040204" pitchFamily="34" charset="0"/>
                </a:rPr>
                <a:t>C0000H</a:t>
              </a:r>
              <a:endParaRPr lang="en-US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87047" name="Text Box 7"/>
            <p:cNvSpPr txBox="1"/>
            <p:nvPr/>
          </p:nvSpPr>
          <p:spPr>
            <a:xfrm>
              <a:off x="6960" y="7539"/>
              <a:ext cx="2880" cy="725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b="1" dirty="0">
                  <a:latin typeface="Tahoma" panose="020B0604030504040204" pitchFamily="34" charset="0"/>
                </a:rPr>
                <a:t>FFFFFH</a:t>
              </a:r>
              <a:endParaRPr lang="en-US" altLang="zh-CN" b="1" dirty="0">
                <a:latin typeface="Tahoma" panose="020B0604030504040204" pitchFamily="34" charset="0"/>
              </a:endParaRPr>
            </a:p>
          </p:txBody>
        </p:sp>
        <p:grpSp>
          <p:nvGrpSpPr>
            <p:cNvPr id="2" name="Group 20"/>
            <p:cNvGrpSpPr/>
            <p:nvPr/>
          </p:nvGrpSpPr>
          <p:grpSpPr>
            <a:xfrm>
              <a:off x="9120" y="2379"/>
              <a:ext cx="3908" cy="5760"/>
              <a:chOff x="3648" y="816"/>
              <a:chExt cx="1563" cy="2304"/>
            </a:xfrm>
          </p:grpSpPr>
          <p:sp>
            <p:nvSpPr>
              <p:cNvPr id="23558" name="Rectangle 3"/>
              <p:cNvSpPr/>
              <p:nvPr/>
            </p:nvSpPr>
            <p:spPr>
              <a:xfrm>
                <a:off x="3648" y="816"/>
                <a:ext cx="1440" cy="2304"/>
              </a:xfrm>
              <a:prstGeom prst="rect">
                <a:avLst/>
              </a:prstGeom>
              <a:solidFill>
                <a:srgbClr val="CCFFFF"/>
              </a:solidFill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wrap="none" anchor="ctr" anchorCtr="0"/>
              <a:p>
                <a:endParaRPr lang="zh-CN" altLang="en-US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3559" name="Line 8"/>
              <p:cNvSpPr/>
              <p:nvPr/>
            </p:nvSpPr>
            <p:spPr>
              <a:xfrm>
                <a:off x="3648" y="1968"/>
                <a:ext cx="1440" cy="0"/>
              </a:xfrm>
              <a:prstGeom prst="line">
                <a:avLst/>
              </a:prstGeom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  <p:sp>
            <p:nvSpPr>
              <p:cNvPr id="23560" name="Line 9"/>
              <p:cNvSpPr/>
              <p:nvPr/>
            </p:nvSpPr>
            <p:spPr>
              <a:xfrm>
                <a:off x="3648" y="2496"/>
                <a:ext cx="1440" cy="0"/>
              </a:xfrm>
              <a:prstGeom prst="line">
                <a:avLst/>
              </a:prstGeom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  <p:sp>
            <p:nvSpPr>
              <p:cNvPr id="23561" name="Text Box 10"/>
              <p:cNvSpPr txBox="1"/>
              <p:nvPr/>
            </p:nvSpPr>
            <p:spPr>
              <a:xfrm>
                <a:off x="4003" y="1235"/>
                <a:ext cx="812" cy="424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anchor="t" anchorCtr="0">
                <a:noAutofit/>
              </a:bodyPr>
              <a:p>
                <a:pPr algn="l" eaLnBrk="0" hangingPunct="0">
                  <a:lnSpc>
                    <a:spcPct val="50000"/>
                  </a:lnSpc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chemeClr val="tx2"/>
                    </a:solidFill>
                    <a:latin typeface="Tahoma" panose="020B0604030504040204" pitchFamily="34" charset="0"/>
                  </a:rPr>
                  <a:t>RAM</a:t>
                </a:r>
                <a:r>
                  <a:rPr lang="zh-CN" altLang="en-US" b="1" dirty="0">
                    <a:solidFill>
                      <a:schemeClr val="tx2"/>
                    </a:solidFill>
                    <a:latin typeface="Tahoma" panose="020B0604030504040204" pitchFamily="34" charset="0"/>
                  </a:rPr>
                  <a:t>区</a:t>
                </a:r>
                <a:endParaRPr lang="zh-CN" altLang="en-US" b="1" dirty="0">
                  <a:solidFill>
                    <a:schemeClr val="tx2"/>
                  </a:solidFill>
                  <a:latin typeface="Tahoma" panose="020B0604030504040204" pitchFamily="34" charset="0"/>
                </a:endParaRPr>
              </a:p>
              <a:p>
                <a:pPr eaLnBrk="0" hangingPunct="0">
                  <a:lnSpc>
                    <a:spcPct val="50000"/>
                  </a:lnSpc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chemeClr val="tx2"/>
                    </a:solidFill>
                    <a:latin typeface="Tahoma" panose="020B0604030504040204" pitchFamily="34" charset="0"/>
                  </a:rPr>
                  <a:t>640KB</a:t>
                </a:r>
                <a:endParaRPr lang="en-US" altLang="zh-CN" b="1" dirty="0">
                  <a:solidFill>
                    <a:schemeClr val="tx2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3562" name="Text Box 11"/>
              <p:cNvSpPr txBox="1"/>
              <p:nvPr/>
            </p:nvSpPr>
            <p:spPr>
              <a:xfrm>
                <a:off x="3651" y="2064"/>
                <a:ext cx="1516" cy="29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anchor="t" anchorCtr="0">
                <a:spAutoFit/>
              </a:bodyPr>
              <a:p>
                <a:pPr eaLnBrk="0" hangingPunct="0">
                  <a:spcBef>
                    <a:spcPct val="50000"/>
                  </a:spcBef>
                </a:pPr>
                <a:r>
                  <a:rPr lang="zh-CN" altLang="en-US" b="1" dirty="0">
                    <a:solidFill>
                      <a:schemeClr val="tx2"/>
                    </a:solidFill>
                    <a:latin typeface="Tahoma" panose="020B0604030504040204" pitchFamily="34" charset="0"/>
                  </a:rPr>
                  <a:t>保留区  </a:t>
                </a:r>
                <a:r>
                  <a:rPr lang="en-US" altLang="zh-CN" b="1" dirty="0">
                    <a:solidFill>
                      <a:schemeClr val="tx2"/>
                    </a:solidFill>
                    <a:latin typeface="Tahoma" panose="020B0604030504040204" pitchFamily="34" charset="0"/>
                  </a:rPr>
                  <a:t>128KB</a:t>
                </a:r>
                <a:endParaRPr lang="en-US" altLang="zh-CN" b="1" dirty="0">
                  <a:solidFill>
                    <a:schemeClr val="tx2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3563" name="Text Box 12"/>
              <p:cNvSpPr txBox="1"/>
              <p:nvPr/>
            </p:nvSpPr>
            <p:spPr>
              <a:xfrm>
                <a:off x="3651" y="2659"/>
                <a:ext cx="1560" cy="29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anchor="t" anchorCtr="0">
                <a:spAutoFit/>
              </a:bodyPr>
              <a:p>
                <a:pPr eaLnBrk="0" hangingPunct="0"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chemeClr val="tx2"/>
                    </a:solidFill>
                    <a:latin typeface="Tahoma" panose="020B0604030504040204" pitchFamily="34" charset="0"/>
                  </a:rPr>
                  <a:t>ROM</a:t>
                </a:r>
                <a:r>
                  <a:rPr lang="zh-CN" altLang="en-US" b="1" dirty="0">
                    <a:solidFill>
                      <a:schemeClr val="tx2"/>
                    </a:solidFill>
                    <a:latin typeface="Tahoma" panose="020B0604030504040204" pitchFamily="34" charset="0"/>
                  </a:rPr>
                  <a:t>区</a:t>
                </a:r>
                <a:r>
                  <a:rPr lang="en-US" altLang="zh-CN" b="1" dirty="0">
                    <a:solidFill>
                      <a:schemeClr val="tx2"/>
                    </a:solidFill>
                    <a:latin typeface="Tahoma" panose="020B0604030504040204" pitchFamily="34" charset="0"/>
                  </a:rPr>
                  <a:t> 256KB</a:t>
                </a:r>
                <a:endParaRPr lang="en-US" altLang="zh-CN" b="1" dirty="0">
                  <a:solidFill>
                    <a:schemeClr val="tx2"/>
                  </a:solidFill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3" name="文本框 2"/>
            <p:cNvSpPr txBox="1"/>
            <p:nvPr/>
          </p:nvSpPr>
          <p:spPr>
            <a:xfrm>
              <a:off x="6633" y="8151"/>
              <a:ext cx="7200" cy="72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zh-CN" altLang="en-US" b="1">
                  <a:solidFill>
                    <a:srgbClr val="00B050"/>
                  </a:solidFill>
                </a:rPr>
                <a:t>IBM PC／XT 内存配置示意图</a:t>
              </a:r>
              <a:endParaRPr lang="zh-CN" altLang="en-US" b="1">
                <a:solidFill>
                  <a:srgbClr val="00B050"/>
                </a:solidFill>
              </a:endParaRPr>
            </a:p>
          </p:txBody>
        </p:sp>
      </p:grpSp>
      <p:sp>
        <p:nvSpPr>
          <p:cNvPr id="24577" name="Rectangle 10"/>
          <p:cNvSpPr/>
          <p:nvPr/>
        </p:nvSpPr>
        <p:spPr>
          <a:xfrm>
            <a:off x="487680" y="5374005"/>
            <a:ext cx="6099810" cy="105029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30000"/>
              </a:lnSpc>
              <a:buChar char="•"/>
            </a:pPr>
            <a:r>
              <a:rPr lang="en-US" altLang="zh-CN" b="1" dirty="0">
                <a:latin typeface="Tahoma" panose="020B0604030504040204" pitchFamily="34" charset="0"/>
              </a:rPr>
              <a:t>ROM</a:t>
            </a:r>
            <a:r>
              <a:rPr lang="zh-CN" altLang="en-US" b="1" dirty="0">
                <a:latin typeface="Tahoma" panose="020B0604030504040204" pitchFamily="34" charset="0"/>
              </a:rPr>
              <a:t>区：</a:t>
            </a:r>
            <a:r>
              <a:rPr lang="zh-CN" altLang="en-US" b="1" dirty="0">
                <a:solidFill>
                  <a:srgbClr val="C00000"/>
                </a:solidFill>
                <a:latin typeface="Tahoma" panose="020B0604030504040204" pitchFamily="34" charset="0"/>
              </a:rPr>
              <a:t>复位</a:t>
            </a:r>
            <a:r>
              <a:rPr lang="zh-CN" altLang="en-US" b="1" dirty="0">
                <a:latin typeface="Tahoma" panose="020B0604030504040204" pitchFamily="34" charset="0"/>
              </a:rPr>
              <a:t>起动地址</a:t>
            </a:r>
            <a:r>
              <a:rPr lang="en-US" altLang="zh-CN" b="1" dirty="0">
                <a:latin typeface="Tahoma" panose="020B0604030504040204" pitchFamily="34" charset="0"/>
              </a:rPr>
              <a:t>FFFF0H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lnSpc>
                <a:spcPct val="130000"/>
              </a:lnSpc>
              <a:buChar char="•"/>
            </a:pPr>
            <a:r>
              <a:rPr lang="en-US" altLang="zh-CN" b="1" dirty="0">
                <a:latin typeface="Tahoma" panose="020B0604030504040204" pitchFamily="34" charset="0"/>
              </a:rPr>
              <a:t>RAM</a:t>
            </a:r>
            <a:r>
              <a:rPr lang="zh-CN" altLang="en-US" b="1" dirty="0">
                <a:latin typeface="Tahoma" panose="020B0604030504040204" pitchFamily="34" charset="0"/>
              </a:rPr>
              <a:t>区：</a:t>
            </a:r>
            <a:r>
              <a:rPr lang="zh-CN" altLang="en-US" b="1" dirty="0">
                <a:solidFill>
                  <a:srgbClr val="C00000"/>
                </a:solidFill>
                <a:latin typeface="Tahoma" panose="020B0604030504040204" pitchFamily="34" charset="0"/>
              </a:rPr>
              <a:t>中断矢量</a:t>
            </a:r>
            <a:r>
              <a:rPr lang="zh-CN" altLang="en-US" b="1" dirty="0">
                <a:latin typeface="Tahoma" panose="020B0604030504040204" pitchFamily="34" charset="0"/>
              </a:rPr>
              <a:t>区域</a:t>
            </a:r>
            <a:r>
              <a:rPr lang="en-US" altLang="zh-CN" b="1" dirty="0">
                <a:latin typeface="Tahoma" panose="020B0604030504040204" pitchFamily="34" charset="0"/>
              </a:rPr>
              <a:t>00000H~003FFH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4" name="右大括号 3"/>
          <p:cNvSpPr/>
          <p:nvPr/>
        </p:nvSpPr>
        <p:spPr>
          <a:xfrm>
            <a:off x="6516370" y="5534660"/>
            <a:ext cx="471170" cy="720090"/>
          </a:xfrm>
          <a:prstGeom prst="rightBrac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092315" y="5638165"/>
            <a:ext cx="173101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zh-CN" b="1" dirty="0">
                <a:solidFill>
                  <a:srgbClr val="0000FF"/>
                </a:solidFill>
                <a:sym typeface="+mn-ea"/>
              </a:rPr>
              <a:t>专用内存区</a:t>
            </a:r>
            <a:endParaRPr lang="zh-CN" altLang="zh-CN" b="1" dirty="0">
              <a:solidFill>
                <a:srgbClr val="0000FF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7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4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57" grpId="0"/>
      <p:bldP spid="24577" grpId="0"/>
      <p:bldP spid="4" grpId="0" animBg="1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Rectangle 2"/>
          <p:cNvSpPr/>
          <p:nvPr/>
        </p:nvSpPr>
        <p:spPr>
          <a:xfrm>
            <a:off x="612775" y="1483360"/>
            <a:ext cx="77724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  <a:latin typeface="Tahoma" panose="020B0604030504040204" pitchFamily="34" charset="0"/>
              </a:rPr>
              <a:t>1. </a:t>
            </a:r>
            <a:r>
              <a:rPr lang="zh-CN" altLang="en-US" b="1" dirty="0">
                <a:solidFill>
                  <a:schemeClr val="tx1"/>
                </a:solidFill>
                <a:latin typeface="Tahoma" panose="020B0604030504040204" pitchFamily="34" charset="0"/>
              </a:rPr>
              <a:t>存储器扩展</a:t>
            </a:r>
            <a:endParaRPr lang="zh-CN" altLang="en-US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4451" name="Text Box 3"/>
          <p:cNvSpPr txBox="1"/>
          <p:nvPr/>
        </p:nvSpPr>
        <p:spPr>
          <a:xfrm>
            <a:off x="540703" y="3068955"/>
            <a:ext cx="7848600" cy="976630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ct val="110000"/>
              </a:lnSpc>
              <a:buClr>
                <a:srgbClr val="FF0000"/>
              </a:buClr>
              <a:buSzPct val="105000"/>
              <a:buFont typeface="Wingdings" panose="05000000000000000000" pitchFamily="2" charset="2"/>
              <a:buChar char="v"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位扩展</a:t>
            </a:r>
            <a:r>
              <a:rPr lang="zh-CN" altLang="en-US" b="1" dirty="0">
                <a:latin typeface="Tahoma" panose="020B0604030504040204" pitchFamily="34" charset="0"/>
              </a:rPr>
              <a:t>：</a:t>
            </a:r>
            <a:r>
              <a:rPr lang="zh-CN" altLang="en-US" b="1" dirty="0">
                <a:latin typeface="Arial" panose="020B0604020202020204" pitchFamily="34" charset="0"/>
              </a:rPr>
              <a:t>数据位</a:t>
            </a:r>
            <a:r>
              <a:rPr lang="zh-CN" altLang="en-US" b="1" dirty="0">
                <a:latin typeface="Arial" panose="020B0604020202020204" pitchFamily="34" charset="0"/>
                <a:sym typeface="+mn-ea"/>
              </a:rPr>
              <a:t>扩展，</a:t>
            </a:r>
            <a:r>
              <a:rPr lang="zh-CN" altLang="en-US" b="1" dirty="0">
                <a:latin typeface="Arial" panose="020B0604020202020204" pitchFamily="34" charset="0"/>
              </a:rPr>
              <a:t>以满足字长要求</a:t>
            </a:r>
            <a:endParaRPr lang="zh-CN" altLang="en-US" b="1" dirty="0">
              <a:latin typeface="Arial" panose="020B0604020202020204" pitchFamily="34" charset="0"/>
            </a:endParaRP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rgbClr val="FF0000"/>
              </a:buClr>
              <a:buSzPct val="105000"/>
              <a:buFont typeface="Wingdings" panose="05000000000000000000" pitchFamily="2" charset="2"/>
              <a:buChar char="v"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字扩展</a:t>
            </a:r>
            <a:r>
              <a:rPr lang="zh-CN" altLang="en-US" b="1" dirty="0">
                <a:latin typeface="Tahoma" panose="020B0604030504040204" pitchFamily="34" charset="0"/>
              </a:rPr>
              <a:t>：</a:t>
            </a:r>
            <a:r>
              <a:rPr lang="zh-CN" altLang="en-US" b="1" dirty="0">
                <a:latin typeface="Arial" panose="020B0604020202020204" pitchFamily="34" charset="0"/>
              </a:rPr>
              <a:t>地址空间扩展，以满足容量要求</a:t>
            </a:r>
            <a:endParaRPr lang="zh-CN" altLang="en-US" b="1" dirty="0">
              <a:latin typeface="Arial" panose="020B0604020202020204" pitchFamily="34" charset="0"/>
            </a:endParaRPr>
          </a:p>
        </p:txBody>
      </p:sp>
      <p:sp>
        <p:nvSpPr>
          <p:cNvPr id="104452" name="Text Box 4"/>
          <p:cNvSpPr txBox="1"/>
          <p:nvPr/>
        </p:nvSpPr>
        <p:spPr>
          <a:xfrm>
            <a:off x="541020" y="4220845"/>
            <a:ext cx="8135620" cy="977265"/>
          </a:xfrm>
          <a:prstGeom prst="rect">
            <a:avLst/>
          </a:prstGeom>
          <a:noFill/>
          <a:ln w="28575" cmpd="dbl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anchor="t" anchorCtr="0">
            <a:spAutoFit/>
          </a:bodyPr>
          <a:p>
            <a:pPr algn="just" eaLnBrk="0" hangingPunct="0"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latin typeface="Tahoma" panose="020B0604030504040204" pitchFamily="34" charset="0"/>
              </a:rPr>
              <a:t>注意：多个存储芯片构成的内存空间，分别占据不同的地址范围，任一时刻仅有一片（或一组）被选中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25604" name="Rectangle 33"/>
          <p:cNvSpPr/>
          <p:nvPr/>
        </p:nvSpPr>
        <p:spPr>
          <a:xfrm>
            <a:off x="533400" y="2475865"/>
            <a:ext cx="7999730" cy="485140"/>
          </a:xfrm>
          <a:prstGeom prst="rect">
            <a:avLst/>
          </a:prstGeom>
          <a:noFill/>
          <a:ln w="19050">
            <a:noFill/>
          </a:ln>
        </p:spPr>
        <p:txBody>
          <a:bodyPr anchor="ctr" anchorCtr="0"/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问题</a:t>
            </a:r>
            <a:r>
              <a:rPr lang="zh-CN" altLang="en-US" b="1" dirty="0">
                <a:latin typeface="Tahoma" panose="020B0604030504040204" pitchFamily="34" charset="0"/>
              </a:rPr>
              <a:t>：</a:t>
            </a:r>
            <a:r>
              <a:rPr lang="en-US" altLang="zh-CN" b="1" dirty="0">
                <a:latin typeface="Tahoma" panose="020B0604030504040204" pitchFamily="34" charset="0"/>
              </a:rPr>
              <a:t>2164</a:t>
            </a:r>
            <a:r>
              <a:rPr lang="zh-CN" altLang="en-US" b="1" dirty="0">
                <a:latin typeface="Tahoma" panose="020B0604030504040204" pitchFamily="34" charset="0"/>
              </a:rPr>
              <a:t>（</a:t>
            </a:r>
            <a:r>
              <a:rPr lang="en-US" altLang="zh-CN" b="1" dirty="0">
                <a:latin typeface="Tahoma" panose="020B0604030504040204" pitchFamily="34" charset="0"/>
              </a:rPr>
              <a:t>64K*1</a:t>
            </a:r>
            <a:r>
              <a:rPr lang="zh-CN" altLang="en-US" b="1" dirty="0">
                <a:latin typeface="Tahoma" panose="020B0604030504040204" pitchFamily="34" charset="0"/>
              </a:rPr>
              <a:t>）芯片构成</a:t>
            </a:r>
            <a:r>
              <a:rPr lang="en-US" altLang="zh-CN" b="1" dirty="0">
                <a:latin typeface="Tahoma" panose="020B0604030504040204" pitchFamily="34" charset="0"/>
              </a:rPr>
              <a:t>128KB</a:t>
            </a:r>
            <a:r>
              <a:rPr lang="zh-CN" altLang="en-US" b="1" dirty="0">
                <a:latin typeface="Tahoma" panose="020B0604030504040204" pitchFamily="34" charset="0"/>
              </a:rPr>
              <a:t>存储器，需几片？ 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4.2.2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存储器扩展与译码方式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12140" y="2055495"/>
            <a:ext cx="806513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C00000"/>
                </a:solidFill>
              </a:rPr>
              <a:t>即将若干存储芯片组合后与系统进行连接，以扩大容量</a:t>
            </a:r>
            <a:endParaRPr lang="zh-CN" altLang="en-US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04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04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1" grpId="0"/>
      <p:bldP spid="104452" grpId="0" bldLvl="0" animBg="1"/>
      <p:bldP spid="2560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Rectangle 2"/>
          <p:cNvSpPr/>
          <p:nvPr/>
        </p:nvSpPr>
        <p:spPr>
          <a:xfrm>
            <a:off x="318135" y="1497648"/>
            <a:ext cx="7527925" cy="457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 anchorCtr="0"/>
          <a:p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1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）位扩展：</a:t>
            </a:r>
            <a:r>
              <a:rPr lang="zh-CN" altLang="en-US" b="1" dirty="0">
                <a:solidFill>
                  <a:srgbClr val="0000FF"/>
                </a:solidFill>
                <a:latin typeface="Arial" panose="020B0604020202020204" pitchFamily="34" charset="0"/>
              </a:rPr>
              <a:t>单元数不变，位数增加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26626" name="Rectangle 3"/>
          <p:cNvSpPr/>
          <p:nvPr/>
        </p:nvSpPr>
        <p:spPr>
          <a:xfrm>
            <a:off x="609600" y="2000885"/>
            <a:ext cx="7772400" cy="4953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/>
          <a:p>
            <a:pPr marL="342900" indent="-342900">
              <a:spcBef>
                <a:spcPct val="20000"/>
              </a:spcBef>
              <a:buChar char="•"/>
            </a:pPr>
            <a:r>
              <a:rPr lang="zh-CN" altLang="en-US" b="1" dirty="0">
                <a:solidFill>
                  <a:srgbClr val="003300"/>
                </a:solidFill>
                <a:latin typeface="Tahoma" panose="020B0604030504040204" pitchFamily="34" charset="0"/>
              </a:rPr>
              <a:t>用</a:t>
            </a:r>
            <a:r>
              <a:rPr lang="en-US" altLang="zh-CN" b="1" dirty="0">
                <a:solidFill>
                  <a:srgbClr val="003300"/>
                </a:solidFill>
                <a:latin typeface="Tahoma" panose="020B0604030504040204" pitchFamily="34" charset="0"/>
              </a:rPr>
              <a:t>8</a:t>
            </a:r>
            <a:r>
              <a:rPr lang="zh-CN" altLang="en-US" b="1" dirty="0">
                <a:solidFill>
                  <a:srgbClr val="003300"/>
                </a:solidFill>
                <a:latin typeface="Tahoma" panose="020B0604030504040204" pitchFamily="34" charset="0"/>
              </a:rPr>
              <a:t>片</a:t>
            </a:r>
            <a:r>
              <a:rPr lang="en-US" altLang="zh-CN" b="1" dirty="0">
                <a:solidFill>
                  <a:srgbClr val="003300"/>
                </a:solidFill>
                <a:latin typeface="Tahoma" panose="020B0604030504040204" pitchFamily="34" charset="0"/>
              </a:rPr>
              <a:t>2164</a:t>
            </a:r>
            <a:r>
              <a:rPr lang="zh-CN" altLang="en-US" b="1" dirty="0">
                <a:solidFill>
                  <a:srgbClr val="003300"/>
                </a:solidFill>
                <a:latin typeface="Tahoma" panose="020B0604030504040204" pitchFamily="34" charset="0"/>
              </a:rPr>
              <a:t>（</a:t>
            </a:r>
            <a:r>
              <a:rPr lang="en-US" altLang="zh-CN" b="1" dirty="0">
                <a:solidFill>
                  <a:srgbClr val="003300"/>
                </a:solidFill>
                <a:latin typeface="Tahoma" panose="020B0604030504040204" pitchFamily="34" charset="0"/>
              </a:rPr>
              <a:t>64K*1</a:t>
            </a:r>
            <a:r>
              <a:rPr lang="zh-CN" altLang="en-US" b="1" dirty="0">
                <a:solidFill>
                  <a:srgbClr val="003300"/>
                </a:solidFill>
                <a:latin typeface="Tahoma" panose="020B0604030504040204" pitchFamily="34" charset="0"/>
              </a:rPr>
              <a:t>）芯片构成</a:t>
            </a:r>
            <a:r>
              <a:rPr lang="en-US" altLang="zh-CN" b="1" dirty="0">
                <a:solidFill>
                  <a:srgbClr val="003300"/>
                </a:solidFill>
                <a:latin typeface="Tahoma" panose="020B0604030504040204" pitchFamily="34" charset="0"/>
              </a:rPr>
              <a:t>64KB</a:t>
            </a:r>
            <a:r>
              <a:rPr lang="zh-CN" altLang="en-US" b="1" dirty="0">
                <a:solidFill>
                  <a:srgbClr val="003300"/>
                </a:solidFill>
                <a:latin typeface="Tahoma" panose="020B0604030504040204" pitchFamily="34" charset="0"/>
              </a:rPr>
              <a:t>存储器</a:t>
            </a:r>
            <a:endParaRPr lang="zh-CN" altLang="en-US" b="1" dirty="0">
              <a:solidFill>
                <a:srgbClr val="003300"/>
              </a:solidFill>
              <a:latin typeface="Tahoma" panose="020B0604030504040204" pitchFamily="34" charset="0"/>
            </a:endParaRPr>
          </a:p>
        </p:txBody>
      </p:sp>
      <p:grpSp>
        <p:nvGrpSpPr>
          <p:cNvPr id="8235" name="Group 43"/>
          <p:cNvGrpSpPr/>
          <p:nvPr/>
        </p:nvGrpSpPr>
        <p:grpSpPr>
          <a:xfrm>
            <a:off x="1331913" y="2500313"/>
            <a:ext cx="4840287" cy="4267200"/>
            <a:chOff x="839" y="1440"/>
            <a:chExt cx="3049" cy="2688"/>
          </a:xfrm>
        </p:grpSpPr>
        <p:grpSp>
          <p:nvGrpSpPr>
            <p:cNvPr id="26628" name="Group 82"/>
            <p:cNvGrpSpPr/>
            <p:nvPr/>
          </p:nvGrpSpPr>
          <p:grpSpPr>
            <a:xfrm>
              <a:off x="1536" y="1440"/>
              <a:ext cx="2352" cy="2688"/>
              <a:chOff x="1536" y="1440"/>
              <a:chExt cx="2352" cy="2688"/>
            </a:xfrm>
          </p:grpSpPr>
          <p:sp>
            <p:nvSpPr>
              <p:cNvPr id="26629" name="Rectangle 52"/>
              <p:cNvSpPr/>
              <p:nvPr/>
            </p:nvSpPr>
            <p:spPr>
              <a:xfrm>
                <a:off x="1872" y="1440"/>
                <a:ext cx="1296" cy="2688"/>
              </a:xfrm>
              <a:prstGeom prst="rect">
                <a:avLst/>
              </a:prstGeom>
              <a:solidFill>
                <a:srgbClr val="FFFFCC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sz="28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6630" name="Text Box 33"/>
              <p:cNvSpPr txBox="1"/>
              <p:nvPr/>
            </p:nvSpPr>
            <p:spPr>
              <a:xfrm>
                <a:off x="3408" y="3552"/>
                <a:ext cx="480" cy="28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t" anchorCtr="0">
                <a:spAutoFit/>
              </a:bodyPr>
              <a:p>
                <a:pPr eaLnBrk="0" hangingPunct="0">
                  <a:spcBef>
                    <a:spcPct val="50000"/>
                  </a:spcBef>
                </a:pPr>
                <a:r>
                  <a:rPr lang="en-US" altLang="zh-CN" dirty="0">
                    <a:solidFill>
                      <a:srgbClr val="003300"/>
                    </a:solidFill>
                    <a:latin typeface="Tahoma" panose="020B0604030504040204" pitchFamily="34" charset="0"/>
                  </a:rPr>
                  <a:t>D</a:t>
                </a:r>
                <a:r>
                  <a:rPr lang="en-US" altLang="zh-CN" sz="2000" dirty="0">
                    <a:solidFill>
                      <a:srgbClr val="003300"/>
                    </a:solidFill>
                    <a:latin typeface="Tahoma" panose="020B0604030504040204" pitchFamily="34" charset="0"/>
                  </a:rPr>
                  <a:t>0</a:t>
                </a:r>
                <a:endParaRPr lang="en-US" altLang="zh-CN" dirty="0">
                  <a:solidFill>
                    <a:srgbClr val="003300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6631" name="Text Box 37"/>
              <p:cNvSpPr txBox="1"/>
              <p:nvPr/>
            </p:nvSpPr>
            <p:spPr>
              <a:xfrm>
                <a:off x="2256" y="2160"/>
                <a:ext cx="720" cy="295"/>
              </a:xfrm>
              <a:prstGeom prst="rect">
                <a:avLst/>
              </a:prstGeom>
              <a:noFill/>
              <a:ln w="12700" cap="sq" cmpd="sng">
                <a:solidFill>
                  <a:schemeClr val="tx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anchor="t" anchorCtr="0">
                <a:noAutofit/>
              </a:bodyPr>
              <a:p>
                <a:pPr algn="ctr" eaLnBrk="0" hangingPunct="0">
                  <a:spcBef>
                    <a:spcPct val="50000"/>
                  </a:spcBef>
                </a:pPr>
                <a:r>
                  <a:rPr lang="zh-CN" altLang="zh-CN" dirty="0">
                    <a:solidFill>
                      <a:srgbClr val="003300"/>
                    </a:solidFill>
                    <a:latin typeface="Tahoma" panose="020B0604030504040204" pitchFamily="34" charset="0"/>
                  </a:rPr>
                  <a:t>2164</a:t>
                </a:r>
                <a:endParaRPr lang="en-US" altLang="zh-CN" dirty="0">
                  <a:solidFill>
                    <a:srgbClr val="003300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6632" name="Text Box 39"/>
              <p:cNvSpPr txBox="1"/>
              <p:nvPr/>
            </p:nvSpPr>
            <p:spPr>
              <a:xfrm>
                <a:off x="2256" y="2448"/>
                <a:ext cx="720" cy="296"/>
              </a:xfrm>
              <a:prstGeom prst="rect">
                <a:avLst/>
              </a:prstGeom>
              <a:noFill/>
              <a:ln w="12700" cap="sq" cmpd="sng">
                <a:solidFill>
                  <a:schemeClr val="tx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anchor="t" anchorCtr="0">
                <a:spAutoFit/>
              </a:bodyPr>
              <a:p>
                <a:pPr algn="ctr" eaLnBrk="0" hangingPunct="0">
                  <a:spcBef>
                    <a:spcPct val="50000"/>
                  </a:spcBef>
                </a:pPr>
                <a:r>
                  <a:rPr lang="zh-CN" altLang="zh-CN" dirty="0">
                    <a:solidFill>
                      <a:srgbClr val="003300"/>
                    </a:solidFill>
                    <a:latin typeface="Tahoma" panose="020B0604030504040204" pitchFamily="34" charset="0"/>
                  </a:rPr>
                  <a:t>2164</a:t>
                </a:r>
                <a:endParaRPr lang="en-US" altLang="zh-CN" dirty="0">
                  <a:solidFill>
                    <a:srgbClr val="003300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6633" name="Text Box 40"/>
              <p:cNvSpPr txBox="1"/>
              <p:nvPr/>
            </p:nvSpPr>
            <p:spPr>
              <a:xfrm>
                <a:off x="2256" y="2736"/>
                <a:ext cx="720" cy="296"/>
              </a:xfrm>
              <a:prstGeom prst="rect">
                <a:avLst/>
              </a:prstGeom>
              <a:noFill/>
              <a:ln w="12700" cap="sq" cmpd="sng">
                <a:solidFill>
                  <a:schemeClr val="tx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anchor="t" anchorCtr="0">
                <a:spAutoFit/>
              </a:bodyPr>
              <a:p>
                <a:pPr algn="ctr" eaLnBrk="0" hangingPunct="0">
                  <a:spcBef>
                    <a:spcPct val="50000"/>
                  </a:spcBef>
                </a:pPr>
                <a:r>
                  <a:rPr lang="zh-CN" altLang="zh-CN" dirty="0">
                    <a:solidFill>
                      <a:srgbClr val="003300"/>
                    </a:solidFill>
                    <a:latin typeface="Tahoma" panose="020B0604030504040204" pitchFamily="34" charset="0"/>
                  </a:rPr>
                  <a:t>2164</a:t>
                </a:r>
                <a:endParaRPr lang="en-US" altLang="zh-CN" dirty="0">
                  <a:solidFill>
                    <a:srgbClr val="003300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6634" name="Text Box 41"/>
              <p:cNvSpPr txBox="1"/>
              <p:nvPr/>
            </p:nvSpPr>
            <p:spPr>
              <a:xfrm>
                <a:off x="2256" y="3024"/>
                <a:ext cx="720" cy="296"/>
              </a:xfrm>
              <a:prstGeom prst="rect">
                <a:avLst/>
              </a:prstGeom>
              <a:noFill/>
              <a:ln w="12700" cap="sq" cmpd="sng">
                <a:solidFill>
                  <a:schemeClr val="tx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anchor="t" anchorCtr="0">
                <a:spAutoFit/>
              </a:bodyPr>
              <a:p>
                <a:pPr algn="ctr" eaLnBrk="0" hangingPunct="0">
                  <a:spcBef>
                    <a:spcPct val="50000"/>
                  </a:spcBef>
                </a:pPr>
                <a:r>
                  <a:rPr lang="zh-CN" altLang="zh-CN" dirty="0">
                    <a:solidFill>
                      <a:srgbClr val="003300"/>
                    </a:solidFill>
                    <a:latin typeface="Tahoma" panose="020B0604030504040204" pitchFamily="34" charset="0"/>
                  </a:rPr>
                  <a:t>2164</a:t>
                </a:r>
                <a:endParaRPr lang="en-US" altLang="zh-CN" dirty="0">
                  <a:solidFill>
                    <a:srgbClr val="003300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6635" name="Text Box 42"/>
              <p:cNvSpPr txBox="1"/>
              <p:nvPr/>
            </p:nvSpPr>
            <p:spPr>
              <a:xfrm>
                <a:off x="2256" y="3312"/>
                <a:ext cx="720" cy="296"/>
              </a:xfrm>
              <a:prstGeom prst="rect">
                <a:avLst/>
              </a:prstGeom>
              <a:noFill/>
              <a:ln w="12700" cap="sq" cmpd="sng">
                <a:solidFill>
                  <a:schemeClr val="tx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anchor="t" anchorCtr="0">
                <a:spAutoFit/>
              </a:bodyPr>
              <a:p>
                <a:pPr algn="ctr" eaLnBrk="0" hangingPunct="0">
                  <a:spcBef>
                    <a:spcPct val="50000"/>
                  </a:spcBef>
                </a:pPr>
                <a:r>
                  <a:rPr lang="zh-CN" altLang="zh-CN" dirty="0">
                    <a:solidFill>
                      <a:srgbClr val="003300"/>
                    </a:solidFill>
                    <a:latin typeface="Tahoma" panose="020B0604030504040204" pitchFamily="34" charset="0"/>
                  </a:rPr>
                  <a:t>2164</a:t>
                </a:r>
                <a:endParaRPr lang="en-US" altLang="zh-CN" dirty="0">
                  <a:solidFill>
                    <a:srgbClr val="003300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6636" name="Text Box 43"/>
              <p:cNvSpPr txBox="1"/>
              <p:nvPr/>
            </p:nvSpPr>
            <p:spPr>
              <a:xfrm>
                <a:off x="2256" y="3607"/>
                <a:ext cx="720" cy="296"/>
              </a:xfrm>
              <a:prstGeom prst="rect">
                <a:avLst/>
              </a:prstGeom>
              <a:noFill/>
              <a:ln w="12700" cap="sq" cmpd="sng">
                <a:solidFill>
                  <a:schemeClr val="tx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anchor="t" anchorCtr="0">
                <a:spAutoFit/>
              </a:bodyPr>
              <a:p>
                <a:pPr algn="ctr" eaLnBrk="0" hangingPunct="0">
                  <a:spcBef>
                    <a:spcPct val="50000"/>
                  </a:spcBef>
                </a:pPr>
                <a:r>
                  <a:rPr lang="zh-CN" altLang="zh-CN" dirty="0">
                    <a:solidFill>
                      <a:srgbClr val="003300"/>
                    </a:solidFill>
                    <a:latin typeface="Tahoma" panose="020B0604030504040204" pitchFamily="34" charset="0"/>
                  </a:rPr>
                  <a:t>2164</a:t>
                </a:r>
                <a:endParaRPr lang="en-US" altLang="zh-CN" dirty="0">
                  <a:solidFill>
                    <a:srgbClr val="003300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6637" name="Line 45"/>
              <p:cNvSpPr/>
              <p:nvPr/>
            </p:nvSpPr>
            <p:spPr>
              <a:xfrm>
                <a:off x="2976" y="2256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26638" name="Line 46"/>
              <p:cNvSpPr/>
              <p:nvPr/>
            </p:nvSpPr>
            <p:spPr>
              <a:xfrm>
                <a:off x="2976" y="2592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26639" name="Line 47"/>
              <p:cNvSpPr/>
              <p:nvPr/>
            </p:nvSpPr>
            <p:spPr>
              <a:xfrm>
                <a:off x="2976" y="3168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26640" name="Line 48"/>
              <p:cNvSpPr/>
              <p:nvPr/>
            </p:nvSpPr>
            <p:spPr>
              <a:xfrm>
                <a:off x="2976" y="2880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26641" name="Line 49"/>
              <p:cNvSpPr/>
              <p:nvPr/>
            </p:nvSpPr>
            <p:spPr>
              <a:xfrm>
                <a:off x="2976" y="3456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26642" name="Line 50"/>
              <p:cNvSpPr/>
              <p:nvPr/>
            </p:nvSpPr>
            <p:spPr>
              <a:xfrm>
                <a:off x="2976" y="3744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26643" name="Line 54"/>
              <p:cNvSpPr/>
              <p:nvPr/>
            </p:nvSpPr>
            <p:spPr>
              <a:xfrm>
                <a:off x="1536" y="1728"/>
                <a:ext cx="0" cy="206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6644" name="Rectangle 77"/>
              <p:cNvSpPr/>
              <p:nvPr/>
            </p:nvSpPr>
            <p:spPr>
              <a:xfrm>
                <a:off x="3408" y="2160"/>
                <a:ext cx="33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dirty="0">
                    <a:solidFill>
                      <a:srgbClr val="003300"/>
                    </a:solidFill>
                    <a:latin typeface="Tahoma" panose="020B0604030504040204" pitchFamily="34" charset="0"/>
                  </a:rPr>
                  <a:t>D</a:t>
                </a:r>
                <a:r>
                  <a:rPr lang="en-US" altLang="zh-CN" sz="2000" dirty="0">
                    <a:solidFill>
                      <a:srgbClr val="003300"/>
                    </a:solidFill>
                    <a:latin typeface="Tahoma" panose="020B0604030504040204" pitchFamily="34" charset="0"/>
                  </a:rPr>
                  <a:t>5</a:t>
                </a:r>
                <a:endParaRPr lang="en-US" altLang="zh-CN" sz="2000" dirty="0">
                  <a:solidFill>
                    <a:srgbClr val="003300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6645" name="Rectangle 78"/>
              <p:cNvSpPr/>
              <p:nvPr/>
            </p:nvSpPr>
            <p:spPr>
              <a:xfrm>
                <a:off x="3408" y="2448"/>
                <a:ext cx="33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dirty="0">
                    <a:solidFill>
                      <a:srgbClr val="003300"/>
                    </a:solidFill>
                    <a:latin typeface="Tahoma" panose="020B0604030504040204" pitchFamily="34" charset="0"/>
                  </a:rPr>
                  <a:t>D</a:t>
                </a:r>
                <a:r>
                  <a:rPr lang="en-US" altLang="zh-CN" sz="2000" dirty="0">
                    <a:solidFill>
                      <a:srgbClr val="003300"/>
                    </a:solidFill>
                    <a:latin typeface="Tahoma" panose="020B0604030504040204" pitchFamily="34" charset="0"/>
                  </a:rPr>
                  <a:t>4</a:t>
                </a:r>
                <a:endParaRPr lang="en-US" altLang="zh-CN" sz="2000" dirty="0">
                  <a:solidFill>
                    <a:srgbClr val="003300"/>
                  </a:solidFill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26646" name="Line 55"/>
            <p:cNvSpPr/>
            <p:nvPr/>
          </p:nvSpPr>
          <p:spPr>
            <a:xfrm>
              <a:off x="1536" y="3792"/>
              <a:ext cx="72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647" name="Line 56"/>
            <p:cNvSpPr/>
            <p:nvPr/>
          </p:nvSpPr>
          <p:spPr>
            <a:xfrm>
              <a:off x="1536" y="2592"/>
              <a:ext cx="72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648" name="Line 57"/>
            <p:cNvSpPr/>
            <p:nvPr/>
          </p:nvSpPr>
          <p:spPr>
            <a:xfrm>
              <a:off x="1536" y="2928"/>
              <a:ext cx="72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649" name="Line 58"/>
            <p:cNvSpPr/>
            <p:nvPr/>
          </p:nvSpPr>
          <p:spPr>
            <a:xfrm>
              <a:off x="1536" y="3216"/>
              <a:ext cx="72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650" name="Line 59"/>
            <p:cNvSpPr/>
            <p:nvPr/>
          </p:nvSpPr>
          <p:spPr>
            <a:xfrm>
              <a:off x="1536" y="2352"/>
              <a:ext cx="72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651" name="Line 61"/>
            <p:cNvSpPr/>
            <p:nvPr/>
          </p:nvSpPr>
          <p:spPr>
            <a:xfrm>
              <a:off x="1536" y="3456"/>
              <a:ext cx="72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652" name="Text Box 36"/>
            <p:cNvSpPr txBox="1"/>
            <p:nvPr/>
          </p:nvSpPr>
          <p:spPr>
            <a:xfrm>
              <a:off x="2256" y="1865"/>
              <a:ext cx="720" cy="296"/>
            </a:xfrm>
            <a:prstGeom prst="rect">
              <a:avLst/>
            </a:prstGeom>
            <a:noFill/>
            <a:ln w="12700" cap="sq" cmpd="sng">
              <a:solidFill>
                <a:schemeClr val="tx2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zh-CN" altLang="zh-CN" dirty="0">
                  <a:solidFill>
                    <a:srgbClr val="003300"/>
                  </a:solidFill>
                  <a:latin typeface="Tahoma" panose="020B0604030504040204" pitchFamily="34" charset="0"/>
                </a:rPr>
                <a:t>2164</a:t>
              </a:r>
              <a:endParaRPr lang="en-US" altLang="zh-CN" dirty="0">
                <a:solidFill>
                  <a:srgbClr val="0033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6653" name="Line 51"/>
            <p:cNvSpPr/>
            <p:nvPr/>
          </p:nvSpPr>
          <p:spPr>
            <a:xfrm>
              <a:off x="2976" y="2016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654" name="Line 60"/>
            <p:cNvSpPr/>
            <p:nvPr/>
          </p:nvSpPr>
          <p:spPr>
            <a:xfrm>
              <a:off x="1536" y="2064"/>
              <a:ext cx="72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655" name="Rectangle 76"/>
            <p:cNvSpPr/>
            <p:nvPr/>
          </p:nvSpPr>
          <p:spPr>
            <a:xfrm>
              <a:off x="3408" y="1872"/>
              <a:ext cx="33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dirty="0">
                  <a:solidFill>
                    <a:srgbClr val="003300"/>
                  </a:solidFill>
                  <a:latin typeface="Tahoma" panose="020B0604030504040204" pitchFamily="34" charset="0"/>
                </a:rPr>
                <a:t>D</a:t>
              </a:r>
              <a:r>
                <a:rPr lang="en-US" altLang="zh-CN" sz="2000" dirty="0">
                  <a:solidFill>
                    <a:srgbClr val="003300"/>
                  </a:solidFill>
                  <a:latin typeface="Tahoma" panose="020B0604030504040204" pitchFamily="34" charset="0"/>
                </a:rPr>
                <a:t>6</a:t>
              </a:r>
              <a:endParaRPr lang="en-US" altLang="zh-CN" sz="2000" dirty="0">
                <a:solidFill>
                  <a:srgbClr val="0033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6656" name="Text Box 25"/>
            <p:cNvSpPr txBox="1"/>
            <p:nvPr/>
          </p:nvSpPr>
          <p:spPr>
            <a:xfrm>
              <a:off x="2256" y="1577"/>
              <a:ext cx="720" cy="296"/>
            </a:xfrm>
            <a:prstGeom prst="rect">
              <a:avLst/>
            </a:prstGeom>
            <a:noFill/>
            <a:ln w="12700" cap="sq" cmpd="sng">
              <a:solidFill>
                <a:schemeClr val="tx2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zh-CN" altLang="zh-CN" dirty="0">
                  <a:solidFill>
                    <a:srgbClr val="003300"/>
                  </a:solidFill>
                  <a:latin typeface="Tahoma" panose="020B0604030504040204" pitchFamily="34" charset="0"/>
                </a:rPr>
                <a:t>2164</a:t>
              </a:r>
              <a:endParaRPr lang="en-US" altLang="zh-CN" dirty="0">
                <a:solidFill>
                  <a:srgbClr val="0033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6657" name="Line 44"/>
            <p:cNvSpPr/>
            <p:nvPr/>
          </p:nvSpPr>
          <p:spPr>
            <a:xfrm>
              <a:off x="2976" y="1728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658" name="Line 53"/>
            <p:cNvSpPr/>
            <p:nvPr/>
          </p:nvSpPr>
          <p:spPr>
            <a:xfrm>
              <a:off x="1104" y="1728"/>
              <a:ext cx="115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659" name="Text Box 73"/>
            <p:cNvSpPr txBox="1"/>
            <p:nvPr/>
          </p:nvSpPr>
          <p:spPr>
            <a:xfrm>
              <a:off x="839" y="1440"/>
              <a:ext cx="793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dirty="0">
                  <a:solidFill>
                    <a:srgbClr val="003300"/>
                  </a:solidFill>
                  <a:latin typeface="Tahoma" panose="020B0604030504040204" pitchFamily="34" charset="0"/>
                </a:rPr>
                <a:t>A</a:t>
              </a:r>
              <a:r>
                <a:rPr lang="en-US" altLang="zh-CN" sz="2000" dirty="0">
                  <a:solidFill>
                    <a:srgbClr val="003300"/>
                  </a:solidFill>
                  <a:latin typeface="Tahoma" panose="020B0604030504040204" pitchFamily="34" charset="0"/>
                </a:rPr>
                <a:t>0</a:t>
              </a:r>
              <a:r>
                <a:rPr lang="en-US" altLang="zh-CN" dirty="0">
                  <a:solidFill>
                    <a:srgbClr val="003300"/>
                  </a:solidFill>
                  <a:latin typeface="Tahoma" panose="020B0604030504040204" pitchFamily="34" charset="0"/>
                </a:rPr>
                <a:t>~A</a:t>
              </a:r>
              <a:r>
                <a:rPr lang="en-US" altLang="zh-CN" sz="2000" dirty="0">
                  <a:solidFill>
                    <a:srgbClr val="003300"/>
                  </a:solidFill>
                  <a:latin typeface="Tahoma" panose="020B0604030504040204" pitchFamily="34" charset="0"/>
                </a:rPr>
                <a:t>15</a:t>
              </a:r>
              <a:endParaRPr lang="en-US" altLang="zh-CN" dirty="0">
                <a:solidFill>
                  <a:srgbClr val="0033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6660" name="Rectangle 75"/>
            <p:cNvSpPr/>
            <p:nvPr/>
          </p:nvSpPr>
          <p:spPr>
            <a:xfrm>
              <a:off x="3408" y="1584"/>
              <a:ext cx="33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dirty="0">
                  <a:solidFill>
                    <a:srgbClr val="003300"/>
                  </a:solidFill>
                  <a:latin typeface="Tahoma" panose="020B0604030504040204" pitchFamily="34" charset="0"/>
                </a:rPr>
                <a:t>D</a:t>
              </a:r>
              <a:r>
                <a:rPr lang="en-US" altLang="zh-CN" sz="2000" dirty="0">
                  <a:solidFill>
                    <a:srgbClr val="003300"/>
                  </a:solidFill>
                  <a:latin typeface="Tahoma" panose="020B0604030504040204" pitchFamily="34" charset="0"/>
                </a:rPr>
                <a:t>7</a:t>
              </a:r>
              <a:endParaRPr lang="en-US" altLang="zh-CN" sz="2000" dirty="0">
                <a:solidFill>
                  <a:srgbClr val="003300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4.2.2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存储器扩展与译码方式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Rectangle 2"/>
          <p:cNvSpPr/>
          <p:nvPr/>
        </p:nvSpPr>
        <p:spPr>
          <a:xfrm>
            <a:off x="6012180" y="3271520"/>
            <a:ext cx="2780665" cy="2640330"/>
          </a:xfrm>
          <a:prstGeom prst="rect">
            <a:avLst/>
          </a:prstGeom>
          <a:noFill/>
          <a:ln w="28575" cmpd="dbl">
            <a:solidFill>
              <a:schemeClr val="accent1">
                <a:shade val="50000"/>
              </a:schemeClr>
            </a:solidFill>
            <a:prstDash val="solid"/>
          </a:ln>
        </p:spPr>
        <p:txBody>
          <a:bodyPr lIns="92075" tIns="46038" rIns="92075" bIns="46038" anchor="b" anchorCtr="0"/>
          <a:p>
            <a:pPr>
              <a:lnSpc>
                <a:spcPct val="120000"/>
              </a:lnSpc>
            </a:pPr>
            <a:r>
              <a:rPr b="1" dirty="0">
                <a:solidFill>
                  <a:schemeClr val="tx1"/>
                </a:solidFill>
              </a:rPr>
              <a:t>采用存储芯片</a:t>
            </a:r>
            <a:r>
              <a:rPr b="1" dirty="0">
                <a:solidFill>
                  <a:srgbClr val="C00000"/>
                </a:solidFill>
              </a:rPr>
              <a:t>数据线并联来扩展</a:t>
            </a:r>
            <a:r>
              <a:rPr lang="zh-CN" b="1" dirty="0">
                <a:solidFill>
                  <a:schemeClr val="tx1"/>
                </a:solidFill>
              </a:rPr>
              <a:t>，扩展后所有芯片物理地址完全相同，</a:t>
            </a:r>
            <a:r>
              <a:rPr lang="zh-CN" b="1" dirty="0">
                <a:solidFill>
                  <a:srgbClr val="C00000"/>
                </a:solidFill>
              </a:rPr>
              <a:t>同时被选中</a:t>
            </a:r>
            <a:r>
              <a:rPr lang="zh-CN" b="1" dirty="0">
                <a:solidFill>
                  <a:schemeClr val="tx1"/>
                </a:solidFill>
              </a:rPr>
              <a:t>，输出多位数据。</a:t>
            </a:r>
            <a:endParaRPr lang="zh-CN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51" name="Rectangle 15"/>
          <p:cNvSpPr/>
          <p:nvPr/>
        </p:nvSpPr>
        <p:spPr>
          <a:xfrm>
            <a:off x="2590800" y="2442210"/>
            <a:ext cx="3886200" cy="3140710"/>
          </a:xfrm>
          <a:prstGeom prst="rect">
            <a:avLst/>
          </a:prstGeom>
          <a:solidFill>
            <a:srgbClr val="FFFFCC"/>
          </a:solidFill>
          <a:ln w="28575" cap="flat" cmpd="dbl">
            <a:solidFill>
              <a:schemeClr val="accent1">
                <a:shade val="50000"/>
              </a:schemeClr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sz="2800" dirty="0">
              <a:latin typeface="Tahoma" panose="020B0604030504040204" pitchFamily="34" charset="0"/>
            </a:endParaRPr>
          </a:p>
        </p:txBody>
      </p:sp>
      <p:sp>
        <p:nvSpPr>
          <p:cNvPr id="91145" name="Line 9"/>
          <p:cNvSpPr/>
          <p:nvPr/>
        </p:nvSpPr>
        <p:spPr>
          <a:xfrm>
            <a:off x="5410200" y="4499610"/>
            <a:ext cx="6096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1146" name="Line 10"/>
          <p:cNvSpPr/>
          <p:nvPr/>
        </p:nvSpPr>
        <p:spPr>
          <a:xfrm>
            <a:off x="6019800" y="3128010"/>
            <a:ext cx="0" cy="13716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1148" name="Line 12"/>
          <p:cNvSpPr/>
          <p:nvPr/>
        </p:nvSpPr>
        <p:spPr>
          <a:xfrm>
            <a:off x="2819400" y="4575810"/>
            <a:ext cx="15240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91154" name="Line 18"/>
          <p:cNvSpPr/>
          <p:nvPr/>
        </p:nvSpPr>
        <p:spPr>
          <a:xfrm>
            <a:off x="2819400" y="3051810"/>
            <a:ext cx="0" cy="1524000"/>
          </a:xfrm>
          <a:prstGeom prst="line">
            <a:avLst/>
          </a:prstGeom>
          <a:ln w="317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1159" name="Line 23"/>
          <p:cNvSpPr/>
          <p:nvPr/>
        </p:nvSpPr>
        <p:spPr>
          <a:xfrm>
            <a:off x="1828800" y="3585210"/>
            <a:ext cx="3048000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1160" name="Line 24"/>
          <p:cNvSpPr/>
          <p:nvPr/>
        </p:nvSpPr>
        <p:spPr>
          <a:xfrm>
            <a:off x="4876800" y="3432810"/>
            <a:ext cx="0" cy="152400"/>
          </a:xfrm>
          <a:prstGeom prst="line">
            <a:avLst/>
          </a:prstGeom>
          <a:ln w="317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1164" name="Line 28"/>
          <p:cNvSpPr/>
          <p:nvPr/>
        </p:nvSpPr>
        <p:spPr>
          <a:xfrm>
            <a:off x="3124200" y="5261610"/>
            <a:ext cx="457200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2" name="Group 36"/>
          <p:cNvGrpSpPr/>
          <p:nvPr/>
        </p:nvGrpSpPr>
        <p:grpSpPr>
          <a:xfrm>
            <a:off x="3124200" y="3585210"/>
            <a:ext cx="1752600" cy="1905000"/>
            <a:chOff x="1968" y="2304"/>
            <a:chExt cx="1104" cy="1200"/>
          </a:xfrm>
        </p:grpSpPr>
        <p:sp>
          <p:nvSpPr>
            <p:cNvPr id="27658" name="Line 25"/>
            <p:cNvSpPr/>
            <p:nvPr/>
          </p:nvSpPr>
          <p:spPr>
            <a:xfrm>
              <a:off x="1968" y="2304"/>
              <a:ext cx="0" cy="1056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659" name="AutoShape 26"/>
            <p:cNvSpPr/>
            <p:nvPr/>
          </p:nvSpPr>
          <p:spPr>
            <a:xfrm rot="-5511871" flipV="1">
              <a:off x="2232" y="3288"/>
              <a:ext cx="240" cy="192"/>
            </a:xfrm>
            <a:prstGeom prst="triangle">
              <a:avLst>
                <a:gd name="adj" fmla="val 56250"/>
              </a:avLst>
            </a:prstGeom>
            <a:solidFill>
              <a:srgbClr val="FFFFCC"/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sz="2800" dirty="0">
                <a:latin typeface="Tahoma" panose="020B0604030504040204" pitchFamily="34" charset="0"/>
              </a:endParaRPr>
            </a:p>
          </p:txBody>
        </p:sp>
        <p:sp>
          <p:nvSpPr>
            <p:cNvPr id="27660" name="Oval 27"/>
            <p:cNvSpPr/>
            <p:nvPr/>
          </p:nvSpPr>
          <p:spPr>
            <a:xfrm>
              <a:off x="2400" y="3312"/>
              <a:ext cx="96" cy="96"/>
            </a:xfrm>
            <a:prstGeom prst="ellipse">
              <a:avLst/>
            </a:prstGeom>
            <a:solidFill>
              <a:srgbClr val="FFFFCC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sz="2800" dirty="0">
                <a:latin typeface="Tahoma" panose="020B0604030504040204" pitchFamily="34" charset="0"/>
              </a:endParaRPr>
            </a:p>
          </p:txBody>
        </p:sp>
        <p:sp>
          <p:nvSpPr>
            <p:cNvPr id="27661" name="Line 29"/>
            <p:cNvSpPr/>
            <p:nvPr/>
          </p:nvSpPr>
          <p:spPr>
            <a:xfrm>
              <a:off x="2496" y="3360"/>
              <a:ext cx="576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662" name="Line 30"/>
            <p:cNvSpPr/>
            <p:nvPr/>
          </p:nvSpPr>
          <p:spPr>
            <a:xfrm>
              <a:off x="3072" y="3024"/>
              <a:ext cx="0" cy="336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27663" name="Rectangle 2"/>
          <p:cNvSpPr/>
          <p:nvPr/>
        </p:nvSpPr>
        <p:spPr>
          <a:xfrm>
            <a:off x="690245" y="1967230"/>
            <a:ext cx="76200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Tahoma" panose="020B0604030504040204" pitchFamily="34" charset="0"/>
              </a:rPr>
              <a:t>用两片</a:t>
            </a:r>
            <a:r>
              <a:rPr lang="en-US" altLang="zh-CN" b="1" dirty="0">
                <a:latin typeface="Tahoma" panose="020B0604030504040204" pitchFamily="34" charset="0"/>
              </a:rPr>
              <a:t>6264</a:t>
            </a:r>
            <a:r>
              <a:rPr lang="zh-CN" altLang="en-US" b="1" dirty="0">
                <a:latin typeface="Tahoma" panose="020B0604030504040204" pitchFamily="34" charset="0"/>
              </a:rPr>
              <a:t>（</a:t>
            </a:r>
            <a:r>
              <a:rPr lang="en-US" altLang="zh-CN" b="1" dirty="0">
                <a:latin typeface="Tahoma" panose="020B0604030504040204" pitchFamily="34" charset="0"/>
              </a:rPr>
              <a:t>8K×8</a:t>
            </a:r>
            <a:r>
              <a:rPr lang="zh-CN" altLang="en-US" b="1" dirty="0">
                <a:latin typeface="Tahoma" panose="020B0604030504040204" pitchFamily="34" charset="0"/>
              </a:rPr>
              <a:t>位）构成</a:t>
            </a:r>
            <a:r>
              <a:rPr lang="en-US" altLang="zh-CN" b="1" dirty="0">
                <a:latin typeface="Tahoma" panose="020B0604030504040204" pitchFamily="34" charset="0"/>
              </a:rPr>
              <a:t>16KB</a:t>
            </a:r>
            <a:r>
              <a:rPr lang="zh-CN" altLang="en-US" b="1" dirty="0">
                <a:latin typeface="Tahoma" panose="020B0604030504040204" pitchFamily="34" charset="0"/>
              </a:rPr>
              <a:t>的存储器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91143" name="Text Box 7"/>
          <p:cNvSpPr txBox="1"/>
          <p:nvPr/>
        </p:nvSpPr>
        <p:spPr>
          <a:xfrm>
            <a:off x="4343400" y="4194810"/>
            <a:ext cx="1066800" cy="528638"/>
          </a:xfrm>
          <a:prstGeom prst="rect">
            <a:avLst/>
          </a:prstGeom>
          <a:noFill/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800" dirty="0">
                <a:latin typeface="Tahoma" panose="020B0604030504040204" pitchFamily="34" charset="0"/>
              </a:rPr>
              <a:t>6264</a:t>
            </a:r>
            <a:endParaRPr lang="en-US" altLang="zh-CN" sz="2800" dirty="0">
              <a:latin typeface="Tahoma" panose="020B0604030504040204" pitchFamily="34" charset="0"/>
            </a:endParaRPr>
          </a:p>
        </p:txBody>
      </p:sp>
      <p:grpSp>
        <p:nvGrpSpPr>
          <p:cNvPr id="3" name="Group 33"/>
          <p:cNvGrpSpPr/>
          <p:nvPr/>
        </p:nvGrpSpPr>
        <p:grpSpPr>
          <a:xfrm>
            <a:off x="1366838" y="2594610"/>
            <a:ext cx="6611938" cy="833438"/>
            <a:chOff x="861" y="1680"/>
            <a:chExt cx="4165" cy="525"/>
          </a:xfrm>
        </p:grpSpPr>
        <p:sp>
          <p:nvSpPr>
            <p:cNvPr id="27666" name="Text Box 6"/>
            <p:cNvSpPr txBox="1"/>
            <p:nvPr/>
          </p:nvSpPr>
          <p:spPr>
            <a:xfrm>
              <a:off x="2736" y="1872"/>
              <a:ext cx="672" cy="333"/>
            </a:xfrm>
            <a:prstGeom prst="rect">
              <a:avLst/>
            </a:prstGeom>
            <a:noFill/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dirty="0">
                  <a:latin typeface="Tahoma" panose="020B0604030504040204" pitchFamily="34" charset="0"/>
                </a:rPr>
                <a:t>6264</a:t>
              </a:r>
              <a:endParaRPr lang="en-US" altLang="zh-CN" sz="2800" dirty="0">
                <a:latin typeface="Tahoma" panose="020B0604030504040204" pitchFamily="34" charset="0"/>
              </a:endParaRPr>
            </a:p>
          </p:txBody>
        </p:sp>
        <p:sp>
          <p:nvSpPr>
            <p:cNvPr id="27667" name="Line 8"/>
            <p:cNvSpPr/>
            <p:nvPr/>
          </p:nvSpPr>
          <p:spPr>
            <a:xfrm>
              <a:off x="3408" y="2016"/>
              <a:ext cx="86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7668" name="Line 11"/>
            <p:cNvSpPr/>
            <p:nvPr/>
          </p:nvSpPr>
          <p:spPr>
            <a:xfrm>
              <a:off x="861" y="1968"/>
              <a:ext cx="187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7669" name="Rectangle 13"/>
            <p:cNvSpPr/>
            <p:nvPr/>
          </p:nvSpPr>
          <p:spPr>
            <a:xfrm>
              <a:off x="912" y="1680"/>
              <a:ext cx="74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dirty="0">
                  <a:solidFill>
                    <a:srgbClr val="003300"/>
                  </a:solidFill>
                  <a:latin typeface="Tahoma" panose="020B0604030504040204" pitchFamily="34" charset="0"/>
                </a:rPr>
                <a:t>A</a:t>
              </a:r>
              <a:r>
                <a:rPr lang="en-US" altLang="zh-CN" sz="2000" dirty="0">
                  <a:solidFill>
                    <a:srgbClr val="003300"/>
                  </a:solidFill>
                  <a:latin typeface="Tahoma" panose="020B0604030504040204" pitchFamily="34" charset="0"/>
                </a:rPr>
                <a:t>15</a:t>
              </a:r>
              <a:r>
                <a:rPr lang="en-US" altLang="zh-CN" dirty="0">
                  <a:solidFill>
                    <a:srgbClr val="003300"/>
                  </a:solidFill>
                  <a:latin typeface="Tahoma" panose="020B0604030504040204" pitchFamily="34" charset="0"/>
                </a:rPr>
                <a:t>~A</a:t>
              </a:r>
              <a:r>
                <a:rPr lang="en-US" altLang="zh-CN" sz="2000" dirty="0">
                  <a:solidFill>
                    <a:srgbClr val="003300"/>
                  </a:solidFill>
                  <a:latin typeface="Tahoma" panose="020B0604030504040204" pitchFamily="34" charset="0"/>
                </a:rPr>
                <a:t>0</a:t>
              </a:r>
              <a:endParaRPr lang="en-US" altLang="zh-CN" sz="2000" dirty="0">
                <a:solidFill>
                  <a:srgbClr val="0033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7670" name="Rectangle 17"/>
            <p:cNvSpPr/>
            <p:nvPr/>
          </p:nvSpPr>
          <p:spPr>
            <a:xfrm>
              <a:off x="4368" y="1824"/>
              <a:ext cx="65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dirty="0">
                  <a:solidFill>
                    <a:srgbClr val="003300"/>
                  </a:solidFill>
                  <a:latin typeface="Tahoma" panose="020B0604030504040204" pitchFamily="34" charset="0"/>
                </a:rPr>
                <a:t>D</a:t>
              </a:r>
              <a:r>
                <a:rPr lang="en-US" altLang="zh-CN" sz="2000" dirty="0">
                  <a:solidFill>
                    <a:srgbClr val="003300"/>
                  </a:solidFill>
                  <a:latin typeface="Tahoma" panose="020B0604030504040204" pitchFamily="34" charset="0"/>
                </a:rPr>
                <a:t>7</a:t>
              </a:r>
              <a:r>
                <a:rPr lang="en-US" altLang="zh-CN" dirty="0">
                  <a:solidFill>
                    <a:srgbClr val="003300"/>
                  </a:solidFill>
                  <a:latin typeface="Tahoma" panose="020B0604030504040204" pitchFamily="34" charset="0"/>
                </a:rPr>
                <a:t>~D</a:t>
              </a:r>
              <a:r>
                <a:rPr lang="en-US" altLang="zh-CN" sz="2000" dirty="0">
                  <a:solidFill>
                    <a:srgbClr val="003300"/>
                  </a:solidFill>
                  <a:latin typeface="Tahoma" panose="020B0604030504040204" pitchFamily="34" charset="0"/>
                </a:rPr>
                <a:t>0</a:t>
              </a:r>
              <a:endParaRPr lang="en-US" altLang="zh-CN" sz="2000" dirty="0">
                <a:solidFill>
                  <a:srgbClr val="003300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91171" name="Rectangle 35"/>
          <p:cNvSpPr/>
          <p:nvPr/>
        </p:nvSpPr>
        <p:spPr>
          <a:xfrm>
            <a:off x="1143000" y="3204210"/>
            <a:ext cx="64262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dirty="0">
                <a:solidFill>
                  <a:srgbClr val="003300"/>
                </a:solidFill>
                <a:latin typeface="Tahoma" panose="020B0604030504040204" pitchFamily="34" charset="0"/>
              </a:rPr>
              <a:t>A</a:t>
            </a:r>
            <a:r>
              <a:rPr lang="en-US" altLang="zh-CN" sz="2000" dirty="0">
                <a:solidFill>
                  <a:srgbClr val="003300"/>
                </a:solidFill>
                <a:latin typeface="Tahoma" panose="020B0604030504040204" pitchFamily="34" charset="0"/>
              </a:rPr>
              <a:t>16</a:t>
            </a:r>
            <a:endParaRPr lang="en-US" altLang="zh-CN" sz="2000" dirty="0">
              <a:solidFill>
                <a:srgbClr val="003300"/>
              </a:solidFill>
              <a:latin typeface="Tahoma" panose="020B0604030504040204" pitchFamily="34" charset="0"/>
            </a:endParaRPr>
          </a:p>
        </p:txBody>
      </p:sp>
      <p:sp>
        <p:nvSpPr>
          <p:cNvPr id="27672" name="Rectangle 2"/>
          <p:cNvSpPr/>
          <p:nvPr/>
        </p:nvSpPr>
        <p:spPr>
          <a:xfrm>
            <a:off x="318135" y="1497648"/>
            <a:ext cx="7527925" cy="457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 anchorCtr="0"/>
          <a:p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2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）字扩展：</a:t>
            </a:r>
            <a:r>
              <a:rPr lang="zh-CN" altLang="en-US" b="1" dirty="0">
                <a:solidFill>
                  <a:srgbClr val="0000FF"/>
                </a:solidFill>
                <a:latin typeface="Arial" panose="020B0604020202020204" pitchFamily="34" charset="0"/>
                <a:sym typeface="宋体" panose="02010600030101010101" pitchFamily="2" charset="-122"/>
              </a:rPr>
              <a:t>位数不变，存储单元数增加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55015" y="5734050"/>
            <a:ext cx="7642225" cy="902970"/>
          </a:xfrm>
          <a:prstGeom prst="rect">
            <a:avLst/>
          </a:prstGeom>
          <a:noFill/>
          <a:ln w="28575" cmpd="dbl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pPr>
              <a:lnSpc>
                <a:spcPct val="110000"/>
              </a:lnSpc>
            </a:pPr>
            <a:r>
              <a:rPr lang="zh-CN" altLang="en-US" b="1"/>
              <a:t>采用存储芯片</a:t>
            </a:r>
            <a:r>
              <a:rPr lang="zh-CN" altLang="en-US" b="1">
                <a:solidFill>
                  <a:srgbClr val="C00000"/>
                </a:solidFill>
              </a:rPr>
              <a:t>地址线串联实现</a:t>
            </a:r>
            <a:r>
              <a:rPr lang="zh-CN" altLang="en-US" b="1"/>
              <a:t>，各片具有不同的物理地址，</a:t>
            </a:r>
            <a:r>
              <a:rPr lang="zh-CN" altLang="en-US" b="1">
                <a:solidFill>
                  <a:srgbClr val="C00000"/>
                </a:solidFill>
              </a:rPr>
              <a:t>任何时候只有一</a:t>
            </a:r>
            <a:r>
              <a:rPr lang="zh-CN" altLang="en-US" b="1">
                <a:solidFill>
                  <a:srgbClr val="C00000"/>
                </a:solidFill>
                <a:sym typeface="+mn-ea"/>
              </a:rPr>
              <a:t>片</a:t>
            </a:r>
            <a:r>
              <a:rPr lang="zh-CN" altLang="en-US" b="1">
                <a:solidFill>
                  <a:srgbClr val="C00000"/>
                </a:solidFill>
              </a:rPr>
              <a:t>芯片被选中</a:t>
            </a:r>
            <a:r>
              <a:rPr lang="zh-CN" altLang="en-US" b="1"/>
              <a:t>。</a:t>
            </a:r>
            <a:endParaRPr lang="zh-CN" altLang="en-US" b="1"/>
          </a:p>
        </p:txBody>
      </p:sp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4.2.2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存储器扩展与译码方式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1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1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1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1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91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91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91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91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51" grpId="0" bldLvl="0" animBg="1"/>
      <p:bldP spid="91143" grpId="0" bldLvl="0" animBg="1"/>
      <p:bldP spid="91171" grpId="0"/>
      <p:bldP spid="4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Rectangle 2"/>
          <p:cNvSpPr/>
          <p:nvPr/>
        </p:nvSpPr>
        <p:spPr>
          <a:xfrm>
            <a:off x="474980" y="1824673"/>
            <a:ext cx="7620000" cy="49720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用</a:t>
            </a:r>
            <a:r>
              <a:rPr lang="zh-CN" altLang="en-US" b="1" dirty="0">
                <a:solidFill>
                  <a:srgbClr val="0033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多少片</a:t>
            </a:r>
            <a:r>
              <a:rPr lang="en-US" altLang="zh-CN" b="1" dirty="0">
                <a:solidFill>
                  <a:srgbClr val="003300"/>
                </a:solidFill>
                <a:latin typeface="Tahoma" panose="020B0604030504040204" pitchFamily="34" charset="0"/>
              </a:rPr>
              <a:t>2164</a:t>
            </a:r>
            <a:r>
              <a:rPr lang="zh-CN" altLang="en-US" b="1" dirty="0">
                <a:solidFill>
                  <a:srgbClr val="0033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solidFill>
                  <a:srgbClr val="003300"/>
                </a:solidFill>
                <a:latin typeface="Tahoma" panose="020B0604030504040204" pitchFamily="34" charset="0"/>
              </a:rPr>
              <a:t>64K*1</a:t>
            </a:r>
            <a:r>
              <a:rPr lang="zh-CN" altLang="en-US" b="1" dirty="0">
                <a:solidFill>
                  <a:srgbClr val="0033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）芯片构成</a:t>
            </a:r>
            <a:r>
              <a:rPr lang="en-US" altLang="zh-CN" b="1" dirty="0">
                <a:solidFill>
                  <a:srgbClr val="003300"/>
                </a:solidFill>
                <a:latin typeface="Tahoma" panose="020B0604030504040204" pitchFamily="34" charset="0"/>
              </a:rPr>
              <a:t>128KB</a:t>
            </a:r>
            <a:r>
              <a:rPr lang="zh-CN" altLang="en-US" b="1" dirty="0">
                <a:solidFill>
                  <a:srgbClr val="0033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存储器？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74" name="Rectangle 2"/>
          <p:cNvSpPr/>
          <p:nvPr/>
        </p:nvSpPr>
        <p:spPr>
          <a:xfrm>
            <a:off x="246380" y="1425893"/>
            <a:ext cx="7527925" cy="457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 anchorCtr="0"/>
          <a:p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3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）字位同时扩展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8235" name="Group 43"/>
          <p:cNvGrpSpPr/>
          <p:nvPr/>
        </p:nvGrpSpPr>
        <p:grpSpPr>
          <a:xfrm>
            <a:off x="471488" y="2716213"/>
            <a:ext cx="4037012" cy="3884612"/>
            <a:chOff x="839" y="1440"/>
            <a:chExt cx="3049" cy="2688"/>
          </a:xfrm>
        </p:grpSpPr>
        <p:grpSp>
          <p:nvGrpSpPr>
            <p:cNvPr id="28677" name="Group 82"/>
            <p:cNvGrpSpPr/>
            <p:nvPr/>
          </p:nvGrpSpPr>
          <p:grpSpPr>
            <a:xfrm>
              <a:off x="1536" y="1440"/>
              <a:ext cx="2352" cy="2688"/>
              <a:chOff x="1536" y="1440"/>
              <a:chExt cx="2352" cy="2688"/>
            </a:xfrm>
          </p:grpSpPr>
          <p:sp>
            <p:nvSpPr>
              <p:cNvPr id="28678" name="Rectangle 52"/>
              <p:cNvSpPr/>
              <p:nvPr/>
            </p:nvSpPr>
            <p:spPr>
              <a:xfrm>
                <a:off x="1872" y="1440"/>
                <a:ext cx="1296" cy="2688"/>
              </a:xfrm>
              <a:prstGeom prst="rect">
                <a:avLst/>
              </a:prstGeom>
              <a:solidFill>
                <a:srgbClr val="FFFFCC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679" name="Text Box 33"/>
              <p:cNvSpPr txBox="1"/>
              <p:nvPr/>
            </p:nvSpPr>
            <p:spPr>
              <a:xfrm>
                <a:off x="3408" y="3552"/>
                <a:ext cx="480" cy="25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t" anchorCtr="0">
                <a:spAutoFit/>
              </a:bodyPr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1800" dirty="0">
                    <a:solidFill>
                      <a:srgbClr val="003300"/>
                    </a:solidFill>
                    <a:latin typeface="Tahoma" panose="020B0604030504040204" pitchFamily="34" charset="0"/>
                  </a:rPr>
                  <a:t>D0</a:t>
                </a:r>
                <a:endParaRPr lang="en-US" altLang="zh-CN" sz="1800" dirty="0">
                  <a:solidFill>
                    <a:srgbClr val="003300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8680" name="Text Box 37"/>
              <p:cNvSpPr txBox="1"/>
              <p:nvPr/>
            </p:nvSpPr>
            <p:spPr>
              <a:xfrm>
                <a:off x="2256" y="2160"/>
                <a:ext cx="720" cy="255"/>
              </a:xfrm>
              <a:prstGeom prst="rect">
                <a:avLst/>
              </a:prstGeom>
              <a:noFill/>
              <a:ln w="12700" cap="sq" cmpd="sng">
                <a:solidFill>
                  <a:schemeClr val="tx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anchor="t" anchorCtr="0">
                <a:spAutoFit/>
              </a:bodyPr>
              <a:p>
                <a:pPr algn="ctr" eaLnBrk="0" hangingPunct="0">
                  <a:spcBef>
                    <a:spcPct val="50000"/>
                  </a:spcBef>
                </a:pPr>
                <a:r>
                  <a:rPr lang="zh-CN" altLang="zh-CN" sz="1800" dirty="0">
                    <a:solidFill>
                      <a:srgbClr val="003300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2164</a:t>
                </a:r>
                <a:endParaRPr lang="zh-CN" altLang="zh-CN" sz="1800" dirty="0">
                  <a:solidFill>
                    <a:srgbClr val="0033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681" name="Text Box 39"/>
              <p:cNvSpPr txBox="1"/>
              <p:nvPr/>
            </p:nvSpPr>
            <p:spPr>
              <a:xfrm>
                <a:off x="2256" y="2448"/>
                <a:ext cx="720" cy="255"/>
              </a:xfrm>
              <a:prstGeom prst="rect">
                <a:avLst/>
              </a:prstGeom>
              <a:noFill/>
              <a:ln w="12700" cap="sq" cmpd="sng">
                <a:solidFill>
                  <a:schemeClr val="tx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anchor="t" anchorCtr="0">
                <a:spAutoFit/>
              </a:bodyPr>
              <a:p>
                <a:pPr algn="ctr" eaLnBrk="0" hangingPunct="0">
                  <a:spcBef>
                    <a:spcPct val="50000"/>
                  </a:spcBef>
                </a:pPr>
                <a:r>
                  <a:rPr lang="zh-CN" altLang="zh-CN" sz="1800" dirty="0">
                    <a:solidFill>
                      <a:srgbClr val="003300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2164</a:t>
                </a:r>
                <a:endParaRPr lang="zh-CN" altLang="zh-CN" sz="1800" dirty="0">
                  <a:solidFill>
                    <a:srgbClr val="0033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682" name="Text Box 40"/>
              <p:cNvSpPr txBox="1"/>
              <p:nvPr/>
            </p:nvSpPr>
            <p:spPr>
              <a:xfrm>
                <a:off x="2256" y="2736"/>
                <a:ext cx="720" cy="255"/>
              </a:xfrm>
              <a:prstGeom prst="rect">
                <a:avLst/>
              </a:prstGeom>
              <a:noFill/>
              <a:ln w="12700" cap="sq" cmpd="sng">
                <a:solidFill>
                  <a:schemeClr val="tx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anchor="t" anchorCtr="0">
                <a:spAutoFit/>
              </a:bodyPr>
              <a:p>
                <a:pPr algn="ctr" eaLnBrk="0" hangingPunct="0">
                  <a:spcBef>
                    <a:spcPct val="50000"/>
                  </a:spcBef>
                </a:pPr>
                <a:r>
                  <a:rPr lang="zh-CN" altLang="zh-CN" sz="1800" dirty="0">
                    <a:solidFill>
                      <a:srgbClr val="003300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2164</a:t>
                </a:r>
                <a:endParaRPr lang="zh-CN" altLang="zh-CN" sz="1800" dirty="0">
                  <a:solidFill>
                    <a:srgbClr val="0033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683" name="Text Box 41"/>
              <p:cNvSpPr txBox="1"/>
              <p:nvPr/>
            </p:nvSpPr>
            <p:spPr>
              <a:xfrm>
                <a:off x="2256" y="3024"/>
                <a:ext cx="720" cy="255"/>
              </a:xfrm>
              <a:prstGeom prst="rect">
                <a:avLst/>
              </a:prstGeom>
              <a:noFill/>
              <a:ln w="12700" cap="sq" cmpd="sng">
                <a:solidFill>
                  <a:schemeClr val="tx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anchor="t" anchorCtr="0">
                <a:spAutoFit/>
              </a:bodyPr>
              <a:p>
                <a:pPr algn="ctr" eaLnBrk="0" hangingPunct="0">
                  <a:spcBef>
                    <a:spcPct val="50000"/>
                  </a:spcBef>
                </a:pPr>
                <a:r>
                  <a:rPr lang="zh-CN" altLang="zh-CN" sz="1800" dirty="0">
                    <a:solidFill>
                      <a:srgbClr val="003300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2164</a:t>
                </a:r>
                <a:endParaRPr lang="zh-CN" altLang="zh-CN" sz="1800" dirty="0">
                  <a:solidFill>
                    <a:srgbClr val="0033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684" name="Text Box 42"/>
              <p:cNvSpPr txBox="1"/>
              <p:nvPr/>
            </p:nvSpPr>
            <p:spPr>
              <a:xfrm>
                <a:off x="2256" y="3312"/>
                <a:ext cx="720" cy="255"/>
              </a:xfrm>
              <a:prstGeom prst="rect">
                <a:avLst/>
              </a:prstGeom>
              <a:noFill/>
              <a:ln w="12700" cap="sq" cmpd="sng">
                <a:solidFill>
                  <a:schemeClr val="tx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anchor="t" anchorCtr="0">
                <a:spAutoFit/>
              </a:bodyPr>
              <a:p>
                <a:pPr algn="ctr" eaLnBrk="0" hangingPunct="0">
                  <a:spcBef>
                    <a:spcPct val="50000"/>
                  </a:spcBef>
                </a:pPr>
                <a:r>
                  <a:rPr lang="zh-CN" altLang="zh-CN" sz="1800" dirty="0">
                    <a:solidFill>
                      <a:srgbClr val="003300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2164</a:t>
                </a:r>
                <a:endParaRPr lang="zh-CN" altLang="zh-CN" sz="1800" dirty="0">
                  <a:solidFill>
                    <a:srgbClr val="0033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685" name="Text Box 43"/>
              <p:cNvSpPr txBox="1"/>
              <p:nvPr/>
            </p:nvSpPr>
            <p:spPr>
              <a:xfrm>
                <a:off x="2256" y="3600"/>
                <a:ext cx="720" cy="255"/>
              </a:xfrm>
              <a:prstGeom prst="rect">
                <a:avLst/>
              </a:prstGeom>
              <a:noFill/>
              <a:ln w="12700" cap="sq" cmpd="sng">
                <a:solidFill>
                  <a:schemeClr val="tx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anchor="t" anchorCtr="0">
                <a:spAutoFit/>
              </a:bodyPr>
              <a:p>
                <a:pPr algn="ctr" eaLnBrk="0" hangingPunct="0">
                  <a:spcBef>
                    <a:spcPct val="50000"/>
                  </a:spcBef>
                </a:pPr>
                <a:r>
                  <a:rPr lang="zh-CN" altLang="zh-CN" sz="1800" dirty="0">
                    <a:solidFill>
                      <a:srgbClr val="003300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2164</a:t>
                </a:r>
                <a:endParaRPr lang="zh-CN" altLang="zh-CN" sz="1800" dirty="0">
                  <a:solidFill>
                    <a:srgbClr val="0033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686" name="Line 45"/>
              <p:cNvSpPr/>
              <p:nvPr/>
            </p:nvSpPr>
            <p:spPr>
              <a:xfrm>
                <a:off x="2976" y="2256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28687" name="Line 46"/>
              <p:cNvSpPr/>
              <p:nvPr/>
            </p:nvSpPr>
            <p:spPr>
              <a:xfrm>
                <a:off x="2976" y="2592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28688" name="Line 47"/>
              <p:cNvSpPr/>
              <p:nvPr/>
            </p:nvSpPr>
            <p:spPr>
              <a:xfrm>
                <a:off x="2976" y="3168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28689" name="Line 48"/>
              <p:cNvSpPr/>
              <p:nvPr/>
            </p:nvSpPr>
            <p:spPr>
              <a:xfrm>
                <a:off x="2976" y="2880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28690" name="Line 49"/>
              <p:cNvSpPr/>
              <p:nvPr/>
            </p:nvSpPr>
            <p:spPr>
              <a:xfrm>
                <a:off x="2976" y="3456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28691" name="Line 50"/>
              <p:cNvSpPr/>
              <p:nvPr/>
            </p:nvSpPr>
            <p:spPr>
              <a:xfrm>
                <a:off x="2976" y="3744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28692" name="Line 54"/>
              <p:cNvSpPr/>
              <p:nvPr/>
            </p:nvSpPr>
            <p:spPr>
              <a:xfrm>
                <a:off x="1536" y="1728"/>
                <a:ext cx="0" cy="206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8693" name="Rectangle 77"/>
              <p:cNvSpPr/>
              <p:nvPr/>
            </p:nvSpPr>
            <p:spPr>
              <a:xfrm>
                <a:off x="3408" y="2160"/>
                <a:ext cx="357" cy="2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p>
                <a:r>
                  <a:rPr lang="en-US" altLang="zh-CN" sz="1800" dirty="0">
                    <a:solidFill>
                      <a:srgbClr val="003300"/>
                    </a:solidFill>
                    <a:latin typeface="Tahoma" panose="020B0604030504040204" pitchFamily="34" charset="0"/>
                  </a:rPr>
                  <a:t>D5</a:t>
                </a:r>
                <a:endParaRPr lang="en-US" altLang="zh-CN" sz="1800" dirty="0">
                  <a:solidFill>
                    <a:srgbClr val="003300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8694" name="Rectangle 78"/>
              <p:cNvSpPr/>
              <p:nvPr/>
            </p:nvSpPr>
            <p:spPr>
              <a:xfrm>
                <a:off x="3408" y="2448"/>
                <a:ext cx="417" cy="2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p>
                <a:r>
                  <a:rPr lang="en-US" altLang="zh-CN" sz="1800" dirty="0">
                    <a:solidFill>
                      <a:srgbClr val="003300"/>
                    </a:solidFill>
                    <a:latin typeface="Tahoma" panose="020B0604030504040204" pitchFamily="34" charset="0"/>
                  </a:rPr>
                  <a:t>D4</a:t>
                </a:r>
                <a:endParaRPr lang="en-US" altLang="zh-CN" sz="1800" dirty="0">
                  <a:solidFill>
                    <a:srgbClr val="003300"/>
                  </a:solidFill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28695" name="Line 55"/>
            <p:cNvSpPr/>
            <p:nvPr/>
          </p:nvSpPr>
          <p:spPr>
            <a:xfrm>
              <a:off x="1536" y="3792"/>
              <a:ext cx="72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8696" name="Line 56"/>
            <p:cNvSpPr/>
            <p:nvPr/>
          </p:nvSpPr>
          <p:spPr>
            <a:xfrm>
              <a:off x="1536" y="2592"/>
              <a:ext cx="72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8697" name="Line 57"/>
            <p:cNvSpPr/>
            <p:nvPr/>
          </p:nvSpPr>
          <p:spPr>
            <a:xfrm>
              <a:off x="1536" y="2928"/>
              <a:ext cx="72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8698" name="Line 58"/>
            <p:cNvSpPr/>
            <p:nvPr/>
          </p:nvSpPr>
          <p:spPr>
            <a:xfrm>
              <a:off x="1536" y="3216"/>
              <a:ext cx="72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8699" name="Line 59"/>
            <p:cNvSpPr/>
            <p:nvPr/>
          </p:nvSpPr>
          <p:spPr>
            <a:xfrm>
              <a:off x="1536" y="2352"/>
              <a:ext cx="72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8700" name="Line 61"/>
            <p:cNvSpPr/>
            <p:nvPr/>
          </p:nvSpPr>
          <p:spPr>
            <a:xfrm>
              <a:off x="1536" y="3456"/>
              <a:ext cx="72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8701" name="Text Box 36"/>
            <p:cNvSpPr txBox="1"/>
            <p:nvPr/>
          </p:nvSpPr>
          <p:spPr>
            <a:xfrm>
              <a:off x="2256" y="1872"/>
              <a:ext cx="720" cy="255"/>
            </a:xfrm>
            <a:prstGeom prst="rect">
              <a:avLst/>
            </a:prstGeom>
            <a:noFill/>
            <a:ln w="12700" cap="sq" cmpd="sng">
              <a:solidFill>
                <a:schemeClr val="tx2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zh-CN" altLang="zh-CN" sz="1800" dirty="0">
                  <a:solidFill>
                    <a:srgbClr val="0033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2164</a:t>
              </a:r>
              <a:endParaRPr lang="zh-CN" altLang="zh-CN" sz="1800" dirty="0">
                <a:solidFill>
                  <a:srgbClr val="0033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702" name="Line 51"/>
            <p:cNvSpPr/>
            <p:nvPr/>
          </p:nvSpPr>
          <p:spPr>
            <a:xfrm>
              <a:off x="2976" y="2016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8703" name="Line 60"/>
            <p:cNvSpPr/>
            <p:nvPr/>
          </p:nvSpPr>
          <p:spPr>
            <a:xfrm>
              <a:off x="1536" y="2064"/>
              <a:ext cx="72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8704" name="Rectangle 76"/>
            <p:cNvSpPr/>
            <p:nvPr/>
          </p:nvSpPr>
          <p:spPr>
            <a:xfrm>
              <a:off x="3408" y="1872"/>
              <a:ext cx="417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en-US" altLang="zh-CN" sz="1800" dirty="0">
                  <a:solidFill>
                    <a:srgbClr val="003300"/>
                  </a:solidFill>
                  <a:latin typeface="Tahoma" panose="020B0604030504040204" pitchFamily="34" charset="0"/>
                </a:rPr>
                <a:t>D6</a:t>
              </a:r>
              <a:endParaRPr lang="en-US" altLang="zh-CN" sz="1800" dirty="0">
                <a:solidFill>
                  <a:srgbClr val="0033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8705" name="Text Box 25"/>
            <p:cNvSpPr txBox="1"/>
            <p:nvPr/>
          </p:nvSpPr>
          <p:spPr>
            <a:xfrm>
              <a:off x="2256" y="1584"/>
              <a:ext cx="720" cy="255"/>
            </a:xfrm>
            <a:prstGeom prst="rect">
              <a:avLst/>
            </a:prstGeom>
            <a:noFill/>
            <a:ln w="12700" cap="sq" cmpd="sng">
              <a:solidFill>
                <a:schemeClr val="tx2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zh-CN" altLang="zh-CN" sz="1800" dirty="0">
                  <a:solidFill>
                    <a:srgbClr val="0033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2164</a:t>
              </a:r>
              <a:endParaRPr lang="zh-CN" altLang="zh-CN" sz="1800" dirty="0">
                <a:solidFill>
                  <a:srgbClr val="0033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706" name="Line 44"/>
            <p:cNvSpPr/>
            <p:nvPr/>
          </p:nvSpPr>
          <p:spPr>
            <a:xfrm>
              <a:off x="2976" y="1728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8707" name="Line 53"/>
            <p:cNvSpPr/>
            <p:nvPr/>
          </p:nvSpPr>
          <p:spPr>
            <a:xfrm>
              <a:off x="1104" y="1728"/>
              <a:ext cx="115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8708" name="Text Box 73"/>
            <p:cNvSpPr txBox="1"/>
            <p:nvPr/>
          </p:nvSpPr>
          <p:spPr>
            <a:xfrm>
              <a:off x="839" y="1440"/>
              <a:ext cx="793" cy="255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1800" dirty="0">
                  <a:solidFill>
                    <a:srgbClr val="003300"/>
                  </a:solidFill>
                  <a:latin typeface="Tahoma" panose="020B0604030504040204" pitchFamily="34" charset="0"/>
                </a:rPr>
                <a:t>A0~A15</a:t>
              </a:r>
              <a:endParaRPr lang="en-US" altLang="zh-CN" sz="1800" dirty="0">
                <a:solidFill>
                  <a:srgbClr val="0033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8709" name="Rectangle 75"/>
            <p:cNvSpPr/>
            <p:nvPr/>
          </p:nvSpPr>
          <p:spPr>
            <a:xfrm>
              <a:off x="3408" y="1584"/>
              <a:ext cx="357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en-US" altLang="zh-CN" sz="1800" dirty="0">
                  <a:solidFill>
                    <a:srgbClr val="003300"/>
                  </a:solidFill>
                  <a:latin typeface="Tahoma" panose="020B0604030504040204" pitchFamily="34" charset="0"/>
                </a:rPr>
                <a:t>D7</a:t>
              </a:r>
              <a:endParaRPr lang="en-US" altLang="zh-CN" sz="1800" dirty="0">
                <a:solidFill>
                  <a:srgbClr val="0033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4" name="Group 43"/>
          <p:cNvGrpSpPr/>
          <p:nvPr/>
        </p:nvGrpSpPr>
        <p:grpSpPr>
          <a:xfrm>
            <a:off x="4975225" y="2698750"/>
            <a:ext cx="4037013" cy="3886200"/>
            <a:chOff x="839" y="1440"/>
            <a:chExt cx="3049" cy="2688"/>
          </a:xfrm>
        </p:grpSpPr>
        <p:grpSp>
          <p:nvGrpSpPr>
            <p:cNvPr id="28711" name="Group 82"/>
            <p:cNvGrpSpPr/>
            <p:nvPr/>
          </p:nvGrpSpPr>
          <p:grpSpPr>
            <a:xfrm>
              <a:off x="1536" y="1440"/>
              <a:ext cx="2352" cy="2688"/>
              <a:chOff x="1536" y="1440"/>
              <a:chExt cx="2352" cy="2688"/>
            </a:xfrm>
          </p:grpSpPr>
          <p:sp>
            <p:nvSpPr>
              <p:cNvPr id="28712" name="Rectangle 52"/>
              <p:cNvSpPr/>
              <p:nvPr/>
            </p:nvSpPr>
            <p:spPr>
              <a:xfrm>
                <a:off x="1872" y="1440"/>
                <a:ext cx="1296" cy="2688"/>
              </a:xfrm>
              <a:prstGeom prst="rect">
                <a:avLst/>
              </a:prstGeom>
              <a:solidFill>
                <a:srgbClr val="FFFFCC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13" name="Text Box 33"/>
              <p:cNvSpPr txBox="1"/>
              <p:nvPr/>
            </p:nvSpPr>
            <p:spPr>
              <a:xfrm>
                <a:off x="3408" y="3552"/>
                <a:ext cx="480" cy="25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t" anchorCtr="0">
                <a:spAutoFit/>
              </a:bodyPr>
              <a:p>
                <a:pPr eaLnBrk="0" hangingPunct="0">
                  <a:spcBef>
                    <a:spcPct val="50000"/>
                  </a:spcBef>
                </a:pPr>
                <a:r>
                  <a:rPr lang="en-US" altLang="zh-CN" sz="1800" dirty="0">
                    <a:solidFill>
                      <a:srgbClr val="003300"/>
                    </a:solidFill>
                    <a:latin typeface="Tahoma" panose="020B0604030504040204" pitchFamily="34" charset="0"/>
                  </a:rPr>
                  <a:t>D0</a:t>
                </a:r>
                <a:endParaRPr lang="en-US" altLang="zh-CN" sz="1800" dirty="0">
                  <a:solidFill>
                    <a:srgbClr val="003300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8714" name="Text Box 37"/>
              <p:cNvSpPr txBox="1"/>
              <p:nvPr/>
            </p:nvSpPr>
            <p:spPr>
              <a:xfrm>
                <a:off x="2256" y="2160"/>
                <a:ext cx="720" cy="255"/>
              </a:xfrm>
              <a:prstGeom prst="rect">
                <a:avLst/>
              </a:prstGeom>
              <a:noFill/>
              <a:ln w="12700" cap="sq" cmpd="sng">
                <a:solidFill>
                  <a:schemeClr val="tx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anchor="t" anchorCtr="0">
                <a:spAutoFit/>
              </a:bodyPr>
              <a:p>
                <a:pPr algn="ctr" eaLnBrk="0" hangingPunct="0">
                  <a:spcBef>
                    <a:spcPct val="50000"/>
                  </a:spcBef>
                </a:pPr>
                <a:r>
                  <a:rPr lang="zh-CN" altLang="zh-CN" sz="1800" dirty="0">
                    <a:solidFill>
                      <a:srgbClr val="003300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2164</a:t>
                </a:r>
                <a:endParaRPr lang="zh-CN" altLang="zh-CN" sz="1800" dirty="0">
                  <a:solidFill>
                    <a:srgbClr val="0033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15" name="Text Box 39"/>
              <p:cNvSpPr txBox="1"/>
              <p:nvPr/>
            </p:nvSpPr>
            <p:spPr>
              <a:xfrm>
                <a:off x="2256" y="2448"/>
                <a:ext cx="720" cy="255"/>
              </a:xfrm>
              <a:prstGeom prst="rect">
                <a:avLst/>
              </a:prstGeom>
              <a:noFill/>
              <a:ln w="12700" cap="sq" cmpd="sng">
                <a:solidFill>
                  <a:schemeClr val="tx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anchor="t" anchorCtr="0">
                <a:spAutoFit/>
              </a:bodyPr>
              <a:p>
                <a:pPr algn="ctr" eaLnBrk="0" hangingPunct="0">
                  <a:spcBef>
                    <a:spcPct val="50000"/>
                  </a:spcBef>
                </a:pPr>
                <a:r>
                  <a:rPr lang="zh-CN" altLang="zh-CN" sz="1800" dirty="0">
                    <a:solidFill>
                      <a:srgbClr val="003300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2164</a:t>
                </a:r>
                <a:endParaRPr lang="zh-CN" altLang="zh-CN" sz="1800" dirty="0">
                  <a:solidFill>
                    <a:srgbClr val="0033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16" name="Text Box 40"/>
              <p:cNvSpPr txBox="1"/>
              <p:nvPr/>
            </p:nvSpPr>
            <p:spPr>
              <a:xfrm>
                <a:off x="2256" y="2736"/>
                <a:ext cx="720" cy="255"/>
              </a:xfrm>
              <a:prstGeom prst="rect">
                <a:avLst/>
              </a:prstGeom>
              <a:noFill/>
              <a:ln w="12700" cap="sq" cmpd="sng">
                <a:solidFill>
                  <a:schemeClr val="tx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anchor="t" anchorCtr="0">
                <a:spAutoFit/>
              </a:bodyPr>
              <a:p>
                <a:pPr algn="ctr" eaLnBrk="0" hangingPunct="0">
                  <a:spcBef>
                    <a:spcPct val="50000"/>
                  </a:spcBef>
                </a:pPr>
                <a:r>
                  <a:rPr lang="zh-CN" altLang="zh-CN" sz="1800" dirty="0">
                    <a:solidFill>
                      <a:srgbClr val="003300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2164</a:t>
                </a:r>
                <a:endParaRPr lang="zh-CN" altLang="zh-CN" sz="1800" dirty="0">
                  <a:solidFill>
                    <a:srgbClr val="0033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17" name="Text Box 41"/>
              <p:cNvSpPr txBox="1"/>
              <p:nvPr/>
            </p:nvSpPr>
            <p:spPr>
              <a:xfrm>
                <a:off x="2256" y="3024"/>
                <a:ext cx="720" cy="255"/>
              </a:xfrm>
              <a:prstGeom prst="rect">
                <a:avLst/>
              </a:prstGeom>
              <a:noFill/>
              <a:ln w="12700" cap="sq" cmpd="sng">
                <a:solidFill>
                  <a:schemeClr val="tx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anchor="t" anchorCtr="0">
                <a:spAutoFit/>
              </a:bodyPr>
              <a:p>
                <a:pPr algn="ctr" eaLnBrk="0" hangingPunct="0">
                  <a:spcBef>
                    <a:spcPct val="50000"/>
                  </a:spcBef>
                </a:pPr>
                <a:r>
                  <a:rPr lang="zh-CN" altLang="zh-CN" sz="1800" dirty="0">
                    <a:solidFill>
                      <a:srgbClr val="003300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2164</a:t>
                </a:r>
                <a:endParaRPr lang="zh-CN" altLang="zh-CN" sz="1800" dirty="0">
                  <a:solidFill>
                    <a:srgbClr val="0033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18" name="Text Box 42"/>
              <p:cNvSpPr txBox="1"/>
              <p:nvPr/>
            </p:nvSpPr>
            <p:spPr>
              <a:xfrm>
                <a:off x="2256" y="3312"/>
                <a:ext cx="720" cy="255"/>
              </a:xfrm>
              <a:prstGeom prst="rect">
                <a:avLst/>
              </a:prstGeom>
              <a:noFill/>
              <a:ln w="12700" cap="sq" cmpd="sng">
                <a:solidFill>
                  <a:schemeClr val="tx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anchor="t" anchorCtr="0">
                <a:spAutoFit/>
              </a:bodyPr>
              <a:p>
                <a:pPr algn="ctr" eaLnBrk="0" hangingPunct="0">
                  <a:spcBef>
                    <a:spcPct val="50000"/>
                  </a:spcBef>
                </a:pPr>
                <a:r>
                  <a:rPr lang="zh-CN" altLang="zh-CN" sz="1800" dirty="0">
                    <a:solidFill>
                      <a:srgbClr val="003300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2164</a:t>
                </a:r>
                <a:endParaRPr lang="zh-CN" altLang="zh-CN" sz="1800" dirty="0">
                  <a:solidFill>
                    <a:srgbClr val="0033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19" name="Text Box 43"/>
              <p:cNvSpPr txBox="1"/>
              <p:nvPr/>
            </p:nvSpPr>
            <p:spPr>
              <a:xfrm>
                <a:off x="2256" y="3600"/>
                <a:ext cx="720" cy="255"/>
              </a:xfrm>
              <a:prstGeom prst="rect">
                <a:avLst/>
              </a:prstGeom>
              <a:noFill/>
              <a:ln w="12700" cap="sq" cmpd="sng">
                <a:solidFill>
                  <a:schemeClr val="tx2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anchor="t" anchorCtr="0">
                <a:spAutoFit/>
              </a:bodyPr>
              <a:p>
                <a:pPr algn="ctr" eaLnBrk="0" hangingPunct="0">
                  <a:spcBef>
                    <a:spcPct val="50000"/>
                  </a:spcBef>
                </a:pPr>
                <a:r>
                  <a:rPr lang="zh-CN" altLang="zh-CN" sz="1800" dirty="0">
                    <a:solidFill>
                      <a:srgbClr val="003300"/>
                    </a:solidFill>
                    <a:latin typeface="Tahoma" panose="020B0604030504040204" pitchFamily="34" charset="0"/>
                    <a:ea typeface="宋体" panose="02010600030101010101" pitchFamily="2" charset="-122"/>
                  </a:rPr>
                  <a:t>2164</a:t>
                </a:r>
                <a:endParaRPr lang="zh-CN" altLang="zh-CN" sz="1800" dirty="0">
                  <a:solidFill>
                    <a:srgbClr val="0033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20" name="Line 45"/>
              <p:cNvSpPr/>
              <p:nvPr/>
            </p:nvSpPr>
            <p:spPr>
              <a:xfrm>
                <a:off x="2976" y="2256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28721" name="Line 46"/>
              <p:cNvSpPr/>
              <p:nvPr/>
            </p:nvSpPr>
            <p:spPr>
              <a:xfrm>
                <a:off x="2976" y="2592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28722" name="Line 47"/>
              <p:cNvSpPr/>
              <p:nvPr/>
            </p:nvSpPr>
            <p:spPr>
              <a:xfrm>
                <a:off x="2976" y="3168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28723" name="Line 48"/>
              <p:cNvSpPr/>
              <p:nvPr/>
            </p:nvSpPr>
            <p:spPr>
              <a:xfrm>
                <a:off x="2976" y="2880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28724" name="Line 49"/>
              <p:cNvSpPr/>
              <p:nvPr/>
            </p:nvSpPr>
            <p:spPr>
              <a:xfrm>
                <a:off x="2976" y="3456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28725" name="Line 50"/>
              <p:cNvSpPr/>
              <p:nvPr/>
            </p:nvSpPr>
            <p:spPr>
              <a:xfrm>
                <a:off x="2976" y="3744"/>
                <a:ext cx="3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28726" name="Line 54"/>
              <p:cNvSpPr/>
              <p:nvPr/>
            </p:nvSpPr>
            <p:spPr>
              <a:xfrm>
                <a:off x="1536" y="1728"/>
                <a:ext cx="0" cy="206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8727" name="Rectangle 77"/>
              <p:cNvSpPr/>
              <p:nvPr/>
            </p:nvSpPr>
            <p:spPr>
              <a:xfrm>
                <a:off x="3408" y="2160"/>
                <a:ext cx="357" cy="2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p>
                <a:r>
                  <a:rPr lang="en-US" altLang="zh-CN" sz="1800" dirty="0">
                    <a:solidFill>
                      <a:srgbClr val="003300"/>
                    </a:solidFill>
                    <a:latin typeface="Tahoma" panose="020B0604030504040204" pitchFamily="34" charset="0"/>
                  </a:rPr>
                  <a:t>D5</a:t>
                </a:r>
                <a:endParaRPr lang="en-US" altLang="zh-CN" sz="1800" dirty="0">
                  <a:solidFill>
                    <a:srgbClr val="003300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8728" name="Rectangle 78"/>
              <p:cNvSpPr/>
              <p:nvPr/>
            </p:nvSpPr>
            <p:spPr>
              <a:xfrm>
                <a:off x="3408" y="2448"/>
                <a:ext cx="417" cy="2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p>
                <a:r>
                  <a:rPr lang="en-US" altLang="zh-CN" sz="1800" dirty="0">
                    <a:solidFill>
                      <a:srgbClr val="003300"/>
                    </a:solidFill>
                    <a:latin typeface="Tahoma" panose="020B0604030504040204" pitchFamily="34" charset="0"/>
                  </a:rPr>
                  <a:t>D4</a:t>
                </a:r>
                <a:endParaRPr lang="en-US" altLang="zh-CN" sz="1800" dirty="0">
                  <a:solidFill>
                    <a:srgbClr val="003300"/>
                  </a:solidFill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28729" name="Line 55"/>
            <p:cNvSpPr/>
            <p:nvPr/>
          </p:nvSpPr>
          <p:spPr>
            <a:xfrm>
              <a:off x="1536" y="3792"/>
              <a:ext cx="72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8730" name="Line 56"/>
            <p:cNvSpPr/>
            <p:nvPr/>
          </p:nvSpPr>
          <p:spPr>
            <a:xfrm>
              <a:off x="1536" y="2592"/>
              <a:ext cx="72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8731" name="Line 57"/>
            <p:cNvSpPr/>
            <p:nvPr/>
          </p:nvSpPr>
          <p:spPr>
            <a:xfrm>
              <a:off x="1536" y="2928"/>
              <a:ext cx="72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8732" name="Line 58"/>
            <p:cNvSpPr/>
            <p:nvPr/>
          </p:nvSpPr>
          <p:spPr>
            <a:xfrm>
              <a:off x="1536" y="3216"/>
              <a:ext cx="72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8733" name="Line 59"/>
            <p:cNvSpPr/>
            <p:nvPr/>
          </p:nvSpPr>
          <p:spPr>
            <a:xfrm>
              <a:off x="1536" y="2352"/>
              <a:ext cx="72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8734" name="Line 61"/>
            <p:cNvSpPr/>
            <p:nvPr/>
          </p:nvSpPr>
          <p:spPr>
            <a:xfrm>
              <a:off x="1536" y="3456"/>
              <a:ext cx="72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8735" name="Text Box 36"/>
            <p:cNvSpPr txBox="1"/>
            <p:nvPr/>
          </p:nvSpPr>
          <p:spPr>
            <a:xfrm>
              <a:off x="2256" y="1872"/>
              <a:ext cx="720" cy="255"/>
            </a:xfrm>
            <a:prstGeom prst="rect">
              <a:avLst/>
            </a:prstGeom>
            <a:noFill/>
            <a:ln w="12700" cap="sq" cmpd="sng">
              <a:solidFill>
                <a:schemeClr val="tx2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zh-CN" altLang="zh-CN" sz="1800" dirty="0">
                  <a:solidFill>
                    <a:srgbClr val="0033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2164</a:t>
              </a:r>
              <a:endParaRPr lang="zh-CN" altLang="zh-CN" sz="1800" dirty="0">
                <a:solidFill>
                  <a:srgbClr val="0033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736" name="Line 51"/>
            <p:cNvSpPr/>
            <p:nvPr/>
          </p:nvSpPr>
          <p:spPr>
            <a:xfrm>
              <a:off x="2976" y="2016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8737" name="Line 60"/>
            <p:cNvSpPr/>
            <p:nvPr/>
          </p:nvSpPr>
          <p:spPr>
            <a:xfrm>
              <a:off x="1536" y="2064"/>
              <a:ext cx="72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8738" name="Rectangle 76"/>
            <p:cNvSpPr/>
            <p:nvPr/>
          </p:nvSpPr>
          <p:spPr>
            <a:xfrm>
              <a:off x="3408" y="1872"/>
              <a:ext cx="417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en-US" altLang="zh-CN" sz="1800" dirty="0">
                  <a:solidFill>
                    <a:srgbClr val="003300"/>
                  </a:solidFill>
                  <a:latin typeface="Tahoma" panose="020B0604030504040204" pitchFamily="34" charset="0"/>
                </a:rPr>
                <a:t>D6</a:t>
              </a:r>
              <a:endParaRPr lang="en-US" altLang="zh-CN" sz="1800" dirty="0">
                <a:solidFill>
                  <a:srgbClr val="0033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8739" name="Text Box 25"/>
            <p:cNvSpPr txBox="1"/>
            <p:nvPr/>
          </p:nvSpPr>
          <p:spPr>
            <a:xfrm>
              <a:off x="2256" y="1584"/>
              <a:ext cx="720" cy="255"/>
            </a:xfrm>
            <a:prstGeom prst="rect">
              <a:avLst/>
            </a:prstGeom>
            <a:noFill/>
            <a:ln w="12700" cap="sq" cmpd="sng">
              <a:solidFill>
                <a:schemeClr val="tx2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anchor="t" anchorCtr="0">
              <a:spAutoFit/>
            </a:bodyPr>
            <a:p>
              <a:pPr algn="ctr" eaLnBrk="0" hangingPunct="0">
                <a:spcBef>
                  <a:spcPct val="50000"/>
                </a:spcBef>
              </a:pPr>
              <a:r>
                <a:rPr lang="zh-CN" altLang="zh-CN" sz="1800" dirty="0">
                  <a:solidFill>
                    <a:srgbClr val="0033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2164</a:t>
              </a:r>
              <a:endParaRPr lang="zh-CN" altLang="zh-CN" sz="1800" dirty="0">
                <a:solidFill>
                  <a:srgbClr val="0033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740" name="Line 44"/>
            <p:cNvSpPr/>
            <p:nvPr/>
          </p:nvSpPr>
          <p:spPr>
            <a:xfrm>
              <a:off x="2976" y="1728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8741" name="Line 53"/>
            <p:cNvSpPr/>
            <p:nvPr/>
          </p:nvSpPr>
          <p:spPr>
            <a:xfrm>
              <a:off x="1104" y="1728"/>
              <a:ext cx="115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8742" name="Text Box 73"/>
            <p:cNvSpPr txBox="1"/>
            <p:nvPr/>
          </p:nvSpPr>
          <p:spPr>
            <a:xfrm>
              <a:off x="839" y="1440"/>
              <a:ext cx="793" cy="255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sz="1800" dirty="0">
                  <a:solidFill>
                    <a:srgbClr val="003300"/>
                  </a:solidFill>
                  <a:latin typeface="Tahoma" panose="020B0604030504040204" pitchFamily="34" charset="0"/>
                </a:rPr>
                <a:t>A0~A15</a:t>
              </a:r>
              <a:endParaRPr lang="en-US" altLang="zh-CN" sz="1800" dirty="0">
                <a:solidFill>
                  <a:srgbClr val="0033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8743" name="Rectangle 75"/>
            <p:cNvSpPr/>
            <p:nvPr/>
          </p:nvSpPr>
          <p:spPr>
            <a:xfrm>
              <a:off x="3408" y="1584"/>
              <a:ext cx="357" cy="2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en-US" altLang="zh-CN" sz="1800" dirty="0">
                  <a:solidFill>
                    <a:srgbClr val="003300"/>
                  </a:solidFill>
                  <a:latin typeface="Tahoma" panose="020B0604030504040204" pitchFamily="34" charset="0"/>
                </a:rPr>
                <a:t>D7</a:t>
              </a:r>
              <a:endParaRPr lang="en-US" altLang="zh-CN" sz="1800" dirty="0">
                <a:solidFill>
                  <a:srgbClr val="003300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28744" name="文本框 37"/>
          <p:cNvSpPr txBox="1"/>
          <p:nvPr/>
        </p:nvSpPr>
        <p:spPr>
          <a:xfrm>
            <a:off x="753745" y="6165533"/>
            <a:ext cx="874713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dirty="0">
                <a:solidFill>
                  <a:srgbClr val="0000FF"/>
                </a:solidFill>
                <a:latin typeface="Tahoma" panose="020B0604030504040204" pitchFamily="34" charset="0"/>
                <a:sym typeface="宋体" panose="02010600030101010101" pitchFamily="2" charset="-122"/>
              </a:rPr>
              <a:t>64KB</a:t>
            </a:r>
            <a:endParaRPr lang="en-US" altLang="zh-CN" dirty="0">
              <a:solidFill>
                <a:srgbClr val="0000FF"/>
              </a:solidFill>
              <a:latin typeface="Tahoma" panose="020B0604030504040204" pitchFamily="34" charset="0"/>
              <a:sym typeface="宋体" panose="02010600030101010101" pitchFamily="2" charset="-122"/>
            </a:endParaRPr>
          </a:p>
        </p:txBody>
      </p:sp>
      <p:sp>
        <p:nvSpPr>
          <p:cNvPr id="28745" name="文本框 38"/>
          <p:cNvSpPr txBox="1"/>
          <p:nvPr/>
        </p:nvSpPr>
        <p:spPr>
          <a:xfrm>
            <a:off x="5223193" y="6111240"/>
            <a:ext cx="874712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dirty="0">
                <a:solidFill>
                  <a:srgbClr val="0000FF"/>
                </a:solidFill>
                <a:latin typeface="Tahoma" panose="020B0604030504040204" pitchFamily="34" charset="0"/>
                <a:sym typeface="宋体" panose="02010600030101010101" pitchFamily="2" charset="-122"/>
              </a:rPr>
              <a:t>64KB</a:t>
            </a:r>
            <a:endParaRPr lang="en-US" altLang="zh-CN" dirty="0">
              <a:solidFill>
                <a:srgbClr val="0000FF"/>
              </a:solidFill>
              <a:latin typeface="Tahoma" panose="020B0604030504040204" pitchFamily="34" charset="0"/>
              <a:sym typeface="宋体" panose="02010600030101010101" pitchFamily="2" charset="-122"/>
            </a:endParaRPr>
          </a:p>
        </p:txBody>
      </p:sp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4.2.2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存储器扩展与译码方式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08000" y="2204720"/>
            <a:ext cx="4572000" cy="497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00FF"/>
                </a:solidFill>
                <a:sym typeface="+mn-ea"/>
              </a:rPr>
              <a:t>128KB/64K*1=16（片）</a:t>
            </a:r>
            <a:endParaRPr lang="zh-CN" altLang="en-US" b="1" dirty="0">
              <a:solidFill>
                <a:srgbClr val="0000FF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8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8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44" grpId="0"/>
      <p:bldP spid="28744" grpId="1"/>
      <p:bldP spid="28745" grpId="0"/>
      <p:bldP spid="28745" grpId="1"/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75755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思考：该存储系统的容量是多少？</a:t>
            </a:r>
            <a:endParaRPr lang="zh-CN" altLang="en-US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62466" name="组合 54274"/>
          <p:cNvGrpSpPr/>
          <p:nvPr/>
        </p:nvGrpSpPr>
        <p:grpSpPr>
          <a:xfrm>
            <a:off x="501650" y="1916430"/>
            <a:ext cx="7969250" cy="3352800"/>
            <a:chOff x="0" y="0"/>
            <a:chExt cx="5539" cy="2660"/>
          </a:xfrm>
        </p:grpSpPr>
        <p:sp>
          <p:nvSpPr>
            <p:cNvPr id="62467" name="矩形 54275"/>
            <p:cNvSpPr/>
            <p:nvPr>
              <p:custDataLst>
                <p:tags r:id="rId2"/>
              </p:custDataLst>
            </p:nvPr>
          </p:nvSpPr>
          <p:spPr>
            <a:xfrm>
              <a:off x="3179" y="446"/>
              <a:ext cx="707" cy="28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2700" tIns="12700" rIns="12700" bIns="12700" anchor="t" anchorCtr="0"/>
            <a:p>
              <a:pPr algn="just" eaLnBrk="0" hangingPunct="0"/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片选端</a:t>
              </a:r>
              <a:endPara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2468" name="矩形 54276"/>
            <p:cNvSpPr/>
            <p:nvPr>
              <p:custDataLst>
                <p:tags r:id="rId3"/>
              </p:custDataLst>
            </p:nvPr>
          </p:nvSpPr>
          <p:spPr>
            <a:xfrm>
              <a:off x="133" y="2263"/>
              <a:ext cx="1175" cy="39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2700" tIns="12700" rIns="12700" bIns="12700" anchor="t" anchorCtr="0"/>
            <a:p>
              <a:pPr algn="ctr" eaLnBrk="0" hangingPunct="0"/>
              <a:r>
                <a:rPr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sz="2400" b="1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～</a:t>
              </a:r>
              <a:r>
                <a:rPr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sz="2400" b="1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2469" name="矩形 54277"/>
            <p:cNvSpPr/>
            <p:nvPr>
              <p:custDataLst>
                <p:tags r:id="rId4"/>
              </p:custDataLst>
            </p:nvPr>
          </p:nvSpPr>
          <p:spPr>
            <a:xfrm>
              <a:off x="39" y="779"/>
              <a:ext cx="1175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2700" tIns="12700" rIns="12700" bIns="12700" anchor="t" anchorCtr="0"/>
            <a:p>
              <a:pPr algn="ctr" eaLnBrk="0" hangingPunct="0"/>
              <a:r>
                <a:rPr lang="en-US" altLang="zh-CN" sz="2400" b="1">
                  <a:solidFill>
                    <a:srgbClr val="FF33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400" b="1" baseline="-25000">
                  <a:solidFill>
                    <a:srgbClr val="FF33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19</a:t>
              </a:r>
              <a:r>
                <a:rPr lang="zh-CN" altLang="en-US" sz="2400" b="1">
                  <a:solidFill>
                    <a:srgbClr val="FF33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～</a:t>
              </a:r>
              <a:r>
                <a:rPr lang="en-US" altLang="zh-CN" sz="2400" b="1">
                  <a:solidFill>
                    <a:srgbClr val="FF33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400" b="1" baseline="-25000">
                  <a:solidFill>
                    <a:srgbClr val="FF33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  <a:endParaRPr lang="en-US" altLang="zh-CN" sz="2400" b="1">
                <a:solidFill>
                  <a:srgbClr val="FF339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2470" name="直接连接符 54278"/>
            <p:cNvSpPr/>
            <p:nvPr>
              <p:custDataLst>
                <p:tags r:id="rId5"/>
              </p:custDataLst>
            </p:nvPr>
          </p:nvSpPr>
          <p:spPr>
            <a:xfrm>
              <a:off x="1171" y="2438"/>
              <a:ext cx="3940" cy="0"/>
            </a:xfrm>
            <a:prstGeom prst="line">
              <a:avLst/>
            </a:prstGeom>
            <a:ln w="57150" cap="flat" cmpd="sng">
              <a:solidFill>
                <a:schemeClr val="accent2"/>
              </a:solidFill>
              <a:prstDash val="solid"/>
              <a:round/>
              <a:headEnd type="triangle" w="lg" len="sm"/>
              <a:tailEnd type="triangle" w="lg" len="sm"/>
            </a:ln>
          </p:spPr>
        </p:sp>
        <p:sp>
          <p:nvSpPr>
            <p:cNvPr id="62471" name="矩形 54279"/>
            <p:cNvSpPr/>
            <p:nvPr>
              <p:custDataLst>
                <p:tags r:id="rId6"/>
              </p:custDataLst>
            </p:nvPr>
          </p:nvSpPr>
          <p:spPr>
            <a:xfrm>
              <a:off x="0" y="2013"/>
              <a:ext cx="1409" cy="30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2700" tIns="12700" rIns="12700" bIns="12700" anchor="t" anchorCtr="0"/>
            <a:p>
              <a:pPr algn="ctr" eaLnBrk="0" hangingPunct="0"/>
              <a:r>
                <a:rPr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400" b="1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～</a:t>
              </a:r>
              <a:r>
                <a:rPr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400" b="1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2472" name="直接连接符 54280"/>
            <p:cNvSpPr/>
            <p:nvPr>
              <p:custDataLst>
                <p:tags r:id="rId7"/>
              </p:custDataLst>
            </p:nvPr>
          </p:nvSpPr>
          <p:spPr>
            <a:xfrm>
              <a:off x="1194" y="2171"/>
              <a:ext cx="3950" cy="3"/>
            </a:xfrm>
            <a:prstGeom prst="line">
              <a:avLst/>
            </a:prstGeom>
            <a:ln w="57150" cap="flat" cmpd="sng">
              <a:solidFill>
                <a:srgbClr val="FF3399"/>
              </a:solidFill>
              <a:prstDash val="solid"/>
              <a:round/>
              <a:headEnd type="none" w="med" len="med"/>
              <a:tailEnd type="triangle" w="lg" len="sm"/>
            </a:ln>
          </p:spPr>
        </p:sp>
        <p:sp>
          <p:nvSpPr>
            <p:cNvPr id="62473" name="直接连接符 54281"/>
            <p:cNvSpPr/>
            <p:nvPr>
              <p:custDataLst>
                <p:tags r:id="rId8"/>
              </p:custDataLst>
            </p:nvPr>
          </p:nvSpPr>
          <p:spPr>
            <a:xfrm flipV="1">
              <a:off x="4917" y="1898"/>
              <a:ext cx="0" cy="533"/>
            </a:xfrm>
            <a:prstGeom prst="line">
              <a:avLst/>
            </a:prstGeom>
            <a:ln w="57150" cap="flat" cmpd="sng">
              <a:solidFill>
                <a:schemeClr val="accent2"/>
              </a:solidFill>
              <a:prstDash val="solid"/>
              <a:round/>
              <a:headEnd type="triangle" w="lg" len="sm"/>
              <a:tailEnd type="triangle" w="lg" len="sm"/>
            </a:ln>
          </p:spPr>
        </p:sp>
        <p:sp>
          <p:nvSpPr>
            <p:cNvPr id="62474" name="直接连接符 54282"/>
            <p:cNvSpPr/>
            <p:nvPr>
              <p:custDataLst>
                <p:tags r:id="rId9"/>
              </p:custDataLst>
            </p:nvPr>
          </p:nvSpPr>
          <p:spPr>
            <a:xfrm>
              <a:off x="4290" y="1895"/>
              <a:ext cx="4" cy="273"/>
            </a:xfrm>
            <a:prstGeom prst="line">
              <a:avLst/>
            </a:prstGeom>
            <a:ln w="57150" cap="flat" cmpd="sng">
              <a:solidFill>
                <a:srgbClr val="FF3399"/>
              </a:solidFill>
              <a:prstDash val="solid"/>
              <a:round/>
              <a:headEnd type="triangle" w="lg" len="sm"/>
              <a:tailEnd type="none" w="med" len="med"/>
            </a:ln>
          </p:spPr>
        </p:sp>
        <p:sp>
          <p:nvSpPr>
            <p:cNvPr id="62475" name="矩形 54283"/>
            <p:cNvSpPr/>
            <p:nvPr>
              <p:custDataLst>
                <p:tags r:id="rId10"/>
              </p:custDataLst>
            </p:nvPr>
          </p:nvSpPr>
          <p:spPr>
            <a:xfrm>
              <a:off x="3902" y="850"/>
              <a:ext cx="1399" cy="1047"/>
            </a:xfrm>
            <a:prstGeom prst="rect">
              <a:avLst/>
            </a:prstGeom>
            <a:solidFill>
              <a:srgbClr val="CCFFCC"/>
            </a:solidFill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2476" name="矩形 54284"/>
            <p:cNvSpPr/>
            <p:nvPr>
              <p:custDataLst>
                <p:tags r:id="rId11"/>
              </p:custDataLst>
            </p:nvPr>
          </p:nvSpPr>
          <p:spPr>
            <a:xfrm>
              <a:off x="3542" y="1599"/>
              <a:ext cx="1404" cy="32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2700" tIns="12700" rIns="12700" bIns="12700" anchor="t" anchorCtr="0"/>
            <a:p>
              <a:pPr algn="ctr" eaLnBrk="0" hangingPunct="0"/>
              <a:r>
                <a:rPr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400" b="1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～</a:t>
              </a:r>
              <a:r>
                <a:rPr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400" b="1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2477" name="矩形 54285"/>
            <p:cNvSpPr/>
            <p:nvPr>
              <p:custDataLst>
                <p:tags r:id="rId12"/>
              </p:custDataLst>
            </p:nvPr>
          </p:nvSpPr>
          <p:spPr>
            <a:xfrm>
              <a:off x="4632" y="1605"/>
              <a:ext cx="907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2700" tIns="12700" rIns="12700" bIns="12700" anchor="t" anchorCtr="0"/>
            <a:p>
              <a:pPr algn="just" eaLnBrk="0" hangingPunct="0"/>
              <a:r>
                <a:rPr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sz="2400" b="1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～</a:t>
              </a:r>
              <a:r>
                <a:rPr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sz="2400" b="1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62478" name="组合 54286"/>
            <p:cNvGrpSpPr/>
            <p:nvPr/>
          </p:nvGrpSpPr>
          <p:grpSpPr>
            <a:xfrm>
              <a:off x="4110" y="905"/>
              <a:ext cx="612" cy="237"/>
              <a:chOff x="0" y="0"/>
              <a:chExt cx="612" cy="237"/>
            </a:xfrm>
          </p:grpSpPr>
          <p:sp>
            <p:nvSpPr>
              <p:cNvPr id="62479" name="矩形 54287"/>
              <p:cNvSpPr/>
              <p:nvPr>
                <p:custDataLst>
                  <p:tags r:id="rId13"/>
                </p:custDataLst>
              </p:nvPr>
            </p:nvSpPr>
            <p:spPr>
              <a:xfrm>
                <a:off x="0" y="0"/>
                <a:ext cx="612" cy="2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2700" tIns="12700" rIns="12700" bIns="12700" anchor="t" anchorCtr="0"/>
              <a:p>
                <a:pPr algn="ctr" eaLnBrk="0" hangingPunct="0"/>
                <a:r>
                  <a:rPr lang="en-US" altLang="zh-CN" sz="24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CE</a:t>
                </a:r>
                <a:endParaRPr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480" name="直接连接符 54288"/>
              <p:cNvSpPr/>
              <p:nvPr>
                <p:custDataLst>
                  <p:tags r:id="rId14"/>
                </p:custDataLst>
              </p:nvPr>
            </p:nvSpPr>
            <p:spPr>
              <a:xfrm>
                <a:off x="180" y="5"/>
                <a:ext cx="249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62481" name="未知"/>
            <p:cNvSpPr/>
            <p:nvPr>
              <p:custDataLst>
                <p:tags r:id="rId15"/>
              </p:custDataLst>
            </p:nvPr>
          </p:nvSpPr>
          <p:spPr>
            <a:xfrm>
              <a:off x="1685" y="288"/>
              <a:ext cx="2716" cy="549"/>
            </a:xfrm>
            <a:custGeom>
              <a:avLst/>
              <a:gdLst/>
              <a:ahLst/>
              <a:cxnLst/>
              <a:pathLst>
                <a:path w="1632" h="576">
                  <a:moveTo>
                    <a:pt x="1632" y="576"/>
                  </a:moveTo>
                  <a:lnTo>
                    <a:pt x="1632" y="0"/>
                  </a:ln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2482" name="直接连接符 54290"/>
            <p:cNvSpPr/>
            <p:nvPr>
              <p:custDataLst>
                <p:tags r:id="rId16"/>
              </p:custDataLst>
            </p:nvPr>
          </p:nvSpPr>
          <p:spPr>
            <a:xfrm flipV="1">
              <a:off x="3400" y="1898"/>
              <a:ext cx="0" cy="533"/>
            </a:xfrm>
            <a:prstGeom prst="line">
              <a:avLst/>
            </a:prstGeom>
            <a:ln w="57150" cap="flat" cmpd="sng">
              <a:solidFill>
                <a:schemeClr val="accent2"/>
              </a:solidFill>
              <a:prstDash val="solid"/>
              <a:round/>
              <a:headEnd type="triangle" w="lg" len="sm"/>
              <a:tailEnd type="triangle" w="lg" len="sm"/>
            </a:ln>
          </p:spPr>
        </p:sp>
        <p:sp>
          <p:nvSpPr>
            <p:cNvPr id="62483" name="直接连接符 54291"/>
            <p:cNvSpPr/>
            <p:nvPr>
              <p:custDataLst>
                <p:tags r:id="rId17"/>
              </p:custDataLst>
            </p:nvPr>
          </p:nvSpPr>
          <p:spPr>
            <a:xfrm>
              <a:off x="2773" y="1895"/>
              <a:ext cx="4" cy="273"/>
            </a:xfrm>
            <a:prstGeom prst="line">
              <a:avLst/>
            </a:prstGeom>
            <a:ln w="57150" cap="flat" cmpd="sng">
              <a:solidFill>
                <a:srgbClr val="FF3399"/>
              </a:solidFill>
              <a:prstDash val="solid"/>
              <a:round/>
              <a:headEnd type="triangle" w="lg" len="sm"/>
              <a:tailEnd type="none" w="med" len="med"/>
            </a:ln>
          </p:spPr>
        </p:sp>
        <p:sp>
          <p:nvSpPr>
            <p:cNvPr id="62484" name="矩形 54292"/>
            <p:cNvSpPr/>
            <p:nvPr>
              <p:custDataLst>
                <p:tags r:id="rId18"/>
              </p:custDataLst>
            </p:nvPr>
          </p:nvSpPr>
          <p:spPr>
            <a:xfrm>
              <a:off x="2385" y="850"/>
              <a:ext cx="1399" cy="1047"/>
            </a:xfrm>
            <a:prstGeom prst="rect">
              <a:avLst/>
            </a:prstGeom>
            <a:solidFill>
              <a:srgbClr val="CCFFCC"/>
            </a:solidFill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2485" name="矩形 54293"/>
            <p:cNvSpPr/>
            <p:nvPr>
              <p:custDataLst>
                <p:tags r:id="rId19"/>
              </p:custDataLst>
            </p:nvPr>
          </p:nvSpPr>
          <p:spPr>
            <a:xfrm>
              <a:off x="2767" y="1089"/>
              <a:ext cx="1143" cy="40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2700" tIns="12700" rIns="12700" bIns="12700" anchor="t" anchorCtr="0"/>
            <a:p>
              <a:pPr algn="ctr" eaLnBrk="0" hangingPunct="0"/>
              <a:r>
                <a:rPr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1K×8</a:t>
              </a:r>
              <a:endPara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 eaLnBrk="0" hangingPunct="0"/>
              <a:r>
                <a:rPr lang="zh-CN" altLang="en-US" sz="2400" b="1">
                  <a:solidFill>
                    <a:srgbClr val="6600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（</a:t>
              </a:r>
              <a:r>
                <a:rPr lang="en-US" altLang="zh-CN" sz="2400" b="1">
                  <a:solidFill>
                    <a:srgbClr val="6600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zh-CN" altLang="en-US" sz="2400" b="1">
                  <a:solidFill>
                    <a:srgbClr val="6600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）</a:t>
              </a:r>
              <a:endParaRPr lang="zh-CN" altLang="en-US" sz="2400" b="1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2486" name="矩形 54294"/>
            <p:cNvSpPr/>
            <p:nvPr>
              <p:custDataLst>
                <p:tags r:id="rId20"/>
              </p:custDataLst>
            </p:nvPr>
          </p:nvSpPr>
          <p:spPr>
            <a:xfrm>
              <a:off x="2025" y="1599"/>
              <a:ext cx="1404" cy="32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2700" tIns="12700" rIns="12700" bIns="12700" anchor="t" anchorCtr="0"/>
            <a:p>
              <a:pPr algn="ctr" eaLnBrk="0" hangingPunct="0"/>
              <a:r>
                <a:rPr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400" b="1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～</a:t>
              </a:r>
              <a:r>
                <a:rPr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400" b="1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2487" name="矩形 54295"/>
            <p:cNvSpPr/>
            <p:nvPr>
              <p:custDataLst>
                <p:tags r:id="rId21"/>
              </p:custDataLst>
            </p:nvPr>
          </p:nvSpPr>
          <p:spPr>
            <a:xfrm>
              <a:off x="3115" y="1605"/>
              <a:ext cx="907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2700" tIns="12700" rIns="12700" bIns="12700" anchor="t" anchorCtr="0"/>
            <a:p>
              <a:pPr algn="just" eaLnBrk="0" hangingPunct="0"/>
              <a:r>
                <a:rPr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sz="2400" b="1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～</a:t>
              </a:r>
              <a:r>
                <a:rPr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sz="2400" b="1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62488" name="组合 54296"/>
            <p:cNvGrpSpPr/>
            <p:nvPr/>
          </p:nvGrpSpPr>
          <p:grpSpPr>
            <a:xfrm>
              <a:off x="2593" y="905"/>
              <a:ext cx="612" cy="237"/>
              <a:chOff x="0" y="0"/>
              <a:chExt cx="612" cy="237"/>
            </a:xfrm>
          </p:grpSpPr>
          <p:sp>
            <p:nvSpPr>
              <p:cNvPr id="62489" name="矩形 54297"/>
              <p:cNvSpPr/>
              <p:nvPr>
                <p:custDataLst>
                  <p:tags r:id="rId22"/>
                </p:custDataLst>
              </p:nvPr>
            </p:nvSpPr>
            <p:spPr>
              <a:xfrm>
                <a:off x="0" y="0"/>
                <a:ext cx="612" cy="2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2700" tIns="12700" rIns="12700" bIns="12700" anchor="t" anchorCtr="0"/>
              <a:p>
                <a:pPr algn="ctr" eaLnBrk="0" hangingPunct="0"/>
                <a:r>
                  <a:rPr lang="en-US" altLang="zh-CN" sz="24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CE</a:t>
                </a:r>
                <a:endParaRPr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490" name="直接连接符 54298"/>
              <p:cNvSpPr/>
              <p:nvPr>
                <p:custDataLst>
                  <p:tags r:id="rId23"/>
                </p:custDataLst>
              </p:nvPr>
            </p:nvSpPr>
            <p:spPr>
              <a:xfrm>
                <a:off x="180" y="5"/>
                <a:ext cx="249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62491" name="文本框 54299"/>
            <p:cNvSpPr txBox="1"/>
            <p:nvPr>
              <p:custDataLst>
                <p:tags r:id="rId24"/>
              </p:custDataLst>
            </p:nvPr>
          </p:nvSpPr>
          <p:spPr>
            <a:xfrm>
              <a:off x="1212" y="0"/>
              <a:ext cx="473" cy="1289"/>
            </a:xfrm>
            <a:prstGeom prst="rect">
              <a:avLst/>
            </a:prstGeom>
            <a:solidFill>
              <a:srgbClr val="A6ADC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anchor="t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3200">
                  <a:solidFill>
                    <a:srgbClr val="FF3399"/>
                  </a:solidFill>
                  <a:latin typeface="Tahoma" panose="020B0604030504040204" pitchFamily="34" charset="0"/>
                  <a:ea typeface="华文新魏" panose="02010800040101010101" pitchFamily="2" charset="-122"/>
                </a:rPr>
                <a:t>译码器</a:t>
              </a:r>
              <a:endParaRPr lang="zh-CN" altLang="en-US" sz="3200">
                <a:solidFill>
                  <a:srgbClr val="FF3399"/>
                </a:solidFill>
                <a:latin typeface="Tahoma" panose="020B0604030504040204" pitchFamily="34" charset="0"/>
                <a:ea typeface="华文新魏" panose="02010800040101010101" pitchFamily="2" charset="-122"/>
              </a:endParaRPr>
            </a:p>
          </p:txBody>
        </p:sp>
        <p:sp>
          <p:nvSpPr>
            <p:cNvPr id="62492" name="直接连接符 54300"/>
            <p:cNvSpPr/>
            <p:nvPr>
              <p:custDataLst>
                <p:tags r:id="rId25"/>
              </p:custDataLst>
            </p:nvPr>
          </p:nvSpPr>
          <p:spPr>
            <a:xfrm>
              <a:off x="768" y="648"/>
              <a:ext cx="494" cy="1"/>
            </a:xfrm>
            <a:prstGeom prst="line">
              <a:avLst/>
            </a:prstGeom>
            <a:ln w="57150" cap="flat" cmpd="sng">
              <a:solidFill>
                <a:srgbClr val="FF3399"/>
              </a:solidFill>
              <a:prstDash val="solid"/>
              <a:round/>
              <a:headEnd type="none" w="med" len="med"/>
              <a:tailEnd type="triangle" w="lg" len="sm"/>
            </a:ln>
          </p:spPr>
        </p:sp>
        <p:sp>
          <p:nvSpPr>
            <p:cNvPr id="62493" name="未知"/>
            <p:cNvSpPr/>
            <p:nvPr>
              <p:custDataLst>
                <p:tags r:id="rId26"/>
              </p:custDataLst>
            </p:nvPr>
          </p:nvSpPr>
          <p:spPr>
            <a:xfrm>
              <a:off x="1685" y="617"/>
              <a:ext cx="1235" cy="220"/>
            </a:xfrm>
            <a:custGeom>
              <a:avLst/>
              <a:gdLst/>
              <a:ahLst/>
              <a:cxnLst/>
              <a:pathLst>
                <a:path w="1632" h="576">
                  <a:moveTo>
                    <a:pt x="1632" y="576"/>
                  </a:moveTo>
                  <a:lnTo>
                    <a:pt x="1632" y="0"/>
                  </a:ln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2494" name="矩形 54302"/>
            <p:cNvSpPr/>
            <p:nvPr>
              <p:custDataLst>
                <p:tags r:id="rId27"/>
              </p:custDataLst>
            </p:nvPr>
          </p:nvSpPr>
          <p:spPr>
            <a:xfrm>
              <a:off x="1657" y="11"/>
              <a:ext cx="1175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2700" tIns="12700" rIns="12700" bIns="12700" anchor="t" anchorCtr="0"/>
            <a:p>
              <a:pPr algn="ctr" eaLnBrk="0" hangingPunct="0"/>
              <a:r>
                <a:rPr lang="en-US" altLang="zh-CN" sz="2400" b="1">
                  <a:solidFill>
                    <a:srgbClr val="FF33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0000000001</a:t>
              </a:r>
              <a:endParaRPr lang="en-US" altLang="zh-CN" sz="2400" b="1">
                <a:solidFill>
                  <a:srgbClr val="FF339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2495" name="矩形 54303"/>
            <p:cNvSpPr/>
            <p:nvPr>
              <p:custDataLst>
                <p:tags r:id="rId28"/>
              </p:custDataLst>
            </p:nvPr>
          </p:nvSpPr>
          <p:spPr>
            <a:xfrm>
              <a:off x="1657" y="368"/>
              <a:ext cx="1175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2700" tIns="12700" rIns="12700" bIns="12700" anchor="t" anchorCtr="0"/>
            <a:p>
              <a:pPr algn="ctr" eaLnBrk="0" hangingPunct="0"/>
              <a:r>
                <a:rPr lang="en-US" altLang="zh-CN" sz="2400" b="1">
                  <a:solidFill>
                    <a:srgbClr val="FF33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0000000000</a:t>
              </a:r>
              <a:endParaRPr lang="en-US" altLang="zh-CN" sz="2400" b="1">
                <a:solidFill>
                  <a:srgbClr val="FF3399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2496" name="矩形 54304"/>
            <p:cNvSpPr/>
            <p:nvPr>
              <p:custDataLst>
                <p:tags r:id="rId29"/>
              </p:custDataLst>
            </p:nvPr>
          </p:nvSpPr>
          <p:spPr>
            <a:xfrm>
              <a:off x="4264" y="1089"/>
              <a:ext cx="1143" cy="40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2700" tIns="12700" rIns="12700" bIns="12700" anchor="t" anchorCtr="0"/>
            <a:p>
              <a:pPr algn="ctr" eaLnBrk="0" hangingPunct="0"/>
              <a:r>
                <a:rPr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1K×8</a:t>
              </a:r>
              <a:endPara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 eaLnBrk="0" hangingPunct="0"/>
              <a:r>
                <a:rPr lang="zh-CN" altLang="en-US" sz="2400" b="1">
                  <a:solidFill>
                    <a:srgbClr val="6600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（</a:t>
              </a:r>
              <a:r>
                <a:rPr lang="en-US" altLang="zh-CN" sz="2400" b="1">
                  <a:solidFill>
                    <a:srgbClr val="6600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zh-CN" altLang="en-US" sz="2400" b="1">
                  <a:solidFill>
                    <a:srgbClr val="660033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）</a:t>
              </a:r>
              <a:endParaRPr lang="zh-CN" altLang="en-US" sz="2400" b="1">
                <a:solidFill>
                  <a:srgbClr val="660033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66" name="AutoShape 14"/>
          <p:cNvSpPr/>
          <p:nvPr/>
        </p:nvSpPr>
        <p:spPr>
          <a:xfrm>
            <a:off x="3048000" y="2132013"/>
            <a:ext cx="3048000" cy="231775"/>
          </a:xfrm>
          <a:prstGeom prst="leftRightArrow">
            <a:avLst>
              <a:gd name="adj1" fmla="val 50000"/>
              <a:gd name="adj2" fmla="val 262770"/>
            </a:avLst>
          </a:prstGeom>
          <a:solidFill>
            <a:schemeClr val="accent1"/>
          </a:solidFill>
          <a:ln w="1270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endParaRPr lang="zh-CN" altLang="en-US" sz="2800" dirty="0">
              <a:latin typeface="Tahoma" panose="020B0604030504040204" pitchFamily="34" charset="0"/>
            </a:endParaRPr>
          </a:p>
        </p:txBody>
      </p:sp>
      <p:sp>
        <p:nvSpPr>
          <p:cNvPr id="74783" name="Text Box 31"/>
          <p:cNvSpPr txBox="1"/>
          <p:nvPr/>
        </p:nvSpPr>
        <p:spPr>
          <a:xfrm>
            <a:off x="4114800" y="4092575"/>
            <a:ext cx="685800" cy="1273175"/>
          </a:xfrm>
          <a:prstGeom prst="rect">
            <a:avLst/>
          </a:prstGeom>
          <a:noFill/>
          <a:ln w="12700" cap="sq" cmpd="sng">
            <a:solidFill>
              <a:srgbClr val="003300"/>
            </a:solidFill>
            <a:prstDash val="solid"/>
            <a:miter/>
            <a:headEnd type="none" w="sm" len="sm"/>
            <a:tailEnd type="none" w="sm" len="sm"/>
          </a:ln>
        </p:spPr>
        <p:txBody>
          <a:bodyPr anchor="t" anchorCtr="0">
            <a:spAutoFit/>
          </a:bodyPr>
          <a:p>
            <a:pPr algn="ctr">
              <a:lnSpc>
                <a:spcPct val="80000"/>
              </a:lnSpc>
            </a:pPr>
            <a:r>
              <a:rPr lang="zh-CN" altLang="en-US" b="1" dirty="0">
                <a:solidFill>
                  <a:srgbClr val="000000"/>
                </a:solidFill>
                <a:latin typeface="Tahoma" panose="020B0604030504040204" pitchFamily="34" charset="0"/>
              </a:rPr>
              <a:t>译</a:t>
            </a:r>
            <a:endParaRPr lang="zh-CN" altLang="en-US" b="1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algn="ctr">
              <a:lnSpc>
                <a:spcPct val="80000"/>
              </a:lnSpc>
            </a:pPr>
            <a:r>
              <a:rPr lang="zh-CN" altLang="en-US" b="1" dirty="0">
                <a:solidFill>
                  <a:srgbClr val="000000"/>
                </a:solidFill>
                <a:latin typeface="Tahoma" panose="020B0604030504040204" pitchFamily="34" charset="0"/>
              </a:rPr>
              <a:t>码</a:t>
            </a:r>
            <a:endParaRPr lang="zh-CN" altLang="en-US" b="1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algn="ctr">
              <a:lnSpc>
                <a:spcPct val="80000"/>
              </a:lnSpc>
            </a:pPr>
            <a:r>
              <a:rPr lang="zh-CN" altLang="en-US" b="1" dirty="0">
                <a:solidFill>
                  <a:srgbClr val="000000"/>
                </a:solidFill>
                <a:latin typeface="Tahoma" panose="020B0604030504040204" pitchFamily="34" charset="0"/>
              </a:rPr>
              <a:t>电</a:t>
            </a:r>
            <a:endParaRPr lang="zh-CN" altLang="en-US" b="1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algn="ctr">
              <a:lnSpc>
                <a:spcPct val="80000"/>
              </a:lnSpc>
            </a:pPr>
            <a:r>
              <a:rPr lang="zh-CN" altLang="en-US" b="1" dirty="0">
                <a:solidFill>
                  <a:srgbClr val="000000"/>
                </a:solidFill>
                <a:latin typeface="Tahoma" panose="020B0604030504040204" pitchFamily="34" charset="0"/>
              </a:rPr>
              <a:t>路</a:t>
            </a:r>
            <a:endParaRPr lang="zh-CN" altLang="en-US" b="1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grpSp>
        <p:nvGrpSpPr>
          <p:cNvPr id="2" name="Group 54"/>
          <p:cNvGrpSpPr/>
          <p:nvPr/>
        </p:nvGrpSpPr>
        <p:grpSpPr>
          <a:xfrm>
            <a:off x="5943600" y="1339850"/>
            <a:ext cx="2590800" cy="3971925"/>
            <a:chOff x="3744" y="618"/>
            <a:chExt cx="1632" cy="2502"/>
          </a:xfrm>
        </p:grpSpPr>
        <p:sp>
          <p:nvSpPr>
            <p:cNvPr id="29700" name="Rectangle 48"/>
            <p:cNvSpPr/>
            <p:nvPr/>
          </p:nvSpPr>
          <p:spPr>
            <a:xfrm>
              <a:off x="4464" y="1200"/>
              <a:ext cx="672" cy="1920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sz="2800" dirty="0">
                <a:latin typeface="Tahoma" panose="020B0604030504040204" pitchFamily="34" charset="0"/>
              </a:endParaRPr>
            </a:p>
          </p:txBody>
        </p:sp>
        <p:sp>
          <p:nvSpPr>
            <p:cNvPr id="29701" name="Rectangle 47"/>
            <p:cNvSpPr/>
            <p:nvPr/>
          </p:nvSpPr>
          <p:spPr>
            <a:xfrm>
              <a:off x="4224" y="1056"/>
              <a:ext cx="672" cy="1920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sz="2800" dirty="0">
                <a:latin typeface="Tahoma" panose="020B0604030504040204" pitchFamily="34" charset="0"/>
              </a:endParaRPr>
            </a:p>
          </p:txBody>
        </p:sp>
        <p:sp>
          <p:nvSpPr>
            <p:cNvPr id="29702" name="Rectangle 3"/>
            <p:cNvSpPr/>
            <p:nvPr/>
          </p:nvSpPr>
          <p:spPr>
            <a:xfrm>
              <a:off x="3840" y="1008"/>
              <a:ext cx="720" cy="1824"/>
            </a:xfrm>
            <a:prstGeom prst="rect">
              <a:avLst/>
            </a:prstGeom>
            <a:solidFill>
              <a:srgbClr val="FFFFCC"/>
            </a:solidFill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endParaRPr lang="zh-CN" altLang="en-US" sz="2800" dirty="0">
                <a:latin typeface="Tahoma" panose="020B0604030504040204" pitchFamily="34" charset="0"/>
              </a:endParaRPr>
            </a:p>
          </p:txBody>
        </p:sp>
        <p:sp>
          <p:nvSpPr>
            <p:cNvPr id="29703" name="Text Box 4"/>
            <p:cNvSpPr txBox="1"/>
            <p:nvPr/>
          </p:nvSpPr>
          <p:spPr>
            <a:xfrm>
              <a:off x="3840" y="1081"/>
              <a:ext cx="864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000000"/>
                  </a:solidFill>
                  <a:latin typeface="Tahoma" panose="020B0604030504040204" pitchFamily="34" charset="0"/>
                </a:rPr>
                <a:t>D0~D7</a:t>
              </a:r>
              <a:endParaRPr lang="en-US" altLang="zh-CN" sz="2000" b="1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9704" name="Text Box 5"/>
            <p:cNvSpPr txBox="1"/>
            <p:nvPr/>
          </p:nvSpPr>
          <p:spPr>
            <a:xfrm>
              <a:off x="3840" y="1301"/>
              <a:ext cx="432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000000"/>
                  </a:solidFill>
                  <a:latin typeface="Tahoma" panose="020B0604030504040204" pitchFamily="34" charset="0"/>
                </a:rPr>
                <a:t>A0</a:t>
              </a:r>
              <a:endParaRPr lang="en-US" altLang="zh-CN" sz="2000" b="1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9705" name="Text Box 6"/>
            <p:cNvSpPr txBox="1"/>
            <p:nvPr/>
          </p:nvSpPr>
          <p:spPr>
            <a:xfrm>
              <a:off x="3840" y="1715"/>
              <a:ext cx="432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000000"/>
                  </a:solidFill>
                  <a:latin typeface="Tahoma" panose="020B0604030504040204" pitchFamily="34" charset="0"/>
                </a:rPr>
                <a:t>A12</a:t>
              </a:r>
              <a:endParaRPr lang="en-US" altLang="zh-CN" sz="2000" b="1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9706" name="Text Box 10"/>
            <p:cNvSpPr txBox="1"/>
            <p:nvPr/>
          </p:nvSpPr>
          <p:spPr>
            <a:xfrm>
              <a:off x="3840" y="1957"/>
              <a:ext cx="432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000000"/>
                  </a:solidFill>
                  <a:latin typeface="Tahoma" panose="020B0604030504040204" pitchFamily="34" charset="0"/>
                </a:rPr>
                <a:t>WE</a:t>
              </a:r>
              <a:endParaRPr lang="en-US" altLang="zh-CN" sz="2000" b="1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9707" name="Text Box 11"/>
            <p:cNvSpPr txBox="1"/>
            <p:nvPr/>
          </p:nvSpPr>
          <p:spPr>
            <a:xfrm>
              <a:off x="3840" y="2139"/>
              <a:ext cx="432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000000"/>
                  </a:solidFill>
                  <a:latin typeface="Tahoma" panose="020B0604030504040204" pitchFamily="34" charset="0"/>
                </a:rPr>
                <a:t>OE</a:t>
              </a:r>
              <a:endParaRPr lang="en-US" altLang="zh-CN" sz="2000" b="1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9708" name="Text Box 12"/>
            <p:cNvSpPr txBox="1"/>
            <p:nvPr/>
          </p:nvSpPr>
          <p:spPr>
            <a:xfrm>
              <a:off x="3840" y="2358"/>
              <a:ext cx="432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000000"/>
                  </a:solidFill>
                  <a:latin typeface="Tahoma" panose="020B0604030504040204" pitchFamily="34" charset="0"/>
                </a:rPr>
                <a:t>CE1</a:t>
              </a:r>
              <a:endParaRPr lang="en-US" altLang="zh-CN" sz="2000" b="1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9709" name="Text Box 13"/>
            <p:cNvSpPr txBox="1"/>
            <p:nvPr/>
          </p:nvSpPr>
          <p:spPr>
            <a:xfrm>
              <a:off x="3840" y="2577"/>
              <a:ext cx="432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000000"/>
                  </a:solidFill>
                  <a:latin typeface="Tahoma" panose="020B0604030504040204" pitchFamily="34" charset="0"/>
                </a:rPr>
                <a:t>CE2</a:t>
              </a:r>
              <a:endParaRPr lang="en-US" altLang="zh-CN" sz="2000" b="1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9710" name="Line 22"/>
            <p:cNvSpPr/>
            <p:nvPr/>
          </p:nvSpPr>
          <p:spPr>
            <a:xfrm>
              <a:off x="3888" y="1993"/>
              <a:ext cx="288" cy="0"/>
            </a:xfrm>
            <a:prstGeom prst="line">
              <a:avLst/>
            </a:prstGeom>
            <a:ln w="19050" cap="sq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9711" name="Line 23"/>
            <p:cNvSpPr/>
            <p:nvPr/>
          </p:nvSpPr>
          <p:spPr>
            <a:xfrm>
              <a:off x="3888" y="2176"/>
              <a:ext cx="288" cy="0"/>
            </a:xfrm>
            <a:prstGeom prst="line">
              <a:avLst/>
            </a:prstGeom>
            <a:ln w="19050" cap="sq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9712" name="Line 24"/>
            <p:cNvSpPr/>
            <p:nvPr/>
          </p:nvSpPr>
          <p:spPr>
            <a:xfrm>
              <a:off x="3888" y="2394"/>
              <a:ext cx="288" cy="0"/>
            </a:xfrm>
            <a:prstGeom prst="line">
              <a:avLst/>
            </a:prstGeom>
            <a:ln w="19050" cap="sq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9713" name="Rectangle 39"/>
            <p:cNvSpPr/>
            <p:nvPr/>
          </p:nvSpPr>
          <p:spPr>
            <a:xfrm>
              <a:off x="3744" y="618"/>
              <a:ext cx="1632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 anchor="b" anchorCtr="0"/>
            <a:p>
              <a:pPr algn="ctr"/>
              <a:r>
                <a:rPr lang="zh-CN" b="1" dirty="0">
                  <a:solidFill>
                    <a:srgbClr val="800000"/>
                  </a:solidFill>
                  <a:latin typeface="Tahoma" panose="020B0604030504040204" pitchFamily="34" charset="0"/>
                </a:rPr>
                <a:t>存储器</a:t>
              </a:r>
              <a:endParaRPr lang="zh-CN" b="1" dirty="0">
                <a:solidFill>
                  <a:srgbClr val="800000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29714" name="Text Box 40"/>
          <p:cNvSpPr txBox="1"/>
          <p:nvPr/>
        </p:nvSpPr>
        <p:spPr>
          <a:xfrm>
            <a:off x="605155" y="1488440"/>
            <a:ext cx="5716588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  <a:latin typeface="Tahoma" panose="020B0604030504040204" pitchFamily="34" charset="0"/>
              </a:rPr>
              <a:t>2. </a:t>
            </a:r>
            <a:r>
              <a:rPr lang="zh-CN" altLang="en-US" b="1" dirty="0">
                <a:solidFill>
                  <a:schemeClr val="tx1"/>
                </a:solidFill>
                <a:latin typeface="Tahoma" panose="020B0604030504040204" pitchFamily="34" charset="0"/>
              </a:rPr>
              <a:t>存储器系统的地址译码方式</a:t>
            </a:r>
            <a:endParaRPr lang="zh-CN" altLang="en-US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9716" name="Rectangle 42"/>
          <p:cNvSpPr/>
          <p:nvPr/>
        </p:nvSpPr>
        <p:spPr>
          <a:xfrm>
            <a:off x="539115" y="5661025"/>
            <a:ext cx="7936230" cy="9144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/>
          <a:p>
            <a:pPr algn="just">
              <a:lnSpc>
                <a:spcPct val="115000"/>
              </a:lnSpc>
            </a:pPr>
            <a:r>
              <a:rPr lang="zh-CN" altLang="en-US" b="1" dirty="0">
                <a:solidFill>
                  <a:srgbClr val="FF0000"/>
                </a:solidFill>
                <a:sym typeface="+mn-ea"/>
              </a:rPr>
              <a:t>译码电路：</a:t>
            </a:r>
            <a:r>
              <a:rPr lang="zh-CN" altLang="en-US" b="1" dirty="0">
                <a:latin typeface="Tahoma" panose="020B0604030504040204" pitchFamily="34" charset="0"/>
              </a:rPr>
              <a:t>输入一组地址信号产生有效的输出信号，用来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选中某个芯片</a:t>
            </a:r>
            <a:r>
              <a:rPr lang="zh-CN" altLang="en-US" b="1" dirty="0">
                <a:latin typeface="Tahoma" panose="020B0604030504040204" pitchFamily="34" charset="0"/>
              </a:rPr>
              <a:t>，即</a:t>
            </a:r>
            <a:r>
              <a:rPr lang="zh-CN" altLang="en-US" b="1" dirty="0">
                <a:solidFill>
                  <a:srgbClr val="C00000"/>
                </a:solidFill>
                <a:latin typeface="Tahoma" panose="020B0604030504040204" pitchFamily="34" charset="0"/>
              </a:rPr>
              <a:t>进行片选信号译码</a:t>
            </a:r>
            <a:r>
              <a:rPr lang="zh-CN" altLang="en-US" b="1" dirty="0">
                <a:latin typeface="Tahoma" panose="020B0604030504040204" pitchFamily="34" charset="0"/>
              </a:rPr>
              <a:t>。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grpSp>
        <p:nvGrpSpPr>
          <p:cNvPr id="4" name="Group 55"/>
          <p:cNvGrpSpPr/>
          <p:nvPr/>
        </p:nvGrpSpPr>
        <p:grpSpPr>
          <a:xfrm>
            <a:off x="685800" y="1958975"/>
            <a:ext cx="2667000" cy="2895600"/>
            <a:chOff x="432" y="1008"/>
            <a:chExt cx="1680" cy="1824"/>
          </a:xfrm>
        </p:grpSpPr>
        <p:sp>
          <p:nvSpPr>
            <p:cNvPr id="29719" name="Rectangle 2"/>
            <p:cNvSpPr/>
            <p:nvPr/>
          </p:nvSpPr>
          <p:spPr>
            <a:xfrm>
              <a:off x="1008" y="1008"/>
              <a:ext cx="912" cy="1824"/>
            </a:xfrm>
            <a:prstGeom prst="rect">
              <a:avLst/>
            </a:prstGeom>
            <a:solidFill>
              <a:srgbClr val="FFFFCC"/>
            </a:solidFill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endParaRPr lang="zh-CN" altLang="en-US" sz="2800" dirty="0">
                <a:latin typeface="Tahoma" panose="020B0604030504040204" pitchFamily="34" charset="0"/>
              </a:endParaRPr>
            </a:p>
          </p:txBody>
        </p:sp>
        <p:sp>
          <p:nvSpPr>
            <p:cNvPr id="29720" name="Text Box 25"/>
            <p:cNvSpPr txBox="1"/>
            <p:nvPr/>
          </p:nvSpPr>
          <p:spPr>
            <a:xfrm>
              <a:off x="1584" y="1336"/>
              <a:ext cx="432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000000"/>
                  </a:solidFill>
                  <a:latin typeface="Tahoma" panose="020B0604030504040204" pitchFamily="34" charset="0"/>
                </a:rPr>
                <a:t>A0</a:t>
              </a:r>
              <a:endParaRPr lang="en-US" altLang="zh-CN" sz="2000" b="1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9721" name="Text Box 26"/>
            <p:cNvSpPr txBox="1"/>
            <p:nvPr/>
          </p:nvSpPr>
          <p:spPr>
            <a:xfrm>
              <a:off x="1536" y="1715"/>
              <a:ext cx="432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000000"/>
                  </a:solidFill>
                  <a:latin typeface="Tahoma" panose="020B0604030504040204" pitchFamily="34" charset="0"/>
                </a:rPr>
                <a:t>A12</a:t>
              </a:r>
              <a:endParaRPr lang="en-US" altLang="zh-CN" sz="2000" b="1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9722" name="Text Box 27"/>
            <p:cNvSpPr txBox="1"/>
            <p:nvPr/>
          </p:nvSpPr>
          <p:spPr>
            <a:xfrm>
              <a:off x="1200" y="1957"/>
              <a:ext cx="816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000000"/>
                  </a:solidFill>
                  <a:latin typeface="Tahoma" panose="020B0604030504040204" pitchFamily="34" charset="0"/>
                </a:rPr>
                <a:t>MEMW</a:t>
              </a:r>
              <a:endParaRPr lang="en-US" altLang="zh-CN" sz="2000" b="1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9723" name="Text Box 28"/>
            <p:cNvSpPr txBox="1"/>
            <p:nvPr/>
          </p:nvSpPr>
          <p:spPr>
            <a:xfrm>
              <a:off x="1200" y="2139"/>
              <a:ext cx="816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000000"/>
                  </a:solidFill>
                  <a:latin typeface="Tahoma" panose="020B0604030504040204" pitchFamily="34" charset="0"/>
                </a:rPr>
                <a:t>MEMR</a:t>
              </a:r>
              <a:endParaRPr lang="en-US" altLang="zh-CN" sz="2000" b="1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9724" name="Line 29"/>
            <p:cNvSpPr/>
            <p:nvPr/>
          </p:nvSpPr>
          <p:spPr>
            <a:xfrm>
              <a:off x="1248" y="1993"/>
              <a:ext cx="624" cy="0"/>
            </a:xfrm>
            <a:prstGeom prst="line">
              <a:avLst/>
            </a:prstGeom>
            <a:ln w="12700" cap="sq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9725" name="Line 30"/>
            <p:cNvSpPr/>
            <p:nvPr/>
          </p:nvSpPr>
          <p:spPr>
            <a:xfrm>
              <a:off x="1248" y="2176"/>
              <a:ext cx="624" cy="0"/>
            </a:xfrm>
            <a:prstGeom prst="line">
              <a:avLst/>
            </a:prstGeom>
            <a:ln w="12700" cap="sq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9726" name="Text Box 37"/>
            <p:cNvSpPr txBox="1"/>
            <p:nvPr/>
          </p:nvSpPr>
          <p:spPr>
            <a:xfrm>
              <a:off x="1200" y="2358"/>
              <a:ext cx="816" cy="442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000000"/>
                  </a:solidFill>
                  <a:latin typeface="Tahoma" panose="020B0604030504040204" pitchFamily="34" charset="0"/>
                </a:rPr>
                <a:t>高位地址信号</a:t>
              </a:r>
              <a:endParaRPr lang="zh-CN" altLang="en-US" sz="2000" b="1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9727" name="Text Box 38"/>
            <p:cNvSpPr txBox="1"/>
            <p:nvPr/>
          </p:nvSpPr>
          <p:spPr>
            <a:xfrm>
              <a:off x="1248" y="1081"/>
              <a:ext cx="864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000000"/>
                  </a:solidFill>
                  <a:latin typeface="Tahoma" panose="020B0604030504040204" pitchFamily="34" charset="0"/>
                </a:rPr>
                <a:t>D0~D7</a:t>
              </a:r>
              <a:endParaRPr lang="en-US" altLang="zh-CN" sz="2000" b="1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9728" name="Rectangle 45"/>
            <p:cNvSpPr/>
            <p:nvPr/>
          </p:nvSpPr>
          <p:spPr>
            <a:xfrm>
              <a:off x="432" y="1248"/>
              <a:ext cx="912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 anchor="b" anchorCtr="0"/>
            <a:p>
              <a:r>
                <a:rPr lang="en-US" altLang="zh-CN" b="1" dirty="0">
                  <a:solidFill>
                    <a:srgbClr val="800000"/>
                  </a:solidFill>
                  <a:latin typeface="Tahoma" panose="020B0604030504040204" pitchFamily="34" charset="0"/>
                </a:rPr>
                <a:t>CPU</a:t>
              </a:r>
              <a:endParaRPr lang="en-US" altLang="zh-CN" b="1" dirty="0">
                <a:solidFill>
                  <a:srgbClr val="800000"/>
                </a:solidFill>
                <a:latin typeface="Tahoma" panose="020B0604030504040204" pitchFamily="34" charset="0"/>
              </a:endParaRPr>
            </a:p>
            <a:p>
              <a:r>
                <a:rPr lang="en-US" altLang="zh-CN" b="1" dirty="0">
                  <a:solidFill>
                    <a:srgbClr val="800000"/>
                  </a:solidFill>
                  <a:latin typeface="Tahoma" panose="020B0604030504040204" pitchFamily="34" charset="0"/>
                </a:rPr>
                <a:t>8</a:t>
              </a:r>
              <a:r>
                <a:rPr lang="zh-CN" altLang="en-US" b="1" dirty="0">
                  <a:solidFill>
                    <a:srgbClr val="800000"/>
                  </a:solidFill>
                  <a:latin typeface="Tahoma" panose="020B0604030504040204" pitchFamily="34" charset="0"/>
                </a:rPr>
                <a:t>位</a:t>
              </a:r>
              <a:endParaRPr lang="zh-CN" altLang="en-US" b="1" dirty="0">
                <a:solidFill>
                  <a:srgbClr val="8000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5" name="Group 57"/>
          <p:cNvGrpSpPr/>
          <p:nvPr/>
        </p:nvGrpSpPr>
        <p:grpSpPr>
          <a:xfrm>
            <a:off x="3048000" y="2654300"/>
            <a:ext cx="3048000" cy="1971675"/>
            <a:chOff x="1920" y="1446"/>
            <a:chExt cx="1920" cy="1242"/>
          </a:xfrm>
        </p:grpSpPr>
        <p:sp>
          <p:nvSpPr>
            <p:cNvPr id="29730" name="Line 15"/>
            <p:cNvSpPr/>
            <p:nvPr/>
          </p:nvSpPr>
          <p:spPr>
            <a:xfrm>
              <a:off x="1920" y="1446"/>
              <a:ext cx="1920" cy="0"/>
            </a:xfrm>
            <a:prstGeom prst="line">
              <a:avLst/>
            </a:prstGeom>
            <a:ln w="19050" cap="sq" cmpd="sng">
              <a:solidFill>
                <a:srgbClr val="003300"/>
              </a:solidFill>
              <a:prstDash val="solid"/>
              <a:round/>
              <a:headEnd type="none" w="sm" len="sm"/>
              <a:tailEnd type="triangle" w="med" len="lg"/>
            </a:ln>
          </p:spPr>
        </p:sp>
        <p:sp>
          <p:nvSpPr>
            <p:cNvPr id="29731" name="Line 16"/>
            <p:cNvSpPr/>
            <p:nvPr/>
          </p:nvSpPr>
          <p:spPr>
            <a:xfrm>
              <a:off x="1920" y="1845"/>
              <a:ext cx="1920" cy="0"/>
            </a:xfrm>
            <a:prstGeom prst="line">
              <a:avLst/>
            </a:prstGeom>
            <a:ln w="19050" cap="sq" cmpd="sng">
              <a:solidFill>
                <a:srgbClr val="003300"/>
              </a:solidFill>
              <a:prstDash val="solid"/>
              <a:round/>
              <a:headEnd type="none" w="sm" len="sm"/>
              <a:tailEnd type="triangle" w="med" len="lg"/>
            </a:ln>
          </p:spPr>
        </p:sp>
        <p:sp>
          <p:nvSpPr>
            <p:cNvPr id="29732" name="Text Box 17"/>
            <p:cNvSpPr txBox="1"/>
            <p:nvPr/>
          </p:nvSpPr>
          <p:spPr>
            <a:xfrm>
              <a:off x="2688" y="1491"/>
              <a:ext cx="432" cy="300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ts val="1000"/>
                </a:lnSpc>
              </a:pPr>
              <a:r>
                <a:rPr lang="zh-CN" altLang="zh-CN" sz="1200" b="1" dirty="0">
                  <a:solidFill>
                    <a:srgbClr val="000000"/>
                  </a:solidFill>
                  <a:latin typeface="Tahoma" panose="020B0604030504040204" pitchFamily="34" charset="0"/>
                </a:rPr>
                <a:t>•</a:t>
              </a:r>
              <a:endParaRPr lang="zh-CN" altLang="zh-CN" sz="1200" b="1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  <a:p>
              <a:pPr>
                <a:lnSpc>
                  <a:spcPts val="1000"/>
                </a:lnSpc>
              </a:pPr>
              <a:r>
                <a:rPr lang="zh-CN" altLang="zh-CN" sz="1200" b="1" dirty="0">
                  <a:solidFill>
                    <a:srgbClr val="000000"/>
                  </a:solidFill>
                  <a:latin typeface="Tahoma" panose="020B0604030504040204" pitchFamily="34" charset="0"/>
                </a:rPr>
                <a:t>•</a:t>
              </a:r>
              <a:endParaRPr lang="zh-CN" altLang="zh-CN" sz="1200" b="1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  <a:p>
              <a:pPr>
                <a:lnSpc>
                  <a:spcPts val="1000"/>
                </a:lnSpc>
              </a:pPr>
              <a:r>
                <a:rPr lang="zh-CN" altLang="zh-CN" sz="1200" b="1" dirty="0">
                  <a:solidFill>
                    <a:srgbClr val="000000"/>
                  </a:solidFill>
                  <a:latin typeface="Tahoma" panose="020B0604030504040204" pitchFamily="34" charset="0"/>
                </a:rPr>
                <a:t>•</a:t>
              </a:r>
              <a:endParaRPr lang="zh-CN" altLang="zh-CN" sz="1200" b="1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9733" name="Line 20"/>
            <p:cNvSpPr/>
            <p:nvPr/>
          </p:nvSpPr>
          <p:spPr>
            <a:xfrm>
              <a:off x="1920" y="2066"/>
              <a:ext cx="1920" cy="0"/>
            </a:xfrm>
            <a:prstGeom prst="line">
              <a:avLst/>
            </a:prstGeom>
            <a:ln w="19050" cap="sq" cmpd="sng">
              <a:solidFill>
                <a:srgbClr val="003300"/>
              </a:solidFill>
              <a:prstDash val="solid"/>
              <a:round/>
              <a:headEnd type="none" w="sm" len="sm"/>
              <a:tailEnd type="triangle" w="med" len="lg"/>
            </a:ln>
          </p:spPr>
        </p:sp>
        <p:sp>
          <p:nvSpPr>
            <p:cNvPr id="29734" name="Line 21"/>
            <p:cNvSpPr/>
            <p:nvPr/>
          </p:nvSpPr>
          <p:spPr>
            <a:xfrm>
              <a:off x="1920" y="2249"/>
              <a:ext cx="1920" cy="0"/>
            </a:xfrm>
            <a:prstGeom prst="line">
              <a:avLst/>
            </a:prstGeom>
            <a:ln w="19050" cap="sq" cmpd="sng">
              <a:solidFill>
                <a:srgbClr val="003300"/>
              </a:solidFill>
              <a:prstDash val="solid"/>
              <a:round/>
              <a:headEnd type="none" w="sm" len="sm"/>
              <a:tailEnd type="triangle" w="med" len="lg"/>
            </a:ln>
          </p:spPr>
        </p:sp>
        <p:sp>
          <p:nvSpPr>
            <p:cNvPr id="29735" name="Line 32"/>
            <p:cNvSpPr/>
            <p:nvPr/>
          </p:nvSpPr>
          <p:spPr>
            <a:xfrm>
              <a:off x="3024" y="2448"/>
              <a:ext cx="480" cy="13"/>
            </a:xfrm>
            <a:prstGeom prst="line">
              <a:avLst/>
            </a:prstGeom>
            <a:ln w="19050" cap="sq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9736" name="Line 33"/>
            <p:cNvSpPr/>
            <p:nvPr/>
          </p:nvSpPr>
          <p:spPr>
            <a:xfrm>
              <a:off x="3504" y="2461"/>
              <a:ext cx="336" cy="0"/>
            </a:xfrm>
            <a:prstGeom prst="line">
              <a:avLst/>
            </a:prstGeom>
            <a:ln w="19050" cap="sq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</p:spPr>
        </p:sp>
        <p:sp>
          <p:nvSpPr>
            <p:cNvPr id="29737" name="Line 34"/>
            <p:cNvSpPr/>
            <p:nvPr/>
          </p:nvSpPr>
          <p:spPr>
            <a:xfrm flipV="1">
              <a:off x="3696" y="2686"/>
              <a:ext cx="144" cy="2"/>
            </a:xfrm>
            <a:prstGeom prst="line">
              <a:avLst/>
            </a:prstGeom>
            <a:ln w="19050" cap="sq" cmpd="sng">
              <a:solidFill>
                <a:srgbClr val="003300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9738" name="Line 35"/>
            <p:cNvSpPr/>
            <p:nvPr/>
          </p:nvSpPr>
          <p:spPr>
            <a:xfrm>
              <a:off x="1920" y="2431"/>
              <a:ext cx="672" cy="0"/>
            </a:xfrm>
            <a:prstGeom prst="line">
              <a:avLst/>
            </a:prstGeom>
            <a:ln w="19050" cap="sq" cmpd="sng">
              <a:solidFill>
                <a:srgbClr val="003300"/>
              </a:solidFill>
              <a:prstDash val="solid"/>
              <a:round/>
              <a:headEnd type="none" w="sm" len="sm"/>
              <a:tailEnd type="triangle" w="med" len="med"/>
            </a:ln>
          </p:spPr>
        </p:sp>
        <p:sp>
          <p:nvSpPr>
            <p:cNvPr id="29739" name="Line 36"/>
            <p:cNvSpPr/>
            <p:nvPr/>
          </p:nvSpPr>
          <p:spPr>
            <a:xfrm>
              <a:off x="1920" y="2650"/>
              <a:ext cx="672" cy="0"/>
            </a:xfrm>
            <a:prstGeom prst="line">
              <a:avLst/>
            </a:prstGeom>
            <a:ln w="28575" cap="sq" cmpd="sng">
              <a:solidFill>
                <a:srgbClr val="003300"/>
              </a:solidFill>
              <a:prstDash val="solid"/>
              <a:round/>
              <a:headEnd type="none" w="sm" len="sm"/>
              <a:tailEnd type="triangle" w="med" len="med"/>
            </a:ln>
          </p:spPr>
        </p:sp>
        <p:sp>
          <p:nvSpPr>
            <p:cNvPr id="29740" name="Line 49"/>
            <p:cNvSpPr/>
            <p:nvPr/>
          </p:nvSpPr>
          <p:spPr>
            <a:xfrm>
              <a:off x="3024" y="2688"/>
              <a:ext cx="528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74802" name="Line 50"/>
          <p:cNvSpPr/>
          <p:nvPr/>
        </p:nvSpPr>
        <p:spPr>
          <a:xfrm>
            <a:off x="5638800" y="4625975"/>
            <a:ext cx="0" cy="38100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4803" name="Line 51"/>
          <p:cNvSpPr/>
          <p:nvPr/>
        </p:nvSpPr>
        <p:spPr>
          <a:xfrm>
            <a:off x="5638800" y="5006975"/>
            <a:ext cx="1066800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74805" name="Line 53"/>
          <p:cNvSpPr/>
          <p:nvPr/>
        </p:nvSpPr>
        <p:spPr>
          <a:xfrm>
            <a:off x="4800600" y="5235575"/>
            <a:ext cx="2286000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9745" name="文本框 5"/>
          <p:cNvSpPr txBox="1"/>
          <p:nvPr/>
        </p:nvSpPr>
        <p:spPr>
          <a:xfrm>
            <a:off x="6227763" y="2781300"/>
            <a:ext cx="554037" cy="4762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ts val="1000"/>
              </a:lnSpc>
            </a:pPr>
            <a:r>
              <a:rPr lang="zh-CN" altLang="zh-CN" sz="1000" b="1" dirty="0">
                <a:solidFill>
                  <a:srgbClr val="000000"/>
                </a:solidFill>
                <a:latin typeface="Tahoma" panose="020B0604030504040204" pitchFamily="34" charset="0"/>
              </a:rPr>
              <a:t>•</a:t>
            </a:r>
            <a:endParaRPr lang="zh-CN" altLang="zh-CN" sz="1000" b="1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>
              <a:lnSpc>
                <a:spcPts val="1000"/>
              </a:lnSpc>
            </a:pPr>
            <a:r>
              <a:rPr lang="zh-CN" altLang="zh-CN" sz="1000" b="1" dirty="0">
                <a:solidFill>
                  <a:srgbClr val="000000"/>
                </a:solidFill>
                <a:latin typeface="Tahoma" panose="020B0604030504040204" pitchFamily="34" charset="0"/>
                <a:sym typeface="宋体" panose="02010600030101010101" pitchFamily="2" charset="-122"/>
              </a:rPr>
              <a:t>•</a:t>
            </a:r>
            <a:endParaRPr lang="zh-CN" altLang="zh-CN" sz="1000" b="1" dirty="0">
              <a:solidFill>
                <a:srgbClr val="000000"/>
              </a:solidFill>
              <a:latin typeface="Tahoma" panose="020B0604030504040204" pitchFamily="34" charset="0"/>
              <a:sym typeface="宋体" panose="02010600030101010101" pitchFamily="2" charset="-122"/>
            </a:endParaRPr>
          </a:p>
          <a:p>
            <a:pPr>
              <a:lnSpc>
                <a:spcPts val="1000"/>
              </a:lnSpc>
            </a:pPr>
            <a:r>
              <a:rPr lang="zh-CN" altLang="zh-CN" sz="1000" b="1" dirty="0">
                <a:solidFill>
                  <a:srgbClr val="000000"/>
                </a:solidFill>
                <a:latin typeface="Tahoma" panose="020B0604030504040204" pitchFamily="34" charset="0"/>
                <a:sym typeface="宋体" panose="02010600030101010101" pitchFamily="2" charset="-122"/>
              </a:rPr>
              <a:t>•</a:t>
            </a:r>
            <a:endParaRPr lang="zh-CN" altLang="en-US" sz="1000">
              <a:latin typeface="Tahoma" panose="020B0604030504040204" pitchFamily="34" charset="0"/>
            </a:endParaRPr>
          </a:p>
        </p:txBody>
      </p:sp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4.2.2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存储器扩展与译码方式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868035" y="1844675"/>
            <a:ext cx="2520315" cy="3600450"/>
          </a:xfrm>
          <a:prstGeom prst="rect">
            <a:avLst/>
          </a:prstGeom>
          <a:noFill/>
          <a:ln w="28575" cap="flat" cmpd="sng" algn="ctr">
            <a:solidFill>
              <a:schemeClr val="accent1">
                <a:shade val="50000"/>
              </a:schemeClr>
            </a:solidFill>
            <a:prstDash val="sysDash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2411730" y="2492375"/>
            <a:ext cx="4320540" cy="936625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圆角矩形标注 7"/>
          <p:cNvSpPr/>
          <p:nvPr/>
        </p:nvSpPr>
        <p:spPr>
          <a:xfrm>
            <a:off x="112395" y="3212465"/>
            <a:ext cx="1435735" cy="1237615"/>
          </a:xfrm>
          <a:prstGeom prst="wedgeRoundRectCallout">
            <a:avLst>
              <a:gd name="adj1" fmla="val 114642"/>
              <a:gd name="adj2" fmla="val -39618"/>
              <a:gd name="adj3" fmla="val 16667"/>
            </a:avLst>
          </a:prstGeom>
          <a:solidFill>
            <a:schemeClr val="accent5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b="1">
                <a:sym typeface="+mn-ea"/>
              </a:rPr>
              <a:t>片内译码</a:t>
            </a:r>
            <a:endParaRPr lang="zh-CN" altLang="en-US" b="1"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b="1">
                <a:sym typeface="+mn-ea"/>
              </a:rPr>
              <a:t>选择存储</a:t>
            </a:r>
            <a:endParaRPr lang="zh-CN" altLang="en-US" b="1"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b="1">
                <a:sym typeface="+mn-ea"/>
              </a:rPr>
              <a:t>单元</a:t>
            </a:r>
            <a:endParaRPr kumimoji="1" lang="en-US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4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74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74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74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297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66" grpId="0" bldLvl="0" animBg="1"/>
      <p:bldP spid="74783" grpId="0" bldLvl="0" animBg="1"/>
      <p:bldP spid="6" grpId="0" animBg="1"/>
      <p:bldP spid="29716" grpId="0"/>
      <p:bldP spid="7" grpId="0" animBg="1"/>
      <p:bldP spid="8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4.2.2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存储器扩展与译码方式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9714" name="Text Box 40"/>
          <p:cNvSpPr txBox="1"/>
          <p:nvPr>
            <p:custDataLst>
              <p:tags r:id="rId2"/>
            </p:custDataLst>
          </p:nvPr>
        </p:nvSpPr>
        <p:spPr>
          <a:xfrm>
            <a:off x="605155" y="1488440"/>
            <a:ext cx="5716588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>
                <a:sym typeface="+mn-ea"/>
              </a:rPr>
              <a:t>片选</a:t>
            </a:r>
            <a:r>
              <a:rPr lang="zh-CN" altLang="en-US" b="1" dirty="0">
                <a:solidFill>
                  <a:schemeClr val="tx1"/>
                </a:solidFill>
                <a:latin typeface="Tahoma" panose="020B0604030504040204" pitchFamily="34" charset="0"/>
              </a:rPr>
              <a:t>译码方式：</a:t>
            </a:r>
            <a:endParaRPr lang="zh-CN" altLang="en-US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5790" y="1948815"/>
            <a:ext cx="3208020" cy="14097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FF0000"/>
                </a:solidFill>
              </a:rPr>
              <a:t>全地址译码法</a:t>
            </a:r>
            <a:endParaRPr lang="zh-CN" altLang="en-US" b="1">
              <a:solidFill>
                <a:srgbClr val="FF0000"/>
              </a:solidFill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FF0000"/>
                </a:solidFill>
                <a:sym typeface="+mn-ea"/>
              </a:rPr>
              <a:t>部分地址译码法</a:t>
            </a:r>
            <a:endParaRPr lang="zh-CN" altLang="en-US" b="1">
              <a:solidFill>
                <a:srgbClr val="FF0000"/>
              </a:solidFill>
              <a:sym typeface="+mn-ea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FF0000"/>
                </a:solidFill>
                <a:sym typeface="+mn-ea"/>
              </a:rPr>
              <a:t>线选法</a:t>
            </a:r>
            <a:endParaRPr lang="zh-CN" altLang="en-US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47720" y="2849245"/>
            <a:ext cx="5428615" cy="9772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zh-CN" altLang="en-US" b="1">
                <a:solidFill>
                  <a:srgbClr val="00B0F0"/>
                </a:solidFill>
              </a:rPr>
              <a:t>用系统高位地址线中的某根线作为存储器芯片的片选信号</a:t>
            </a:r>
            <a:endParaRPr lang="zh-CN" altLang="en-US" b="1">
              <a:solidFill>
                <a:srgbClr val="00B0F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47720" y="2003425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rgbClr val="0000FF"/>
                </a:solidFill>
              </a:rPr>
              <a:t>全部高位地址线都参与地址译码</a:t>
            </a:r>
            <a:endParaRPr lang="zh-CN" altLang="en-US" b="1">
              <a:solidFill>
                <a:srgbClr val="0000FF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348355" y="2442210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rgbClr val="00B050"/>
                </a:solidFill>
              </a:rPr>
              <a:t>部分高位地址线都参与地址译码</a:t>
            </a:r>
            <a:endParaRPr lang="zh-CN" altLang="en-US" b="1">
              <a:solidFill>
                <a:srgbClr val="00B05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5155" y="4149090"/>
            <a:ext cx="7803515" cy="6934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20000"/>
              </a:lnSpc>
              <a:buFont typeface="Arial" panose="020B0604020202020204" pitchFamily="34" charset="0"/>
            </a:pPr>
            <a:r>
              <a:rPr lang="zh-CN" altLang="en-US" b="1" i="1">
                <a:solidFill>
                  <a:srgbClr val="FF0000"/>
                </a:solidFill>
              </a:rPr>
              <a:t>问题：</a:t>
            </a:r>
            <a:r>
              <a:rPr lang="en-US" altLang="zh-CN" b="1" i="1">
                <a:solidFill>
                  <a:srgbClr val="FF0000"/>
                </a:solidFill>
              </a:rPr>
              <a:t>8086</a:t>
            </a:r>
            <a:r>
              <a:rPr lang="zh-CN" altLang="en-US" b="1" i="1">
                <a:solidFill>
                  <a:srgbClr val="FF0000"/>
                </a:solidFill>
              </a:rPr>
              <a:t>的地址线有多少根？</a:t>
            </a:r>
            <a:endParaRPr lang="zh-CN" altLang="en-US" b="1" i="1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3" grpId="0"/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261" name="Text Box 77"/>
          <p:cNvSpPr txBox="1"/>
          <p:nvPr/>
        </p:nvSpPr>
        <p:spPr>
          <a:xfrm>
            <a:off x="539750" y="5516563"/>
            <a:ext cx="2879725" cy="365125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 anchor="t" anchorCtr="0">
            <a:spAutoFit/>
          </a:bodyPr>
          <a:p>
            <a:r>
              <a:rPr lang="en-US" altLang="zh-CN" b="1" dirty="0">
                <a:latin typeface="Arial" panose="020B0604020202020204" pitchFamily="34" charset="0"/>
              </a:rPr>
              <a:t>6264</a:t>
            </a:r>
            <a:r>
              <a:rPr lang="zh-CN" altLang="en-US" b="1" dirty="0">
                <a:latin typeface="Arial" panose="020B0604020202020204" pitchFamily="34" charset="0"/>
              </a:rPr>
              <a:t>的地址范围为：</a:t>
            </a:r>
            <a:endParaRPr lang="zh-CN" altLang="en-US" b="1" dirty="0">
              <a:latin typeface="Arial" panose="020B0604020202020204" pitchFamily="34" charset="0"/>
            </a:endParaRPr>
          </a:p>
        </p:txBody>
      </p:sp>
      <p:sp>
        <p:nvSpPr>
          <p:cNvPr id="93263" name="Rectangle 79"/>
          <p:cNvSpPr>
            <a:spLocks noChangeArrowheads="1"/>
          </p:cNvSpPr>
          <p:nvPr/>
        </p:nvSpPr>
        <p:spPr bwMode="auto">
          <a:xfrm>
            <a:off x="3563938" y="5910263"/>
            <a:ext cx="2012950" cy="7016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marL="1828800" marR="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3270" name="Text Box 86"/>
          <p:cNvSpPr txBox="1">
            <a:spLocks noChangeArrowheads="1"/>
          </p:cNvSpPr>
          <p:nvPr/>
        </p:nvSpPr>
        <p:spPr bwMode="auto">
          <a:xfrm>
            <a:off x="1116013" y="5795963"/>
            <a:ext cx="7705725" cy="9525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0111 100</a:t>
            </a:r>
            <a:r>
              <a:rPr kumimoji="0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 0000 0000 0000B</a:t>
            </a: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－－－－</a:t>
            </a:r>
            <a:r>
              <a:rPr kumimoji="0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78000H</a:t>
            </a:r>
            <a:endParaRPr kumimoji="0" lang="en-US" altLang="zh-CN" sz="2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0111 100</a:t>
            </a:r>
            <a:r>
              <a:rPr kumimoji="0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 1111  1111 1111B </a:t>
            </a:r>
            <a:r>
              <a: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－－－－</a:t>
            </a:r>
            <a:r>
              <a:rPr kumimoji="0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79FFFH</a:t>
            </a:r>
            <a:endParaRPr kumimoji="0" lang="en-US" altLang="zh-CN" sz="2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24" name="Text Box 87"/>
          <p:cNvSpPr txBox="1"/>
          <p:nvPr/>
        </p:nvSpPr>
        <p:spPr>
          <a:xfrm>
            <a:off x="96838" y="407988"/>
            <a:ext cx="1092200" cy="31083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1</a:t>
            </a:r>
            <a:r>
              <a:rPr lang="zh-CN" altLang="en-US" sz="2800" b="1" dirty="0">
                <a:solidFill>
                  <a:schemeClr val="tx1"/>
                </a:solidFill>
                <a:latin typeface="Tahoma" panose="020B0604030504040204" pitchFamily="34" charset="0"/>
              </a:rPr>
              <a:t>：</a:t>
            </a:r>
            <a:r>
              <a:rPr lang="en-US" altLang="zh-CN" sz="2800" b="1" dirty="0">
                <a:solidFill>
                  <a:schemeClr val="tx1"/>
                </a:solidFill>
                <a:latin typeface="Tahoma" panose="020B0604030504040204" pitchFamily="34" charset="0"/>
              </a:rPr>
              <a:t>8</a:t>
            </a:r>
            <a:r>
              <a:rPr lang="zh-CN" altLang="en-US" sz="2800" b="1" dirty="0">
                <a:solidFill>
                  <a:schemeClr val="tx1"/>
                </a:solidFill>
                <a:latin typeface="Tahoma" panose="020B0604030504040204" pitchFamily="34" charset="0"/>
              </a:rPr>
              <a:t>位</a:t>
            </a:r>
            <a:r>
              <a:rPr lang="en-US" altLang="zh-CN" sz="2800" b="1" dirty="0">
                <a:solidFill>
                  <a:schemeClr val="tx1"/>
                </a:solidFill>
                <a:latin typeface="Tahoma" panose="020B0604030504040204" pitchFamily="34" charset="0"/>
              </a:rPr>
              <a:t>CPU</a:t>
            </a:r>
            <a:r>
              <a:rPr lang="zh-CN" altLang="en-US" sz="2800" b="1" dirty="0">
                <a:solidFill>
                  <a:schemeClr val="tx1"/>
                </a:solidFill>
                <a:latin typeface="Tahoma" panose="020B0604030504040204" pitchFamily="34" charset="0"/>
              </a:rPr>
              <a:t>与存储器的连接</a:t>
            </a:r>
            <a:endParaRPr lang="zh-CN" altLang="en-US" sz="28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grpSp>
        <p:nvGrpSpPr>
          <p:cNvPr id="30725" name="Group 99"/>
          <p:cNvGrpSpPr/>
          <p:nvPr/>
        </p:nvGrpSpPr>
        <p:grpSpPr>
          <a:xfrm>
            <a:off x="1219200" y="44450"/>
            <a:ext cx="7315200" cy="5429250"/>
            <a:chOff x="768" y="28"/>
            <a:chExt cx="4608" cy="3420"/>
          </a:xfrm>
        </p:grpSpPr>
        <p:sp>
          <p:nvSpPr>
            <p:cNvPr id="30726" name="Line 2"/>
            <p:cNvSpPr/>
            <p:nvPr/>
          </p:nvSpPr>
          <p:spPr>
            <a:xfrm>
              <a:off x="3087" y="2140"/>
              <a:ext cx="336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30727" name="Rectangle 4"/>
            <p:cNvSpPr/>
            <p:nvPr/>
          </p:nvSpPr>
          <p:spPr>
            <a:xfrm>
              <a:off x="768" y="346"/>
              <a:ext cx="912" cy="3072"/>
            </a:xfrm>
            <a:prstGeom prst="rect">
              <a:avLst/>
            </a:prstGeom>
            <a:noFill/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endParaRPr lang="zh-CN" altLang="en-US" sz="2800" dirty="0">
                <a:latin typeface="Tahoma" panose="020B0604030504040204" pitchFamily="34" charset="0"/>
              </a:endParaRPr>
            </a:p>
          </p:txBody>
        </p:sp>
        <p:sp>
          <p:nvSpPr>
            <p:cNvPr id="30728" name="Rectangle 5"/>
            <p:cNvSpPr/>
            <p:nvPr/>
          </p:nvSpPr>
          <p:spPr>
            <a:xfrm>
              <a:off x="4512" y="346"/>
              <a:ext cx="720" cy="2400"/>
            </a:xfrm>
            <a:prstGeom prst="rect">
              <a:avLst/>
            </a:prstGeom>
            <a:noFill/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endParaRPr lang="zh-CN" altLang="en-US" sz="2800" dirty="0">
                <a:latin typeface="Tahoma" panose="020B0604030504040204" pitchFamily="34" charset="0"/>
              </a:endParaRPr>
            </a:p>
          </p:txBody>
        </p:sp>
        <p:sp>
          <p:nvSpPr>
            <p:cNvPr id="30729" name="Text Box 6"/>
            <p:cNvSpPr txBox="1"/>
            <p:nvPr/>
          </p:nvSpPr>
          <p:spPr>
            <a:xfrm>
              <a:off x="4512" y="442"/>
              <a:ext cx="864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ahoma" panose="020B0604030504040204" pitchFamily="34" charset="0"/>
                </a:rPr>
                <a:t>D0~D7</a:t>
              </a:r>
              <a:endParaRPr lang="en-US" altLang="zh-CN" dirty="0">
                <a:latin typeface="Tahoma" panose="020B0604030504040204" pitchFamily="34" charset="0"/>
              </a:endParaRPr>
            </a:p>
          </p:txBody>
        </p:sp>
        <p:sp>
          <p:nvSpPr>
            <p:cNvPr id="30730" name="Text Box 7"/>
            <p:cNvSpPr txBox="1"/>
            <p:nvPr/>
          </p:nvSpPr>
          <p:spPr>
            <a:xfrm>
              <a:off x="4512" y="730"/>
              <a:ext cx="43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ahoma" panose="020B0604030504040204" pitchFamily="34" charset="0"/>
                </a:rPr>
                <a:t>A</a:t>
              </a:r>
              <a:r>
                <a:rPr lang="en-US" altLang="zh-CN" sz="1800" dirty="0">
                  <a:latin typeface="Tahoma" panose="020B0604030504040204" pitchFamily="34" charset="0"/>
                </a:rPr>
                <a:t>0</a:t>
              </a:r>
              <a:endParaRPr lang="en-US" altLang="zh-CN" dirty="0">
                <a:latin typeface="Tahoma" panose="020B0604030504040204" pitchFamily="34" charset="0"/>
              </a:endParaRPr>
            </a:p>
          </p:txBody>
        </p:sp>
        <p:sp>
          <p:nvSpPr>
            <p:cNvPr id="30731" name="Text Box 8"/>
            <p:cNvSpPr txBox="1"/>
            <p:nvPr/>
          </p:nvSpPr>
          <p:spPr>
            <a:xfrm>
              <a:off x="4512" y="1210"/>
              <a:ext cx="43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ahoma" panose="020B0604030504040204" pitchFamily="34" charset="0"/>
                </a:rPr>
                <a:t>A</a:t>
              </a:r>
              <a:r>
                <a:rPr lang="en-US" altLang="zh-CN" sz="1800" dirty="0">
                  <a:latin typeface="Tahoma" panose="020B0604030504040204" pitchFamily="34" charset="0"/>
                </a:rPr>
                <a:t>12</a:t>
              </a:r>
              <a:endParaRPr lang="en-US" altLang="zh-CN" dirty="0">
                <a:latin typeface="Tahoma" panose="020B0604030504040204" pitchFamily="34" charset="0"/>
              </a:endParaRPr>
            </a:p>
          </p:txBody>
        </p:sp>
        <p:sp>
          <p:nvSpPr>
            <p:cNvPr id="30732" name="Text Box 9"/>
            <p:cNvSpPr txBox="1"/>
            <p:nvPr/>
          </p:nvSpPr>
          <p:spPr>
            <a:xfrm>
              <a:off x="4560" y="1066"/>
              <a:ext cx="43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zh-CN" dirty="0">
                  <a:latin typeface="Tahoma" panose="020B0604030504040204" pitchFamily="34" charset="0"/>
                </a:rPr>
                <a:t>•</a:t>
              </a:r>
              <a:endParaRPr lang="zh-CN" altLang="zh-CN" dirty="0">
                <a:latin typeface="Tahoma" panose="020B0604030504040204" pitchFamily="34" charset="0"/>
              </a:endParaRPr>
            </a:p>
          </p:txBody>
        </p:sp>
        <p:sp>
          <p:nvSpPr>
            <p:cNvPr id="30733" name="Text Box 10"/>
            <p:cNvSpPr txBox="1"/>
            <p:nvPr/>
          </p:nvSpPr>
          <p:spPr>
            <a:xfrm>
              <a:off x="4560" y="970"/>
              <a:ext cx="43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zh-CN" dirty="0">
                  <a:latin typeface="Tahoma" panose="020B0604030504040204" pitchFamily="34" charset="0"/>
                </a:rPr>
                <a:t>•</a:t>
              </a:r>
              <a:endParaRPr lang="zh-CN" altLang="zh-CN" dirty="0">
                <a:latin typeface="Tahoma" panose="020B0604030504040204" pitchFamily="34" charset="0"/>
              </a:endParaRPr>
            </a:p>
          </p:txBody>
        </p:sp>
        <p:sp>
          <p:nvSpPr>
            <p:cNvPr id="30734" name="Text Box 11"/>
            <p:cNvSpPr txBox="1"/>
            <p:nvPr/>
          </p:nvSpPr>
          <p:spPr>
            <a:xfrm>
              <a:off x="4560" y="874"/>
              <a:ext cx="43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zh-CN" dirty="0">
                  <a:latin typeface="Tahoma" panose="020B0604030504040204" pitchFamily="34" charset="0"/>
                </a:rPr>
                <a:t>•</a:t>
              </a:r>
              <a:endParaRPr lang="zh-CN" altLang="zh-CN" dirty="0">
                <a:latin typeface="Tahoma" panose="020B0604030504040204" pitchFamily="34" charset="0"/>
              </a:endParaRPr>
            </a:p>
          </p:txBody>
        </p:sp>
        <p:sp>
          <p:nvSpPr>
            <p:cNvPr id="30735" name="Text Box 12"/>
            <p:cNvSpPr txBox="1"/>
            <p:nvPr/>
          </p:nvSpPr>
          <p:spPr>
            <a:xfrm>
              <a:off x="4512" y="1498"/>
              <a:ext cx="43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ahoma" panose="020B0604030504040204" pitchFamily="34" charset="0"/>
                </a:rPr>
                <a:t>WE</a:t>
              </a:r>
              <a:endParaRPr lang="en-US" altLang="zh-CN" dirty="0">
                <a:latin typeface="Tahoma" panose="020B0604030504040204" pitchFamily="34" charset="0"/>
              </a:endParaRPr>
            </a:p>
          </p:txBody>
        </p:sp>
        <p:sp>
          <p:nvSpPr>
            <p:cNvPr id="30736" name="Text Box 13"/>
            <p:cNvSpPr txBox="1"/>
            <p:nvPr/>
          </p:nvSpPr>
          <p:spPr>
            <a:xfrm>
              <a:off x="4521" y="1738"/>
              <a:ext cx="43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ahoma" panose="020B0604030504040204" pitchFamily="34" charset="0"/>
                </a:rPr>
                <a:t>OE</a:t>
              </a:r>
              <a:endParaRPr lang="en-US" altLang="zh-CN" dirty="0">
                <a:latin typeface="Tahoma" panose="020B0604030504040204" pitchFamily="34" charset="0"/>
              </a:endParaRPr>
            </a:p>
          </p:txBody>
        </p:sp>
        <p:sp>
          <p:nvSpPr>
            <p:cNvPr id="30737" name="Text Box 14"/>
            <p:cNvSpPr txBox="1"/>
            <p:nvPr/>
          </p:nvSpPr>
          <p:spPr>
            <a:xfrm>
              <a:off x="4512" y="2170"/>
              <a:ext cx="545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ahoma" panose="020B0604030504040204" pitchFamily="34" charset="0"/>
                </a:rPr>
                <a:t>CE</a:t>
              </a:r>
              <a:r>
                <a:rPr lang="en-US" altLang="zh-CN" sz="1800" dirty="0">
                  <a:latin typeface="Tahoma" panose="020B0604030504040204" pitchFamily="34" charset="0"/>
                </a:rPr>
                <a:t>1</a:t>
              </a:r>
              <a:endParaRPr lang="en-US" altLang="zh-CN" dirty="0">
                <a:latin typeface="Tahoma" panose="020B0604030504040204" pitchFamily="34" charset="0"/>
              </a:endParaRPr>
            </a:p>
          </p:txBody>
        </p:sp>
        <p:sp>
          <p:nvSpPr>
            <p:cNvPr id="30738" name="Text Box 15"/>
            <p:cNvSpPr txBox="1"/>
            <p:nvPr/>
          </p:nvSpPr>
          <p:spPr>
            <a:xfrm>
              <a:off x="4513" y="2435"/>
              <a:ext cx="499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ahoma" panose="020B0604030504040204" pitchFamily="34" charset="0"/>
                </a:rPr>
                <a:t>CE</a:t>
              </a:r>
              <a:r>
                <a:rPr lang="en-US" altLang="zh-CN" sz="1800" dirty="0">
                  <a:latin typeface="Tahoma" panose="020B0604030504040204" pitchFamily="34" charset="0"/>
                </a:rPr>
                <a:t>2</a:t>
              </a:r>
              <a:endParaRPr lang="en-US" altLang="zh-CN" dirty="0">
                <a:latin typeface="Tahoma" panose="020B0604030504040204" pitchFamily="34" charset="0"/>
              </a:endParaRPr>
            </a:p>
          </p:txBody>
        </p:sp>
        <p:sp>
          <p:nvSpPr>
            <p:cNvPr id="30739" name="AutoShape 16"/>
            <p:cNvSpPr/>
            <p:nvPr/>
          </p:nvSpPr>
          <p:spPr>
            <a:xfrm>
              <a:off x="1680" y="455"/>
              <a:ext cx="2832" cy="227"/>
            </a:xfrm>
            <a:prstGeom prst="leftRightArrow">
              <a:avLst>
                <a:gd name="adj1" fmla="val 57712"/>
                <a:gd name="adj2" fmla="val 82594"/>
              </a:avLst>
            </a:prstGeom>
            <a:solidFill>
              <a:schemeClr val="accent1"/>
            </a:solidFill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endParaRPr lang="zh-CN" altLang="en-US" sz="2800" dirty="0">
                <a:latin typeface="Tahoma" panose="020B0604030504040204" pitchFamily="34" charset="0"/>
              </a:endParaRPr>
            </a:p>
          </p:txBody>
        </p:sp>
        <p:sp>
          <p:nvSpPr>
            <p:cNvPr id="30740" name="Line 17"/>
            <p:cNvSpPr/>
            <p:nvPr/>
          </p:nvSpPr>
          <p:spPr>
            <a:xfrm>
              <a:off x="1680" y="922"/>
              <a:ext cx="2832" cy="0"/>
            </a:xfrm>
            <a:prstGeom prst="line">
              <a:avLst/>
            </a:prstGeom>
            <a:ln w="19050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lg"/>
            </a:ln>
          </p:spPr>
        </p:sp>
        <p:sp>
          <p:nvSpPr>
            <p:cNvPr id="30741" name="Line 18"/>
            <p:cNvSpPr/>
            <p:nvPr/>
          </p:nvSpPr>
          <p:spPr>
            <a:xfrm>
              <a:off x="1680" y="1393"/>
              <a:ext cx="2832" cy="0"/>
            </a:xfrm>
            <a:prstGeom prst="line">
              <a:avLst/>
            </a:prstGeom>
            <a:ln w="19050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lg"/>
            </a:ln>
          </p:spPr>
        </p:sp>
        <p:sp>
          <p:nvSpPr>
            <p:cNvPr id="30742" name="Text Box 19"/>
            <p:cNvSpPr txBox="1"/>
            <p:nvPr/>
          </p:nvSpPr>
          <p:spPr>
            <a:xfrm>
              <a:off x="2448" y="922"/>
              <a:ext cx="43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zh-CN" dirty="0">
                  <a:latin typeface="Tahoma" panose="020B0604030504040204" pitchFamily="34" charset="0"/>
                </a:rPr>
                <a:t>•</a:t>
              </a:r>
              <a:endParaRPr lang="zh-CN" altLang="zh-CN" dirty="0">
                <a:latin typeface="Tahoma" panose="020B0604030504040204" pitchFamily="34" charset="0"/>
              </a:endParaRPr>
            </a:p>
          </p:txBody>
        </p:sp>
        <p:sp>
          <p:nvSpPr>
            <p:cNvPr id="30743" name="Text Box 20"/>
            <p:cNvSpPr txBox="1"/>
            <p:nvPr/>
          </p:nvSpPr>
          <p:spPr>
            <a:xfrm>
              <a:off x="2448" y="1018"/>
              <a:ext cx="43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zh-CN" dirty="0">
                  <a:latin typeface="Tahoma" panose="020B0604030504040204" pitchFamily="34" charset="0"/>
                </a:rPr>
                <a:t>•</a:t>
              </a:r>
              <a:endParaRPr lang="zh-CN" altLang="zh-CN" dirty="0">
                <a:latin typeface="Tahoma" panose="020B0604030504040204" pitchFamily="34" charset="0"/>
              </a:endParaRPr>
            </a:p>
          </p:txBody>
        </p:sp>
        <p:sp>
          <p:nvSpPr>
            <p:cNvPr id="30744" name="Text Box 21"/>
            <p:cNvSpPr txBox="1"/>
            <p:nvPr/>
          </p:nvSpPr>
          <p:spPr>
            <a:xfrm>
              <a:off x="2448" y="1126"/>
              <a:ext cx="160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zh-CN" dirty="0">
                  <a:latin typeface="Tahoma" panose="020B0604030504040204" pitchFamily="34" charset="0"/>
                </a:rPr>
                <a:t>•</a:t>
              </a:r>
              <a:endParaRPr lang="zh-CN" altLang="zh-CN" dirty="0">
                <a:latin typeface="Tahoma" panose="020B0604030504040204" pitchFamily="34" charset="0"/>
              </a:endParaRPr>
            </a:p>
          </p:txBody>
        </p:sp>
        <p:sp>
          <p:nvSpPr>
            <p:cNvPr id="30745" name="Line 22"/>
            <p:cNvSpPr/>
            <p:nvPr/>
          </p:nvSpPr>
          <p:spPr>
            <a:xfrm>
              <a:off x="1680" y="1642"/>
              <a:ext cx="2832" cy="0"/>
            </a:xfrm>
            <a:prstGeom prst="line">
              <a:avLst/>
            </a:prstGeom>
            <a:ln w="19050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lg"/>
            </a:ln>
          </p:spPr>
        </p:sp>
        <p:sp>
          <p:nvSpPr>
            <p:cNvPr id="30746" name="Line 23"/>
            <p:cNvSpPr/>
            <p:nvPr/>
          </p:nvSpPr>
          <p:spPr>
            <a:xfrm>
              <a:off x="1680" y="1882"/>
              <a:ext cx="2832" cy="0"/>
            </a:xfrm>
            <a:prstGeom prst="line">
              <a:avLst/>
            </a:prstGeom>
            <a:ln w="19050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lg"/>
            </a:ln>
          </p:spPr>
        </p:sp>
        <p:sp>
          <p:nvSpPr>
            <p:cNvPr id="30747" name="Line 24"/>
            <p:cNvSpPr/>
            <p:nvPr/>
          </p:nvSpPr>
          <p:spPr>
            <a:xfrm>
              <a:off x="4560" y="1546"/>
              <a:ext cx="288" cy="0"/>
            </a:xfrm>
            <a:prstGeom prst="line">
              <a:avLst/>
            </a:prstGeom>
            <a:ln w="1905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30748" name="Line 25"/>
            <p:cNvSpPr/>
            <p:nvPr/>
          </p:nvSpPr>
          <p:spPr>
            <a:xfrm>
              <a:off x="4569" y="1786"/>
              <a:ext cx="288" cy="0"/>
            </a:xfrm>
            <a:prstGeom prst="line">
              <a:avLst/>
            </a:prstGeom>
            <a:ln w="1905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30749" name="Line 26"/>
            <p:cNvSpPr/>
            <p:nvPr/>
          </p:nvSpPr>
          <p:spPr>
            <a:xfrm>
              <a:off x="4560" y="2218"/>
              <a:ext cx="288" cy="0"/>
            </a:xfrm>
            <a:prstGeom prst="line">
              <a:avLst/>
            </a:prstGeom>
            <a:ln w="1905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30750" name="Text Box 27"/>
            <p:cNvSpPr txBox="1"/>
            <p:nvPr/>
          </p:nvSpPr>
          <p:spPr>
            <a:xfrm>
              <a:off x="1344" y="778"/>
              <a:ext cx="43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ahoma" panose="020B0604030504040204" pitchFamily="34" charset="0"/>
                </a:rPr>
                <a:t>A</a:t>
              </a:r>
              <a:r>
                <a:rPr lang="en-US" altLang="zh-CN" sz="1800" dirty="0">
                  <a:latin typeface="Tahoma" panose="020B0604030504040204" pitchFamily="34" charset="0"/>
                </a:rPr>
                <a:t>0</a:t>
              </a:r>
              <a:endParaRPr lang="en-US" altLang="zh-CN" dirty="0">
                <a:latin typeface="Tahoma" panose="020B0604030504040204" pitchFamily="34" charset="0"/>
              </a:endParaRPr>
            </a:p>
          </p:txBody>
        </p:sp>
        <p:sp>
          <p:nvSpPr>
            <p:cNvPr id="30751" name="Text Box 28"/>
            <p:cNvSpPr txBox="1"/>
            <p:nvPr/>
          </p:nvSpPr>
          <p:spPr>
            <a:xfrm>
              <a:off x="1296" y="1228"/>
              <a:ext cx="43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ahoma" panose="020B0604030504040204" pitchFamily="34" charset="0"/>
                </a:rPr>
                <a:t>A</a:t>
              </a:r>
              <a:r>
                <a:rPr lang="en-US" altLang="zh-CN" sz="1800" dirty="0">
                  <a:latin typeface="Tahoma" panose="020B0604030504040204" pitchFamily="34" charset="0"/>
                </a:rPr>
                <a:t>12</a:t>
              </a:r>
              <a:endParaRPr lang="en-US" altLang="zh-CN" dirty="0">
                <a:latin typeface="Tahoma" panose="020B0604030504040204" pitchFamily="34" charset="0"/>
              </a:endParaRPr>
            </a:p>
          </p:txBody>
        </p:sp>
        <p:sp>
          <p:nvSpPr>
            <p:cNvPr id="30752" name="Text Box 29"/>
            <p:cNvSpPr txBox="1"/>
            <p:nvPr/>
          </p:nvSpPr>
          <p:spPr>
            <a:xfrm>
              <a:off x="960" y="1498"/>
              <a:ext cx="816" cy="290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ahoma" panose="020B0604030504040204" pitchFamily="34" charset="0"/>
                </a:rPr>
                <a:t> WR</a:t>
              </a:r>
              <a:endParaRPr lang="en-US" altLang="zh-CN" dirty="0">
                <a:latin typeface="Tahoma" panose="020B0604030504040204" pitchFamily="34" charset="0"/>
              </a:endParaRPr>
            </a:p>
          </p:txBody>
        </p:sp>
        <p:sp>
          <p:nvSpPr>
            <p:cNvPr id="30753" name="Text Box 30"/>
            <p:cNvSpPr txBox="1"/>
            <p:nvPr/>
          </p:nvSpPr>
          <p:spPr>
            <a:xfrm>
              <a:off x="987" y="1738"/>
              <a:ext cx="816" cy="290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ahoma" panose="020B0604030504040204" pitchFamily="34" charset="0"/>
                </a:rPr>
                <a:t> RD</a:t>
              </a:r>
              <a:endParaRPr lang="en-US" altLang="zh-CN" dirty="0">
                <a:latin typeface="Tahoma" panose="020B0604030504040204" pitchFamily="34" charset="0"/>
              </a:endParaRPr>
            </a:p>
          </p:txBody>
        </p:sp>
        <p:sp>
          <p:nvSpPr>
            <p:cNvPr id="30754" name="Line 31"/>
            <p:cNvSpPr/>
            <p:nvPr/>
          </p:nvSpPr>
          <p:spPr>
            <a:xfrm>
              <a:off x="1032" y="1546"/>
              <a:ext cx="624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30755" name="Line 32"/>
            <p:cNvSpPr/>
            <p:nvPr/>
          </p:nvSpPr>
          <p:spPr>
            <a:xfrm>
              <a:off x="1035" y="1786"/>
              <a:ext cx="624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30756" name="Line 33"/>
            <p:cNvSpPr/>
            <p:nvPr/>
          </p:nvSpPr>
          <p:spPr>
            <a:xfrm>
              <a:off x="4128" y="2314"/>
              <a:ext cx="384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30757" name="Line 34"/>
            <p:cNvSpPr/>
            <p:nvPr/>
          </p:nvSpPr>
          <p:spPr>
            <a:xfrm>
              <a:off x="2928" y="2362"/>
              <a:ext cx="432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lg" len="lg"/>
            </a:ln>
          </p:spPr>
        </p:sp>
        <p:sp>
          <p:nvSpPr>
            <p:cNvPr id="30758" name="Text Box 35"/>
            <p:cNvSpPr txBox="1"/>
            <p:nvPr/>
          </p:nvSpPr>
          <p:spPr>
            <a:xfrm>
              <a:off x="1008" y="442"/>
              <a:ext cx="864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ahoma" panose="020B0604030504040204" pitchFamily="34" charset="0"/>
                </a:rPr>
                <a:t>D0~D7</a:t>
              </a:r>
              <a:endParaRPr lang="en-US" altLang="zh-CN" dirty="0">
                <a:latin typeface="Tahoma" panose="020B0604030504040204" pitchFamily="34" charset="0"/>
              </a:endParaRPr>
            </a:p>
          </p:txBody>
        </p:sp>
        <p:sp>
          <p:nvSpPr>
            <p:cNvPr id="30759" name="Rectangle 36"/>
            <p:cNvSpPr/>
            <p:nvPr/>
          </p:nvSpPr>
          <p:spPr>
            <a:xfrm>
              <a:off x="3360" y="1978"/>
              <a:ext cx="768" cy="1440"/>
            </a:xfrm>
            <a:prstGeom prst="rect">
              <a:avLst/>
            </a:prstGeom>
            <a:noFill/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endParaRPr lang="zh-CN" altLang="en-US" sz="2800" dirty="0">
                <a:latin typeface="Tahoma" panose="020B0604030504040204" pitchFamily="34" charset="0"/>
              </a:endParaRPr>
            </a:p>
          </p:txBody>
        </p:sp>
        <p:sp>
          <p:nvSpPr>
            <p:cNvPr id="30760" name="Text Box 37"/>
            <p:cNvSpPr txBox="1"/>
            <p:nvPr/>
          </p:nvSpPr>
          <p:spPr>
            <a:xfrm>
              <a:off x="3360" y="1978"/>
              <a:ext cx="43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ahoma" panose="020B0604030504040204" pitchFamily="34" charset="0"/>
                </a:rPr>
                <a:t>G</a:t>
              </a:r>
              <a:r>
                <a:rPr lang="en-US" altLang="zh-CN" sz="1800" dirty="0">
                  <a:latin typeface="Tahoma" panose="020B0604030504040204" pitchFamily="34" charset="0"/>
                </a:rPr>
                <a:t>1</a:t>
              </a:r>
              <a:endParaRPr lang="en-US" altLang="zh-CN" dirty="0">
                <a:latin typeface="Tahoma" panose="020B0604030504040204" pitchFamily="34" charset="0"/>
              </a:endParaRPr>
            </a:p>
          </p:txBody>
        </p:sp>
        <p:sp>
          <p:nvSpPr>
            <p:cNvPr id="30761" name="Text Box 38"/>
            <p:cNvSpPr txBox="1"/>
            <p:nvPr/>
          </p:nvSpPr>
          <p:spPr>
            <a:xfrm>
              <a:off x="3360" y="2230"/>
              <a:ext cx="43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ahoma" panose="020B0604030504040204" pitchFamily="34" charset="0"/>
                </a:rPr>
                <a:t>G</a:t>
              </a:r>
              <a:r>
                <a:rPr lang="en-US" altLang="zh-CN" sz="1800" dirty="0">
                  <a:latin typeface="Tahoma" panose="020B0604030504040204" pitchFamily="34" charset="0"/>
                </a:rPr>
                <a:t>2A</a:t>
              </a:r>
              <a:endParaRPr lang="en-US" altLang="zh-CN" dirty="0">
                <a:latin typeface="Tahoma" panose="020B0604030504040204" pitchFamily="34" charset="0"/>
              </a:endParaRPr>
            </a:p>
          </p:txBody>
        </p:sp>
        <p:sp>
          <p:nvSpPr>
            <p:cNvPr id="30762" name="Text Box 39"/>
            <p:cNvSpPr txBox="1"/>
            <p:nvPr/>
          </p:nvSpPr>
          <p:spPr>
            <a:xfrm>
              <a:off x="3360" y="2497"/>
              <a:ext cx="43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ahoma" panose="020B0604030504040204" pitchFamily="34" charset="0"/>
                </a:rPr>
                <a:t>G</a:t>
              </a:r>
              <a:r>
                <a:rPr lang="en-US" altLang="zh-CN" sz="1800" dirty="0">
                  <a:latin typeface="Tahoma" panose="020B0604030504040204" pitchFamily="34" charset="0"/>
                </a:rPr>
                <a:t>2B</a:t>
              </a:r>
              <a:endParaRPr lang="en-US" altLang="zh-CN" dirty="0">
                <a:latin typeface="Tahoma" panose="020B0604030504040204" pitchFamily="34" charset="0"/>
              </a:endParaRPr>
            </a:p>
          </p:txBody>
        </p:sp>
        <p:sp>
          <p:nvSpPr>
            <p:cNvPr id="30763" name="Text Box 40"/>
            <p:cNvSpPr txBox="1"/>
            <p:nvPr/>
          </p:nvSpPr>
          <p:spPr>
            <a:xfrm>
              <a:off x="3360" y="2788"/>
              <a:ext cx="43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ahoma" panose="020B0604030504040204" pitchFamily="34" charset="0"/>
                </a:rPr>
                <a:t>C</a:t>
              </a:r>
              <a:endParaRPr lang="en-US" altLang="zh-CN" dirty="0">
                <a:latin typeface="Tahoma" panose="020B0604030504040204" pitchFamily="34" charset="0"/>
              </a:endParaRPr>
            </a:p>
          </p:txBody>
        </p:sp>
        <p:sp>
          <p:nvSpPr>
            <p:cNvPr id="30764" name="Text Box 41"/>
            <p:cNvSpPr txBox="1"/>
            <p:nvPr/>
          </p:nvSpPr>
          <p:spPr>
            <a:xfrm>
              <a:off x="3360" y="2980"/>
              <a:ext cx="43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ahoma" panose="020B0604030504040204" pitchFamily="34" charset="0"/>
                </a:rPr>
                <a:t>B</a:t>
              </a:r>
              <a:endParaRPr lang="en-US" altLang="zh-CN" dirty="0">
                <a:latin typeface="Tahoma" panose="020B0604030504040204" pitchFamily="34" charset="0"/>
              </a:endParaRPr>
            </a:p>
          </p:txBody>
        </p:sp>
        <p:sp>
          <p:nvSpPr>
            <p:cNvPr id="30765" name="Text Box 42"/>
            <p:cNvSpPr txBox="1"/>
            <p:nvPr/>
          </p:nvSpPr>
          <p:spPr>
            <a:xfrm>
              <a:off x="3360" y="3160"/>
              <a:ext cx="43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ahoma" panose="020B0604030504040204" pitchFamily="34" charset="0"/>
                </a:rPr>
                <a:t>A</a:t>
              </a:r>
              <a:endParaRPr lang="en-US" altLang="zh-CN" dirty="0">
                <a:latin typeface="Tahoma" panose="020B0604030504040204" pitchFamily="34" charset="0"/>
              </a:endParaRPr>
            </a:p>
          </p:txBody>
        </p:sp>
        <p:sp>
          <p:nvSpPr>
            <p:cNvPr id="30766" name="Rectangle 43"/>
            <p:cNvSpPr/>
            <p:nvPr/>
          </p:nvSpPr>
          <p:spPr>
            <a:xfrm>
              <a:off x="2736" y="1978"/>
              <a:ext cx="288" cy="336"/>
            </a:xfrm>
            <a:prstGeom prst="rect">
              <a:avLst/>
            </a:prstGeom>
            <a:noFill/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endParaRPr lang="zh-CN" altLang="en-US" sz="2800" dirty="0">
                <a:latin typeface="Tahoma" panose="020B0604030504040204" pitchFamily="34" charset="0"/>
              </a:endParaRPr>
            </a:p>
          </p:txBody>
        </p:sp>
        <p:sp>
          <p:nvSpPr>
            <p:cNvPr id="30767" name="Text Box 44"/>
            <p:cNvSpPr txBox="1"/>
            <p:nvPr/>
          </p:nvSpPr>
          <p:spPr>
            <a:xfrm>
              <a:off x="2744" y="1997"/>
              <a:ext cx="280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Tahoma" panose="020B0604030504040204" pitchFamily="34" charset="0"/>
                </a:rPr>
                <a:t>&amp;</a:t>
              </a:r>
              <a:endParaRPr lang="zh-CN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30768" name="Line 45"/>
            <p:cNvSpPr/>
            <p:nvPr/>
          </p:nvSpPr>
          <p:spPr>
            <a:xfrm>
              <a:off x="2112" y="1642"/>
              <a:ext cx="0" cy="576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30769" name="Line 46"/>
            <p:cNvSpPr/>
            <p:nvPr/>
          </p:nvSpPr>
          <p:spPr>
            <a:xfrm>
              <a:off x="2112" y="2218"/>
              <a:ext cx="624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30770" name="Line 47"/>
            <p:cNvSpPr/>
            <p:nvPr/>
          </p:nvSpPr>
          <p:spPr>
            <a:xfrm>
              <a:off x="2304" y="1873"/>
              <a:ext cx="0" cy="192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30771" name="Line 48"/>
            <p:cNvSpPr/>
            <p:nvPr/>
          </p:nvSpPr>
          <p:spPr>
            <a:xfrm>
              <a:off x="2304" y="2056"/>
              <a:ext cx="432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30772" name="Oval 49"/>
            <p:cNvSpPr/>
            <p:nvPr/>
          </p:nvSpPr>
          <p:spPr>
            <a:xfrm>
              <a:off x="2283" y="1864"/>
              <a:ext cx="48" cy="48"/>
            </a:xfrm>
            <a:prstGeom prst="ellipse">
              <a:avLst/>
            </a:prstGeom>
            <a:solidFill>
              <a:schemeClr val="tx2"/>
            </a:solidFill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wrap="none" anchor="ctr" anchorCtr="0"/>
            <a:p>
              <a:endParaRPr lang="zh-CN" altLang="en-US" sz="2800" dirty="0">
                <a:latin typeface="Tahoma" panose="020B0604030504040204" pitchFamily="34" charset="0"/>
              </a:endParaRPr>
            </a:p>
          </p:txBody>
        </p:sp>
        <p:sp>
          <p:nvSpPr>
            <p:cNvPr id="30773" name="Oval 50"/>
            <p:cNvSpPr/>
            <p:nvPr/>
          </p:nvSpPr>
          <p:spPr>
            <a:xfrm>
              <a:off x="2094" y="1624"/>
              <a:ext cx="48" cy="48"/>
            </a:xfrm>
            <a:prstGeom prst="ellipse">
              <a:avLst/>
            </a:prstGeom>
            <a:solidFill>
              <a:schemeClr val="tx2"/>
            </a:solidFill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wrap="none" anchor="ctr" anchorCtr="0"/>
            <a:p>
              <a:pPr algn="ctr"/>
              <a:endParaRPr lang="zh-CN" altLang="zh-CN" sz="1800" dirty="0">
                <a:latin typeface="Arial" panose="020B0604020202020204" pitchFamily="34" charset="0"/>
              </a:endParaRPr>
            </a:p>
          </p:txBody>
        </p:sp>
        <p:sp>
          <p:nvSpPr>
            <p:cNvPr id="30774" name="Oval 51"/>
            <p:cNvSpPr/>
            <p:nvPr/>
          </p:nvSpPr>
          <p:spPr>
            <a:xfrm>
              <a:off x="3024" y="2101"/>
              <a:ext cx="68" cy="68"/>
            </a:xfrm>
            <a:prstGeom prst="ellipse">
              <a:avLst/>
            </a:pr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wrap="none" anchor="ctr" anchorCtr="0"/>
            <a:p>
              <a:endParaRPr lang="zh-CN" altLang="en-US" sz="2800" dirty="0">
                <a:latin typeface="Tahoma" panose="020B0604030504040204" pitchFamily="34" charset="0"/>
              </a:endParaRPr>
            </a:p>
          </p:txBody>
        </p:sp>
        <p:sp>
          <p:nvSpPr>
            <p:cNvPr id="30775" name="Rectangle 52"/>
            <p:cNvSpPr/>
            <p:nvPr/>
          </p:nvSpPr>
          <p:spPr>
            <a:xfrm>
              <a:off x="2400" y="2314"/>
              <a:ext cx="288" cy="590"/>
            </a:xfrm>
            <a:prstGeom prst="rect">
              <a:avLst/>
            </a:prstGeom>
            <a:noFill/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pPr algn="ctr"/>
              <a:endParaRPr lang="zh-CN" altLang="zh-CN" sz="2800" b="1" dirty="0">
                <a:latin typeface="Tahoma" panose="020B0604030504040204" pitchFamily="34" charset="0"/>
              </a:endParaRPr>
            </a:p>
          </p:txBody>
        </p:sp>
        <p:sp>
          <p:nvSpPr>
            <p:cNvPr id="30776" name="Line 53"/>
            <p:cNvSpPr/>
            <p:nvPr/>
          </p:nvSpPr>
          <p:spPr>
            <a:xfrm>
              <a:off x="1680" y="3322"/>
              <a:ext cx="1680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lg" len="lg"/>
            </a:ln>
          </p:spPr>
        </p:sp>
        <p:sp>
          <p:nvSpPr>
            <p:cNvPr id="30777" name="Line 54"/>
            <p:cNvSpPr/>
            <p:nvPr/>
          </p:nvSpPr>
          <p:spPr>
            <a:xfrm>
              <a:off x="1680" y="3130"/>
              <a:ext cx="1680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lg" len="lg"/>
            </a:ln>
          </p:spPr>
        </p:sp>
        <p:sp>
          <p:nvSpPr>
            <p:cNvPr id="30778" name="Line 55"/>
            <p:cNvSpPr/>
            <p:nvPr/>
          </p:nvSpPr>
          <p:spPr>
            <a:xfrm>
              <a:off x="1680" y="2938"/>
              <a:ext cx="1680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lg" len="lg"/>
            </a:ln>
          </p:spPr>
        </p:sp>
        <p:sp>
          <p:nvSpPr>
            <p:cNvPr id="30779" name="Text Box 56"/>
            <p:cNvSpPr txBox="1"/>
            <p:nvPr/>
          </p:nvSpPr>
          <p:spPr>
            <a:xfrm>
              <a:off x="2400" y="2467"/>
              <a:ext cx="253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Tahoma" panose="020B0604030504040204" pitchFamily="34" charset="0"/>
                </a:rPr>
                <a:t>&amp;</a:t>
              </a:r>
              <a:endParaRPr lang="zh-CN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30780" name="Text Box 57"/>
            <p:cNvSpPr txBox="1"/>
            <p:nvPr/>
          </p:nvSpPr>
          <p:spPr>
            <a:xfrm>
              <a:off x="1296" y="2809"/>
              <a:ext cx="43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ahoma" panose="020B0604030504040204" pitchFamily="34" charset="0"/>
                </a:rPr>
                <a:t>A</a:t>
              </a:r>
              <a:r>
                <a:rPr lang="en-US" altLang="zh-CN" sz="1800" b="1" dirty="0">
                  <a:latin typeface="Tahoma" panose="020B0604030504040204" pitchFamily="34" charset="0"/>
                </a:rPr>
                <a:t>19</a:t>
              </a:r>
              <a:endParaRPr lang="en-US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30781" name="Text Box 58"/>
            <p:cNvSpPr txBox="1"/>
            <p:nvPr/>
          </p:nvSpPr>
          <p:spPr>
            <a:xfrm>
              <a:off x="1296" y="2992"/>
              <a:ext cx="43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ahoma" panose="020B0604030504040204" pitchFamily="34" charset="0"/>
                </a:rPr>
                <a:t>A</a:t>
              </a:r>
              <a:r>
                <a:rPr lang="en-US" altLang="zh-CN" sz="1800" b="1" dirty="0">
                  <a:latin typeface="Tahoma" panose="020B0604030504040204" pitchFamily="34" charset="0"/>
                </a:rPr>
                <a:t>14</a:t>
              </a:r>
              <a:endParaRPr lang="en-US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30782" name="Text Box 59"/>
            <p:cNvSpPr txBox="1"/>
            <p:nvPr/>
          </p:nvSpPr>
          <p:spPr>
            <a:xfrm>
              <a:off x="1296" y="3160"/>
              <a:ext cx="43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ahoma" panose="020B0604030504040204" pitchFamily="34" charset="0"/>
                </a:rPr>
                <a:t>A</a:t>
              </a:r>
              <a:r>
                <a:rPr lang="en-US" altLang="zh-CN" sz="1800" b="1" dirty="0">
                  <a:latin typeface="Tahoma" panose="020B0604030504040204" pitchFamily="34" charset="0"/>
                </a:rPr>
                <a:t>13</a:t>
              </a:r>
              <a:endParaRPr lang="en-US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30783" name="Line 60"/>
            <p:cNvSpPr/>
            <p:nvPr/>
          </p:nvSpPr>
          <p:spPr>
            <a:xfrm>
              <a:off x="1677" y="2525"/>
              <a:ext cx="720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lg" len="lg"/>
            </a:ln>
          </p:spPr>
        </p:sp>
        <p:sp>
          <p:nvSpPr>
            <p:cNvPr id="30784" name="Line 61"/>
            <p:cNvSpPr/>
            <p:nvPr/>
          </p:nvSpPr>
          <p:spPr>
            <a:xfrm>
              <a:off x="1677" y="2811"/>
              <a:ext cx="720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lg" len="lg"/>
            </a:ln>
          </p:spPr>
        </p:sp>
        <p:sp>
          <p:nvSpPr>
            <p:cNvPr id="30785" name="Line 62"/>
            <p:cNvSpPr/>
            <p:nvPr/>
          </p:nvSpPr>
          <p:spPr>
            <a:xfrm>
              <a:off x="2742" y="2632"/>
              <a:ext cx="612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lg" len="lg"/>
            </a:ln>
          </p:spPr>
        </p:sp>
        <p:sp>
          <p:nvSpPr>
            <p:cNvPr id="30786" name="Oval 63"/>
            <p:cNvSpPr/>
            <p:nvPr/>
          </p:nvSpPr>
          <p:spPr>
            <a:xfrm>
              <a:off x="2688" y="2602"/>
              <a:ext cx="68" cy="68"/>
            </a:xfrm>
            <a:prstGeom prst="ellipse">
              <a:avLst/>
            </a:pr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wrap="none" anchor="ctr" anchorCtr="0"/>
            <a:p>
              <a:endParaRPr lang="zh-CN" altLang="en-US" sz="2800" dirty="0">
                <a:latin typeface="Tahoma" panose="020B0604030504040204" pitchFamily="34" charset="0"/>
              </a:endParaRPr>
            </a:p>
          </p:txBody>
        </p:sp>
        <p:sp>
          <p:nvSpPr>
            <p:cNvPr id="30787" name="Text Box 64"/>
            <p:cNvSpPr txBox="1"/>
            <p:nvPr/>
          </p:nvSpPr>
          <p:spPr>
            <a:xfrm>
              <a:off x="1296" y="2365"/>
              <a:ext cx="43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ahoma" panose="020B0604030504040204" pitchFamily="34" charset="0"/>
                </a:rPr>
                <a:t>A</a:t>
              </a:r>
              <a:r>
                <a:rPr lang="en-US" altLang="zh-CN" sz="1800" b="1" dirty="0">
                  <a:latin typeface="Tahoma" panose="020B0604030504040204" pitchFamily="34" charset="0"/>
                </a:rPr>
                <a:t>17</a:t>
              </a:r>
              <a:endParaRPr lang="en-US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30788" name="Text Box 65"/>
            <p:cNvSpPr txBox="1"/>
            <p:nvPr/>
          </p:nvSpPr>
          <p:spPr>
            <a:xfrm>
              <a:off x="1296" y="2506"/>
              <a:ext cx="43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ahoma" panose="020B0604030504040204" pitchFamily="34" charset="0"/>
                </a:rPr>
                <a:t>A</a:t>
              </a:r>
              <a:r>
                <a:rPr lang="en-US" altLang="zh-CN" sz="1800" b="1" dirty="0">
                  <a:latin typeface="Tahoma" panose="020B0604030504040204" pitchFamily="34" charset="0"/>
                </a:rPr>
                <a:t>16</a:t>
              </a:r>
              <a:endParaRPr lang="en-US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30789" name="Text Box 66"/>
            <p:cNvSpPr txBox="1"/>
            <p:nvPr/>
          </p:nvSpPr>
          <p:spPr>
            <a:xfrm>
              <a:off x="1293" y="2650"/>
              <a:ext cx="43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ahoma" panose="020B0604030504040204" pitchFamily="34" charset="0"/>
                </a:rPr>
                <a:t>A</a:t>
              </a:r>
              <a:r>
                <a:rPr lang="en-US" altLang="zh-CN" sz="1800" b="1" dirty="0">
                  <a:latin typeface="Tahoma" panose="020B0604030504040204" pitchFamily="34" charset="0"/>
                </a:rPr>
                <a:t>15</a:t>
              </a:r>
              <a:endParaRPr lang="en-US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30790" name="Line 67"/>
            <p:cNvSpPr/>
            <p:nvPr/>
          </p:nvSpPr>
          <p:spPr>
            <a:xfrm flipV="1">
              <a:off x="4332" y="2587"/>
              <a:ext cx="0" cy="363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30791" name="Oval 68"/>
            <p:cNvSpPr/>
            <p:nvPr/>
          </p:nvSpPr>
          <p:spPr>
            <a:xfrm>
              <a:off x="4310" y="2950"/>
              <a:ext cx="48" cy="48"/>
            </a:xfrm>
            <a:prstGeom prst="ellipse">
              <a:avLst/>
            </a:pr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wrap="none" anchor="ctr" anchorCtr="0"/>
            <a:p>
              <a:endParaRPr lang="zh-CN" altLang="en-US" sz="2800" dirty="0">
                <a:latin typeface="Tahoma" panose="020B0604030504040204" pitchFamily="34" charset="0"/>
              </a:endParaRPr>
            </a:p>
          </p:txBody>
        </p:sp>
        <p:sp>
          <p:nvSpPr>
            <p:cNvPr id="30792" name="Text Box 69"/>
            <p:cNvSpPr txBox="1"/>
            <p:nvPr/>
          </p:nvSpPr>
          <p:spPr>
            <a:xfrm>
              <a:off x="4286" y="2950"/>
              <a:ext cx="528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ahoma" panose="020B0604030504040204" pitchFamily="34" charset="0"/>
                </a:rPr>
                <a:t>+5V</a:t>
              </a:r>
              <a:endParaRPr lang="en-US" altLang="zh-CN" dirty="0">
                <a:latin typeface="Tahoma" panose="020B0604030504040204" pitchFamily="34" charset="0"/>
              </a:endParaRPr>
            </a:p>
          </p:txBody>
        </p:sp>
        <p:sp>
          <p:nvSpPr>
            <p:cNvPr id="30793" name="Line 70"/>
            <p:cNvSpPr/>
            <p:nvPr/>
          </p:nvSpPr>
          <p:spPr>
            <a:xfrm>
              <a:off x="3408" y="2287"/>
              <a:ext cx="288" cy="0"/>
            </a:xfrm>
            <a:prstGeom prst="line">
              <a:avLst/>
            </a:prstGeom>
            <a:ln w="1905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30794" name="Line 71"/>
            <p:cNvSpPr/>
            <p:nvPr/>
          </p:nvSpPr>
          <p:spPr>
            <a:xfrm>
              <a:off x="3408" y="2554"/>
              <a:ext cx="288" cy="0"/>
            </a:xfrm>
            <a:prstGeom prst="line">
              <a:avLst/>
            </a:prstGeom>
            <a:ln w="1905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30795" name="Text Box 72"/>
            <p:cNvSpPr txBox="1"/>
            <p:nvPr/>
          </p:nvSpPr>
          <p:spPr>
            <a:xfrm>
              <a:off x="3833" y="2178"/>
              <a:ext cx="43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ahoma" panose="020B0604030504040204" pitchFamily="34" charset="0"/>
                </a:rPr>
                <a:t>Y</a:t>
              </a:r>
              <a:r>
                <a:rPr lang="en-US" altLang="zh-CN" sz="1800" dirty="0">
                  <a:latin typeface="Tahoma" panose="020B0604030504040204" pitchFamily="34" charset="0"/>
                </a:rPr>
                <a:t>0</a:t>
              </a:r>
              <a:endParaRPr lang="en-US" altLang="zh-CN" dirty="0">
                <a:latin typeface="Tahoma" panose="020B0604030504040204" pitchFamily="34" charset="0"/>
              </a:endParaRPr>
            </a:p>
          </p:txBody>
        </p:sp>
        <p:sp>
          <p:nvSpPr>
            <p:cNvPr id="30796" name="Line 73"/>
            <p:cNvSpPr/>
            <p:nvPr/>
          </p:nvSpPr>
          <p:spPr>
            <a:xfrm>
              <a:off x="3878" y="2224"/>
              <a:ext cx="192" cy="0"/>
            </a:xfrm>
            <a:prstGeom prst="line">
              <a:avLst/>
            </a:prstGeom>
            <a:ln w="1905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30797" name="Line 75"/>
            <p:cNvSpPr/>
            <p:nvPr/>
          </p:nvSpPr>
          <p:spPr>
            <a:xfrm flipH="1">
              <a:off x="4332" y="2587"/>
              <a:ext cx="181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30798" name="Line 76"/>
            <p:cNvSpPr/>
            <p:nvPr/>
          </p:nvSpPr>
          <p:spPr>
            <a:xfrm>
              <a:off x="1474" y="1044"/>
              <a:ext cx="0" cy="227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30799" name="Line 78"/>
            <p:cNvSpPr/>
            <p:nvPr/>
          </p:nvSpPr>
          <p:spPr>
            <a:xfrm>
              <a:off x="1677" y="2669"/>
              <a:ext cx="720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lg" len="lg"/>
            </a:ln>
          </p:spPr>
        </p:sp>
        <p:sp>
          <p:nvSpPr>
            <p:cNvPr id="30800" name="Text Box 80"/>
            <p:cNvSpPr txBox="1"/>
            <p:nvPr/>
          </p:nvSpPr>
          <p:spPr>
            <a:xfrm>
              <a:off x="5012" y="1090"/>
              <a:ext cx="143" cy="97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rgbClr val="FF0000"/>
                  </a:solidFill>
                  <a:latin typeface="Tahoma" panose="020B0604030504040204" pitchFamily="34" charset="0"/>
                </a:rPr>
                <a:t>6264</a:t>
              </a:r>
              <a:endParaRPr lang="en-US" altLang="zh-CN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0801" name="Line 81"/>
            <p:cNvSpPr/>
            <p:nvPr/>
          </p:nvSpPr>
          <p:spPr>
            <a:xfrm>
              <a:off x="2928" y="2362"/>
              <a:ext cx="0" cy="258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oval" w="med" len="med"/>
            </a:ln>
          </p:spPr>
        </p:sp>
        <p:sp>
          <p:nvSpPr>
            <p:cNvPr id="30802" name="Text Box 83"/>
            <p:cNvSpPr txBox="1"/>
            <p:nvPr/>
          </p:nvSpPr>
          <p:spPr>
            <a:xfrm>
              <a:off x="1314" y="2208"/>
              <a:ext cx="432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ahoma" panose="020B0604030504040204" pitchFamily="34" charset="0"/>
                </a:rPr>
                <a:t>A</a:t>
              </a:r>
              <a:r>
                <a:rPr lang="en-US" altLang="zh-CN" sz="1800" b="1" dirty="0">
                  <a:latin typeface="Tahoma" panose="020B0604030504040204" pitchFamily="34" charset="0"/>
                </a:rPr>
                <a:t>18</a:t>
              </a:r>
              <a:endParaRPr lang="en-US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30803" name="Line 84"/>
            <p:cNvSpPr/>
            <p:nvPr/>
          </p:nvSpPr>
          <p:spPr>
            <a:xfrm>
              <a:off x="1661" y="2405"/>
              <a:ext cx="720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lg" len="lg"/>
            </a:ln>
          </p:spPr>
        </p:sp>
        <p:sp>
          <p:nvSpPr>
            <p:cNvPr id="30804" name="Text Box 95"/>
            <p:cNvSpPr txBox="1"/>
            <p:nvPr/>
          </p:nvSpPr>
          <p:spPr>
            <a:xfrm>
              <a:off x="975" y="28"/>
              <a:ext cx="56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800" dirty="0">
                  <a:solidFill>
                    <a:srgbClr val="FF0000"/>
                  </a:solidFill>
                  <a:latin typeface="Tahoma" panose="020B0604030504040204" pitchFamily="34" charset="0"/>
                </a:rPr>
                <a:t>8088</a:t>
              </a:r>
              <a:endParaRPr lang="en-US" altLang="zh-CN" sz="28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30805" name="Text Box 95"/>
          <p:cNvSpPr txBox="1"/>
          <p:nvPr/>
        </p:nvSpPr>
        <p:spPr>
          <a:xfrm>
            <a:off x="5119688" y="5410200"/>
            <a:ext cx="1735137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1800" dirty="0">
                <a:latin typeface="Tahoma" panose="020B0604030504040204" pitchFamily="34" charset="0"/>
              </a:rPr>
              <a:t>74LS138</a:t>
            </a:r>
            <a:r>
              <a:rPr lang="zh-CN" altLang="en-US" sz="1800" dirty="0">
                <a:latin typeface="Tahoma" panose="020B0604030504040204" pitchFamily="34" charset="0"/>
              </a:rPr>
              <a:t>译码器</a:t>
            </a:r>
            <a:endParaRPr lang="zh-CN" altLang="en-US" sz="1800" dirty="0">
              <a:latin typeface="Tahoma" panose="020B0604030504040204" pitchFamily="34" charset="0"/>
            </a:endParaRPr>
          </a:p>
        </p:txBody>
      </p:sp>
      <p:sp>
        <p:nvSpPr>
          <p:cNvPr id="12333" name="Text Box 52"/>
          <p:cNvSpPr txBox="1"/>
          <p:nvPr>
            <p:custDataLst>
              <p:tags r:id="rId1"/>
            </p:custDataLst>
          </p:nvPr>
        </p:nvSpPr>
        <p:spPr>
          <a:xfrm>
            <a:off x="2772410" y="44450"/>
            <a:ext cx="3821113" cy="5842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0000FF"/>
                </a:solidFill>
                <a:latin typeface="Tahoma" panose="020B0604030504040204" pitchFamily="34" charset="0"/>
              </a:rPr>
              <a:t>（</a:t>
            </a:r>
            <a:r>
              <a:rPr lang="en-US" altLang="zh-CN" sz="3200" b="1" dirty="0">
                <a:solidFill>
                  <a:srgbClr val="0000FF"/>
                </a:solidFill>
                <a:latin typeface="Tahoma" panose="020B0604030504040204" pitchFamily="34" charset="0"/>
              </a:rPr>
              <a:t>1</a:t>
            </a:r>
            <a:r>
              <a:rPr lang="zh-CN" altLang="en-US" sz="3200" b="1" dirty="0">
                <a:solidFill>
                  <a:srgbClr val="0000FF"/>
                </a:solidFill>
                <a:latin typeface="Tahoma" panose="020B0604030504040204" pitchFamily="34" charset="0"/>
              </a:rPr>
              <a:t>）全地址译码法</a:t>
            </a:r>
            <a:endParaRPr lang="zh-CN" altLang="en-US" sz="3200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3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3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3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261" grpId="0"/>
      <p:bldP spid="93263" grpId="0" bldLvl="0" animBg="1"/>
      <p:bldP spid="93270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Rectangle 6"/>
          <p:cNvSpPr/>
          <p:nvPr/>
        </p:nvSpPr>
        <p:spPr>
          <a:xfrm>
            <a:off x="38100" y="375285"/>
            <a:ext cx="3517900" cy="120840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 anchorCtr="0">
            <a:noAutofit/>
          </a:bodyPr>
          <a:p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74LS138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译码器引脚图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31747" name="表格 31746"/>
          <p:cNvGraphicFramePr/>
          <p:nvPr>
            <p:custDataLst>
              <p:tags r:id="rId1"/>
            </p:custDataLst>
          </p:nvPr>
        </p:nvGraphicFramePr>
        <p:xfrm>
          <a:off x="3533775" y="931863"/>
          <a:ext cx="5429250" cy="5753100"/>
        </p:xfrm>
        <a:graphic>
          <a:graphicData uri="http://schemas.openxmlformats.org/drawingml/2006/table">
            <a:tbl>
              <a:tblPr/>
              <a:tblGrid>
                <a:gridCol w="555625"/>
                <a:gridCol w="622300"/>
                <a:gridCol w="596900"/>
                <a:gridCol w="469900"/>
                <a:gridCol w="471488"/>
                <a:gridCol w="492125"/>
                <a:gridCol w="2220912"/>
              </a:tblGrid>
              <a:tr h="396875">
                <a:tc gridSpan="6"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Times New Roman" panose="02020603050405020304" pitchFamily="18" charset="0"/>
                        </a:rPr>
                        <a:t>输入</a:t>
                      </a:r>
                      <a:endParaRPr lang="zh-CN" altLang="en-US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Times New Roman" panose="02020603050405020304" pitchFamily="18" charset="0"/>
                        </a:rPr>
                        <a:t>输出</a:t>
                      </a:r>
                      <a:endParaRPr lang="zh-CN" altLang="en-US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6875">
                <a:tc gridSpan="3"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Times New Roman" panose="02020603050405020304" pitchFamily="18" charset="0"/>
                        </a:rPr>
                        <a:t>使能信号</a:t>
                      </a:r>
                      <a:endParaRPr lang="zh-CN" altLang="en-US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2000">
                          <a:latin typeface="Times New Roman" panose="02020603050405020304" pitchFamily="18" charset="0"/>
                        </a:rPr>
                        <a:t>选择信号</a:t>
                      </a:r>
                      <a:endParaRPr lang="zh-CN" altLang="en-US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372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40000"/>
                        </a:lnSpc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sz="2000" baseline="-2500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aseline="-25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40000"/>
                        </a:lnSpc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sz="2000" baseline="-25000">
                          <a:latin typeface="Times New Roman" panose="02020603050405020304" pitchFamily="18" charset="0"/>
                        </a:rPr>
                        <a:t>2A</a:t>
                      </a:r>
                      <a:endParaRPr lang="en-US" altLang="zh-CN" sz="2000" baseline="-25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40000"/>
                        </a:lnSpc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G</a:t>
                      </a:r>
                      <a:r>
                        <a:rPr lang="en-US" altLang="zh-CN" sz="2000" baseline="-25000">
                          <a:latin typeface="Times New Roman" panose="02020603050405020304" pitchFamily="18" charset="0"/>
                        </a:rPr>
                        <a:t>2B</a:t>
                      </a:r>
                      <a:endParaRPr lang="en-US" altLang="zh-CN" sz="2000" baseline="-25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40000"/>
                        </a:lnSpc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C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40000"/>
                        </a:lnSpc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40000"/>
                        </a:lnSpc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A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140000"/>
                        </a:lnSpc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Y</a:t>
                      </a:r>
                      <a:r>
                        <a:rPr lang="en-US" altLang="zh-CN" sz="2000" baseline="-25000">
                          <a:latin typeface="Times New Roman" panose="02020603050405020304" pitchFamily="18" charset="0"/>
                        </a:rPr>
                        <a:t>7</a:t>
                      </a: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  ~  Y</a:t>
                      </a:r>
                      <a:r>
                        <a:rPr lang="en-US" altLang="zh-CN" sz="2000" baseline="-2500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aseline="-25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687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Y</a:t>
                      </a:r>
                      <a:r>
                        <a:rPr lang="en-US" altLang="zh-CN" sz="2000" baseline="-25000">
                          <a:latin typeface="Times New Roman" panose="02020603050405020304" pitchFamily="18" charset="0"/>
                        </a:rPr>
                        <a:t>0 </a:t>
                      </a: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=0</a:t>
                      </a:r>
                      <a:r>
                        <a:rPr lang="zh-CN" altLang="en-US" sz="2000">
                          <a:latin typeface="Times New Roman" panose="02020603050405020304" pitchFamily="18" charset="0"/>
                        </a:rPr>
                        <a:t>其它均为</a:t>
                      </a: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1 </a:t>
                      </a:r>
                      <a:endParaRPr lang="en-US" altLang="zh-CN" sz="2000" baseline="-25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687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Y</a:t>
                      </a:r>
                      <a:r>
                        <a:rPr lang="en-US" altLang="zh-CN" sz="2000" baseline="-25000">
                          <a:latin typeface="Times New Roman" panose="02020603050405020304" pitchFamily="18" charset="0"/>
                        </a:rPr>
                        <a:t>1 </a:t>
                      </a: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=0</a:t>
                      </a:r>
                      <a:r>
                        <a:rPr lang="zh-CN" altLang="en-US" sz="2000">
                          <a:latin typeface="Times New Roman" panose="02020603050405020304" pitchFamily="18" charset="0"/>
                        </a:rPr>
                        <a:t>其它均为</a:t>
                      </a: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687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Y</a:t>
                      </a:r>
                      <a:r>
                        <a:rPr lang="en-US" altLang="zh-CN" sz="2000" baseline="-25000">
                          <a:latin typeface="Times New Roman" panose="02020603050405020304" pitchFamily="18" charset="0"/>
                        </a:rPr>
                        <a:t>2 </a:t>
                      </a: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=0</a:t>
                      </a:r>
                      <a:r>
                        <a:rPr lang="zh-CN" altLang="en-US" sz="2000">
                          <a:latin typeface="Times New Roman" panose="02020603050405020304" pitchFamily="18" charset="0"/>
                        </a:rPr>
                        <a:t>其它均为</a:t>
                      </a: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687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Y</a:t>
                      </a:r>
                      <a:r>
                        <a:rPr lang="en-US" altLang="zh-CN" sz="2000" baseline="-25000">
                          <a:latin typeface="Times New Roman" panose="02020603050405020304" pitchFamily="18" charset="0"/>
                        </a:rPr>
                        <a:t>3 </a:t>
                      </a: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=0</a:t>
                      </a:r>
                      <a:r>
                        <a:rPr lang="zh-CN" altLang="en-US" sz="2000">
                          <a:latin typeface="Times New Roman" panose="02020603050405020304" pitchFamily="18" charset="0"/>
                        </a:rPr>
                        <a:t>其它均为</a:t>
                      </a: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687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Y</a:t>
                      </a:r>
                      <a:r>
                        <a:rPr lang="en-US" altLang="zh-CN" sz="2000" baseline="-25000">
                          <a:latin typeface="Times New Roman" panose="02020603050405020304" pitchFamily="18" charset="0"/>
                        </a:rPr>
                        <a:t>4 </a:t>
                      </a: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=0</a:t>
                      </a:r>
                      <a:r>
                        <a:rPr lang="zh-CN" altLang="en-US" sz="2000">
                          <a:latin typeface="Times New Roman" panose="02020603050405020304" pitchFamily="18" charset="0"/>
                        </a:rPr>
                        <a:t>其它均为</a:t>
                      </a: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687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Y</a:t>
                      </a:r>
                      <a:r>
                        <a:rPr lang="en-US" altLang="zh-CN" sz="2000" baseline="-25000">
                          <a:latin typeface="Times New Roman" panose="02020603050405020304" pitchFamily="18" charset="0"/>
                        </a:rPr>
                        <a:t>5 </a:t>
                      </a: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=0</a:t>
                      </a:r>
                      <a:r>
                        <a:rPr lang="zh-CN" altLang="en-US" sz="2000">
                          <a:latin typeface="Times New Roman" panose="02020603050405020304" pitchFamily="18" charset="0"/>
                        </a:rPr>
                        <a:t>其它均为</a:t>
                      </a: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687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Y</a:t>
                      </a:r>
                      <a:r>
                        <a:rPr lang="en-US" altLang="zh-CN" sz="2000" baseline="-25000">
                          <a:latin typeface="Times New Roman" panose="02020603050405020304" pitchFamily="18" charset="0"/>
                        </a:rPr>
                        <a:t>6 </a:t>
                      </a: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=0</a:t>
                      </a:r>
                      <a:r>
                        <a:rPr lang="zh-CN" altLang="en-US" sz="2000">
                          <a:latin typeface="Times New Roman" panose="02020603050405020304" pitchFamily="18" charset="0"/>
                        </a:rPr>
                        <a:t>其它均为</a:t>
                      </a: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687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Y</a:t>
                      </a:r>
                      <a:r>
                        <a:rPr lang="en-US" altLang="zh-CN" sz="2000" baseline="-25000">
                          <a:latin typeface="Times New Roman" panose="02020603050405020304" pitchFamily="18" charset="0"/>
                        </a:rPr>
                        <a:t>7 </a:t>
                      </a: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=0</a:t>
                      </a:r>
                      <a:r>
                        <a:rPr lang="zh-CN" altLang="en-US" sz="2000">
                          <a:latin typeface="Times New Roman" panose="02020603050405020304" pitchFamily="18" charset="0"/>
                        </a:rPr>
                        <a:t>其它均为</a:t>
                      </a: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687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×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×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×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×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×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Y</a:t>
                      </a:r>
                      <a:r>
                        <a:rPr lang="en-US" altLang="zh-CN" sz="2000" baseline="-25000">
                          <a:latin typeface="Times New Roman" panose="02020603050405020304" pitchFamily="18" charset="0"/>
                        </a:rPr>
                        <a:t>7</a:t>
                      </a: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  ~  Y</a:t>
                      </a:r>
                      <a:r>
                        <a:rPr lang="en-US" altLang="zh-CN" sz="2000" baseline="-25000">
                          <a:latin typeface="Times New Roman" panose="02020603050405020304" pitchFamily="18" charset="0"/>
                        </a:rPr>
                        <a:t>0  </a:t>
                      </a:r>
                      <a:r>
                        <a:rPr lang="zh-CN" altLang="en-US" sz="2000">
                          <a:latin typeface="Times New Roman" panose="02020603050405020304" pitchFamily="18" charset="0"/>
                        </a:rPr>
                        <a:t>均为</a:t>
                      </a: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687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×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×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×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×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×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9687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×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×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×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×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</a:rPr>
                        <a:t>×</a:t>
                      </a:r>
                      <a:endParaRPr lang="en-US" altLang="zh-CN" sz="2000">
                        <a:latin typeface="Times New Roman" panose="02020603050405020304" pitchFamily="18" charset="0"/>
                      </a:endParaRPr>
                    </a:p>
                  </a:txBody>
                  <a:tcPr marT="45717" marB="457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857" name="Rectangle 6"/>
          <p:cNvSpPr/>
          <p:nvPr/>
        </p:nvSpPr>
        <p:spPr>
          <a:xfrm>
            <a:off x="4571683" y="332105"/>
            <a:ext cx="35179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74LS138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译码真值表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pic>
        <p:nvPicPr>
          <p:cNvPr id="2" name="图片 1" descr="138引脚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60" y="1052195"/>
            <a:ext cx="2152015" cy="3303905"/>
          </a:xfrm>
          <a:prstGeom prst="rect">
            <a:avLst/>
          </a:prstGeom>
        </p:spPr>
      </p:pic>
      <p:sp>
        <p:nvSpPr>
          <p:cNvPr id="30793" name="Line 70"/>
          <p:cNvSpPr/>
          <p:nvPr>
            <p:custDataLst>
              <p:tags r:id="rId3"/>
            </p:custDataLst>
          </p:nvPr>
        </p:nvSpPr>
        <p:spPr>
          <a:xfrm>
            <a:off x="4211955" y="1894523"/>
            <a:ext cx="396000" cy="0"/>
          </a:xfrm>
          <a:prstGeom prst="line">
            <a:avLst/>
          </a:prstGeom>
          <a:ln w="1905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" name="Line 70"/>
          <p:cNvSpPr/>
          <p:nvPr>
            <p:custDataLst>
              <p:tags r:id="rId4"/>
            </p:custDataLst>
          </p:nvPr>
        </p:nvSpPr>
        <p:spPr>
          <a:xfrm>
            <a:off x="4816475" y="1894523"/>
            <a:ext cx="396000" cy="0"/>
          </a:xfrm>
          <a:prstGeom prst="line">
            <a:avLst/>
          </a:prstGeom>
          <a:ln w="1905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Line 70"/>
          <p:cNvSpPr/>
          <p:nvPr>
            <p:custDataLst>
              <p:tags r:id="rId5"/>
            </p:custDataLst>
          </p:nvPr>
        </p:nvSpPr>
        <p:spPr>
          <a:xfrm>
            <a:off x="7379970" y="1894523"/>
            <a:ext cx="288000" cy="0"/>
          </a:xfrm>
          <a:prstGeom prst="line">
            <a:avLst/>
          </a:prstGeom>
          <a:ln w="1905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" name="Line 70"/>
          <p:cNvSpPr/>
          <p:nvPr>
            <p:custDataLst>
              <p:tags r:id="rId6"/>
            </p:custDataLst>
          </p:nvPr>
        </p:nvSpPr>
        <p:spPr>
          <a:xfrm>
            <a:off x="8030845" y="1899603"/>
            <a:ext cx="288000" cy="0"/>
          </a:xfrm>
          <a:prstGeom prst="line">
            <a:avLst/>
          </a:prstGeom>
          <a:ln w="1905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Line 70"/>
          <p:cNvSpPr/>
          <p:nvPr>
            <p:custDataLst>
              <p:tags r:id="rId7"/>
            </p:custDataLst>
          </p:nvPr>
        </p:nvSpPr>
        <p:spPr>
          <a:xfrm>
            <a:off x="6958965" y="2409508"/>
            <a:ext cx="288000" cy="0"/>
          </a:xfrm>
          <a:prstGeom prst="line">
            <a:avLst/>
          </a:prstGeom>
          <a:ln w="1905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" name="Line 70"/>
          <p:cNvSpPr/>
          <p:nvPr>
            <p:custDataLst>
              <p:tags r:id="rId8"/>
            </p:custDataLst>
          </p:nvPr>
        </p:nvSpPr>
        <p:spPr>
          <a:xfrm>
            <a:off x="6948170" y="2780348"/>
            <a:ext cx="288000" cy="0"/>
          </a:xfrm>
          <a:prstGeom prst="line">
            <a:avLst/>
          </a:prstGeom>
          <a:ln w="1905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" name="Line 70"/>
          <p:cNvSpPr/>
          <p:nvPr>
            <p:custDataLst>
              <p:tags r:id="rId9"/>
            </p:custDataLst>
          </p:nvPr>
        </p:nvSpPr>
        <p:spPr>
          <a:xfrm>
            <a:off x="6931660" y="3194368"/>
            <a:ext cx="288000" cy="0"/>
          </a:xfrm>
          <a:prstGeom prst="line">
            <a:avLst/>
          </a:prstGeom>
          <a:ln w="1905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" name="Line 70"/>
          <p:cNvSpPr/>
          <p:nvPr>
            <p:custDataLst>
              <p:tags r:id="rId10"/>
            </p:custDataLst>
          </p:nvPr>
        </p:nvSpPr>
        <p:spPr>
          <a:xfrm>
            <a:off x="6931660" y="3572193"/>
            <a:ext cx="288000" cy="0"/>
          </a:xfrm>
          <a:prstGeom prst="line">
            <a:avLst/>
          </a:prstGeom>
          <a:ln w="1905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" name="Line 70"/>
          <p:cNvSpPr/>
          <p:nvPr>
            <p:custDataLst>
              <p:tags r:id="rId11"/>
            </p:custDataLst>
          </p:nvPr>
        </p:nvSpPr>
        <p:spPr>
          <a:xfrm>
            <a:off x="6948170" y="5156518"/>
            <a:ext cx="288000" cy="0"/>
          </a:xfrm>
          <a:prstGeom prst="line">
            <a:avLst/>
          </a:prstGeom>
          <a:ln w="1905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" name="Line 70"/>
          <p:cNvSpPr/>
          <p:nvPr>
            <p:custDataLst>
              <p:tags r:id="rId12"/>
            </p:custDataLst>
          </p:nvPr>
        </p:nvSpPr>
        <p:spPr>
          <a:xfrm>
            <a:off x="6931660" y="4774883"/>
            <a:ext cx="288000" cy="0"/>
          </a:xfrm>
          <a:prstGeom prst="line">
            <a:avLst/>
          </a:prstGeom>
          <a:ln w="1905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" name="Line 70"/>
          <p:cNvSpPr/>
          <p:nvPr>
            <p:custDataLst>
              <p:tags r:id="rId13"/>
            </p:custDataLst>
          </p:nvPr>
        </p:nvSpPr>
        <p:spPr>
          <a:xfrm>
            <a:off x="6948170" y="4364673"/>
            <a:ext cx="288000" cy="0"/>
          </a:xfrm>
          <a:prstGeom prst="line">
            <a:avLst/>
          </a:prstGeom>
          <a:ln w="1905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Line 70"/>
          <p:cNvSpPr/>
          <p:nvPr>
            <p:custDataLst>
              <p:tags r:id="rId14"/>
            </p:custDataLst>
          </p:nvPr>
        </p:nvSpPr>
        <p:spPr>
          <a:xfrm>
            <a:off x="6958965" y="3979228"/>
            <a:ext cx="288000" cy="0"/>
          </a:xfrm>
          <a:prstGeom prst="line">
            <a:avLst/>
          </a:prstGeom>
          <a:ln w="1905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" name="Line 70"/>
          <p:cNvSpPr/>
          <p:nvPr>
            <p:custDataLst>
              <p:tags r:id="rId15"/>
            </p:custDataLst>
          </p:nvPr>
        </p:nvSpPr>
        <p:spPr>
          <a:xfrm>
            <a:off x="7019925" y="5948363"/>
            <a:ext cx="288000" cy="0"/>
          </a:xfrm>
          <a:prstGeom prst="line">
            <a:avLst/>
          </a:prstGeom>
          <a:ln w="1905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" name="Line 70"/>
          <p:cNvSpPr/>
          <p:nvPr>
            <p:custDataLst>
              <p:tags r:id="rId16"/>
            </p:custDataLst>
          </p:nvPr>
        </p:nvSpPr>
        <p:spPr>
          <a:xfrm>
            <a:off x="7668260" y="5948363"/>
            <a:ext cx="288000" cy="0"/>
          </a:xfrm>
          <a:prstGeom prst="line">
            <a:avLst/>
          </a:prstGeom>
          <a:ln w="1905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Rectangle 2"/>
          <p:cNvSpPr/>
          <p:nvPr/>
        </p:nvSpPr>
        <p:spPr>
          <a:xfrm>
            <a:off x="6443663" y="1268413"/>
            <a:ext cx="1944687" cy="3600450"/>
          </a:xfrm>
          <a:prstGeom prst="rect">
            <a:avLst/>
          </a:prstGeom>
          <a:noFill/>
          <a:ln w="1270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endParaRPr lang="zh-CN" altLang="en-US" sz="2800" dirty="0">
              <a:latin typeface="Tahoma" panose="020B0604030504040204" pitchFamily="34" charset="0"/>
            </a:endParaRPr>
          </a:p>
        </p:txBody>
      </p:sp>
      <p:sp>
        <p:nvSpPr>
          <p:cNvPr id="94212" name="Rectangle 4"/>
          <p:cNvSpPr>
            <a:spLocks noGrp="1"/>
          </p:cNvSpPr>
          <p:nvPr>
            <p:ph idx="1"/>
          </p:nvPr>
        </p:nvSpPr>
        <p:spPr>
          <a:xfrm>
            <a:off x="683260" y="4940935"/>
            <a:ext cx="8229600" cy="12446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400" b="1" dirty="0"/>
              <a:t>6264</a:t>
            </a:r>
            <a:r>
              <a:rPr lang="zh-CN" altLang="en-US" sz="2400" b="1" dirty="0"/>
              <a:t>芯片的地址范围：</a:t>
            </a:r>
            <a:endParaRPr lang="zh-CN" altLang="en-US" sz="2400" b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1111 000</a:t>
            </a:r>
            <a:r>
              <a:rPr lang="en-US" altLang="zh-CN" sz="2400" b="1" dirty="0">
                <a:solidFill>
                  <a:srgbClr val="0000FF"/>
                </a:solidFill>
              </a:rPr>
              <a:t>0 0000 0000 0000B</a:t>
            </a:r>
            <a:r>
              <a:rPr lang="zh-CN" altLang="en-US" sz="2400" b="1" dirty="0"/>
              <a:t>－－－</a:t>
            </a:r>
            <a:r>
              <a:rPr lang="en-US" altLang="zh-CN" sz="2400" b="1" dirty="0"/>
              <a:t>F0000H</a:t>
            </a:r>
            <a:endParaRPr lang="en-US" altLang="zh-CN" sz="2400" b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1111 000</a:t>
            </a:r>
            <a:r>
              <a:rPr lang="en-US" altLang="zh-CN" sz="2400" b="1" dirty="0">
                <a:solidFill>
                  <a:srgbClr val="0000FF"/>
                </a:solidFill>
              </a:rPr>
              <a:t>1 1111 1111 1111B</a:t>
            </a:r>
            <a:r>
              <a:rPr lang="zh-CN" altLang="en-US" sz="2400" b="1" dirty="0"/>
              <a:t>－－－</a:t>
            </a:r>
            <a:r>
              <a:rPr lang="en-US" altLang="zh-CN" sz="2400" b="1" dirty="0"/>
              <a:t>F1FFFH</a:t>
            </a:r>
            <a:endParaRPr lang="en-US" altLang="zh-CN" sz="2400" b="1" dirty="0"/>
          </a:p>
        </p:txBody>
      </p:sp>
      <p:sp>
        <p:nvSpPr>
          <p:cNvPr id="32771" name="Rectangle 5"/>
          <p:cNvSpPr/>
          <p:nvPr/>
        </p:nvSpPr>
        <p:spPr>
          <a:xfrm>
            <a:off x="3430270" y="1917700"/>
            <a:ext cx="1003300" cy="2895600"/>
          </a:xfrm>
          <a:prstGeom prst="rect">
            <a:avLst/>
          </a:prstGeom>
          <a:noFill/>
          <a:ln w="1270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endParaRPr lang="zh-CN" altLang="en-US" sz="2800" dirty="0">
              <a:latin typeface="Tahoma" panose="020B0604030504040204" pitchFamily="34" charset="0"/>
            </a:endParaRPr>
          </a:p>
        </p:txBody>
      </p:sp>
      <p:sp>
        <p:nvSpPr>
          <p:cNvPr id="32772" name="Line 6"/>
          <p:cNvSpPr/>
          <p:nvPr/>
        </p:nvSpPr>
        <p:spPr>
          <a:xfrm>
            <a:off x="2136775" y="2146300"/>
            <a:ext cx="1295400" cy="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73" name="Line 7"/>
          <p:cNvSpPr/>
          <p:nvPr/>
        </p:nvSpPr>
        <p:spPr>
          <a:xfrm>
            <a:off x="2136775" y="2527300"/>
            <a:ext cx="1295400" cy="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74" name="Line 8"/>
          <p:cNvSpPr/>
          <p:nvPr/>
        </p:nvSpPr>
        <p:spPr>
          <a:xfrm>
            <a:off x="2136775" y="3289300"/>
            <a:ext cx="1295400" cy="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75" name="Line 9"/>
          <p:cNvSpPr/>
          <p:nvPr/>
        </p:nvSpPr>
        <p:spPr>
          <a:xfrm>
            <a:off x="2136775" y="2908300"/>
            <a:ext cx="1295400" cy="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76" name="Line 10"/>
          <p:cNvSpPr/>
          <p:nvPr/>
        </p:nvSpPr>
        <p:spPr>
          <a:xfrm>
            <a:off x="1997710" y="3746500"/>
            <a:ext cx="287338" cy="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77" name="Rectangle 11"/>
          <p:cNvSpPr/>
          <p:nvPr/>
        </p:nvSpPr>
        <p:spPr>
          <a:xfrm>
            <a:off x="2289175" y="3517900"/>
            <a:ext cx="609600" cy="1219200"/>
          </a:xfrm>
          <a:prstGeom prst="rect">
            <a:avLst/>
          </a:prstGeom>
          <a:noFill/>
          <a:ln w="1270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endParaRPr lang="zh-CN" altLang="en-US" sz="2800" dirty="0">
              <a:latin typeface="Tahoma" panose="020B0604030504040204" pitchFamily="34" charset="0"/>
            </a:endParaRPr>
          </a:p>
        </p:txBody>
      </p:sp>
      <p:sp>
        <p:nvSpPr>
          <p:cNvPr id="32778" name="Line 12"/>
          <p:cNvSpPr/>
          <p:nvPr/>
        </p:nvSpPr>
        <p:spPr>
          <a:xfrm>
            <a:off x="2998788" y="4141788"/>
            <a:ext cx="431800" cy="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79" name="Text Box 13"/>
          <p:cNvSpPr txBox="1"/>
          <p:nvPr/>
        </p:nvSpPr>
        <p:spPr>
          <a:xfrm>
            <a:off x="1341438" y="1855788"/>
            <a:ext cx="914400" cy="519112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zh-CN" sz="2800" b="1" dirty="0">
                <a:latin typeface="Tahoma" panose="020B0604030504040204" pitchFamily="34" charset="0"/>
              </a:rPr>
              <a:t>A</a:t>
            </a:r>
            <a:r>
              <a:rPr lang="zh-CN" altLang="zh-CN" b="1" dirty="0">
                <a:latin typeface="Tahoma" panose="020B0604030504040204" pitchFamily="34" charset="0"/>
              </a:rPr>
              <a:t>19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32780" name="Text Box 14"/>
          <p:cNvSpPr txBox="1"/>
          <p:nvPr/>
        </p:nvSpPr>
        <p:spPr>
          <a:xfrm>
            <a:off x="1346200" y="2236788"/>
            <a:ext cx="914400" cy="519112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zh-CN" sz="2800" b="1" dirty="0">
                <a:latin typeface="Tahoma" panose="020B0604030504040204" pitchFamily="34" charset="0"/>
              </a:rPr>
              <a:t>A</a:t>
            </a:r>
            <a:r>
              <a:rPr lang="zh-CN" altLang="zh-CN" b="1" dirty="0">
                <a:latin typeface="Tahoma" panose="020B0604030504040204" pitchFamily="34" charset="0"/>
              </a:rPr>
              <a:t>18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32781" name="Text Box 15"/>
          <p:cNvSpPr txBox="1"/>
          <p:nvPr/>
        </p:nvSpPr>
        <p:spPr>
          <a:xfrm>
            <a:off x="1346200" y="2617788"/>
            <a:ext cx="914400" cy="519112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zh-CN" sz="2800" b="1" dirty="0">
                <a:latin typeface="Tahoma" panose="020B0604030504040204" pitchFamily="34" charset="0"/>
              </a:rPr>
              <a:t>A</a:t>
            </a:r>
            <a:r>
              <a:rPr lang="zh-CN" altLang="zh-CN" b="1" dirty="0">
                <a:latin typeface="Tahoma" panose="020B0604030504040204" pitchFamily="34" charset="0"/>
              </a:rPr>
              <a:t>17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32782" name="Text Box 16"/>
          <p:cNvSpPr txBox="1"/>
          <p:nvPr/>
        </p:nvSpPr>
        <p:spPr>
          <a:xfrm>
            <a:off x="1327150" y="2998788"/>
            <a:ext cx="914400" cy="519112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zh-CN" sz="2800" b="1" dirty="0">
                <a:latin typeface="Tahoma" panose="020B0604030504040204" pitchFamily="34" charset="0"/>
              </a:rPr>
              <a:t>A</a:t>
            </a:r>
            <a:r>
              <a:rPr lang="zh-CN" altLang="zh-CN" b="1" dirty="0">
                <a:latin typeface="Tahoma" panose="020B0604030504040204" pitchFamily="34" charset="0"/>
              </a:rPr>
              <a:t>16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32783" name="Text Box 17"/>
          <p:cNvSpPr txBox="1"/>
          <p:nvPr/>
        </p:nvSpPr>
        <p:spPr>
          <a:xfrm>
            <a:off x="1323975" y="3470275"/>
            <a:ext cx="914400" cy="52197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zh-CN" sz="2800" b="1" dirty="0">
                <a:latin typeface="Tahoma" panose="020B0604030504040204" pitchFamily="34" charset="0"/>
              </a:rPr>
              <a:t>A</a:t>
            </a:r>
            <a:r>
              <a:rPr lang="zh-CN" altLang="zh-CN" b="1" dirty="0">
                <a:latin typeface="Tahoma" panose="020B0604030504040204" pitchFamily="34" charset="0"/>
              </a:rPr>
              <a:t>15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32784" name="Text Box 18"/>
          <p:cNvSpPr txBox="1"/>
          <p:nvPr/>
        </p:nvSpPr>
        <p:spPr>
          <a:xfrm>
            <a:off x="1323975" y="3836988"/>
            <a:ext cx="914400" cy="519112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zh-CN" sz="2800" b="1" dirty="0">
                <a:latin typeface="Tahoma" panose="020B0604030504040204" pitchFamily="34" charset="0"/>
              </a:rPr>
              <a:t>A</a:t>
            </a:r>
            <a:r>
              <a:rPr lang="zh-CN" altLang="zh-CN" b="1" dirty="0">
                <a:latin typeface="Tahoma" panose="020B0604030504040204" pitchFamily="34" charset="0"/>
              </a:rPr>
              <a:t>14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32785" name="Text Box 19"/>
          <p:cNvSpPr txBox="1"/>
          <p:nvPr/>
        </p:nvSpPr>
        <p:spPr>
          <a:xfrm>
            <a:off x="1323975" y="4217988"/>
            <a:ext cx="914400" cy="519112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zh-CN" sz="2800" b="1" dirty="0">
                <a:latin typeface="Tahoma" panose="020B0604030504040204" pitchFamily="34" charset="0"/>
              </a:rPr>
              <a:t>A</a:t>
            </a:r>
            <a:r>
              <a:rPr lang="zh-CN" altLang="zh-CN" b="1" dirty="0">
                <a:latin typeface="Tahoma" panose="020B0604030504040204" pitchFamily="34" charset="0"/>
              </a:rPr>
              <a:t>13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32786" name="Text Box 20"/>
          <p:cNvSpPr txBox="1"/>
          <p:nvPr/>
        </p:nvSpPr>
        <p:spPr>
          <a:xfrm>
            <a:off x="3582988" y="2984500"/>
            <a:ext cx="685800" cy="579438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3200" dirty="0">
                <a:latin typeface="Tahoma" panose="020B0604030504040204" pitchFamily="34" charset="0"/>
              </a:rPr>
              <a:t>&amp;</a:t>
            </a:r>
            <a:endParaRPr lang="zh-CN" altLang="zh-CN" sz="3200" dirty="0">
              <a:latin typeface="Tahoma" panose="020B0604030504040204" pitchFamily="34" charset="0"/>
            </a:endParaRPr>
          </a:p>
        </p:txBody>
      </p:sp>
      <p:sp>
        <p:nvSpPr>
          <p:cNvPr id="32787" name="Text Box 21"/>
          <p:cNvSpPr txBox="1"/>
          <p:nvPr/>
        </p:nvSpPr>
        <p:spPr>
          <a:xfrm>
            <a:off x="2336800" y="3879850"/>
            <a:ext cx="550863" cy="519113"/>
          </a:xfrm>
          <a:prstGeom prst="rect">
            <a:avLst/>
          </a:prstGeom>
          <a:noFill/>
          <a:ln w="12700">
            <a:noFill/>
          </a:ln>
        </p:spPr>
        <p:txBody>
          <a:bodyPr lIns="0" rIns="0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800" dirty="0">
                <a:latin typeface="宋体" panose="02010600030101010101" pitchFamily="2" charset="-122"/>
                <a:sym typeface="Symbol" panose="05050102010706020507" pitchFamily="18" charset="2"/>
              </a:rPr>
              <a:t>≥</a:t>
            </a:r>
            <a:r>
              <a:rPr lang="en-US" altLang="zh-CN" sz="2800" dirty="0">
                <a:latin typeface="Tahoma" panose="020B0604030504040204" pitchFamily="34" charset="0"/>
                <a:sym typeface="Symbol" panose="05050102010706020507" pitchFamily="18" charset="2"/>
              </a:rPr>
              <a:t>1</a:t>
            </a:r>
            <a:endParaRPr lang="zh-CN" altLang="zh-CN" dirty="0">
              <a:latin typeface="Tahoma" panose="020B0604030504040204" pitchFamily="34" charset="0"/>
            </a:endParaRPr>
          </a:p>
        </p:txBody>
      </p:sp>
      <p:sp>
        <p:nvSpPr>
          <p:cNvPr id="32788" name="Oval 22"/>
          <p:cNvSpPr/>
          <p:nvPr/>
        </p:nvSpPr>
        <p:spPr>
          <a:xfrm flipV="1">
            <a:off x="2898775" y="4094163"/>
            <a:ext cx="107950" cy="107950"/>
          </a:xfrm>
          <a:prstGeom prst="ellipse">
            <a:avLst/>
          </a:prstGeom>
          <a:noFill/>
          <a:ln w="1270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 anchorCtr="0"/>
          <a:p>
            <a:endParaRPr lang="zh-CN" altLang="en-US" sz="2800" dirty="0">
              <a:latin typeface="Tahoma" panose="020B0604030504040204" pitchFamily="34" charset="0"/>
            </a:endParaRPr>
          </a:p>
        </p:txBody>
      </p:sp>
      <p:sp>
        <p:nvSpPr>
          <p:cNvPr id="32789" name="Oval 23"/>
          <p:cNvSpPr/>
          <p:nvPr/>
        </p:nvSpPr>
        <p:spPr>
          <a:xfrm flipV="1">
            <a:off x="4422775" y="3213100"/>
            <a:ext cx="149225" cy="144463"/>
          </a:xfrm>
          <a:prstGeom prst="ellipse">
            <a:avLst/>
          </a:prstGeom>
          <a:noFill/>
          <a:ln w="1905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 anchorCtr="0"/>
          <a:p>
            <a:endParaRPr lang="zh-CN" altLang="en-US" sz="2800" dirty="0">
              <a:latin typeface="Tahoma" panose="020B0604030504040204" pitchFamily="34" charset="0"/>
            </a:endParaRPr>
          </a:p>
        </p:txBody>
      </p:sp>
      <p:sp>
        <p:nvSpPr>
          <p:cNvPr id="32790" name="Line 24"/>
          <p:cNvSpPr/>
          <p:nvPr/>
        </p:nvSpPr>
        <p:spPr>
          <a:xfrm>
            <a:off x="4557713" y="3286125"/>
            <a:ext cx="1743075" cy="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round/>
            <a:headEnd type="none" w="sm" len="sm"/>
            <a:tailEnd type="none" w="med" len="med"/>
          </a:ln>
        </p:spPr>
      </p:sp>
      <p:sp>
        <p:nvSpPr>
          <p:cNvPr id="32791" name="Text Box 25"/>
          <p:cNvSpPr txBox="1"/>
          <p:nvPr/>
        </p:nvSpPr>
        <p:spPr>
          <a:xfrm>
            <a:off x="6473825" y="3070225"/>
            <a:ext cx="1008063" cy="521970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zh-CN" sz="2800" dirty="0">
                <a:latin typeface="Tahoma" panose="020B0604030504040204" pitchFamily="34" charset="0"/>
              </a:rPr>
              <a:t>CS</a:t>
            </a:r>
            <a:r>
              <a:rPr lang="zh-CN" altLang="zh-CN" sz="2000" baseline="-25000" dirty="0">
                <a:latin typeface="Tahoma" panose="020B0604030504040204" pitchFamily="34" charset="0"/>
              </a:rPr>
              <a:t>1</a:t>
            </a:r>
            <a:r>
              <a:rPr lang="en-US" altLang="zh-CN" sz="2000" dirty="0">
                <a:latin typeface="Tahoma" panose="020B0604030504040204" pitchFamily="34" charset="0"/>
              </a:rPr>
              <a:t>*</a:t>
            </a:r>
            <a:endParaRPr lang="en-US" altLang="zh-CN" sz="2000" dirty="0">
              <a:latin typeface="Tahoma" panose="020B0604030504040204" pitchFamily="34" charset="0"/>
            </a:endParaRPr>
          </a:p>
        </p:txBody>
      </p:sp>
      <p:sp>
        <p:nvSpPr>
          <p:cNvPr id="32792" name="AutoShape 27"/>
          <p:cNvSpPr/>
          <p:nvPr/>
        </p:nvSpPr>
        <p:spPr>
          <a:xfrm>
            <a:off x="5364163" y="1485900"/>
            <a:ext cx="1079500" cy="647700"/>
          </a:xfrm>
          <a:prstGeom prst="rightArrow">
            <a:avLst>
              <a:gd name="adj1" fmla="val 50000"/>
              <a:gd name="adj2" fmla="val 41635"/>
            </a:avLst>
          </a:prstGeom>
          <a:solidFill>
            <a:srgbClr val="FF9966"/>
          </a:solidFill>
          <a:ln w="1270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endParaRPr lang="zh-CN" altLang="en-US" sz="2800" dirty="0">
              <a:latin typeface="Tahoma" panose="020B0604030504040204" pitchFamily="34" charset="0"/>
            </a:endParaRPr>
          </a:p>
        </p:txBody>
      </p:sp>
      <p:sp>
        <p:nvSpPr>
          <p:cNvPr id="32793" name="AutoShape 29"/>
          <p:cNvSpPr/>
          <p:nvPr/>
        </p:nvSpPr>
        <p:spPr>
          <a:xfrm>
            <a:off x="5364163" y="4005263"/>
            <a:ext cx="1079500" cy="576262"/>
          </a:xfrm>
          <a:prstGeom prst="leftRightArrow">
            <a:avLst>
              <a:gd name="adj1" fmla="val 50000"/>
              <a:gd name="adj2" fmla="val 37430"/>
            </a:avLst>
          </a:prstGeom>
          <a:solidFill>
            <a:srgbClr val="FF9966"/>
          </a:solidFill>
          <a:ln w="12700" cap="sq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endParaRPr lang="zh-CN" altLang="en-US" sz="2800" dirty="0">
              <a:latin typeface="Tahoma" panose="020B0604030504040204" pitchFamily="34" charset="0"/>
            </a:endParaRPr>
          </a:p>
        </p:txBody>
      </p:sp>
      <p:sp>
        <p:nvSpPr>
          <p:cNvPr id="32794" name="Text Box 30"/>
          <p:cNvSpPr txBox="1"/>
          <p:nvPr/>
        </p:nvSpPr>
        <p:spPr>
          <a:xfrm>
            <a:off x="4716463" y="3717925"/>
            <a:ext cx="649287" cy="1187450"/>
          </a:xfrm>
          <a:prstGeom prst="rect">
            <a:avLst/>
          </a:prstGeom>
          <a:noFill/>
          <a:ln w="12700">
            <a:noFill/>
          </a:ln>
        </p:spPr>
        <p:txBody>
          <a:bodyPr anchor="t" anchorCtr="0">
            <a:spAutoFit/>
          </a:bodyPr>
          <a:p>
            <a:pPr algn="r"/>
            <a:r>
              <a:rPr lang="en-US" altLang="zh-CN" dirty="0">
                <a:latin typeface="Tahoma" panose="020B0604030504040204" pitchFamily="34" charset="0"/>
              </a:rPr>
              <a:t>D</a:t>
            </a:r>
            <a:r>
              <a:rPr lang="en-US" altLang="zh-CN" baseline="-25000" dirty="0">
                <a:latin typeface="Tahoma" panose="020B0604030504040204" pitchFamily="34" charset="0"/>
              </a:rPr>
              <a:t>7</a:t>
            </a:r>
            <a:endParaRPr lang="en-US" altLang="zh-CN" baseline="-25000" dirty="0">
              <a:latin typeface="Tahoma" panose="020B0604030504040204" pitchFamily="34" charset="0"/>
            </a:endParaRPr>
          </a:p>
          <a:p>
            <a:pPr algn="r"/>
            <a:r>
              <a:rPr lang="zh-CN" altLang="en-US" dirty="0">
                <a:latin typeface="Tahoma" panose="020B0604030504040204" pitchFamily="34" charset="0"/>
              </a:rPr>
              <a:t>～</a:t>
            </a:r>
            <a:endParaRPr lang="zh-CN" altLang="en-US" dirty="0">
              <a:latin typeface="Tahoma" panose="020B0604030504040204" pitchFamily="34" charset="0"/>
            </a:endParaRPr>
          </a:p>
          <a:p>
            <a:pPr algn="r"/>
            <a:r>
              <a:rPr lang="en-US" altLang="zh-CN" dirty="0">
                <a:latin typeface="Tahoma" panose="020B0604030504040204" pitchFamily="34" charset="0"/>
              </a:rPr>
              <a:t>D</a:t>
            </a:r>
            <a:r>
              <a:rPr lang="en-US" altLang="zh-CN" baseline="-25000" dirty="0">
                <a:latin typeface="Tahoma" panose="020B0604030504040204" pitchFamily="34" charset="0"/>
              </a:rPr>
              <a:t>0</a:t>
            </a:r>
            <a:endParaRPr lang="en-US" altLang="zh-CN" baseline="-25000" dirty="0">
              <a:latin typeface="Tahoma" panose="020B0604030504040204" pitchFamily="34" charset="0"/>
            </a:endParaRPr>
          </a:p>
        </p:txBody>
      </p:sp>
      <p:sp>
        <p:nvSpPr>
          <p:cNvPr id="32795" name="Line 31"/>
          <p:cNvSpPr/>
          <p:nvPr/>
        </p:nvSpPr>
        <p:spPr>
          <a:xfrm>
            <a:off x="1996123" y="4149725"/>
            <a:ext cx="287337" cy="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96" name="Line 32"/>
          <p:cNvSpPr/>
          <p:nvPr/>
        </p:nvSpPr>
        <p:spPr>
          <a:xfrm>
            <a:off x="1996123" y="4510088"/>
            <a:ext cx="287337" cy="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97" name="Text Box 38"/>
          <p:cNvSpPr txBox="1"/>
          <p:nvPr/>
        </p:nvSpPr>
        <p:spPr>
          <a:xfrm>
            <a:off x="7451725" y="1270000"/>
            <a:ext cx="935038" cy="460375"/>
          </a:xfrm>
          <a:prstGeom prst="rect">
            <a:avLst/>
          </a:prstGeom>
          <a:noFill/>
          <a:ln w="12700">
            <a:noFill/>
          </a:ln>
        </p:spPr>
        <p:txBody>
          <a:bodyPr lIns="0" rIns="0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zh-CN" b="1" dirty="0">
                <a:latin typeface="Arial" panose="020B0604020202020204" pitchFamily="34" charset="0"/>
              </a:rPr>
              <a:t>6264</a:t>
            </a:r>
            <a:endParaRPr lang="zh-CN" altLang="zh-CN" b="1" dirty="0">
              <a:latin typeface="Arial" panose="020B0604020202020204" pitchFamily="34" charset="0"/>
            </a:endParaRPr>
          </a:p>
        </p:txBody>
      </p:sp>
      <p:sp>
        <p:nvSpPr>
          <p:cNvPr id="32798" name="Text Box 39"/>
          <p:cNvSpPr txBox="1"/>
          <p:nvPr/>
        </p:nvSpPr>
        <p:spPr>
          <a:xfrm>
            <a:off x="6516688" y="1557338"/>
            <a:ext cx="1008062" cy="457200"/>
          </a:xfrm>
          <a:prstGeom prst="rect">
            <a:avLst/>
          </a:prstGeom>
          <a:noFill/>
          <a:ln w="12700">
            <a:noFill/>
          </a:ln>
        </p:spPr>
        <p:txBody>
          <a:bodyPr lIns="0" rIns="0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Tahoma" panose="020B0604030504040204" pitchFamily="34" charset="0"/>
              </a:rPr>
              <a:t>A</a:t>
            </a:r>
            <a:r>
              <a:rPr lang="en-US" altLang="zh-CN" sz="1800" dirty="0">
                <a:latin typeface="Tahoma" panose="020B0604030504040204" pitchFamily="34" charset="0"/>
              </a:rPr>
              <a:t>12</a:t>
            </a:r>
            <a:r>
              <a:rPr lang="en-US" altLang="zh-CN" dirty="0">
                <a:latin typeface="Tahoma" panose="020B0604030504040204" pitchFamily="34" charset="0"/>
              </a:rPr>
              <a:t>-A</a:t>
            </a:r>
            <a:r>
              <a:rPr lang="en-US" altLang="zh-CN" sz="1800" dirty="0">
                <a:latin typeface="Tahoma" panose="020B0604030504040204" pitchFamily="34" charset="0"/>
              </a:rPr>
              <a:t>0</a:t>
            </a:r>
            <a:endParaRPr lang="en-US" altLang="zh-CN" sz="1800" dirty="0">
              <a:latin typeface="Tahoma" panose="020B0604030504040204" pitchFamily="34" charset="0"/>
            </a:endParaRPr>
          </a:p>
        </p:txBody>
      </p:sp>
      <p:sp>
        <p:nvSpPr>
          <p:cNvPr id="32799" name="Text Box 40"/>
          <p:cNvSpPr txBox="1"/>
          <p:nvPr/>
        </p:nvSpPr>
        <p:spPr>
          <a:xfrm>
            <a:off x="6516688" y="4005263"/>
            <a:ext cx="1008062" cy="457200"/>
          </a:xfrm>
          <a:prstGeom prst="rect">
            <a:avLst/>
          </a:prstGeom>
          <a:noFill/>
          <a:ln w="12700">
            <a:noFill/>
          </a:ln>
        </p:spPr>
        <p:txBody>
          <a:bodyPr lIns="0" rIns="0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Tahoma" panose="020B0604030504040204" pitchFamily="34" charset="0"/>
              </a:rPr>
              <a:t>D</a:t>
            </a:r>
            <a:r>
              <a:rPr lang="en-US" altLang="zh-CN" sz="1800" dirty="0">
                <a:latin typeface="Tahoma" panose="020B0604030504040204" pitchFamily="34" charset="0"/>
              </a:rPr>
              <a:t>7</a:t>
            </a:r>
            <a:r>
              <a:rPr lang="en-US" altLang="zh-CN" dirty="0">
                <a:latin typeface="Tahoma" panose="020B0604030504040204" pitchFamily="34" charset="0"/>
              </a:rPr>
              <a:t>-D</a:t>
            </a:r>
            <a:r>
              <a:rPr lang="en-US" altLang="zh-CN" sz="1800" dirty="0">
                <a:latin typeface="Tahoma" panose="020B0604030504040204" pitchFamily="34" charset="0"/>
              </a:rPr>
              <a:t>0</a:t>
            </a:r>
            <a:endParaRPr lang="en-US" altLang="zh-CN" sz="1800" dirty="0">
              <a:latin typeface="Tahoma" panose="020B0604030504040204" pitchFamily="34" charset="0"/>
            </a:endParaRPr>
          </a:p>
        </p:txBody>
      </p:sp>
      <p:sp>
        <p:nvSpPr>
          <p:cNvPr id="32800" name="Line 41"/>
          <p:cNvSpPr/>
          <p:nvPr/>
        </p:nvSpPr>
        <p:spPr>
          <a:xfrm>
            <a:off x="5724525" y="2781300"/>
            <a:ext cx="576263" cy="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round/>
            <a:headEnd type="none" w="sm" len="sm"/>
            <a:tailEnd type="none" w="med" len="med"/>
          </a:ln>
        </p:spPr>
      </p:sp>
      <p:sp>
        <p:nvSpPr>
          <p:cNvPr id="32801" name="Line 42"/>
          <p:cNvSpPr/>
          <p:nvPr/>
        </p:nvSpPr>
        <p:spPr>
          <a:xfrm>
            <a:off x="5724525" y="2493963"/>
            <a:ext cx="576263" cy="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round/>
            <a:headEnd type="none" w="sm" len="sm"/>
            <a:tailEnd type="none" w="med" len="med"/>
          </a:ln>
        </p:spPr>
      </p:sp>
      <p:sp>
        <p:nvSpPr>
          <p:cNvPr id="32802" name="Text Box 43"/>
          <p:cNvSpPr txBox="1"/>
          <p:nvPr/>
        </p:nvSpPr>
        <p:spPr>
          <a:xfrm>
            <a:off x="6588125" y="2205355"/>
            <a:ext cx="1170940" cy="829945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anchor="t" anchorCtr="0">
            <a:spAutoFit/>
          </a:bodyPr>
          <a:p>
            <a:r>
              <a:rPr lang="en-US" altLang="zh-CN" dirty="0">
                <a:latin typeface="Tahoma" panose="020B0604030504040204" pitchFamily="34" charset="0"/>
              </a:rPr>
              <a:t>OE*</a:t>
            </a:r>
            <a:endParaRPr lang="en-US" altLang="zh-CN" dirty="0">
              <a:latin typeface="Tahoma" panose="020B0604030504040204" pitchFamily="34" charset="0"/>
            </a:endParaRPr>
          </a:p>
          <a:p>
            <a:r>
              <a:rPr lang="en-US" altLang="zh-CN" dirty="0">
                <a:latin typeface="Tahoma" panose="020B0604030504040204" pitchFamily="34" charset="0"/>
              </a:rPr>
              <a:t>WE*</a:t>
            </a:r>
            <a:endParaRPr lang="en-US" altLang="zh-CN" sz="1800" dirty="0">
              <a:latin typeface="Tahoma" panose="020B0604030504040204" pitchFamily="34" charset="0"/>
            </a:endParaRPr>
          </a:p>
        </p:txBody>
      </p:sp>
      <p:sp>
        <p:nvSpPr>
          <p:cNvPr id="32803" name="Oval 44"/>
          <p:cNvSpPr/>
          <p:nvPr/>
        </p:nvSpPr>
        <p:spPr>
          <a:xfrm>
            <a:off x="6300788" y="2420938"/>
            <a:ext cx="144462" cy="144462"/>
          </a:xfrm>
          <a:prstGeom prst="ellipse">
            <a:avLst/>
          </a:prstGeom>
          <a:noFill/>
          <a:ln w="28575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 anchorCtr="0"/>
          <a:p>
            <a:endParaRPr lang="zh-CN" altLang="en-US" sz="2800" dirty="0">
              <a:latin typeface="Tahoma" panose="020B0604030504040204" pitchFamily="34" charset="0"/>
            </a:endParaRPr>
          </a:p>
        </p:txBody>
      </p:sp>
      <p:sp>
        <p:nvSpPr>
          <p:cNvPr id="32804" name="Oval 45"/>
          <p:cNvSpPr/>
          <p:nvPr/>
        </p:nvSpPr>
        <p:spPr>
          <a:xfrm>
            <a:off x="6300788" y="2709863"/>
            <a:ext cx="144462" cy="144462"/>
          </a:xfrm>
          <a:prstGeom prst="ellipse">
            <a:avLst/>
          </a:prstGeom>
          <a:noFill/>
          <a:ln w="28575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 anchorCtr="0"/>
          <a:p>
            <a:endParaRPr lang="zh-CN" altLang="en-US" sz="2800" dirty="0">
              <a:latin typeface="Tahoma" panose="020B0604030504040204" pitchFamily="34" charset="0"/>
            </a:endParaRPr>
          </a:p>
        </p:txBody>
      </p:sp>
      <p:sp>
        <p:nvSpPr>
          <p:cNvPr id="32805" name="Oval 46"/>
          <p:cNvSpPr/>
          <p:nvPr/>
        </p:nvSpPr>
        <p:spPr>
          <a:xfrm>
            <a:off x="6300788" y="3213100"/>
            <a:ext cx="144462" cy="144463"/>
          </a:xfrm>
          <a:prstGeom prst="ellipse">
            <a:avLst/>
          </a:prstGeom>
          <a:noFill/>
          <a:ln w="28575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 anchorCtr="0"/>
          <a:p>
            <a:endParaRPr lang="zh-CN" altLang="en-US" sz="2800" dirty="0">
              <a:latin typeface="Tahoma" panose="020B0604030504040204" pitchFamily="34" charset="0"/>
            </a:endParaRPr>
          </a:p>
        </p:txBody>
      </p:sp>
      <p:sp>
        <p:nvSpPr>
          <p:cNvPr id="32806" name="Text Box 52"/>
          <p:cNvSpPr txBox="1"/>
          <p:nvPr/>
        </p:nvSpPr>
        <p:spPr>
          <a:xfrm>
            <a:off x="539750" y="1482090"/>
            <a:ext cx="401256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Tahoma" panose="020B0604030504040204" pitchFamily="34" charset="0"/>
              </a:rPr>
              <a:t>例</a:t>
            </a:r>
            <a:r>
              <a:rPr lang="en-US" altLang="zh-CN" b="1" dirty="0">
                <a:latin typeface="Tahoma" panose="020B0604030504040204" pitchFamily="34" charset="0"/>
              </a:rPr>
              <a:t>2. </a:t>
            </a:r>
            <a:r>
              <a:rPr lang="zh-CN" altLang="en-US" b="1" dirty="0">
                <a:latin typeface="Tahoma" panose="020B0604030504040204" pitchFamily="34" charset="0"/>
              </a:rPr>
              <a:t>利用组合电路译码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grpSp>
        <p:nvGrpSpPr>
          <p:cNvPr id="2" name="Group 56"/>
          <p:cNvGrpSpPr/>
          <p:nvPr/>
        </p:nvGrpSpPr>
        <p:grpSpPr>
          <a:xfrm>
            <a:off x="179388" y="2132013"/>
            <a:ext cx="1152525" cy="2376487"/>
            <a:chOff x="113" y="1162"/>
            <a:chExt cx="726" cy="1497"/>
          </a:xfrm>
        </p:grpSpPr>
        <p:sp>
          <p:nvSpPr>
            <p:cNvPr id="32808" name="Text Box 54"/>
            <p:cNvSpPr txBox="1"/>
            <p:nvPr/>
          </p:nvSpPr>
          <p:spPr>
            <a:xfrm>
              <a:off x="113" y="1568"/>
              <a:ext cx="680" cy="978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txBody>
            <a:bodyPr lIns="0" rIns="0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Arial" panose="020B0604020202020204" pitchFamily="34" charset="0"/>
                </a:rPr>
                <a:t>高位地址线全部参加译码</a:t>
              </a:r>
              <a:endParaRPr lang="zh-CN" altLang="en-US" b="1" dirty="0">
                <a:latin typeface="Arial" panose="020B0604020202020204" pitchFamily="34" charset="0"/>
              </a:endParaRPr>
            </a:p>
          </p:txBody>
        </p:sp>
        <p:sp>
          <p:nvSpPr>
            <p:cNvPr id="32809" name="AutoShape 55"/>
            <p:cNvSpPr/>
            <p:nvPr/>
          </p:nvSpPr>
          <p:spPr>
            <a:xfrm>
              <a:off x="703" y="1162"/>
              <a:ext cx="136" cy="1497"/>
            </a:xfrm>
            <a:prstGeom prst="leftBrace">
              <a:avLst>
                <a:gd name="adj1" fmla="val 91524"/>
                <a:gd name="adj2" fmla="val 50505"/>
              </a:avLst>
            </a:prstGeom>
            <a:solidFill>
              <a:schemeClr val="bg1"/>
            </a:solidFill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wrap="none" anchor="ctr" anchorCtr="0"/>
            <a:p>
              <a:endParaRPr lang="zh-CN" altLang="en-US" sz="2800" dirty="0">
                <a:latin typeface="Tahoma" panose="020B0604030504040204" pitchFamily="34" charset="0"/>
              </a:endParaRPr>
            </a:p>
          </p:txBody>
        </p:sp>
      </p:grpSp>
      <p:sp>
        <p:nvSpPr>
          <p:cNvPr id="12333" name="Text Box 52"/>
          <p:cNvSpPr txBox="1"/>
          <p:nvPr/>
        </p:nvSpPr>
        <p:spPr>
          <a:xfrm>
            <a:off x="827405" y="475615"/>
            <a:ext cx="5444490" cy="7289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solidFill>
                  <a:srgbClr val="0000FF"/>
                </a:solidFill>
                <a:latin typeface="Tahoma" panose="020B0604030504040204" pitchFamily="34" charset="0"/>
              </a:rPr>
              <a:t> </a:t>
            </a:r>
            <a:r>
              <a:rPr lang="zh-CN" altLang="en-US" sz="3600" b="1" dirty="0">
                <a:solidFill>
                  <a:srgbClr val="0000FF"/>
                </a:solidFill>
                <a:latin typeface="Tahoma" panose="020B0604030504040204" pitchFamily="34" charset="0"/>
              </a:rPr>
              <a:t>（</a:t>
            </a:r>
            <a:r>
              <a:rPr lang="en-US" altLang="zh-CN" sz="3600" b="1" dirty="0">
                <a:solidFill>
                  <a:srgbClr val="0000FF"/>
                </a:solidFill>
                <a:latin typeface="Tahoma" panose="020B0604030504040204" pitchFamily="34" charset="0"/>
              </a:rPr>
              <a:t>1</a:t>
            </a:r>
            <a:r>
              <a:rPr lang="zh-CN" altLang="en-US" sz="3600" b="1" dirty="0">
                <a:solidFill>
                  <a:srgbClr val="0000FF"/>
                </a:solidFill>
                <a:latin typeface="Tahoma" panose="020B0604030504040204" pitchFamily="34" charset="0"/>
              </a:rPr>
              <a:t>）全地址译码法</a:t>
            </a:r>
            <a:endParaRPr lang="zh-CN" altLang="en-US" sz="3600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83260" y="5007610"/>
            <a:ext cx="7687310" cy="15182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mpd="dbl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 anchor="t">
            <a:noAutofit/>
          </a:bodyPr>
          <a:p>
            <a:pPr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  <a:sym typeface="+mn-ea"/>
              </a:rPr>
              <a:t>特点：所有的系统地址线均参</a:t>
            </a:r>
            <a:r>
              <a:rPr lang="zh-CN" altLang="en-US" b="1">
                <a:latin typeface="Times New Roman" panose="02020603050405020304" pitchFamily="18" charset="0"/>
                <a:sym typeface="+mn-ea"/>
              </a:rPr>
              <a:t>与译码，</a:t>
            </a:r>
            <a:r>
              <a:rPr lang="zh-CN" altLang="en-US" b="1">
                <a:solidFill>
                  <a:srgbClr val="0033CC"/>
                </a:solidFill>
                <a:latin typeface="Times New Roman" panose="02020603050405020304" pitchFamily="18" charset="0"/>
                <a:sym typeface="+mn-ea"/>
              </a:rPr>
              <a:t>每个存储单元的地址都是唯一的</a:t>
            </a:r>
            <a:r>
              <a:rPr lang="zh-CN" altLang="en-US" b="1">
                <a:solidFill>
                  <a:srgbClr val="663300"/>
                </a:solidFill>
                <a:latin typeface="Times New Roman" panose="02020603050405020304" pitchFamily="18" charset="0"/>
                <a:sym typeface="+mn-ea"/>
              </a:rPr>
              <a:t>，地址连续，</a:t>
            </a:r>
            <a:r>
              <a:rPr lang="zh-CN" altLang="en-US" b="1">
                <a:latin typeface="Times New Roman" panose="02020603050405020304" pitchFamily="18" charset="0"/>
                <a:sym typeface="+mn-ea"/>
              </a:rPr>
              <a:t>不存在地址重复，但译码电路可能比较复杂。</a:t>
            </a:r>
            <a:endParaRPr lang="zh-CN" altLang="en-US" b="1"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4" name="Text Box 39"/>
          <p:cNvSpPr txBox="1"/>
          <p:nvPr/>
        </p:nvSpPr>
        <p:spPr>
          <a:xfrm>
            <a:off x="4357688" y="1340803"/>
            <a:ext cx="1008062" cy="457200"/>
          </a:xfrm>
          <a:prstGeom prst="rect">
            <a:avLst/>
          </a:prstGeom>
          <a:noFill/>
          <a:ln w="12700">
            <a:noFill/>
          </a:ln>
        </p:spPr>
        <p:txBody>
          <a:bodyPr lIns="0" rIns="0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Tahoma" panose="020B0604030504040204" pitchFamily="34" charset="0"/>
              </a:rPr>
              <a:t>A</a:t>
            </a:r>
            <a:r>
              <a:rPr lang="en-US" altLang="zh-CN" sz="1800" dirty="0">
                <a:latin typeface="Tahoma" panose="020B0604030504040204" pitchFamily="34" charset="0"/>
              </a:rPr>
              <a:t>12</a:t>
            </a:r>
            <a:r>
              <a:rPr lang="en-US" altLang="zh-CN" dirty="0">
                <a:latin typeface="Tahoma" panose="020B0604030504040204" pitchFamily="34" charset="0"/>
              </a:rPr>
              <a:t>-A</a:t>
            </a:r>
            <a:r>
              <a:rPr lang="en-US" altLang="zh-CN" sz="1800" dirty="0">
                <a:latin typeface="Tahoma" panose="020B0604030504040204" pitchFamily="34" charset="0"/>
              </a:rPr>
              <a:t>0</a:t>
            </a:r>
            <a:endParaRPr lang="en-US" altLang="zh-CN" sz="18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4212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4212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>
                                            <p:txEl>
                                              <p:charRg st="13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4212">
                                            <p:txEl>
                                              <p:charRg st="13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4212">
                                            <p:txEl>
                                              <p:charRg st="13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>
                                            <p:txEl>
                                              <p:charRg st="48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4212">
                                            <p:txEl>
                                              <p:charRg st="48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4212">
                                            <p:txEl>
                                              <p:charRg st="48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2" grpId="0" build="p"/>
      <p:bldP spid="3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3794" name="Group 37"/>
          <p:cNvGrpSpPr/>
          <p:nvPr/>
        </p:nvGrpSpPr>
        <p:grpSpPr>
          <a:xfrm>
            <a:off x="1610995" y="1270318"/>
            <a:ext cx="7064375" cy="3636962"/>
            <a:chOff x="834" y="1048"/>
            <a:chExt cx="4450" cy="2291"/>
          </a:xfrm>
        </p:grpSpPr>
        <p:sp>
          <p:nvSpPr>
            <p:cNvPr id="33795" name="Rectangle 2"/>
            <p:cNvSpPr/>
            <p:nvPr/>
          </p:nvSpPr>
          <p:spPr>
            <a:xfrm>
              <a:off x="4059" y="1048"/>
              <a:ext cx="1225" cy="2268"/>
            </a:xfrm>
            <a:prstGeom prst="rect">
              <a:avLst/>
            </a:prstGeom>
            <a:noFill/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endParaRPr lang="zh-CN" altLang="en-US" sz="2800" dirty="0">
                <a:latin typeface="Tahoma" panose="020B0604030504040204" pitchFamily="34" charset="0"/>
              </a:endParaRPr>
            </a:p>
          </p:txBody>
        </p:sp>
        <p:sp>
          <p:nvSpPr>
            <p:cNvPr id="33796" name="Rectangle 4"/>
            <p:cNvSpPr/>
            <p:nvPr/>
          </p:nvSpPr>
          <p:spPr>
            <a:xfrm>
              <a:off x="2161" y="1457"/>
              <a:ext cx="632" cy="1824"/>
            </a:xfrm>
            <a:prstGeom prst="rect">
              <a:avLst/>
            </a:prstGeom>
            <a:noFill/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endParaRPr lang="zh-CN" altLang="en-US" sz="2800" dirty="0">
                <a:latin typeface="Tahoma" panose="020B0604030504040204" pitchFamily="34" charset="0"/>
              </a:endParaRPr>
            </a:p>
          </p:txBody>
        </p:sp>
        <p:sp>
          <p:nvSpPr>
            <p:cNvPr id="33797" name="Line 8"/>
            <p:cNvSpPr/>
            <p:nvPr/>
          </p:nvSpPr>
          <p:spPr>
            <a:xfrm>
              <a:off x="1346" y="2081"/>
              <a:ext cx="816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33798" name="Line 9"/>
            <p:cNvSpPr/>
            <p:nvPr/>
          </p:nvSpPr>
          <p:spPr>
            <a:xfrm>
              <a:off x="1272" y="2609"/>
              <a:ext cx="181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33799" name="Rectangle 10"/>
            <p:cNvSpPr/>
            <p:nvPr/>
          </p:nvSpPr>
          <p:spPr>
            <a:xfrm>
              <a:off x="1456" y="2465"/>
              <a:ext cx="384" cy="768"/>
            </a:xfrm>
            <a:prstGeom prst="rect">
              <a:avLst/>
            </a:prstGeom>
            <a:noFill/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endParaRPr lang="zh-CN" altLang="en-US" sz="2800" dirty="0">
                <a:latin typeface="Tahoma" panose="020B0604030504040204" pitchFamily="34" charset="0"/>
              </a:endParaRPr>
            </a:p>
          </p:txBody>
        </p:sp>
        <p:sp>
          <p:nvSpPr>
            <p:cNvPr id="33800" name="Line 11"/>
            <p:cNvSpPr/>
            <p:nvPr/>
          </p:nvSpPr>
          <p:spPr>
            <a:xfrm>
              <a:off x="1903" y="2858"/>
              <a:ext cx="261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33801" name="Text Box 14"/>
            <p:cNvSpPr txBox="1"/>
            <p:nvPr/>
          </p:nvSpPr>
          <p:spPr>
            <a:xfrm>
              <a:off x="848" y="1898"/>
              <a:ext cx="57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zh-CN" sz="2800" b="1" dirty="0">
                  <a:latin typeface="Tahoma" panose="020B0604030504040204" pitchFamily="34" charset="0"/>
                </a:rPr>
                <a:t>A</a:t>
              </a:r>
              <a:r>
                <a:rPr lang="zh-CN" altLang="zh-CN" b="1" dirty="0">
                  <a:latin typeface="Tahoma" panose="020B0604030504040204" pitchFamily="34" charset="0"/>
                </a:rPr>
                <a:t>17</a:t>
              </a:r>
              <a:endParaRPr lang="en-US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33802" name="Text Box 16"/>
            <p:cNvSpPr txBox="1"/>
            <p:nvPr/>
          </p:nvSpPr>
          <p:spPr>
            <a:xfrm>
              <a:off x="834" y="2435"/>
              <a:ext cx="57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zh-CN" sz="2800" b="1" dirty="0">
                  <a:latin typeface="Tahoma" panose="020B0604030504040204" pitchFamily="34" charset="0"/>
                </a:rPr>
                <a:t>A</a:t>
              </a:r>
              <a:r>
                <a:rPr lang="zh-CN" altLang="zh-CN" b="1" dirty="0">
                  <a:latin typeface="Tahoma" panose="020B0604030504040204" pitchFamily="34" charset="0"/>
                </a:rPr>
                <a:t>15</a:t>
              </a:r>
              <a:endParaRPr lang="en-US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33803" name="Text Box 17"/>
            <p:cNvSpPr txBox="1"/>
            <p:nvPr/>
          </p:nvSpPr>
          <p:spPr>
            <a:xfrm>
              <a:off x="834" y="2666"/>
              <a:ext cx="57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zh-CN" sz="2800" b="1" dirty="0">
                  <a:latin typeface="Tahoma" panose="020B0604030504040204" pitchFamily="34" charset="0"/>
                </a:rPr>
                <a:t>A</a:t>
              </a:r>
              <a:r>
                <a:rPr lang="zh-CN" altLang="zh-CN" b="1" dirty="0">
                  <a:latin typeface="Tahoma" panose="020B0604030504040204" pitchFamily="34" charset="0"/>
                </a:rPr>
                <a:t>14</a:t>
              </a:r>
              <a:endParaRPr lang="en-US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33804" name="Text Box 18"/>
            <p:cNvSpPr txBox="1"/>
            <p:nvPr/>
          </p:nvSpPr>
          <p:spPr>
            <a:xfrm>
              <a:off x="834" y="2906"/>
              <a:ext cx="57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zh-CN" sz="2800" b="1" dirty="0">
                  <a:latin typeface="Tahoma" panose="020B0604030504040204" pitchFamily="34" charset="0"/>
                </a:rPr>
                <a:t>A</a:t>
              </a:r>
              <a:r>
                <a:rPr lang="zh-CN" altLang="zh-CN" b="1" dirty="0">
                  <a:latin typeface="Tahoma" panose="020B0604030504040204" pitchFamily="34" charset="0"/>
                </a:rPr>
                <a:t>13</a:t>
              </a:r>
              <a:endParaRPr lang="en-US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33805" name="Text Box 19"/>
            <p:cNvSpPr txBox="1"/>
            <p:nvPr/>
          </p:nvSpPr>
          <p:spPr>
            <a:xfrm>
              <a:off x="2257" y="2129"/>
              <a:ext cx="432" cy="365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3200" dirty="0">
                  <a:latin typeface="Tahoma" panose="020B0604030504040204" pitchFamily="34" charset="0"/>
                </a:rPr>
                <a:t>&amp;</a:t>
              </a:r>
              <a:endParaRPr lang="zh-CN" altLang="zh-CN" sz="3200" dirty="0">
                <a:latin typeface="Tahoma" panose="020B0604030504040204" pitchFamily="34" charset="0"/>
              </a:endParaRPr>
            </a:p>
          </p:txBody>
        </p:sp>
        <p:sp>
          <p:nvSpPr>
            <p:cNvPr id="33806" name="Text Box 20"/>
            <p:cNvSpPr txBox="1"/>
            <p:nvPr/>
          </p:nvSpPr>
          <p:spPr>
            <a:xfrm>
              <a:off x="1472" y="2693"/>
              <a:ext cx="347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rIns="0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dirty="0">
                  <a:latin typeface="宋体" panose="02010600030101010101" pitchFamily="2" charset="-122"/>
                  <a:sym typeface="Symbol" panose="05050102010706020507" pitchFamily="18" charset="2"/>
                </a:rPr>
                <a:t>≥</a:t>
              </a:r>
              <a:r>
                <a:rPr lang="en-US" altLang="zh-CN" sz="2800" dirty="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  <a:endParaRPr lang="zh-CN" altLang="zh-CN" dirty="0">
                <a:latin typeface="Tahoma" panose="020B0604030504040204" pitchFamily="34" charset="0"/>
              </a:endParaRPr>
            </a:p>
          </p:txBody>
        </p:sp>
        <p:sp>
          <p:nvSpPr>
            <p:cNvPr id="33807" name="Oval 21"/>
            <p:cNvSpPr/>
            <p:nvPr/>
          </p:nvSpPr>
          <p:spPr>
            <a:xfrm flipV="1">
              <a:off x="1833" y="2828"/>
              <a:ext cx="68" cy="68"/>
            </a:xfrm>
            <a:prstGeom prst="ellipse">
              <a:avLst/>
            </a:pr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rot="10800000" wrap="none" anchor="ctr" anchorCtr="0"/>
            <a:p>
              <a:endParaRPr lang="zh-CN" altLang="en-US" sz="2800" dirty="0">
                <a:latin typeface="Tahoma" panose="020B0604030504040204" pitchFamily="34" charset="0"/>
              </a:endParaRPr>
            </a:p>
          </p:txBody>
        </p:sp>
        <p:sp>
          <p:nvSpPr>
            <p:cNvPr id="33808" name="Oval 22"/>
            <p:cNvSpPr/>
            <p:nvPr/>
          </p:nvSpPr>
          <p:spPr>
            <a:xfrm flipV="1">
              <a:off x="2786" y="2273"/>
              <a:ext cx="94" cy="91"/>
            </a:xfrm>
            <a:prstGeom prst="ellipse">
              <a:avLst/>
            </a:prstGeom>
            <a:noFill/>
            <a:ln w="1905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rot="10800000" wrap="none" anchor="ctr" anchorCtr="0"/>
            <a:p>
              <a:endParaRPr lang="zh-CN" altLang="en-US" sz="2800" dirty="0">
                <a:latin typeface="Tahoma" panose="020B0604030504040204" pitchFamily="34" charset="0"/>
              </a:endParaRPr>
            </a:p>
          </p:txBody>
        </p:sp>
        <p:sp>
          <p:nvSpPr>
            <p:cNvPr id="33809" name="Line 23"/>
            <p:cNvSpPr/>
            <p:nvPr/>
          </p:nvSpPr>
          <p:spPr>
            <a:xfrm>
              <a:off x="2871" y="2319"/>
              <a:ext cx="1098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</p:spPr>
        </p:sp>
        <p:sp>
          <p:nvSpPr>
            <p:cNvPr id="33810" name="Text Box 24"/>
            <p:cNvSpPr txBox="1"/>
            <p:nvPr/>
          </p:nvSpPr>
          <p:spPr>
            <a:xfrm>
              <a:off x="4078" y="2183"/>
              <a:ext cx="771" cy="32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zh-CN" sz="2800" dirty="0">
                  <a:latin typeface="Tahoma" panose="020B0604030504040204" pitchFamily="34" charset="0"/>
                </a:rPr>
                <a:t>CS</a:t>
              </a:r>
              <a:r>
                <a:rPr lang="zh-CN" altLang="zh-CN" sz="2000" baseline="-25000" dirty="0">
                  <a:latin typeface="Tahoma" panose="020B0604030504040204" pitchFamily="34" charset="0"/>
                </a:rPr>
                <a:t>1</a:t>
              </a:r>
              <a:r>
                <a:rPr lang="en-US" altLang="zh-CN" sz="2000" dirty="0">
                  <a:latin typeface="Tahoma" panose="020B0604030504040204" pitchFamily="34" charset="0"/>
                </a:rPr>
                <a:t>*</a:t>
              </a:r>
              <a:endParaRPr lang="en-US" altLang="zh-CN" sz="2000" dirty="0">
                <a:latin typeface="Tahoma" panose="020B0604030504040204" pitchFamily="34" charset="0"/>
              </a:endParaRPr>
            </a:p>
          </p:txBody>
        </p:sp>
        <p:sp>
          <p:nvSpPr>
            <p:cNvPr id="33811" name="AutoShape 25"/>
            <p:cNvSpPr/>
            <p:nvPr/>
          </p:nvSpPr>
          <p:spPr>
            <a:xfrm>
              <a:off x="3379" y="1185"/>
              <a:ext cx="680" cy="408"/>
            </a:xfrm>
            <a:prstGeom prst="rightArrow">
              <a:avLst>
                <a:gd name="adj1" fmla="val 50000"/>
                <a:gd name="adj2" fmla="val 41635"/>
              </a:avLst>
            </a:prstGeom>
            <a:solidFill>
              <a:srgbClr val="FF9966"/>
            </a:solidFill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endParaRPr lang="zh-CN" altLang="en-US" sz="2800" dirty="0">
                <a:latin typeface="Tahoma" panose="020B0604030504040204" pitchFamily="34" charset="0"/>
              </a:endParaRPr>
            </a:p>
          </p:txBody>
        </p:sp>
        <p:sp>
          <p:nvSpPr>
            <p:cNvPr id="33812" name="AutoShape 26"/>
            <p:cNvSpPr/>
            <p:nvPr/>
          </p:nvSpPr>
          <p:spPr>
            <a:xfrm>
              <a:off x="3379" y="2772"/>
              <a:ext cx="680" cy="363"/>
            </a:xfrm>
            <a:prstGeom prst="leftRightArrow">
              <a:avLst>
                <a:gd name="adj1" fmla="val 50000"/>
                <a:gd name="adj2" fmla="val 37430"/>
              </a:avLst>
            </a:prstGeom>
            <a:solidFill>
              <a:srgbClr val="FF9966"/>
            </a:solidFill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endParaRPr lang="zh-CN" altLang="en-US" sz="2800" dirty="0">
                <a:latin typeface="Tahoma" panose="020B0604030504040204" pitchFamily="34" charset="0"/>
              </a:endParaRPr>
            </a:p>
          </p:txBody>
        </p:sp>
        <p:sp>
          <p:nvSpPr>
            <p:cNvPr id="33813" name="Text Box 27"/>
            <p:cNvSpPr txBox="1"/>
            <p:nvPr/>
          </p:nvSpPr>
          <p:spPr>
            <a:xfrm>
              <a:off x="2971" y="2591"/>
              <a:ext cx="409" cy="74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 algn="r"/>
              <a:r>
                <a:rPr lang="en-US" altLang="zh-CN" dirty="0">
                  <a:latin typeface="Tahoma" panose="020B0604030504040204" pitchFamily="34" charset="0"/>
                </a:rPr>
                <a:t>D</a:t>
              </a:r>
              <a:r>
                <a:rPr lang="en-US" altLang="zh-CN" baseline="-25000" dirty="0">
                  <a:latin typeface="Tahoma" panose="020B0604030504040204" pitchFamily="34" charset="0"/>
                </a:rPr>
                <a:t>7</a:t>
              </a:r>
              <a:endParaRPr lang="en-US" altLang="zh-CN" baseline="-25000" dirty="0">
                <a:latin typeface="Tahoma" panose="020B0604030504040204" pitchFamily="34" charset="0"/>
              </a:endParaRPr>
            </a:p>
            <a:p>
              <a:pPr algn="r"/>
              <a:r>
                <a:rPr lang="zh-CN" altLang="en-US" dirty="0">
                  <a:latin typeface="Tahoma" panose="020B0604030504040204" pitchFamily="34" charset="0"/>
                </a:rPr>
                <a:t>～</a:t>
              </a:r>
              <a:endParaRPr lang="zh-CN" altLang="en-US" dirty="0">
                <a:latin typeface="Tahoma" panose="020B0604030504040204" pitchFamily="34" charset="0"/>
              </a:endParaRPr>
            </a:p>
            <a:p>
              <a:pPr algn="r"/>
              <a:r>
                <a:rPr lang="en-US" altLang="zh-CN" dirty="0">
                  <a:latin typeface="Tahoma" panose="020B0604030504040204" pitchFamily="34" charset="0"/>
                </a:rPr>
                <a:t>D</a:t>
              </a:r>
              <a:r>
                <a:rPr lang="en-US" altLang="zh-CN" baseline="-25000" dirty="0">
                  <a:latin typeface="Tahoma" panose="020B0604030504040204" pitchFamily="34" charset="0"/>
                </a:rPr>
                <a:t>0</a:t>
              </a:r>
              <a:endParaRPr lang="en-US" altLang="zh-CN" baseline="-25000" dirty="0">
                <a:latin typeface="Tahoma" panose="020B0604030504040204" pitchFamily="34" charset="0"/>
              </a:endParaRPr>
            </a:p>
          </p:txBody>
        </p:sp>
        <p:sp>
          <p:nvSpPr>
            <p:cNvPr id="33814" name="Line 28"/>
            <p:cNvSpPr/>
            <p:nvPr/>
          </p:nvSpPr>
          <p:spPr>
            <a:xfrm>
              <a:off x="1271" y="2863"/>
              <a:ext cx="181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33815" name="Line 29"/>
            <p:cNvSpPr/>
            <p:nvPr/>
          </p:nvSpPr>
          <p:spPr>
            <a:xfrm>
              <a:off x="1271" y="3090"/>
              <a:ext cx="181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33816" name="Text Box 32"/>
            <p:cNvSpPr txBox="1"/>
            <p:nvPr/>
          </p:nvSpPr>
          <p:spPr>
            <a:xfrm>
              <a:off x="4694" y="1049"/>
              <a:ext cx="589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rIns="0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zh-CN" sz="2800" b="1" dirty="0">
                  <a:latin typeface="Arial" panose="020B0604020202020204" pitchFamily="34" charset="0"/>
                </a:rPr>
                <a:t>6264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3817" name="Text Box 33"/>
            <p:cNvSpPr txBox="1"/>
            <p:nvPr/>
          </p:nvSpPr>
          <p:spPr>
            <a:xfrm>
              <a:off x="4105" y="1230"/>
              <a:ext cx="635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rIns="0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ahoma" panose="020B0604030504040204" pitchFamily="34" charset="0"/>
                </a:rPr>
                <a:t>A</a:t>
              </a:r>
              <a:r>
                <a:rPr lang="en-US" altLang="zh-CN" sz="1800" dirty="0">
                  <a:latin typeface="Tahoma" panose="020B0604030504040204" pitchFamily="34" charset="0"/>
                </a:rPr>
                <a:t>12</a:t>
              </a:r>
              <a:r>
                <a:rPr lang="en-US" altLang="zh-CN" dirty="0">
                  <a:latin typeface="Tahoma" panose="020B0604030504040204" pitchFamily="34" charset="0"/>
                </a:rPr>
                <a:t>-A</a:t>
              </a:r>
              <a:r>
                <a:rPr lang="en-US" altLang="zh-CN" sz="1800" dirty="0">
                  <a:latin typeface="Tahoma" panose="020B0604030504040204" pitchFamily="34" charset="0"/>
                </a:rPr>
                <a:t>0</a:t>
              </a:r>
              <a:endParaRPr lang="en-US" altLang="zh-CN" sz="1800" dirty="0">
                <a:latin typeface="Tahoma" panose="020B0604030504040204" pitchFamily="34" charset="0"/>
              </a:endParaRPr>
            </a:p>
          </p:txBody>
        </p:sp>
        <p:sp>
          <p:nvSpPr>
            <p:cNvPr id="33818" name="Text Box 34"/>
            <p:cNvSpPr txBox="1"/>
            <p:nvPr/>
          </p:nvSpPr>
          <p:spPr>
            <a:xfrm>
              <a:off x="4105" y="2772"/>
              <a:ext cx="635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0" rIns="0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ahoma" panose="020B0604030504040204" pitchFamily="34" charset="0"/>
                </a:rPr>
                <a:t>D</a:t>
              </a:r>
              <a:r>
                <a:rPr lang="en-US" altLang="zh-CN" sz="1800" dirty="0">
                  <a:latin typeface="Tahoma" panose="020B0604030504040204" pitchFamily="34" charset="0"/>
                </a:rPr>
                <a:t>7</a:t>
              </a:r>
              <a:r>
                <a:rPr lang="en-US" altLang="zh-CN" dirty="0">
                  <a:latin typeface="Tahoma" panose="020B0604030504040204" pitchFamily="34" charset="0"/>
                </a:rPr>
                <a:t>-D</a:t>
              </a:r>
              <a:r>
                <a:rPr lang="en-US" altLang="zh-CN" sz="1800" dirty="0">
                  <a:latin typeface="Tahoma" panose="020B0604030504040204" pitchFamily="34" charset="0"/>
                </a:rPr>
                <a:t>0</a:t>
              </a:r>
              <a:endParaRPr lang="en-US" altLang="zh-CN" sz="1800" dirty="0">
                <a:latin typeface="Tahoma" panose="020B0604030504040204" pitchFamily="34" charset="0"/>
              </a:endParaRPr>
            </a:p>
          </p:txBody>
        </p:sp>
        <p:sp>
          <p:nvSpPr>
            <p:cNvPr id="33819" name="Line 35"/>
            <p:cNvSpPr/>
            <p:nvPr/>
          </p:nvSpPr>
          <p:spPr>
            <a:xfrm>
              <a:off x="3606" y="2001"/>
              <a:ext cx="363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</p:spPr>
        </p:sp>
        <p:sp>
          <p:nvSpPr>
            <p:cNvPr id="33820" name="Line 36"/>
            <p:cNvSpPr/>
            <p:nvPr/>
          </p:nvSpPr>
          <p:spPr>
            <a:xfrm>
              <a:off x="3606" y="1820"/>
              <a:ext cx="363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</p:spPr>
        </p:sp>
        <p:sp>
          <p:nvSpPr>
            <p:cNvPr id="33821" name="Text Box 37"/>
            <p:cNvSpPr txBox="1"/>
            <p:nvPr/>
          </p:nvSpPr>
          <p:spPr>
            <a:xfrm>
              <a:off x="4150" y="1638"/>
              <a:ext cx="590" cy="52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0" rIns="0" anchor="t" anchorCtr="0">
              <a:spAutoFit/>
            </a:bodyPr>
            <a:p>
              <a:r>
                <a:rPr lang="en-US" altLang="zh-CN" dirty="0">
                  <a:latin typeface="Tahoma" panose="020B0604030504040204" pitchFamily="34" charset="0"/>
                </a:rPr>
                <a:t>OE*</a:t>
              </a:r>
              <a:endParaRPr lang="en-US" altLang="zh-CN" dirty="0">
                <a:latin typeface="Tahoma" panose="020B0604030504040204" pitchFamily="34" charset="0"/>
              </a:endParaRPr>
            </a:p>
            <a:p>
              <a:r>
                <a:rPr lang="en-US" altLang="zh-CN" dirty="0">
                  <a:latin typeface="Tahoma" panose="020B0604030504040204" pitchFamily="34" charset="0"/>
                </a:rPr>
                <a:t>WE*</a:t>
              </a:r>
              <a:endParaRPr lang="en-US" altLang="zh-CN" sz="1800" dirty="0">
                <a:latin typeface="Tahoma" panose="020B0604030504040204" pitchFamily="34" charset="0"/>
              </a:endParaRPr>
            </a:p>
          </p:txBody>
        </p:sp>
        <p:sp>
          <p:nvSpPr>
            <p:cNvPr id="33822" name="Oval 38"/>
            <p:cNvSpPr/>
            <p:nvPr/>
          </p:nvSpPr>
          <p:spPr>
            <a:xfrm>
              <a:off x="3969" y="1774"/>
              <a:ext cx="91" cy="91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wrap="none" anchor="ctr" anchorCtr="0"/>
            <a:p>
              <a:endParaRPr lang="zh-CN" altLang="en-US" sz="2800" dirty="0">
                <a:latin typeface="Tahoma" panose="020B0604030504040204" pitchFamily="34" charset="0"/>
              </a:endParaRPr>
            </a:p>
          </p:txBody>
        </p:sp>
        <p:sp>
          <p:nvSpPr>
            <p:cNvPr id="33823" name="Oval 39"/>
            <p:cNvSpPr/>
            <p:nvPr/>
          </p:nvSpPr>
          <p:spPr>
            <a:xfrm>
              <a:off x="3969" y="1956"/>
              <a:ext cx="91" cy="91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wrap="none" anchor="ctr" anchorCtr="0"/>
            <a:p>
              <a:endParaRPr lang="zh-CN" altLang="en-US" sz="2800" dirty="0">
                <a:latin typeface="Tahoma" panose="020B0604030504040204" pitchFamily="34" charset="0"/>
              </a:endParaRPr>
            </a:p>
          </p:txBody>
        </p:sp>
        <p:sp>
          <p:nvSpPr>
            <p:cNvPr id="33824" name="Oval 40"/>
            <p:cNvSpPr/>
            <p:nvPr/>
          </p:nvSpPr>
          <p:spPr>
            <a:xfrm>
              <a:off x="3969" y="2273"/>
              <a:ext cx="91" cy="91"/>
            </a:xfrm>
            <a:prstGeom prst="ellipse">
              <a:avLst/>
            </a:prstGeom>
            <a:noFill/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wrap="none" anchor="ctr" anchorCtr="0"/>
            <a:p>
              <a:endParaRPr lang="zh-CN" altLang="en-US" sz="2800" dirty="0">
                <a:latin typeface="Tahoma" panose="020B0604030504040204" pitchFamily="34" charset="0"/>
              </a:endParaRPr>
            </a:p>
          </p:txBody>
        </p:sp>
        <p:sp>
          <p:nvSpPr>
            <p:cNvPr id="33825" name="Line 43"/>
            <p:cNvSpPr/>
            <p:nvPr/>
          </p:nvSpPr>
          <p:spPr>
            <a:xfrm>
              <a:off x="1346" y="2310"/>
              <a:ext cx="816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33826" name="Text Box 44"/>
            <p:cNvSpPr txBox="1"/>
            <p:nvPr/>
          </p:nvSpPr>
          <p:spPr>
            <a:xfrm>
              <a:off x="836" y="2127"/>
              <a:ext cx="576" cy="327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zh-CN" sz="2800" b="1" dirty="0">
                  <a:latin typeface="Tahoma" panose="020B0604030504040204" pitchFamily="34" charset="0"/>
                </a:rPr>
                <a:t>A</a:t>
              </a:r>
              <a:r>
                <a:rPr lang="zh-CN" altLang="zh-CN" b="1" dirty="0">
                  <a:latin typeface="Tahoma" panose="020B0604030504040204" pitchFamily="34" charset="0"/>
                </a:rPr>
                <a:t>16</a:t>
              </a:r>
              <a:endParaRPr lang="en-US" altLang="zh-CN" b="1" dirty="0">
                <a:latin typeface="Tahoma" panose="020B0604030504040204" pitchFamily="34" charset="0"/>
              </a:endParaRPr>
            </a:p>
          </p:txBody>
        </p:sp>
      </p:grpSp>
      <p:sp>
        <p:nvSpPr>
          <p:cNvPr id="20524" name="Rectangle 44"/>
          <p:cNvSpPr/>
          <p:nvPr/>
        </p:nvSpPr>
        <p:spPr>
          <a:xfrm>
            <a:off x="682943" y="6189028"/>
            <a:ext cx="688403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>
              <a:buChar char="•"/>
            </a:pP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存在地址重叠：</a:t>
            </a:r>
            <a:r>
              <a:rPr lang="zh-CN" altLang="en-US" sz="2800" b="1" dirty="0">
                <a:sym typeface="Wingdings" panose="05000000000000000000" pitchFamily="2" charset="2"/>
              </a:rPr>
              <a:t>一个存储单元有</a:t>
            </a:r>
            <a:r>
              <a:rPr lang="zh-CN" altLang="en-US" sz="2800" b="1" dirty="0">
                <a:latin typeface="Tahoma" panose="020B0604030504040204" pitchFamily="34" charset="0"/>
              </a:rPr>
              <a:t>多个地址</a:t>
            </a:r>
            <a:endParaRPr lang="zh-CN" altLang="en-US" sz="2800" b="1" dirty="0">
              <a:latin typeface="Tahoma" panose="020B0604030504040204" pitchFamily="34" charset="0"/>
            </a:endParaRPr>
          </a:p>
        </p:txBody>
      </p:sp>
      <p:sp>
        <p:nvSpPr>
          <p:cNvPr id="12333" name="Text Box 52"/>
          <p:cNvSpPr txBox="1"/>
          <p:nvPr>
            <p:custDataLst>
              <p:tags r:id="rId1"/>
            </p:custDataLst>
          </p:nvPr>
        </p:nvSpPr>
        <p:spPr>
          <a:xfrm>
            <a:off x="827405" y="475615"/>
            <a:ext cx="5444490" cy="7289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solidFill>
                  <a:srgbClr val="0000FF"/>
                </a:solidFill>
                <a:latin typeface="Tahoma" panose="020B0604030504040204" pitchFamily="34" charset="0"/>
              </a:rPr>
              <a:t> </a:t>
            </a:r>
            <a:r>
              <a:rPr lang="zh-CN" altLang="en-US" sz="3600" b="1" dirty="0">
                <a:solidFill>
                  <a:srgbClr val="0000FF"/>
                </a:solidFill>
                <a:latin typeface="Tahoma" panose="020B0604030504040204" pitchFamily="34" charset="0"/>
              </a:rPr>
              <a:t>（</a:t>
            </a:r>
            <a:r>
              <a:rPr lang="en-US" altLang="zh-CN" sz="3600" b="1" dirty="0">
                <a:solidFill>
                  <a:srgbClr val="0000FF"/>
                </a:solidFill>
                <a:latin typeface="Tahoma" panose="020B0604030504040204" pitchFamily="34" charset="0"/>
              </a:rPr>
              <a:t>2</a:t>
            </a:r>
            <a:r>
              <a:rPr lang="zh-CN" altLang="en-US" sz="3600" b="1" dirty="0">
                <a:solidFill>
                  <a:srgbClr val="0000FF"/>
                </a:solidFill>
                <a:latin typeface="Tahoma" panose="020B0604030504040204" pitchFamily="34" charset="0"/>
              </a:rPr>
              <a:t>）部分地址译码法</a:t>
            </a:r>
            <a:endParaRPr lang="zh-CN" altLang="en-US" sz="3600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grpSp>
        <p:nvGrpSpPr>
          <p:cNvPr id="2" name="Group 56"/>
          <p:cNvGrpSpPr/>
          <p:nvPr/>
        </p:nvGrpSpPr>
        <p:grpSpPr>
          <a:xfrm>
            <a:off x="513080" y="2655570"/>
            <a:ext cx="1152525" cy="2159635"/>
            <a:chOff x="113" y="1162"/>
            <a:chExt cx="726" cy="1497"/>
          </a:xfrm>
        </p:grpSpPr>
        <p:sp>
          <p:nvSpPr>
            <p:cNvPr id="32808" name="Text Box 54"/>
            <p:cNvSpPr txBox="1"/>
            <p:nvPr>
              <p:custDataLst>
                <p:tags r:id="rId2"/>
              </p:custDataLst>
            </p:nvPr>
          </p:nvSpPr>
          <p:spPr>
            <a:xfrm>
              <a:off x="113" y="1276"/>
              <a:ext cx="680" cy="1270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txBody>
            <a:bodyPr lIns="0" rIns="0" anchor="t" anchorCtr="0">
              <a:no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Arial" panose="020B0604020202020204" pitchFamily="34" charset="0"/>
                </a:rPr>
                <a:t>部分高位地址线全部参加译码</a:t>
              </a:r>
              <a:endParaRPr lang="zh-CN" altLang="en-US" b="1" dirty="0">
                <a:latin typeface="Arial" panose="020B0604020202020204" pitchFamily="34" charset="0"/>
              </a:endParaRPr>
            </a:p>
          </p:txBody>
        </p:sp>
        <p:sp>
          <p:nvSpPr>
            <p:cNvPr id="32809" name="AutoShape 55"/>
            <p:cNvSpPr/>
            <p:nvPr>
              <p:custDataLst>
                <p:tags r:id="rId3"/>
              </p:custDataLst>
            </p:nvPr>
          </p:nvSpPr>
          <p:spPr>
            <a:xfrm>
              <a:off x="703" y="1162"/>
              <a:ext cx="136" cy="1497"/>
            </a:xfrm>
            <a:prstGeom prst="leftBrace">
              <a:avLst>
                <a:gd name="adj1" fmla="val 91524"/>
                <a:gd name="adj2" fmla="val 50505"/>
              </a:avLst>
            </a:prstGeom>
            <a:solidFill>
              <a:schemeClr val="bg1"/>
            </a:solidFill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wrap="none" anchor="ctr" anchorCtr="0"/>
            <a:p>
              <a:endParaRPr lang="zh-CN" altLang="en-US" sz="2800" dirty="0">
                <a:latin typeface="Tahoma" panose="020B0604030504040204" pitchFamily="34" charset="0"/>
              </a:endParaRPr>
            </a:p>
          </p:txBody>
        </p:sp>
      </p:grpSp>
      <p:sp>
        <p:nvSpPr>
          <p:cNvPr id="94212" name="Rectangle 4"/>
          <p:cNvSpPr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683260" y="4869180"/>
            <a:ext cx="8229600" cy="442595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400" b="1" dirty="0"/>
              <a:t>6264</a:t>
            </a:r>
            <a:r>
              <a:rPr lang="zh-CN" altLang="en-US" sz="2400" b="1" dirty="0"/>
              <a:t>芯片的地址范围：</a:t>
            </a:r>
            <a:endParaRPr lang="en-US" altLang="zh-CN" sz="24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755015" y="5733415"/>
            <a:ext cx="7864475" cy="423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hangingPunct="1">
              <a:lnSpc>
                <a:spcPct val="90000"/>
              </a:lnSpc>
              <a:buNone/>
            </a:pP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××</a:t>
            </a:r>
            <a:r>
              <a:rPr lang="en-US" altLang="zh-CN" b="1" dirty="0">
                <a:solidFill>
                  <a:srgbClr val="FF0000"/>
                </a:solidFill>
                <a:sym typeface="+mn-ea"/>
              </a:rPr>
              <a:t>11 000</a:t>
            </a:r>
            <a:r>
              <a:rPr lang="en-US" altLang="zh-CN" b="1" dirty="0">
                <a:solidFill>
                  <a:srgbClr val="0000FF"/>
                </a:solidFill>
                <a:sym typeface="+mn-ea"/>
              </a:rPr>
              <a:t>1 1111 1111 1111B</a:t>
            </a:r>
            <a:r>
              <a:rPr lang="zh-CN" altLang="en-US" b="1" dirty="0">
                <a:sym typeface="+mn-ea"/>
              </a:rPr>
              <a:t>－－－</a:t>
            </a:r>
            <a:r>
              <a:rPr lang="en-US" altLang="zh-CN" b="1" dirty="0">
                <a:sym typeface="+mn-ea"/>
              </a:rPr>
              <a:t>31FFFH</a:t>
            </a:r>
            <a:endParaRPr lang="en-US" altLang="zh-CN" b="1" dirty="0">
              <a:sym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755015" y="5084445"/>
            <a:ext cx="7226300" cy="621030"/>
            <a:chOff x="1189" y="8007"/>
            <a:chExt cx="11380" cy="978"/>
          </a:xfrm>
        </p:grpSpPr>
        <p:sp>
          <p:nvSpPr>
            <p:cNvPr id="6" name="文本框 5"/>
            <p:cNvSpPr txBox="1"/>
            <p:nvPr/>
          </p:nvSpPr>
          <p:spPr>
            <a:xfrm>
              <a:off x="1189" y="8319"/>
              <a:ext cx="11381" cy="66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eaLnBrk="1" hangingPunct="1">
                <a:lnSpc>
                  <a:spcPct val="90000"/>
                </a:lnSpc>
                <a:buNone/>
              </a:pPr>
              <a:r>
                <a:rPr lang="en-US" altLang="zh-CN" b="1" dirty="0">
                  <a:solidFill>
                    <a:srgbClr val="FF0000"/>
                  </a:solidFill>
                  <a:latin typeface="Arial" panose="020B0604020202020204" pitchFamily="34" charset="0"/>
                  <a:sym typeface="+mn-ea"/>
                </a:rPr>
                <a:t>××</a:t>
              </a:r>
              <a:r>
                <a:rPr lang="en-US" altLang="zh-CN" b="1" dirty="0">
                  <a:solidFill>
                    <a:srgbClr val="FF0000"/>
                  </a:solidFill>
                  <a:sym typeface="+mn-ea"/>
                </a:rPr>
                <a:t>11 000</a:t>
              </a:r>
              <a:r>
                <a:rPr lang="en-US" altLang="zh-CN" b="1" dirty="0">
                  <a:solidFill>
                    <a:srgbClr val="0000FF"/>
                  </a:solidFill>
                  <a:sym typeface="+mn-ea"/>
                </a:rPr>
                <a:t>0 0000 0000 0000B</a:t>
              </a:r>
              <a:r>
                <a:rPr lang="zh-CN" altLang="en-US" b="1" dirty="0">
                  <a:sym typeface="+mn-ea"/>
                </a:rPr>
                <a:t>－－－</a:t>
              </a:r>
              <a:r>
                <a:rPr lang="en-US" altLang="zh-CN" b="1" dirty="0">
                  <a:sym typeface="+mn-ea"/>
                </a:rPr>
                <a:t>30000H</a:t>
              </a:r>
              <a:endParaRPr lang="en-US" altLang="zh-CN" b="1" dirty="0">
                <a:sym typeface="+mn-ea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8695" y="8007"/>
              <a:ext cx="1548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b="1">
                  <a:solidFill>
                    <a:srgbClr val="00B0F0"/>
                  </a:solidFill>
                  <a:latin typeface="Arial" panose="020B0604020202020204" pitchFamily="34" charset="0"/>
                </a:rPr>
                <a:t>×取</a:t>
              </a:r>
              <a:r>
                <a:rPr lang="en-US" altLang="zh-CN" b="1">
                  <a:solidFill>
                    <a:srgbClr val="00B0F0"/>
                  </a:solidFill>
                  <a:latin typeface="Arial" panose="020B0604020202020204" pitchFamily="34" charset="0"/>
                </a:rPr>
                <a:t>0</a:t>
              </a:r>
              <a:endParaRPr lang="en-US" altLang="zh-CN" b="1">
                <a:solidFill>
                  <a:srgbClr val="00B0F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0" name="Rectangle 44"/>
          <p:cNvSpPr/>
          <p:nvPr>
            <p:custDataLst>
              <p:tags r:id="rId5"/>
            </p:custDataLst>
          </p:nvPr>
        </p:nvSpPr>
        <p:spPr>
          <a:xfrm>
            <a:off x="467360" y="1463040"/>
            <a:ext cx="4973320" cy="953135"/>
          </a:xfrm>
          <a:prstGeom prst="rect">
            <a:avLst/>
          </a:prstGeom>
          <a:solidFill>
            <a:schemeClr val="bg1"/>
          </a:solidFill>
          <a:ln w="28575" cmpd="dbl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anchor="t" anchorCtr="0">
            <a:spAutoFit/>
          </a:bodyPr>
          <a:p>
            <a:pPr algn="l"/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思考：</a:t>
            </a:r>
            <a:r>
              <a:rPr lang="zh-CN" altLang="en-US" sz="2800" b="1" dirty="0">
                <a:solidFill>
                  <a:srgbClr val="FF0000"/>
                </a:solidFill>
                <a:sym typeface="Wingdings" panose="05000000000000000000" pitchFamily="2" charset="2"/>
              </a:rPr>
              <a:t>一个存储单元可以有</a:t>
            </a: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多少个地址？为什么？</a:t>
            </a:r>
            <a:endParaRPr lang="zh-CN" altLang="en-US" sz="2800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3" name="Text Box 33"/>
          <p:cNvSpPr txBox="1"/>
          <p:nvPr/>
        </p:nvSpPr>
        <p:spPr>
          <a:xfrm>
            <a:off x="5435918" y="1268413"/>
            <a:ext cx="1008063" cy="457200"/>
          </a:xfrm>
          <a:prstGeom prst="rect">
            <a:avLst/>
          </a:prstGeom>
          <a:noFill/>
          <a:ln w="12700">
            <a:noFill/>
          </a:ln>
        </p:spPr>
        <p:txBody>
          <a:bodyPr lIns="0" rIns="0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latin typeface="Tahoma" panose="020B0604030504040204" pitchFamily="34" charset="0"/>
              </a:rPr>
              <a:t>A</a:t>
            </a:r>
            <a:r>
              <a:rPr lang="en-US" altLang="zh-CN" sz="1800" dirty="0">
                <a:latin typeface="Tahoma" panose="020B0604030504040204" pitchFamily="34" charset="0"/>
              </a:rPr>
              <a:t>12</a:t>
            </a:r>
            <a:r>
              <a:rPr lang="en-US" altLang="zh-CN" dirty="0">
                <a:latin typeface="Tahoma" panose="020B0604030504040204" pitchFamily="34" charset="0"/>
              </a:rPr>
              <a:t>-A</a:t>
            </a:r>
            <a:r>
              <a:rPr lang="en-US" altLang="zh-CN" sz="1800" dirty="0">
                <a:latin typeface="Tahoma" panose="020B0604030504040204" pitchFamily="34" charset="0"/>
              </a:rPr>
              <a:t>0</a:t>
            </a:r>
            <a:endParaRPr lang="en-US" altLang="zh-CN" sz="18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4212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4212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0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24" grpId="0" bldLvl="0" animBg="1"/>
      <p:bldP spid="94212" grpId="0" uiExpand="1" build="p"/>
      <p:bldP spid="7" grpId="0"/>
      <p:bldP spid="10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146"/>
          <p:cNvGrpSpPr/>
          <p:nvPr/>
        </p:nvGrpSpPr>
        <p:grpSpPr>
          <a:xfrm>
            <a:off x="1762125" y="1247775"/>
            <a:ext cx="6924675" cy="2284413"/>
            <a:chOff x="1110" y="795"/>
            <a:chExt cx="4362" cy="1439"/>
          </a:xfrm>
        </p:grpSpPr>
        <p:sp>
          <p:nvSpPr>
            <p:cNvPr id="34819" name="Line 42"/>
            <p:cNvSpPr/>
            <p:nvPr/>
          </p:nvSpPr>
          <p:spPr>
            <a:xfrm flipH="1">
              <a:off x="4712" y="1085"/>
              <a:ext cx="760" cy="10"/>
            </a:xfrm>
            <a:prstGeom prst="line">
              <a:avLst/>
            </a:prstGeom>
            <a:ln w="66675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triangle" w="med" len="med"/>
            </a:ln>
          </p:spPr>
        </p:sp>
        <p:sp>
          <p:nvSpPr>
            <p:cNvPr id="34820" name="Text Box 45"/>
            <p:cNvSpPr txBox="1"/>
            <p:nvPr/>
          </p:nvSpPr>
          <p:spPr>
            <a:xfrm>
              <a:off x="1505" y="1146"/>
              <a:ext cx="562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ahoma" panose="020B0604030504040204" pitchFamily="34" charset="0"/>
                </a:rPr>
                <a:t>A</a:t>
              </a:r>
              <a:r>
                <a:rPr lang="en-US" altLang="zh-CN" b="1" baseline="-25000" dirty="0">
                  <a:latin typeface="Tahoma" panose="020B0604030504040204" pitchFamily="34" charset="0"/>
                </a:rPr>
                <a:t>13</a:t>
              </a:r>
              <a:endParaRPr lang="en-US" altLang="zh-CN" b="1" baseline="-25000" dirty="0">
                <a:latin typeface="Tahoma" panose="020B0604030504040204" pitchFamily="34" charset="0"/>
              </a:endParaRPr>
            </a:p>
          </p:txBody>
        </p:sp>
        <p:sp>
          <p:nvSpPr>
            <p:cNvPr id="34821" name="Text Box 46"/>
            <p:cNvSpPr txBox="1"/>
            <p:nvPr/>
          </p:nvSpPr>
          <p:spPr>
            <a:xfrm>
              <a:off x="1110" y="828"/>
              <a:ext cx="1058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ahoma" panose="020B0604030504040204" pitchFamily="34" charset="0"/>
                </a:rPr>
                <a:t>A</a:t>
              </a:r>
              <a:r>
                <a:rPr lang="en-US" altLang="zh-CN" b="1" baseline="-25000" dirty="0">
                  <a:latin typeface="Tahoma" panose="020B0604030504040204" pitchFamily="34" charset="0"/>
                </a:rPr>
                <a:t>12</a:t>
              </a:r>
              <a:r>
                <a:rPr lang="en-US" altLang="zh-CN" b="1" dirty="0">
                  <a:latin typeface="Tahoma" panose="020B0604030504040204" pitchFamily="34" charset="0"/>
                </a:rPr>
                <a:t>~A</a:t>
              </a:r>
              <a:r>
                <a:rPr lang="en-US" altLang="zh-CN" b="1" baseline="-25000" dirty="0">
                  <a:latin typeface="Tahoma" panose="020B0604030504040204" pitchFamily="34" charset="0"/>
                </a:rPr>
                <a:t>0</a:t>
              </a:r>
              <a:endParaRPr lang="en-US" altLang="zh-CN" b="1" baseline="-25000" dirty="0">
                <a:latin typeface="Tahoma" panose="020B0604030504040204" pitchFamily="34" charset="0"/>
              </a:endParaRPr>
            </a:p>
          </p:txBody>
        </p:sp>
        <p:sp>
          <p:nvSpPr>
            <p:cNvPr id="34822" name="Text Box 47"/>
            <p:cNvSpPr txBox="1"/>
            <p:nvPr/>
          </p:nvSpPr>
          <p:spPr>
            <a:xfrm>
              <a:off x="1196" y="1876"/>
              <a:ext cx="855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ahoma" panose="020B0604030504040204" pitchFamily="34" charset="0"/>
                </a:rPr>
                <a:t>M/IO</a:t>
              </a:r>
              <a:endParaRPr lang="en-US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34824" name="Line 13"/>
            <p:cNvSpPr/>
            <p:nvPr/>
          </p:nvSpPr>
          <p:spPr>
            <a:xfrm>
              <a:off x="3106" y="2056"/>
              <a:ext cx="65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25" name="Oval 15"/>
            <p:cNvSpPr/>
            <p:nvPr/>
          </p:nvSpPr>
          <p:spPr>
            <a:xfrm>
              <a:off x="3036" y="2024"/>
              <a:ext cx="70" cy="64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sz="2800" dirty="0">
                <a:latin typeface="Tahoma" panose="020B0604030504040204" pitchFamily="34" charset="0"/>
              </a:endParaRPr>
            </a:p>
          </p:txBody>
        </p:sp>
        <p:grpSp>
          <p:nvGrpSpPr>
            <p:cNvPr id="34826" name="Group 60"/>
            <p:cNvGrpSpPr/>
            <p:nvPr/>
          </p:nvGrpSpPr>
          <p:grpSpPr>
            <a:xfrm>
              <a:off x="3764" y="795"/>
              <a:ext cx="997" cy="646"/>
              <a:chOff x="3984" y="1632"/>
              <a:chExt cx="1153" cy="982"/>
            </a:xfrm>
          </p:grpSpPr>
          <p:sp>
            <p:nvSpPr>
              <p:cNvPr id="34827" name="Rectangle 4"/>
              <p:cNvSpPr/>
              <p:nvPr/>
            </p:nvSpPr>
            <p:spPr>
              <a:xfrm>
                <a:off x="3984" y="1632"/>
                <a:ext cx="1104" cy="912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en-US" altLang="zh-CN" sz="1600" b="1" dirty="0">
                  <a:latin typeface="Tahoma" panose="020B0604030504040204" pitchFamily="34" charset="0"/>
                </a:endParaRPr>
              </a:p>
              <a:p>
                <a:pPr algn="ctr"/>
                <a:r>
                  <a:rPr lang="en-US" altLang="zh-CN" sz="1600" b="1" dirty="0">
                    <a:latin typeface="Tahoma" panose="020B0604030504040204" pitchFamily="34" charset="0"/>
                  </a:rPr>
                  <a:t>6264</a:t>
                </a:r>
                <a:endParaRPr lang="en-US" altLang="zh-CN" sz="1600" b="1" dirty="0">
                  <a:latin typeface="Tahoma" panose="020B0604030504040204" pitchFamily="34" charset="0"/>
                </a:endParaRPr>
              </a:p>
              <a:p>
                <a:pPr algn="ctr"/>
                <a:r>
                  <a:rPr lang="en-US" altLang="zh-CN" sz="1600" b="1" dirty="0">
                    <a:latin typeface="Tahoma" panose="020B0604030504040204" pitchFamily="34" charset="0"/>
                  </a:rPr>
                  <a:t>1#</a:t>
                </a:r>
                <a:endParaRPr lang="en-US" altLang="zh-CN" sz="1600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4828" name="Rectangle 57"/>
              <p:cNvSpPr/>
              <p:nvPr/>
            </p:nvSpPr>
            <p:spPr>
              <a:xfrm>
                <a:off x="3984" y="1682"/>
                <a:ext cx="656" cy="3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1800" b="1" dirty="0">
                    <a:latin typeface="Tahoma" panose="020B0604030504040204" pitchFamily="34" charset="0"/>
                  </a:rPr>
                  <a:t>A</a:t>
                </a:r>
                <a:r>
                  <a:rPr lang="en-US" altLang="zh-CN" sz="1800" b="1" baseline="-25000" dirty="0">
                    <a:latin typeface="Tahoma" panose="020B0604030504040204" pitchFamily="34" charset="0"/>
                  </a:rPr>
                  <a:t>1 2</a:t>
                </a:r>
                <a:r>
                  <a:rPr lang="en-US" altLang="zh-CN" sz="1800" b="1" dirty="0">
                    <a:latin typeface="Tahoma" panose="020B0604030504040204" pitchFamily="34" charset="0"/>
                  </a:rPr>
                  <a:t>~A</a:t>
                </a:r>
                <a:r>
                  <a:rPr lang="en-US" altLang="zh-CN" sz="1800" b="1" baseline="-25000" dirty="0">
                    <a:latin typeface="Tahoma" panose="020B0604030504040204" pitchFamily="34" charset="0"/>
                  </a:rPr>
                  <a:t>0</a:t>
                </a:r>
                <a:endParaRPr lang="en-US" altLang="zh-CN" sz="2000" b="1" baseline="-250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4829" name="Rectangle 58"/>
              <p:cNvSpPr/>
              <p:nvPr/>
            </p:nvSpPr>
            <p:spPr>
              <a:xfrm>
                <a:off x="4033" y="2234"/>
                <a:ext cx="371" cy="3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000" b="1" dirty="0">
                    <a:latin typeface="Tahoma" panose="020B0604030504040204" pitchFamily="34" charset="0"/>
                  </a:rPr>
                  <a:t>CS</a:t>
                </a:r>
                <a:endParaRPr lang="en-US" altLang="zh-CN" sz="2000" b="1" baseline="-250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4830" name="Rectangle 59"/>
              <p:cNvSpPr/>
              <p:nvPr/>
            </p:nvSpPr>
            <p:spPr>
              <a:xfrm>
                <a:off x="4800" y="1733"/>
                <a:ext cx="337" cy="7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r>
                  <a:rPr lang="en-US" altLang="zh-CN" sz="1600" b="1" dirty="0">
                    <a:latin typeface="Tahoma" panose="020B0604030504040204" pitchFamily="34" charset="0"/>
                  </a:rPr>
                  <a:t>D</a:t>
                </a:r>
                <a:r>
                  <a:rPr lang="en-US" altLang="zh-CN" sz="1600" b="1" baseline="-25000" dirty="0">
                    <a:latin typeface="Tahoma" panose="020B0604030504040204" pitchFamily="34" charset="0"/>
                  </a:rPr>
                  <a:t>7 </a:t>
                </a:r>
                <a:r>
                  <a:rPr lang="en-US" altLang="zh-CN" sz="1600" b="1" dirty="0">
                    <a:latin typeface="Tahoma" panose="020B0604030504040204" pitchFamily="34" charset="0"/>
                  </a:rPr>
                  <a:t>~</a:t>
                </a:r>
                <a:endParaRPr lang="en-US" altLang="zh-CN" sz="1600" b="1" dirty="0">
                  <a:latin typeface="Tahoma" panose="020B0604030504040204" pitchFamily="34" charset="0"/>
                </a:endParaRPr>
              </a:p>
              <a:p>
                <a:r>
                  <a:rPr lang="en-US" altLang="zh-CN" sz="1600" b="1" dirty="0">
                    <a:latin typeface="Tahoma" panose="020B0604030504040204" pitchFamily="34" charset="0"/>
                  </a:rPr>
                  <a:t>D</a:t>
                </a:r>
                <a:r>
                  <a:rPr lang="en-US" altLang="zh-CN" sz="1600" b="1" baseline="-25000" dirty="0">
                    <a:latin typeface="Tahoma" panose="020B0604030504040204" pitchFamily="34" charset="0"/>
                  </a:rPr>
                  <a:t>0</a:t>
                </a:r>
                <a:endParaRPr lang="en-US" altLang="zh-CN" sz="2000" b="1" baseline="-25000" dirty="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4831" name="Group 66"/>
            <p:cNvGrpSpPr/>
            <p:nvPr/>
          </p:nvGrpSpPr>
          <p:grpSpPr>
            <a:xfrm>
              <a:off x="3764" y="1583"/>
              <a:ext cx="997" cy="651"/>
              <a:chOff x="3984" y="1632"/>
              <a:chExt cx="1153" cy="990"/>
            </a:xfrm>
          </p:grpSpPr>
          <p:sp>
            <p:nvSpPr>
              <p:cNvPr id="34832" name="Rectangle 67"/>
              <p:cNvSpPr/>
              <p:nvPr/>
            </p:nvSpPr>
            <p:spPr>
              <a:xfrm>
                <a:off x="3984" y="1632"/>
                <a:ext cx="1104" cy="912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en-US" altLang="zh-CN" sz="1600" b="1" dirty="0">
                  <a:latin typeface="Tahoma" panose="020B0604030504040204" pitchFamily="34" charset="0"/>
                </a:endParaRPr>
              </a:p>
              <a:p>
                <a:pPr algn="ctr"/>
                <a:r>
                  <a:rPr lang="en-US" altLang="zh-CN" sz="1600" b="1" dirty="0">
                    <a:latin typeface="Tahoma" panose="020B0604030504040204" pitchFamily="34" charset="0"/>
                  </a:rPr>
                  <a:t>6264</a:t>
                </a:r>
                <a:endParaRPr lang="en-US" altLang="zh-CN" sz="1600" b="1" dirty="0">
                  <a:latin typeface="Tahoma" panose="020B0604030504040204" pitchFamily="34" charset="0"/>
                </a:endParaRPr>
              </a:p>
              <a:p>
                <a:pPr algn="ctr"/>
                <a:r>
                  <a:rPr lang="en-US" altLang="zh-CN" sz="1600" b="1" dirty="0">
                    <a:latin typeface="Tahoma" panose="020B0604030504040204" pitchFamily="34" charset="0"/>
                  </a:rPr>
                  <a:t>2#</a:t>
                </a:r>
                <a:endParaRPr lang="en-US" altLang="zh-CN" sz="1600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4833" name="Rectangle 68"/>
              <p:cNvSpPr/>
              <p:nvPr/>
            </p:nvSpPr>
            <p:spPr>
              <a:xfrm>
                <a:off x="3984" y="1687"/>
                <a:ext cx="656" cy="3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1800" b="1" dirty="0">
                    <a:latin typeface="Tahoma" panose="020B0604030504040204" pitchFamily="34" charset="0"/>
                  </a:rPr>
                  <a:t>A</a:t>
                </a:r>
                <a:r>
                  <a:rPr lang="en-US" altLang="zh-CN" sz="1800" b="1" baseline="-25000" dirty="0">
                    <a:latin typeface="Tahoma" panose="020B0604030504040204" pitchFamily="34" charset="0"/>
                  </a:rPr>
                  <a:t>1 2</a:t>
                </a:r>
                <a:r>
                  <a:rPr lang="en-US" altLang="zh-CN" sz="1800" b="1" dirty="0">
                    <a:latin typeface="Tahoma" panose="020B0604030504040204" pitchFamily="34" charset="0"/>
                  </a:rPr>
                  <a:t>~A</a:t>
                </a:r>
                <a:r>
                  <a:rPr lang="en-US" altLang="zh-CN" sz="1800" b="1" baseline="-25000" dirty="0">
                    <a:latin typeface="Tahoma" panose="020B0604030504040204" pitchFamily="34" charset="0"/>
                  </a:rPr>
                  <a:t>0</a:t>
                </a:r>
                <a:endParaRPr lang="en-US" altLang="zh-CN" sz="2000" b="1" baseline="-250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4834" name="Rectangle 69"/>
              <p:cNvSpPr/>
              <p:nvPr/>
            </p:nvSpPr>
            <p:spPr>
              <a:xfrm>
                <a:off x="4033" y="2242"/>
                <a:ext cx="371" cy="3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r>
                  <a:rPr lang="en-US" altLang="zh-CN" sz="2000" b="1" dirty="0">
                    <a:latin typeface="Tahoma" panose="020B0604030504040204" pitchFamily="34" charset="0"/>
                  </a:rPr>
                  <a:t>CS</a:t>
                </a:r>
                <a:endParaRPr lang="en-US" altLang="zh-CN" sz="2000" b="1" baseline="-250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4835" name="Rectangle 70"/>
              <p:cNvSpPr/>
              <p:nvPr/>
            </p:nvSpPr>
            <p:spPr>
              <a:xfrm>
                <a:off x="4800" y="1725"/>
                <a:ext cx="337" cy="7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r>
                  <a:rPr lang="en-US" altLang="zh-CN" sz="1600" b="1" dirty="0">
                    <a:latin typeface="Tahoma" panose="020B0604030504040204" pitchFamily="34" charset="0"/>
                  </a:rPr>
                  <a:t>D</a:t>
                </a:r>
                <a:r>
                  <a:rPr lang="en-US" altLang="zh-CN" sz="1600" b="1" baseline="-25000" dirty="0">
                    <a:latin typeface="Tahoma" panose="020B0604030504040204" pitchFamily="34" charset="0"/>
                  </a:rPr>
                  <a:t>7 </a:t>
                </a:r>
                <a:r>
                  <a:rPr lang="en-US" altLang="zh-CN" sz="1600" b="1" dirty="0">
                    <a:latin typeface="Tahoma" panose="020B0604030504040204" pitchFamily="34" charset="0"/>
                  </a:rPr>
                  <a:t>~</a:t>
                </a:r>
                <a:endParaRPr lang="en-US" altLang="zh-CN" sz="1600" b="1" dirty="0">
                  <a:latin typeface="Tahoma" panose="020B0604030504040204" pitchFamily="34" charset="0"/>
                </a:endParaRPr>
              </a:p>
              <a:p>
                <a:r>
                  <a:rPr lang="en-US" altLang="zh-CN" sz="1600" b="1" dirty="0">
                    <a:latin typeface="Tahoma" panose="020B0604030504040204" pitchFamily="34" charset="0"/>
                  </a:rPr>
                  <a:t>D</a:t>
                </a:r>
                <a:r>
                  <a:rPr lang="en-US" altLang="zh-CN" sz="1600" b="1" baseline="-25000" dirty="0">
                    <a:latin typeface="Tahoma" panose="020B0604030504040204" pitchFamily="34" charset="0"/>
                  </a:rPr>
                  <a:t>0</a:t>
                </a:r>
                <a:endParaRPr lang="en-US" altLang="zh-CN" sz="1600" b="1" baseline="-25000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34836" name="Line 78"/>
            <p:cNvSpPr/>
            <p:nvPr/>
          </p:nvSpPr>
          <p:spPr>
            <a:xfrm>
              <a:off x="1772" y="945"/>
              <a:ext cx="1992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4837" name="Line 79"/>
            <p:cNvSpPr/>
            <p:nvPr/>
          </p:nvSpPr>
          <p:spPr>
            <a:xfrm>
              <a:off x="3242" y="945"/>
              <a:ext cx="0" cy="713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38" name="Line 80"/>
            <p:cNvSpPr/>
            <p:nvPr/>
          </p:nvSpPr>
          <p:spPr>
            <a:xfrm>
              <a:off x="3242" y="1658"/>
              <a:ext cx="522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4839" name="Oval 17"/>
            <p:cNvSpPr/>
            <p:nvPr/>
          </p:nvSpPr>
          <p:spPr>
            <a:xfrm>
              <a:off x="2706" y="1240"/>
              <a:ext cx="71" cy="65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sz="2800" dirty="0">
                <a:latin typeface="Tahoma" panose="020B0604030504040204" pitchFamily="34" charset="0"/>
              </a:endParaRPr>
            </a:p>
          </p:txBody>
        </p:sp>
        <p:sp>
          <p:nvSpPr>
            <p:cNvPr id="34840" name="Oval 18"/>
            <p:cNvSpPr/>
            <p:nvPr/>
          </p:nvSpPr>
          <p:spPr>
            <a:xfrm>
              <a:off x="2992" y="1291"/>
              <a:ext cx="70" cy="65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sz="2800" dirty="0">
                <a:latin typeface="Tahoma" panose="020B0604030504040204" pitchFamily="34" charset="0"/>
              </a:endParaRPr>
            </a:p>
          </p:txBody>
        </p:sp>
        <p:sp>
          <p:nvSpPr>
            <p:cNvPr id="34843" name="Line 74"/>
            <p:cNvSpPr/>
            <p:nvPr/>
          </p:nvSpPr>
          <p:spPr>
            <a:xfrm>
              <a:off x="3472" y="1320"/>
              <a:ext cx="29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44" name="Line 81"/>
            <p:cNvSpPr/>
            <p:nvPr/>
          </p:nvSpPr>
          <p:spPr>
            <a:xfrm>
              <a:off x="3052" y="1320"/>
              <a:ext cx="42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45" name="Line 83"/>
            <p:cNvSpPr/>
            <p:nvPr/>
          </p:nvSpPr>
          <p:spPr>
            <a:xfrm flipV="1">
              <a:off x="2341" y="1392"/>
              <a:ext cx="443" cy="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46" name="Line 85"/>
            <p:cNvSpPr/>
            <p:nvPr/>
          </p:nvSpPr>
          <p:spPr>
            <a:xfrm flipH="1">
              <a:off x="1820" y="1282"/>
              <a:ext cx="8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47" name="Line 87"/>
            <p:cNvSpPr/>
            <p:nvPr/>
          </p:nvSpPr>
          <p:spPr>
            <a:xfrm>
              <a:off x="2341" y="1395"/>
              <a:ext cx="0" cy="71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34848" name="Line 88"/>
            <p:cNvSpPr/>
            <p:nvPr/>
          </p:nvSpPr>
          <p:spPr>
            <a:xfrm flipH="1" flipV="1">
              <a:off x="1488" y="2108"/>
              <a:ext cx="1344" cy="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49" name="Line 90"/>
            <p:cNvSpPr/>
            <p:nvPr/>
          </p:nvSpPr>
          <p:spPr>
            <a:xfrm>
              <a:off x="2104" y="1282"/>
              <a:ext cx="8" cy="68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oval" w="med" len="med"/>
              <a:tailEnd type="oval" w="med" len="med"/>
            </a:ln>
          </p:spPr>
        </p:sp>
        <p:sp>
          <p:nvSpPr>
            <p:cNvPr id="34850" name="Line 92"/>
            <p:cNvSpPr/>
            <p:nvPr/>
          </p:nvSpPr>
          <p:spPr>
            <a:xfrm flipH="1">
              <a:off x="4712" y="1869"/>
              <a:ext cx="760" cy="14"/>
            </a:xfrm>
            <a:prstGeom prst="line">
              <a:avLst/>
            </a:prstGeom>
            <a:ln w="66675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triangle" w="med" len="med"/>
            </a:ln>
          </p:spPr>
        </p:sp>
        <p:sp>
          <p:nvSpPr>
            <p:cNvPr id="34851" name="Rectangle 93"/>
            <p:cNvSpPr/>
            <p:nvPr/>
          </p:nvSpPr>
          <p:spPr>
            <a:xfrm>
              <a:off x="4712" y="1622"/>
              <a:ext cx="66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2000" b="1" dirty="0">
                  <a:latin typeface="Tahoma" panose="020B0604030504040204" pitchFamily="34" charset="0"/>
                </a:rPr>
                <a:t>D</a:t>
              </a:r>
              <a:r>
                <a:rPr lang="en-US" altLang="zh-CN" sz="2000" b="1" baseline="-25000" dirty="0">
                  <a:latin typeface="Tahoma" panose="020B0604030504040204" pitchFamily="34" charset="0"/>
                </a:rPr>
                <a:t> 7</a:t>
              </a:r>
              <a:r>
                <a:rPr lang="en-US" altLang="zh-CN" sz="2000" b="1" dirty="0">
                  <a:latin typeface="Tahoma" panose="020B0604030504040204" pitchFamily="34" charset="0"/>
                </a:rPr>
                <a:t>~D</a:t>
              </a:r>
              <a:r>
                <a:rPr lang="en-US" altLang="zh-CN" sz="2000" b="1" baseline="-25000" dirty="0">
                  <a:latin typeface="Tahoma" panose="020B0604030504040204" pitchFamily="34" charset="0"/>
                </a:rPr>
                <a:t>0</a:t>
              </a:r>
              <a:endParaRPr lang="en-US" altLang="zh-CN" sz="2000" b="1" baseline="-25000" dirty="0">
                <a:latin typeface="Tahoma" panose="020B0604030504040204" pitchFamily="34" charset="0"/>
              </a:endParaRPr>
            </a:p>
          </p:txBody>
        </p:sp>
        <p:sp>
          <p:nvSpPr>
            <p:cNvPr id="34852" name="Rectangle 94"/>
            <p:cNvSpPr/>
            <p:nvPr/>
          </p:nvSpPr>
          <p:spPr>
            <a:xfrm>
              <a:off x="4712" y="832"/>
              <a:ext cx="66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2000" b="1" dirty="0">
                  <a:latin typeface="Tahoma" panose="020B0604030504040204" pitchFamily="34" charset="0"/>
                </a:rPr>
                <a:t>D</a:t>
              </a:r>
              <a:r>
                <a:rPr lang="en-US" altLang="zh-CN" sz="2000" b="1" baseline="-25000" dirty="0">
                  <a:latin typeface="Tahoma" panose="020B0604030504040204" pitchFamily="34" charset="0"/>
                </a:rPr>
                <a:t>7 </a:t>
              </a:r>
              <a:r>
                <a:rPr lang="en-US" altLang="zh-CN" sz="2000" b="1" dirty="0">
                  <a:latin typeface="Tahoma" panose="020B0604030504040204" pitchFamily="34" charset="0"/>
                </a:rPr>
                <a:t>~D</a:t>
              </a:r>
              <a:r>
                <a:rPr lang="en-US" altLang="zh-CN" sz="2000" b="1" baseline="-25000" dirty="0">
                  <a:latin typeface="Tahoma" panose="020B0604030504040204" pitchFamily="34" charset="0"/>
                </a:rPr>
                <a:t>0</a:t>
              </a:r>
              <a:endParaRPr lang="en-US" altLang="zh-CN" sz="2000" b="1" baseline="-25000" dirty="0">
                <a:latin typeface="Tahoma" panose="020B0604030504040204" pitchFamily="34" charset="0"/>
              </a:endParaRPr>
            </a:p>
          </p:txBody>
        </p:sp>
        <p:sp>
          <p:nvSpPr>
            <p:cNvPr id="34853" name="Line 96"/>
            <p:cNvSpPr/>
            <p:nvPr/>
          </p:nvSpPr>
          <p:spPr>
            <a:xfrm>
              <a:off x="1551" y="1923"/>
              <a:ext cx="2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54" name="Line 100"/>
            <p:cNvSpPr/>
            <p:nvPr/>
          </p:nvSpPr>
          <p:spPr>
            <a:xfrm>
              <a:off x="3888" y="2009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55" name="Line 101"/>
            <p:cNvSpPr/>
            <p:nvPr/>
          </p:nvSpPr>
          <p:spPr>
            <a:xfrm>
              <a:off x="3840" y="1213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856" name="Rectangle 129"/>
            <p:cNvSpPr/>
            <p:nvPr/>
          </p:nvSpPr>
          <p:spPr>
            <a:xfrm>
              <a:off x="2784" y="1152"/>
              <a:ext cx="204" cy="336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sz="2800" dirty="0">
                <a:latin typeface="Tahoma" panose="020B0604030504040204" pitchFamily="34" charset="0"/>
              </a:endParaRPr>
            </a:p>
          </p:txBody>
        </p:sp>
        <p:sp>
          <p:nvSpPr>
            <p:cNvPr id="34857" name="Rectangle 130"/>
            <p:cNvSpPr/>
            <p:nvPr/>
          </p:nvSpPr>
          <p:spPr>
            <a:xfrm>
              <a:off x="2832" y="1872"/>
              <a:ext cx="204" cy="336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sz="2800" dirty="0">
                <a:latin typeface="Tahoma" panose="020B0604030504040204" pitchFamily="34" charset="0"/>
              </a:endParaRPr>
            </a:p>
          </p:txBody>
        </p:sp>
        <p:sp>
          <p:nvSpPr>
            <p:cNvPr id="34858" name="Text Box 131"/>
            <p:cNvSpPr txBox="1"/>
            <p:nvPr/>
          </p:nvSpPr>
          <p:spPr>
            <a:xfrm>
              <a:off x="2784" y="1152"/>
              <a:ext cx="204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400" dirty="0">
                  <a:latin typeface="Tahoma" panose="020B0604030504040204" pitchFamily="34" charset="0"/>
                </a:rPr>
                <a:t>＆</a:t>
              </a:r>
              <a:endParaRPr lang="zh-CN" altLang="en-US" sz="1400" dirty="0">
                <a:latin typeface="Tahoma" panose="020B0604030504040204" pitchFamily="34" charset="0"/>
              </a:endParaRPr>
            </a:p>
          </p:txBody>
        </p:sp>
        <p:sp>
          <p:nvSpPr>
            <p:cNvPr id="34859" name="Text Box 132"/>
            <p:cNvSpPr txBox="1"/>
            <p:nvPr/>
          </p:nvSpPr>
          <p:spPr>
            <a:xfrm>
              <a:off x="2832" y="1872"/>
              <a:ext cx="240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400" dirty="0">
                  <a:latin typeface="Tahoma" panose="020B0604030504040204" pitchFamily="34" charset="0"/>
                </a:rPr>
                <a:t>＆</a:t>
              </a:r>
              <a:endParaRPr lang="zh-CN" altLang="en-US" sz="1400" dirty="0">
                <a:latin typeface="Tahoma" panose="020B0604030504040204" pitchFamily="34" charset="0"/>
              </a:endParaRPr>
            </a:p>
          </p:txBody>
        </p:sp>
        <p:sp>
          <p:nvSpPr>
            <p:cNvPr id="34860" name="Line 134"/>
            <p:cNvSpPr/>
            <p:nvPr/>
          </p:nvSpPr>
          <p:spPr>
            <a:xfrm>
              <a:off x="2112" y="1968"/>
              <a:ext cx="72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9592" name="Rectangle 136"/>
          <p:cNvSpPr/>
          <p:nvPr/>
        </p:nvSpPr>
        <p:spPr>
          <a:xfrm>
            <a:off x="324485" y="3505200"/>
            <a:ext cx="5471795" cy="42989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Tahoma" panose="020B0604030504040204" pitchFamily="34" charset="0"/>
              </a:rPr>
              <a:t>A</a:t>
            </a:r>
            <a:r>
              <a:rPr lang="en-US" altLang="zh-CN" sz="2000" b="1" baseline="-25000" dirty="0">
                <a:solidFill>
                  <a:srgbClr val="000000"/>
                </a:solidFill>
                <a:latin typeface="Tahoma" panose="020B0604030504040204" pitchFamily="34" charset="0"/>
              </a:rPr>
              <a:t>19</a:t>
            </a:r>
            <a:r>
              <a:rPr lang="en-US" altLang="zh-CN" sz="2000" b="1" dirty="0">
                <a:solidFill>
                  <a:srgbClr val="000000"/>
                </a:solidFill>
                <a:latin typeface="Tahoma" panose="020B0604030504040204" pitchFamily="34" charset="0"/>
              </a:rPr>
              <a:t> A</a:t>
            </a:r>
            <a:r>
              <a:rPr lang="en-US" altLang="zh-CN" sz="2000" b="1" baseline="-25000" dirty="0">
                <a:solidFill>
                  <a:srgbClr val="000000"/>
                </a:solidFill>
                <a:latin typeface="Tahoma" panose="020B0604030504040204" pitchFamily="34" charset="0"/>
              </a:rPr>
              <a:t>18</a:t>
            </a:r>
            <a:r>
              <a:rPr lang="en-US" altLang="zh-CN" sz="2000" b="1" dirty="0">
                <a:solidFill>
                  <a:srgbClr val="000000"/>
                </a:solidFill>
                <a:latin typeface="Tahoma" panose="020B0604030504040204" pitchFamily="34" charset="0"/>
              </a:rPr>
              <a:t>A</a:t>
            </a:r>
            <a:r>
              <a:rPr lang="en-US" altLang="zh-CN" sz="2000" b="1" baseline="-25000" dirty="0">
                <a:solidFill>
                  <a:srgbClr val="000000"/>
                </a:solidFill>
                <a:latin typeface="Tahoma" panose="020B0604030504040204" pitchFamily="34" charset="0"/>
              </a:rPr>
              <a:t>17</a:t>
            </a:r>
            <a:r>
              <a:rPr lang="en-US" altLang="zh-CN" sz="2000" b="1" dirty="0">
                <a:solidFill>
                  <a:srgbClr val="000000"/>
                </a:solidFill>
                <a:latin typeface="Tahoma" panose="020B0604030504040204" pitchFamily="34" charset="0"/>
              </a:rPr>
              <a:t>A</a:t>
            </a:r>
            <a:r>
              <a:rPr lang="en-US" altLang="zh-CN" sz="2000" b="1" baseline="-25000" dirty="0">
                <a:solidFill>
                  <a:srgbClr val="000000"/>
                </a:solidFill>
                <a:latin typeface="Tahoma" panose="020B0604030504040204" pitchFamily="34" charset="0"/>
              </a:rPr>
              <a:t>16</a:t>
            </a:r>
            <a:r>
              <a:rPr lang="en-US" altLang="zh-CN" sz="2000" b="1" dirty="0">
                <a:solidFill>
                  <a:srgbClr val="000000"/>
                </a:solidFill>
                <a:latin typeface="Tahoma" panose="020B0604030504040204" pitchFamily="34" charset="0"/>
              </a:rPr>
              <a:t>  </a:t>
            </a:r>
            <a:r>
              <a:rPr lang="en-US" altLang="zh-CN" sz="2000" b="1" dirty="0">
                <a:solidFill>
                  <a:srgbClr val="0000FF"/>
                </a:solidFill>
                <a:latin typeface="Tahoma" panose="020B0604030504040204" pitchFamily="34" charset="0"/>
              </a:rPr>
              <a:t>A</a:t>
            </a:r>
            <a:r>
              <a:rPr lang="en-US" altLang="zh-CN" sz="2000" b="1" baseline="-25000" dirty="0">
                <a:solidFill>
                  <a:srgbClr val="0000FF"/>
                </a:solidFill>
                <a:latin typeface="Tahoma" panose="020B0604030504040204" pitchFamily="34" charset="0"/>
              </a:rPr>
              <a:t>15</a:t>
            </a:r>
            <a:r>
              <a:rPr lang="en-US" altLang="zh-CN" sz="2000" b="1" dirty="0">
                <a:solidFill>
                  <a:srgbClr val="0000FF"/>
                </a:solidFill>
                <a:latin typeface="Tahoma" panose="020B0604030504040204" pitchFamily="34" charset="0"/>
              </a:rPr>
              <a:t>A</a:t>
            </a:r>
            <a:r>
              <a:rPr lang="en-US" altLang="zh-CN" sz="2000" b="1" baseline="-25000" dirty="0">
                <a:solidFill>
                  <a:srgbClr val="0000FF"/>
                </a:solidFill>
                <a:latin typeface="Tahoma" panose="020B0604030504040204" pitchFamily="34" charset="0"/>
              </a:rPr>
              <a:t>14</a:t>
            </a:r>
            <a:r>
              <a:rPr lang="en-US" altLang="zh-CN" sz="2000" b="1" dirty="0">
                <a:solidFill>
                  <a:srgbClr val="0000FF"/>
                </a:solidFill>
                <a:latin typeface="Tahoma" panose="020B0604030504040204" pitchFamily="34" charset="0"/>
              </a:rPr>
              <a:t>A</a:t>
            </a:r>
            <a:r>
              <a:rPr lang="en-US" altLang="zh-CN" sz="2000" b="1" baseline="-25000" dirty="0">
                <a:solidFill>
                  <a:srgbClr val="0000FF"/>
                </a:solidFill>
                <a:latin typeface="Tahoma" panose="020B0604030504040204" pitchFamily="34" charset="0"/>
              </a:rPr>
              <a:t>13</a:t>
            </a:r>
            <a:r>
              <a:rPr lang="en-US" altLang="zh-CN" sz="2000" b="1" dirty="0">
                <a:solidFill>
                  <a:schemeClr val="tx2"/>
                </a:solidFill>
                <a:latin typeface="Tahoma" panose="020B0604030504040204" pitchFamily="34" charset="0"/>
              </a:rPr>
              <a:t>A</a:t>
            </a:r>
            <a:r>
              <a:rPr lang="en-US" altLang="zh-CN" sz="2000" b="1" baseline="-25000" dirty="0">
                <a:solidFill>
                  <a:schemeClr val="tx2"/>
                </a:solidFill>
                <a:latin typeface="Tahoma" panose="020B0604030504040204" pitchFamily="34" charset="0"/>
              </a:rPr>
              <a:t>12</a:t>
            </a:r>
            <a:r>
              <a:rPr lang="en-US" altLang="zh-CN" sz="2000" b="1" dirty="0">
                <a:solidFill>
                  <a:srgbClr val="000000"/>
                </a:solidFill>
                <a:latin typeface="Tahoma" panose="020B0604030504040204" pitchFamily="34" charset="0"/>
              </a:rPr>
              <a:t>  A</a:t>
            </a:r>
            <a:r>
              <a:rPr lang="en-US" altLang="zh-CN" sz="2000" b="1" baseline="-25000" dirty="0">
                <a:solidFill>
                  <a:srgbClr val="000000"/>
                </a:solidFill>
                <a:latin typeface="Tahoma" panose="020B0604030504040204" pitchFamily="34" charset="0"/>
              </a:rPr>
              <a:t>11</a:t>
            </a:r>
            <a:r>
              <a:rPr lang="en-US" altLang="zh-CN" sz="2000" b="1" dirty="0">
                <a:solidFill>
                  <a:srgbClr val="000000"/>
                </a:solidFill>
                <a:latin typeface="Tahoma" panose="020B0604030504040204" pitchFamily="34" charset="0"/>
              </a:rPr>
              <a:t> ~ …….   A</a:t>
            </a:r>
            <a:r>
              <a:rPr lang="en-US" altLang="zh-CN" sz="2000" b="1" baseline="-25000" dirty="0">
                <a:solidFill>
                  <a:srgbClr val="000000"/>
                </a:solidFill>
                <a:latin typeface="Tahoma" panose="020B0604030504040204" pitchFamily="34" charset="0"/>
              </a:rPr>
              <a:t>0                                                                                       </a:t>
            </a:r>
            <a:endParaRPr lang="en-US" altLang="zh-CN" sz="2000" dirty="0">
              <a:latin typeface="Tahoma" panose="020B0604030504040204" pitchFamily="34" charset="0"/>
            </a:endParaRPr>
          </a:p>
        </p:txBody>
      </p:sp>
      <p:sp>
        <p:nvSpPr>
          <p:cNvPr id="19597" name="Text Box 141"/>
          <p:cNvSpPr txBox="1"/>
          <p:nvPr/>
        </p:nvSpPr>
        <p:spPr>
          <a:xfrm>
            <a:off x="8100060" y="4070985"/>
            <a:ext cx="648970" cy="4191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>
              <a:lnSpc>
                <a:spcPct val="40000"/>
              </a:lnSpc>
            </a:pPr>
            <a:r>
              <a:rPr lang="en-US" altLang="zh-CN" dirty="0">
                <a:solidFill>
                  <a:schemeClr val="accent2"/>
                </a:solidFill>
                <a:latin typeface="Tahoma" panose="020B0604030504040204" pitchFamily="34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Tahoma" panose="020B0604030504040204" pitchFamily="34" charset="0"/>
              </a:rPr>
              <a:t>1#</a:t>
            </a:r>
            <a:endParaRPr lang="en-US" altLang="zh-CN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78896" name="Text Box 48"/>
          <p:cNvSpPr txBox="1"/>
          <p:nvPr/>
        </p:nvSpPr>
        <p:spPr>
          <a:xfrm>
            <a:off x="434975" y="5516880"/>
            <a:ext cx="8251825" cy="977265"/>
          </a:xfrm>
          <a:prstGeom prst="rect">
            <a:avLst/>
          </a:prstGeom>
          <a:noFill/>
          <a:ln w="28575" cmpd="dbl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anchor="t" anchorCtr="0"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  <a:buChar char="•"/>
            </a:pPr>
            <a:r>
              <a:rPr lang="zh-CN" altLang="en-US" b="1" dirty="0">
                <a:sym typeface="+mn-ea"/>
              </a:rPr>
              <a:t>问题</a:t>
            </a:r>
            <a:r>
              <a:rPr lang="en-US" altLang="zh-CN" b="1" dirty="0">
                <a:sym typeface="+mn-ea"/>
              </a:rPr>
              <a:t>1: </a:t>
            </a:r>
            <a:r>
              <a:rPr lang="zh-CN" altLang="en-US" b="1" dirty="0">
                <a:solidFill>
                  <a:srgbClr val="000000"/>
                </a:solidFill>
                <a:latin typeface="Tahoma" panose="020B0604030504040204" pitchFamily="34" charset="0"/>
              </a:rPr>
              <a:t>未参加地址译码的高位地址，可为任意值，导致</a:t>
            </a:r>
            <a:r>
              <a:rPr lang="zh-CN" altLang="en-US" b="1" dirty="0">
                <a:latin typeface="Arial" panose="020B0604020202020204" pitchFamily="34" charset="0"/>
              </a:rPr>
              <a:t>被选中芯片占有几组不同的地址范围，地址重叠。</a:t>
            </a:r>
            <a:endParaRPr lang="zh-CN" altLang="en-US" b="1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2333" name="Text Box 52"/>
          <p:cNvSpPr txBox="1"/>
          <p:nvPr>
            <p:custDataLst>
              <p:tags r:id="rId1"/>
            </p:custDataLst>
          </p:nvPr>
        </p:nvSpPr>
        <p:spPr>
          <a:xfrm>
            <a:off x="827405" y="475615"/>
            <a:ext cx="5444490" cy="7289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solidFill>
                  <a:srgbClr val="0000FF"/>
                </a:solidFill>
                <a:latin typeface="Tahoma" panose="020B0604030504040204" pitchFamily="34" charset="0"/>
              </a:rPr>
              <a:t> </a:t>
            </a:r>
            <a:r>
              <a:rPr lang="zh-CN" altLang="en-US" sz="3600" b="1" dirty="0">
                <a:solidFill>
                  <a:srgbClr val="0000FF"/>
                </a:solidFill>
                <a:latin typeface="Tahoma" panose="020B0604030504040204" pitchFamily="34" charset="0"/>
              </a:rPr>
              <a:t>（</a:t>
            </a:r>
            <a:r>
              <a:rPr lang="en-US" altLang="zh-CN" sz="3600" b="1" dirty="0">
                <a:solidFill>
                  <a:srgbClr val="0000FF"/>
                </a:solidFill>
                <a:latin typeface="Tahoma" panose="020B0604030504040204" pitchFamily="34" charset="0"/>
              </a:rPr>
              <a:t>3</a:t>
            </a:r>
            <a:r>
              <a:rPr lang="zh-CN" altLang="en-US" sz="3600" b="1" dirty="0">
                <a:solidFill>
                  <a:srgbClr val="0000FF"/>
                </a:solidFill>
                <a:latin typeface="Tahoma" panose="020B0604030504040204" pitchFamily="34" charset="0"/>
              </a:rPr>
              <a:t>）</a:t>
            </a:r>
            <a:r>
              <a:rPr lang="zh-CN" altLang="en-US" sz="3600" b="1" dirty="0">
                <a:solidFill>
                  <a:srgbClr val="0000FF"/>
                </a:solidFill>
                <a:sym typeface="+mn-ea"/>
              </a:rPr>
              <a:t>线选法</a:t>
            </a:r>
            <a:endParaRPr lang="zh-CN" altLang="en-US" sz="3600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23215" y="3789045"/>
            <a:ext cx="7671435" cy="621665"/>
            <a:chOff x="1189" y="8007"/>
            <a:chExt cx="12081" cy="979"/>
          </a:xfrm>
        </p:grpSpPr>
        <p:sp>
          <p:nvSpPr>
            <p:cNvPr id="6" name="文本框 5"/>
            <p:cNvSpPr txBox="1"/>
            <p:nvPr>
              <p:custDataLst>
                <p:tags r:id="rId2"/>
              </p:custDataLst>
            </p:nvPr>
          </p:nvSpPr>
          <p:spPr>
            <a:xfrm>
              <a:off x="1189" y="8319"/>
              <a:ext cx="12081" cy="66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eaLnBrk="1" hangingPunct="1">
                <a:lnSpc>
                  <a:spcPct val="90000"/>
                </a:lnSpc>
                <a:buNone/>
              </a:pPr>
              <a:r>
                <a:rPr lang="en-US" altLang="zh-CN" b="1" dirty="0">
                  <a:solidFill>
                    <a:srgbClr val="00B050"/>
                  </a:solidFill>
                  <a:latin typeface="Arial" panose="020B0604020202020204" pitchFamily="34" charset="0"/>
                  <a:sym typeface="+mn-ea"/>
                </a:rPr>
                <a:t>××</a:t>
              </a:r>
              <a:r>
                <a:rPr lang="en-US" altLang="zh-CN" b="1" dirty="0">
                  <a:solidFill>
                    <a:srgbClr val="00B050"/>
                  </a:solidFill>
                  <a:latin typeface="Arial" panose="020B0604020202020204" pitchFamily="34" charset="0"/>
                  <a:sym typeface="+mn-ea"/>
                </a:rPr>
                <a:t>××</a:t>
              </a:r>
              <a:r>
                <a:rPr lang="en-US" altLang="zh-CN" b="1" dirty="0">
                  <a:solidFill>
                    <a:srgbClr val="00B050"/>
                  </a:solidFill>
                  <a:sym typeface="+mn-ea"/>
                </a:rPr>
                <a:t> </a:t>
              </a:r>
              <a:r>
                <a:rPr lang="en-US" altLang="zh-CN" b="1" dirty="0">
                  <a:solidFill>
                    <a:srgbClr val="00B050"/>
                  </a:solidFill>
                  <a:latin typeface="Arial" panose="020B0604020202020204" pitchFamily="34" charset="0"/>
                  <a:sym typeface="+mn-ea"/>
                </a:rPr>
                <a:t>××</a:t>
              </a:r>
              <a:r>
                <a:rPr lang="en-US" altLang="zh-CN" b="1" dirty="0">
                  <a:solidFill>
                    <a:srgbClr val="FF0000"/>
                  </a:solidFill>
                  <a:sym typeface="+mn-ea"/>
                </a:rPr>
                <a:t>0</a:t>
              </a:r>
              <a:r>
                <a:rPr lang="en-US" altLang="zh-CN" b="1" dirty="0">
                  <a:solidFill>
                    <a:srgbClr val="0000FF"/>
                  </a:solidFill>
                  <a:sym typeface="+mn-ea"/>
                </a:rPr>
                <a:t>0  0000 0000 0000B</a:t>
              </a:r>
              <a:r>
                <a:rPr lang="zh-CN" altLang="en-US" b="1" dirty="0">
                  <a:sym typeface="+mn-ea"/>
                </a:rPr>
                <a:t>－－－</a:t>
              </a:r>
              <a:r>
                <a:rPr lang="en-US" altLang="zh-CN" b="1" dirty="0">
                  <a:sym typeface="+mn-ea"/>
                </a:rPr>
                <a:t>0</a:t>
              </a:r>
              <a:r>
                <a:rPr lang="en-US" altLang="zh-CN" b="1" dirty="0">
                  <a:sym typeface="+mn-ea"/>
                </a:rPr>
                <a:t>0000H</a:t>
              </a:r>
              <a:endParaRPr lang="en-US" altLang="zh-CN" b="1" dirty="0">
                <a:sym typeface="+mn-ea"/>
              </a:endParaRPr>
            </a:p>
          </p:txBody>
        </p:sp>
        <p:sp>
          <p:nvSpPr>
            <p:cNvPr id="8" name="文本框 7"/>
            <p:cNvSpPr txBox="1"/>
            <p:nvPr>
              <p:custDataLst>
                <p:tags r:id="rId3"/>
              </p:custDataLst>
            </p:nvPr>
          </p:nvSpPr>
          <p:spPr>
            <a:xfrm>
              <a:off x="9373" y="8007"/>
              <a:ext cx="1548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b="1">
                  <a:solidFill>
                    <a:srgbClr val="00B0F0"/>
                  </a:solidFill>
                  <a:latin typeface="Arial" panose="020B0604020202020204" pitchFamily="34" charset="0"/>
                </a:rPr>
                <a:t>×取</a:t>
              </a:r>
              <a:r>
                <a:rPr lang="en-US" altLang="zh-CN" b="1">
                  <a:solidFill>
                    <a:srgbClr val="00B0F0"/>
                  </a:solidFill>
                  <a:latin typeface="Arial" panose="020B0604020202020204" pitchFamily="34" charset="0"/>
                </a:rPr>
                <a:t>0</a:t>
              </a:r>
              <a:endParaRPr lang="en-US" altLang="zh-CN" b="1">
                <a:solidFill>
                  <a:srgbClr val="00B0F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328295" y="4329430"/>
            <a:ext cx="7671435" cy="423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hangingPunct="1">
              <a:lnSpc>
                <a:spcPct val="90000"/>
              </a:lnSpc>
              <a:buNone/>
            </a:pPr>
            <a:r>
              <a:rPr lang="en-US" altLang="zh-CN" b="1" dirty="0">
                <a:solidFill>
                  <a:srgbClr val="00B050"/>
                </a:solidFill>
                <a:latin typeface="Arial" panose="020B0604020202020204" pitchFamily="34" charset="0"/>
                <a:sym typeface="+mn-ea"/>
              </a:rPr>
              <a:t>××</a:t>
            </a:r>
            <a:r>
              <a:rPr lang="en-US" altLang="zh-CN" b="1" dirty="0">
                <a:solidFill>
                  <a:srgbClr val="00B050"/>
                </a:solidFill>
                <a:latin typeface="Arial" panose="020B0604020202020204" pitchFamily="34" charset="0"/>
                <a:sym typeface="+mn-ea"/>
              </a:rPr>
              <a:t>××</a:t>
            </a:r>
            <a:r>
              <a:rPr lang="en-US" altLang="zh-CN" b="1" dirty="0">
                <a:solidFill>
                  <a:srgbClr val="00B050"/>
                </a:solidFill>
                <a:sym typeface="+mn-ea"/>
              </a:rPr>
              <a:t> </a:t>
            </a:r>
            <a:r>
              <a:rPr lang="en-US" altLang="zh-CN" b="1" dirty="0">
                <a:solidFill>
                  <a:srgbClr val="00B050"/>
                </a:solidFill>
                <a:latin typeface="Arial" panose="020B0604020202020204" pitchFamily="34" charset="0"/>
                <a:sym typeface="+mn-ea"/>
              </a:rPr>
              <a:t>××</a:t>
            </a:r>
            <a:r>
              <a:rPr lang="en-US" altLang="zh-CN" b="1" dirty="0">
                <a:solidFill>
                  <a:srgbClr val="FF0000"/>
                </a:solidFill>
                <a:sym typeface="+mn-ea"/>
              </a:rPr>
              <a:t>0</a:t>
            </a:r>
            <a:r>
              <a:rPr lang="en-US" altLang="zh-CN" b="1" dirty="0">
                <a:solidFill>
                  <a:srgbClr val="0000FF"/>
                </a:solidFill>
                <a:sym typeface="+mn-ea"/>
              </a:rPr>
              <a:t>1 </a:t>
            </a:r>
            <a:r>
              <a:rPr lang="en-US" altLang="zh-CN" b="1" dirty="0">
                <a:solidFill>
                  <a:srgbClr val="0000FF"/>
                </a:solidFill>
                <a:sym typeface="+mn-ea"/>
              </a:rPr>
              <a:t> 1111 1111 1111B</a:t>
            </a:r>
            <a:r>
              <a:rPr lang="zh-CN" altLang="en-US" b="1" dirty="0">
                <a:sym typeface="+mn-ea"/>
              </a:rPr>
              <a:t>－－－</a:t>
            </a:r>
            <a:r>
              <a:rPr lang="en-US" altLang="zh-CN" b="1" dirty="0">
                <a:sym typeface="+mn-ea"/>
              </a:rPr>
              <a:t>01FFF</a:t>
            </a:r>
            <a:r>
              <a:rPr lang="en-US" altLang="zh-CN" b="1" dirty="0">
                <a:sym typeface="+mn-ea"/>
              </a:rPr>
              <a:t>H</a:t>
            </a:r>
            <a:endParaRPr lang="en-US" altLang="zh-CN" b="1" dirty="0">
              <a:sym typeface="+mn-ea"/>
            </a:endParaRPr>
          </a:p>
        </p:txBody>
      </p:sp>
      <p:sp>
        <p:nvSpPr>
          <p:cNvPr id="7" name="Text Box 141"/>
          <p:cNvSpPr txBox="1"/>
          <p:nvPr>
            <p:custDataLst>
              <p:tags r:id="rId4"/>
            </p:custDataLst>
          </p:nvPr>
        </p:nvSpPr>
        <p:spPr>
          <a:xfrm>
            <a:off x="8172450" y="4869180"/>
            <a:ext cx="575945" cy="3873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>
              <a:lnSpc>
                <a:spcPct val="40000"/>
              </a:lnSpc>
            </a:pPr>
            <a:r>
              <a:rPr lang="en-US" altLang="zh-CN" dirty="0">
                <a:solidFill>
                  <a:schemeClr val="accent2"/>
                </a:solidFill>
                <a:latin typeface="Tahoma" panose="020B0604030504040204" pitchFamily="34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Tahoma" panose="020B0604030504040204" pitchFamily="34" charset="0"/>
              </a:rPr>
              <a:t>2</a:t>
            </a:r>
            <a:r>
              <a:rPr lang="en-US" altLang="zh-CN" dirty="0">
                <a:solidFill>
                  <a:srgbClr val="FF0000"/>
                </a:solidFill>
                <a:latin typeface="Tahoma" panose="020B0604030504040204" pitchFamily="34" charset="0"/>
              </a:rPr>
              <a:t>#</a:t>
            </a:r>
            <a:r>
              <a:rPr lang="en-US" altLang="zh-CN" dirty="0">
                <a:solidFill>
                  <a:schemeClr val="accent2"/>
                </a:solidFill>
                <a:latin typeface="Tahoma" panose="020B0604030504040204" pitchFamily="34" charset="0"/>
              </a:rPr>
              <a:t> </a:t>
            </a:r>
            <a:endParaRPr lang="en-US" altLang="zh-CN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39090" y="4490085"/>
            <a:ext cx="7671435" cy="621665"/>
            <a:chOff x="1189" y="8007"/>
            <a:chExt cx="12081" cy="979"/>
          </a:xfrm>
        </p:grpSpPr>
        <p:sp>
          <p:nvSpPr>
            <p:cNvPr id="11" name="文本框 10"/>
            <p:cNvSpPr txBox="1"/>
            <p:nvPr>
              <p:custDataLst>
                <p:tags r:id="rId5"/>
              </p:custDataLst>
            </p:nvPr>
          </p:nvSpPr>
          <p:spPr>
            <a:xfrm>
              <a:off x="1189" y="8319"/>
              <a:ext cx="12081" cy="66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eaLnBrk="1" hangingPunct="1">
                <a:lnSpc>
                  <a:spcPct val="90000"/>
                </a:lnSpc>
                <a:buNone/>
              </a:pPr>
              <a:r>
                <a:rPr lang="en-US" altLang="zh-CN" b="1" dirty="0">
                  <a:solidFill>
                    <a:srgbClr val="00B050"/>
                  </a:solidFill>
                  <a:latin typeface="Arial" panose="020B0604020202020204" pitchFamily="34" charset="0"/>
                  <a:sym typeface="+mn-ea"/>
                </a:rPr>
                <a:t>××</a:t>
              </a:r>
              <a:r>
                <a:rPr lang="en-US" altLang="zh-CN" b="1" dirty="0">
                  <a:solidFill>
                    <a:srgbClr val="00B050"/>
                  </a:solidFill>
                  <a:latin typeface="Arial" panose="020B0604020202020204" pitchFamily="34" charset="0"/>
                  <a:sym typeface="+mn-ea"/>
                </a:rPr>
                <a:t>××</a:t>
              </a:r>
              <a:r>
                <a:rPr lang="en-US" altLang="zh-CN" b="1" dirty="0">
                  <a:solidFill>
                    <a:srgbClr val="00B050"/>
                  </a:solidFill>
                  <a:sym typeface="+mn-ea"/>
                </a:rPr>
                <a:t> </a:t>
              </a:r>
              <a:r>
                <a:rPr lang="en-US" altLang="zh-CN" b="1" dirty="0">
                  <a:solidFill>
                    <a:srgbClr val="00B050"/>
                  </a:solidFill>
                  <a:latin typeface="Arial" panose="020B0604020202020204" pitchFamily="34" charset="0"/>
                  <a:sym typeface="+mn-ea"/>
                </a:rPr>
                <a:t>××</a:t>
              </a:r>
              <a:r>
                <a:rPr lang="en-US" altLang="zh-CN" b="1" dirty="0">
                  <a:solidFill>
                    <a:srgbClr val="FF0000"/>
                  </a:solidFill>
                  <a:sym typeface="+mn-ea"/>
                </a:rPr>
                <a:t>1</a:t>
              </a:r>
              <a:r>
                <a:rPr lang="en-US" altLang="zh-CN" b="1" dirty="0">
                  <a:solidFill>
                    <a:srgbClr val="0000FF"/>
                  </a:solidFill>
                  <a:sym typeface="+mn-ea"/>
                </a:rPr>
                <a:t>0  0000 0000 0000B</a:t>
              </a:r>
              <a:r>
                <a:rPr lang="zh-CN" altLang="en-US" b="1" dirty="0">
                  <a:sym typeface="+mn-ea"/>
                </a:rPr>
                <a:t>－－－</a:t>
              </a:r>
              <a:r>
                <a:rPr lang="en-US" altLang="zh-CN" b="1" dirty="0">
                  <a:sym typeface="+mn-ea"/>
                </a:rPr>
                <a:t>02</a:t>
              </a:r>
              <a:r>
                <a:rPr lang="en-US" altLang="zh-CN" b="1" dirty="0">
                  <a:sym typeface="+mn-ea"/>
                </a:rPr>
                <a:t>000H</a:t>
              </a:r>
              <a:endParaRPr lang="en-US" altLang="zh-CN" b="1" dirty="0">
                <a:sym typeface="+mn-ea"/>
              </a:endParaRPr>
            </a:p>
          </p:txBody>
        </p:sp>
        <p:sp>
          <p:nvSpPr>
            <p:cNvPr id="12" name="文本框 11"/>
            <p:cNvSpPr txBox="1"/>
            <p:nvPr>
              <p:custDataLst>
                <p:tags r:id="rId6"/>
              </p:custDataLst>
            </p:nvPr>
          </p:nvSpPr>
          <p:spPr>
            <a:xfrm>
              <a:off x="9373" y="8007"/>
              <a:ext cx="1548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b="1">
                  <a:solidFill>
                    <a:srgbClr val="00B0F0"/>
                  </a:solidFill>
                  <a:latin typeface="Arial" panose="020B0604020202020204" pitchFamily="34" charset="0"/>
                </a:rPr>
                <a:t>×取</a:t>
              </a:r>
              <a:r>
                <a:rPr lang="en-US" altLang="zh-CN" b="1">
                  <a:solidFill>
                    <a:srgbClr val="00B0F0"/>
                  </a:solidFill>
                  <a:latin typeface="Arial" panose="020B0604020202020204" pitchFamily="34" charset="0"/>
                </a:rPr>
                <a:t>0</a:t>
              </a:r>
              <a:endParaRPr lang="en-US" altLang="zh-CN" b="1">
                <a:solidFill>
                  <a:srgbClr val="00B0F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344170" y="5030470"/>
            <a:ext cx="7671435" cy="423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hangingPunct="1">
              <a:lnSpc>
                <a:spcPct val="90000"/>
              </a:lnSpc>
              <a:buNone/>
            </a:pPr>
            <a:r>
              <a:rPr lang="en-US" altLang="zh-CN" b="1" dirty="0">
                <a:solidFill>
                  <a:srgbClr val="00B050"/>
                </a:solidFill>
                <a:latin typeface="Arial" panose="020B0604020202020204" pitchFamily="34" charset="0"/>
                <a:sym typeface="+mn-ea"/>
              </a:rPr>
              <a:t>××</a:t>
            </a:r>
            <a:r>
              <a:rPr lang="en-US" altLang="zh-CN" b="1" dirty="0">
                <a:solidFill>
                  <a:srgbClr val="00B050"/>
                </a:solidFill>
                <a:latin typeface="Arial" panose="020B0604020202020204" pitchFamily="34" charset="0"/>
                <a:sym typeface="+mn-ea"/>
              </a:rPr>
              <a:t>××</a:t>
            </a:r>
            <a:r>
              <a:rPr lang="en-US" altLang="zh-CN" b="1" dirty="0">
                <a:solidFill>
                  <a:srgbClr val="00B050"/>
                </a:solidFill>
                <a:sym typeface="+mn-ea"/>
              </a:rPr>
              <a:t> </a:t>
            </a:r>
            <a:r>
              <a:rPr lang="en-US" altLang="zh-CN" b="1" dirty="0">
                <a:solidFill>
                  <a:srgbClr val="00B050"/>
                </a:solidFill>
                <a:latin typeface="Arial" panose="020B0604020202020204" pitchFamily="34" charset="0"/>
                <a:sym typeface="+mn-ea"/>
              </a:rPr>
              <a:t>××</a:t>
            </a:r>
            <a:r>
              <a:rPr lang="en-US" altLang="zh-CN" b="1" dirty="0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 b="1" dirty="0">
                <a:solidFill>
                  <a:srgbClr val="0000FF"/>
                </a:solidFill>
                <a:sym typeface="+mn-ea"/>
              </a:rPr>
              <a:t>1 </a:t>
            </a:r>
            <a:r>
              <a:rPr lang="en-US" altLang="zh-CN" b="1" dirty="0">
                <a:solidFill>
                  <a:srgbClr val="0000FF"/>
                </a:solidFill>
                <a:sym typeface="+mn-ea"/>
              </a:rPr>
              <a:t> 1111 1111 1111B</a:t>
            </a:r>
            <a:r>
              <a:rPr lang="zh-CN" altLang="en-US" b="1" dirty="0">
                <a:sym typeface="+mn-ea"/>
              </a:rPr>
              <a:t>－－－</a:t>
            </a:r>
            <a:r>
              <a:rPr lang="en-US" altLang="zh-CN" b="1" dirty="0">
                <a:sym typeface="+mn-ea"/>
              </a:rPr>
              <a:t>03FFF</a:t>
            </a:r>
            <a:r>
              <a:rPr lang="en-US" altLang="zh-CN" b="1" dirty="0">
                <a:sym typeface="+mn-ea"/>
              </a:rPr>
              <a:t>H</a:t>
            </a:r>
            <a:endParaRPr lang="en-US" altLang="zh-CN" b="1" dirty="0">
              <a:sym typeface="+mn-ea"/>
            </a:endParaRPr>
          </a:p>
        </p:txBody>
      </p:sp>
      <p:sp>
        <p:nvSpPr>
          <p:cNvPr id="14" name="右大括号 13"/>
          <p:cNvSpPr/>
          <p:nvPr>
            <p:custDataLst>
              <p:tags r:id="rId7"/>
            </p:custDataLst>
          </p:nvPr>
        </p:nvSpPr>
        <p:spPr>
          <a:xfrm>
            <a:off x="7740015" y="3968115"/>
            <a:ext cx="324000" cy="720090"/>
          </a:xfrm>
          <a:prstGeom prst="rightBrac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" name="右大括号 14"/>
          <p:cNvSpPr/>
          <p:nvPr>
            <p:custDataLst>
              <p:tags r:id="rId8"/>
            </p:custDataLst>
          </p:nvPr>
        </p:nvSpPr>
        <p:spPr>
          <a:xfrm>
            <a:off x="7776210" y="4725035"/>
            <a:ext cx="324000" cy="720090"/>
          </a:xfrm>
          <a:prstGeom prst="rightBrac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2">
                                            <p:txEl>
                                              <p:charRg st="0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592">
                                            <p:txEl>
                                              <p:charRg st="0" end="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9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78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92" grpId="0" build="p"/>
      <p:bldP spid="19597" grpId="0"/>
      <p:bldP spid="78896" grpId="0" bldLvl="0" animBg="1"/>
      <p:bldP spid="7" grpId="0"/>
      <p:bldP spid="14" grpId="0" bldLvl="0" animBg="1"/>
      <p:bldP spid="15" grpId="0" bldLvl="0" animBg="1"/>
      <p:bldP spid="4" grpId="0"/>
      <p:bldP spid="1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593" name="Text Box 137"/>
          <p:cNvSpPr txBox="1"/>
          <p:nvPr/>
        </p:nvSpPr>
        <p:spPr>
          <a:xfrm>
            <a:off x="539433" y="1502728"/>
            <a:ext cx="65532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Tahoma" panose="020B0604030504040204" pitchFamily="34" charset="0"/>
              </a:rPr>
              <a:t>如果</a:t>
            </a:r>
            <a:r>
              <a:rPr lang="en-US" altLang="zh-CN" b="1" dirty="0">
                <a:solidFill>
                  <a:schemeClr val="tx1"/>
                </a:solidFill>
                <a:latin typeface="Tahoma" panose="020B0604030504040204" pitchFamily="34" charset="0"/>
              </a:rPr>
              <a:t>A</a:t>
            </a:r>
            <a:r>
              <a:rPr lang="en-US" altLang="zh-CN" b="1" baseline="-25000" dirty="0">
                <a:solidFill>
                  <a:schemeClr val="tx1"/>
                </a:solidFill>
                <a:latin typeface="Tahoma" panose="020B0604030504040204" pitchFamily="34" charset="0"/>
              </a:rPr>
              <a:t>14</a:t>
            </a:r>
            <a:r>
              <a:rPr lang="zh-CN" altLang="en-US" b="1" dirty="0">
                <a:solidFill>
                  <a:schemeClr val="tx1"/>
                </a:solidFill>
                <a:latin typeface="Tahoma" panose="020B0604030504040204" pitchFamily="34" charset="0"/>
              </a:rPr>
              <a:t>做片选，两存储器芯片的地址范围？</a:t>
            </a:r>
            <a:endParaRPr lang="zh-CN" altLang="en-US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47158" name="Text Box 54"/>
          <p:cNvSpPr txBox="1"/>
          <p:nvPr/>
        </p:nvSpPr>
        <p:spPr>
          <a:xfrm>
            <a:off x="683578" y="4280535"/>
            <a:ext cx="7273925" cy="4603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思考：</a:t>
            </a:r>
            <a:r>
              <a:rPr lang="zh-CN" altLang="en-US" b="1" dirty="0">
                <a:solidFill>
                  <a:srgbClr val="00B0F0"/>
                </a:solidFill>
                <a:latin typeface="Tahoma" panose="020B0604030504040204" pitchFamily="34" charset="0"/>
              </a:rPr>
              <a:t>当</a:t>
            </a:r>
            <a:r>
              <a:rPr lang="zh-CN" altLang="en-US" b="1">
                <a:solidFill>
                  <a:srgbClr val="00B0F0"/>
                </a:solidFill>
                <a:latin typeface="Arial" panose="020B0604020202020204" pitchFamily="34" charset="0"/>
                <a:sym typeface="+mn-ea"/>
              </a:rPr>
              <a:t>×取</a:t>
            </a:r>
            <a:r>
              <a:rPr lang="en-US" altLang="zh-CN" b="1">
                <a:solidFill>
                  <a:srgbClr val="00B0F0"/>
                </a:solidFill>
                <a:latin typeface="Arial" panose="020B0604020202020204" pitchFamily="34" charset="0"/>
                <a:sym typeface="+mn-ea"/>
              </a:rPr>
              <a:t>1</a:t>
            </a:r>
            <a:r>
              <a:rPr lang="zh-CN" altLang="en-US" b="1">
                <a:solidFill>
                  <a:srgbClr val="00B0F0"/>
                </a:solidFill>
                <a:latin typeface="Arial" panose="020B0604020202020204" pitchFamily="34" charset="0"/>
                <a:sym typeface="+mn-ea"/>
              </a:rPr>
              <a:t>时的地址范围是多少？</a:t>
            </a:r>
            <a:endParaRPr lang="zh-CN" altLang="en-US" b="1" dirty="0">
              <a:solidFill>
                <a:srgbClr val="00B0F0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78896" name="Text Box 48"/>
          <p:cNvSpPr txBox="1"/>
          <p:nvPr>
            <p:custDataLst>
              <p:tags r:id="rId1"/>
            </p:custDataLst>
          </p:nvPr>
        </p:nvSpPr>
        <p:spPr>
          <a:xfrm>
            <a:off x="709930" y="5229225"/>
            <a:ext cx="7247890" cy="534035"/>
          </a:xfrm>
          <a:prstGeom prst="rect">
            <a:avLst/>
          </a:prstGeom>
          <a:noFill/>
          <a:ln w="28575" cmpd="dbl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anchor="t" anchorCtr="0"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  <a:buChar char="•"/>
            </a:pPr>
            <a:r>
              <a:rPr lang="zh-CN" altLang="en-US" b="1" dirty="0">
                <a:sym typeface="+mn-ea"/>
              </a:rPr>
              <a:t>问题</a:t>
            </a:r>
            <a:r>
              <a:rPr lang="en-US" altLang="zh-CN" b="1" dirty="0">
                <a:sym typeface="+mn-ea"/>
              </a:rPr>
              <a:t>2</a:t>
            </a:r>
            <a:r>
              <a:rPr lang="en-US" altLang="zh-CN" b="1" dirty="0">
                <a:sym typeface="+mn-ea"/>
              </a:rPr>
              <a:t>: </a:t>
            </a:r>
            <a:r>
              <a:rPr lang="zh-CN" altLang="en-US" b="1" dirty="0">
                <a:solidFill>
                  <a:srgbClr val="000000"/>
                </a:solidFill>
                <a:latin typeface="Tahoma" panose="020B0604030504040204" pitchFamily="34" charset="0"/>
              </a:rPr>
              <a:t>地址空间不连续</a:t>
            </a:r>
            <a:endParaRPr lang="zh-CN" altLang="en-US" b="1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" name="Rectangle 136"/>
          <p:cNvSpPr/>
          <p:nvPr>
            <p:custDataLst>
              <p:tags r:id="rId2"/>
            </p:custDataLst>
          </p:nvPr>
        </p:nvSpPr>
        <p:spPr>
          <a:xfrm>
            <a:off x="396240" y="1998345"/>
            <a:ext cx="5471795" cy="42989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Tahoma" panose="020B0604030504040204" pitchFamily="34" charset="0"/>
              </a:rPr>
              <a:t>A</a:t>
            </a:r>
            <a:r>
              <a:rPr lang="en-US" altLang="zh-CN" sz="2000" b="1" baseline="-25000" dirty="0">
                <a:solidFill>
                  <a:srgbClr val="000000"/>
                </a:solidFill>
                <a:latin typeface="Tahoma" panose="020B0604030504040204" pitchFamily="34" charset="0"/>
              </a:rPr>
              <a:t>19</a:t>
            </a:r>
            <a:r>
              <a:rPr lang="en-US" altLang="zh-CN" sz="2000" b="1" dirty="0">
                <a:solidFill>
                  <a:srgbClr val="000000"/>
                </a:solidFill>
                <a:latin typeface="Tahoma" panose="020B0604030504040204" pitchFamily="34" charset="0"/>
              </a:rPr>
              <a:t> A</a:t>
            </a:r>
            <a:r>
              <a:rPr lang="en-US" altLang="zh-CN" sz="2000" b="1" baseline="-25000" dirty="0">
                <a:solidFill>
                  <a:srgbClr val="000000"/>
                </a:solidFill>
                <a:latin typeface="Tahoma" panose="020B0604030504040204" pitchFamily="34" charset="0"/>
              </a:rPr>
              <a:t>18</a:t>
            </a:r>
            <a:r>
              <a:rPr lang="en-US" altLang="zh-CN" sz="2000" b="1" dirty="0">
                <a:solidFill>
                  <a:srgbClr val="000000"/>
                </a:solidFill>
                <a:latin typeface="Tahoma" panose="020B0604030504040204" pitchFamily="34" charset="0"/>
              </a:rPr>
              <a:t>A</a:t>
            </a:r>
            <a:r>
              <a:rPr lang="en-US" altLang="zh-CN" sz="2000" b="1" baseline="-25000" dirty="0">
                <a:solidFill>
                  <a:srgbClr val="000000"/>
                </a:solidFill>
                <a:latin typeface="Tahoma" panose="020B0604030504040204" pitchFamily="34" charset="0"/>
              </a:rPr>
              <a:t>17</a:t>
            </a:r>
            <a:r>
              <a:rPr lang="en-US" altLang="zh-CN" sz="2000" b="1" dirty="0">
                <a:solidFill>
                  <a:srgbClr val="000000"/>
                </a:solidFill>
                <a:latin typeface="Tahoma" panose="020B0604030504040204" pitchFamily="34" charset="0"/>
              </a:rPr>
              <a:t>A</a:t>
            </a:r>
            <a:r>
              <a:rPr lang="en-US" altLang="zh-CN" sz="2000" b="1" baseline="-25000" dirty="0">
                <a:solidFill>
                  <a:srgbClr val="000000"/>
                </a:solidFill>
                <a:latin typeface="Tahoma" panose="020B0604030504040204" pitchFamily="34" charset="0"/>
              </a:rPr>
              <a:t>16</a:t>
            </a:r>
            <a:r>
              <a:rPr lang="en-US" altLang="zh-CN" sz="2000" b="1" dirty="0">
                <a:solidFill>
                  <a:srgbClr val="000000"/>
                </a:solidFill>
                <a:latin typeface="Tahoma" panose="020B0604030504040204" pitchFamily="34" charset="0"/>
              </a:rPr>
              <a:t>  </a:t>
            </a:r>
            <a:r>
              <a:rPr lang="en-US" altLang="zh-CN" sz="2000" b="1" dirty="0">
                <a:solidFill>
                  <a:srgbClr val="0000FF"/>
                </a:solidFill>
                <a:latin typeface="Tahoma" panose="020B0604030504040204" pitchFamily="34" charset="0"/>
              </a:rPr>
              <a:t>A</a:t>
            </a:r>
            <a:r>
              <a:rPr lang="en-US" altLang="zh-CN" sz="2000" b="1" baseline="-25000" dirty="0">
                <a:solidFill>
                  <a:srgbClr val="0000FF"/>
                </a:solidFill>
                <a:latin typeface="Tahoma" panose="020B0604030504040204" pitchFamily="34" charset="0"/>
              </a:rPr>
              <a:t>15</a:t>
            </a:r>
            <a:r>
              <a:rPr lang="en-US" altLang="zh-CN" sz="2000" b="1" dirty="0">
                <a:solidFill>
                  <a:srgbClr val="0000FF"/>
                </a:solidFill>
                <a:latin typeface="Tahoma" panose="020B0604030504040204" pitchFamily="34" charset="0"/>
              </a:rPr>
              <a:t>A</a:t>
            </a:r>
            <a:r>
              <a:rPr lang="en-US" altLang="zh-CN" sz="2000" b="1" baseline="-25000" dirty="0">
                <a:solidFill>
                  <a:srgbClr val="0000FF"/>
                </a:solidFill>
                <a:latin typeface="Tahoma" panose="020B0604030504040204" pitchFamily="34" charset="0"/>
              </a:rPr>
              <a:t>14</a:t>
            </a:r>
            <a:r>
              <a:rPr lang="en-US" altLang="zh-CN" sz="2000" b="1" dirty="0">
                <a:solidFill>
                  <a:srgbClr val="0000FF"/>
                </a:solidFill>
                <a:latin typeface="Tahoma" panose="020B0604030504040204" pitchFamily="34" charset="0"/>
              </a:rPr>
              <a:t>A</a:t>
            </a:r>
            <a:r>
              <a:rPr lang="en-US" altLang="zh-CN" sz="2000" b="1" baseline="-25000" dirty="0">
                <a:solidFill>
                  <a:srgbClr val="0000FF"/>
                </a:solidFill>
                <a:latin typeface="Tahoma" panose="020B0604030504040204" pitchFamily="34" charset="0"/>
              </a:rPr>
              <a:t>13</a:t>
            </a:r>
            <a:r>
              <a:rPr lang="en-US" altLang="zh-CN" sz="2000" b="1" dirty="0">
                <a:solidFill>
                  <a:schemeClr val="tx2"/>
                </a:solidFill>
                <a:latin typeface="Tahoma" panose="020B0604030504040204" pitchFamily="34" charset="0"/>
              </a:rPr>
              <a:t>A</a:t>
            </a:r>
            <a:r>
              <a:rPr lang="en-US" altLang="zh-CN" sz="2000" b="1" baseline="-25000" dirty="0">
                <a:solidFill>
                  <a:schemeClr val="tx2"/>
                </a:solidFill>
                <a:latin typeface="Tahoma" panose="020B0604030504040204" pitchFamily="34" charset="0"/>
              </a:rPr>
              <a:t>12</a:t>
            </a:r>
            <a:r>
              <a:rPr lang="en-US" altLang="zh-CN" sz="2000" b="1" dirty="0">
                <a:solidFill>
                  <a:srgbClr val="000000"/>
                </a:solidFill>
                <a:latin typeface="Tahoma" panose="020B0604030504040204" pitchFamily="34" charset="0"/>
              </a:rPr>
              <a:t>  A</a:t>
            </a:r>
            <a:r>
              <a:rPr lang="en-US" altLang="zh-CN" sz="2000" b="1" baseline="-25000" dirty="0">
                <a:solidFill>
                  <a:srgbClr val="000000"/>
                </a:solidFill>
                <a:latin typeface="Tahoma" panose="020B0604030504040204" pitchFamily="34" charset="0"/>
              </a:rPr>
              <a:t>11</a:t>
            </a:r>
            <a:r>
              <a:rPr lang="en-US" altLang="zh-CN" sz="2000" b="1" dirty="0">
                <a:solidFill>
                  <a:srgbClr val="000000"/>
                </a:solidFill>
                <a:latin typeface="Tahoma" panose="020B0604030504040204" pitchFamily="34" charset="0"/>
              </a:rPr>
              <a:t> ~ …….   A</a:t>
            </a:r>
            <a:r>
              <a:rPr lang="en-US" altLang="zh-CN" sz="2000" b="1" baseline="-25000" dirty="0">
                <a:solidFill>
                  <a:srgbClr val="000000"/>
                </a:solidFill>
                <a:latin typeface="Tahoma" panose="020B0604030504040204" pitchFamily="34" charset="0"/>
              </a:rPr>
              <a:t>0                                                                                       </a:t>
            </a:r>
            <a:endParaRPr lang="en-US" altLang="zh-CN" sz="2000" dirty="0">
              <a:latin typeface="Tahoma" panose="020B0604030504040204" pitchFamily="34" charset="0"/>
            </a:endParaRPr>
          </a:p>
        </p:txBody>
      </p:sp>
      <p:sp>
        <p:nvSpPr>
          <p:cNvPr id="3" name="Text Box 141"/>
          <p:cNvSpPr txBox="1"/>
          <p:nvPr>
            <p:custDataLst>
              <p:tags r:id="rId3"/>
            </p:custDataLst>
          </p:nvPr>
        </p:nvSpPr>
        <p:spPr>
          <a:xfrm>
            <a:off x="8171815" y="2564130"/>
            <a:ext cx="648970" cy="4191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>
              <a:lnSpc>
                <a:spcPct val="40000"/>
              </a:lnSpc>
            </a:pPr>
            <a:r>
              <a:rPr lang="en-US" altLang="zh-CN" dirty="0">
                <a:solidFill>
                  <a:schemeClr val="accent2"/>
                </a:solidFill>
                <a:latin typeface="Tahoma" panose="020B0604030504040204" pitchFamily="34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Tahoma" panose="020B0604030504040204" pitchFamily="34" charset="0"/>
              </a:rPr>
              <a:t>1#</a:t>
            </a:r>
            <a:endParaRPr lang="en-US" altLang="zh-CN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94970" y="2282190"/>
            <a:ext cx="7671435" cy="621665"/>
            <a:chOff x="1189" y="8007"/>
            <a:chExt cx="12081" cy="979"/>
          </a:xfrm>
        </p:grpSpPr>
        <p:sp>
          <p:nvSpPr>
            <p:cNvPr id="6" name="文本框 5"/>
            <p:cNvSpPr txBox="1"/>
            <p:nvPr>
              <p:custDataLst>
                <p:tags r:id="rId4"/>
              </p:custDataLst>
            </p:nvPr>
          </p:nvSpPr>
          <p:spPr>
            <a:xfrm>
              <a:off x="1189" y="8319"/>
              <a:ext cx="12081" cy="66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eaLnBrk="1" hangingPunct="1">
                <a:lnSpc>
                  <a:spcPct val="90000"/>
                </a:lnSpc>
                <a:buNone/>
              </a:pPr>
              <a:r>
                <a:rPr lang="en-US" altLang="zh-CN" b="1" dirty="0">
                  <a:solidFill>
                    <a:srgbClr val="00B050"/>
                  </a:solidFill>
                  <a:latin typeface="Arial" panose="020B0604020202020204" pitchFamily="34" charset="0"/>
                  <a:sym typeface="+mn-ea"/>
                </a:rPr>
                <a:t>××××</a:t>
              </a:r>
              <a:r>
                <a:rPr lang="en-US" altLang="zh-CN" b="1" dirty="0">
                  <a:solidFill>
                    <a:srgbClr val="00B050"/>
                  </a:solidFill>
                  <a:sym typeface="+mn-ea"/>
                </a:rPr>
                <a:t> </a:t>
              </a:r>
              <a:r>
                <a:rPr lang="en-US" altLang="zh-CN" b="1" dirty="0">
                  <a:solidFill>
                    <a:srgbClr val="00B050"/>
                  </a:solidFill>
                  <a:latin typeface="Arial" panose="020B0604020202020204" pitchFamily="34" charset="0"/>
                  <a:sym typeface="+mn-ea"/>
                </a:rPr>
                <a:t>×</a:t>
              </a:r>
              <a:r>
                <a:rPr lang="en-US" altLang="zh-CN" b="1" dirty="0">
                  <a:solidFill>
                    <a:srgbClr val="FF0000"/>
                  </a:solidFill>
                  <a:sym typeface="+mn-ea"/>
                </a:rPr>
                <a:t>0</a:t>
              </a:r>
              <a:r>
                <a:rPr lang="en-US" altLang="zh-CN" b="1" dirty="0">
                  <a:solidFill>
                    <a:srgbClr val="00B050"/>
                  </a:solidFill>
                  <a:latin typeface="Arial" panose="020B0604020202020204" pitchFamily="34" charset="0"/>
                  <a:sym typeface="+mn-ea"/>
                </a:rPr>
                <a:t>×</a:t>
              </a:r>
              <a:r>
                <a:rPr lang="en-US" altLang="zh-CN" b="1" dirty="0">
                  <a:solidFill>
                    <a:srgbClr val="0000FF"/>
                  </a:solidFill>
                  <a:sym typeface="+mn-ea"/>
                </a:rPr>
                <a:t>0  0000 0000 0000B</a:t>
              </a:r>
              <a:r>
                <a:rPr lang="zh-CN" altLang="en-US" b="1" dirty="0">
                  <a:sym typeface="+mn-ea"/>
                </a:rPr>
                <a:t>－－－</a:t>
              </a:r>
              <a:r>
                <a:rPr lang="en-US" altLang="zh-CN" b="1" dirty="0">
                  <a:sym typeface="+mn-ea"/>
                </a:rPr>
                <a:t>0</a:t>
              </a:r>
              <a:r>
                <a:rPr lang="en-US" altLang="zh-CN" b="1" dirty="0">
                  <a:sym typeface="+mn-ea"/>
                </a:rPr>
                <a:t>0000H</a:t>
              </a:r>
              <a:endParaRPr lang="en-US" altLang="zh-CN" b="1" dirty="0">
                <a:sym typeface="+mn-ea"/>
              </a:endParaRPr>
            </a:p>
          </p:txBody>
        </p:sp>
        <p:sp>
          <p:nvSpPr>
            <p:cNvPr id="8" name="文本框 7"/>
            <p:cNvSpPr txBox="1"/>
            <p:nvPr>
              <p:custDataLst>
                <p:tags r:id="rId5"/>
              </p:custDataLst>
            </p:nvPr>
          </p:nvSpPr>
          <p:spPr>
            <a:xfrm>
              <a:off x="9373" y="8007"/>
              <a:ext cx="1548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b="1">
                  <a:solidFill>
                    <a:srgbClr val="00B0F0"/>
                  </a:solidFill>
                  <a:latin typeface="Arial" panose="020B0604020202020204" pitchFamily="34" charset="0"/>
                </a:rPr>
                <a:t>×取</a:t>
              </a:r>
              <a:r>
                <a:rPr lang="en-US" altLang="zh-CN" b="1">
                  <a:solidFill>
                    <a:srgbClr val="00B0F0"/>
                  </a:solidFill>
                  <a:latin typeface="Arial" panose="020B0604020202020204" pitchFamily="34" charset="0"/>
                </a:rPr>
                <a:t>0</a:t>
              </a:r>
              <a:endParaRPr lang="en-US" altLang="zh-CN" b="1">
                <a:solidFill>
                  <a:srgbClr val="00B0F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400050" y="2822575"/>
            <a:ext cx="7671435" cy="423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hangingPunct="1">
              <a:lnSpc>
                <a:spcPct val="90000"/>
              </a:lnSpc>
              <a:buNone/>
            </a:pPr>
            <a:r>
              <a:rPr lang="en-US" altLang="zh-CN" b="1" dirty="0">
                <a:solidFill>
                  <a:srgbClr val="00B050"/>
                </a:solidFill>
                <a:latin typeface="Arial" panose="020B0604020202020204" pitchFamily="34" charset="0"/>
                <a:sym typeface="+mn-ea"/>
              </a:rPr>
              <a:t>××××</a:t>
            </a:r>
            <a:r>
              <a:rPr lang="en-US" altLang="zh-CN" b="1" dirty="0">
                <a:solidFill>
                  <a:srgbClr val="00B050"/>
                </a:solidFill>
                <a:sym typeface="+mn-ea"/>
              </a:rPr>
              <a:t> </a:t>
            </a:r>
            <a:r>
              <a:rPr lang="en-US" altLang="zh-CN" b="1" dirty="0">
                <a:solidFill>
                  <a:srgbClr val="00B050"/>
                </a:solidFill>
                <a:latin typeface="Arial" panose="020B0604020202020204" pitchFamily="34" charset="0"/>
                <a:sym typeface="+mn-ea"/>
              </a:rPr>
              <a:t>×</a:t>
            </a:r>
            <a:r>
              <a:rPr lang="en-US" altLang="zh-CN" b="1" dirty="0">
                <a:solidFill>
                  <a:srgbClr val="FF0000"/>
                </a:solidFill>
                <a:sym typeface="+mn-ea"/>
              </a:rPr>
              <a:t>0</a:t>
            </a:r>
            <a:r>
              <a:rPr lang="en-US" altLang="zh-CN" b="1" dirty="0">
                <a:solidFill>
                  <a:srgbClr val="00B050"/>
                </a:solidFill>
                <a:latin typeface="Arial" panose="020B0604020202020204" pitchFamily="34" charset="0"/>
                <a:sym typeface="+mn-ea"/>
              </a:rPr>
              <a:t>×</a:t>
            </a:r>
            <a:r>
              <a:rPr lang="en-US" altLang="zh-CN" b="1" dirty="0">
                <a:solidFill>
                  <a:srgbClr val="0000FF"/>
                </a:solidFill>
                <a:sym typeface="+mn-ea"/>
              </a:rPr>
              <a:t>1 </a:t>
            </a:r>
            <a:r>
              <a:rPr lang="en-US" altLang="zh-CN" b="1" dirty="0">
                <a:solidFill>
                  <a:srgbClr val="0000FF"/>
                </a:solidFill>
                <a:sym typeface="+mn-ea"/>
              </a:rPr>
              <a:t> 1111 1111 1111B</a:t>
            </a:r>
            <a:r>
              <a:rPr lang="zh-CN" altLang="en-US" b="1" dirty="0">
                <a:sym typeface="+mn-ea"/>
              </a:rPr>
              <a:t>－－－</a:t>
            </a:r>
            <a:r>
              <a:rPr lang="en-US" altLang="zh-CN" b="1" dirty="0">
                <a:sym typeface="+mn-ea"/>
              </a:rPr>
              <a:t>01FFF</a:t>
            </a:r>
            <a:r>
              <a:rPr lang="en-US" altLang="zh-CN" b="1" dirty="0">
                <a:sym typeface="+mn-ea"/>
              </a:rPr>
              <a:t>H</a:t>
            </a:r>
            <a:endParaRPr lang="en-US" altLang="zh-CN" b="1" dirty="0">
              <a:sym typeface="+mn-ea"/>
            </a:endParaRPr>
          </a:p>
        </p:txBody>
      </p:sp>
      <p:sp>
        <p:nvSpPr>
          <p:cNvPr id="7" name="Text Box 141"/>
          <p:cNvSpPr txBox="1"/>
          <p:nvPr>
            <p:custDataLst>
              <p:tags r:id="rId7"/>
            </p:custDataLst>
          </p:nvPr>
        </p:nvSpPr>
        <p:spPr>
          <a:xfrm>
            <a:off x="8244205" y="3362325"/>
            <a:ext cx="575945" cy="3873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>
              <a:lnSpc>
                <a:spcPct val="40000"/>
              </a:lnSpc>
            </a:pPr>
            <a:r>
              <a:rPr lang="en-US" altLang="zh-CN" dirty="0">
                <a:solidFill>
                  <a:schemeClr val="accent2"/>
                </a:solidFill>
                <a:latin typeface="Tahoma" panose="020B0604030504040204" pitchFamily="34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Tahoma" panose="020B0604030504040204" pitchFamily="34" charset="0"/>
              </a:rPr>
              <a:t>2</a:t>
            </a:r>
            <a:r>
              <a:rPr lang="en-US" altLang="zh-CN" dirty="0">
                <a:solidFill>
                  <a:srgbClr val="FF0000"/>
                </a:solidFill>
                <a:latin typeface="Tahoma" panose="020B0604030504040204" pitchFamily="34" charset="0"/>
              </a:rPr>
              <a:t>#</a:t>
            </a:r>
            <a:r>
              <a:rPr lang="en-US" altLang="zh-CN" dirty="0">
                <a:solidFill>
                  <a:schemeClr val="accent2"/>
                </a:solidFill>
                <a:latin typeface="Tahoma" panose="020B0604030504040204" pitchFamily="34" charset="0"/>
              </a:rPr>
              <a:t> </a:t>
            </a:r>
            <a:endParaRPr lang="en-US" altLang="zh-CN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410845" y="2983230"/>
            <a:ext cx="7671435" cy="621665"/>
            <a:chOff x="1189" y="8007"/>
            <a:chExt cx="12081" cy="979"/>
          </a:xfrm>
        </p:grpSpPr>
        <p:sp>
          <p:nvSpPr>
            <p:cNvPr id="11" name="文本框 10"/>
            <p:cNvSpPr txBox="1"/>
            <p:nvPr>
              <p:custDataLst>
                <p:tags r:id="rId8"/>
              </p:custDataLst>
            </p:nvPr>
          </p:nvSpPr>
          <p:spPr>
            <a:xfrm>
              <a:off x="1189" y="8319"/>
              <a:ext cx="12081" cy="66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eaLnBrk="1" hangingPunct="1">
                <a:lnSpc>
                  <a:spcPct val="90000"/>
                </a:lnSpc>
                <a:buNone/>
              </a:pPr>
              <a:r>
                <a:rPr lang="en-US" altLang="zh-CN" b="1" dirty="0">
                  <a:solidFill>
                    <a:srgbClr val="00B050"/>
                  </a:solidFill>
                  <a:latin typeface="Arial" panose="020B0604020202020204" pitchFamily="34" charset="0"/>
                  <a:sym typeface="+mn-ea"/>
                </a:rPr>
                <a:t>××××</a:t>
              </a:r>
              <a:r>
                <a:rPr lang="en-US" altLang="zh-CN" b="1" dirty="0">
                  <a:solidFill>
                    <a:srgbClr val="00B050"/>
                  </a:solidFill>
                  <a:sym typeface="+mn-ea"/>
                </a:rPr>
                <a:t> </a:t>
              </a:r>
              <a:r>
                <a:rPr lang="en-US" altLang="zh-CN" b="1" dirty="0">
                  <a:solidFill>
                    <a:srgbClr val="00B050"/>
                  </a:solidFill>
                  <a:latin typeface="Arial" panose="020B0604020202020204" pitchFamily="34" charset="0"/>
                  <a:sym typeface="+mn-ea"/>
                </a:rPr>
                <a:t>×</a:t>
              </a:r>
              <a:r>
                <a:rPr lang="en-US" altLang="zh-CN" b="1" dirty="0">
                  <a:solidFill>
                    <a:srgbClr val="FF0000"/>
                  </a:solidFill>
                  <a:sym typeface="+mn-ea"/>
                </a:rPr>
                <a:t>1</a:t>
              </a:r>
              <a:r>
                <a:rPr lang="en-US" altLang="zh-CN" b="1" dirty="0">
                  <a:solidFill>
                    <a:srgbClr val="00B050"/>
                  </a:solidFill>
                  <a:latin typeface="Arial" panose="020B0604020202020204" pitchFamily="34" charset="0"/>
                  <a:sym typeface="+mn-ea"/>
                </a:rPr>
                <a:t>×</a:t>
              </a:r>
              <a:r>
                <a:rPr lang="en-US" altLang="zh-CN" b="1" dirty="0">
                  <a:solidFill>
                    <a:srgbClr val="0000FF"/>
                  </a:solidFill>
                  <a:sym typeface="+mn-ea"/>
                </a:rPr>
                <a:t>0  0000 0000 0000B</a:t>
              </a:r>
              <a:r>
                <a:rPr lang="zh-CN" altLang="en-US" b="1" dirty="0">
                  <a:sym typeface="+mn-ea"/>
                </a:rPr>
                <a:t>－－－</a:t>
              </a:r>
              <a:r>
                <a:rPr lang="en-US" altLang="zh-CN" b="1" dirty="0">
                  <a:sym typeface="+mn-ea"/>
                </a:rPr>
                <a:t>04000H</a:t>
              </a:r>
              <a:endParaRPr lang="en-US" altLang="zh-CN" b="1" dirty="0">
                <a:sym typeface="+mn-ea"/>
              </a:endParaRPr>
            </a:p>
          </p:txBody>
        </p:sp>
        <p:sp>
          <p:nvSpPr>
            <p:cNvPr id="12" name="文本框 11"/>
            <p:cNvSpPr txBox="1"/>
            <p:nvPr>
              <p:custDataLst>
                <p:tags r:id="rId9"/>
              </p:custDataLst>
            </p:nvPr>
          </p:nvSpPr>
          <p:spPr>
            <a:xfrm>
              <a:off x="9373" y="8007"/>
              <a:ext cx="1548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b="1">
                  <a:solidFill>
                    <a:srgbClr val="00B0F0"/>
                  </a:solidFill>
                  <a:latin typeface="Arial" panose="020B0604020202020204" pitchFamily="34" charset="0"/>
                </a:rPr>
                <a:t>×取</a:t>
              </a:r>
              <a:r>
                <a:rPr lang="en-US" altLang="zh-CN" b="1">
                  <a:solidFill>
                    <a:srgbClr val="00B0F0"/>
                  </a:solidFill>
                  <a:latin typeface="Arial" panose="020B0604020202020204" pitchFamily="34" charset="0"/>
                </a:rPr>
                <a:t>0</a:t>
              </a:r>
              <a:endParaRPr lang="en-US" altLang="zh-CN" b="1">
                <a:solidFill>
                  <a:srgbClr val="00B0F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3" name="文本框 12"/>
          <p:cNvSpPr txBox="1"/>
          <p:nvPr>
            <p:custDataLst>
              <p:tags r:id="rId10"/>
            </p:custDataLst>
          </p:nvPr>
        </p:nvSpPr>
        <p:spPr>
          <a:xfrm>
            <a:off x="415925" y="3523615"/>
            <a:ext cx="7671435" cy="423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hangingPunct="1">
              <a:lnSpc>
                <a:spcPct val="90000"/>
              </a:lnSpc>
              <a:buNone/>
            </a:pPr>
            <a:r>
              <a:rPr lang="en-US" altLang="zh-CN" b="1" dirty="0">
                <a:solidFill>
                  <a:srgbClr val="00B050"/>
                </a:solidFill>
                <a:latin typeface="Arial" panose="020B0604020202020204" pitchFamily="34" charset="0"/>
                <a:sym typeface="+mn-ea"/>
              </a:rPr>
              <a:t>××××</a:t>
            </a:r>
            <a:r>
              <a:rPr lang="en-US" altLang="zh-CN" b="1" dirty="0">
                <a:solidFill>
                  <a:srgbClr val="00B050"/>
                </a:solidFill>
                <a:sym typeface="+mn-ea"/>
              </a:rPr>
              <a:t> </a:t>
            </a:r>
            <a:r>
              <a:rPr lang="en-US" altLang="zh-CN" b="1" dirty="0">
                <a:solidFill>
                  <a:srgbClr val="00B050"/>
                </a:solidFill>
                <a:latin typeface="Arial" panose="020B0604020202020204" pitchFamily="34" charset="0"/>
                <a:sym typeface="+mn-ea"/>
              </a:rPr>
              <a:t>×</a:t>
            </a:r>
            <a:r>
              <a:rPr lang="en-US" altLang="zh-CN" b="1" dirty="0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 b="1" dirty="0">
                <a:solidFill>
                  <a:srgbClr val="00B050"/>
                </a:solidFill>
                <a:latin typeface="Arial" panose="020B0604020202020204" pitchFamily="34" charset="0"/>
                <a:sym typeface="+mn-ea"/>
              </a:rPr>
              <a:t>×</a:t>
            </a:r>
            <a:r>
              <a:rPr lang="en-US" altLang="zh-CN" b="1" dirty="0">
                <a:solidFill>
                  <a:srgbClr val="0000FF"/>
                </a:solidFill>
                <a:sym typeface="+mn-ea"/>
              </a:rPr>
              <a:t>1 </a:t>
            </a:r>
            <a:r>
              <a:rPr lang="en-US" altLang="zh-CN" b="1" dirty="0">
                <a:solidFill>
                  <a:srgbClr val="0000FF"/>
                </a:solidFill>
                <a:sym typeface="+mn-ea"/>
              </a:rPr>
              <a:t> 1111 1111 1111B</a:t>
            </a:r>
            <a:r>
              <a:rPr lang="zh-CN" altLang="en-US" b="1" dirty="0">
                <a:sym typeface="+mn-ea"/>
              </a:rPr>
              <a:t>－－－</a:t>
            </a:r>
            <a:r>
              <a:rPr lang="en-US" altLang="zh-CN" b="1" dirty="0">
                <a:sym typeface="+mn-ea"/>
              </a:rPr>
              <a:t>05FFF</a:t>
            </a:r>
            <a:r>
              <a:rPr lang="en-US" altLang="zh-CN" b="1" dirty="0">
                <a:sym typeface="+mn-ea"/>
              </a:rPr>
              <a:t>H</a:t>
            </a:r>
            <a:endParaRPr lang="en-US" altLang="zh-CN" b="1" dirty="0">
              <a:sym typeface="+mn-ea"/>
            </a:endParaRPr>
          </a:p>
        </p:txBody>
      </p:sp>
      <p:sp>
        <p:nvSpPr>
          <p:cNvPr id="14" name="右大括号 13"/>
          <p:cNvSpPr/>
          <p:nvPr>
            <p:custDataLst>
              <p:tags r:id="rId11"/>
            </p:custDataLst>
          </p:nvPr>
        </p:nvSpPr>
        <p:spPr>
          <a:xfrm>
            <a:off x="7811770" y="2461260"/>
            <a:ext cx="324000" cy="720090"/>
          </a:xfrm>
          <a:prstGeom prst="rightBrac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" name="右大括号 14"/>
          <p:cNvSpPr/>
          <p:nvPr>
            <p:custDataLst>
              <p:tags r:id="rId12"/>
            </p:custDataLst>
          </p:nvPr>
        </p:nvSpPr>
        <p:spPr>
          <a:xfrm>
            <a:off x="7847965" y="3218180"/>
            <a:ext cx="324000" cy="720090"/>
          </a:xfrm>
          <a:prstGeom prst="rightBrac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Text Box 54"/>
          <p:cNvSpPr txBox="1"/>
          <p:nvPr>
            <p:custDataLst>
              <p:tags r:id="rId13"/>
            </p:custDataLst>
          </p:nvPr>
        </p:nvSpPr>
        <p:spPr>
          <a:xfrm>
            <a:off x="683578" y="4740910"/>
            <a:ext cx="7273925" cy="4603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dirty="0">
                <a:solidFill>
                  <a:srgbClr val="FF0000"/>
                </a:solidFill>
                <a:sym typeface="+mn-ea"/>
              </a:rPr>
              <a:t>1#:</a:t>
            </a:r>
            <a:r>
              <a:rPr 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FA000H~FBFFFH     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2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#:FE000H~FFFFFH</a:t>
            </a:r>
            <a:endParaRPr lang="en-US" b="1" dirty="0">
              <a:solidFill>
                <a:srgbClr val="00B0F0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16" name="Text Box 48"/>
          <p:cNvSpPr txBox="1"/>
          <p:nvPr>
            <p:custDataLst>
              <p:tags r:id="rId14"/>
            </p:custDataLst>
          </p:nvPr>
        </p:nvSpPr>
        <p:spPr>
          <a:xfrm>
            <a:off x="709930" y="5935345"/>
            <a:ext cx="7247890" cy="534035"/>
          </a:xfrm>
          <a:prstGeom prst="rect">
            <a:avLst/>
          </a:prstGeom>
          <a:noFill/>
          <a:ln w="28575" cmpd="dbl">
            <a:noFill/>
            <a:prstDash val="solid"/>
          </a:ln>
        </p:spPr>
        <p:txBody>
          <a:bodyPr wrap="square" anchor="t" anchorCtr="0"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rgbClr val="C00000"/>
                </a:solidFill>
                <a:sym typeface="+mn-ea"/>
              </a:rPr>
              <a:t>思考</a:t>
            </a:r>
            <a:r>
              <a:rPr lang="en-US" altLang="zh-CN" b="1" dirty="0">
                <a:solidFill>
                  <a:srgbClr val="C00000"/>
                </a:solidFill>
                <a:sym typeface="+mn-ea"/>
              </a:rPr>
              <a:t>: </a:t>
            </a:r>
            <a:r>
              <a:rPr lang="zh-CN" altLang="en-US" b="1" dirty="0">
                <a:solidFill>
                  <a:srgbClr val="C00000"/>
                </a:solidFill>
                <a:sym typeface="+mn-ea"/>
              </a:rPr>
              <a:t>全</a:t>
            </a:r>
            <a:r>
              <a:rPr lang="zh-CN" altLang="en-US" b="1" dirty="0">
                <a:solidFill>
                  <a:srgbClr val="C00000"/>
                </a:solidFill>
                <a:latin typeface="Tahoma" panose="020B0604030504040204" pitchFamily="34" charset="0"/>
              </a:rPr>
              <a:t>地址译码和部分地址译码是否存在上述问题？</a:t>
            </a:r>
            <a:endParaRPr lang="zh-CN" altLang="en-US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12333" name="Text Box 52"/>
          <p:cNvSpPr txBox="1"/>
          <p:nvPr>
            <p:custDataLst>
              <p:tags r:id="rId15"/>
            </p:custDataLst>
          </p:nvPr>
        </p:nvSpPr>
        <p:spPr>
          <a:xfrm>
            <a:off x="827405" y="475615"/>
            <a:ext cx="5444490" cy="7289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solidFill>
                  <a:srgbClr val="0000FF"/>
                </a:solidFill>
                <a:latin typeface="Tahoma" panose="020B0604030504040204" pitchFamily="34" charset="0"/>
              </a:rPr>
              <a:t> </a:t>
            </a:r>
            <a:r>
              <a:rPr lang="zh-CN" altLang="en-US" sz="3600" b="1" dirty="0">
                <a:solidFill>
                  <a:srgbClr val="0000FF"/>
                </a:solidFill>
                <a:latin typeface="Tahoma" panose="020B0604030504040204" pitchFamily="34" charset="0"/>
              </a:rPr>
              <a:t>（</a:t>
            </a:r>
            <a:r>
              <a:rPr lang="en-US" altLang="zh-CN" sz="3600" b="1" dirty="0">
                <a:solidFill>
                  <a:srgbClr val="0000FF"/>
                </a:solidFill>
                <a:latin typeface="Tahoma" panose="020B0604030504040204" pitchFamily="34" charset="0"/>
              </a:rPr>
              <a:t>3</a:t>
            </a:r>
            <a:r>
              <a:rPr lang="zh-CN" altLang="en-US" sz="3600" b="1" dirty="0">
                <a:solidFill>
                  <a:srgbClr val="0000FF"/>
                </a:solidFill>
                <a:latin typeface="Tahoma" panose="020B0604030504040204" pitchFamily="34" charset="0"/>
              </a:rPr>
              <a:t>）</a:t>
            </a:r>
            <a:r>
              <a:rPr lang="zh-CN" altLang="en-US" sz="3600" b="1" dirty="0">
                <a:solidFill>
                  <a:srgbClr val="0000FF"/>
                </a:solidFill>
                <a:sym typeface="+mn-ea"/>
              </a:rPr>
              <a:t>线选法</a:t>
            </a:r>
            <a:endParaRPr lang="zh-CN" altLang="en-US" sz="3600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0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charRg st="0" end="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78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93" grpId="0"/>
      <p:bldP spid="47158" grpId="0" bldLvl="0" animBg="1"/>
      <p:bldP spid="78896" grpId="0" bldLvl="0" animBg="1"/>
      <p:bldP spid="2" grpId="0" build="p"/>
      <p:bldP spid="3" grpId="0"/>
      <p:bldP spid="7" grpId="0"/>
      <p:bldP spid="14" grpId="0" bldLvl="0" animBg="1"/>
      <p:bldP spid="15" grpId="0" bldLvl="0" animBg="1"/>
      <p:bldP spid="4" grpId="0"/>
      <p:bldP spid="13" grpId="0"/>
      <p:bldP spid="5" grpId="0" bldLvl="0" animBg="1"/>
      <p:bldP spid="16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5" name="Text Box 2"/>
          <p:cNvSpPr txBox="1"/>
          <p:nvPr/>
        </p:nvSpPr>
        <p:spPr>
          <a:xfrm>
            <a:off x="537845" y="1416685"/>
            <a:ext cx="846772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Tahoma" panose="020B0604030504040204" pitchFamily="34" charset="0"/>
              </a:rPr>
              <a:t>例</a:t>
            </a:r>
            <a:r>
              <a:rPr lang="en-US" altLang="zh-CN" b="1" dirty="0">
                <a:solidFill>
                  <a:schemeClr val="tx1"/>
                </a:solidFill>
                <a:latin typeface="Tahoma" panose="020B0604030504040204" pitchFamily="34" charset="0"/>
              </a:rPr>
              <a:t>3:</a:t>
            </a:r>
            <a:r>
              <a:rPr lang="zh-CN" altLang="en-US" b="1" dirty="0">
                <a:solidFill>
                  <a:schemeClr val="tx1"/>
                </a:solidFill>
                <a:latin typeface="Tahoma" panose="020B0604030504040204" pitchFamily="34" charset="0"/>
              </a:rPr>
              <a:t>分析</a:t>
            </a:r>
            <a:r>
              <a:rPr lang="zh-CN" altLang="en-US" b="1" dirty="0">
                <a:sym typeface="+mn-ea"/>
              </a:rPr>
              <a:t>片选</a:t>
            </a:r>
            <a:r>
              <a:rPr lang="zh-CN" altLang="en-US" b="1" dirty="0">
                <a:solidFill>
                  <a:schemeClr val="tx1"/>
                </a:solidFill>
                <a:latin typeface="Tahoma" panose="020B0604030504040204" pitchFamily="34" charset="0"/>
              </a:rPr>
              <a:t>译码方式和每一芯片的地址范围？</a:t>
            </a:r>
            <a:endParaRPr lang="zh-CN" altLang="en-US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1560" name="Text Box 56"/>
          <p:cNvSpPr txBox="1"/>
          <p:nvPr/>
        </p:nvSpPr>
        <p:spPr>
          <a:xfrm>
            <a:off x="625475" y="5401945"/>
            <a:ext cx="8119745" cy="11988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dirty="0">
                <a:solidFill>
                  <a:srgbClr val="0000FF"/>
                </a:solidFill>
                <a:latin typeface="Tahoma" panose="020B0604030504040204" pitchFamily="34" charset="0"/>
              </a:rPr>
              <a:t>M0(8KB): </a:t>
            </a:r>
            <a:r>
              <a:rPr lang="en-US" altLang="zh-CN" dirty="0">
                <a:solidFill>
                  <a:srgbClr val="00B050"/>
                </a:solidFill>
                <a:sym typeface="+mn-ea"/>
              </a:rPr>
              <a:t>00</a:t>
            </a:r>
            <a:r>
              <a:rPr lang="en-US" altLang="zh-CN" dirty="0">
                <a:solidFill>
                  <a:srgbClr val="00B050"/>
                </a:solidFill>
                <a:latin typeface="Tahoma" panose="020B0604030504040204" pitchFamily="34" charset="0"/>
              </a:rPr>
              <a:t>11</a:t>
            </a:r>
            <a:r>
              <a:rPr lang="en-US" altLang="zh-CN" dirty="0">
                <a:solidFill>
                  <a:srgbClr val="0000FF"/>
                </a:solidFill>
                <a:latin typeface="Tahoma" panose="020B0604030504040204" pitchFamily="34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Tahoma" panose="020B0604030504040204" pitchFamily="34" charset="0"/>
              </a:rPr>
              <a:t>000</a:t>
            </a:r>
            <a:r>
              <a:rPr lang="en-US" altLang="zh-CN" dirty="0">
                <a:solidFill>
                  <a:srgbClr val="0000FF"/>
                </a:solidFill>
                <a:latin typeface="Tahoma" panose="020B0604030504040204" pitchFamily="34" charset="0"/>
              </a:rPr>
              <a:t>  0 0000 0000  0000B         30000H</a:t>
            </a:r>
            <a:endParaRPr lang="en-US" altLang="zh-CN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r>
              <a:rPr lang="en-US" altLang="zh-CN" dirty="0">
                <a:solidFill>
                  <a:srgbClr val="0000FF"/>
                </a:solidFill>
                <a:latin typeface="Tahoma" panose="020B0604030504040204" pitchFamily="34" charset="0"/>
              </a:rPr>
              <a:t>              </a:t>
            </a:r>
            <a:r>
              <a:rPr lang="en-US" altLang="zh-CN" dirty="0">
                <a:solidFill>
                  <a:srgbClr val="00B050"/>
                </a:solidFill>
                <a:sym typeface="+mn-ea"/>
              </a:rPr>
              <a:t>00</a:t>
            </a:r>
            <a:r>
              <a:rPr lang="en-US" altLang="zh-CN" dirty="0">
                <a:solidFill>
                  <a:srgbClr val="00B050"/>
                </a:solidFill>
                <a:latin typeface="Tahoma" panose="020B0604030504040204" pitchFamily="34" charset="0"/>
              </a:rPr>
              <a:t>11</a:t>
            </a:r>
            <a:r>
              <a:rPr lang="en-US" altLang="zh-CN" dirty="0">
                <a:solidFill>
                  <a:srgbClr val="0000FF"/>
                </a:solidFill>
                <a:latin typeface="Tahoma" panose="020B0604030504040204" pitchFamily="34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Tahoma" panose="020B0604030504040204" pitchFamily="34" charset="0"/>
              </a:rPr>
              <a:t>000</a:t>
            </a:r>
            <a:r>
              <a:rPr lang="en-US" altLang="zh-CN" dirty="0">
                <a:solidFill>
                  <a:srgbClr val="0000FF"/>
                </a:solidFill>
                <a:latin typeface="Tahoma" panose="020B0604030504040204" pitchFamily="34" charset="0"/>
              </a:rPr>
              <a:t>  1 1111 1111  1111B         31FFFH</a:t>
            </a:r>
            <a:endParaRPr lang="en-US" altLang="zh-CN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r>
              <a:rPr lang="en-US" altLang="zh-CN" dirty="0">
                <a:solidFill>
                  <a:srgbClr val="0000FF"/>
                </a:solidFill>
                <a:latin typeface="Tahoma" panose="020B0604030504040204" pitchFamily="34" charset="0"/>
              </a:rPr>
              <a:t>M1</a:t>
            </a:r>
            <a:r>
              <a:rPr lang="zh-CN" altLang="en-US" dirty="0">
                <a:solidFill>
                  <a:srgbClr val="0000FF"/>
                </a:solidFill>
                <a:latin typeface="Tahoma" panose="020B0604030504040204" pitchFamily="34" charset="0"/>
              </a:rPr>
              <a:t>：</a:t>
            </a:r>
            <a:r>
              <a:rPr lang="en-US" altLang="zh-CN" dirty="0">
                <a:solidFill>
                  <a:srgbClr val="0000FF"/>
                </a:solidFill>
                <a:latin typeface="Tahoma" panose="020B0604030504040204" pitchFamily="34" charset="0"/>
              </a:rPr>
              <a:t>               M2</a:t>
            </a:r>
            <a:r>
              <a:rPr lang="zh-CN" altLang="en-US" dirty="0">
                <a:solidFill>
                  <a:srgbClr val="0000FF"/>
                </a:solidFill>
                <a:latin typeface="Tahoma" panose="020B0604030504040204" pitchFamily="34" charset="0"/>
              </a:rPr>
              <a:t>：</a:t>
            </a:r>
            <a:r>
              <a:rPr lang="en-US" altLang="zh-CN" dirty="0">
                <a:solidFill>
                  <a:srgbClr val="0000FF"/>
                </a:solidFill>
                <a:latin typeface="Tahoma" panose="020B0604030504040204" pitchFamily="34" charset="0"/>
              </a:rPr>
              <a:t>               M3</a:t>
            </a:r>
            <a:r>
              <a:rPr lang="zh-CN" altLang="en-US" dirty="0">
                <a:solidFill>
                  <a:srgbClr val="0000FF"/>
                </a:solidFill>
                <a:latin typeface="Tahoma" panose="020B0604030504040204" pitchFamily="34" charset="0"/>
              </a:rPr>
              <a:t>：</a:t>
            </a:r>
            <a:endParaRPr lang="zh-CN" altLang="en-US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pic>
        <p:nvPicPr>
          <p:cNvPr id="36868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6860" y="1877060"/>
            <a:ext cx="6453188" cy="36083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43" name="矩形 59"/>
          <p:cNvSpPr/>
          <p:nvPr>
            <p:custDataLst>
              <p:tags r:id="rId2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4.2.2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存储器扩展与译码方式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6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Line 2"/>
          <p:cNvSpPr/>
          <p:nvPr/>
        </p:nvSpPr>
        <p:spPr>
          <a:xfrm>
            <a:off x="2209800" y="2286000"/>
            <a:ext cx="6248400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round/>
            <a:headEnd type="triangle" w="med" len="med"/>
            <a:tailEnd type="triangle" w="med" len="med"/>
          </a:ln>
        </p:spPr>
      </p:sp>
      <p:sp>
        <p:nvSpPr>
          <p:cNvPr id="37890" name="Line 3"/>
          <p:cNvSpPr/>
          <p:nvPr/>
        </p:nvSpPr>
        <p:spPr>
          <a:xfrm>
            <a:off x="4648200" y="2209800"/>
            <a:ext cx="762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7891" name="Rectangle 4"/>
          <p:cNvSpPr/>
          <p:nvPr/>
        </p:nvSpPr>
        <p:spPr>
          <a:xfrm>
            <a:off x="2286000" y="1851343"/>
            <a:ext cx="9874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D</a:t>
            </a:r>
            <a:r>
              <a:rPr lang="en-US" altLang="zh-CN" b="1" baseline="-25000" dirty="0">
                <a:solidFill>
                  <a:srgbClr val="FF0000"/>
                </a:solidFill>
                <a:latin typeface="Tahoma" panose="020B0604030504040204" pitchFamily="34" charset="0"/>
              </a:rPr>
              <a:t>7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~D</a:t>
            </a:r>
            <a:r>
              <a:rPr lang="en-US" altLang="zh-CN" b="1" baseline="-25000" dirty="0">
                <a:solidFill>
                  <a:srgbClr val="FF0000"/>
                </a:solidFill>
                <a:latin typeface="Tahoma" panose="020B0604030504040204" pitchFamily="34" charset="0"/>
              </a:rPr>
              <a:t>0</a:t>
            </a:r>
            <a:endParaRPr lang="en-US" altLang="zh-CN" b="1" baseline="-250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37892" name="Rectangle 5"/>
          <p:cNvSpPr/>
          <p:nvPr/>
        </p:nvSpPr>
        <p:spPr>
          <a:xfrm>
            <a:off x="914400" y="2133600"/>
            <a:ext cx="1295400" cy="3333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endParaRPr lang="en-US" altLang="zh-CN" sz="2000" b="1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endParaRPr lang="en-US" altLang="zh-CN" sz="2000" b="1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algn="ctr"/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CPU</a:t>
            </a:r>
            <a:endParaRPr lang="en-US" altLang="zh-CN" b="1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algn="ctr"/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 (8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位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)</a:t>
            </a:r>
            <a:endParaRPr lang="en-US" altLang="zh-CN" b="1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endParaRPr lang="en-US" altLang="zh-CN" b="1" baseline="-250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endParaRPr lang="en-US" altLang="zh-CN" b="1" baseline="-250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endParaRPr lang="en-US" altLang="zh-CN" b="1" baseline="-250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endParaRPr lang="en-US" altLang="zh-CN" b="1" baseline="-250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endParaRPr lang="en-US" altLang="zh-CN" sz="2000" b="1" baseline="-250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endParaRPr lang="en-US" altLang="zh-CN" sz="2000" b="1" baseline="-250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endParaRPr lang="en-US" altLang="zh-CN" sz="2000" b="1" baseline="-250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endParaRPr lang="en-US" altLang="zh-CN" sz="2000" b="1" baseline="-250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6248400" y="2286000"/>
            <a:ext cx="2209800" cy="4343400"/>
            <a:chOff x="3936" y="1440"/>
            <a:chExt cx="1392" cy="2736"/>
          </a:xfrm>
        </p:grpSpPr>
        <p:grpSp>
          <p:nvGrpSpPr>
            <p:cNvPr id="37894" name="Group 7"/>
            <p:cNvGrpSpPr/>
            <p:nvPr/>
          </p:nvGrpSpPr>
          <p:grpSpPr>
            <a:xfrm>
              <a:off x="3936" y="1776"/>
              <a:ext cx="1392" cy="2400"/>
              <a:chOff x="1200" y="240"/>
              <a:chExt cx="1392" cy="2544"/>
            </a:xfrm>
          </p:grpSpPr>
          <p:grpSp>
            <p:nvGrpSpPr>
              <p:cNvPr id="37895" name="Group 8"/>
              <p:cNvGrpSpPr/>
              <p:nvPr/>
            </p:nvGrpSpPr>
            <p:grpSpPr>
              <a:xfrm>
                <a:off x="1872" y="288"/>
                <a:ext cx="720" cy="1248"/>
                <a:chOff x="4224" y="240"/>
                <a:chExt cx="720" cy="1248"/>
              </a:xfrm>
            </p:grpSpPr>
            <p:sp>
              <p:nvSpPr>
                <p:cNvPr id="37896" name="Rectangle 9"/>
                <p:cNvSpPr/>
                <p:nvPr/>
              </p:nvSpPr>
              <p:spPr>
                <a:xfrm>
                  <a:off x="4224" y="240"/>
                  <a:ext cx="720" cy="1248"/>
                </a:xfrm>
                <a:prstGeom prst="rect">
                  <a:avLst/>
                </a:prstGeom>
                <a:solidFill>
                  <a:srgbClr val="99FFCC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sz="2800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7897" name="Line 10"/>
                <p:cNvSpPr/>
                <p:nvPr/>
              </p:nvSpPr>
              <p:spPr>
                <a:xfrm>
                  <a:off x="4224" y="528"/>
                  <a:ext cx="72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7898" name="Line 11"/>
                <p:cNvSpPr/>
                <p:nvPr/>
              </p:nvSpPr>
              <p:spPr>
                <a:xfrm>
                  <a:off x="4224" y="768"/>
                  <a:ext cx="72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7899" name="Line 12"/>
                <p:cNvSpPr/>
                <p:nvPr/>
              </p:nvSpPr>
              <p:spPr>
                <a:xfrm>
                  <a:off x="4224" y="1008"/>
                  <a:ext cx="72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7900" name="Line 13"/>
                <p:cNvSpPr/>
                <p:nvPr/>
              </p:nvSpPr>
              <p:spPr>
                <a:xfrm>
                  <a:off x="4224" y="1248"/>
                  <a:ext cx="72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7901" name="Line 14"/>
                <p:cNvSpPr/>
                <p:nvPr/>
              </p:nvSpPr>
              <p:spPr>
                <a:xfrm>
                  <a:off x="4224" y="1488"/>
                  <a:ext cx="72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37902" name="Text Box 15"/>
              <p:cNvSpPr txBox="1"/>
              <p:nvPr/>
            </p:nvSpPr>
            <p:spPr>
              <a:xfrm>
                <a:off x="1200" y="288"/>
                <a:ext cx="1008" cy="22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90000"/>
                  </a:lnSpc>
                </a:pPr>
                <a:r>
                  <a:rPr lang="en-US" altLang="zh-CN" dirty="0">
                    <a:latin typeface="Tahoma" panose="020B0604030504040204" pitchFamily="34" charset="0"/>
                  </a:rPr>
                  <a:t>2000H</a:t>
                </a:r>
                <a:endParaRPr lang="en-US" altLang="zh-CN" dirty="0">
                  <a:latin typeface="Tahoma" panose="020B0604030504040204" pitchFamily="34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zh-CN" dirty="0">
                    <a:latin typeface="Tahoma" panose="020B0604030504040204" pitchFamily="34" charset="0"/>
                  </a:rPr>
                  <a:t>2001H</a:t>
                </a:r>
                <a:endParaRPr lang="en-US" altLang="zh-CN" dirty="0">
                  <a:latin typeface="Tahoma" panose="020B0604030504040204" pitchFamily="34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zh-CN" dirty="0">
                    <a:latin typeface="Tahoma" panose="020B0604030504040204" pitchFamily="34" charset="0"/>
                  </a:rPr>
                  <a:t>2002H</a:t>
                </a:r>
                <a:endParaRPr lang="en-US" altLang="zh-CN" dirty="0">
                  <a:latin typeface="Tahoma" panose="020B0604030504040204" pitchFamily="34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zh-CN" dirty="0">
                    <a:latin typeface="Tahoma" panose="020B0604030504040204" pitchFamily="34" charset="0"/>
                  </a:rPr>
                  <a:t>2003H</a:t>
                </a:r>
                <a:endParaRPr lang="en-US" altLang="zh-CN" dirty="0">
                  <a:latin typeface="Tahoma" panose="020B0604030504040204" pitchFamily="34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zh-CN" dirty="0">
                    <a:latin typeface="Tahoma" panose="020B0604030504040204" pitchFamily="34" charset="0"/>
                  </a:rPr>
                  <a:t>2004H</a:t>
                </a:r>
                <a:endParaRPr lang="en-US" altLang="zh-CN" dirty="0">
                  <a:latin typeface="Tahoma" panose="020B0604030504040204" pitchFamily="34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zh-CN" dirty="0">
                    <a:latin typeface="Tahoma" panose="020B0604030504040204" pitchFamily="34" charset="0"/>
                  </a:rPr>
                  <a:t>2005H</a:t>
                </a:r>
                <a:endParaRPr lang="en-US" altLang="zh-CN" dirty="0">
                  <a:latin typeface="Tahoma" panose="020B0604030504040204" pitchFamily="34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zh-CN" dirty="0">
                    <a:latin typeface="Tahoma" panose="020B0604030504040204" pitchFamily="34" charset="0"/>
                  </a:rPr>
                  <a:t>2006H</a:t>
                </a:r>
                <a:endParaRPr lang="en-US" altLang="zh-CN" dirty="0">
                  <a:latin typeface="Tahoma" panose="020B0604030504040204" pitchFamily="34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zh-CN" dirty="0">
                    <a:latin typeface="Tahoma" panose="020B0604030504040204" pitchFamily="34" charset="0"/>
                  </a:rPr>
                  <a:t>2007H</a:t>
                </a:r>
                <a:endParaRPr lang="en-US" altLang="zh-CN" dirty="0">
                  <a:latin typeface="Tahoma" panose="020B0604030504040204" pitchFamily="34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zh-CN" dirty="0">
                    <a:latin typeface="Tahoma" panose="020B0604030504040204" pitchFamily="34" charset="0"/>
                  </a:rPr>
                  <a:t>2008H</a:t>
                </a:r>
                <a:endParaRPr lang="en-US" altLang="zh-CN" dirty="0">
                  <a:latin typeface="Tahoma" panose="020B0604030504040204" pitchFamily="34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US" altLang="zh-CN" dirty="0">
                    <a:latin typeface="Tahoma" panose="020B0604030504040204" pitchFamily="34" charset="0"/>
                  </a:rPr>
                  <a:t>2009H</a:t>
                </a:r>
                <a:endParaRPr lang="en-US" altLang="zh-CN" dirty="0">
                  <a:latin typeface="Tahoma" panose="020B0604030504040204" pitchFamily="34" charset="0"/>
                </a:endParaRPr>
              </a:p>
            </p:txBody>
          </p:sp>
          <p:grpSp>
            <p:nvGrpSpPr>
              <p:cNvPr id="37903" name="Group 16"/>
              <p:cNvGrpSpPr/>
              <p:nvPr/>
            </p:nvGrpSpPr>
            <p:grpSpPr>
              <a:xfrm>
                <a:off x="1872" y="1536"/>
                <a:ext cx="720" cy="1248"/>
                <a:chOff x="4224" y="240"/>
                <a:chExt cx="720" cy="1248"/>
              </a:xfrm>
            </p:grpSpPr>
            <p:sp>
              <p:nvSpPr>
                <p:cNvPr id="37904" name="Rectangle 17"/>
                <p:cNvSpPr/>
                <p:nvPr/>
              </p:nvSpPr>
              <p:spPr>
                <a:xfrm>
                  <a:off x="4224" y="240"/>
                  <a:ext cx="720" cy="1248"/>
                </a:xfrm>
                <a:prstGeom prst="rect">
                  <a:avLst/>
                </a:prstGeom>
                <a:solidFill>
                  <a:srgbClr val="99FFCC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sz="2800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7905" name="Line 18"/>
                <p:cNvSpPr/>
                <p:nvPr/>
              </p:nvSpPr>
              <p:spPr>
                <a:xfrm>
                  <a:off x="4224" y="528"/>
                  <a:ext cx="72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7906" name="Line 19"/>
                <p:cNvSpPr/>
                <p:nvPr/>
              </p:nvSpPr>
              <p:spPr>
                <a:xfrm>
                  <a:off x="4224" y="768"/>
                  <a:ext cx="72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7907" name="Line 20"/>
                <p:cNvSpPr/>
                <p:nvPr/>
              </p:nvSpPr>
              <p:spPr>
                <a:xfrm>
                  <a:off x="4224" y="1008"/>
                  <a:ext cx="72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7908" name="Line 21"/>
                <p:cNvSpPr/>
                <p:nvPr/>
              </p:nvSpPr>
              <p:spPr>
                <a:xfrm>
                  <a:off x="4224" y="1248"/>
                  <a:ext cx="72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7909" name="Line 22"/>
                <p:cNvSpPr/>
                <p:nvPr/>
              </p:nvSpPr>
              <p:spPr>
                <a:xfrm>
                  <a:off x="4224" y="1488"/>
                  <a:ext cx="72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37910" name="Text Box 23"/>
              <p:cNvSpPr txBox="1"/>
              <p:nvPr/>
            </p:nvSpPr>
            <p:spPr>
              <a:xfrm>
                <a:off x="2016" y="240"/>
                <a:ext cx="432" cy="237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>
                  <a:lnSpc>
                    <a:spcPct val="105000"/>
                  </a:lnSpc>
                </a:pPr>
                <a:r>
                  <a:rPr lang="en-US" altLang="zh-CN" dirty="0">
                    <a:latin typeface="Tahoma" panose="020B0604030504040204" pitchFamily="34" charset="0"/>
                  </a:rPr>
                  <a:t>11</a:t>
                </a:r>
                <a:endParaRPr lang="en-US" altLang="zh-CN" dirty="0">
                  <a:latin typeface="Tahoma" panose="020B0604030504040204" pitchFamily="34" charset="0"/>
                </a:endParaRPr>
              </a:p>
              <a:p>
                <a:pPr>
                  <a:lnSpc>
                    <a:spcPct val="105000"/>
                  </a:lnSpc>
                </a:pPr>
                <a:r>
                  <a:rPr lang="en-US" altLang="zh-CN" dirty="0">
                    <a:latin typeface="Tahoma" panose="020B0604030504040204" pitchFamily="34" charset="0"/>
                  </a:rPr>
                  <a:t>22</a:t>
                </a:r>
                <a:endParaRPr lang="en-US" altLang="zh-CN" dirty="0">
                  <a:latin typeface="Tahoma" panose="020B0604030504040204" pitchFamily="34" charset="0"/>
                </a:endParaRPr>
              </a:p>
              <a:p>
                <a:pPr>
                  <a:lnSpc>
                    <a:spcPct val="105000"/>
                  </a:lnSpc>
                </a:pPr>
                <a:r>
                  <a:rPr lang="en-US" altLang="zh-CN" dirty="0">
                    <a:latin typeface="Tahoma" panose="020B0604030504040204" pitchFamily="34" charset="0"/>
                  </a:rPr>
                  <a:t>33</a:t>
                </a:r>
                <a:endParaRPr lang="en-US" altLang="zh-CN" dirty="0">
                  <a:latin typeface="Tahoma" panose="020B0604030504040204" pitchFamily="34" charset="0"/>
                </a:endParaRPr>
              </a:p>
              <a:p>
                <a:pPr>
                  <a:lnSpc>
                    <a:spcPct val="105000"/>
                  </a:lnSpc>
                </a:pPr>
                <a:r>
                  <a:rPr lang="en-US" altLang="zh-CN" dirty="0">
                    <a:latin typeface="Tahoma" panose="020B0604030504040204" pitchFamily="34" charset="0"/>
                  </a:rPr>
                  <a:t>44</a:t>
                </a:r>
                <a:endParaRPr lang="en-US" altLang="zh-CN" dirty="0">
                  <a:latin typeface="Tahoma" panose="020B0604030504040204" pitchFamily="34" charset="0"/>
                </a:endParaRPr>
              </a:p>
              <a:p>
                <a:pPr>
                  <a:lnSpc>
                    <a:spcPct val="105000"/>
                  </a:lnSpc>
                </a:pPr>
                <a:r>
                  <a:rPr lang="en-US" altLang="zh-CN" dirty="0">
                    <a:latin typeface="Tahoma" panose="020B0604030504040204" pitchFamily="34" charset="0"/>
                  </a:rPr>
                  <a:t>55</a:t>
                </a:r>
                <a:endParaRPr lang="en-US" altLang="zh-CN" dirty="0">
                  <a:latin typeface="Tahoma" panose="020B0604030504040204" pitchFamily="34" charset="0"/>
                </a:endParaRPr>
              </a:p>
              <a:p>
                <a:pPr>
                  <a:lnSpc>
                    <a:spcPct val="105000"/>
                  </a:lnSpc>
                </a:pPr>
                <a:r>
                  <a:rPr lang="en-US" altLang="zh-CN" dirty="0">
                    <a:latin typeface="Tahoma" panose="020B0604030504040204" pitchFamily="34" charset="0"/>
                  </a:rPr>
                  <a:t>66</a:t>
                </a:r>
                <a:endParaRPr lang="en-US" altLang="zh-CN" dirty="0">
                  <a:latin typeface="Tahoma" panose="020B0604030504040204" pitchFamily="34" charset="0"/>
                </a:endParaRPr>
              </a:p>
              <a:p>
                <a:pPr>
                  <a:lnSpc>
                    <a:spcPct val="105000"/>
                  </a:lnSpc>
                </a:pPr>
                <a:r>
                  <a:rPr lang="en-US" altLang="zh-CN" dirty="0">
                    <a:latin typeface="Tahoma" panose="020B0604030504040204" pitchFamily="34" charset="0"/>
                  </a:rPr>
                  <a:t>77</a:t>
                </a:r>
                <a:endParaRPr lang="en-US" altLang="zh-CN" dirty="0">
                  <a:latin typeface="Tahoma" panose="020B0604030504040204" pitchFamily="34" charset="0"/>
                </a:endParaRPr>
              </a:p>
              <a:p>
                <a:pPr>
                  <a:lnSpc>
                    <a:spcPct val="105000"/>
                  </a:lnSpc>
                </a:pPr>
                <a:r>
                  <a:rPr lang="en-US" altLang="zh-CN" dirty="0">
                    <a:latin typeface="Tahoma" panose="020B0604030504040204" pitchFamily="34" charset="0"/>
                  </a:rPr>
                  <a:t>88</a:t>
                </a:r>
                <a:endParaRPr lang="en-US" altLang="zh-CN" dirty="0">
                  <a:latin typeface="Tahoma" panose="020B0604030504040204" pitchFamily="34" charset="0"/>
                </a:endParaRPr>
              </a:p>
              <a:p>
                <a:pPr>
                  <a:lnSpc>
                    <a:spcPct val="105000"/>
                  </a:lnSpc>
                </a:pPr>
                <a:r>
                  <a:rPr lang="en-US" altLang="zh-CN" dirty="0">
                    <a:latin typeface="Tahoma" panose="020B0604030504040204" pitchFamily="34" charset="0"/>
                  </a:rPr>
                  <a:t>99</a:t>
                </a:r>
                <a:endParaRPr lang="en-US" altLang="zh-CN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37911" name="Line 24"/>
            <p:cNvSpPr/>
            <p:nvPr/>
          </p:nvSpPr>
          <p:spPr>
            <a:xfrm>
              <a:off x="4896" y="1440"/>
              <a:ext cx="0" cy="384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round/>
              <a:headEnd type="triangle" w="med" len="med"/>
              <a:tailEnd type="triangle" w="med" len="med"/>
            </a:ln>
          </p:spPr>
        </p:sp>
        <p:sp>
          <p:nvSpPr>
            <p:cNvPr id="37912" name="Rectangle 25"/>
            <p:cNvSpPr/>
            <p:nvPr/>
          </p:nvSpPr>
          <p:spPr>
            <a:xfrm>
              <a:off x="4224" y="1457"/>
              <a:ext cx="62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b="1" dirty="0">
                  <a:solidFill>
                    <a:srgbClr val="FF0000"/>
                  </a:solidFill>
                  <a:latin typeface="Tahoma" panose="020B0604030504040204" pitchFamily="34" charset="0"/>
                </a:rPr>
                <a:t>D</a:t>
              </a:r>
              <a:r>
                <a:rPr lang="en-US" altLang="zh-CN" b="1" baseline="-25000" dirty="0">
                  <a:solidFill>
                    <a:srgbClr val="FF0000"/>
                  </a:solidFill>
                  <a:latin typeface="Tahoma" panose="020B0604030504040204" pitchFamily="34" charset="0"/>
                </a:rPr>
                <a:t>7</a:t>
              </a:r>
              <a:r>
                <a:rPr lang="en-US" altLang="zh-CN" b="1" dirty="0">
                  <a:solidFill>
                    <a:srgbClr val="FF0000"/>
                  </a:solidFill>
                  <a:latin typeface="Tahoma" panose="020B0604030504040204" pitchFamily="34" charset="0"/>
                </a:rPr>
                <a:t>~D</a:t>
              </a:r>
              <a:r>
                <a:rPr lang="en-US" altLang="zh-CN" b="1" baseline="-25000" dirty="0">
                  <a:solidFill>
                    <a:srgbClr val="FF0000"/>
                  </a:solidFill>
                  <a:latin typeface="Tahoma" panose="020B0604030504040204" pitchFamily="34" charset="0"/>
                </a:rPr>
                <a:t>0</a:t>
              </a:r>
              <a:endParaRPr lang="en-US" altLang="zh-CN" b="1" baseline="-250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37913" name="Text Box 26"/>
          <p:cNvSpPr txBox="1"/>
          <p:nvPr/>
        </p:nvSpPr>
        <p:spPr>
          <a:xfrm>
            <a:off x="4495800" y="1828800"/>
            <a:ext cx="3810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800" dirty="0">
                <a:latin typeface="Tahoma" panose="020B0604030504040204" pitchFamily="34" charset="0"/>
              </a:rPr>
              <a:t>8</a:t>
            </a:r>
            <a:endParaRPr lang="en-US" altLang="zh-CN" sz="2800" dirty="0">
              <a:latin typeface="Tahoma" panose="020B0604030504040204" pitchFamily="34" charset="0"/>
            </a:endParaRPr>
          </a:p>
        </p:txBody>
      </p:sp>
      <p:sp>
        <p:nvSpPr>
          <p:cNvPr id="37915" name="Rectangle 35"/>
          <p:cNvSpPr/>
          <p:nvPr/>
        </p:nvSpPr>
        <p:spPr>
          <a:xfrm>
            <a:off x="546735" y="1493203"/>
            <a:ext cx="7853363" cy="4603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  <a:latin typeface="Tahoma" panose="020B0604030504040204" pitchFamily="34" charset="0"/>
              </a:rPr>
              <a:t>1. </a:t>
            </a:r>
            <a:r>
              <a:rPr lang="zh-CN" altLang="en-US" b="1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存储器系统结构</a:t>
            </a:r>
            <a:r>
              <a:rPr lang="en-US" altLang="zh-CN" b="1" dirty="0">
                <a:solidFill>
                  <a:schemeClr val="tx1"/>
                </a:solidFill>
                <a:latin typeface="Tahoma" panose="020B0604030504040204" pitchFamily="34" charset="0"/>
              </a:rPr>
              <a:t>-- </a:t>
            </a:r>
            <a:r>
              <a:rPr lang="en-US" altLang="zh-CN" b="1" dirty="0">
                <a:sym typeface="+mn-ea"/>
              </a:rPr>
              <a:t>8</a:t>
            </a:r>
            <a:r>
              <a:rPr lang="zh-CN" altLang="en-US" b="1" dirty="0">
                <a:sym typeface="+mn-ea"/>
              </a:rPr>
              <a:t>位</a:t>
            </a:r>
            <a:r>
              <a:rPr lang="en-US" altLang="zh-CN" b="1" dirty="0">
                <a:solidFill>
                  <a:schemeClr val="tx1"/>
                </a:solidFill>
                <a:latin typeface="Tahoma" panose="020B0604030504040204" pitchFamily="34" charset="0"/>
              </a:rPr>
              <a:t>CPU</a:t>
            </a:r>
            <a:r>
              <a:rPr lang="zh-CN" altLang="en-US" b="1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与存储器数据线连接</a:t>
            </a:r>
            <a:endParaRPr lang="zh-CN" altLang="en-US" b="1" dirty="0">
              <a:solidFill>
                <a:schemeClr val="tx1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4.2.3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存储器系统设计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02" name="Text Box 2"/>
          <p:cNvSpPr txBox="1"/>
          <p:nvPr/>
        </p:nvSpPr>
        <p:spPr>
          <a:xfrm>
            <a:off x="5181600" y="5661025"/>
            <a:ext cx="25146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har char="•"/>
            </a:pP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奇偶分体结构</a:t>
            </a:r>
            <a:endParaRPr lang="zh-CN" altLang="en-US" b="1" dirty="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3429000" y="2962910"/>
            <a:ext cx="2286000" cy="2057400"/>
            <a:chOff x="528" y="1296"/>
            <a:chExt cx="1440" cy="1296"/>
          </a:xfrm>
        </p:grpSpPr>
        <p:grpSp>
          <p:nvGrpSpPr>
            <p:cNvPr id="38915" name="Group 4"/>
            <p:cNvGrpSpPr/>
            <p:nvPr/>
          </p:nvGrpSpPr>
          <p:grpSpPr>
            <a:xfrm>
              <a:off x="1248" y="1344"/>
              <a:ext cx="720" cy="1248"/>
              <a:chOff x="4224" y="240"/>
              <a:chExt cx="720" cy="1248"/>
            </a:xfrm>
          </p:grpSpPr>
          <p:sp>
            <p:nvSpPr>
              <p:cNvPr id="38916" name="Rectangle 5"/>
              <p:cNvSpPr/>
              <p:nvPr/>
            </p:nvSpPr>
            <p:spPr>
              <a:xfrm>
                <a:off x="4224" y="240"/>
                <a:ext cx="720" cy="1248"/>
              </a:xfrm>
              <a:prstGeom prst="rect">
                <a:avLst/>
              </a:prstGeom>
              <a:solidFill>
                <a:srgbClr val="99FFCC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sz="28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917" name="Line 6"/>
              <p:cNvSpPr/>
              <p:nvPr/>
            </p:nvSpPr>
            <p:spPr>
              <a:xfrm>
                <a:off x="4224" y="528"/>
                <a:ext cx="72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8918" name="Line 7"/>
              <p:cNvSpPr/>
              <p:nvPr/>
            </p:nvSpPr>
            <p:spPr>
              <a:xfrm>
                <a:off x="4224" y="768"/>
                <a:ext cx="72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8919" name="Line 8"/>
              <p:cNvSpPr/>
              <p:nvPr/>
            </p:nvSpPr>
            <p:spPr>
              <a:xfrm>
                <a:off x="4224" y="1008"/>
                <a:ext cx="72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8920" name="Line 9"/>
              <p:cNvSpPr/>
              <p:nvPr/>
            </p:nvSpPr>
            <p:spPr>
              <a:xfrm>
                <a:off x="4224" y="1248"/>
                <a:ext cx="72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8921" name="Line 10"/>
              <p:cNvSpPr/>
              <p:nvPr/>
            </p:nvSpPr>
            <p:spPr>
              <a:xfrm>
                <a:off x="4224" y="1488"/>
                <a:ext cx="72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8922" name="Text Box 11"/>
            <p:cNvSpPr txBox="1"/>
            <p:nvPr/>
          </p:nvSpPr>
          <p:spPr>
            <a:xfrm>
              <a:off x="1392" y="1344"/>
              <a:ext cx="432" cy="97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dirty="0">
                  <a:latin typeface="Tahoma" panose="020B0604030504040204" pitchFamily="34" charset="0"/>
                </a:rPr>
                <a:t>11</a:t>
              </a:r>
              <a:endParaRPr lang="en-US" altLang="zh-CN" dirty="0">
                <a:latin typeface="Tahoma" panose="020B0604030504040204" pitchFamily="34" charset="0"/>
              </a:endParaRPr>
            </a:p>
            <a:p>
              <a:r>
                <a:rPr lang="en-US" altLang="zh-CN" dirty="0">
                  <a:latin typeface="Tahoma" panose="020B0604030504040204" pitchFamily="34" charset="0"/>
                </a:rPr>
                <a:t>33</a:t>
              </a:r>
              <a:endParaRPr lang="en-US" altLang="zh-CN" dirty="0">
                <a:latin typeface="Tahoma" panose="020B0604030504040204" pitchFamily="34" charset="0"/>
              </a:endParaRPr>
            </a:p>
            <a:p>
              <a:r>
                <a:rPr lang="en-US" altLang="zh-CN" dirty="0">
                  <a:latin typeface="Tahoma" panose="020B0604030504040204" pitchFamily="34" charset="0"/>
                </a:rPr>
                <a:t>55</a:t>
              </a:r>
              <a:endParaRPr lang="en-US" altLang="zh-CN" dirty="0">
                <a:latin typeface="Tahoma" panose="020B0604030504040204" pitchFamily="34" charset="0"/>
              </a:endParaRPr>
            </a:p>
            <a:p>
              <a:r>
                <a:rPr lang="en-US" altLang="zh-CN" dirty="0">
                  <a:latin typeface="Tahoma" panose="020B0604030504040204" pitchFamily="34" charset="0"/>
                </a:rPr>
                <a:t>77</a:t>
              </a:r>
              <a:endParaRPr lang="en-US" altLang="zh-CN" dirty="0">
                <a:latin typeface="Tahoma" panose="020B0604030504040204" pitchFamily="34" charset="0"/>
              </a:endParaRPr>
            </a:p>
          </p:txBody>
        </p:sp>
        <p:sp>
          <p:nvSpPr>
            <p:cNvPr id="38923" name="Text Box 12"/>
            <p:cNvSpPr txBox="1"/>
            <p:nvPr/>
          </p:nvSpPr>
          <p:spPr>
            <a:xfrm>
              <a:off x="528" y="1296"/>
              <a:ext cx="1008" cy="97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dirty="0">
                  <a:latin typeface="Tahoma" panose="020B0604030504040204" pitchFamily="34" charset="0"/>
                </a:rPr>
                <a:t>2000H</a:t>
              </a:r>
              <a:endParaRPr lang="en-US" altLang="zh-CN" dirty="0">
                <a:latin typeface="Tahoma" panose="020B0604030504040204" pitchFamily="34" charset="0"/>
              </a:endParaRPr>
            </a:p>
            <a:p>
              <a:r>
                <a:rPr lang="en-US" altLang="zh-CN" dirty="0">
                  <a:latin typeface="Tahoma" panose="020B0604030504040204" pitchFamily="34" charset="0"/>
                </a:rPr>
                <a:t>2002H</a:t>
              </a:r>
              <a:endParaRPr lang="en-US" altLang="zh-CN" dirty="0">
                <a:latin typeface="Tahoma" panose="020B0604030504040204" pitchFamily="34" charset="0"/>
              </a:endParaRPr>
            </a:p>
            <a:p>
              <a:r>
                <a:rPr lang="en-US" altLang="zh-CN" dirty="0">
                  <a:latin typeface="Tahoma" panose="020B0604030504040204" pitchFamily="34" charset="0"/>
                </a:rPr>
                <a:t>2004H</a:t>
              </a:r>
              <a:endParaRPr lang="en-US" altLang="zh-CN" dirty="0">
                <a:latin typeface="Tahoma" panose="020B0604030504040204" pitchFamily="34" charset="0"/>
              </a:endParaRPr>
            </a:p>
            <a:p>
              <a:r>
                <a:rPr lang="en-US" altLang="zh-CN" dirty="0">
                  <a:latin typeface="Tahoma" panose="020B0604030504040204" pitchFamily="34" charset="0"/>
                </a:rPr>
                <a:t>2006H</a:t>
              </a:r>
              <a:endParaRPr lang="en-US" altLang="zh-CN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4" name="Group 13"/>
          <p:cNvGrpSpPr/>
          <p:nvPr/>
        </p:nvGrpSpPr>
        <p:grpSpPr>
          <a:xfrm>
            <a:off x="6096000" y="2886710"/>
            <a:ext cx="2286000" cy="2057400"/>
            <a:chOff x="528" y="1296"/>
            <a:chExt cx="1440" cy="1296"/>
          </a:xfrm>
        </p:grpSpPr>
        <p:grpSp>
          <p:nvGrpSpPr>
            <p:cNvPr id="38925" name="Group 14"/>
            <p:cNvGrpSpPr/>
            <p:nvPr/>
          </p:nvGrpSpPr>
          <p:grpSpPr>
            <a:xfrm>
              <a:off x="1248" y="1344"/>
              <a:ext cx="720" cy="1248"/>
              <a:chOff x="4224" y="240"/>
              <a:chExt cx="720" cy="1248"/>
            </a:xfrm>
          </p:grpSpPr>
          <p:sp>
            <p:nvSpPr>
              <p:cNvPr id="38926" name="Rectangle 15"/>
              <p:cNvSpPr/>
              <p:nvPr/>
            </p:nvSpPr>
            <p:spPr>
              <a:xfrm>
                <a:off x="4224" y="240"/>
                <a:ext cx="720" cy="1248"/>
              </a:xfrm>
              <a:prstGeom prst="rect">
                <a:avLst/>
              </a:prstGeom>
              <a:solidFill>
                <a:srgbClr val="99FFCC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sz="28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927" name="Line 16"/>
              <p:cNvSpPr/>
              <p:nvPr/>
            </p:nvSpPr>
            <p:spPr>
              <a:xfrm>
                <a:off x="4224" y="528"/>
                <a:ext cx="72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8928" name="Line 17"/>
              <p:cNvSpPr/>
              <p:nvPr/>
            </p:nvSpPr>
            <p:spPr>
              <a:xfrm>
                <a:off x="4224" y="768"/>
                <a:ext cx="72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8929" name="Line 18"/>
              <p:cNvSpPr/>
              <p:nvPr/>
            </p:nvSpPr>
            <p:spPr>
              <a:xfrm>
                <a:off x="4224" y="1008"/>
                <a:ext cx="72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8930" name="Line 19"/>
              <p:cNvSpPr/>
              <p:nvPr/>
            </p:nvSpPr>
            <p:spPr>
              <a:xfrm>
                <a:off x="4224" y="1248"/>
                <a:ext cx="72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8931" name="Line 20"/>
              <p:cNvSpPr/>
              <p:nvPr/>
            </p:nvSpPr>
            <p:spPr>
              <a:xfrm>
                <a:off x="4224" y="1488"/>
                <a:ext cx="72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8932" name="Text Box 21"/>
            <p:cNvSpPr txBox="1"/>
            <p:nvPr/>
          </p:nvSpPr>
          <p:spPr>
            <a:xfrm>
              <a:off x="1392" y="1344"/>
              <a:ext cx="432" cy="97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dirty="0">
                  <a:latin typeface="Tahoma" panose="020B0604030504040204" pitchFamily="34" charset="0"/>
                </a:rPr>
                <a:t>22</a:t>
              </a:r>
              <a:endParaRPr lang="en-US" altLang="zh-CN" dirty="0">
                <a:latin typeface="Tahoma" panose="020B0604030504040204" pitchFamily="34" charset="0"/>
              </a:endParaRPr>
            </a:p>
            <a:p>
              <a:r>
                <a:rPr lang="en-US" altLang="zh-CN" dirty="0">
                  <a:latin typeface="Tahoma" panose="020B0604030504040204" pitchFamily="34" charset="0"/>
                </a:rPr>
                <a:t>44</a:t>
              </a:r>
              <a:endParaRPr lang="en-US" altLang="zh-CN" dirty="0">
                <a:latin typeface="Tahoma" panose="020B0604030504040204" pitchFamily="34" charset="0"/>
              </a:endParaRPr>
            </a:p>
            <a:p>
              <a:r>
                <a:rPr lang="en-US" altLang="zh-CN" dirty="0">
                  <a:latin typeface="Tahoma" panose="020B0604030504040204" pitchFamily="34" charset="0"/>
                </a:rPr>
                <a:t>66</a:t>
              </a:r>
              <a:endParaRPr lang="en-US" altLang="zh-CN" dirty="0">
                <a:latin typeface="Tahoma" panose="020B0604030504040204" pitchFamily="34" charset="0"/>
              </a:endParaRPr>
            </a:p>
            <a:p>
              <a:r>
                <a:rPr lang="en-US" altLang="zh-CN" dirty="0">
                  <a:latin typeface="Tahoma" panose="020B0604030504040204" pitchFamily="34" charset="0"/>
                </a:rPr>
                <a:t>88</a:t>
              </a:r>
              <a:endParaRPr lang="en-US" altLang="zh-CN" dirty="0">
                <a:latin typeface="Tahoma" panose="020B0604030504040204" pitchFamily="34" charset="0"/>
              </a:endParaRPr>
            </a:p>
          </p:txBody>
        </p:sp>
        <p:sp>
          <p:nvSpPr>
            <p:cNvPr id="38933" name="Text Box 22"/>
            <p:cNvSpPr txBox="1"/>
            <p:nvPr/>
          </p:nvSpPr>
          <p:spPr>
            <a:xfrm>
              <a:off x="528" y="1296"/>
              <a:ext cx="1008" cy="97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dirty="0">
                  <a:latin typeface="Tahoma" panose="020B0604030504040204" pitchFamily="34" charset="0"/>
                </a:rPr>
                <a:t>2001H</a:t>
              </a:r>
              <a:endParaRPr lang="en-US" altLang="zh-CN" dirty="0">
                <a:latin typeface="Tahoma" panose="020B0604030504040204" pitchFamily="34" charset="0"/>
              </a:endParaRPr>
            </a:p>
            <a:p>
              <a:r>
                <a:rPr lang="en-US" altLang="zh-CN" dirty="0">
                  <a:latin typeface="Tahoma" panose="020B0604030504040204" pitchFamily="34" charset="0"/>
                </a:rPr>
                <a:t>2003H</a:t>
              </a:r>
              <a:endParaRPr lang="en-US" altLang="zh-CN" dirty="0">
                <a:latin typeface="Tahoma" panose="020B0604030504040204" pitchFamily="34" charset="0"/>
              </a:endParaRPr>
            </a:p>
            <a:p>
              <a:r>
                <a:rPr lang="en-US" altLang="zh-CN" dirty="0">
                  <a:latin typeface="Tahoma" panose="020B0604030504040204" pitchFamily="34" charset="0"/>
                </a:rPr>
                <a:t>2005H</a:t>
              </a:r>
              <a:endParaRPr lang="en-US" altLang="zh-CN" dirty="0">
                <a:latin typeface="Tahoma" panose="020B0604030504040204" pitchFamily="34" charset="0"/>
              </a:endParaRPr>
            </a:p>
            <a:p>
              <a:r>
                <a:rPr lang="en-US" altLang="zh-CN" dirty="0">
                  <a:latin typeface="Tahoma" panose="020B0604030504040204" pitchFamily="34" charset="0"/>
                </a:rPr>
                <a:t>2007H</a:t>
              </a:r>
              <a:endParaRPr lang="en-US" altLang="zh-CN" dirty="0">
                <a:latin typeface="Tahoma" panose="020B0604030504040204" pitchFamily="34" charset="0"/>
              </a:endParaRPr>
            </a:p>
          </p:txBody>
        </p:sp>
      </p:grpSp>
      <p:sp>
        <p:nvSpPr>
          <p:cNvPr id="102423" name="Text Box 23"/>
          <p:cNvSpPr txBox="1"/>
          <p:nvPr/>
        </p:nvSpPr>
        <p:spPr>
          <a:xfrm>
            <a:off x="3996055" y="5093335"/>
            <a:ext cx="2133600" cy="45466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偶存储体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102424" name="Text Box 24"/>
          <p:cNvSpPr txBox="1"/>
          <p:nvPr/>
        </p:nvSpPr>
        <p:spPr>
          <a:xfrm>
            <a:off x="6819900" y="5023485"/>
            <a:ext cx="1981200" cy="40259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奇存储体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38936" name="Line 25"/>
          <p:cNvSpPr/>
          <p:nvPr/>
        </p:nvSpPr>
        <p:spPr>
          <a:xfrm>
            <a:off x="1819910" y="2429510"/>
            <a:ext cx="6660000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round/>
            <a:headEnd type="triangle" w="med" len="med"/>
            <a:tailEnd type="triangle" w="med" len="med"/>
          </a:ln>
        </p:spPr>
      </p:sp>
      <p:sp>
        <p:nvSpPr>
          <p:cNvPr id="38937" name="Line 26"/>
          <p:cNvSpPr/>
          <p:nvPr/>
        </p:nvSpPr>
        <p:spPr>
          <a:xfrm>
            <a:off x="5105400" y="2429510"/>
            <a:ext cx="0" cy="60960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round/>
            <a:headEnd type="triangle" w="med" len="med"/>
            <a:tailEnd type="triangle" w="med" len="med"/>
          </a:ln>
        </p:spPr>
      </p:sp>
      <p:sp>
        <p:nvSpPr>
          <p:cNvPr id="38938" name="Line 27"/>
          <p:cNvSpPr/>
          <p:nvPr/>
        </p:nvSpPr>
        <p:spPr>
          <a:xfrm>
            <a:off x="7772400" y="2429510"/>
            <a:ext cx="0" cy="54000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round/>
            <a:headEnd type="triangle" w="med" len="med"/>
            <a:tailEnd type="triangle" w="med" len="med"/>
          </a:ln>
        </p:spPr>
      </p:sp>
      <p:sp>
        <p:nvSpPr>
          <p:cNvPr id="38939" name="Line 28"/>
          <p:cNvSpPr/>
          <p:nvPr/>
        </p:nvSpPr>
        <p:spPr>
          <a:xfrm>
            <a:off x="3733800" y="2353310"/>
            <a:ext cx="76200" cy="1524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8940" name="Rectangle 29"/>
          <p:cNvSpPr/>
          <p:nvPr/>
        </p:nvSpPr>
        <p:spPr>
          <a:xfrm>
            <a:off x="5181600" y="2508885"/>
            <a:ext cx="9874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D</a:t>
            </a:r>
            <a:r>
              <a:rPr lang="en-US" altLang="zh-CN" b="1" baseline="-25000" dirty="0">
                <a:solidFill>
                  <a:srgbClr val="FF0000"/>
                </a:solidFill>
                <a:latin typeface="Tahoma" panose="020B0604030504040204" pitchFamily="34" charset="0"/>
              </a:rPr>
              <a:t>7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~D</a:t>
            </a:r>
            <a:r>
              <a:rPr lang="en-US" altLang="zh-CN" b="1" baseline="-25000" dirty="0">
                <a:solidFill>
                  <a:srgbClr val="FF0000"/>
                </a:solidFill>
                <a:latin typeface="Tahoma" panose="020B0604030504040204" pitchFamily="34" charset="0"/>
              </a:rPr>
              <a:t>0</a:t>
            </a:r>
            <a:endParaRPr lang="en-US" altLang="zh-CN" b="1" baseline="-250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38941" name="Rectangle 30"/>
          <p:cNvSpPr/>
          <p:nvPr/>
        </p:nvSpPr>
        <p:spPr>
          <a:xfrm>
            <a:off x="7848600" y="2432685"/>
            <a:ext cx="10890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D</a:t>
            </a:r>
            <a:r>
              <a:rPr lang="en-US" altLang="zh-CN" b="1" baseline="-25000" dirty="0">
                <a:solidFill>
                  <a:srgbClr val="FF0000"/>
                </a:solidFill>
                <a:latin typeface="Tahoma" panose="020B0604030504040204" pitchFamily="34" charset="0"/>
              </a:rPr>
              <a:t>15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~D</a:t>
            </a:r>
            <a:r>
              <a:rPr lang="en-US" altLang="zh-CN" b="1" baseline="-25000" dirty="0">
                <a:solidFill>
                  <a:srgbClr val="FF0000"/>
                </a:solidFill>
                <a:latin typeface="Tahoma" panose="020B0604030504040204" pitchFamily="34" charset="0"/>
              </a:rPr>
              <a:t>8</a:t>
            </a:r>
            <a:endParaRPr lang="en-US" altLang="zh-CN" b="1" baseline="-250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38942" name="Rectangle 31"/>
          <p:cNvSpPr/>
          <p:nvPr/>
        </p:nvSpPr>
        <p:spPr>
          <a:xfrm>
            <a:off x="2057400" y="1923098"/>
            <a:ext cx="10890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D</a:t>
            </a:r>
            <a:r>
              <a:rPr lang="en-US" altLang="zh-CN" b="1" baseline="-25000" dirty="0">
                <a:solidFill>
                  <a:srgbClr val="FF0000"/>
                </a:solidFill>
                <a:latin typeface="Tahoma" panose="020B0604030504040204" pitchFamily="34" charset="0"/>
              </a:rPr>
              <a:t>15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~D</a:t>
            </a:r>
            <a:r>
              <a:rPr lang="en-US" altLang="zh-CN" b="1" baseline="-25000" dirty="0">
                <a:solidFill>
                  <a:srgbClr val="FF0000"/>
                </a:solidFill>
                <a:latin typeface="Tahoma" panose="020B0604030504040204" pitchFamily="34" charset="0"/>
              </a:rPr>
              <a:t>0</a:t>
            </a:r>
            <a:endParaRPr lang="en-US" altLang="zh-CN" b="1" baseline="-250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38943" name="Text Box 32"/>
          <p:cNvSpPr txBox="1"/>
          <p:nvPr/>
        </p:nvSpPr>
        <p:spPr>
          <a:xfrm>
            <a:off x="3505200" y="1896110"/>
            <a:ext cx="6858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800" dirty="0">
                <a:latin typeface="Tahoma" panose="020B0604030504040204" pitchFamily="34" charset="0"/>
              </a:rPr>
              <a:t>16</a:t>
            </a:r>
            <a:endParaRPr lang="en-US" altLang="zh-CN" sz="2800" dirty="0">
              <a:latin typeface="Tahoma" panose="020B0604030504040204" pitchFamily="34" charset="0"/>
            </a:endParaRPr>
          </a:p>
        </p:txBody>
      </p:sp>
      <p:sp>
        <p:nvSpPr>
          <p:cNvPr id="38944" name="Rectangle 34"/>
          <p:cNvSpPr/>
          <p:nvPr/>
        </p:nvSpPr>
        <p:spPr>
          <a:xfrm>
            <a:off x="533400" y="2353310"/>
            <a:ext cx="1295400" cy="3333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endParaRPr lang="en-US" altLang="zh-CN" sz="2000" b="1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endParaRPr lang="en-US" altLang="zh-CN" sz="2000" b="1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algn="ctr"/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CPU</a:t>
            </a:r>
            <a:endParaRPr lang="en-US" altLang="zh-CN" b="1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algn="ctr"/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 (16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位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)</a:t>
            </a:r>
            <a:endParaRPr lang="en-US" altLang="zh-CN" b="1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endParaRPr lang="en-US" altLang="zh-CN" b="1" baseline="-250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endParaRPr lang="en-US" altLang="zh-CN" b="1" baseline="-250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endParaRPr lang="en-US" altLang="zh-CN" b="1" baseline="-250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endParaRPr lang="en-US" altLang="zh-CN" b="1" baseline="-250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endParaRPr lang="en-US" altLang="zh-CN" sz="2000" b="1" baseline="-250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endParaRPr lang="en-US" altLang="zh-CN" sz="2000" b="1" baseline="-250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endParaRPr lang="en-US" altLang="zh-CN" sz="2000" b="1" baseline="-250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endParaRPr lang="en-US" altLang="zh-CN" sz="2000" b="1" baseline="-250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37915" name="Rectangle 35"/>
          <p:cNvSpPr/>
          <p:nvPr>
            <p:custDataLst>
              <p:tags r:id="rId1"/>
            </p:custDataLst>
          </p:nvPr>
        </p:nvSpPr>
        <p:spPr>
          <a:xfrm>
            <a:off x="546735" y="1493203"/>
            <a:ext cx="7853363" cy="4603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  <a:latin typeface="Tahoma" panose="020B0604030504040204" pitchFamily="34" charset="0"/>
              </a:rPr>
              <a:t>1. </a:t>
            </a:r>
            <a:r>
              <a:rPr lang="zh-CN" altLang="en-US" b="1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存储器系统结构</a:t>
            </a:r>
            <a:r>
              <a:rPr lang="en-US" altLang="zh-CN" b="1" dirty="0">
                <a:solidFill>
                  <a:schemeClr val="tx1"/>
                </a:solidFill>
                <a:latin typeface="Tahoma" panose="020B0604030504040204" pitchFamily="34" charset="0"/>
              </a:rPr>
              <a:t>-- </a:t>
            </a:r>
            <a:r>
              <a:rPr lang="en-US" altLang="zh-CN" b="1" dirty="0">
                <a:sym typeface="+mn-ea"/>
              </a:rPr>
              <a:t>16</a:t>
            </a:r>
            <a:r>
              <a:rPr lang="zh-CN" altLang="en-US" b="1" dirty="0">
                <a:sym typeface="+mn-ea"/>
              </a:rPr>
              <a:t>位</a:t>
            </a:r>
            <a:r>
              <a:rPr lang="en-US" altLang="zh-CN" b="1" dirty="0">
                <a:solidFill>
                  <a:schemeClr val="tx1"/>
                </a:solidFill>
                <a:latin typeface="Tahoma" panose="020B0604030504040204" pitchFamily="34" charset="0"/>
              </a:rPr>
              <a:t>CPU</a:t>
            </a:r>
            <a:r>
              <a:rPr lang="zh-CN" altLang="en-US" b="1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与存储器数据线连接</a:t>
            </a:r>
            <a:endParaRPr lang="zh-CN" altLang="en-US" b="1" dirty="0">
              <a:solidFill>
                <a:schemeClr val="tx1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43" name="矩形 59"/>
          <p:cNvSpPr/>
          <p:nvPr>
            <p:custDataLst>
              <p:tags r:id="rId2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4.2.3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存储器系统设计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2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2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2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2" grpId="0"/>
      <p:bldP spid="102423" grpId="0"/>
      <p:bldP spid="10242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3426" name="Text Box 2"/>
          <p:cNvSpPr txBox="1"/>
          <p:nvPr/>
        </p:nvSpPr>
        <p:spPr>
          <a:xfrm>
            <a:off x="4067175" y="5659438"/>
            <a:ext cx="2514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har char="•"/>
            </a:pP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分体结构</a:t>
            </a:r>
            <a:endParaRPr lang="zh-CN" altLang="en-US" b="1" dirty="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38" name="Line 25"/>
          <p:cNvSpPr/>
          <p:nvPr/>
        </p:nvSpPr>
        <p:spPr>
          <a:xfrm flipV="1">
            <a:off x="1389698" y="2635250"/>
            <a:ext cx="7573962" cy="9525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round/>
            <a:headEnd type="triangle" w="med" len="med"/>
            <a:tailEnd type="triangle" w="med" len="med"/>
          </a:ln>
        </p:spPr>
      </p:sp>
      <p:sp>
        <p:nvSpPr>
          <p:cNvPr id="39939" name="Line 26"/>
          <p:cNvSpPr/>
          <p:nvPr/>
        </p:nvSpPr>
        <p:spPr>
          <a:xfrm>
            <a:off x="4643438" y="2644775"/>
            <a:ext cx="0" cy="60960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round/>
            <a:headEnd type="triangle" w="med" len="med"/>
            <a:tailEnd type="triangle" w="med" len="med"/>
          </a:ln>
        </p:spPr>
      </p:sp>
      <p:sp>
        <p:nvSpPr>
          <p:cNvPr id="39940" name="Line 27"/>
          <p:cNvSpPr/>
          <p:nvPr/>
        </p:nvSpPr>
        <p:spPr>
          <a:xfrm>
            <a:off x="8316913" y="2644775"/>
            <a:ext cx="0" cy="60960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round/>
            <a:headEnd type="triangle" w="med" len="med"/>
            <a:tailEnd type="triangle" w="med" len="med"/>
          </a:ln>
        </p:spPr>
      </p:sp>
      <p:sp>
        <p:nvSpPr>
          <p:cNvPr id="39941" name="Line 28"/>
          <p:cNvSpPr/>
          <p:nvPr/>
        </p:nvSpPr>
        <p:spPr>
          <a:xfrm>
            <a:off x="3868738" y="2635250"/>
            <a:ext cx="127000" cy="1905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9942" name="Rectangle 29"/>
          <p:cNvSpPr/>
          <p:nvPr/>
        </p:nvSpPr>
        <p:spPr>
          <a:xfrm>
            <a:off x="1712913" y="2679700"/>
            <a:ext cx="9874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D</a:t>
            </a:r>
            <a:r>
              <a:rPr lang="en-US" altLang="zh-CN" b="1" baseline="-25000" dirty="0">
                <a:solidFill>
                  <a:srgbClr val="FF0000"/>
                </a:solidFill>
                <a:latin typeface="Tahoma" panose="020B0604030504040204" pitchFamily="34" charset="0"/>
              </a:rPr>
              <a:t>7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~D</a:t>
            </a:r>
            <a:r>
              <a:rPr lang="en-US" altLang="zh-CN" b="1" baseline="-25000" dirty="0">
                <a:solidFill>
                  <a:srgbClr val="FF0000"/>
                </a:solidFill>
                <a:latin typeface="Tahoma" panose="020B0604030504040204" pitchFamily="34" charset="0"/>
              </a:rPr>
              <a:t>0</a:t>
            </a:r>
            <a:endParaRPr lang="en-US" altLang="zh-CN" b="1" baseline="-250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39943" name="Rectangle 30"/>
          <p:cNvSpPr/>
          <p:nvPr/>
        </p:nvSpPr>
        <p:spPr>
          <a:xfrm>
            <a:off x="3419475" y="2679700"/>
            <a:ext cx="10890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D</a:t>
            </a:r>
            <a:r>
              <a:rPr lang="en-US" altLang="zh-CN" b="1" baseline="-25000" dirty="0">
                <a:solidFill>
                  <a:srgbClr val="FF0000"/>
                </a:solidFill>
                <a:latin typeface="Tahoma" panose="020B0604030504040204" pitchFamily="34" charset="0"/>
              </a:rPr>
              <a:t>15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~D</a:t>
            </a:r>
            <a:r>
              <a:rPr lang="en-US" altLang="zh-CN" b="1" baseline="-25000" dirty="0">
                <a:solidFill>
                  <a:srgbClr val="FF0000"/>
                </a:solidFill>
                <a:latin typeface="Tahoma" panose="020B0604030504040204" pitchFamily="34" charset="0"/>
              </a:rPr>
              <a:t>8</a:t>
            </a:r>
            <a:endParaRPr lang="en-US" altLang="zh-CN" b="1" baseline="-250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39944" name="Rectangle 31"/>
          <p:cNvSpPr/>
          <p:nvPr/>
        </p:nvSpPr>
        <p:spPr>
          <a:xfrm>
            <a:off x="1627188" y="2138363"/>
            <a:ext cx="10890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D</a:t>
            </a:r>
            <a:r>
              <a:rPr lang="en-US" altLang="zh-CN" b="1" baseline="-25000" dirty="0">
                <a:solidFill>
                  <a:srgbClr val="FF0000"/>
                </a:solidFill>
                <a:latin typeface="Tahoma" panose="020B0604030504040204" pitchFamily="34" charset="0"/>
              </a:rPr>
              <a:t>31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~D</a:t>
            </a:r>
            <a:r>
              <a:rPr lang="en-US" altLang="zh-CN" b="1" baseline="-25000" dirty="0">
                <a:solidFill>
                  <a:srgbClr val="FF0000"/>
                </a:solidFill>
                <a:latin typeface="Tahoma" panose="020B0604030504040204" pitchFamily="34" charset="0"/>
              </a:rPr>
              <a:t>0</a:t>
            </a:r>
            <a:endParaRPr lang="en-US" altLang="zh-CN" b="1" baseline="-250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39945" name="Text Box 32"/>
          <p:cNvSpPr txBox="1"/>
          <p:nvPr/>
        </p:nvSpPr>
        <p:spPr>
          <a:xfrm>
            <a:off x="3505200" y="2111375"/>
            <a:ext cx="6858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800" dirty="0">
                <a:latin typeface="Tahoma" panose="020B0604030504040204" pitchFamily="34" charset="0"/>
              </a:rPr>
              <a:t>32</a:t>
            </a:r>
            <a:endParaRPr lang="en-US" altLang="zh-CN" sz="2800" dirty="0">
              <a:latin typeface="Tahoma" panose="020B0604030504040204" pitchFamily="34" charset="0"/>
            </a:endParaRPr>
          </a:p>
        </p:txBody>
      </p:sp>
      <p:sp>
        <p:nvSpPr>
          <p:cNvPr id="39946" name="Rectangle 34"/>
          <p:cNvSpPr/>
          <p:nvPr/>
        </p:nvSpPr>
        <p:spPr>
          <a:xfrm>
            <a:off x="103188" y="2568575"/>
            <a:ext cx="1295400" cy="3333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endParaRPr lang="en-US" altLang="zh-CN" sz="2000" b="1" dirty="0">
              <a:solidFill>
                <a:schemeClr val="accent2"/>
              </a:solidFill>
              <a:latin typeface="Tahoma" panose="020B0604030504040204" pitchFamily="34" charset="0"/>
            </a:endParaRPr>
          </a:p>
          <a:p>
            <a:endParaRPr lang="en-US" altLang="zh-CN" sz="2000" b="1" dirty="0">
              <a:solidFill>
                <a:schemeClr val="accent2"/>
              </a:solidFill>
              <a:latin typeface="Tahoma" panose="020B0604030504040204" pitchFamily="34" charset="0"/>
            </a:endParaRPr>
          </a:p>
          <a:p>
            <a:pPr algn="ctr"/>
            <a:r>
              <a:rPr lang="en-US" altLang="zh-CN" b="1" dirty="0">
                <a:solidFill>
                  <a:schemeClr val="accent2"/>
                </a:solidFill>
                <a:latin typeface="Tahoma" panose="020B0604030504040204" pitchFamily="34" charset="0"/>
              </a:rPr>
              <a:t>CPU</a:t>
            </a:r>
            <a:endParaRPr lang="en-US" altLang="zh-CN" b="1" dirty="0">
              <a:solidFill>
                <a:schemeClr val="accent2"/>
              </a:solidFill>
              <a:latin typeface="Tahoma" panose="020B0604030504040204" pitchFamily="34" charset="0"/>
            </a:endParaRPr>
          </a:p>
          <a:p>
            <a:pPr algn="ctr"/>
            <a:r>
              <a:rPr lang="en-US" altLang="zh-CN" b="1" dirty="0">
                <a:solidFill>
                  <a:schemeClr val="accent2"/>
                </a:solidFill>
                <a:latin typeface="Tahoma" panose="020B0604030504040204" pitchFamily="34" charset="0"/>
              </a:rPr>
              <a:t> (32</a:t>
            </a:r>
            <a:r>
              <a:rPr lang="zh-CN" altLang="en-US" b="1" dirty="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位</a:t>
            </a:r>
            <a:r>
              <a:rPr lang="en-US" altLang="zh-CN" b="1" dirty="0">
                <a:solidFill>
                  <a:schemeClr val="accent2"/>
                </a:solidFill>
                <a:latin typeface="Tahoma" panose="020B0604030504040204" pitchFamily="34" charset="0"/>
              </a:rPr>
              <a:t>)</a:t>
            </a:r>
            <a:endParaRPr lang="en-US" altLang="zh-CN" b="1" dirty="0">
              <a:solidFill>
                <a:schemeClr val="accent2"/>
              </a:solidFill>
              <a:latin typeface="Tahoma" panose="020B0604030504040204" pitchFamily="34" charset="0"/>
            </a:endParaRPr>
          </a:p>
          <a:p>
            <a:r>
              <a:rPr lang="en-US" altLang="zh-CN" b="1" dirty="0">
                <a:solidFill>
                  <a:schemeClr val="accent2"/>
                </a:solidFill>
                <a:latin typeface="Tahoma" panose="020B0604030504040204" pitchFamily="34" charset="0"/>
              </a:rPr>
              <a:t>  </a:t>
            </a:r>
            <a:endParaRPr lang="en-US" altLang="zh-CN" b="1" baseline="-25000" dirty="0">
              <a:solidFill>
                <a:schemeClr val="accent2"/>
              </a:solidFill>
              <a:latin typeface="Tahoma" panose="020B0604030504040204" pitchFamily="34" charset="0"/>
            </a:endParaRPr>
          </a:p>
          <a:p>
            <a:endParaRPr lang="en-US" altLang="zh-CN" b="1" baseline="-25000" dirty="0">
              <a:solidFill>
                <a:schemeClr val="accent2"/>
              </a:solidFill>
              <a:latin typeface="Tahoma" panose="020B0604030504040204" pitchFamily="34" charset="0"/>
            </a:endParaRPr>
          </a:p>
          <a:p>
            <a:endParaRPr lang="en-US" altLang="zh-CN" b="1" baseline="-25000" dirty="0">
              <a:solidFill>
                <a:schemeClr val="accent2"/>
              </a:solidFill>
              <a:latin typeface="Tahoma" panose="020B0604030504040204" pitchFamily="34" charset="0"/>
            </a:endParaRPr>
          </a:p>
          <a:p>
            <a:endParaRPr lang="en-US" altLang="zh-CN" b="1" baseline="-25000" dirty="0">
              <a:solidFill>
                <a:schemeClr val="accent2"/>
              </a:solidFill>
              <a:latin typeface="Tahoma" panose="020B0604030504040204" pitchFamily="34" charset="0"/>
            </a:endParaRPr>
          </a:p>
          <a:p>
            <a:endParaRPr lang="en-US" altLang="zh-CN" sz="2000" b="1" baseline="-25000" dirty="0">
              <a:solidFill>
                <a:schemeClr val="accent2"/>
              </a:solidFill>
              <a:latin typeface="Tahoma" panose="020B0604030504040204" pitchFamily="34" charset="0"/>
            </a:endParaRPr>
          </a:p>
          <a:p>
            <a:endParaRPr lang="en-US" altLang="zh-CN" sz="2000" b="1" baseline="-25000" dirty="0">
              <a:solidFill>
                <a:schemeClr val="accent2"/>
              </a:solidFill>
              <a:latin typeface="Tahoma" panose="020B0604030504040204" pitchFamily="34" charset="0"/>
            </a:endParaRPr>
          </a:p>
          <a:p>
            <a:endParaRPr lang="en-US" altLang="zh-CN" sz="2000" b="1" baseline="-25000" dirty="0">
              <a:solidFill>
                <a:schemeClr val="accent2"/>
              </a:solidFill>
              <a:latin typeface="Tahoma" panose="020B0604030504040204" pitchFamily="34" charset="0"/>
            </a:endParaRPr>
          </a:p>
          <a:p>
            <a:endParaRPr lang="en-US" altLang="zh-CN" sz="2000" b="1" baseline="-25000" dirty="0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grpSp>
        <p:nvGrpSpPr>
          <p:cNvPr id="39947" name="Group 47"/>
          <p:cNvGrpSpPr/>
          <p:nvPr/>
        </p:nvGrpSpPr>
        <p:grpSpPr>
          <a:xfrm>
            <a:off x="1303338" y="3246438"/>
            <a:ext cx="1900237" cy="1981200"/>
            <a:chOff x="821" y="1819"/>
            <a:chExt cx="1197" cy="1248"/>
          </a:xfrm>
        </p:grpSpPr>
        <p:grpSp>
          <p:nvGrpSpPr>
            <p:cNvPr id="39948" name="Group 36"/>
            <p:cNvGrpSpPr/>
            <p:nvPr/>
          </p:nvGrpSpPr>
          <p:grpSpPr>
            <a:xfrm>
              <a:off x="1423" y="1819"/>
              <a:ext cx="595" cy="1248"/>
              <a:chOff x="4224" y="240"/>
              <a:chExt cx="720" cy="1248"/>
            </a:xfrm>
          </p:grpSpPr>
          <p:sp>
            <p:nvSpPr>
              <p:cNvPr id="39949" name="Rectangle 37"/>
              <p:cNvSpPr/>
              <p:nvPr/>
            </p:nvSpPr>
            <p:spPr>
              <a:xfrm>
                <a:off x="4224" y="240"/>
                <a:ext cx="720" cy="1248"/>
              </a:xfrm>
              <a:prstGeom prst="rect">
                <a:avLst/>
              </a:prstGeom>
              <a:solidFill>
                <a:srgbClr val="99FFCC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sz="28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950" name="Line 38"/>
              <p:cNvSpPr/>
              <p:nvPr/>
            </p:nvSpPr>
            <p:spPr>
              <a:xfrm>
                <a:off x="4224" y="528"/>
                <a:ext cx="72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9951" name="Line 39"/>
              <p:cNvSpPr/>
              <p:nvPr/>
            </p:nvSpPr>
            <p:spPr>
              <a:xfrm>
                <a:off x="4224" y="768"/>
                <a:ext cx="72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9952" name="Line 40"/>
              <p:cNvSpPr/>
              <p:nvPr/>
            </p:nvSpPr>
            <p:spPr>
              <a:xfrm>
                <a:off x="4224" y="1008"/>
                <a:ext cx="72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9953" name="Line 41"/>
              <p:cNvSpPr/>
              <p:nvPr/>
            </p:nvSpPr>
            <p:spPr>
              <a:xfrm>
                <a:off x="4224" y="1248"/>
                <a:ext cx="72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9954" name="Line 42"/>
              <p:cNvSpPr/>
              <p:nvPr/>
            </p:nvSpPr>
            <p:spPr>
              <a:xfrm>
                <a:off x="4224" y="1488"/>
                <a:ext cx="72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9955" name="Text Box 43"/>
            <p:cNvSpPr txBox="1"/>
            <p:nvPr/>
          </p:nvSpPr>
          <p:spPr>
            <a:xfrm>
              <a:off x="1567" y="1819"/>
              <a:ext cx="432" cy="74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dirty="0">
                  <a:latin typeface="Tahoma" panose="020B0604030504040204" pitchFamily="34" charset="0"/>
                </a:rPr>
                <a:t>11</a:t>
              </a:r>
              <a:endParaRPr lang="en-US" altLang="zh-CN" dirty="0">
                <a:latin typeface="Tahoma" panose="020B0604030504040204" pitchFamily="34" charset="0"/>
              </a:endParaRPr>
            </a:p>
            <a:p>
              <a:r>
                <a:rPr lang="en-US" altLang="zh-CN" dirty="0">
                  <a:latin typeface="Tahoma" panose="020B0604030504040204" pitchFamily="34" charset="0"/>
                </a:rPr>
                <a:t>55</a:t>
              </a:r>
              <a:endParaRPr lang="en-US" altLang="zh-CN" dirty="0">
                <a:latin typeface="Tahoma" panose="020B0604030504040204" pitchFamily="34" charset="0"/>
              </a:endParaRPr>
            </a:p>
            <a:p>
              <a:endParaRPr lang="en-US" altLang="zh-CN" dirty="0">
                <a:latin typeface="Tahoma" panose="020B0604030504040204" pitchFamily="34" charset="0"/>
              </a:endParaRPr>
            </a:p>
          </p:txBody>
        </p:sp>
        <p:sp>
          <p:nvSpPr>
            <p:cNvPr id="39956" name="Text Box 44"/>
            <p:cNvSpPr txBox="1"/>
            <p:nvPr/>
          </p:nvSpPr>
          <p:spPr>
            <a:xfrm>
              <a:off x="821" y="1857"/>
              <a:ext cx="675" cy="74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dirty="0">
                  <a:latin typeface="Tahoma" panose="020B0604030504040204" pitchFamily="34" charset="0"/>
                </a:rPr>
                <a:t>2000H</a:t>
              </a:r>
              <a:endParaRPr lang="en-US" altLang="zh-CN" dirty="0">
                <a:latin typeface="Tahoma" panose="020B0604030504040204" pitchFamily="34" charset="0"/>
              </a:endParaRPr>
            </a:p>
            <a:p>
              <a:r>
                <a:rPr lang="en-US" altLang="zh-CN" dirty="0">
                  <a:latin typeface="Tahoma" panose="020B0604030504040204" pitchFamily="34" charset="0"/>
                </a:rPr>
                <a:t>2004H</a:t>
              </a:r>
              <a:endParaRPr lang="en-US" altLang="zh-CN" dirty="0">
                <a:latin typeface="Tahoma" panose="020B0604030504040204" pitchFamily="34" charset="0"/>
              </a:endParaRPr>
            </a:p>
            <a:p>
              <a:endParaRPr lang="en-US" altLang="zh-CN" dirty="0">
                <a:latin typeface="Tahoma" panose="020B0604030504040204" pitchFamily="34" charset="0"/>
              </a:endParaRPr>
            </a:p>
          </p:txBody>
        </p:sp>
      </p:grpSp>
      <p:sp>
        <p:nvSpPr>
          <p:cNvPr id="39957" name="Line 45"/>
          <p:cNvSpPr/>
          <p:nvPr/>
        </p:nvSpPr>
        <p:spPr>
          <a:xfrm>
            <a:off x="2792413" y="2636838"/>
            <a:ext cx="0" cy="60960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round/>
            <a:headEnd type="triangle" w="med" len="med"/>
            <a:tailEnd type="triangle" w="med" len="med"/>
          </a:ln>
        </p:spPr>
      </p:sp>
      <p:sp>
        <p:nvSpPr>
          <p:cNvPr id="39958" name="Line 46"/>
          <p:cNvSpPr/>
          <p:nvPr/>
        </p:nvSpPr>
        <p:spPr>
          <a:xfrm>
            <a:off x="2105025" y="2565400"/>
            <a:ext cx="34925" cy="1428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39959" name="Group 48"/>
          <p:cNvGrpSpPr/>
          <p:nvPr/>
        </p:nvGrpSpPr>
        <p:grpSpPr>
          <a:xfrm>
            <a:off x="3157538" y="3246438"/>
            <a:ext cx="1919287" cy="1981200"/>
            <a:chOff x="809" y="1819"/>
            <a:chExt cx="1209" cy="1248"/>
          </a:xfrm>
        </p:grpSpPr>
        <p:grpSp>
          <p:nvGrpSpPr>
            <p:cNvPr id="39960" name="Group 49"/>
            <p:cNvGrpSpPr/>
            <p:nvPr/>
          </p:nvGrpSpPr>
          <p:grpSpPr>
            <a:xfrm>
              <a:off x="1423" y="1819"/>
              <a:ext cx="595" cy="1248"/>
              <a:chOff x="4224" y="240"/>
              <a:chExt cx="720" cy="1248"/>
            </a:xfrm>
          </p:grpSpPr>
          <p:sp>
            <p:nvSpPr>
              <p:cNvPr id="39961" name="Rectangle 50"/>
              <p:cNvSpPr/>
              <p:nvPr/>
            </p:nvSpPr>
            <p:spPr>
              <a:xfrm>
                <a:off x="4224" y="240"/>
                <a:ext cx="720" cy="1248"/>
              </a:xfrm>
              <a:prstGeom prst="rect">
                <a:avLst/>
              </a:prstGeom>
              <a:solidFill>
                <a:srgbClr val="99FFCC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sz="28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962" name="Line 51"/>
              <p:cNvSpPr/>
              <p:nvPr/>
            </p:nvSpPr>
            <p:spPr>
              <a:xfrm>
                <a:off x="4224" y="528"/>
                <a:ext cx="72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9963" name="Line 52"/>
              <p:cNvSpPr/>
              <p:nvPr/>
            </p:nvSpPr>
            <p:spPr>
              <a:xfrm>
                <a:off x="4224" y="768"/>
                <a:ext cx="72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9964" name="Line 53"/>
              <p:cNvSpPr/>
              <p:nvPr/>
            </p:nvSpPr>
            <p:spPr>
              <a:xfrm>
                <a:off x="4224" y="1008"/>
                <a:ext cx="72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9965" name="Line 54"/>
              <p:cNvSpPr/>
              <p:nvPr/>
            </p:nvSpPr>
            <p:spPr>
              <a:xfrm>
                <a:off x="4224" y="1248"/>
                <a:ext cx="72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9966" name="Line 55"/>
              <p:cNvSpPr/>
              <p:nvPr/>
            </p:nvSpPr>
            <p:spPr>
              <a:xfrm>
                <a:off x="4224" y="1488"/>
                <a:ext cx="72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9967" name="Text Box 56"/>
            <p:cNvSpPr txBox="1"/>
            <p:nvPr/>
          </p:nvSpPr>
          <p:spPr>
            <a:xfrm>
              <a:off x="1567" y="1819"/>
              <a:ext cx="432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dirty="0">
                  <a:latin typeface="Tahoma" panose="020B0604030504040204" pitchFamily="34" charset="0"/>
                </a:rPr>
                <a:t>22</a:t>
              </a:r>
              <a:endParaRPr lang="en-US" altLang="zh-CN" dirty="0">
                <a:latin typeface="Tahoma" panose="020B0604030504040204" pitchFamily="34" charset="0"/>
              </a:endParaRPr>
            </a:p>
            <a:p>
              <a:r>
                <a:rPr lang="en-US" altLang="zh-CN" dirty="0">
                  <a:latin typeface="Tahoma" panose="020B0604030504040204" pitchFamily="34" charset="0"/>
                </a:rPr>
                <a:t>66</a:t>
              </a:r>
              <a:endParaRPr lang="en-US" altLang="zh-CN" dirty="0">
                <a:latin typeface="Tahoma" panose="020B0604030504040204" pitchFamily="34" charset="0"/>
              </a:endParaRPr>
            </a:p>
          </p:txBody>
        </p:sp>
        <p:sp>
          <p:nvSpPr>
            <p:cNvPr id="39968" name="Text Box 57"/>
            <p:cNvSpPr txBox="1"/>
            <p:nvPr/>
          </p:nvSpPr>
          <p:spPr>
            <a:xfrm>
              <a:off x="809" y="1857"/>
              <a:ext cx="675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noAutofit/>
            </a:bodyPr>
            <a:p>
              <a:r>
                <a:rPr lang="en-US" altLang="zh-CN" dirty="0">
                  <a:latin typeface="Tahoma" panose="020B0604030504040204" pitchFamily="34" charset="0"/>
                </a:rPr>
                <a:t>2001H</a:t>
              </a:r>
              <a:endParaRPr lang="en-US" altLang="zh-CN" dirty="0">
                <a:latin typeface="Tahoma" panose="020B0604030504040204" pitchFamily="34" charset="0"/>
              </a:endParaRPr>
            </a:p>
            <a:p>
              <a:r>
                <a:rPr lang="en-US" altLang="zh-CN" dirty="0">
                  <a:latin typeface="Tahoma" panose="020B0604030504040204" pitchFamily="34" charset="0"/>
                </a:rPr>
                <a:t>2005H</a:t>
              </a:r>
              <a:endParaRPr lang="en-US" altLang="zh-CN" dirty="0">
                <a:latin typeface="Tahoma" panose="020B0604030504040204" pitchFamily="34" charset="0"/>
              </a:endParaRPr>
            </a:p>
            <a:p>
              <a:endParaRPr lang="en-US" altLang="zh-CN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39969" name="Group 58"/>
          <p:cNvGrpSpPr/>
          <p:nvPr/>
        </p:nvGrpSpPr>
        <p:grpSpPr>
          <a:xfrm>
            <a:off x="5048250" y="3246438"/>
            <a:ext cx="1900238" cy="1981200"/>
            <a:chOff x="821" y="1819"/>
            <a:chExt cx="1197" cy="1248"/>
          </a:xfrm>
        </p:grpSpPr>
        <p:grpSp>
          <p:nvGrpSpPr>
            <p:cNvPr id="39970" name="Group 59"/>
            <p:cNvGrpSpPr/>
            <p:nvPr/>
          </p:nvGrpSpPr>
          <p:grpSpPr>
            <a:xfrm>
              <a:off x="1423" y="1819"/>
              <a:ext cx="595" cy="1248"/>
              <a:chOff x="4224" y="240"/>
              <a:chExt cx="720" cy="1248"/>
            </a:xfrm>
          </p:grpSpPr>
          <p:sp>
            <p:nvSpPr>
              <p:cNvPr id="39971" name="Rectangle 60"/>
              <p:cNvSpPr/>
              <p:nvPr/>
            </p:nvSpPr>
            <p:spPr>
              <a:xfrm>
                <a:off x="4224" y="240"/>
                <a:ext cx="720" cy="1248"/>
              </a:xfrm>
              <a:prstGeom prst="rect">
                <a:avLst/>
              </a:prstGeom>
              <a:solidFill>
                <a:srgbClr val="99FFCC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sz="28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972" name="Line 61"/>
              <p:cNvSpPr/>
              <p:nvPr/>
            </p:nvSpPr>
            <p:spPr>
              <a:xfrm>
                <a:off x="4224" y="528"/>
                <a:ext cx="72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9973" name="Line 62"/>
              <p:cNvSpPr/>
              <p:nvPr/>
            </p:nvSpPr>
            <p:spPr>
              <a:xfrm>
                <a:off x="4224" y="768"/>
                <a:ext cx="72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9974" name="Line 63"/>
              <p:cNvSpPr/>
              <p:nvPr/>
            </p:nvSpPr>
            <p:spPr>
              <a:xfrm>
                <a:off x="4224" y="1008"/>
                <a:ext cx="72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9975" name="Line 64"/>
              <p:cNvSpPr/>
              <p:nvPr/>
            </p:nvSpPr>
            <p:spPr>
              <a:xfrm>
                <a:off x="4224" y="1248"/>
                <a:ext cx="72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9976" name="Line 65"/>
              <p:cNvSpPr/>
              <p:nvPr/>
            </p:nvSpPr>
            <p:spPr>
              <a:xfrm>
                <a:off x="4224" y="1488"/>
                <a:ext cx="72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9977" name="Text Box 66"/>
            <p:cNvSpPr txBox="1"/>
            <p:nvPr/>
          </p:nvSpPr>
          <p:spPr>
            <a:xfrm>
              <a:off x="1567" y="1819"/>
              <a:ext cx="432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dirty="0">
                  <a:latin typeface="Tahoma" panose="020B0604030504040204" pitchFamily="34" charset="0"/>
                </a:rPr>
                <a:t>33</a:t>
              </a:r>
              <a:endParaRPr lang="en-US" altLang="zh-CN" dirty="0">
                <a:latin typeface="Tahoma" panose="020B0604030504040204" pitchFamily="34" charset="0"/>
              </a:endParaRPr>
            </a:p>
            <a:p>
              <a:r>
                <a:rPr lang="en-US" altLang="zh-CN" dirty="0">
                  <a:latin typeface="Tahoma" panose="020B0604030504040204" pitchFamily="34" charset="0"/>
                </a:rPr>
                <a:t>77</a:t>
              </a:r>
              <a:endParaRPr lang="en-US" altLang="zh-CN" dirty="0">
                <a:latin typeface="Tahoma" panose="020B0604030504040204" pitchFamily="34" charset="0"/>
              </a:endParaRPr>
            </a:p>
          </p:txBody>
        </p:sp>
        <p:sp>
          <p:nvSpPr>
            <p:cNvPr id="39978" name="Text Box 67"/>
            <p:cNvSpPr txBox="1"/>
            <p:nvPr/>
          </p:nvSpPr>
          <p:spPr>
            <a:xfrm>
              <a:off x="821" y="1857"/>
              <a:ext cx="688" cy="5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en-US" altLang="zh-CN" dirty="0">
                  <a:latin typeface="Tahoma" panose="020B0604030504040204" pitchFamily="34" charset="0"/>
                </a:rPr>
                <a:t>2002H</a:t>
              </a:r>
              <a:endParaRPr lang="en-US" altLang="zh-CN" dirty="0">
                <a:latin typeface="Tahoma" panose="020B0604030504040204" pitchFamily="34" charset="0"/>
              </a:endParaRPr>
            </a:p>
            <a:p>
              <a:r>
                <a:rPr lang="en-US" altLang="zh-CN" dirty="0">
                  <a:latin typeface="Tahoma" panose="020B0604030504040204" pitchFamily="34" charset="0"/>
                </a:rPr>
                <a:t>2006H</a:t>
              </a:r>
              <a:endParaRPr lang="en-US" altLang="zh-CN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39979" name="Group 68"/>
          <p:cNvGrpSpPr/>
          <p:nvPr/>
        </p:nvGrpSpPr>
        <p:grpSpPr>
          <a:xfrm>
            <a:off x="6910388" y="3246438"/>
            <a:ext cx="1909762" cy="1981200"/>
            <a:chOff x="815" y="1819"/>
            <a:chExt cx="1203" cy="1248"/>
          </a:xfrm>
        </p:grpSpPr>
        <p:grpSp>
          <p:nvGrpSpPr>
            <p:cNvPr id="39980" name="Group 69"/>
            <p:cNvGrpSpPr/>
            <p:nvPr/>
          </p:nvGrpSpPr>
          <p:grpSpPr>
            <a:xfrm>
              <a:off x="1423" y="1819"/>
              <a:ext cx="595" cy="1248"/>
              <a:chOff x="4224" y="240"/>
              <a:chExt cx="720" cy="1248"/>
            </a:xfrm>
          </p:grpSpPr>
          <p:sp>
            <p:nvSpPr>
              <p:cNvPr id="39981" name="Rectangle 70"/>
              <p:cNvSpPr/>
              <p:nvPr/>
            </p:nvSpPr>
            <p:spPr>
              <a:xfrm>
                <a:off x="4224" y="240"/>
                <a:ext cx="720" cy="1248"/>
              </a:xfrm>
              <a:prstGeom prst="rect">
                <a:avLst/>
              </a:prstGeom>
              <a:solidFill>
                <a:srgbClr val="99FFCC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sz="280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982" name="Line 71"/>
              <p:cNvSpPr/>
              <p:nvPr/>
            </p:nvSpPr>
            <p:spPr>
              <a:xfrm>
                <a:off x="4224" y="528"/>
                <a:ext cx="72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9983" name="Line 72"/>
              <p:cNvSpPr/>
              <p:nvPr/>
            </p:nvSpPr>
            <p:spPr>
              <a:xfrm>
                <a:off x="4224" y="768"/>
                <a:ext cx="72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9984" name="Line 73"/>
              <p:cNvSpPr/>
              <p:nvPr/>
            </p:nvSpPr>
            <p:spPr>
              <a:xfrm>
                <a:off x="4224" y="1008"/>
                <a:ext cx="72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9985" name="Line 74"/>
              <p:cNvSpPr/>
              <p:nvPr/>
            </p:nvSpPr>
            <p:spPr>
              <a:xfrm>
                <a:off x="4224" y="1248"/>
                <a:ext cx="72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9986" name="Line 75"/>
              <p:cNvSpPr/>
              <p:nvPr/>
            </p:nvSpPr>
            <p:spPr>
              <a:xfrm>
                <a:off x="4224" y="1488"/>
                <a:ext cx="72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9987" name="Text Box 76"/>
            <p:cNvSpPr txBox="1"/>
            <p:nvPr/>
          </p:nvSpPr>
          <p:spPr>
            <a:xfrm>
              <a:off x="1567" y="1819"/>
              <a:ext cx="432" cy="74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dirty="0">
                  <a:latin typeface="Tahoma" panose="020B0604030504040204" pitchFamily="34" charset="0"/>
                </a:rPr>
                <a:t>44</a:t>
              </a:r>
              <a:endParaRPr lang="en-US" altLang="zh-CN" dirty="0">
                <a:latin typeface="Tahoma" panose="020B0604030504040204" pitchFamily="34" charset="0"/>
              </a:endParaRPr>
            </a:p>
            <a:p>
              <a:r>
                <a:rPr lang="en-US" altLang="zh-CN" dirty="0">
                  <a:latin typeface="Tahoma" panose="020B0604030504040204" pitchFamily="34" charset="0"/>
                </a:rPr>
                <a:t>88</a:t>
              </a:r>
              <a:endParaRPr lang="en-US" altLang="zh-CN" dirty="0">
                <a:latin typeface="Tahoma" panose="020B0604030504040204" pitchFamily="34" charset="0"/>
              </a:endParaRPr>
            </a:p>
            <a:p>
              <a:endParaRPr lang="en-US" altLang="zh-CN" dirty="0">
                <a:latin typeface="Tahoma" panose="020B0604030504040204" pitchFamily="34" charset="0"/>
              </a:endParaRPr>
            </a:p>
          </p:txBody>
        </p:sp>
        <p:sp>
          <p:nvSpPr>
            <p:cNvPr id="39988" name="Text Box 77"/>
            <p:cNvSpPr txBox="1"/>
            <p:nvPr/>
          </p:nvSpPr>
          <p:spPr>
            <a:xfrm>
              <a:off x="815" y="1857"/>
              <a:ext cx="675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dirty="0">
                  <a:latin typeface="Tahoma" panose="020B0604030504040204" pitchFamily="34" charset="0"/>
                </a:rPr>
                <a:t>2003H</a:t>
              </a:r>
              <a:endParaRPr lang="en-US" altLang="zh-CN" dirty="0">
                <a:latin typeface="Tahoma" panose="020B0604030504040204" pitchFamily="34" charset="0"/>
              </a:endParaRPr>
            </a:p>
            <a:p>
              <a:r>
                <a:rPr lang="en-US" altLang="zh-CN" dirty="0">
                  <a:latin typeface="Tahoma" panose="020B0604030504040204" pitchFamily="34" charset="0"/>
                </a:rPr>
                <a:t>2007H</a:t>
              </a:r>
              <a:endParaRPr lang="en-US" altLang="zh-CN" dirty="0">
                <a:latin typeface="Tahoma" panose="020B0604030504040204" pitchFamily="34" charset="0"/>
              </a:endParaRPr>
            </a:p>
          </p:txBody>
        </p:sp>
      </p:grpSp>
      <p:sp>
        <p:nvSpPr>
          <p:cNvPr id="39989" name="Line 78"/>
          <p:cNvSpPr/>
          <p:nvPr/>
        </p:nvSpPr>
        <p:spPr>
          <a:xfrm>
            <a:off x="6443663" y="2635250"/>
            <a:ext cx="0" cy="60960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round/>
            <a:headEnd type="triangle" w="med" len="med"/>
            <a:tailEnd type="triangle" w="med" len="med"/>
          </a:ln>
        </p:spPr>
      </p:sp>
      <p:sp>
        <p:nvSpPr>
          <p:cNvPr id="39990" name="Rectangle 79"/>
          <p:cNvSpPr/>
          <p:nvPr/>
        </p:nvSpPr>
        <p:spPr>
          <a:xfrm>
            <a:off x="5076190" y="2679700"/>
            <a:ext cx="11906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D</a:t>
            </a:r>
            <a:r>
              <a:rPr lang="en-US" altLang="zh-CN" b="1" baseline="-25000" dirty="0">
                <a:solidFill>
                  <a:srgbClr val="FF0000"/>
                </a:solidFill>
                <a:latin typeface="Tahoma" panose="020B0604030504040204" pitchFamily="34" charset="0"/>
              </a:rPr>
              <a:t>23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~D</a:t>
            </a:r>
            <a:r>
              <a:rPr lang="en-US" altLang="zh-CN" b="1" baseline="-25000" dirty="0">
                <a:solidFill>
                  <a:srgbClr val="FF0000"/>
                </a:solidFill>
                <a:latin typeface="Tahoma" panose="020B0604030504040204" pitchFamily="34" charset="0"/>
              </a:rPr>
              <a:t>16</a:t>
            </a:r>
            <a:endParaRPr lang="en-US" altLang="zh-CN" b="1" baseline="-250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39991" name="Rectangle 80"/>
          <p:cNvSpPr/>
          <p:nvPr/>
        </p:nvSpPr>
        <p:spPr>
          <a:xfrm>
            <a:off x="6939915" y="2679700"/>
            <a:ext cx="11906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D</a:t>
            </a:r>
            <a:r>
              <a:rPr lang="en-US" altLang="zh-CN" b="1" baseline="-25000" dirty="0">
                <a:solidFill>
                  <a:srgbClr val="FF0000"/>
                </a:solidFill>
                <a:latin typeface="Tahoma" panose="020B0604030504040204" pitchFamily="34" charset="0"/>
              </a:rPr>
              <a:t>31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~D</a:t>
            </a:r>
            <a:r>
              <a:rPr lang="en-US" altLang="zh-CN" b="1" baseline="-25000" dirty="0">
                <a:solidFill>
                  <a:srgbClr val="FF0000"/>
                </a:solidFill>
                <a:latin typeface="Tahoma" panose="020B0604030504040204" pitchFamily="34" charset="0"/>
              </a:rPr>
              <a:t>24</a:t>
            </a:r>
            <a:endParaRPr lang="en-US" altLang="zh-CN" b="1" baseline="-250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39993" name="Rectangle 34"/>
          <p:cNvSpPr/>
          <p:nvPr/>
        </p:nvSpPr>
        <p:spPr>
          <a:xfrm>
            <a:off x="104458" y="2568575"/>
            <a:ext cx="1295400" cy="3333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endParaRPr lang="en-US" altLang="zh-CN" sz="2000" b="1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endParaRPr lang="en-US" altLang="zh-CN" sz="2000" b="1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algn="ctr"/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CPU</a:t>
            </a:r>
            <a:endParaRPr lang="en-US" altLang="zh-CN" b="1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algn="ctr"/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 (32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位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)</a:t>
            </a:r>
            <a:endParaRPr lang="en-US" altLang="zh-CN" b="1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  </a:t>
            </a:r>
            <a:endParaRPr lang="en-US" altLang="zh-CN" b="1" baseline="-250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endParaRPr lang="en-US" altLang="zh-CN" b="1" baseline="-250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endParaRPr lang="en-US" altLang="zh-CN" b="1" baseline="-250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endParaRPr lang="en-US" altLang="zh-CN" b="1" baseline="-250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endParaRPr lang="en-US" altLang="zh-CN" sz="2000" b="1" baseline="-250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endParaRPr lang="en-US" altLang="zh-CN" sz="2000" b="1" baseline="-250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endParaRPr lang="en-US" altLang="zh-CN" sz="2000" b="1" baseline="-250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endParaRPr lang="en-US" altLang="zh-CN" sz="2000" b="1" baseline="-250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4.2.3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存储器系统设计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7915" name="Rectangle 35"/>
          <p:cNvSpPr/>
          <p:nvPr>
            <p:custDataLst>
              <p:tags r:id="rId2"/>
            </p:custDataLst>
          </p:nvPr>
        </p:nvSpPr>
        <p:spPr>
          <a:xfrm>
            <a:off x="546735" y="1493203"/>
            <a:ext cx="7853363" cy="4603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  <a:latin typeface="Tahoma" panose="020B0604030504040204" pitchFamily="34" charset="0"/>
              </a:rPr>
              <a:t>1. </a:t>
            </a:r>
            <a:r>
              <a:rPr lang="zh-CN" altLang="en-US" b="1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存储器系统结构</a:t>
            </a:r>
            <a:r>
              <a:rPr lang="en-US" altLang="zh-CN" b="1" dirty="0">
                <a:solidFill>
                  <a:schemeClr val="tx1"/>
                </a:solidFill>
                <a:latin typeface="Tahoma" panose="020B0604030504040204" pitchFamily="34" charset="0"/>
              </a:rPr>
              <a:t>-- </a:t>
            </a:r>
            <a:r>
              <a:rPr lang="en-US" altLang="zh-CN" b="1" dirty="0">
                <a:sym typeface="+mn-ea"/>
              </a:rPr>
              <a:t>32</a:t>
            </a:r>
            <a:r>
              <a:rPr lang="zh-CN" altLang="en-US" b="1" dirty="0">
                <a:sym typeface="+mn-ea"/>
              </a:rPr>
              <a:t>位</a:t>
            </a:r>
            <a:r>
              <a:rPr lang="en-US" altLang="zh-CN" b="1" dirty="0">
                <a:solidFill>
                  <a:schemeClr val="tx1"/>
                </a:solidFill>
                <a:latin typeface="Tahoma" panose="020B0604030504040204" pitchFamily="34" charset="0"/>
              </a:rPr>
              <a:t>CPU</a:t>
            </a:r>
            <a:r>
              <a:rPr lang="zh-CN" altLang="en-US" b="1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与存储器数据线连接</a:t>
            </a:r>
            <a:endParaRPr lang="zh-CN" altLang="en-US" b="1" dirty="0">
              <a:solidFill>
                <a:schemeClr val="tx1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3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Text Box 2"/>
          <p:cNvSpPr txBox="1"/>
          <p:nvPr/>
        </p:nvSpPr>
        <p:spPr>
          <a:xfrm>
            <a:off x="509905" y="1495425"/>
            <a:ext cx="8099425" cy="8661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Tahoma" panose="020B0604030504040204" pitchFamily="34" charset="0"/>
              </a:rPr>
              <a:t>存储器系统设计基本方法：</a:t>
            </a:r>
            <a:endParaRPr lang="en-US" altLang="zh-CN" b="1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1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）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分析存储器系统的地址范围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117764" name="Text Box 4"/>
          <p:cNvSpPr txBox="1"/>
          <p:nvPr/>
        </p:nvSpPr>
        <p:spPr>
          <a:xfrm>
            <a:off x="684213" y="2779713"/>
            <a:ext cx="1368425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chemeClr val="tx2"/>
                </a:solidFill>
                <a:latin typeface="Tahoma" panose="020B0604030504040204" pitchFamily="34" charset="0"/>
              </a:rPr>
              <a:t>方法：</a:t>
            </a:r>
            <a:endParaRPr lang="zh-CN" altLang="en-US" b="1" dirty="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117765" name="Text Box 5"/>
          <p:cNvSpPr txBox="1"/>
          <p:nvPr/>
        </p:nvSpPr>
        <p:spPr>
          <a:xfrm>
            <a:off x="1908175" y="2492375"/>
            <a:ext cx="5400675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b="1" dirty="0">
                <a:latin typeface="Tahoma" panose="020B0604030504040204" pitchFamily="34" charset="0"/>
              </a:rPr>
              <a:t>  1</a:t>
            </a:r>
            <a:r>
              <a:rPr lang="zh-CN" altLang="en-US" b="1" dirty="0">
                <a:latin typeface="Tahoma" panose="020B0604030504040204" pitchFamily="34" charset="0"/>
              </a:rPr>
              <a:t>）写出高位地址的每一位状态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117766" name="Text Box 6"/>
          <p:cNvSpPr txBox="1"/>
          <p:nvPr/>
        </p:nvSpPr>
        <p:spPr>
          <a:xfrm>
            <a:off x="1908175" y="3068638"/>
            <a:ext cx="5400675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b="1" dirty="0">
                <a:latin typeface="Tahoma" panose="020B0604030504040204" pitchFamily="34" charset="0"/>
              </a:rPr>
              <a:t>  2</a:t>
            </a:r>
            <a:r>
              <a:rPr lang="zh-CN" altLang="en-US" b="1" dirty="0">
                <a:latin typeface="Tahoma" panose="020B0604030504040204" pitchFamily="34" charset="0"/>
              </a:rPr>
              <a:t>）低位地址从全</a:t>
            </a:r>
            <a:r>
              <a:rPr lang="en-US" altLang="zh-CN" b="1" dirty="0">
                <a:latin typeface="Tahoma" panose="020B0604030504040204" pitchFamily="34" charset="0"/>
              </a:rPr>
              <a:t>0</a:t>
            </a:r>
            <a:r>
              <a:rPr lang="zh-CN" altLang="en-US" b="1" dirty="0">
                <a:latin typeface="Tahoma" panose="020B0604030504040204" pitchFamily="34" charset="0"/>
              </a:rPr>
              <a:t>到全</a:t>
            </a:r>
            <a:r>
              <a:rPr lang="en-US" altLang="zh-CN" b="1" dirty="0">
                <a:latin typeface="Tahoma" panose="020B0604030504040204" pitchFamily="34" charset="0"/>
              </a:rPr>
              <a:t>1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117767" name="AutoShape 7"/>
          <p:cNvSpPr/>
          <p:nvPr/>
        </p:nvSpPr>
        <p:spPr>
          <a:xfrm>
            <a:off x="1908175" y="2636838"/>
            <a:ext cx="142875" cy="792162"/>
          </a:xfrm>
          <a:prstGeom prst="leftBrace">
            <a:avLst>
              <a:gd name="adj1" fmla="val 46100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40966" name="Text Box 8"/>
          <p:cNvSpPr txBox="1"/>
          <p:nvPr/>
        </p:nvSpPr>
        <p:spPr>
          <a:xfrm>
            <a:off x="509905" y="3572828"/>
            <a:ext cx="80010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2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）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已知地址范围，画电路连接图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117769" name="Text Box 9"/>
          <p:cNvSpPr txBox="1"/>
          <p:nvPr/>
        </p:nvSpPr>
        <p:spPr>
          <a:xfrm>
            <a:off x="684213" y="5085398"/>
            <a:ext cx="1368425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chemeClr val="tx2"/>
                </a:solidFill>
                <a:latin typeface="Tahoma" panose="020B0604030504040204" pitchFamily="34" charset="0"/>
              </a:rPr>
              <a:t>方法：</a:t>
            </a:r>
            <a:endParaRPr lang="zh-CN" altLang="en-US" b="1" dirty="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117770" name="Text Box 10"/>
          <p:cNvSpPr txBox="1"/>
          <p:nvPr/>
        </p:nvSpPr>
        <p:spPr>
          <a:xfrm>
            <a:off x="1908175" y="4003993"/>
            <a:ext cx="6840538" cy="9772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b="1" dirty="0">
                <a:latin typeface="Tahoma" panose="020B0604030504040204" pitchFamily="34" charset="0"/>
              </a:rPr>
              <a:t>  1</a:t>
            </a:r>
            <a:r>
              <a:rPr lang="zh-CN" altLang="en-US" b="1" dirty="0">
                <a:latin typeface="Tahoma" panose="020B0604030504040204" pitchFamily="34" charset="0"/>
              </a:rPr>
              <a:t>）</a:t>
            </a:r>
            <a:r>
              <a:rPr lang="zh-CN" altLang="en-US" b="1" dirty="0">
                <a:sym typeface="+mn-ea"/>
              </a:rPr>
              <a:t>画出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系统高位地址线</a:t>
            </a:r>
            <a:r>
              <a:rPr lang="zh-CN" altLang="en-US" b="1" dirty="0">
                <a:sym typeface="+mn-ea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译码电路</a:t>
            </a:r>
            <a:r>
              <a:rPr lang="zh-CN" altLang="en-US" b="1" dirty="0">
                <a:sym typeface="+mn-ea"/>
              </a:rPr>
              <a:t>，并与芯片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片选信号</a:t>
            </a:r>
            <a:r>
              <a:rPr lang="zh-CN" altLang="en-US" b="1" dirty="0">
                <a:sym typeface="+mn-ea"/>
              </a:rPr>
              <a:t>相连</a:t>
            </a:r>
            <a:endParaRPr lang="zh-CN" altLang="en-US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117771" name="Text Box 11"/>
          <p:cNvSpPr txBox="1"/>
          <p:nvPr/>
        </p:nvSpPr>
        <p:spPr>
          <a:xfrm>
            <a:off x="1908175" y="5011738"/>
            <a:ext cx="7235825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b="1" dirty="0">
                <a:latin typeface="Tahoma" panose="020B0604030504040204" pitchFamily="34" charset="0"/>
              </a:rPr>
              <a:t>  2</a:t>
            </a:r>
            <a:r>
              <a:rPr lang="zh-CN" altLang="en-US" b="1" dirty="0">
                <a:latin typeface="Tahoma" panose="020B0604030504040204" pitchFamily="34" charset="0"/>
              </a:rPr>
              <a:t>）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系统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低位地址线</a:t>
            </a:r>
            <a:r>
              <a:rPr lang="zh-CN" altLang="en-US" b="1" dirty="0">
                <a:latin typeface="Tahoma" panose="020B0604030504040204" pitchFamily="34" charset="0"/>
              </a:rPr>
              <a:t>与芯片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地址信号</a:t>
            </a:r>
            <a:r>
              <a:rPr lang="zh-CN" altLang="en-US" b="1" dirty="0">
                <a:latin typeface="Tahoma" panose="020B0604030504040204" pitchFamily="34" charset="0"/>
              </a:rPr>
              <a:t>相连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117772" name="AutoShape 12"/>
          <p:cNvSpPr/>
          <p:nvPr/>
        </p:nvSpPr>
        <p:spPr>
          <a:xfrm>
            <a:off x="1908175" y="4220528"/>
            <a:ext cx="71438" cy="2087562"/>
          </a:xfrm>
          <a:prstGeom prst="leftBrace">
            <a:avLst>
              <a:gd name="adj1" fmla="val 242975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117774" name="Text Box 14"/>
          <p:cNvSpPr txBox="1"/>
          <p:nvPr/>
        </p:nvSpPr>
        <p:spPr>
          <a:xfrm>
            <a:off x="1908175" y="5706428"/>
            <a:ext cx="6192838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b="1" dirty="0">
                <a:latin typeface="Tahoma" panose="020B0604030504040204" pitchFamily="34" charset="0"/>
              </a:rPr>
              <a:t>  3</a:t>
            </a:r>
            <a:r>
              <a:rPr lang="zh-CN" altLang="en-US" b="1" dirty="0">
                <a:latin typeface="Tahoma" panose="020B0604030504040204" pitchFamily="34" charset="0"/>
              </a:rPr>
              <a:t>）芯片与</a:t>
            </a:r>
            <a:r>
              <a:rPr lang="en-US" altLang="zh-CN" b="1" dirty="0">
                <a:latin typeface="Tahoma" panose="020B0604030504040204" pitchFamily="34" charset="0"/>
              </a:rPr>
              <a:t>CPU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数据线</a:t>
            </a:r>
            <a:r>
              <a:rPr lang="zh-CN" altLang="en-US" b="1" dirty="0">
                <a:latin typeface="Tahoma" panose="020B0604030504040204" pitchFamily="34" charset="0"/>
              </a:rPr>
              <a:t>、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控制线</a:t>
            </a:r>
            <a:r>
              <a:rPr lang="zh-CN" altLang="en-US" b="1" dirty="0">
                <a:latin typeface="Tahoma" panose="020B0604030504040204" pitchFamily="34" charset="0"/>
              </a:rPr>
              <a:t>的连接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4.2.3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存储器系统设计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7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7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7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7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7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7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7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17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17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4" grpId="0"/>
      <p:bldP spid="117765" grpId="0"/>
      <p:bldP spid="117766" grpId="0"/>
      <p:bldP spid="117767" grpId="0" bldLvl="0" animBg="1"/>
      <p:bldP spid="117769" grpId="0"/>
      <p:bldP spid="117770" grpId="0"/>
      <p:bldP spid="117771" grpId="0"/>
      <p:bldP spid="117772" grpId="0" bldLvl="0" animBg="1"/>
      <p:bldP spid="11777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8786" name="Text Box 2"/>
          <p:cNvSpPr txBox="1"/>
          <p:nvPr/>
        </p:nvSpPr>
        <p:spPr>
          <a:xfrm>
            <a:off x="539115" y="1912620"/>
            <a:ext cx="7964805" cy="21209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10000"/>
              </a:lnSpc>
              <a:spcBef>
                <a:spcPct val="50000"/>
              </a:spcBef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[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案例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4-1]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：</a:t>
            </a:r>
            <a:r>
              <a:rPr lang="en-US" altLang="zh-CN" b="1" dirty="0">
                <a:latin typeface="Times New Roman" panose="02020603050405020304" pitchFamily="18" charset="0"/>
              </a:rPr>
              <a:t>8088CPU</a:t>
            </a:r>
            <a:r>
              <a:rPr lang="zh-CN" altLang="en-US" b="1" dirty="0">
                <a:latin typeface="Times New Roman" panose="02020603050405020304" pitchFamily="18" charset="0"/>
              </a:rPr>
              <a:t>工作在最小模式，配置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16KB</a:t>
            </a:r>
            <a:r>
              <a:rPr lang="en-US" altLang="zh-CN" b="1" dirty="0">
                <a:latin typeface="Times New Roman" panose="02020603050405020304" pitchFamily="18" charset="0"/>
              </a:rPr>
              <a:t> EPROM</a:t>
            </a:r>
            <a:r>
              <a:rPr lang="zh-CN" altLang="en-US" b="1" dirty="0">
                <a:latin typeface="Times New Roman" panose="02020603050405020304" pitchFamily="18" charset="0"/>
              </a:rPr>
              <a:t>，地址空间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10000H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∽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13FFFH</a:t>
            </a:r>
            <a:r>
              <a:rPr lang="zh-CN" altLang="en-US" b="1" dirty="0">
                <a:latin typeface="Times New Roman" panose="02020603050405020304" pitchFamily="18" charset="0"/>
              </a:rPr>
              <a:t>，选择芯片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2764</a:t>
            </a:r>
            <a:r>
              <a:rPr lang="zh-CN" altLang="en-US" b="1" dirty="0">
                <a:latin typeface="Times New Roman" panose="02020603050405020304" pitchFamily="18" charset="0"/>
              </a:rPr>
              <a:t>（容量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</a:rPr>
              <a:t>8K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</a:rPr>
              <a:t>×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</a:rPr>
              <a:t>8</a:t>
            </a:r>
            <a:r>
              <a:rPr lang="zh-CN" altLang="en-US" b="1" dirty="0">
                <a:latin typeface="Times New Roman" panose="02020603050405020304" pitchFamily="18" charset="0"/>
              </a:rPr>
              <a:t>）；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</a:rPr>
              <a:t>32KB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</a:rPr>
              <a:t>静态</a:t>
            </a:r>
            <a:r>
              <a:rPr lang="en-US" altLang="zh-CN" b="1" dirty="0">
                <a:latin typeface="Times New Roman" panose="02020603050405020304" pitchFamily="18" charset="0"/>
              </a:rPr>
              <a:t>SRAM</a:t>
            </a:r>
            <a:r>
              <a:rPr lang="zh-CN" altLang="en-US" b="1" dirty="0">
                <a:latin typeface="Times New Roman" panose="02020603050405020304" pitchFamily="18" charset="0"/>
              </a:rPr>
              <a:t>，地址空间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18000H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∽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1FFFFH</a:t>
            </a:r>
            <a:r>
              <a:rPr lang="zh-CN" altLang="en-US" b="1" dirty="0">
                <a:latin typeface="Times New Roman" panose="02020603050405020304" pitchFamily="18" charset="0"/>
              </a:rPr>
              <a:t>，采用芯片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6264</a:t>
            </a:r>
            <a:r>
              <a:rPr lang="zh-CN" altLang="en-US" b="1" dirty="0">
                <a:latin typeface="Times New Roman" panose="02020603050405020304" pitchFamily="18" charset="0"/>
              </a:rPr>
              <a:t>（容量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</a:rPr>
              <a:t>8K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</a:rPr>
              <a:t>×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</a:rPr>
              <a:t>8</a:t>
            </a:r>
            <a:r>
              <a:rPr lang="zh-CN" altLang="en-US" b="1" dirty="0">
                <a:latin typeface="Times New Roman" panose="02020603050405020304" pitchFamily="18" charset="0"/>
              </a:rPr>
              <a:t>）。</a:t>
            </a:r>
            <a:r>
              <a:rPr lang="zh-CN" altLang="en-US" b="1" dirty="0">
                <a:latin typeface="Tahoma" panose="020B0604030504040204" pitchFamily="34" charset="0"/>
                <a:sym typeface="宋体" panose="02010600030101010101" pitchFamily="2" charset="-122"/>
              </a:rPr>
              <a:t>采用全地址译码法，译码器为</a:t>
            </a:r>
            <a:r>
              <a:rPr lang="en-US" altLang="zh-CN" b="1" dirty="0">
                <a:latin typeface="Tahoma" panose="020B0604030504040204" pitchFamily="34" charset="0"/>
                <a:sym typeface="宋体" panose="02010600030101010101" pitchFamily="2" charset="-122"/>
              </a:rPr>
              <a:t>74LS138</a:t>
            </a:r>
            <a:r>
              <a:rPr lang="zh-CN" altLang="en-US" b="1" dirty="0">
                <a:latin typeface="Tahoma" panose="020B0604030504040204" pitchFamily="34" charset="0"/>
                <a:sym typeface="宋体" panose="02010600030101010101" pitchFamily="2" charset="-122"/>
              </a:rPr>
              <a:t>。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118787" name="Text Box 3"/>
          <p:cNvSpPr txBox="1"/>
          <p:nvPr/>
        </p:nvSpPr>
        <p:spPr>
          <a:xfrm>
            <a:off x="611823" y="4033203"/>
            <a:ext cx="38862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第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步：确定芯片个数</a:t>
            </a:r>
            <a:r>
              <a:rPr lang="zh-CN" altLang="en-US" b="1" dirty="0">
                <a:latin typeface="Tahoma" panose="020B0604030504040204" pitchFamily="34" charset="0"/>
              </a:rPr>
              <a:t>	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9750" y="1462405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sym typeface="+mn-ea"/>
              </a:rPr>
              <a:t>1. 8088CPU存储器系统设计</a:t>
            </a:r>
            <a:endParaRPr lang="zh-CN" altLang="en-US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4.2.3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存储器系统设计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92275" y="4493895"/>
            <a:ext cx="670496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spcBef>
                <a:spcPct val="20000"/>
              </a:spcBef>
            </a:pPr>
            <a:r>
              <a:rPr lang="en-US" altLang="zh-CN" b="1" dirty="0">
                <a:sym typeface="+mn-ea"/>
              </a:rPr>
              <a:t>Intel2764</a:t>
            </a:r>
            <a:r>
              <a:rPr lang="zh-CN" altLang="zh-CN" b="1" dirty="0">
                <a:sym typeface="+mn-ea"/>
              </a:rPr>
              <a:t>：</a:t>
            </a:r>
            <a:r>
              <a:rPr lang="en-US" altLang="zh-CN" b="1" dirty="0">
                <a:sym typeface="+mn-ea"/>
              </a:rPr>
              <a:t>16KB/</a:t>
            </a:r>
            <a:r>
              <a:rPr lang="zh-CN" altLang="en-US" b="1" dirty="0">
                <a:sym typeface="+mn-ea"/>
              </a:rPr>
              <a:t>（</a:t>
            </a:r>
            <a:r>
              <a:rPr lang="en-US" altLang="zh-CN" b="1" dirty="0">
                <a:sym typeface="+mn-ea"/>
              </a:rPr>
              <a:t>8K</a:t>
            </a:r>
            <a:r>
              <a:rPr lang="en-US" altLang="zh-CN" b="1" dirty="0">
                <a:latin typeface="Arial" panose="020B0604020202020204" pitchFamily="34" charset="0"/>
                <a:sym typeface="+mn-ea"/>
              </a:rPr>
              <a:t>×</a:t>
            </a:r>
            <a:r>
              <a:rPr lang="en-US" altLang="zh-CN" b="1" dirty="0">
                <a:sym typeface="+mn-ea"/>
              </a:rPr>
              <a:t>8</a:t>
            </a:r>
            <a:r>
              <a:rPr lang="zh-CN" altLang="en-US" b="1" dirty="0">
                <a:sym typeface="+mn-ea"/>
              </a:rPr>
              <a:t>）</a:t>
            </a:r>
            <a:r>
              <a:rPr lang="en-US" altLang="zh-CN" b="1" dirty="0">
                <a:sym typeface="+mn-ea"/>
              </a:rPr>
              <a:t>=2</a:t>
            </a:r>
            <a:r>
              <a:rPr lang="zh-CN" altLang="en-US" b="1" dirty="0">
                <a:sym typeface="+mn-ea"/>
              </a:rPr>
              <a:t>（片）；</a:t>
            </a:r>
            <a:endParaRPr lang="zh-CN" altLang="en-US" b="1" dirty="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92275" y="5013325"/>
            <a:ext cx="67405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spcBef>
                <a:spcPct val="50000"/>
              </a:spcBef>
            </a:pPr>
            <a:r>
              <a:rPr lang="en-US" altLang="zh-CN" b="1" dirty="0">
                <a:sym typeface="+mn-ea"/>
              </a:rPr>
              <a:t>Intel6264</a:t>
            </a:r>
            <a:r>
              <a:rPr lang="zh-CN" altLang="zh-CN" b="1" dirty="0">
                <a:sym typeface="+mn-ea"/>
              </a:rPr>
              <a:t>：</a:t>
            </a:r>
            <a:r>
              <a:rPr lang="en-US" altLang="zh-CN" b="1" dirty="0">
                <a:sym typeface="+mn-ea"/>
              </a:rPr>
              <a:t>32KB/</a:t>
            </a:r>
            <a:r>
              <a:rPr lang="zh-CN" altLang="en-US" b="1" dirty="0">
                <a:sym typeface="+mn-ea"/>
              </a:rPr>
              <a:t>（</a:t>
            </a:r>
            <a:r>
              <a:rPr lang="en-US" altLang="zh-CN" b="1" dirty="0">
                <a:sym typeface="+mn-ea"/>
              </a:rPr>
              <a:t>8K</a:t>
            </a:r>
            <a:r>
              <a:rPr lang="en-US" altLang="zh-CN" b="1" dirty="0">
                <a:latin typeface="Arial" panose="020B0604020202020204" pitchFamily="34" charset="0"/>
                <a:sym typeface="+mn-ea"/>
              </a:rPr>
              <a:t>×</a:t>
            </a:r>
            <a:r>
              <a:rPr lang="en-US" altLang="zh-CN" b="1" dirty="0">
                <a:sym typeface="+mn-ea"/>
              </a:rPr>
              <a:t>8</a:t>
            </a:r>
            <a:r>
              <a:rPr lang="zh-CN" altLang="en-US" b="1" dirty="0">
                <a:sym typeface="+mn-ea"/>
              </a:rPr>
              <a:t>）</a:t>
            </a:r>
            <a:r>
              <a:rPr lang="en-US" altLang="zh-CN" b="1" dirty="0">
                <a:sym typeface="+mn-ea"/>
              </a:rPr>
              <a:t>=4</a:t>
            </a:r>
            <a:r>
              <a:rPr lang="zh-CN" altLang="en-US" b="1" dirty="0">
                <a:sym typeface="+mn-ea"/>
              </a:rPr>
              <a:t>（片）；</a:t>
            </a:r>
            <a:endParaRPr lang="zh-CN" altLang="en-US" b="1" dirty="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92275" y="5532755"/>
            <a:ext cx="670496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spcBef>
                <a:spcPct val="50000"/>
              </a:spcBef>
            </a:pPr>
            <a:r>
              <a:rPr lang="zh-CN" altLang="en-US" b="1" dirty="0">
                <a:sym typeface="+mn-ea"/>
              </a:rPr>
              <a:t>采用全地址译码法，使用</a:t>
            </a:r>
            <a:r>
              <a:rPr lang="en-US" altLang="zh-CN" b="1" dirty="0">
                <a:sym typeface="+mn-ea"/>
              </a:rPr>
              <a:t>74LS138</a:t>
            </a:r>
            <a:r>
              <a:rPr lang="zh-CN" altLang="en-US" b="1" dirty="0">
                <a:sym typeface="+mn-ea"/>
              </a:rPr>
              <a:t>译码器译码</a:t>
            </a:r>
            <a:endParaRPr lang="zh-CN" altLang="en-US" b="1" dirty="0">
              <a:sym typeface="+mn-ea"/>
            </a:endParaRPr>
          </a:p>
        </p:txBody>
      </p:sp>
      <p:sp>
        <p:nvSpPr>
          <p:cNvPr id="43009" name="Text Box 3"/>
          <p:cNvSpPr txBox="1"/>
          <p:nvPr/>
        </p:nvSpPr>
        <p:spPr>
          <a:xfrm>
            <a:off x="611823" y="5948998"/>
            <a:ext cx="6172200" cy="4603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第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2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步：为每片芯片分配地址范围</a:t>
            </a:r>
            <a:endParaRPr lang="zh-CN" altLang="en-US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787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3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7" grpId="0" build="p"/>
      <p:bldP spid="3" grpId="0"/>
      <p:bldP spid="4" grpId="0"/>
      <p:bldP spid="5" grpId="0"/>
      <p:bldP spid="4300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25956" name="Group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79705" y="1412875"/>
          <a:ext cx="8810625" cy="5365750"/>
        </p:xfrm>
        <a:graphic>
          <a:graphicData uri="http://schemas.openxmlformats.org/drawingml/2006/table">
            <a:tbl>
              <a:tblPr/>
              <a:tblGrid>
                <a:gridCol w="684530"/>
                <a:gridCol w="6994525"/>
                <a:gridCol w="1131570"/>
              </a:tblGrid>
              <a:tr h="3981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芯片</a:t>
                      </a: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16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19</a:t>
                      </a: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16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</a:t>
                      </a: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16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17</a:t>
                      </a: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16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16</a:t>
                      </a: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A</a:t>
                      </a:r>
                      <a:r>
                        <a:rPr kumimoji="1" lang="en-US" altLang="zh-CN" sz="16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 </a:t>
                      </a: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16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14 </a:t>
                      </a: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16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   </a:t>
                      </a: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16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</a:t>
                      </a: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A</a:t>
                      </a:r>
                      <a:r>
                        <a:rPr kumimoji="1" lang="en-US" altLang="zh-CN" sz="16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 </a:t>
                      </a: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16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 </a:t>
                      </a: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16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 </a:t>
                      </a: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16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A</a:t>
                      </a:r>
                      <a:r>
                        <a:rPr kumimoji="1" lang="en-US" altLang="zh-CN" sz="16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  </a:t>
                      </a: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16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  </a:t>
                      </a: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16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  </a:t>
                      </a: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16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A</a:t>
                      </a:r>
                      <a:r>
                        <a:rPr kumimoji="1" lang="en-US" altLang="zh-CN" sz="16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 </a:t>
                      </a: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16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  </a:t>
                      </a: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16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</a:t>
                      </a: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16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6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地址范围</a:t>
                      </a: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827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1#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(2764)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2#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(2764)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827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3#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(6264)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827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4#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(6264)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5#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(6264)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828675"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+mn-ea"/>
                        </a:rPr>
                        <a:t>6#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+mn-ea"/>
                        </a:rPr>
                        <a:t>(6264)</a:t>
                      </a:r>
                      <a:endParaRPr kumimoji="1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25986" name="Rectangle 34"/>
          <p:cNvSpPr/>
          <p:nvPr/>
        </p:nvSpPr>
        <p:spPr>
          <a:xfrm>
            <a:off x="827088" y="1812925"/>
            <a:ext cx="6713537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1600" b="1" dirty="0">
                <a:solidFill>
                  <a:srgbClr val="0000FF"/>
                </a:solidFill>
                <a:latin typeface="Tahoma" panose="020B0604030504040204" pitchFamily="34" charset="0"/>
              </a:rPr>
              <a:t>0   0   0   1</a:t>
            </a:r>
            <a:r>
              <a:rPr lang="en-US" altLang="zh-CN" sz="1600" b="1" dirty="0">
                <a:latin typeface="Tahoma" panose="020B0604030504040204" pitchFamily="34" charset="0"/>
              </a:rPr>
              <a:t>       </a:t>
            </a:r>
            <a:r>
              <a:rPr lang="en-US" altLang="zh-CN" sz="1600" b="1" dirty="0">
                <a:solidFill>
                  <a:srgbClr val="FF0000"/>
                </a:solidFill>
                <a:latin typeface="Tahoma" panose="020B0604030504040204" pitchFamily="34" charset="0"/>
              </a:rPr>
              <a:t>0   0   0</a:t>
            </a:r>
            <a:r>
              <a:rPr lang="en-US" altLang="zh-CN" sz="1600" b="1" dirty="0">
                <a:latin typeface="Tahoma" panose="020B0604030504040204" pitchFamily="34" charset="0"/>
              </a:rPr>
              <a:t>   0       0   0   0   0     0   0  0  0     0   0   0  0</a:t>
            </a:r>
            <a:endParaRPr lang="en-US" altLang="zh-CN" sz="1600" b="1" dirty="0">
              <a:latin typeface="Tahoma" panose="020B0604030504040204" pitchFamily="34" charset="0"/>
            </a:endParaRPr>
          </a:p>
        </p:txBody>
      </p:sp>
      <p:sp>
        <p:nvSpPr>
          <p:cNvPr id="125987" name="Rectangle 35"/>
          <p:cNvSpPr/>
          <p:nvPr/>
        </p:nvSpPr>
        <p:spPr>
          <a:xfrm>
            <a:off x="827088" y="2173288"/>
            <a:ext cx="6713537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1600" b="1" dirty="0">
                <a:solidFill>
                  <a:srgbClr val="0000FF"/>
                </a:solidFill>
                <a:latin typeface="Tahoma" panose="020B0604030504040204" pitchFamily="34" charset="0"/>
              </a:rPr>
              <a:t>0   0   0   1 </a:t>
            </a:r>
            <a:r>
              <a:rPr lang="en-US" altLang="zh-CN" sz="1600" b="1" dirty="0">
                <a:latin typeface="Tahoma" panose="020B0604030504040204" pitchFamily="34" charset="0"/>
              </a:rPr>
              <a:t>      </a:t>
            </a:r>
            <a:r>
              <a:rPr lang="en-US" altLang="zh-CN" sz="1600" b="1" dirty="0">
                <a:solidFill>
                  <a:srgbClr val="FF0000"/>
                </a:solidFill>
                <a:latin typeface="Tahoma" panose="020B0604030504040204" pitchFamily="34" charset="0"/>
              </a:rPr>
              <a:t>0   0   0</a:t>
            </a:r>
            <a:r>
              <a:rPr lang="en-US" altLang="zh-CN" sz="1600" b="1" dirty="0">
                <a:latin typeface="Tahoma" panose="020B0604030504040204" pitchFamily="34" charset="0"/>
              </a:rPr>
              <a:t>   1       1  1   1   1      1   1  1  1     1   1   1  1</a:t>
            </a:r>
            <a:endParaRPr lang="en-US" altLang="zh-CN" sz="1600" b="1" dirty="0">
              <a:latin typeface="Tahoma" panose="020B0604030504040204" pitchFamily="34" charset="0"/>
            </a:endParaRPr>
          </a:p>
        </p:txBody>
      </p:sp>
      <p:sp>
        <p:nvSpPr>
          <p:cNvPr id="125988" name="Rectangle 36"/>
          <p:cNvSpPr/>
          <p:nvPr/>
        </p:nvSpPr>
        <p:spPr>
          <a:xfrm>
            <a:off x="7866063" y="1830388"/>
            <a:ext cx="1277937" cy="5826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1600" b="1" dirty="0">
                <a:latin typeface="Tahoma" panose="020B0604030504040204" pitchFamily="34" charset="0"/>
              </a:rPr>
              <a:t>10000H~</a:t>
            </a:r>
            <a:endParaRPr lang="en-US" altLang="zh-CN" sz="1600" b="1" dirty="0">
              <a:latin typeface="Tahoma" panose="020B0604030504040204" pitchFamily="34" charset="0"/>
            </a:endParaRPr>
          </a:p>
          <a:p>
            <a:r>
              <a:rPr lang="en-US" altLang="zh-CN" sz="1600" b="1" dirty="0">
                <a:latin typeface="Tahoma" panose="020B0604030504040204" pitchFamily="34" charset="0"/>
              </a:rPr>
              <a:t>11FFFH</a:t>
            </a:r>
            <a:endParaRPr lang="en-US" altLang="zh-CN" sz="1600" b="1" dirty="0">
              <a:latin typeface="Tahoma" panose="020B0604030504040204" pitchFamily="34" charset="0"/>
            </a:endParaRPr>
          </a:p>
        </p:txBody>
      </p:sp>
      <p:sp>
        <p:nvSpPr>
          <p:cNvPr id="125989" name="Rectangle 37"/>
          <p:cNvSpPr/>
          <p:nvPr/>
        </p:nvSpPr>
        <p:spPr>
          <a:xfrm>
            <a:off x="827088" y="2640013"/>
            <a:ext cx="6713537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1600" b="1" dirty="0">
                <a:solidFill>
                  <a:srgbClr val="0000FF"/>
                </a:solidFill>
                <a:latin typeface="Tahoma" panose="020B0604030504040204" pitchFamily="34" charset="0"/>
              </a:rPr>
              <a:t>0   0   0   1</a:t>
            </a:r>
            <a:r>
              <a:rPr lang="en-US" altLang="zh-CN" sz="1600" b="1" dirty="0">
                <a:latin typeface="Tahoma" panose="020B0604030504040204" pitchFamily="34" charset="0"/>
              </a:rPr>
              <a:t>       </a:t>
            </a:r>
            <a:r>
              <a:rPr lang="en-US" altLang="zh-CN" sz="1600" b="1" dirty="0">
                <a:solidFill>
                  <a:srgbClr val="FF0000"/>
                </a:solidFill>
                <a:latin typeface="Tahoma" panose="020B0604030504040204" pitchFamily="34" charset="0"/>
              </a:rPr>
              <a:t>0   0   1</a:t>
            </a:r>
            <a:r>
              <a:rPr lang="en-US" altLang="zh-CN" sz="1600" b="1" dirty="0">
                <a:latin typeface="Tahoma" panose="020B0604030504040204" pitchFamily="34" charset="0"/>
              </a:rPr>
              <a:t>  </a:t>
            </a:r>
            <a:r>
              <a:rPr lang="en-US" altLang="zh-CN" sz="1600" b="1" dirty="0">
                <a:solidFill>
                  <a:schemeClr val="tx2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1600" b="1" dirty="0">
                <a:latin typeface="Tahoma" panose="020B0604030504040204" pitchFamily="34" charset="0"/>
              </a:rPr>
              <a:t>0       0   0   0   0     0   0  0  0     0   0   0  0</a:t>
            </a:r>
            <a:endParaRPr lang="en-US" altLang="zh-CN" sz="1600" b="1" dirty="0">
              <a:latin typeface="Tahoma" panose="020B0604030504040204" pitchFamily="34" charset="0"/>
            </a:endParaRPr>
          </a:p>
        </p:txBody>
      </p:sp>
      <p:sp>
        <p:nvSpPr>
          <p:cNvPr id="125990" name="Rectangle 38"/>
          <p:cNvSpPr/>
          <p:nvPr/>
        </p:nvSpPr>
        <p:spPr>
          <a:xfrm>
            <a:off x="827088" y="3036888"/>
            <a:ext cx="6713537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1600" b="1" dirty="0">
                <a:solidFill>
                  <a:srgbClr val="0000FF"/>
                </a:solidFill>
                <a:latin typeface="Tahoma" panose="020B0604030504040204" pitchFamily="34" charset="0"/>
              </a:rPr>
              <a:t>0   0   0   1</a:t>
            </a:r>
            <a:r>
              <a:rPr lang="en-US" altLang="zh-CN" sz="1600" b="1" dirty="0">
                <a:latin typeface="Tahoma" panose="020B0604030504040204" pitchFamily="34" charset="0"/>
              </a:rPr>
              <a:t>       </a:t>
            </a:r>
            <a:r>
              <a:rPr lang="en-US" altLang="zh-CN" sz="1600" b="1" dirty="0">
                <a:solidFill>
                  <a:srgbClr val="FF0000"/>
                </a:solidFill>
                <a:latin typeface="Tahoma" panose="020B0604030504040204" pitchFamily="34" charset="0"/>
              </a:rPr>
              <a:t>0   0   1</a:t>
            </a:r>
            <a:r>
              <a:rPr lang="en-US" altLang="zh-CN" sz="1600" b="1" dirty="0">
                <a:latin typeface="Tahoma" panose="020B0604030504040204" pitchFamily="34" charset="0"/>
              </a:rPr>
              <a:t>   1       1   1   1   1     1   1  1  1     1   1   1  1</a:t>
            </a:r>
            <a:endParaRPr lang="en-US" altLang="zh-CN" sz="1600" b="1" dirty="0">
              <a:latin typeface="Tahoma" panose="020B0604030504040204" pitchFamily="34" charset="0"/>
            </a:endParaRPr>
          </a:p>
        </p:txBody>
      </p:sp>
      <p:sp>
        <p:nvSpPr>
          <p:cNvPr id="125991" name="Rectangle 39"/>
          <p:cNvSpPr/>
          <p:nvPr/>
        </p:nvSpPr>
        <p:spPr>
          <a:xfrm>
            <a:off x="7866063" y="2676525"/>
            <a:ext cx="1277937" cy="5826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1600" b="1" dirty="0">
                <a:latin typeface="Tahoma" panose="020B0604030504040204" pitchFamily="34" charset="0"/>
              </a:rPr>
              <a:t>12000H~</a:t>
            </a:r>
            <a:endParaRPr lang="en-US" altLang="zh-CN" sz="1600" b="1" dirty="0">
              <a:latin typeface="Tahoma" panose="020B0604030504040204" pitchFamily="34" charset="0"/>
            </a:endParaRPr>
          </a:p>
          <a:p>
            <a:r>
              <a:rPr lang="en-US" altLang="zh-CN" sz="1600" b="1" dirty="0">
                <a:latin typeface="Tahoma" panose="020B0604030504040204" pitchFamily="34" charset="0"/>
              </a:rPr>
              <a:t>13FFFH</a:t>
            </a:r>
            <a:endParaRPr lang="en-US" altLang="zh-CN" sz="1600" b="1" dirty="0">
              <a:latin typeface="Tahoma" panose="020B0604030504040204" pitchFamily="34" charset="0"/>
            </a:endParaRPr>
          </a:p>
        </p:txBody>
      </p:sp>
      <p:sp>
        <p:nvSpPr>
          <p:cNvPr id="125992" name="Rectangle 40"/>
          <p:cNvSpPr/>
          <p:nvPr/>
        </p:nvSpPr>
        <p:spPr>
          <a:xfrm>
            <a:off x="827088" y="3468688"/>
            <a:ext cx="6713537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1600" b="1" dirty="0">
                <a:solidFill>
                  <a:srgbClr val="0000FF"/>
                </a:solidFill>
                <a:latin typeface="Tahoma" panose="020B0604030504040204" pitchFamily="34" charset="0"/>
              </a:rPr>
              <a:t>0   0   0   1</a:t>
            </a:r>
            <a:r>
              <a:rPr lang="en-US" altLang="zh-CN" sz="1600" b="1" dirty="0">
                <a:latin typeface="Tahoma" panose="020B0604030504040204" pitchFamily="34" charset="0"/>
              </a:rPr>
              <a:t>       </a:t>
            </a:r>
            <a:r>
              <a:rPr lang="en-US" altLang="zh-CN" sz="1600" b="1" dirty="0">
                <a:solidFill>
                  <a:srgbClr val="FF0000"/>
                </a:solidFill>
                <a:latin typeface="Tahoma" panose="020B0604030504040204" pitchFamily="34" charset="0"/>
              </a:rPr>
              <a:t>1   0   0</a:t>
            </a:r>
            <a:r>
              <a:rPr lang="en-US" altLang="zh-CN" sz="1600" b="1" dirty="0">
                <a:latin typeface="Tahoma" panose="020B0604030504040204" pitchFamily="34" charset="0"/>
              </a:rPr>
              <a:t>   0       0   0   0   0     0   0  0  0     0   0   0  0</a:t>
            </a:r>
            <a:endParaRPr lang="en-US" altLang="zh-CN" sz="1600" b="1" dirty="0">
              <a:latin typeface="Tahoma" panose="020B0604030504040204" pitchFamily="34" charset="0"/>
            </a:endParaRPr>
          </a:p>
        </p:txBody>
      </p:sp>
      <p:sp>
        <p:nvSpPr>
          <p:cNvPr id="125993" name="Rectangle 41"/>
          <p:cNvSpPr/>
          <p:nvPr/>
        </p:nvSpPr>
        <p:spPr>
          <a:xfrm>
            <a:off x="825500" y="3863975"/>
            <a:ext cx="6713538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1600" b="1" dirty="0">
                <a:solidFill>
                  <a:srgbClr val="0000FF"/>
                </a:solidFill>
                <a:latin typeface="Tahoma" panose="020B0604030504040204" pitchFamily="34" charset="0"/>
              </a:rPr>
              <a:t>0   0   0   1</a:t>
            </a:r>
            <a:r>
              <a:rPr lang="en-US" altLang="zh-CN" sz="1600" b="1" dirty="0">
                <a:latin typeface="Tahoma" panose="020B0604030504040204" pitchFamily="34" charset="0"/>
              </a:rPr>
              <a:t>       </a:t>
            </a:r>
            <a:r>
              <a:rPr lang="en-US" altLang="zh-CN" sz="1600" b="1" dirty="0">
                <a:solidFill>
                  <a:srgbClr val="FF0000"/>
                </a:solidFill>
                <a:latin typeface="Tahoma" panose="020B0604030504040204" pitchFamily="34" charset="0"/>
              </a:rPr>
              <a:t>1   0   0</a:t>
            </a:r>
            <a:r>
              <a:rPr lang="en-US" altLang="zh-CN" sz="1600" b="1" dirty="0">
                <a:latin typeface="Tahoma" panose="020B0604030504040204" pitchFamily="34" charset="0"/>
              </a:rPr>
              <a:t>   1       1   1   1   1     1   1  1  1     1   1   1  1</a:t>
            </a:r>
            <a:endParaRPr lang="en-US" altLang="zh-CN" sz="1600" b="1" dirty="0">
              <a:latin typeface="Tahoma" panose="020B0604030504040204" pitchFamily="34" charset="0"/>
            </a:endParaRPr>
          </a:p>
        </p:txBody>
      </p:sp>
      <p:sp>
        <p:nvSpPr>
          <p:cNvPr id="125994" name="Rectangle 42"/>
          <p:cNvSpPr/>
          <p:nvPr/>
        </p:nvSpPr>
        <p:spPr>
          <a:xfrm>
            <a:off x="7866063" y="3540125"/>
            <a:ext cx="1277937" cy="5826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1600" b="1" dirty="0">
                <a:latin typeface="Tahoma" panose="020B0604030504040204" pitchFamily="34" charset="0"/>
              </a:rPr>
              <a:t>18000H~</a:t>
            </a:r>
            <a:endParaRPr lang="en-US" altLang="zh-CN" sz="1600" b="1" dirty="0">
              <a:latin typeface="Tahoma" panose="020B0604030504040204" pitchFamily="34" charset="0"/>
            </a:endParaRPr>
          </a:p>
          <a:p>
            <a:r>
              <a:rPr lang="en-US" altLang="zh-CN" sz="1600" b="1" dirty="0">
                <a:latin typeface="Tahoma" panose="020B0604030504040204" pitchFamily="34" charset="0"/>
              </a:rPr>
              <a:t>19FFFH</a:t>
            </a:r>
            <a:endParaRPr lang="en-US" altLang="zh-CN" sz="1600" b="1" dirty="0">
              <a:latin typeface="Tahoma" panose="020B0604030504040204" pitchFamily="34" charset="0"/>
            </a:endParaRPr>
          </a:p>
        </p:txBody>
      </p:sp>
      <p:sp>
        <p:nvSpPr>
          <p:cNvPr id="125995" name="Rectangle 43"/>
          <p:cNvSpPr/>
          <p:nvPr/>
        </p:nvSpPr>
        <p:spPr>
          <a:xfrm>
            <a:off x="827088" y="4332288"/>
            <a:ext cx="6713537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1600" b="1" dirty="0">
                <a:solidFill>
                  <a:srgbClr val="0000FF"/>
                </a:solidFill>
                <a:latin typeface="Tahoma" panose="020B0604030504040204" pitchFamily="34" charset="0"/>
              </a:rPr>
              <a:t>0   0   0   1</a:t>
            </a:r>
            <a:r>
              <a:rPr lang="en-US" altLang="zh-CN" sz="1600" b="1" dirty="0">
                <a:latin typeface="Tahoma" panose="020B0604030504040204" pitchFamily="34" charset="0"/>
              </a:rPr>
              <a:t>       </a:t>
            </a:r>
            <a:r>
              <a:rPr lang="en-US" altLang="zh-CN" sz="1600" b="1" dirty="0">
                <a:solidFill>
                  <a:srgbClr val="FF0000"/>
                </a:solidFill>
                <a:latin typeface="Tahoma" panose="020B0604030504040204" pitchFamily="34" charset="0"/>
              </a:rPr>
              <a:t>1   0   1</a:t>
            </a:r>
            <a:r>
              <a:rPr lang="en-US" altLang="zh-CN" sz="1600" b="1" dirty="0">
                <a:latin typeface="Tahoma" panose="020B0604030504040204" pitchFamily="34" charset="0"/>
              </a:rPr>
              <a:t>   0       0   0   0   0     0   0  0  0     0   0   0  0</a:t>
            </a:r>
            <a:endParaRPr lang="en-US" altLang="zh-CN" sz="1600" b="1" dirty="0">
              <a:latin typeface="Tahoma" panose="020B0604030504040204" pitchFamily="34" charset="0"/>
            </a:endParaRPr>
          </a:p>
        </p:txBody>
      </p:sp>
      <p:sp>
        <p:nvSpPr>
          <p:cNvPr id="125996" name="Rectangle 44"/>
          <p:cNvSpPr/>
          <p:nvPr/>
        </p:nvSpPr>
        <p:spPr>
          <a:xfrm>
            <a:off x="827088" y="4692650"/>
            <a:ext cx="6713537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1600" b="1" dirty="0">
                <a:solidFill>
                  <a:srgbClr val="0000FF"/>
                </a:solidFill>
                <a:latin typeface="Tahoma" panose="020B0604030504040204" pitchFamily="34" charset="0"/>
              </a:rPr>
              <a:t>0   0   0   1</a:t>
            </a:r>
            <a:r>
              <a:rPr lang="en-US" altLang="zh-CN" sz="1600" b="1" dirty="0">
                <a:latin typeface="Tahoma" panose="020B0604030504040204" pitchFamily="34" charset="0"/>
              </a:rPr>
              <a:t>       </a:t>
            </a:r>
            <a:r>
              <a:rPr lang="en-US" altLang="zh-CN" sz="1600" b="1" dirty="0">
                <a:solidFill>
                  <a:srgbClr val="FF0000"/>
                </a:solidFill>
                <a:latin typeface="Tahoma" panose="020B0604030504040204" pitchFamily="34" charset="0"/>
              </a:rPr>
              <a:t>1   0   1</a:t>
            </a:r>
            <a:r>
              <a:rPr lang="en-US" altLang="zh-CN" sz="1600" b="1" dirty="0">
                <a:latin typeface="Tahoma" panose="020B0604030504040204" pitchFamily="34" charset="0"/>
              </a:rPr>
              <a:t>   1       1   1   1   1     1   1  1  1     1   1   1  1</a:t>
            </a:r>
            <a:endParaRPr lang="en-US" altLang="zh-CN" sz="1600" b="1" dirty="0">
              <a:latin typeface="Tahoma" panose="020B0604030504040204" pitchFamily="34" charset="0"/>
            </a:endParaRPr>
          </a:p>
        </p:txBody>
      </p:sp>
      <p:sp>
        <p:nvSpPr>
          <p:cNvPr id="125997" name="Rectangle 45"/>
          <p:cNvSpPr/>
          <p:nvPr/>
        </p:nvSpPr>
        <p:spPr>
          <a:xfrm>
            <a:off x="7885113" y="4332288"/>
            <a:ext cx="1258887" cy="5826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1600" b="1" dirty="0">
                <a:latin typeface="Tahoma" panose="020B0604030504040204" pitchFamily="34" charset="0"/>
              </a:rPr>
              <a:t>1A000H~</a:t>
            </a:r>
            <a:endParaRPr lang="en-US" altLang="zh-CN" sz="1600" b="1" dirty="0">
              <a:latin typeface="Tahoma" panose="020B0604030504040204" pitchFamily="34" charset="0"/>
            </a:endParaRPr>
          </a:p>
          <a:p>
            <a:r>
              <a:rPr lang="en-US" altLang="zh-CN" sz="1600" b="1" dirty="0">
                <a:latin typeface="Tahoma" panose="020B0604030504040204" pitchFamily="34" charset="0"/>
              </a:rPr>
              <a:t>1BFFFH</a:t>
            </a:r>
            <a:endParaRPr lang="en-US" altLang="zh-CN" sz="1600" b="1" dirty="0">
              <a:latin typeface="Tahoma" panose="020B0604030504040204" pitchFamily="34" charset="0"/>
            </a:endParaRPr>
          </a:p>
        </p:txBody>
      </p:sp>
      <p:sp>
        <p:nvSpPr>
          <p:cNvPr id="125998" name="Rectangle 46"/>
          <p:cNvSpPr/>
          <p:nvPr/>
        </p:nvSpPr>
        <p:spPr>
          <a:xfrm>
            <a:off x="827088" y="5124450"/>
            <a:ext cx="6713537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1600" b="1" dirty="0">
                <a:solidFill>
                  <a:srgbClr val="0000FF"/>
                </a:solidFill>
                <a:latin typeface="Tahoma" panose="020B0604030504040204" pitchFamily="34" charset="0"/>
              </a:rPr>
              <a:t>0   0   0   1</a:t>
            </a:r>
            <a:r>
              <a:rPr lang="en-US" altLang="zh-CN" sz="1600" b="1" dirty="0">
                <a:latin typeface="Tahoma" panose="020B0604030504040204" pitchFamily="34" charset="0"/>
              </a:rPr>
              <a:t>       </a:t>
            </a:r>
            <a:r>
              <a:rPr lang="en-US" altLang="zh-CN" sz="1600" b="1" dirty="0">
                <a:solidFill>
                  <a:srgbClr val="FF0000"/>
                </a:solidFill>
                <a:latin typeface="Tahoma" panose="020B0604030504040204" pitchFamily="34" charset="0"/>
              </a:rPr>
              <a:t>1   1   0</a:t>
            </a:r>
            <a:r>
              <a:rPr lang="en-US" altLang="zh-CN" sz="1600" b="1" dirty="0">
                <a:latin typeface="Tahoma" panose="020B0604030504040204" pitchFamily="34" charset="0"/>
              </a:rPr>
              <a:t>   0       0   0   0   0     0   0  0  0     0   0   0  0</a:t>
            </a:r>
            <a:endParaRPr lang="en-US" altLang="zh-CN" sz="1600" b="1" dirty="0">
              <a:latin typeface="Tahoma" panose="020B0604030504040204" pitchFamily="34" charset="0"/>
            </a:endParaRPr>
          </a:p>
        </p:txBody>
      </p:sp>
      <p:sp>
        <p:nvSpPr>
          <p:cNvPr id="125999" name="Rectangle 47"/>
          <p:cNvSpPr/>
          <p:nvPr/>
        </p:nvSpPr>
        <p:spPr>
          <a:xfrm>
            <a:off x="827088" y="5519738"/>
            <a:ext cx="6713537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1600" b="1" dirty="0">
                <a:solidFill>
                  <a:srgbClr val="0000FF"/>
                </a:solidFill>
                <a:latin typeface="Tahoma" panose="020B0604030504040204" pitchFamily="34" charset="0"/>
              </a:rPr>
              <a:t>0   0   0   1</a:t>
            </a:r>
            <a:r>
              <a:rPr lang="en-US" altLang="zh-CN" sz="1600" b="1" dirty="0">
                <a:latin typeface="Tahoma" panose="020B0604030504040204" pitchFamily="34" charset="0"/>
              </a:rPr>
              <a:t>       </a:t>
            </a:r>
            <a:r>
              <a:rPr lang="en-US" altLang="zh-CN" sz="1600" b="1" dirty="0">
                <a:solidFill>
                  <a:srgbClr val="FF0000"/>
                </a:solidFill>
                <a:latin typeface="Tahoma" panose="020B0604030504040204" pitchFamily="34" charset="0"/>
              </a:rPr>
              <a:t>1   1   0</a:t>
            </a:r>
            <a:r>
              <a:rPr lang="en-US" altLang="zh-CN" sz="1600" b="1" dirty="0">
                <a:latin typeface="Tahoma" panose="020B0604030504040204" pitchFamily="34" charset="0"/>
              </a:rPr>
              <a:t>   1       1   1   1   1     1   1  1  1     1   1   1  1</a:t>
            </a:r>
            <a:endParaRPr lang="en-US" altLang="zh-CN" sz="1600" b="1" dirty="0">
              <a:latin typeface="Tahoma" panose="020B0604030504040204" pitchFamily="34" charset="0"/>
            </a:endParaRPr>
          </a:p>
        </p:txBody>
      </p:sp>
      <p:sp>
        <p:nvSpPr>
          <p:cNvPr id="126000" name="Rectangle 48"/>
          <p:cNvSpPr/>
          <p:nvPr/>
        </p:nvSpPr>
        <p:spPr>
          <a:xfrm>
            <a:off x="7831138" y="5195888"/>
            <a:ext cx="1312862" cy="5826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1600" b="1" dirty="0">
                <a:latin typeface="Tahoma" panose="020B0604030504040204" pitchFamily="34" charset="0"/>
              </a:rPr>
              <a:t>1C000H~</a:t>
            </a:r>
            <a:endParaRPr lang="en-US" altLang="zh-CN" sz="1600" b="1" dirty="0">
              <a:latin typeface="Tahoma" panose="020B0604030504040204" pitchFamily="34" charset="0"/>
            </a:endParaRPr>
          </a:p>
          <a:p>
            <a:r>
              <a:rPr lang="en-US" altLang="zh-CN" sz="1600" b="1" dirty="0">
                <a:latin typeface="Tahoma" panose="020B0604030504040204" pitchFamily="34" charset="0"/>
              </a:rPr>
              <a:t>1DFFFH</a:t>
            </a:r>
            <a:endParaRPr lang="en-US" altLang="zh-CN" sz="1600" b="1" dirty="0">
              <a:latin typeface="Tahoma" panose="020B060403050404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30175" y="980440"/>
            <a:ext cx="8671560" cy="368300"/>
            <a:chOff x="956" y="1450"/>
            <a:chExt cx="7258" cy="580"/>
          </a:xfrm>
        </p:grpSpPr>
        <p:sp>
          <p:nvSpPr>
            <p:cNvPr id="43060" name="Rectangle 49"/>
            <p:cNvSpPr/>
            <p:nvPr/>
          </p:nvSpPr>
          <p:spPr>
            <a:xfrm>
              <a:off x="956" y="1450"/>
              <a:ext cx="7258" cy="580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2000" b="1" dirty="0">
                  <a:latin typeface="Tahoma" panose="020B0604030504040204" pitchFamily="34" charset="0"/>
                </a:rPr>
                <a:t>          G</a:t>
              </a:r>
              <a:r>
                <a:rPr lang="en-US" altLang="zh-CN" sz="2000" b="1" baseline="-25000" dirty="0">
                  <a:latin typeface="Tahoma" panose="020B0604030504040204" pitchFamily="34" charset="0"/>
                </a:rPr>
                <a:t>2A</a:t>
              </a:r>
              <a:r>
                <a:rPr lang="en-US" altLang="zh-CN" sz="2000" b="1" dirty="0">
                  <a:latin typeface="Tahoma" panose="020B0604030504040204" pitchFamily="34" charset="0"/>
                </a:rPr>
                <a:t> G</a:t>
              </a:r>
              <a:r>
                <a:rPr lang="en-US" altLang="zh-CN" sz="2000" b="1" baseline="-25000" dirty="0">
                  <a:latin typeface="Tahoma" panose="020B0604030504040204" pitchFamily="34" charset="0"/>
                </a:rPr>
                <a:t>2B</a:t>
              </a:r>
              <a:r>
                <a:rPr lang="en-US" altLang="zh-CN" sz="2000" b="1" dirty="0">
                  <a:latin typeface="Tahoma" panose="020B0604030504040204" pitchFamily="34" charset="0"/>
                </a:rPr>
                <a:t> G</a:t>
              </a:r>
              <a:r>
                <a:rPr lang="en-US" altLang="zh-CN" sz="2000" b="1" baseline="-25000" dirty="0">
                  <a:latin typeface="Tahoma" panose="020B0604030504040204" pitchFamily="34" charset="0"/>
                </a:rPr>
                <a:t>1</a:t>
              </a:r>
              <a:r>
                <a:rPr lang="en-US" altLang="zh-CN" sz="2000" b="1" dirty="0">
                  <a:latin typeface="Tahoma" panose="020B0604030504040204" pitchFamily="34" charset="0"/>
                </a:rPr>
                <a:t>  C  B  A</a:t>
              </a:r>
              <a:endParaRPr lang="en-US" altLang="zh-CN" sz="2000" b="1" dirty="0">
                <a:latin typeface="Tahoma" panose="020B0604030504040204" pitchFamily="34" charset="0"/>
              </a:endParaRPr>
            </a:p>
          </p:txBody>
        </p:sp>
        <p:sp>
          <p:nvSpPr>
            <p:cNvPr id="43061" name="Line 50"/>
            <p:cNvSpPr/>
            <p:nvPr/>
          </p:nvSpPr>
          <p:spPr>
            <a:xfrm>
              <a:off x="1644" y="1548"/>
              <a:ext cx="301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062" name="Line 51"/>
            <p:cNvSpPr/>
            <p:nvPr/>
          </p:nvSpPr>
          <p:spPr>
            <a:xfrm>
              <a:off x="2078" y="1548"/>
              <a:ext cx="271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6" name="Rectangle 46"/>
          <p:cNvSpPr/>
          <p:nvPr/>
        </p:nvSpPr>
        <p:spPr>
          <a:xfrm>
            <a:off x="820738" y="5969000"/>
            <a:ext cx="6713537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1600" b="1" dirty="0">
                <a:solidFill>
                  <a:srgbClr val="0000FF"/>
                </a:solidFill>
                <a:latin typeface="Tahoma" panose="020B0604030504040204" pitchFamily="34" charset="0"/>
              </a:rPr>
              <a:t>0   0   0   1</a:t>
            </a:r>
            <a:r>
              <a:rPr lang="en-US" altLang="zh-CN" sz="1600" b="1" dirty="0">
                <a:latin typeface="Tahoma" panose="020B0604030504040204" pitchFamily="34" charset="0"/>
              </a:rPr>
              <a:t>       </a:t>
            </a:r>
            <a:r>
              <a:rPr lang="en-US" altLang="zh-CN" sz="1600" b="1" dirty="0">
                <a:solidFill>
                  <a:srgbClr val="FF0000"/>
                </a:solidFill>
                <a:latin typeface="Tahoma" panose="020B0604030504040204" pitchFamily="34" charset="0"/>
              </a:rPr>
              <a:t>1   1   1</a:t>
            </a:r>
            <a:r>
              <a:rPr lang="en-US" altLang="zh-CN" sz="1600" b="1" dirty="0">
                <a:latin typeface="Tahoma" panose="020B0604030504040204" pitchFamily="34" charset="0"/>
              </a:rPr>
              <a:t>   0       0   0   0   0     0   0  0  0     0   0   0  0</a:t>
            </a:r>
            <a:endParaRPr lang="en-US" altLang="zh-CN" sz="1600" b="1" dirty="0">
              <a:latin typeface="Tahoma" panose="020B0604030504040204" pitchFamily="34" charset="0"/>
            </a:endParaRPr>
          </a:p>
        </p:txBody>
      </p:sp>
      <p:sp>
        <p:nvSpPr>
          <p:cNvPr id="7" name="Rectangle 47"/>
          <p:cNvSpPr/>
          <p:nvPr/>
        </p:nvSpPr>
        <p:spPr>
          <a:xfrm>
            <a:off x="820738" y="6364288"/>
            <a:ext cx="6713537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1600" b="1" dirty="0">
                <a:solidFill>
                  <a:srgbClr val="0000FF"/>
                </a:solidFill>
                <a:latin typeface="Tahoma" panose="020B0604030504040204" pitchFamily="34" charset="0"/>
              </a:rPr>
              <a:t>0   0   0   1</a:t>
            </a:r>
            <a:r>
              <a:rPr lang="en-US" altLang="zh-CN" sz="1600" b="1" dirty="0">
                <a:latin typeface="Tahoma" panose="020B0604030504040204" pitchFamily="34" charset="0"/>
              </a:rPr>
              <a:t>       </a:t>
            </a:r>
            <a:r>
              <a:rPr lang="en-US" altLang="zh-CN" sz="1600" b="1" dirty="0">
                <a:solidFill>
                  <a:srgbClr val="FF0000"/>
                </a:solidFill>
                <a:latin typeface="Tahoma" panose="020B0604030504040204" pitchFamily="34" charset="0"/>
              </a:rPr>
              <a:t>1   1   1</a:t>
            </a:r>
            <a:r>
              <a:rPr lang="en-US" altLang="zh-CN" sz="1600" b="1" dirty="0">
                <a:latin typeface="Tahoma" panose="020B0604030504040204" pitchFamily="34" charset="0"/>
              </a:rPr>
              <a:t>   1       1   1   1   1     1   1  1  1     1   1   1  1</a:t>
            </a:r>
            <a:endParaRPr lang="en-US" altLang="zh-CN" sz="1600" b="1" dirty="0">
              <a:latin typeface="Tahoma" panose="020B0604030504040204" pitchFamily="34" charset="0"/>
            </a:endParaRPr>
          </a:p>
        </p:txBody>
      </p:sp>
      <p:sp>
        <p:nvSpPr>
          <p:cNvPr id="8" name="Rectangle 48"/>
          <p:cNvSpPr/>
          <p:nvPr/>
        </p:nvSpPr>
        <p:spPr>
          <a:xfrm>
            <a:off x="7815263" y="6040438"/>
            <a:ext cx="1312862" cy="5826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1600" b="1" dirty="0">
                <a:latin typeface="Tahoma" panose="020B0604030504040204" pitchFamily="34" charset="0"/>
              </a:rPr>
              <a:t>1E000H~</a:t>
            </a:r>
            <a:endParaRPr lang="en-US" altLang="zh-CN" sz="1600" b="1" dirty="0">
              <a:latin typeface="Tahoma" panose="020B0604030504040204" pitchFamily="34" charset="0"/>
            </a:endParaRPr>
          </a:p>
          <a:p>
            <a:r>
              <a:rPr lang="en-US" altLang="zh-CN" sz="1600" b="1" dirty="0">
                <a:latin typeface="Tahoma" panose="020B0604030504040204" pitchFamily="34" charset="0"/>
              </a:rPr>
              <a:t>1FFFFH</a:t>
            </a:r>
            <a:endParaRPr lang="en-US" altLang="zh-CN" sz="1600" b="1" dirty="0">
              <a:latin typeface="Tahoma" panose="020B060403050404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26770" y="1414780"/>
            <a:ext cx="2484755" cy="5363845"/>
          </a:xfrm>
          <a:prstGeom prst="rect">
            <a:avLst/>
          </a:prstGeom>
          <a:solidFill>
            <a:srgbClr val="C7FFF0">
              <a:alpha val="20000"/>
            </a:srgbClr>
          </a:solidFill>
          <a:ln w="9525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none" lIns="91440" tIns="45720" rIns="91440" bIns="45720" anchor="t" anchorCtr="0"/>
          <a:p>
            <a:pPr>
              <a:buClrTx/>
              <a:buFontTx/>
            </a:pP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275965" y="1412875"/>
            <a:ext cx="4572000" cy="5364000"/>
          </a:xfrm>
          <a:prstGeom prst="rect">
            <a:avLst/>
          </a:prstGeom>
          <a:solidFill>
            <a:srgbClr val="FFF5CC">
              <a:alpha val="20000"/>
            </a:srgbClr>
          </a:solidFill>
          <a:ln w="9525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none" lIns="91440" tIns="45720" rIns="91440" bIns="45720" anchor="t" anchorCtr="0"/>
          <a:p>
            <a:pPr>
              <a:buClrTx/>
              <a:buFontTx/>
            </a:pP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4" name="矩形 59"/>
          <p:cNvSpPr/>
          <p:nvPr>
            <p:custDataLst>
              <p:tags r:id="rId2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4.2.3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存储器系统设计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5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5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5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5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5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5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5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5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25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25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25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25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25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25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26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86" grpId="0"/>
      <p:bldP spid="125987" grpId="0"/>
      <p:bldP spid="125988" grpId="0"/>
      <p:bldP spid="125989" grpId="0"/>
      <p:bldP spid="125990" grpId="0"/>
      <p:bldP spid="125991" grpId="0"/>
      <p:bldP spid="125992" grpId="0"/>
      <p:bldP spid="125993" grpId="0"/>
      <p:bldP spid="125994" grpId="0"/>
      <p:bldP spid="125995" grpId="0"/>
      <p:bldP spid="125996" grpId="0"/>
      <p:bldP spid="125997" grpId="0"/>
      <p:bldP spid="125998" grpId="0"/>
      <p:bldP spid="125999" grpId="0"/>
      <p:bldP spid="126000" grpId="0"/>
      <p:bldP spid="6" grpId="0"/>
      <p:bldP spid="7" grpId="0"/>
      <p:bldP spid="8" grpId="0"/>
      <p:bldP spid="9" grpId="0" bldLvl="0" animBg="1"/>
      <p:bldP spid="9" grpId="1" animBg="1"/>
      <p:bldP spid="10" grpId="0" bldLvl="0" animBg="1"/>
      <p:bldP spid="10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3" name="Rectangle 2"/>
          <p:cNvSpPr/>
          <p:nvPr/>
        </p:nvSpPr>
        <p:spPr>
          <a:xfrm>
            <a:off x="539750" y="1412875"/>
            <a:ext cx="4683125" cy="4603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第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3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步：地址线的连接</a:t>
            </a:r>
            <a:endParaRPr lang="zh-CN" altLang="en-US" b="1" dirty="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34" name="Rectangle 3"/>
          <p:cNvSpPr/>
          <p:nvPr/>
        </p:nvSpPr>
        <p:spPr>
          <a:xfrm>
            <a:off x="1327785" y="1772285"/>
            <a:ext cx="6916420" cy="14020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ahoma" panose="020B0604030504040204" pitchFamily="34" charset="0"/>
              </a:rPr>
              <a:t>CPU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低位地址线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与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芯片地址线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相连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ahoma" panose="020B0604030504040204" pitchFamily="34" charset="0"/>
              </a:rPr>
              <a:t>CPU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高位地址线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与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译码器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相连            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译码器输出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与存储器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芯片片选端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相连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739775" y="3140075"/>
            <a:ext cx="7037070" cy="3436620"/>
            <a:chOff x="1165" y="4945"/>
            <a:chExt cx="11082" cy="5412"/>
          </a:xfrm>
        </p:grpSpPr>
        <p:sp>
          <p:nvSpPr>
            <p:cNvPr id="44035" name="Line 7"/>
            <p:cNvSpPr/>
            <p:nvPr/>
          </p:nvSpPr>
          <p:spPr>
            <a:xfrm>
              <a:off x="9500" y="5400"/>
              <a:ext cx="960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44036" name="Rectangle 8"/>
            <p:cNvSpPr/>
            <p:nvPr/>
          </p:nvSpPr>
          <p:spPr>
            <a:xfrm>
              <a:off x="6458" y="4963"/>
              <a:ext cx="3067" cy="5395"/>
            </a:xfrm>
            <a:prstGeom prst="rect">
              <a:avLst/>
            </a:prstGeom>
            <a:noFill/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endParaRPr lang="zh-CN" altLang="en-US" sz="28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4037" name="Text Box 9"/>
            <p:cNvSpPr txBox="1"/>
            <p:nvPr/>
          </p:nvSpPr>
          <p:spPr>
            <a:xfrm>
              <a:off x="6518" y="6948"/>
              <a:ext cx="1080" cy="720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ahoma" panose="020B0604030504040204" pitchFamily="34" charset="0"/>
                </a:rPr>
                <a:t>G</a:t>
              </a:r>
              <a:r>
                <a:rPr lang="en-US" altLang="zh-CN" sz="1800" dirty="0">
                  <a:latin typeface="Tahoma" panose="020B0604030504040204" pitchFamily="34" charset="0"/>
                </a:rPr>
                <a:t>1</a:t>
              </a:r>
              <a:endParaRPr lang="en-US" altLang="zh-CN" dirty="0">
                <a:latin typeface="Tahoma" panose="020B0604030504040204" pitchFamily="34" charset="0"/>
              </a:endParaRPr>
            </a:p>
          </p:txBody>
        </p:sp>
        <p:sp>
          <p:nvSpPr>
            <p:cNvPr id="44038" name="Text Box 11"/>
            <p:cNvSpPr txBox="1"/>
            <p:nvPr/>
          </p:nvSpPr>
          <p:spPr>
            <a:xfrm>
              <a:off x="6458" y="5285"/>
              <a:ext cx="1080" cy="720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ahoma" panose="020B0604030504040204" pitchFamily="34" charset="0"/>
                </a:rPr>
                <a:t>C</a:t>
              </a:r>
              <a:endParaRPr lang="en-US" altLang="zh-CN" dirty="0">
                <a:latin typeface="Tahoma" panose="020B0604030504040204" pitchFamily="34" charset="0"/>
              </a:endParaRPr>
            </a:p>
          </p:txBody>
        </p:sp>
        <p:sp>
          <p:nvSpPr>
            <p:cNvPr id="44039" name="Text Box 12"/>
            <p:cNvSpPr txBox="1"/>
            <p:nvPr/>
          </p:nvSpPr>
          <p:spPr>
            <a:xfrm>
              <a:off x="6458" y="5765"/>
              <a:ext cx="1080" cy="720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ahoma" panose="020B0604030504040204" pitchFamily="34" charset="0"/>
                </a:rPr>
                <a:t>B</a:t>
              </a:r>
              <a:endParaRPr lang="en-US" altLang="zh-CN" dirty="0">
                <a:latin typeface="Tahoma" panose="020B0604030504040204" pitchFamily="34" charset="0"/>
              </a:endParaRPr>
            </a:p>
          </p:txBody>
        </p:sp>
        <p:sp>
          <p:nvSpPr>
            <p:cNvPr id="44040" name="Text Box 13"/>
            <p:cNvSpPr txBox="1"/>
            <p:nvPr/>
          </p:nvSpPr>
          <p:spPr>
            <a:xfrm>
              <a:off x="6458" y="6215"/>
              <a:ext cx="1080" cy="720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ahoma" panose="020B0604030504040204" pitchFamily="34" charset="0"/>
                </a:rPr>
                <a:t>A</a:t>
              </a:r>
              <a:endParaRPr lang="en-US" altLang="zh-CN" dirty="0">
                <a:latin typeface="Tahoma" panose="020B0604030504040204" pitchFamily="34" charset="0"/>
              </a:endParaRPr>
            </a:p>
          </p:txBody>
        </p:sp>
        <p:sp>
          <p:nvSpPr>
            <p:cNvPr id="44041" name="Line 15"/>
            <p:cNvSpPr/>
            <p:nvPr/>
          </p:nvSpPr>
          <p:spPr>
            <a:xfrm>
              <a:off x="2258" y="6558"/>
              <a:ext cx="4200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lg" len="lg"/>
            </a:ln>
          </p:spPr>
        </p:sp>
        <p:sp>
          <p:nvSpPr>
            <p:cNvPr id="44042" name="Line 16"/>
            <p:cNvSpPr/>
            <p:nvPr/>
          </p:nvSpPr>
          <p:spPr>
            <a:xfrm>
              <a:off x="2258" y="6078"/>
              <a:ext cx="4200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lg" len="lg"/>
            </a:ln>
          </p:spPr>
        </p:sp>
        <p:sp>
          <p:nvSpPr>
            <p:cNvPr id="44043" name="Line 17"/>
            <p:cNvSpPr/>
            <p:nvPr/>
          </p:nvSpPr>
          <p:spPr>
            <a:xfrm>
              <a:off x="2285" y="8120"/>
              <a:ext cx="4173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lg" len="lg"/>
            </a:ln>
          </p:spPr>
        </p:sp>
        <p:sp>
          <p:nvSpPr>
            <p:cNvPr id="44044" name="Line 20"/>
            <p:cNvSpPr/>
            <p:nvPr/>
          </p:nvSpPr>
          <p:spPr>
            <a:xfrm>
              <a:off x="4120" y="7328"/>
              <a:ext cx="2324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lg" len="lg"/>
            </a:ln>
          </p:spPr>
        </p:sp>
        <p:grpSp>
          <p:nvGrpSpPr>
            <p:cNvPr id="44045" name="Group 23"/>
            <p:cNvGrpSpPr/>
            <p:nvPr/>
          </p:nvGrpSpPr>
          <p:grpSpPr>
            <a:xfrm>
              <a:off x="6518" y="7778"/>
              <a:ext cx="1080" cy="720"/>
              <a:chOff x="2402" y="2797"/>
              <a:chExt cx="432" cy="288"/>
            </a:xfrm>
          </p:grpSpPr>
          <p:sp>
            <p:nvSpPr>
              <p:cNvPr id="44046" name="Text Box 24"/>
              <p:cNvSpPr txBox="1"/>
              <p:nvPr/>
            </p:nvSpPr>
            <p:spPr>
              <a:xfrm>
                <a:off x="2402" y="2797"/>
                <a:ext cx="432" cy="28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Tahoma" panose="020B0604030504040204" pitchFamily="34" charset="0"/>
                  </a:rPr>
                  <a:t>G</a:t>
                </a:r>
                <a:r>
                  <a:rPr lang="en-US" altLang="zh-CN" sz="1800" dirty="0">
                    <a:latin typeface="Tahoma" panose="020B0604030504040204" pitchFamily="34" charset="0"/>
                  </a:rPr>
                  <a:t>2A</a:t>
                </a:r>
                <a:endParaRPr lang="en-US" altLang="zh-CN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4047" name="Line 25"/>
              <p:cNvSpPr/>
              <p:nvPr/>
            </p:nvSpPr>
            <p:spPr>
              <a:xfrm>
                <a:off x="2450" y="2854"/>
                <a:ext cx="288" cy="0"/>
              </a:xfrm>
              <a:prstGeom prst="line">
                <a:avLst/>
              </a:prstGeom>
              <a:ln w="1905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</p:grpSp>
        <p:grpSp>
          <p:nvGrpSpPr>
            <p:cNvPr id="44048" name="Group 61"/>
            <p:cNvGrpSpPr/>
            <p:nvPr/>
          </p:nvGrpSpPr>
          <p:grpSpPr>
            <a:xfrm>
              <a:off x="6518" y="8800"/>
              <a:ext cx="1080" cy="720"/>
              <a:chOff x="2811" y="2929"/>
              <a:chExt cx="432" cy="288"/>
            </a:xfrm>
          </p:grpSpPr>
          <p:sp>
            <p:nvSpPr>
              <p:cNvPr id="44049" name="Text Box 10"/>
              <p:cNvSpPr txBox="1"/>
              <p:nvPr/>
            </p:nvSpPr>
            <p:spPr>
              <a:xfrm>
                <a:off x="2811" y="2929"/>
                <a:ext cx="432" cy="28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Tahoma" panose="020B0604030504040204" pitchFamily="34" charset="0"/>
                  </a:rPr>
                  <a:t>G</a:t>
                </a:r>
                <a:r>
                  <a:rPr lang="en-US" altLang="zh-CN" sz="1800" dirty="0">
                    <a:latin typeface="Tahoma" panose="020B0604030504040204" pitchFamily="34" charset="0"/>
                  </a:rPr>
                  <a:t>2B</a:t>
                </a:r>
                <a:endParaRPr lang="en-US" altLang="zh-CN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4050" name="Line 26"/>
              <p:cNvSpPr/>
              <p:nvPr/>
            </p:nvSpPr>
            <p:spPr>
              <a:xfrm>
                <a:off x="2864" y="2986"/>
                <a:ext cx="288" cy="0"/>
              </a:xfrm>
              <a:prstGeom prst="line">
                <a:avLst/>
              </a:prstGeom>
              <a:ln w="1905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</p:grpSp>
        <p:grpSp>
          <p:nvGrpSpPr>
            <p:cNvPr id="44051" name="组合 9"/>
            <p:cNvGrpSpPr/>
            <p:nvPr/>
          </p:nvGrpSpPr>
          <p:grpSpPr>
            <a:xfrm>
              <a:off x="8700" y="5148"/>
              <a:ext cx="1080" cy="720"/>
              <a:chOff x="8048" y="8763"/>
              <a:chExt cx="1080" cy="720"/>
            </a:xfrm>
          </p:grpSpPr>
          <p:sp>
            <p:nvSpPr>
              <p:cNvPr id="44052" name="Text Box 27"/>
              <p:cNvSpPr txBox="1"/>
              <p:nvPr/>
            </p:nvSpPr>
            <p:spPr>
              <a:xfrm>
                <a:off x="8047" y="8762"/>
                <a:ext cx="1080" cy="72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Tahoma" panose="020B0604030504040204" pitchFamily="34" charset="0"/>
                  </a:rPr>
                  <a:t>Y</a:t>
                </a:r>
                <a:r>
                  <a:rPr lang="en-US" altLang="zh-CN" sz="1800" dirty="0">
                    <a:latin typeface="Tahoma" panose="020B0604030504040204" pitchFamily="34" charset="0"/>
                  </a:rPr>
                  <a:t>0</a:t>
                </a:r>
                <a:endParaRPr lang="en-US" altLang="zh-CN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4053" name="Line 28"/>
              <p:cNvSpPr/>
              <p:nvPr/>
            </p:nvSpPr>
            <p:spPr>
              <a:xfrm>
                <a:off x="8107" y="8802"/>
                <a:ext cx="480" cy="0"/>
              </a:xfrm>
              <a:prstGeom prst="line">
                <a:avLst/>
              </a:prstGeom>
              <a:ln w="1905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</p:grpSp>
        <p:grpSp>
          <p:nvGrpSpPr>
            <p:cNvPr id="44054" name="Group 62"/>
            <p:cNvGrpSpPr/>
            <p:nvPr/>
          </p:nvGrpSpPr>
          <p:grpSpPr>
            <a:xfrm>
              <a:off x="2363" y="8558"/>
              <a:ext cx="4062" cy="1262"/>
              <a:chOff x="719" y="3742"/>
              <a:chExt cx="1625" cy="505"/>
            </a:xfrm>
          </p:grpSpPr>
          <p:sp>
            <p:nvSpPr>
              <p:cNvPr id="44055" name="Rectangle 14"/>
              <p:cNvSpPr/>
              <p:nvPr/>
            </p:nvSpPr>
            <p:spPr>
              <a:xfrm>
                <a:off x="1442" y="3742"/>
                <a:ext cx="272" cy="505"/>
              </a:xfrm>
              <a:prstGeom prst="rect">
                <a:avLst/>
              </a:prstGeom>
              <a:noFill/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wrap="none" anchor="ctr" anchorCtr="0"/>
              <a:p>
                <a:pPr algn="ctr"/>
                <a:endParaRPr lang="zh-CN" altLang="zh-CN" sz="2800" b="1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056" name="Text Box 18"/>
              <p:cNvSpPr txBox="1"/>
              <p:nvPr/>
            </p:nvSpPr>
            <p:spPr>
              <a:xfrm>
                <a:off x="1397" y="3839"/>
                <a:ext cx="440" cy="28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b="1" dirty="0">
                    <a:latin typeface="Tahoma" panose="020B0604030504040204" pitchFamily="34" charset="0"/>
                  </a:rPr>
                  <a:t>≥1</a:t>
                </a:r>
                <a:endParaRPr lang="zh-CN" altLang="zh-CN" b="1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057" name="Line 19"/>
              <p:cNvSpPr/>
              <p:nvPr/>
            </p:nvSpPr>
            <p:spPr>
              <a:xfrm>
                <a:off x="719" y="3914"/>
                <a:ext cx="720" cy="0"/>
              </a:xfrm>
              <a:prstGeom prst="line">
                <a:avLst/>
              </a:prstGeom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triangle" w="lg" len="lg"/>
              </a:ln>
            </p:spPr>
          </p:sp>
          <p:sp>
            <p:nvSpPr>
              <p:cNvPr id="44058" name="Line 21"/>
              <p:cNvSpPr/>
              <p:nvPr/>
            </p:nvSpPr>
            <p:spPr>
              <a:xfrm>
                <a:off x="1732" y="3976"/>
                <a:ext cx="612" cy="0"/>
              </a:xfrm>
              <a:prstGeom prst="line">
                <a:avLst/>
              </a:prstGeom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triangle" w="lg" len="lg"/>
              </a:ln>
            </p:spPr>
          </p:sp>
          <p:sp>
            <p:nvSpPr>
              <p:cNvPr id="44059" name="Line 29"/>
              <p:cNvSpPr/>
              <p:nvPr/>
            </p:nvSpPr>
            <p:spPr>
              <a:xfrm>
                <a:off x="719" y="4157"/>
                <a:ext cx="720" cy="0"/>
              </a:xfrm>
              <a:prstGeom prst="line">
                <a:avLst/>
              </a:prstGeom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triangle" w="lg" len="lg"/>
              </a:ln>
            </p:spPr>
          </p:sp>
        </p:grpSp>
        <p:sp>
          <p:nvSpPr>
            <p:cNvPr id="44060" name="Line 31"/>
            <p:cNvSpPr/>
            <p:nvPr/>
          </p:nvSpPr>
          <p:spPr>
            <a:xfrm>
              <a:off x="2438" y="5625"/>
              <a:ext cx="4025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lg" len="lg"/>
            </a:ln>
          </p:spPr>
        </p:sp>
        <p:grpSp>
          <p:nvGrpSpPr>
            <p:cNvPr id="44061" name="组合 8"/>
            <p:cNvGrpSpPr/>
            <p:nvPr/>
          </p:nvGrpSpPr>
          <p:grpSpPr>
            <a:xfrm>
              <a:off x="8700" y="5980"/>
              <a:ext cx="1080" cy="720"/>
              <a:chOff x="8048" y="7218"/>
              <a:chExt cx="1080" cy="720"/>
            </a:xfrm>
          </p:grpSpPr>
          <p:sp>
            <p:nvSpPr>
              <p:cNvPr id="44062" name="Text Box 33"/>
              <p:cNvSpPr txBox="1"/>
              <p:nvPr/>
            </p:nvSpPr>
            <p:spPr>
              <a:xfrm>
                <a:off x="8047" y="7217"/>
                <a:ext cx="1080" cy="72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Tahoma" panose="020B0604030504040204" pitchFamily="34" charset="0"/>
                  </a:rPr>
                  <a:t>Y</a:t>
                </a:r>
                <a:r>
                  <a:rPr lang="en-US" altLang="zh-CN" sz="1800" dirty="0">
                    <a:latin typeface="Tahoma" panose="020B0604030504040204" pitchFamily="34" charset="0"/>
                  </a:rPr>
                  <a:t>1</a:t>
                </a:r>
                <a:endParaRPr lang="en-US" altLang="zh-CN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4063" name="Line 34"/>
              <p:cNvSpPr/>
              <p:nvPr/>
            </p:nvSpPr>
            <p:spPr>
              <a:xfrm>
                <a:off x="8107" y="7257"/>
                <a:ext cx="480" cy="0"/>
              </a:xfrm>
              <a:prstGeom prst="line">
                <a:avLst/>
              </a:prstGeom>
              <a:ln w="1905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</p:grpSp>
        <p:grpSp>
          <p:nvGrpSpPr>
            <p:cNvPr id="44064" name="组合 7"/>
            <p:cNvGrpSpPr/>
            <p:nvPr/>
          </p:nvGrpSpPr>
          <p:grpSpPr>
            <a:xfrm>
              <a:off x="8700" y="6813"/>
              <a:ext cx="1080" cy="725"/>
              <a:chOff x="8048" y="6308"/>
              <a:chExt cx="1080" cy="725"/>
            </a:xfrm>
          </p:grpSpPr>
          <p:sp>
            <p:nvSpPr>
              <p:cNvPr id="44065" name="Text Box 36"/>
              <p:cNvSpPr txBox="1"/>
              <p:nvPr/>
            </p:nvSpPr>
            <p:spPr>
              <a:xfrm>
                <a:off x="8048" y="6308"/>
                <a:ext cx="1080" cy="72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Tahoma" panose="020B0604030504040204" pitchFamily="34" charset="0"/>
                  </a:rPr>
                  <a:t>Y</a:t>
                </a:r>
                <a:r>
                  <a:rPr lang="en-US" altLang="zh-CN" sz="1800" dirty="0">
                    <a:latin typeface="Tahoma" panose="020B0604030504040204" pitchFamily="34" charset="0"/>
                  </a:rPr>
                  <a:t>4</a:t>
                </a:r>
                <a:endParaRPr lang="en-US" altLang="zh-CN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4066" name="Line 37"/>
              <p:cNvSpPr/>
              <p:nvPr/>
            </p:nvSpPr>
            <p:spPr>
              <a:xfrm>
                <a:off x="8107" y="6347"/>
                <a:ext cx="480" cy="0"/>
              </a:xfrm>
              <a:prstGeom prst="line">
                <a:avLst/>
              </a:prstGeom>
              <a:ln w="1905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</p:grpSp>
        <p:grpSp>
          <p:nvGrpSpPr>
            <p:cNvPr id="44067" name="组合 6"/>
            <p:cNvGrpSpPr/>
            <p:nvPr/>
          </p:nvGrpSpPr>
          <p:grpSpPr>
            <a:xfrm>
              <a:off x="8700" y="7650"/>
              <a:ext cx="1080" cy="725"/>
              <a:chOff x="8048" y="5288"/>
              <a:chExt cx="1080" cy="725"/>
            </a:xfrm>
          </p:grpSpPr>
          <p:sp>
            <p:nvSpPr>
              <p:cNvPr id="44068" name="Text Box 39"/>
              <p:cNvSpPr txBox="1"/>
              <p:nvPr/>
            </p:nvSpPr>
            <p:spPr>
              <a:xfrm>
                <a:off x="8048" y="5288"/>
                <a:ext cx="1080" cy="72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Tahoma" panose="020B0604030504040204" pitchFamily="34" charset="0"/>
                  </a:rPr>
                  <a:t>Y</a:t>
                </a:r>
                <a:r>
                  <a:rPr lang="en-US" altLang="zh-CN" sz="1800" dirty="0">
                    <a:latin typeface="Tahoma" panose="020B0604030504040204" pitchFamily="34" charset="0"/>
                  </a:rPr>
                  <a:t>5</a:t>
                </a:r>
                <a:endParaRPr lang="en-US" altLang="zh-CN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4069" name="Line 40"/>
              <p:cNvSpPr/>
              <p:nvPr/>
            </p:nvSpPr>
            <p:spPr>
              <a:xfrm>
                <a:off x="8107" y="5327"/>
                <a:ext cx="480" cy="0"/>
              </a:xfrm>
              <a:prstGeom prst="line">
                <a:avLst/>
              </a:prstGeom>
              <a:ln w="1905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</p:grpSp>
        <p:sp>
          <p:nvSpPr>
            <p:cNvPr id="44070" name="Line 41"/>
            <p:cNvSpPr/>
            <p:nvPr/>
          </p:nvSpPr>
          <p:spPr>
            <a:xfrm>
              <a:off x="9500" y="6255"/>
              <a:ext cx="960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44071" name="Line 42"/>
            <p:cNvSpPr/>
            <p:nvPr/>
          </p:nvSpPr>
          <p:spPr>
            <a:xfrm>
              <a:off x="9500" y="7110"/>
              <a:ext cx="960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44072" name="Rectangle 56"/>
            <p:cNvSpPr/>
            <p:nvPr/>
          </p:nvSpPr>
          <p:spPr>
            <a:xfrm>
              <a:off x="10435" y="5060"/>
              <a:ext cx="1813" cy="61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1800" dirty="0">
                  <a:latin typeface="Tahoma" panose="020B0604030504040204" pitchFamily="34" charset="0"/>
                </a:rPr>
                <a:t>1#(2764)</a:t>
              </a:r>
              <a:endParaRPr lang="en-US" altLang="zh-CN" sz="1800" dirty="0">
                <a:latin typeface="Tahoma" panose="020B0604030504040204" pitchFamily="34" charset="0"/>
              </a:endParaRPr>
            </a:p>
          </p:txBody>
        </p:sp>
        <p:sp>
          <p:nvSpPr>
            <p:cNvPr id="44073" name="Rectangle 57"/>
            <p:cNvSpPr/>
            <p:nvPr/>
          </p:nvSpPr>
          <p:spPr>
            <a:xfrm>
              <a:off x="10435" y="5935"/>
              <a:ext cx="1813" cy="620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1800" dirty="0">
                  <a:latin typeface="Tahoma" panose="020B0604030504040204" pitchFamily="34" charset="0"/>
                </a:rPr>
                <a:t>2#(2764)</a:t>
              </a:r>
              <a:endParaRPr lang="en-US" altLang="zh-CN" sz="1800" dirty="0">
                <a:latin typeface="Tahoma" panose="020B0604030504040204" pitchFamily="34" charset="0"/>
              </a:endParaRPr>
            </a:p>
          </p:txBody>
        </p:sp>
        <p:sp>
          <p:nvSpPr>
            <p:cNvPr id="44074" name="Rectangle 58"/>
            <p:cNvSpPr/>
            <p:nvPr/>
          </p:nvSpPr>
          <p:spPr>
            <a:xfrm>
              <a:off x="10435" y="6813"/>
              <a:ext cx="1813" cy="620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1800" dirty="0">
                  <a:latin typeface="Tahoma" panose="020B0604030504040204" pitchFamily="34" charset="0"/>
                </a:rPr>
                <a:t>3#(6264)</a:t>
              </a:r>
              <a:endParaRPr lang="en-US" altLang="zh-CN" sz="1800" dirty="0">
                <a:latin typeface="Tahoma" panose="020B0604030504040204" pitchFamily="34" charset="0"/>
              </a:endParaRPr>
            </a:p>
          </p:txBody>
        </p:sp>
        <p:sp>
          <p:nvSpPr>
            <p:cNvPr id="44075" name="Rectangle 59"/>
            <p:cNvSpPr/>
            <p:nvPr/>
          </p:nvSpPr>
          <p:spPr>
            <a:xfrm>
              <a:off x="10435" y="7690"/>
              <a:ext cx="1813" cy="620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1800" dirty="0">
                  <a:latin typeface="Tahoma" panose="020B0604030504040204" pitchFamily="34" charset="0"/>
                </a:rPr>
                <a:t>4#(6264)</a:t>
              </a:r>
              <a:endParaRPr lang="en-US" altLang="zh-CN" sz="1800" dirty="0">
                <a:latin typeface="Tahoma" panose="020B0604030504040204" pitchFamily="34" charset="0"/>
              </a:endParaRPr>
            </a:p>
          </p:txBody>
        </p:sp>
        <p:sp>
          <p:nvSpPr>
            <p:cNvPr id="44076" name="Rectangle 60"/>
            <p:cNvSpPr/>
            <p:nvPr/>
          </p:nvSpPr>
          <p:spPr>
            <a:xfrm>
              <a:off x="10435" y="8568"/>
              <a:ext cx="1813" cy="617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1800" dirty="0">
                  <a:latin typeface="Tahoma" panose="020B0604030504040204" pitchFamily="34" charset="0"/>
                </a:rPr>
                <a:t>5#(6264)</a:t>
              </a:r>
              <a:endParaRPr lang="en-US" altLang="zh-CN" sz="1800" dirty="0">
                <a:latin typeface="Tahoma" panose="020B0604030504040204" pitchFamily="34" charset="0"/>
              </a:endParaRPr>
            </a:p>
          </p:txBody>
        </p:sp>
        <p:grpSp>
          <p:nvGrpSpPr>
            <p:cNvPr id="44078" name="组合 2"/>
            <p:cNvGrpSpPr/>
            <p:nvPr/>
          </p:nvGrpSpPr>
          <p:grpSpPr>
            <a:xfrm>
              <a:off x="1165" y="4945"/>
              <a:ext cx="1613" cy="5175"/>
              <a:chOff x="712" y="4720"/>
              <a:chExt cx="1613" cy="5174"/>
            </a:xfrm>
          </p:grpSpPr>
          <p:sp>
            <p:nvSpPr>
              <p:cNvPr id="44079" name="Rectangle 6"/>
              <p:cNvSpPr/>
              <p:nvPr/>
            </p:nvSpPr>
            <p:spPr>
              <a:xfrm>
                <a:off x="712" y="4720"/>
                <a:ext cx="1613" cy="51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p>
                <a:r>
                  <a:rPr lang="en-US" altLang="zh-CN" b="1" dirty="0">
                    <a:latin typeface="Tahoma" panose="020B0604030504040204" pitchFamily="34" charset="0"/>
                  </a:rPr>
                  <a:t>A</a:t>
                </a:r>
                <a:r>
                  <a:rPr lang="en-US" altLang="zh-CN" b="1" baseline="-25000" dirty="0">
                    <a:latin typeface="Tahoma" panose="020B0604030504040204" pitchFamily="34" charset="0"/>
                  </a:rPr>
                  <a:t>15</a:t>
                </a:r>
                <a:endParaRPr lang="en-US" altLang="zh-CN" b="1" baseline="-25000" dirty="0">
                  <a:latin typeface="Tahoma" panose="020B0604030504040204" pitchFamily="34" charset="0"/>
                </a:endParaRPr>
              </a:p>
              <a:p>
                <a:r>
                  <a:rPr lang="en-US" altLang="zh-CN" b="1" dirty="0">
                    <a:latin typeface="Tahoma" panose="020B0604030504040204" pitchFamily="34" charset="0"/>
                  </a:rPr>
                  <a:t>A</a:t>
                </a:r>
                <a:r>
                  <a:rPr lang="en-US" altLang="zh-CN" b="1" baseline="-25000" dirty="0">
                    <a:latin typeface="Tahoma" panose="020B0604030504040204" pitchFamily="34" charset="0"/>
                  </a:rPr>
                  <a:t>14 </a:t>
                </a:r>
                <a:r>
                  <a:rPr lang="en-US" altLang="zh-CN" b="1" dirty="0">
                    <a:latin typeface="Tahoma" panose="020B0604030504040204" pitchFamily="34" charset="0"/>
                  </a:rPr>
                  <a:t>A</a:t>
                </a:r>
                <a:r>
                  <a:rPr lang="en-US" altLang="zh-CN" b="1" baseline="-25000" dirty="0">
                    <a:latin typeface="Tahoma" panose="020B0604030504040204" pitchFamily="34" charset="0"/>
                  </a:rPr>
                  <a:t>13 </a:t>
                </a:r>
                <a:endParaRPr lang="en-US" altLang="zh-CN" b="1" baseline="-25000" dirty="0">
                  <a:latin typeface="Tahoma" panose="020B0604030504040204" pitchFamily="34" charset="0"/>
                </a:endParaRPr>
              </a:p>
              <a:p>
                <a:r>
                  <a:rPr lang="en-US" altLang="zh-CN" b="1" dirty="0">
                    <a:latin typeface="Tahoma" panose="020B0604030504040204" pitchFamily="34" charset="0"/>
                  </a:rPr>
                  <a:t>M/IO</a:t>
                </a:r>
                <a:endParaRPr lang="en-US" altLang="zh-CN" b="1" baseline="-25000" dirty="0">
                  <a:latin typeface="Tahoma" panose="020B0604030504040204" pitchFamily="34" charset="0"/>
                </a:endParaRPr>
              </a:p>
              <a:p>
                <a:r>
                  <a:rPr lang="en-US" altLang="zh-CN" b="1" dirty="0">
                    <a:latin typeface="Tahoma" panose="020B0604030504040204" pitchFamily="34" charset="0"/>
                  </a:rPr>
                  <a:t>A</a:t>
                </a:r>
                <a:r>
                  <a:rPr lang="en-US" altLang="zh-CN" b="1" baseline="-25000" dirty="0">
                    <a:latin typeface="Tahoma" panose="020B0604030504040204" pitchFamily="34" charset="0"/>
                  </a:rPr>
                  <a:t>16</a:t>
                </a:r>
                <a:endParaRPr lang="en-US" altLang="zh-CN" b="1" baseline="-25000" dirty="0">
                  <a:latin typeface="Tahoma" panose="020B0604030504040204" pitchFamily="34" charset="0"/>
                </a:endParaRPr>
              </a:p>
              <a:p>
                <a:r>
                  <a:rPr lang="en-US" altLang="zh-CN" b="1" dirty="0">
                    <a:latin typeface="Tahoma" panose="020B0604030504040204" pitchFamily="34" charset="0"/>
                  </a:rPr>
                  <a:t>A</a:t>
                </a:r>
                <a:r>
                  <a:rPr lang="en-US" altLang="zh-CN" b="1" baseline="-25000" dirty="0">
                    <a:latin typeface="Tahoma" panose="020B0604030504040204" pitchFamily="34" charset="0"/>
                  </a:rPr>
                  <a:t>17</a:t>
                </a:r>
                <a:endParaRPr lang="en-US" altLang="zh-CN" b="1" baseline="-25000" dirty="0">
                  <a:latin typeface="Tahoma" panose="020B0604030504040204" pitchFamily="34" charset="0"/>
                </a:endParaRPr>
              </a:p>
              <a:p>
                <a:r>
                  <a:rPr lang="en-US" altLang="zh-CN" b="1" dirty="0">
                    <a:latin typeface="Tahoma" panose="020B0604030504040204" pitchFamily="34" charset="0"/>
                  </a:rPr>
                  <a:t>A</a:t>
                </a:r>
                <a:r>
                  <a:rPr lang="en-US" altLang="zh-CN" b="1" baseline="-25000" dirty="0">
                    <a:latin typeface="Tahoma" panose="020B0604030504040204" pitchFamily="34" charset="0"/>
                  </a:rPr>
                  <a:t>18</a:t>
                </a:r>
                <a:endParaRPr lang="en-US" altLang="zh-CN" b="1" baseline="-25000" dirty="0">
                  <a:latin typeface="Tahoma" panose="020B0604030504040204" pitchFamily="34" charset="0"/>
                </a:endParaRPr>
              </a:p>
              <a:p>
                <a:r>
                  <a:rPr lang="en-US" altLang="zh-CN" b="1" dirty="0">
                    <a:latin typeface="Tahoma" panose="020B0604030504040204" pitchFamily="34" charset="0"/>
                  </a:rPr>
                  <a:t>A</a:t>
                </a:r>
                <a:r>
                  <a:rPr lang="en-US" altLang="zh-CN" b="1" baseline="-25000" dirty="0">
                    <a:latin typeface="Tahoma" panose="020B0604030504040204" pitchFamily="34" charset="0"/>
                  </a:rPr>
                  <a:t>19</a:t>
                </a:r>
                <a:endParaRPr lang="en-US" altLang="zh-CN" b="1" baseline="-25000" dirty="0">
                  <a:latin typeface="Tahoma" panose="020B0604030504040204" pitchFamily="34" charset="0"/>
                </a:endParaRPr>
              </a:p>
              <a:p>
                <a:endParaRPr lang="en-US" altLang="zh-CN" b="1" baseline="-25000" dirty="0">
                  <a:latin typeface="Tahoma" panose="020B0604030504040204" pitchFamily="34" charset="0"/>
                </a:endParaRPr>
              </a:p>
            </p:txBody>
          </p:sp>
          <p:cxnSp>
            <p:nvCxnSpPr>
              <p:cNvPr id="44080" name="直接连接符 1"/>
              <p:cNvCxnSpPr/>
              <p:nvPr/>
            </p:nvCxnSpPr>
            <p:spPr>
              <a:xfrm flipV="1">
                <a:off x="1593" y="6564"/>
                <a:ext cx="566" cy="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cxnSp>
        </p:grpSp>
        <p:sp>
          <p:nvSpPr>
            <p:cNvPr id="44081" name="Rectangle 50"/>
            <p:cNvSpPr/>
            <p:nvPr/>
          </p:nvSpPr>
          <p:spPr>
            <a:xfrm>
              <a:off x="3683" y="6723"/>
              <a:ext cx="530" cy="1172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dirty="0">
                  <a:latin typeface="Tahoma" panose="020B0604030504040204" pitchFamily="34" charset="0"/>
                </a:rPr>
                <a:t>1</a:t>
              </a:r>
              <a:endParaRPr lang="en-US" altLang="zh-CN" sz="2000" dirty="0">
                <a:latin typeface="Tahoma" panose="020B0604030504040204" pitchFamily="34" charset="0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2718" y="6995"/>
              <a:ext cx="964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083" name="直接连接符 5"/>
            <p:cNvCxnSpPr/>
            <p:nvPr/>
          </p:nvCxnSpPr>
          <p:spPr>
            <a:xfrm>
              <a:off x="2210" y="7668"/>
              <a:ext cx="147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grpSp>
          <p:nvGrpSpPr>
            <p:cNvPr id="44084" name="组合 10"/>
            <p:cNvGrpSpPr/>
            <p:nvPr/>
          </p:nvGrpSpPr>
          <p:grpSpPr>
            <a:xfrm>
              <a:off x="8700" y="8490"/>
              <a:ext cx="1080" cy="725"/>
              <a:chOff x="8048" y="6308"/>
              <a:chExt cx="1080" cy="725"/>
            </a:xfrm>
          </p:grpSpPr>
          <p:sp>
            <p:nvSpPr>
              <p:cNvPr id="44085" name="Text Box 36"/>
              <p:cNvSpPr txBox="1"/>
              <p:nvPr/>
            </p:nvSpPr>
            <p:spPr>
              <a:xfrm>
                <a:off x="8048" y="6308"/>
                <a:ext cx="1080" cy="72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Tahoma" panose="020B0604030504040204" pitchFamily="34" charset="0"/>
                  </a:rPr>
                  <a:t>Y</a:t>
                </a:r>
                <a:r>
                  <a:rPr lang="en-US" altLang="zh-CN" sz="1800" dirty="0">
                    <a:latin typeface="Tahoma" panose="020B0604030504040204" pitchFamily="34" charset="0"/>
                  </a:rPr>
                  <a:t>6</a:t>
                </a:r>
                <a:endParaRPr lang="en-US" altLang="zh-CN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4086" name="Line 37"/>
              <p:cNvSpPr/>
              <p:nvPr/>
            </p:nvSpPr>
            <p:spPr>
              <a:xfrm>
                <a:off x="8108" y="6348"/>
                <a:ext cx="480" cy="0"/>
              </a:xfrm>
              <a:prstGeom prst="line">
                <a:avLst/>
              </a:prstGeom>
              <a:ln w="1905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</p:grpSp>
        <p:grpSp>
          <p:nvGrpSpPr>
            <p:cNvPr id="44087" name="组合 13"/>
            <p:cNvGrpSpPr/>
            <p:nvPr/>
          </p:nvGrpSpPr>
          <p:grpSpPr>
            <a:xfrm>
              <a:off x="8700" y="9328"/>
              <a:ext cx="1080" cy="725"/>
              <a:chOff x="8048" y="5288"/>
              <a:chExt cx="1080" cy="725"/>
            </a:xfrm>
          </p:grpSpPr>
          <p:sp>
            <p:nvSpPr>
              <p:cNvPr id="44088" name="Text Box 39"/>
              <p:cNvSpPr txBox="1"/>
              <p:nvPr/>
            </p:nvSpPr>
            <p:spPr>
              <a:xfrm>
                <a:off x="8048" y="5288"/>
                <a:ext cx="1080" cy="72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Tahoma" panose="020B0604030504040204" pitchFamily="34" charset="0"/>
                  </a:rPr>
                  <a:t>Y</a:t>
                </a:r>
                <a:r>
                  <a:rPr lang="en-US" altLang="zh-CN" sz="1800" dirty="0">
                    <a:latin typeface="Tahoma" panose="020B0604030504040204" pitchFamily="34" charset="0"/>
                  </a:rPr>
                  <a:t>7</a:t>
                </a:r>
                <a:endParaRPr lang="en-US" altLang="zh-CN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44089" name="Line 40"/>
              <p:cNvSpPr/>
              <p:nvPr/>
            </p:nvSpPr>
            <p:spPr>
              <a:xfrm>
                <a:off x="8108" y="5328"/>
                <a:ext cx="480" cy="0"/>
              </a:xfrm>
              <a:prstGeom prst="line">
                <a:avLst/>
              </a:prstGeom>
              <a:ln w="1905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</p:grpSp>
        <p:sp>
          <p:nvSpPr>
            <p:cNvPr id="44090" name="Line 7"/>
            <p:cNvSpPr/>
            <p:nvPr/>
          </p:nvSpPr>
          <p:spPr>
            <a:xfrm>
              <a:off x="9500" y="7965"/>
              <a:ext cx="960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44091" name="Line 41"/>
            <p:cNvSpPr/>
            <p:nvPr/>
          </p:nvSpPr>
          <p:spPr>
            <a:xfrm>
              <a:off x="9500" y="8820"/>
              <a:ext cx="960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44092" name="Line 42"/>
            <p:cNvSpPr/>
            <p:nvPr/>
          </p:nvSpPr>
          <p:spPr>
            <a:xfrm>
              <a:off x="9500" y="9675"/>
              <a:ext cx="960" cy="0"/>
            </a:xfrm>
            <a:prstGeom prst="line">
              <a:avLst/>
            </a:prstGeom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44093" name="Rectangle 60"/>
            <p:cNvSpPr/>
            <p:nvPr/>
          </p:nvSpPr>
          <p:spPr>
            <a:xfrm>
              <a:off x="10435" y="9445"/>
              <a:ext cx="1813" cy="61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1800" dirty="0">
                  <a:latin typeface="Tahoma" panose="020B0604030504040204" pitchFamily="34" charset="0"/>
                </a:rPr>
                <a:t>6#(6264)</a:t>
              </a:r>
              <a:endParaRPr lang="en-US" altLang="zh-CN" sz="1800" dirty="0">
                <a:latin typeface="Tahoma" panose="020B0604030504040204" pitchFamily="34" charset="0"/>
              </a:endParaRPr>
            </a:p>
          </p:txBody>
        </p:sp>
      </p:grpSp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4.2.3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存储器系统设计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Rectangle 10"/>
          <p:cNvSpPr/>
          <p:nvPr/>
        </p:nvSpPr>
        <p:spPr>
          <a:xfrm>
            <a:off x="539433" y="1485583"/>
            <a:ext cx="61214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第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4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步：数据线、读写信号线的连接</a:t>
            </a:r>
            <a:endParaRPr lang="zh-CN" altLang="en-US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67995" y="1950720"/>
            <a:ext cx="7826375" cy="4708332"/>
            <a:chOff x="737" y="3586"/>
            <a:chExt cx="12325" cy="6898"/>
          </a:xfrm>
        </p:grpSpPr>
        <p:pic>
          <p:nvPicPr>
            <p:cNvPr id="45058" name="图片 1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737" y="3586"/>
              <a:ext cx="12325" cy="6898"/>
            </a:xfrm>
            <a:prstGeom prst="rect">
              <a:avLst/>
            </a:prstGeom>
            <a:noFill/>
            <a:ln w="9525">
              <a:noFill/>
            </a:ln>
          </p:spPr>
        </p:pic>
        <p:cxnSp>
          <p:nvCxnSpPr>
            <p:cNvPr id="44080" name="直接连接符 1"/>
            <p:cNvCxnSpPr/>
            <p:nvPr>
              <p:custDataLst>
                <p:tags r:id="rId3"/>
              </p:custDataLst>
            </p:nvPr>
          </p:nvCxnSpPr>
          <p:spPr>
            <a:xfrm flipV="1">
              <a:off x="1092" y="4750"/>
              <a:ext cx="283" cy="2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sp>
          <p:nvSpPr>
            <p:cNvPr id="2" name="文本框 1"/>
            <p:cNvSpPr txBox="1"/>
            <p:nvPr/>
          </p:nvSpPr>
          <p:spPr>
            <a:xfrm>
              <a:off x="2237" y="5910"/>
              <a:ext cx="431" cy="61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243" name="矩形 59"/>
          <p:cNvSpPr/>
          <p:nvPr>
            <p:custDataLst>
              <p:tags r:id="rId4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4.2.3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存储器系统设计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1" name="Text Box 2"/>
          <p:cNvSpPr txBox="1"/>
          <p:nvPr/>
        </p:nvSpPr>
        <p:spPr>
          <a:xfrm>
            <a:off x="611823" y="1915478"/>
            <a:ext cx="8253412" cy="4603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[16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位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CPU]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：</a:t>
            </a:r>
            <a:r>
              <a:rPr lang="en-US" altLang="zh-CN" b="1" dirty="0">
                <a:latin typeface="Tahoma" panose="020B0604030504040204" pitchFamily="34" charset="0"/>
              </a:rPr>
              <a:t>8086</a:t>
            </a:r>
            <a:r>
              <a:rPr lang="zh-CN" altLang="en-US" b="1" dirty="0">
                <a:latin typeface="Tahoma" panose="020B0604030504040204" pitchFamily="34" charset="0"/>
              </a:rPr>
              <a:t>微机存储器的奇偶分体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pic>
        <p:nvPicPr>
          <p:cNvPr id="46082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2420620"/>
            <a:ext cx="7941310" cy="4057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612140" y="1484630"/>
            <a:ext cx="4572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dirty="0">
                <a:solidFill>
                  <a:schemeClr val="tx1"/>
                </a:solidFill>
                <a:sym typeface="+mn-ea"/>
              </a:rPr>
              <a:t>2</a:t>
            </a:r>
            <a:r>
              <a:rPr lang="zh-CN" altLang="en-US" b="1" dirty="0">
                <a:solidFill>
                  <a:schemeClr val="tx1"/>
                </a:solidFill>
                <a:sym typeface="+mn-ea"/>
              </a:rPr>
              <a:t>. 808</a:t>
            </a:r>
            <a:r>
              <a:rPr lang="en-US" altLang="zh-CN" b="1" dirty="0">
                <a:solidFill>
                  <a:schemeClr val="tx1"/>
                </a:solidFill>
                <a:sym typeface="+mn-ea"/>
              </a:rPr>
              <a:t>6</a:t>
            </a:r>
            <a:r>
              <a:rPr lang="zh-CN" altLang="en-US" b="1" dirty="0">
                <a:solidFill>
                  <a:schemeClr val="tx1"/>
                </a:solidFill>
                <a:sym typeface="+mn-ea"/>
              </a:rPr>
              <a:t>CPU存储器系统设计</a:t>
            </a:r>
            <a:endParaRPr lang="zh-CN" altLang="en-US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10243" name="矩形 59"/>
          <p:cNvSpPr/>
          <p:nvPr>
            <p:custDataLst>
              <p:tags r:id="rId2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4.2.3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存储器系统设计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8786" name="Text Box 2"/>
          <p:cNvSpPr txBox="1"/>
          <p:nvPr/>
        </p:nvSpPr>
        <p:spPr>
          <a:xfrm>
            <a:off x="539750" y="1628775"/>
            <a:ext cx="7940040" cy="23063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【例】</a:t>
            </a:r>
            <a:r>
              <a:rPr lang="en-US" altLang="zh-CN" b="1" dirty="0">
                <a:latin typeface="Times New Roman" panose="02020603050405020304" pitchFamily="18" charset="0"/>
              </a:rPr>
              <a:t>8086CPU</a:t>
            </a:r>
            <a:r>
              <a:rPr lang="zh-CN" altLang="en-US" b="1" dirty="0">
                <a:latin typeface="Times New Roman" panose="02020603050405020304" pitchFamily="18" charset="0"/>
              </a:rPr>
              <a:t>工作在最小模式，配置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16KB EPROM</a:t>
            </a:r>
            <a:r>
              <a:rPr lang="zh-CN" altLang="en-US" b="1" dirty="0">
                <a:latin typeface="Times New Roman" panose="02020603050405020304" pitchFamily="18" charset="0"/>
              </a:rPr>
              <a:t>，地址空间</a:t>
            </a:r>
            <a:r>
              <a:rPr lang="en-US" altLang="zh-CN" b="1" dirty="0">
                <a:latin typeface="Times New Roman" panose="02020603050405020304" pitchFamily="18" charset="0"/>
              </a:rPr>
              <a:t>10000H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∽</a:t>
            </a:r>
            <a:r>
              <a:rPr lang="en-US" altLang="zh-CN" b="1" dirty="0">
                <a:latin typeface="Times New Roman" panose="02020603050405020304" pitchFamily="18" charset="0"/>
              </a:rPr>
              <a:t>13FFFH</a:t>
            </a:r>
            <a:r>
              <a:rPr lang="zh-CN" altLang="en-US" b="1" dirty="0">
                <a:latin typeface="Times New Roman" panose="02020603050405020304" pitchFamily="18" charset="0"/>
              </a:rPr>
              <a:t>，选择芯片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</a:rPr>
              <a:t>2764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（容量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</a:rPr>
              <a:t>8K*8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）</a:t>
            </a:r>
            <a:r>
              <a:rPr lang="zh-CN" altLang="en-US" b="1" dirty="0">
                <a:latin typeface="Times New Roman" panose="02020603050405020304" pitchFamily="18" charset="0"/>
              </a:rPr>
              <a:t>；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</a:rPr>
              <a:t>32KB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</a:rPr>
              <a:t>静态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</a:rPr>
              <a:t>SRAM</a:t>
            </a:r>
            <a:r>
              <a:rPr lang="zh-CN" altLang="en-US" b="1" dirty="0">
                <a:latin typeface="Times New Roman" panose="02020603050405020304" pitchFamily="18" charset="0"/>
              </a:rPr>
              <a:t>，地址空间</a:t>
            </a:r>
            <a:r>
              <a:rPr lang="en-US" altLang="zh-CN" b="1" dirty="0">
                <a:latin typeface="Times New Roman" panose="02020603050405020304" pitchFamily="18" charset="0"/>
              </a:rPr>
              <a:t>18000H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∽</a:t>
            </a:r>
            <a:r>
              <a:rPr lang="en-US" altLang="zh-CN" b="1" dirty="0">
                <a:latin typeface="Times New Roman" panose="02020603050405020304" pitchFamily="18" charset="0"/>
              </a:rPr>
              <a:t>1FFFFH</a:t>
            </a:r>
            <a:r>
              <a:rPr lang="zh-CN" altLang="en-US" b="1" dirty="0">
                <a:latin typeface="Times New Roman" panose="02020603050405020304" pitchFamily="18" charset="0"/>
              </a:rPr>
              <a:t>，采用芯片</a:t>
            </a:r>
            <a:r>
              <a:rPr lang="en-US" altLang="zh-CN" b="1" dirty="0">
                <a:latin typeface="Times New Roman" panose="02020603050405020304" pitchFamily="18" charset="0"/>
              </a:rPr>
              <a:t>6264</a:t>
            </a:r>
            <a:r>
              <a:rPr lang="zh-CN" altLang="en-US" b="1" dirty="0">
                <a:latin typeface="Times New Roman" panose="02020603050405020304" pitchFamily="18" charset="0"/>
              </a:rPr>
              <a:t>（容量</a:t>
            </a:r>
            <a:r>
              <a:rPr lang="en-US" altLang="zh-CN" b="1" dirty="0">
                <a:latin typeface="Times New Roman" panose="02020603050405020304" pitchFamily="18" charset="0"/>
              </a:rPr>
              <a:t>8K*8</a:t>
            </a:r>
            <a:r>
              <a:rPr lang="zh-CN" altLang="en-US" b="1" dirty="0">
                <a:latin typeface="Times New Roman" panose="02020603050405020304" pitchFamily="18" charset="0"/>
              </a:rPr>
              <a:t>）。</a:t>
            </a:r>
            <a:r>
              <a:rPr lang="zh-CN" altLang="en-US" b="1" dirty="0">
                <a:latin typeface="Tahoma" panose="020B0604030504040204" pitchFamily="34" charset="0"/>
                <a:sym typeface="宋体" panose="02010600030101010101" pitchFamily="2" charset="-122"/>
              </a:rPr>
              <a:t>采用全地址译码法，译码器位</a:t>
            </a:r>
            <a:r>
              <a:rPr lang="en-US" altLang="zh-CN" b="1" dirty="0">
                <a:latin typeface="Times New Roman" panose="02020603050405020304" pitchFamily="18" charset="0"/>
                <a:sym typeface="宋体" panose="02010600030101010101" pitchFamily="2" charset="-122"/>
              </a:rPr>
              <a:t>74LS138</a:t>
            </a:r>
            <a:r>
              <a:rPr lang="zh-CN" altLang="en-US" b="1" dirty="0">
                <a:latin typeface="Tahoma" panose="020B0604030504040204" pitchFamily="34" charset="0"/>
                <a:sym typeface="宋体" panose="02010600030101010101" pitchFamily="2" charset="-122"/>
              </a:rPr>
              <a:t>。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4.2.3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存储器系统设计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Text Box 3"/>
          <p:cNvSpPr txBox="1"/>
          <p:nvPr>
            <p:custDataLst>
              <p:tags r:id="rId2"/>
            </p:custDataLst>
          </p:nvPr>
        </p:nvSpPr>
        <p:spPr>
          <a:xfrm>
            <a:off x="611823" y="3817938"/>
            <a:ext cx="38862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第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步：确定芯片个数</a:t>
            </a:r>
            <a:r>
              <a:rPr lang="zh-CN" altLang="en-US" b="1" dirty="0">
                <a:latin typeface="Tahoma" panose="020B0604030504040204" pitchFamily="34" charset="0"/>
              </a:rPr>
              <a:t>	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1692275" y="4278630"/>
            <a:ext cx="670496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spcBef>
                <a:spcPct val="20000"/>
              </a:spcBef>
            </a:pPr>
            <a:r>
              <a:rPr lang="en-US" altLang="zh-CN" b="1" dirty="0">
                <a:sym typeface="+mn-ea"/>
              </a:rPr>
              <a:t>Intel2764</a:t>
            </a:r>
            <a:r>
              <a:rPr lang="zh-CN" altLang="zh-CN" b="1" dirty="0">
                <a:sym typeface="+mn-ea"/>
              </a:rPr>
              <a:t>：</a:t>
            </a:r>
            <a:r>
              <a:rPr lang="en-US" altLang="zh-CN" b="1" dirty="0">
                <a:sym typeface="+mn-ea"/>
              </a:rPr>
              <a:t>16KB/</a:t>
            </a:r>
            <a:r>
              <a:rPr lang="zh-CN" altLang="en-US" b="1" dirty="0">
                <a:sym typeface="+mn-ea"/>
              </a:rPr>
              <a:t>（</a:t>
            </a:r>
            <a:r>
              <a:rPr lang="en-US" altLang="zh-CN" b="1" dirty="0">
                <a:sym typeface="+mn-ea"/>
              </a:rPr>
              <a:t>8K</a:t>
            </a:r>
            <a:r>
              <a:rPr lang="en-US" altLang="zh-CN" b="1" dirty="0">
                <a:latin typeface="Arial" panose="020B0604020202020204" pitchFamily="34" charset="0"/>
                <a:sym typeface="+mn-ea"/>
              </a:rPr>
              <a:t>×</a:t>
            </a:r>
            <a:r>
              <a:rPr lang="en-US" altLang="zh-CN" b="1" dirty="0">
                <a:sym typeface="+mn-ea"/>
              </a:rPr>
              <a:t>8</a:t>
            </a:r>
            <a:r>
              <a:rPr lang="zh-CN" altLang="en-US" b="1" dirty="0">
                <a:sym typeface="+mn-ea"/>
              </a:rPr>
              <a:t>）</a:t>
            </a:r>
            <a:r>
              <a:rPr lang="en-US" altLang="zh-CN" b="1" dirty="0">
                <a:sym typeface="+mn-ea"/>
              </a:rPr>
              <a:t>=2</a:t>
            </a:r>
            <a:r>
              <a:rPr lang="zh-CN" altLang="en-US" b="1" dirty="0">
                <a:sym typeface="+mn-ea"/>
              </a:rPr>
              <a:t>（片）；</a:t>
            </a:r>
            <a:endParaRPr lang="zh-CN" altLang="en-US" b="1" dirty="0"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1692275" y="4798060"/>
            <a:ext cx="67405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spcBef>
                <a:spcPct val="50000"/>
              </a:spcBef>
            </a:pPr>
            <a:r>
              <a:rPr lang="en-US" altLang="zh-CN" b="1" dirty="0">
                <a:sym typeface="+mn-ea"/>
              </a:rPr>
              <a:t>Intel6264</a:t>
            </a:r>
            <a:r>
              <a:rPr lang="zh-CN" altLang="zh-CN" b="1" dirty="0">
                <a:sym typeface="+mn-ea"/>
              </a:rPr>
              <a:t>：</a:t>
            </a:r>
            <a:r>
              <a:rPr lang="en-US" altLang="zh-CN" b="1" dirty="0">
                <a:sym typeface="+mn-ea"/>
              </a:rPr>
              <a:t>32KB/</a:t>
            </a:r>
            <a:r>
              <a:rPr lang="zh-CN" altLang="en-US" b="1" dirty="0">
                <a:sym typeface="+mn-ea"/>
              </a:rPr>
              <a:t>（</a:t>
            </a:r>
            <a:r>
              <a:rPr lang="en-US" altLang="zh-CN" b="1" dirty="0">
                <a:sym typeface="+mn-ea"/>
              </a:rPr>
              <a:t>8K</a:t>
            </a:r>
            <a:r>
              <a:rPr lang="en-US" altLang="zh-CN" b="1" dirty="0">
                <a:latin typeface="Arial" panose="020B0604020202020204" pitchFamily="34" charset="0"/>
                <a:sym typeface="+mn-ea"/>
              </a:rPr>
              <a:t>×</a:t>
            </a:r>
            <a:r>
              <a:rPr lang="en-US" altLang="zh-CN" b="1" dirty="0">
                <a:sym typeface="+mn-ea"/>
              </a:rPr>
              <a:t>8</a:t>
            </a:r>
            <a:r>
              <a:rPr lang="zh-CN" altLang="en-US" b="1" dirty="0">
                <a:sym typeface="+mn-ea"/>
              </a:rPr>
              <a:t>）</a:t>
            </a:r>
            <a:r>
              <a:rPr lang="en-US" altLang="zh-CN" b="1" dirty="0">
                <a:sym typeface="+mn-ea"/>
              </a:rPr>
              <a:t>=4</a:t>
            </a:r>
            <a:r>
              <a:rPr lang="zh-CN" altLang="en-US" b="1" dirty="0">
                <a:sym typeface="+mn-ea"/>
              </a:rPr>
              <a:t>（片）；</a:t>
            </a:r>
            <a:endParaRPr lang="zh-CN" altLang="en-US" b="1" dirty="0"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1692275" y="5317490"/>
            <a:ext cx="670496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spcBef>
                <a:spcPct val="50000"/>
              </a:spcBef>
            </a:pPr>
            <a:r>
              <a:rPr lang="zh-CN" altLang="en-US" b="1" dirty="0">
                <a:sym typeface="+mn-ea"/>
              </a:rPr>
              <a:t>采用全地址译码法，使用</a:t>
            </a:r>
            <a:r>
              <a:rPr lang="en-US" altLang="zh-CN" b="1" dirty="0">
                <a:sym typeface="+mn-ea"/>
              </a:rPr>
              <a:t>74LS138</a:t>
            </a:r>
            <a:r>
              <a:rPr lang="zh-CN" altLang="en-US" b="1" dirty="0">
                <a:sym typeface="+mn-ea"/>
              </a:rPr>
              <a:t>译码器译码</a:t>
            </a:r>
            <a:endParaRPr lang="zh-CN" altLang="en-US" b="1" dirty="0">
              <a:sym typeface="+mn-ea"/>
            </a:endParaRPr>
          </a:p>
        </p:txBody>
      </p:sp>
      <p:sp>
        <p:nvSpPr>
          <p:cNvPr id="43009" name="Text Box 3"/>
          <p:cNvSpPr txBox="1"/>
          <p:nvPr/>
        </p:nvSpPr>
        <p:spPr>
          <a:xfrm>
            <a:off x="611823" y="5733733"/>
            <a:ext cx="6172200" cy="4603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第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2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步：为每片芯片分配地址范围</a:t>
            </a:r>
            <a:endParaRPr lang="zh-CN" altLang="en-US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charRg st="0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8786">
                                            <p:txEl>
                                              <p:charRg st="0" end="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3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  <p:bldP spid="4" grpId="0"/>
      <p:bldP spid="5" grpId="0"/>
      <p:bldP spid="4300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25956" name="Group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6675" y="1341438"/>
          <a:ext cx="9048750" cy="5399405"/>
        </p:xfrm>
        <a:graphic>
          <a:graphicData uri="http://schemas.openxmlformats.org/drawingml/2006/table">
            <a:tbl>
              <a:tblPr/>
              <a:tblGrid>
                <a:gridCol w="827405"/>
                <a:gridCol w="6946900"/>
                <a:gridCol w="1274445"/>
              </a:tblGrid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芯片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A</a:t>
                      </a:r>
                      <a:r>
                        <a:rPr kumimoji="1" lang="en-US" altLang="zh-CN" sz="20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19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0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0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17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0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16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A</a:t>
                      </a:r>
                      <a:r>
                        <a:rPr kumimoji="1" lang="en-US" altLang="zh-CN" sz="20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0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14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0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0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A</a:t>
                      </a:r>
                      <a:r>
                        <a:rPr kumimoji="1" lang="en-US" altLang="zh-CN" sz="20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0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0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0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A</a:t>
                      </a:r>
                      <a:r>
                        <a:rPr kumimoji="1" lang="en-US" altLang="zh-CN" sz="20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0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0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0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A</a:t>
                      </a:r>
                      <a:r>
                        <a:rPr kumimoji="1" lang="en-US" altLang="zh-CN" sz="20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0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0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0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地址范围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7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1# </a:t>
                      </a: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偶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(2764)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8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2# </a:t>
                      </a: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奇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(2764)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7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3# </a:t>
                      </a: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偶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(6264)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7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4# </a:t>
                      </a: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奇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(6264)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8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5# </a:t>
                      </a: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偶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(6264)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8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6# </a:t>
                      </a: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奇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(6264)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5986" name="Rectangle 34"/>
          <p:cNvSpPr>
            <a:spLocks noChangeArrowheads="1"/>
          </p:cNvSpPr>
          <p:nvPr/>
        </p:nvSpPr>
        <p:spPr bwMode="auto">
          <a:xfrm>
            <a:off x="911225" y="1773238"/>
            <a:ext cx="6913880" cy="3987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0   0   0  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1       0   0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0   0      0   0   0   0     0   0  0  0     0   0   0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zh-CN" altLang="en-US" sz="2000" b="1" i="0" u="none" strike="noStrike" kern="1200" cap="none" spc="0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endParaRPr kumimoji="1" lang="zh-CN" altLang="en-US" sz="2000" b="1" i="0" u="none" strike="noStrike" kern="1200" cap="none" spc="0" normalizeH="0" baseline="0" smtClean="0">
              <a:ln>
                <a:noFill/>
              </a:ln>
              <a:solidFill>
                <a:srgbClr val="0000FF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5987" name="Rectangle 35"/>
          <p:cNvSpPr>
            <a:spLocks noChangeArrowheads="1"/>
          </p:cNvSpPr>
          <p:nvPr/>
        </p:nvSpPr>
        <p:spPr bwMode="auto">
          <a:xfrm>
            <a:off x="911225" y="2133600"/>
            <a:ext cx="6913880" cy="3987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0   0   0  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1       0   0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1   1      1  1   1   1      1   1  1  1     1   1   1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zh-CN" altLang="en-US" sz="2000" b="1" i="0" u="none" strike="noStrike" kern="1200" cap="none" spc="0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endParaRPr kumimoji="1" lang="zh-CN" altLang="en-US" sz="2000" b="1" i="0" u="none" strike="noStrike" kern="1200" cap="none" spc="0" normalizeH="0" baseline="0" smtClean="0">
              <a:ln>
                <a:noFill/>
              </a:ln>
              <a:solidFill>
                <a:srgbClr val="0000FF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5988" name="Rectangle 36"/>
          <p:cNvSpPr/>
          <p:nvPr/>
        </p:nvSpPr>
        <p:spPr>
          <a:xfrm>
            <a:off x="7866063" y="1790700"/>
            <a:ext cx="1277937" cy="6445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1800" b="1" dirty="0">
                <a:latin typeface="Tahoma" panose="020B0604030504040204" pitchFamily="34" charset="0"/>
              </a:rPr>
              <a:t>10000H~</a:t>
            </a:r>
            <a:endParaRPr lang="en-US" altLang="zh-CN" sz="1800" b="1" dirty="0">
              <a:latin typeface="Tahoma" panose="020B0604030504040204" pitchFamily="34" charset="0"/>
            </a:endParaRPr>
          </a:p>
          <a:p>
            <a:r>
              <a:rPr lang="en-US" altLang="zh-CN" sz="1800" b="1" dirty="0">
                <a:latin typeface="Tahoma" panose="020B0604030504040204" pitchFamily="34" charset="0"/>
              </a:rPr>
              <a:t>13FFEH</a:t>
            </a:r>
            <a:endParaRPr lang="en-US" altLang="zh-CN" sz="1800" b="1" dirty="0">
              <a:latin typeface="Tahoma" panose="020B0604030504040204" pitchFamily="34" charset="0"/>
            </a:endParaRPr>
          </a:p>
        </p:txBody>
      </p:sp>
      <p:sp>
        <p:nvSpPr>
          <p:cNvPr id="125989" name="Rectangle 37"/>
          <p:cNvSpPr>
            <a:spLocks noChangeArrowheads="1"/>
          </p:cNvSpPr>
          <p:nvPr/>
        </p:nvSpPr>
        <p:spPr bwMode="auto">
          <a:xfrm>
            <a:off x="898525" y="2600325"/>
            <a:ext cx="6913563" cy="3984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0   0   0  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1       0   0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0   0      0   0   0   0     0   0  0  0     0   0   0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5990" name="Rectangle 38"/>
          <p:cNvSpPr>
            <a:spLocks noChangeArrowheads="1"/>
          </p:cNvSpPr>
          <p:nvPr/>
        </p:nvSpPr>
        <p:spPr bwMode="auto">
          <a:xfrm>
            <a:off x="898525" y="2997200"/>
            <a:ext cx="6913563" cy="3984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0   0   0  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1       0   0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1   1      1   1   1   1     1   1  1  1     1   1   1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5991" name="Rectangle 39"/>
          <p:cNvSpPr/>
          <p:nvPr/>
        </p:nvSpPr>
        <p:spPr>
          <a:xfrm>
            <a:off x="7866063" y="2636838"/>
            <a:ext cx="1277937" cy="6445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1800" b="1" dirty="0">
                <a:latin typeface="Tahoma" panose="020B0604030504040204" pitchFamily="34" charset="0"/>
              </a:rPr>
              <a:t>10001H~</a:t>
            </a:r>
            <a:endParaRPr lang="en-US" altLang="zh-CN" sz="1800" b="1" dirty="0">
              <a:latin typeface="Tahoma" panose="020B0604030504040204" pitchFamily="34" charset="0"/>
            </a:endParaRPr>
          </a:p>
          <a:p>
            <a:r>
              <a:rPr lang="en-US" altLang="zh-CN" sz="1800" b="1" dirty="0">
                <a:latin typeface="Tahoma" panose="020B0604030504040204" pitchFamily="34" charset="0"/>
              </a:rPr>
              <a:t>13FFFH</a:t>
            </a:r>
            <a:endParaRPr lang="en-US" altLang="zh-CN" sz="1800" b="1" dirty="0">
              <a:latin typeface="Tahoma" panose="020B0604030504040204" pitchFamily="34" charset="0"/>
            </a:endParaRPr>
          </a:p>
        </p:txBody>
      </p:sp>
      <p:sp>
        <p:nvSpPr>
          <p:cNvPr id="125992" name="Rectangle 40"/>
          <p:cNvSpPr>
            <a:spLocks noChangeArrowheads="1"/>
          </p:cNvSpPr>
          <p:nvPr/>
        </p:nvSpPr>
        <p:spPr bwMode="auto">
          <a:xfrm>
            <a:off x="898525" y="3429000"/>
            <a:ext cx="6913880" cy="3987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0   0   0  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1       1   0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0   0      0   0   0   0     0   0  0  0     0   0   0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zh-CN" altLang="en-US" sz="2000" b="1" i="0" u="none" strike="noStrike" kern="1200" cap="none" spc="0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endParaRPr kumimoji="1" lang="zh-CN" altLang="en-US" sz="2000" b="1" i="0" u="none" strike="noStrike" kern="1200" cap="none" spc="0" normalizeH="0" baseline="0" smtClean="0">
              <a:ln>
                <a:noFill/>
              </a:ln>
              <a:solidFill>
                <a:srgbClr val="0000FF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5993" name="Rectangle 41"/>
          <p:cNvSpPr>
            <a:spLocks noChangeArrowheads="1"/>
          </p:cNvSpPr>
          <p:nvPr/>
        </p:nvSpPr>
        <p:spPr bwMode="auto">
          <a:xfrm>
            <a:off x="896938" y="3824288"/>
            <a:ext cx="6913880" cy="3987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0   0   0  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1       1   0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1   1      1   1   1   1     1   1  1  1     1   1   1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000" b="1" i="0" u="none" strike="noStrike" kern="1200" cap="none" spc="0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0</a:t>
            </a:r>
            <a:endParaRPr kumimoji="1" lang="zh-CN" altLang="en-US" sz="2000" b="1" i="0" u="none" strike="noStrike" kern="1200" cap="none" spc="0" normalizeH="0" baseline="0" smtClean="0">
              <a:ln>
                <a:noFill/>
              </a:ln>
              <a:solidFill>
                <a:srgbClr val="0000FF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5994" name="Rectangle 42"/>
          <p:cNvSpPr/>
          <p:nvPr/>
        </p:nvSpPr>
        <p:spPr>
          <a:xfrm>
            <a:off x="7866063" y="3500438"/>
            <a:ext cx="1277937" cy="64516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1800" b="1" dirty="0">
                <a:latin typeface="Tahoma" panose="020B0604030504040204" pitchFamily="34" charset="0"/>
              </a:rPr>
              <a:t>18000H~</a:t>
            </a:r>
            <a:endParaRPr lang="en-US" altLang="zh-CN" sz="1800" b="1" dirty="0">
              <a:latin typeface="Tahoma" panose="020B0604030504040204" pitchFamily="34" charset="0"/>
            </a:endParaRPr>
          </a:p>
          <a:p>
            <a:r>
              <a:rPr lang="en-US" altLang="zh-CN" sz="1800" b="1" dirty="0">
                <a:latin typeface="Tahoma" panose="020B0604030504040204" pitchFamily="34" charset="0"/>
              </a:rPr>
              <a:t>1BFFEH</a:t>
            </a:r>
            <a:endParaRPr lang="en-US" altLang="zh-CN" sz="1800" b="1" dirty="0">
              <a:latin typeface="Tahoma" panose="020B0604030504040204" pitchFamily="34" charset="0"/>
            </a:endParaRPr>
          </a:p>
        </p:txBody>
      </p:sp>
      <p:sp>
        <p:nvSpPr>
          <p:cNvPr id="125995" name="Rectangle 43"/>
          <p:cNvSpPr>
            <a:spLocks noChangeArrowheads="1"/>
          </p:cNvSpPr>
          <p:nvPr/>
        </p:nvSpPr>
        <p:spPr bwMode="auto">
          <a:xfrm>
            <a:off x="898525" y="4292600"/>
            <a:ext cx="6913880" cy="3987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0   0   0  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1       1   0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0   0      0   0   0   0     0   0  0  0     0   0   0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5996" name="Rectangle 44"/>
          <p:cNvSpPr>
            <a:spLocks noChangeArrowheads="1"/>
          </p:cNvSpPr>
          <p:nvPr/>
        </p:nvSpPr>
        <p:spPr bwMode="auto">
          <a:xfrm>
            <a:off x="898525" y="4652963"/>
            <a:ext cx="6913880" cy="3987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0   0   0  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1       1   0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  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1      1   1   1   1     1   1  1  1     1   1   1 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5997" name="Rectangle 45"/>
          <p:cNvSpPr/>
          <p:nvPr/>
        </p:nvSpPr>
        <p:spPr>
          <a:xfrm>
            <a:off x="7885113" y="4292600"/>
            <a:ext cx="1366837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1800" b="1" dirty="0">
                <a:latin typeface="Tahoma" panose="020B0604030504040204" pitchFamily="34" charset="0"/>
              </a:rPr>
              <a:t>18001H~</a:t>
            </a:r>
            <a:endParaRPr lang="en-US" altLang="zh-CN" sz="1800" b="1" dirty="0">
              <a:latin typeface="Tahoma" panose="020B0604030504040204" pitchFamily="34" charset="0"/>
            </a:endParaRPr>
          </a:p>
          <a:p>
            <a:r>
              <a:rPr lang="en-US" altLang="zh-CN" sz="1800" b="1" dirty="0">
                <a:latin typeface="Tahoma" panose="020B0604030504040204" pitchFamily="34" charset="0"/>
              </a:rPr>
              <a:t>1BFFFH</a:t>
            </a:r>
            <a:endParaRPr lang="en-US" altLang="zh-CN" sz="1800" b="1" dirty="0">
              <a:latin typeface="Tahoma" panose="020B0604030504040204" pitchFamily="34" charset="0"/>
            </a:endParaRPr>
          </a:p>
        </p:txBody>
      </p:sp>
      <p:sp>
        <p:nvSpPr>
          <p:cNvPr id="125998" name="Rectangle 46"/>
          <p:cNvSpPr>
            <a:spLocks noChangeArrowheads="1"/>
          </p:cNvSpPr>
          <p:nvPr/>
        </p:nvSpPr>
        <p:spPr bwMode="auto">
          <a:xfrm>
            <a:off x="898525" y="5084763"/>
            <a:ext cx="6913880" cy="3987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0   0   0  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1       1   1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0   0      0   0   0   0     0   0  0  0     0   0   0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zh-CN" altLang="en-US" sz="2000" b="1" i="0" u="none" strike="noStrike" kern="1200" cap="none" spc="0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endParaRPr kumimoji="1" lang="zh-CN" altLang="en-US" sz="2000" b="1" i="0" u="none" strike="noStrike" kern="1200" cap="none" spc="0" normalizeH="0" baseline="0" smtClean="0">
              <a:ln>
                <a:noFill/>
              </a:ln>
              <a:solidFill>
                <a:srgbClr val="0000FF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5999" name="Rectangle 47"/>
          <p:cNvSpPr>
            <a:spLocks noChangeArrowheads="1"/>
          </p:cNvSpPr>
          <p:nvPr/>
        </p:nvSpPr>
        <p:spPr bwMode="auto">
          <a:xfrm>
            <a:off x="898525" y="5480050"/>
            <a:ext cx="6913880" cy="3987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0   0   0  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1       1   1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1   1      1   1   1   1     1   1  1  1     1   1   1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zh-CN" altLang="en-US" sz="2000" b="1" i="0" u="none" strike="noStrike" kern="1200" cap="none" spc="0" normalizeH="0" baseline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endParaRPr kumimoji="1" lang="zh-CN" altLang="en-US" sz="2000" b="1" i="0" u="none" strike="noStrike" kern="1200" cap="none" spc="0" normalizeH="0" baseline="0" smtClean="0">
              <a:ln>
                <a:noFill/>
              </a:ln>
              <a:solidFill>
                <a:srgbClr val="0000FF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6000" name="Rectangle 48"/>
          <p:cNvSpPr/>
          <p:nvPr/>
        </p:nvSpPr>
        <p:spPr>
          <a:xfrm>
            <a:off x="7831138" y="5084763"/>
            <a:ext cx="1312862" cy="64516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1800" b="1" dirty="0">
                <a:latin typeface="Tahoma" panose="020B0604030504040204" pitchFamily="34" charset="0"/>
              </a:rPr>
              <a:t>1C000H~</a:t>
            </a:r>
            <a:endParaRPr lang="en-US" altLang="zh-CN" sz="1800" b="1" dirty="0">
              <a:latin typeface="Tahoma" panose="020B0604030504040204" pitchFamily="34" charset="0"/>
            </a:endParaRPr>
          </a:p>
          <a:p>
            <a:r>
              <a:rPr lang="en-US" altLang="zh-CN" sz="1800" b="1" dirty="0">
                <a:latin typeface="Tahoma" panose="020B0604030504040204" pitchFamily="34" charset="0"/>
              </a:rPr>
              <a:t>1FFFEH</a:t>
            </a:r>
            <a:endParaRPr lang="en-US" altLang="zh-CN" sz="1800" b="1" dirty="0">
              <a:latin typeface="Tahoma" panose="020B0604030504040204" pitchFamily="34" charset="0"/>
            </a:endParaRPr>
          </a:p>
        </p:txBody>
      </p:sp>
      <p:sp>
        <p:nvSpPr>
          <p:cNvPr id="24" name="Rectangle 46"/>
          <p:cNvSpPr>
            <a:spLocks noChangeArrowheads="1"/>
          </p:cNvSpPr>
          <p:nvPr/>
        </p:nvSpPr>
        <p:spPr bwMode="auto">
          <a:xfrm>
            <a:off x="911225" y="5876925"/>
            <a:ext cx="6913880" cy="3987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0   0   0  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1       1   1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0   0      0   0   0   0     0   0  0  0     0   0   0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Rectangle 47"/>
          <p:cNvSpPr>
            <a:spLocks noChangeArrowheads="1"/>
          </p:cNvSpPr>
          <p:nvPr/>
        </p:nvSpPr>
        <p:spPr bwMode="auto">
          <a:xfrm>
            <a:off x="911225" y="6272213"/>
            <a:ext cx="6913880" cy="3987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0   0   0  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1       1   1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1   1      1   1   1   1     1   1  1  1     1   1   1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Rectangle 48"/>
          <p:cNvSpPr/>
          <p:nvPr/>
        </p:nvSpPr>
        <p:spPr>
          <a:xfrm>
            <a:off x="7831138" y="5876925"/>
            <a:ext cx="1312862" cy="64516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1800" b="1" dirty="0">
                <a:latin typeface="Tahoma" panose="020B0604030504040204" pitchFamily="34" charset="0"/>
              </a:rPr>
              <a:t>1C001H~</a:t>
            </a:r>
            <a:endParaRPr lang="en-US" altLang="zh-CN" sz="1800" b="1" dirty="0">
              <a:latin typeface="Tahoma" panose="020B0604030504040204" pitchFamily="34" charset="0"/>
            </a:endParaRPr>
          </a:p>
          <a:p>
            <a:r>
              <a:rPr lang="en-US" altLang="zh-CN" sz="1800" b="1" dirty="0">
                <a:latin typeface="Tahoma" panose="020B0604030504040204" pitchFamily="34" charset="0"/>
              </a:rPr>
              <a:t>1FFFFH</a:t>
            </a:r>
            <a:endParaRPr lang="en-US" altLang="zh-CN" sz="1800" b="1" dirty="0">
              <a:latin typeface="Tahoma" panose="020B0604030504040204" pitchFamily="34" charset="0"/>
            </a:endParaRPr>
          </a:p>
        </p:txBody>
      </p:sp>
      <p:sp>
        <p:nvSpPr>
          <p:cNvPr id="10243" name="矩形 59"/>
          <p:cNvSpPr/>
          <p:nvPr>
            <p:custDataLst>
              <p:tags r:id="rId2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4.2.3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存储器系统设计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5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5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5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5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5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5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5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5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25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25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25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25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25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25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25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126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86" grpId="0" bldLvl="0" animBg="1"/>
      <p:bldP spid="125987" grpId="0" bldLvl="0" animBg="1"/>
      <p:bldP spid="125988" grpId="0"/>
      <p:bldP spid="125989" grpId="0" bldLvl="0" animBg="1"/>
      <p:bldP spid="125990" grpId="0" bldLvl="0" animBg="1"/>
      <p:bldP spid="125991" grpId="0"/>
      <p:bldP spid="125992" grpId="0" bldLvl="0" animBg="1"/>
      <p:bldP spid="125993" grpId="0" bldLvl="0" animBg="1"/>
      <p:bldP spid="125993" grpId="1" bldLvl="0" animBg="1"/>
      <p:bldP spid="125994" grpId="0"/>
      <p:bldP spid="125995" grpId="0" bldLvl="0" animBg="1"/>
      <p:bldP spid="125996" grpId="0" bldLvl="0" animBg="1"/>
      <p:bldP spid="125997" grpId="0"/>
      <p:bldP spid="125998" grpId="0" bldLvl="0" animBg="1"/>
      <p:bldP spid="125999" grpId="0" bldLvl="0" animBg="1"/>
      <p:bldP spid="126000" grpId="0"/>
      <p:bldP spid="24" grpId="0" bldLvl="0" animBg="1"/>
      <p:bldP spid="25" grpId="0" bldLvl="0" animBg="1"/>
      <p:bldP spid="2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2225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605" y="1268730"/>
            <a:ext cx="7726680" cy="49834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43" name="矩形 59"/>
          <p:cNvSpPr/>
          <p:nvPr>
            <p:custDataLst>
              <p:tags r:id="rId2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4.2.3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存储器系统设计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3895" y="6237605"/>
            <a:ext cx="74853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b="1"/>
              <a:t>8086 CPU 最小工作模式下的存储器系统</a:t>
            </a:r>
            <a:endParaRPr lang="zh-CN" altLang="en-US" b="1"/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49" name="Rectangle 2"/>
          <p:cNvSpPr/>
          <p:nvPr/>
        </p:nvSpPr>
        <p:spPr>
          <a:xfrm>
            <a:off x="0" y="260985"/>
            <a:ext cx="9111615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/>
            <a:r>
              <a:rPr lang="en-US" altLang="zh-CN" sz="3200" b="1" dirty="0">
                <a:solidFill>
                  <a:srgbClr val="FF0000"/>
                </a:solidFill>
                <a:latin typeface="Tahoma" panose="020B0604030504040204" pitchFamily="34" charset="0"/>
                <a:ea typeface="隶书" panose="02010509060101010101" pitchFamily="49" charset="-122"/>
              </a:rPr>
              <a:t>8086</a:t>
            </a:r>
            <a:r>
              <a:rPr lang="zh-CN" altLang="en-US" sz="3200" b="1" dirty="0">
                <a:solidFill>
                  <a:srgbClr val="FF0000"/>
                </a:solidFill>
                <a:latin typeface="Tahoma" panose="020B0604030504040204" pitchFamily="34" charset="0"/>
                <a:ea typeface="隶书" panose="02010509060101010101" pitchFamily="49" charset="-122"/>
              </a:rPr>
              <a:t>存储器</a:t>
            </a:r>
            <a:r>
              <a:rPr lang="zh-CN" altLang="en-US" sz="3200" b="1" dirty="0">
                <a:solidFill>
                  <a:srgbClr val="FF0000"/>
                </a:solidFill>
                <a:latin typeface="Tahoma" panose="020B0604030504040204" pitchFamily="34" charset="0"/>
                <a:ea typeface="隶书" panose="02010509060101010101" pitchFamily="49" charset="-122"/>
              </a:rPr>
              <a:t>扩展原理图</a:t>
            </a:r>
            <a:endParaRPr lang="zh-CN" altLang="en-US" sz="3200" b="1" dirty="0">
              <a:solidFill>
                <a:srgbClr val="FF0000"/>
              </a:solidFill>
              <a:latin typeface="Tahoma" panose="020B0604030504040204" pitchFamily="34" charset="0"/>
              <a:ea typeface="隶书" panose="020105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8580"/>
            <a:ext cx="9185275" cy="670687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4450"/>
            <a:ext cx="10214610" cy="700341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190" y="322580"/>
            <a:ext cx="8463280" cy="6264910"/>
          </a:xfrm>
          <a:prstGeom prst="rect">
            <a:avLst/>
          </a:prstGeom>
        </p:spPr>
      </p:pic>
      <p:sp>
        <p:nvSpPr>
          <p:cNvPr id="53249" name="Rectangle 2"/>
          <p:cNvSpPr/>
          <p:nvPr/>
        </p:nvSpPr>
        <p:spPr>
          <a:xfrm>
            <a:off x="6397625" y="6237605"/>
            <a:ext cx="246634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r>
              <a:rPr lang="zh-CN" altLang="en-US" sz="3200" b="1" dirty="0">
                <a:solidFill>
                  <a:srgbClr val="FF0000"/>
                </a:solidFill>
                <a:latin typeface="Tahoma" panose="020B0604030504040204" pitchFamily="34" charset="0"/>
                <a:ea typeface="隶书" panose="02010509060101010101" pitchFamily="49" charset="-122"/>
              </a:rPr>
              <a:t>参考</a:t>
            </a:r>
            <a:r>
              <a:rPr lang="zh-CN" altLang="en-US" sz="3200" b="1" dirty="0">
                <a:solidFill>
                  <a:srgbClr val="FF0000"/>
                </a:solidFill>
                <a:latin typeface="Tahoma" panose="020B0604030504040204" pitchFamily="34" charset="0"/>
                <a:ea typeface="隶书" panose="02010509060101010101" pitchFamily="49" charset="-122"/>
              </a:rPr>
              <a:t>源程序</a:t>
            </a:r>
            <a:endParaRPr lang="zh-CN" altLang="en-US" sz="3200" b="1" dirty="0">
              <a:solidFill>
                <a:srgbClr val="FF0000"/>
              </a:solidFill>
              <a:latin typeface="Tahoma" panose="020B0604030504040204" pitchFamily="34" charset="0"/>
              <a:ea typeface="隶书" panose="020105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410" y="0"/>
            <a:ext cx="3331845" cy="26784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765" y="1917065"/>
            <a:ext cx="5398770" cy="70358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6" name="矩形 5"/>
          <p:cNvSpPr/>
          <p:nvPr/>
        </p:nvSpPr>
        <p:spPr>
          <a:xfrm>
            <a:off x="5796280" y="1341120"/>
            <a:ext cx="2736215" cy="28765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Text Box 3"/>
          <p:cNvSpPr txBox="1"/>
          <p:nvPr/>
        </p:nvSpPr>
        <p:spPr>
          <a:xfrm>
            <a:off x="537845" y="1490345"/>
            <a:ext cx="4572000" cy="521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ahoma" panose="020B0604030504040204" pitchFamily="34" charset="0"/>
              </a:rPr>
              <a:t>作业：</a:t>
            </a:r>
            <a:endParaRPr lang="zh-CN" altLang="en-US" sz="2800" b="1" dirty="0">
              <a:latin typeface="Tahoma" panose="020B0604030504040204" pitchFamily="34" charset="0"/>
            </a:endParaRPr>
          </a:p>
        </p:txBody>
      </p:sp>
      <p:sp>
        <p:nvSpPr>
          <p:cNvPr id="53251" name="Text Box 5"/>
          <p:cNvSpPr txBox="1"/>
          <p:nvPr/>
        </p:nvSpPr>
        <p:spPr>
          <a:xfrm>
            <a:off x="611823" y="2204085"/>
            <a:ext cx="7848600" cy="309181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3200" b="1" dirty="0">
                <a:latin typeface="Tahoma" panose="020B0604030504040204" pitchFamily="34" charset="0"/>
              </a:rPr>
              <a:t>4.1       </a:t>
            </a:r>
            <a:endParaRPr lang="en-US" altLang="zh-CN" sz="3200" b="1" dirty="0">
              <a:latin typeface="Tahoma" panose="020B0604030504040204" pitchFamily="34" charset="0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3200" b="1" dirty="0">
                <a:latin typeface="Tahoma" panose="020B0604030504040204" pitchFamily="34" charset="0"/>
              </a:rPr>
              <a:t>4.3        </a:t>
            </a:r>
            <a:endParaRPr lang="en-US" altLang="zh-CN" sz="3200" b="1" dirty="0">
              <a:latin typeface="Tahoma" panose="020B0604030504040204" pitchFamily="34" charset="0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3200" b="1" dirty="0">
                <a:latin typeface="Tahoma" panose="020B0604030504040204" pitchFamily="34" charset="0"/>
              </a:rPr>
              <a:t>4.5         </a:t>
            </a:r>
            <a:endParaRPr lang="en-US" altLang="zh-CN" sz="3200" b="1" dirty="0">
              <a:latin typeface="Tahoma" panose="020B0604030504040204" pitchFamily="34" charset="0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3200" b="1" dirty="0">
                <a:latin typeface="Tahoma" panose="020B0604030504040204" pitchFamily="34" charset="0"/>
              </a:rPr>
              <a:t>4.7</a:t>
            </a:r>
            <a:endParaRPr lang="en-US" altLang="zh-CN" sz="3200" b="1" dirty="0">
              <a:latin typeface="Tahoma" panose="020B0604030504040204" pitchFamily="34" charset="0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3200" b="1" dirty="0">
                <a:latin typeface="Tahoma" panose="020B0604030504040204" pitchFamily="34" charset="0"/>
              </a:rPr>
              <a:t>4.8             </a:t>
            </a:r>
            <a:endParaRPr lang="en-US" altLang="zh-CN" sz="3200" b="1" dirty="0">
              <a:latin typeface="Tahoma" panose="020B0604030504040204" pitchFamily="34" charset="0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3200" b="1" dirty="0">
                <a:latin typeface="Tahoma" panose="020B0604030504040204" pitchFamily="34" charset="0"/>
              </a:rPr>
              <a:t>4.10</a:t>
            </a:r>
            <a:endParaRPr lang="en-US" altLang="zh-CN" sz="3200" b="1" dirty="0">
              <a:latin typeface="Tahoma" panose="020B0604030504040204" pitchFamily="34" charset="0"/>
            </a:endParaRPr>
          </a:p>
        </p:txBody>
      </p:sp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第四章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习题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-P135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  <p:tag name="KSO_WM_UNIT_PLACING_PICTURE_USER_VIEWPORT" val="{&quot;height&quot;:4515,&quot;width&quot;:8845}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UNIT_TABLE_BEAUTIFY" val="smartTable{20088a3d-4c5f-4be3-98e3-64421f46682d}"/>
  <p:tag name="KSO_WM_BEAUTIFY_FLAG" val=""/>
  <p:tag name="TABLE_ENDDRAG_ORIGIN_RECT" val="624*191"/>
  <p:tag name="TABLE_ENDDRAG_RECT" val="34*167*624*191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UNIT_TABLE_BEAUTIFY" val="smartTable{50af2a94-e4a1-40b0-ac48-e1aaaf106067}"/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UNIT_TABLE_BEAUTIFY" val="smartTable{78eba240-553d-4b40-a1b9-8ffe76d39147}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UNIT_TABLE_BEAUTIFY" val="smartTable{91a387b4-b9de-4464-b8e6-ca70a350e15a}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UNIT_PLACING_PICTURE_USER_VIEWPORT" val="{&quot;height&quot;:5680,&quot;width&quot;:10200}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UNIT_TABLE_BEAUTIFY" val="smartTable{fcefde8e-2f74-4bee-a0a6-6ade5613666b}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PP_MARK_KEY" val="886ba558-67b6-49d3-8ff4-1dddd213c2aa"/>
  <p:tag name="COMMONDATA" val="eyJoZGlkIjoiNGNiMWI2MjUxYmM1ZWM5YzFjOGE2MWRjMWE5MWY1N2QifQ=="/>
  <p:tag name="commondata" val="eyJoZGlkIjoiMzBhNjA4MTY3MzQ1OTEzY2U5MzkwMWJhYTU2Njg0MDgifQ=="/>
</p:tagLst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0</TotalTime>
  <Words>9783</Words>
  <Application>WPS 演示</Application>
  <PresentationFormat>全屏显示(4:3)</PresentationFormat>
  <Paragraphs>1717</Paragraphs>
  <Slides>49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49</vt:i4>
      </vt:variant>
    </vt:vector>
  </HeadingPairs>
  <TitlesOfParts>
    <vt:vector size="65" baseType="lpstr">
      <vt:lpstr>Arial</vt:lpstr>
      <vt:lpstr>宋体</vt:lpstr>
      <vt:lpstr>Wingdings</vt:lpstr>
      <vt:lpstr>Tahoma</vt:lpstr>
      <vt:lpstr>华文新魏</vt:lpstr>
      <vt:lpstr>Wingdings</vt:lpstr>
      <vt:lpstr>Monotype Sorts</vt:lpstr>
      <vt:lpstr>Times New Roman</vt:lpstr>
      <vt:lpstr>Calibri</vt:lpstr>
      <vt:lpstr>微软雅黑</vt:lpstr>
      <vt:lpstr>Arial Unicode MS</vt:lpstr>
      <vt:lpstr>Symbol</vt:lpstr>
      <vt:lpstr>隶书</vt:lpstr>
      <vt:lpstr>Blends</vt:lpstr>
      <vt:lpstr>1_Blends</vt:lpstr>
      <vt:lpstr>2_Blends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清华大学计算机系微机组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戴梅萼</dc:creator>
  <cp:lastModifiedBy>曹锦纲</cp:lastModifiedBy>
  <cp:revision>747</cp:revision>
  <dcterms:created xsi:type="dcterms:W3CDTF">2003-08-15T08:41:00Z</dcterms:created>
  <dcterms:modified xsi:type="dcterms:W3CDTF">2025-10-16T00:58:09Z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B90AB730C3D24FD390136CE948879CB9</vt:lpwstr>
  </property>
  <property fmtid="{D5CDD505-2E9C-101B-9397-08002B2CF9AE}" pid="3" name="KSOProductBuildVer">
    <vt:lpwstr>2052-12.1.0.22529</vt:lpwstr>
  </property>
</Properties>
</file>