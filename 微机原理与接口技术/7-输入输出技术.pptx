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68" r:id="rId3"/>
    <p:sldId id="698" r:id="rId4"/>
    <p:sldId id="781" r:id="rId5"/>
    <p:sldId id="783" r:id="rId6"/>
    <p:sldId id="782" r:id="rId8"/>
    <p:sldId id="786" r:id="rId9"/>
    <p:sldId id="800" r:id="rId10"/>
    <p:sldId id="787" r:id="rId11"/>
    <p:sldId id="788" r:id="rId12"/>
    <p:sldId id="789" r:id="rId13"/>
    <p:sldId id="790" r:id="rId14"/>
    <p:sldId id="791" r:id="rId15"/>
    <p:sldId id="801" r:id="rId16"/>
    <p:sldId id="802" r:id="rId17"/>
    <p:sldId id="803" r:id="rId18"/>
    <p:sldId id="844" r:id="rId19"/>
    <p:sldId id="843" r:id="rId20"/>
    <p:sldId id="804" r:id="rId21"/>
    <p:sldId id="805" r:id="rId22"/>
    <p:sldId id="806" r:id="rId23"/>
    <p:sldId id="823" r:id="rId24"/>
    <p:sldId id="807" r:id="rId25"/>
    <p:sldId id="808" r:id="rId26"/>
    <p:sldId id="809" r:id="rId27"/>
    <p:sldId id="810" r:id="rId28"/>
    <p:sldId id="824" r:id="rId29"/>
    <p:sldId id="811" r:id="rId30"/>
    <p:sldId id="812" r:id="rId31"/>
    <p:sldId id="813" r:id="rId32"/>
    <p:sldId id="814" r:id="rId33"/>
    <p:sldId id="815" r:id="rId34"/>
    <p:sldId id="816" r:id="rId35"/>
    <p:sldId id="817" r:id="rId36"/>
    <p:sldId id="825" r:id="rId37"/>
    <p:sldId id="826" r:id="rId38"/>
    <p:sldId id="827" r:id="rId39"/>
    <p:sldId id="828" r:id="rId40"/>
    <p:sldId id="829" r:id="rId41"/>
    <p:sldId id="830" r:id="rId42"/>
  </p:sldIdLst>
  <p:sldSz cx="9144000" cy="6858000" type="screen4x3"/>
  <p:notesSz cx="6858000" cy="9144000"/>
  <p:custDataLst>
    <p:tags r:id="rId46"/>
  </p:custDataLst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34" userDrawn="1">
          <p15:clr>
            <a:srgbClr val="A4A3A4"/>
          </p15:clr>
        </p15:guide>
        <p15:guide id="2" pos="279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0000FF"/>
    <a:srgbClr val="9130B4"/>
    <a:srgbClr val="FFFFCC"/>
    <a:srgbClr val="0033CC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21102"/>
    <p:restoredTop sz="84972"/>
  </p:normalViewPr>
  <p:slideViewPr>
    <p:cSldViewPr showGuides="1">
      <p:cViewPr>
        <p:scale>
          <a:sx n="67" d="100"/>
          <a:sy n="67" d="100"/>
        </p:scale>
        <p:origin x="-1248" y="-186"/>
      </p:cViewPr>
      <p:guideLst>
        <p:guide orient="horz" pos="2234"/>
        <p:guide pos="279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51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6" Type="http://schemas.openxmlformats.org/officeDocument/2006/relationships/tags" Target="tags/tag408.xml"/><Relationship Id="rId45" Type="http://schemas.openxmlformats.org/officeDocument/2006/relationships/tableStyles" Target="tableStyles.xml"/><Relationship Id="rId44" Type="http://schemas.openxmlformats.org/officeDocument/2006/relationships/viewProps" Target="viewProps.xml"/><Relationship Id="rId43" Type="http://schemas.openxmlformats.org/officeDocument/2006/relationships/presProps" Target="presProps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977132-E679-4098-84F4-B443F4F1BE82}" type="datetimeFigureOut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221" name="备注占位符 4"/>
          <p:cNvSpPr>
            <a:spLocks noGrp="1"/>
          </p:cNvSpPr>
          <p:nvPr>
            <p:ph type="body" sz="quarter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p>
            <a:pPr lvl="0" algn="r" eaLnBrk="1" fontAlgn="base" hangingPunct="1">
              <a:buNone/>
            </a:pPr>
            <a:fld id="{9A0DB2DC-4C9A-4742-B13C-FB6460FD3503}" type="slidenum">
              <a:rPr lang="zh-CN" altLang="en-US" sz="1200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z="1200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/>
          </p:nvPr>
        </p:nvSpPr>
        <p:spPr/>
        <p:txBody>
          <a:bodyPr/>
          <a:p>
            <a:r>
              <a:rPr lang="zh-CN" altLang="en-US"/>
              <a:t>I/O 端口有三种类型：数据端口、状态端口、控制（或命令）端口。根据需要，不同外设具有端口数各不相同。</a:t>
            </a:r>
            <a:endParaRPr lang="zh-CN" altLang="en-US"/>
          </a:p>
          <a:p>
            <a:r>
              <a:rPr lang="zh-CN" altLang="en-US"/>
              <a:t>CPU 通过数据端口从外设读入数据或向外设输出数据；从外设的状态端口读入其当前状态；通过控制端口向外设发出控制命令。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/>
          </p:nvPr>
        </p:nvSpPr>
        <p:spPr/>
        <p:txBody>
          <a:bodyPr/>
          <a:p>
            <a:r>
              <a:rPr lang="zh-CN" altLang="en-US">
                <a:sym typeface="+mn-ea"/>
              </a:rPr>
              <a:t>从应用角度看内部，</a:t>
            </a:r>
            <a:r>
              <a:rPr lang="en-US" altLang="zh-CN">
                <a:sym typeface="+mn-ea"/>
              </a:rPr>
              <a:t>IO</a:t>
            </a:r>
            <a:r>
              <a:rPr lang="zh-CN" altLang="en-US">
                <a:sym typeface="+mn-ea"/>
              </a:rPr>
              <a:t>接口表现为</a:t>
            </a: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类寄存器。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/>
          </p:nvPr>
        </p:nvSpPr>
        <p:spPr/>
        <p:txBody>
          <a:bodyPr/>
          <a:p>
            <a:r>
              <a:rPr lang="zh-CN" altLang="en-US"/>
              <a:t>74LS244 芯片除用作输入接口外，还常用来作为信号的驱动器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p>
            <a:r>
              <a:rPr lang="zh-CN" altLang="en-US"/>
              <a:t>一般采用低电平驱动</a:t>
            </a:r>
            <a:r>
              <a:rPr lang="en-US" altLang="zh-CN"/>
              <a:t>LED</a:t>
            </a:r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2"/>
          <p:cNvGrpSpPr/>
          <p:nvPr/>
        </p:nvGrpSpPr>
        <p:grpSpPr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123" name="Group 3"/>
            <p:cNvGrpSpPr/>
            <p:nvPr/>
          </p:nvGrpSpPr>
          <p:grpSpPr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2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5126" name="Group 6"/>
            <p:cNvGrpSpPr/>
            <p:nvPr/>
          </p:nvGrpSpPr>
          <p:grpSpPr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2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6554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6554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24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algn="r" fontAlgn="base">
              <a:buNone/>
            </a:pPr>
            <a:fld id="{9A0DB2DC-4C9A-4742-B13C-FB6460FD3503}" type="slidenum">
              <a:rPr lang="zh-CN" altLang="en-US" strike="noStrike" noProof="1" dirty="0">
                <a:solidFill>
                  <a:schemeClr val="bg2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1412875"/>
            <a:ext cx="3810000" cy="47196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1412875"/>
            <a:ext cx="3810000" cy="47196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1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44450"/>
            <a:ext cx="1951038" cy="6088063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44450"/>
            <a:ext cx="5700712" cy="6088063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525463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525463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947738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947738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874713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417513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208088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3" name="Rectangle 9"/>
          <p:cNvSpPr>
            <a:spLocks noGrp="1"/>
          </p:cNvSpPr>
          <p:nvPr>
            <p:ph type="title"/>
          </p:nvPr>
        </p:nvSpPr>
        <p:spPr>
          <a:xfrm>
            <a:off x="1150938" y="44450"/>
            <a:ext cx="7793037" cy="1143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34" name="Rectangle 10"/>
          <p:cNvSpPr>
            <a:spLocks noGrp="1"/>
          </p:cNvSpPr>
          <p:nvPr>
            <p:ph type="body"/>
          </p:nvPr>
        </p:nvSpPr>
        <p:spPr>
          <a:xfrm>
            <a:off x="1182688" y="1412875"/>
            <a:ext cx="7772400" cy="47196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4523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kumimoji="0"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52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kumimoji="0" sz="14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52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/>
            </a:lvl1pPr>
          </a:lstStyle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8" Type="http://schemas.openxmlformats.org/officeDocument/2006/relationships/slideLayout" Target="../slideLayouts/slideLayout2.xml"/><Relationship Id="rId27" Type="http://schemas.openxmlformats.org/officeDocument/2006/relationships/tags" Target="../tags/tag27.xml"/><Relationship Id="rId26" Type="http://schemas.openxmlformats.org/officeDocument/2006/relationships/tags" Target="../tags/tag26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tags" Target="../tags/tag28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41.xml"/><Relationship Id="rId8" Type="http://schemas.openxmlformats.org/officeDocument/2006/relationships/tags" Target="../tags/tag40.xml"/><Relationship Id="rId7" Type="http://schemas.openxmlformats.org/officeDocument/2006/relationships/tags" Target="../tags/tag39.xml"/><Relationship Id="rId6" Type="http://schemas.openxmlformats.org/officeDocument/2006/relationships/tags" Target="../tags/tag38.xml"/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7" Type="http://schemas.openxmlformats.org/officeDocument/2006/relationships/notesSlide" Target="../notesSlides/notesSlide1.xml"/><Relationship Id="rId26" Type="http://schemas.openxmlformats.org/officeDocument/2006/relationships/slideLayout" Target="../slideLayouts/slideLayout2.xml"/><Relationship Id="rId25" Type="http://schemas.openxmlformats.org/officeDocument/2006/relationships/tags" Target="../tags/tag57.xml"/><Relationship Id="rId24" Type="http://schemas.openxmlformats.org/officeDocument/2006/relationships/tags" Target="../tags/tag56.xml"/><Relationship Id="rId23" Type="http://schemas.openxmlformats.org/officeDocument/2006/relationships/tags" Target="../tags/tag55.xml"/><Relationship Id="rId22" Type="http://schemas.openxmlformats.org/officeDocument/2006/relationships/tags" Target="../tags/tag54.xml"/><Relationship Id="rId21" Type="http://schemas.openxmlformats.org/officeDocument/2006/relationships/tags" Target="../tags/tag53.xml"/><Relationship Id="rId20" Type="http://schemas.openxmlformats.org/officeDocument/2006/relationships/tags" Target="../tags/tag52.xml"/><Relationship Id="rId2" Type="http://schemas.openxmlformats.org/officeDocument/2006/relationships/tags" Target="../tags/tag34.xml"/><Relationship Id="rId19" Type="http://schemas.openxmlformats.org/officeDocument/2006/relationships/tags" Target="../tags/tag51.xml"/><Relationship Id="rId18" Type="http://schemas.openxmlformats.org/officeDocument/2006/relationships/tags" Target="../tags/tag50.xml"/><Relationship Id="rId17" Type="http://schemas.openxmlformats.org/officeDocument/2006/relationships/tags" Target="../tags/tag49.xml"/><Relationship Id="rId16" Type="http://schemas.openxmlformats.org/officeDocument/2006/relationships/tags" Target="../tags/tag48.xml"/><Relationship Id="rId15" Type="http://schemas.openxmlformats.org/officeDocument/2006/relationships/tags" Target="../tags/tag47.xml"/><Relationship Id="rId14" Type="http://schemas.openxmlformats.org/officeDocument/2006/relationships/tags" Target="../tags/tag46.xml"/><Relationship Id="rId13" Type="http://schemas.openxmlformats.org/officeDocument/2006/relationships/tags" Target="../tags/tag45.xml"/><Relationship Id="rId12" Type="http://schemas.openxmlformats.org/officeDocument/2006/relationships/tags" Target="../tags/tag44.xml"/><Relationship Id="rId11" Type="http://schemas.openxmlformats.org/officeDocument/2006/relationships/tags" Target="../tags/tag43.xml"/><Relationship Id="rId10" Type="http://schemas.openxmlformats.org/officeDocument/2006/relationships/tags" Target="../tags/tag42.xml"/><Relationship Id="rId1" Type="http://schemas.openxmlformats.org/officeDocument/2006/relationships/tags" Target="../tags/tag33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jpeg"/><Relationship Id="rId8" Type="http://schemas.openxmlformats.org/officeDocument/2006/relationships/tags" Target="../tags/tag68.xml"/><Relationship Id="rId7" Type="http://schemas.openxmlformats.org/officeDocument/2006/relationships/tags" Target="../tags/tag67.xml"/><Relationship Id="rId6" Type="http://schemas.openxmlformats.org/officeDocument/2006/relationships/tags" Target="../tags/tag66.xml"/><Relationship Id="rId5" Type="http://schemas.openxmlformats.org/officeDocument/2006/relationships/tags" Target="../tags/tag65.xml"/><Relationship Id="rId4" Type="http://schemas.openxmlformats.org/officeDocument/2006/relationships/tags" Target="../tags/tag64.xml"/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61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76.xml"/><Relationship Id="rId7" Type="http://schemas.openxmlformats.org/officeDocument/2006/relationships/tags" Target="../tags/tag75.xml"/><Relationship Id="rId6" Type="http://schemas.openxmlformats.org/officeDocument/2006/relationships/tags" Target="../tags/tag74.xml"/><Relationship Id="rId5" Type="http://schemas.openxmlformats.org/officeDocument/2006/relationships/tags" Target="../tags/tag73.xml"/><Relationship Id="rId4" Type="http://schemas.openxmlformats.org/officeDocument/2006/relationships/tags" Target="../tags/tag7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85.xml"/><Relationship Id="rId8" Type="http://schemas.openxmlformats.org/officeDocument/2006/relationships/tags" Target="../tags/tag84.xml"/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6" Type="http://schemas.openxmlformats.org/officeDocument/2006/relationships/slideLayout" Target="../slideLayouts/slideLayout2.xml"/><Relationship Id="rId25" Type="http://schemas.openxmlformats.org/officeDocument/2006/relationships/tags" Target="../tags/tag101.xml"/><Relationship Id="rId24" Type="http://schemas.openxmlformats.org/officeDocument/2006/relationships/tags" Target="../tags/tag100.xml"/><Relationship Id="rId23" Type="http://schemas.openxmlformats.org/officeDocument/2006/relationships/tags" Target="../tags/tag99.xml"/><Relationship Id="rId22" Type="http://schemas.openxmlformats.org/officeDocument/2006/relationships/tags" Target="../tags/tag98.xml"/><Relationship Id="rId21" Type="http://schemas.openxmlformats.org/officeDocument/2006/relationships/tags" Target="../tags/tag97.xml"/><Relationship Id="rId20" Type="http://schemas.openxmlformats.org/officeDocument/2006/relationships/tags" Target="../tags/tag96.xml"/><Relationship Id="rId2" Type="http://schemas.openxmlformats.org/officeDocument/2006/relationships/tags" Target="../tags/tag78.xml"/><Relationship Id="rId19" Type="http://schemas.openxmlformats.org/officeDocument/2006/relationships/tags" Target="../tags/tag95.xml"/><Relationship Id="rId18" Type="http://schemas.openxmlformats.org/officeDocument/2006/relationships/tags" Target="../tags/tag94.xml"/><Relationship Id="rId17" Type="http://schemas.openxmlformats.org/officeDocument/2006/relationships/tags" Target="../tags/tag93.xml"/><Relationship Id="rId16" Type="http://schemas.openxmlformats.org/officeDocument/2006/relationships/tags" Target="../tags/tag92.xml"/><Relationship Id="rId15" Type="http://schemas.openxmlformats.org/officeDocument/2006/relationships/tags" Target="../tags/tag91.xml"/><Relationship Id="rId14" Type="http://schemas.openxmlformats.org/officeDocument/2006/relationships/tags" Target="../tags/tag90.xml"/><Relationship Id="rId13" Type="http://schemas.openxmlformats.org/officeDocument/2006/relationships/tags" Target="../tags/tag89.xml"/><Relationship Id="rId12" Type="http://schemas.openxmlformats.org/officeDocument/2006/relationships/tags" Target="../tags/tag88.xml"/><Relationship Id="rId11" Type="http://schemas.openxmlformats.org/officeDocument/2006/relationships/tags" Target="../tags/tag87.xml"/><Relationship Id="rId10" Type="http://schemas.openxmlformats.org/officeDocument/2006/relationships/tags" Target="../tags/tag86.xml"/><Relationship Id="rId1" Type="http://schemas.openxmlformats.org/officeDocument/2006/relationships/tags" Target="../tags/tag77.xm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06.xml"/><Relationship Id="rId4" Type="http://schemas.openxmlformats.org/officeDocument/2006/relationships/tags" Target="../tags/tag105.xml"/><Relationship Id="rId3" Type="http://schemas.openxmlformats.org/officeDocument/2006/relationships/tags" Target="../tags/tag104.xml"/><Relationship Id="rId2" Type="http://schemas.openxmlformats.org/officeDocument/2006/relationships/tags" Target="../tags/tag103.xml"/><Relationship Id="rId1" Type="http://schemas.openxmlformats.org/officeDocument/2006/relationships/tags" Target="../tags/tag10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8.xml"/><Relationship Id="rId1" Type="http://schemas.openxmlformats.org/officeDocument/2006/relationships/tags" Target="../tags/tag107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117.xml"/><Relationship Id="rId8" Type="http://schemas.openxmlformats.org/officeDocument/2006/relationships/tags" Target="../tags/tag116.xml"/><Relationship Id="rId7" Type="http://schemas.openxmlformats.org/officeDocument/2006/relationships/tags" Target="../tags/tag115.xml"/><Relationship Id="rId6" Type="http://schemas.openxmlformats.org/officeDocument/2006/relationships/tags" Target="../tags/tag114.xml"/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2" Type="http://schemas.openxmlformats.org/officeDocument/2006/relationships/slideLayout" Target="../slideLayouts/slideLayout2.xml"/><Relationship Id="rId21" Type="http://schemas.openxmlformats.org/officeDocument/2006/relationships/tags" Target="../tags/tag129.xml"/><Relationship Id="rId20" Type="http://schemas.openxmlformats.org/officeDocument/2006/relationships/tags" Target="../tags/tag128.xml"/><Relationship Id="rId2" Type="http://schemas.openxmlformats.org/officeDocument/2006/relationships/tags" Target="../tags/tag110.xml"/><Relationship Id="rId19" Type="http://schemas.openxmlformats.org/officeDocument/2006/relationships/tags" Target="../tags/tag127.xml"/><Relationship Id="rId18" Type="http://schemas.openxmlformats.org/officeDocument/2006/relationships/tags" Target="../tags/tag126.xml"/><Relationship Id="rId17" Type="http://schemas.openxmlformats.org/officeDocument/2006/relationships/tags" Target="../tags/tag125.xml"/><Relationship Id="rId16" Type="http://schemas.openxmlformats.org/officeDocument/2006/relationships/tags" Target="../tags/tag124.xml"/><Relationship Id="rId15" Type="http://schemas.openxmlformats.org/officeDocument/2006/relationships/tags" Target="../tags/tag123.xml"/><Relationship Id="rId14" Type="http://schemas.openxmlformats.org/officeDocument/2006/relationships/tags" Target="../tags/tag122.xml"/><Relationship Id="rId13" Type="http://schemas.openxmlformats.org/officeDocument/2006/relationships/tags" Target="../tags/tag121.xml"/><Relationship Id="rId12" Type="http://schemas.openxmlformats.org/officeDocument/2006/relationships/tags" Target="../tags/tag120.xml"/><Relationship Id="rId11" Type="http://schemas.openxmlformats.org/officeDocument/2006/relationships/tags" Target="../tags/tag119.xml"/><Relationship Id="rId10" Type="http://schemas.openxmlformats.org/officeDocument/2006/relationships/tags" Target="../tags/tag118.xml"/><Relationship Id="rId1" Type="http://schemas.openxmlformats.org/officeDocument/2006/relationships/tags" Target="../tags/tag109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138.xml"/><Relationship Id="rId8" Type="http://schemas.openxmlformats.org/officeDocument/2006/relationships/tags" Target="../tags/tag137.xml"/><Relationship Id="rId7" Type="http://schemas.openxmlformats.org/officeDocument/2006/relationships/tags" Target="../tags/tag136.xml"/><Relationship Id="rId6" Type="http://schemas.openxmlformats.org/officeDocument/2006/relationships/tags" Target="../tags/tag135.xml"/><Relationship Id="rId5" Type="http://schemas.openxmlformats.org/officeDocument/2006/relationships/tags" Target="../tags/tag134.xml"/><Relationship Id="rId4" Type="http://schemas.openxmlformats.org/officeDocument/2006/relationships/tags" Target="../tags/tag133.xml"/><Relationship Id="rId3" Type="http://schemas.openxmlformats.org/officeDocument/2006/relationships/tags" Target="../tags/tag132.xml"/><Relationship Id="rId22" Type="http://schemas.openxmlformats.org/officeDocument/2006/relationships/slideLayout" Target="../slideLayouts/slideLayout2.xml"/><Relationship Id="rId21" Type="http://schemas.openxmlformats.org/officeDocument/2006/relationships/tags" Target="../tags/tag150.xml"/><Relationship Id="rId20" Type="http://schemas.openxmlformats.org/officeDocument/2006/relationships/tags" Target="../tags/tag149.xml"/><Relationship Id="rId2" Type="http://schemas.openxmlformats.org/officeDocument/2006/relationships/tags" Target="../tags/tag131.xml"/><Relationship Id="rId19" Type="http://schemas.openxmlformats.org/officeDocument/2006/relationships/tags" Target="../tags/tag148.xml"/><Relationship Id="rId18" Type="http://schemas.openxmlformats.org/officeDocument/2006/relationships/tags" Target="../tags/tag147.xml"/><Relationship Id="rId17" Type="http://schemas.openxmlformats.org/officeDocument/2006/relationships/tags" Target="../tags/tag146.xml"/><Relationship Id="rId16" Type="http://schemas.openxmlformats.org/officeDocument/2006/relationships/tags" Target="../tags/tag145.xml"/><Relationship Id="rId15" Type="http://schemas.openxmlformats.org/officeDocument/2006/relationships/tags" Target="../tags/tag144.xml"/><Relationship Id="rId14" Type="http://schemas.openxmlformats.org/officeDocument/2006/relationships/tags" Target="../tags/tag143.xml"/><Relationship Id="rId13" Type="http://schemas.openxmlformats.org/officeDocument/2006/relationships/tags" Target="../tags/tag142.xml"/><Relationship Id="rId12" Type="http://schemas.openxmlformats.org/officeDocument/2006/relationships/tags" Target="../tags/tag141.xml"/><Relationship Id="rId11" Type="http://schemas.openxmlformats.org/officeDocument/2006/relationships/tags" Target="../tags/tag140.xml"/><Relationship Id="rId10" Type="http://schemas.openxmlformats.org/officeDocument/2006/relationships/tags" Target="../tags/tag139.xml"/><Relationship Id="rId1" Type="http://schemas.openxmlformats.org/officeDocument/2006/relationships/tags" Target="../tags/tag130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159.xml"/><Relationship Id="rId8" Type="http://schemas.openxmlformats.org/officeDocument/2006/relationships/tags" Target="../tags/tag158.xml"/><Relationship Id="rId7" Type="http://schemas.openxmlformats.org/officeDocument/2006/relationships/tags" Target="../tags/tag157.xml"/><Relationship Id="rId6" Type="http://schemas.openxmlformats.org/officeDocument/2006/relationships/tags" Target="../tags/tag156.xml"/><Relationship Id="rId51" Type="http://schemas.openxmlformats.org/officeDocument/2006/relationships/notesSlide" Target="../notesSlides/notesSlide3.xml"/><Relationship Id="rId50" Type="http://schemas.openxmlformats.org/officeDocument/2006/relationships/slideLayout" Target="../slideLayouts/slideLayout2.xml"/><Relationship Id="rId5" Type="http://schemas.openxmlformats.org/officeDocument/2006/relationships/tags" Target="../tags/tag155.xml"/><Relationship Id="rId49" Type="http://schemas.openxmlformats.org/officeDocument/2006/relationships/tags" Target="../tags/tag199.xml"/><Relationship Id="rId48" Type="http://schemas.openxmlformats.org/officeDocument/2006/relationships/tags" Target="../tags/tag198.xml"/><Relationship Id="rId47" Type="http://schemas.openxmlformats.org/officeDocument/2006/relationships/tags" Target="../tags/tag197.xml"/><Relationship Id="rId46" Type="http://schemas.openxmlformats.org/officeDocument/2006/relationships/tags" Target="../tags/tag196.xml"/><Relationship Id="rId45" Type="http://schemas.openxmlformats.org/officeDocument/2006/relationships/tags" Target="../tags/tag195.xml"/><Relationship Id="rId44" Type="http://schemas.openxmlformats.org/officeDocument/2006/relationships/tags" Target="../tags/tag194.xml"/><Relationship Id="rId43" Type="http://schemas.openxmlformats.org/officeDocument/2006/relationships/tags" Target="../tags/tag193.xml"/><Relationship Id="rId42" Type="http://schemas.openxmlformats.org/officeDocument/2006/relationships/tags" Target="../tags/tag192.xml"/><Relationship Id="rId41" Type="http://schemas.openxmlformats.org/officeDocument/2006/relationships/tags" Target="../tags/tag191.xml"/><Relationship Id="rId40" Type="http://schemas.openxmlformats.org/officeDocument/2006/relationships/tags" Target="../tags/tag190.xml"/><Relationship Id="rId4" Type="http://schemas.openxmlformats.org/officeDocument/2006/relationships/tags" Target="../tags/tag154.xml"/><Relationship Id="rId39" Type="http://schemas.openxmlformats.org/officeDocument/2006/relationships/tags" Target="../tags/tag189.xml"/><Relationship Id="rId38" Type="http://schemas.openxmlformats.org/officeDocument/2006/relationships/tags" Target="../tags/tag188.xml"/><Relationship Id="rId37" Type="http://schemas.openxmlformats.org/officeDocument/2006/relationships/tags" Target="../tags/tag187.xml"/><Relationship Id="rId36" Type="http://schemas.openxmlformats.org/officeDocument/2006/relationships/tags" Target="../tags/tag186.xml"/><Relationship Id="rId35" Type="http://schemas.openxmlformats.org/officeDocument/2006/relationships/tags" Target="../tags/tag185.xml"/><Relationship Id="rId34" Type="http://schemas.openxmlformats.org/officeDocument/2006/relationships/tags" Target="../tags/tag184.xml"/><Relationship Id="rId33" Type="http://schemas.openxmlformats.org/officeDocument/2006/relationships/tags" Target="../tags/tag183.xml"/><Relationship Id="rId32" Type="http://schemas.openxmlformats.org/officeDocument/2006/relationships/tags" Target="../tags/tag182.xml"/><Relationship Id="rId31" Type="http://schemas.openxmlformats.org/officeDocument/2006/relationships/tags" Target="../tags/tag181.xml"/><Relationship Id="rId30" Type="http://schemas.openxmlformats.org/officeDocument/2006/relationships/tags" Target="../tags/tag180.xml"/><Relationship Id="rId3" Type="http://schemas.openxmlformats.org/officeDocument/2006/relationships/tags" Target="../tags/tag153.xml"/><Relationship Id="rId29" Type="http://schemas.openxmlformats.org/officeDocument/2006/relationships/tags" Target="../tags/tag179.xml"/><Relationship Id="rId28" Type="http://schemas.openxmlformats.org/officeDocument/2006/relationships/tags" Target="../tags/tag178.xml"/><Relationship Id="rId27" Type="http://schemas.openxmlformats.org/officeDocument/2006/relationships/tags" Target="../tags/tag177.xml"/><Relationship Id="rId26" Type="http://schemas.openxmlformats.org/officeDocument/2006/relationships/tags" Target="../tags/tag176.xml"/><Relationship Id="rId25" Type="http://schemas.openxmlformats.org/officeDocument/2006/relationships/tags" Target="../tags/tag175.xml"/><Relationship Id="rId24" Type="http://schemas.openxmlformats.org/officeDocument/2006/relationships/tags" Target="../tags/tag174.xml"/><Relationship Id="rId23" Type="http://schemas.openxmlformats.org/officeDocument/2006/relationships/tags" Target="../tags/tag173.xml"/><Relationship Id="rId22" Type="http://schemas.openxmlformats.org/officeDocument/2006/relationships/tags" Target="../tags/tag172.xml"/><Relationship Id="rId21" Type="http://schemas.openxmlformats.org/officeDocument/2006/relationships/tags" Target="../tags/tag171.xml"/><Relationship Id="rId20" Type="http://schemas.openxmlformats.org/officeDocument/2006/relationships/tags" Target="../tags/tag170.xml"/><Relationship Id="rId2" Type="http://schemas.openxmlformats.org/officeDocument/2006/relationships/tags" Target="../tags/tag152.xml"/><Relationship Id="rId19" Type="http://schemas.openxmlformats.org/officeDocument/2006/relationships/tags" Target="../tags/tag169.xml"/><Relationship Id="rId18" Type="http://schemas.openxmlformats.org/officeDocument/2006/relationships/tags" Target="../tags/tag168.xml"/><Relationship Id="rId17" Type="http://schemas.openxmlformats.org/officeDocument/2006/relationships/tags" Target="../tags/tag167.xml"/><Relationship Id="rId16" Type="http://schemas.openxmlformats.org/officeDocument/2006/relationships/tags" Target="../tags/tag166.xml"/><Relationship Id="rId15" Type="http://schemas.openxmlformats.org/officeDocument/2006/relationships/tags" Target="../tags/tag165.xml"/><Relationship Id="rId14" Type="http://schemas.openxmlformats.org/officeDocument/2006/relationships/tags" Target="../tags/tag164.xml"/><Relationship Id="rId13" Type="http://schemas.openxmlformats.org/officeDocument/2006/relationships/tags" Target="../tags/tag163.xml"/><Relationship Id="rId12" Type="http://schemas.openxmlformats.org/officeDocument/2006/relationships/tags" Target="../tags/tag162.xml"/><Relationship Id="rId11" Type="http://schemas.openxmlformats.org/officeDocument/2006/relationships/tags" Target="../tags/tag161.xml"/><Relationship Id="rId10" Type="http://schemas.openxmlformats.org/officeDocument/2006/relationships/tags" Target="../tags/tag160.xml"/><Relationship Id="rId1" Type="http://schemas.openxmlformats.org/officeDocument/2006/relationships/tags" Target="../tags/tag151.xml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203.xml"/><Relationship Id="rId4" Type="http://schemas.openxmlformats.org/officeDocument/2006/relationships/image" Target="../media/image2.png"/><Relationship Id="rId3" Type="http://schemas.openxmlformats.org/officeDocument/2006/relationships/tags" Target="../tags/tag202.xml"/><Relationship Id="rId2" Type="http://schemas.openxmlformats.org/officeDocument/2006/relationships/tags" Target="../tags/tag201.xml"/><Relationship Id="rId1" Type="http://schemas.openxmlformats.org/officeDocument/2006/relationships/tags" Target="../tags/tag200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209.xml"/><Relationship Id="rId7" Type="http://schemas.openxmlformats.org/officeDocument/2006/relationships/tags" Target="../tags/tag208.xml"/><Relationship Id="rId6" Type="http://schemas.openxmlformats.org/officeDocument/2006/relationships/tags" Target="../tags/tag207.xml"/><Relationship Id="rId5" Type="http://schemas.openxmlformats.org/officeDocument/2006/relationships/tags" Target="../tags/tag206.xml"/><Relationship Id="rId4" Type="http://schemas.openxmlformats.org/officeDocument/2006/relationships/image" Target="../media/image4.png"/><Relationship Id="rId3" Type="http://schemas.openxmlformats.org/officeDocument/2006/relationships/tags" Target="../tags/tag205.xml"/><Relationship Id="rId2" Type="http://schemas.openxmlformats.org/officeDocument/2006/relationships/image" Target="../media/image3.png"/><Relationship Id="rId1" Type="http://schemas.openxmlformats.org/officeDocument/2006/relationships/tags" Target="../tags/tag204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2.xml"/><Relationship Id="rId6" Type="http://schemas.openxmlformats.org/officeDocument/2006/relationships/tags" Target="../tags/tag214.xml"/><Relationship Id="rId5" Type="http://schemas.openxmlformats.org/officeDocument/2006/relationships/image" Target="../media/image5.png"/><Relationship Id="rId4" Type="http://schemas.openxmlformats.org/officeDocument/2006/relationships/tags" Target="../tags/tag213.xml"/><Relationship Id="rId3" Type="http://schemas.openxmlformats.org/officeDocument/2006/relationships/tags" Target="../tags/tag212.xml"/><Relationship Id="rId2" Type="http://schemas.openxmlformats.org/officeDocument/2006/relationships/tags" Target="../tags/tag211.xml"/><Relationship Id="rId1" Type="http://schemas.openxmlformats.org/officeDocument/2006/relationships/tags" Target="../tags/tag210.xml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219.xml"/><Relationship Id="rId5" Type="http://schemas.openxmlformats.org/officeDocument/2006/relationships/image" Target="../media/image6.png"/><Relationship Id="rId4" Type="http://schemas.openxmlformats.org/officeDocument/2006/relationships/tags" Target="../tags/tag218.xml"/><Relationship Id="rId3" Type="http://schemas.openxmlformats.org/officeDocument/2006/relationships/tags" Target="../tags/tag217.xml"/><Relationship Id="rId2" Type="http://schemas.openxmlformats.org/officeDocument/2006/relationships/tags" Target="../tags/tag216.xml"/><Relationship Id="rId1" Type="http://schemas.openxmlformats.org/officeDocument/2006/relationships/tags" Target="../tags/tag215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222.xml"/><Relationship Id="rId2" Type="http://schemas.openxmlformats.org/officeDocument/2006/relationships/tags" Target="../tags/tag221.xml"/><Relationship Id="rId1" Type="http://schemas.openxmlformats.org/officeDocument/2006/relationships/tags" Target="../tags/tag220.xml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tags" Target="../tags/tag225.xml"/><Relationship Id="rId4" Type="http://schemas.openxmlformats.org/officeDocument/2006/relationships/image" Target="../media/image8.jpeg"/><Relationship Id="rId3" Type="http://schemas.openxmlformats.org/officeDocument/2006/relationships/image" Target="../media/image7.GIF"/><Relationship Id="rId2" Type="http://schemas.openxmlformats.org/officeDocument/2006/relationships/tags" Target="../tags/tag224.xml"/><Relationship Id="rId1" Type="http://schemas.openxmlformats.org/officeDocument/2006/relationships/tags" Target="../tags/tag223.xm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228.xml"/><Relationship Id="rId3" Type="http://schemas.openxmlformats.org/officeDocument/2006/relationships/tags" Target="../tags/tag227.xml"/><Relationship Id="rId2" Type="http://schemas.openxmlformats.org/officeDocument/2006/relationships/image" Target="../media/image10.png"/><Relationship Id="rId1" Type="http://schemas.openxmlformats.org/officeDocument/2006/relationships/tags" Target="../tags/tag22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29.xml"/><Relationship Id="rId1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31.xml"/><Relationship Id="rId1" Type="http://schemas.openxmlformats.org/officeDocument/2006/relationships/tags" Target="../tags/tag230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5.xml"/><Relationship Id="rId8" Type="http://schemas.openxmlformats.org/officeDocument/2006/relationships/vmlDrawing" Target="../drawings/vmlDrawing1.vml"/><Relationship Id="rId7" Type="http://schemas.openxmlformats.org/officeDocument/2006/relationships/slideLayout" Target="../slideLayouts/slideLayout2.xml"/><Relationship Id="rId6" Type="http://schemas.openxmlformats.org/officeDocument/2006/relationships/tags" Target="../tags/tag235.xml"/><Relationship Id="rId5" Type="http://schemas.openxmlformats.org/officeDocument/2006/relationships/tags" Target="../tags/tag234.xml"/><Relationship Id="rId4" Type="http://schemas.openxmlformats.org/officeDocument/2006/relationships/image" Target="../media/image12.wmf"/><Relationship Id="rId3" Type="http://schemas.openxmlformats.org/officeDocument/2006/relationships/oleObject" Target="../embeddings/oleObject1.bin"/><Relationship Id="rId2" Type="http://schemas.openxmlformats.org/officeDocument/2006/relationships/tags" Target="../tags/tag233.xml"/><Relationship Id="rId1" Type="http://schemas.openxmlformats.org/officeDocument/2006/relationships/tags" Target="../tags/tag23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.vml"/><Relationship Id="rId7" Type="http://schemas.openxmlformats.org/officeDocument/2006/relationships/slideLayout" Target="../slideLayouts/slideLayout2.xml"/><Relationship Id="rId6" Type="http://schemas.openxmlformats.org/officeDocument/2006/relationships/tags" Target="../tags/tag239.xml"/><Relationship Id="rId5" Type="http://schemas.openxmlformats.org/officeDocument/2006/relationships/tags" Target="../tags/tag238.xml"/><Relationship Id="rId4" Type="http://schemas.openxmlformats.org/officeDocument/2006/relationships/tags" Target="../tags/tag237.xml"/><Relationship Id="rId3" Type="http://schemas.openxmlformats.org/officeDocument/2006/relationships/image" Target="../media/image13.wmf"/><Relationship Id="rId2" Type="http://schemas.openxmlformats.org/officeDocument/2006/relationships/oleObject" Target="../embeddings/oleObject2.bin"/><Relationship Id="rId1" Type="http://schemas.openxmlformats.org/officeDocument/2006/relationships/tags" Target="../tags/tag236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tags" Target="../tags/tag248.xml"/><Relationship Id="rId8" Type="http://schemas.openxmlformats.org/officeDocument/2006/relationships/tags" Target="../tags/tag247.xml"/><Relationship Id="rId7" Type="http://schemas.openxmlformats.org/officeDocument/2006/relationships/tags" Target="../tags/tag246.xml"/><Relationship Id="rId6" Type="http://schemas.openxmlformats.org/officeDocument/2006/relationships/tags" Target="../tags/tag245.xml"/><Relationship Id="rId5" Type="http://schemas.openxmlformats.org/officeDocument/2006/relationships/tags" Target="../tags/tag244.xml"/><Relationship Id="rId4" Type="http://schemas.openxmlformats.org/officeDocument/2006/relationships/tags" Target="../tags/tag243.xml"/><Relationship Id="rId3" Type="http://schemas.openxmlformats.org/officeDocument/2006/relationships/tags" Target="../tags/tag242.xml"/><Relationship Id="rId2" Type="http://schemas.openxmlformats.org/officeDocument/2006/relationships/tags" Target="../tags/tag241.xml"/><Relationship Id="rId15" Type="http://schemas.openxmlformats.org/officeDocument/2006/relationships/slideLayout" Target="../slideLayouts/slideLayout2.xml"/><Relationship Id="rId14" Type="http://schemas.openxmlformats.org/officeDocument/2006/relationships/tags" Target="../tags/tag253.xml"/><Relationship Id="rId13" Type="http://schemas.openxmlformats.org/officeDocument/2006/relationships/tags" Target="../tags/tag252.xml"/><Relationship Id="rId12" Type="http://schemas.openxmlformats.org/officeDocument/2006/relationships/tags" Target="../tags/tag251.xml"/><Relationship Id="rId11" Type="http://schemas.openxmlformats.org/officeDocument/2006/relationships/tags" Target="../tags/tag250.xml"/><Relationship Id="rId10" Type="http://schemas.openxmlformats.org/officeDocument/2006/relationships/tags" Target="../tags/tag249.xml"/><Relationship Id="rId1" Type="http://schemas.openxmlformats.org/officeDocument/2006/relationships/tags" Target="../tags/tag24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tags" Target="../tags/tag262.xml"/><Relationship Id="rId8" Type="http://schemas.openxmlformats.org/officeDocument/2006/relationships/tags" Target="../tags/tag261.xml"/><Relationship Id="rId7" Type="http://schemas.openxmlformats.org/officeDocument/2006/relationships/tags" Target="../tags/tag260.xml"/><Relationship Id="rId6" Type="http://schemas.openxmlformats.org/officeDocument/2006/relationships/tags" Target="../tags/tag259.xml"/><Relationship Id="rId5" Type="http://schemas.openxmlformats.org/officeDocument/2006/relationships/tags" Target="../tags/tag258.xml"/><Relationship Id="rId4" Type="http://schemas.openxmlformats.org/officeDocument/2006/relationships/tags" Target="../tags/tag257.xml"/><Relationship Id="rId36" Type="http://schemas.openxmlformats.org/officeDocument/2006/relationships/slideLayout" Target="../slideLayouts/slideLayout2.xml"/><Relationship Id="rId35" Type="http://schemas.openxmlformats.org/officeDocument/2006/relationships/tags" Target="../tags/tag288.xml"/><Relationship Id="rId34" Type="http://schemas.openxmlformats.org/officeDocument/2006/relationships/tags" Target="../tags/tag287.xml"/><Relationship Id="rId33" Type="http://schemas.openxmlformats.org/officeDocument/2006/relationships/tags" Target="../tags/tag286.xml"/><Relationship Id="rId32" Type="http://schemas.openxmlformats.org/officeDocument/2006/relationships/tags" Target="../tags/tag285.xml"/><Relationship Id="rId31" Type="http://schemas.openxmlformats.org/officeDocument/2006/relationships/tags" Target="../tags/tag284.xml"/><Relationship Id="rId30" Type="http://schemas.openxmlformats.org/officeDocument/2006/relationships/tags" Target="../tags/tag283.xml"/><Relationship Id="rId3" Type="http://schemas.openxmlformats.org/officeDocument/2006/relationships/tags" Target="../tags/tag256.xml"/><Relationship Id="rId29" Type="http://schemas.openxmlformats.org/officeDocument/2006/relationships/tags" Target="../tags/tag282.xml"/><Relationship Id="rId28" Type="http://schemas.openxmlformats.org/officeDocument/2006/relationships/tags" Target="../tags/tag281.xml"/><Relationship Id="rId27" Type="http://schemas.openxmlformats.org/officeDocument/2006/relationships/tags" Target="../tags/tag280.xml"/><Relationship Id="rId26" Type="http://schemas.openxmlformats.org/officeDocument/2006/relationships/tags" Target="../tags/tag279.xml"/><Relationship Id="rId25" Type="http://schemas.openxmlformats.org/officeDocument/2006/relationships/tags" Target="../tags/tag278.xml"/><Relationship Id="rId24" Type="http://schemas.openxmlformats.org/officeDocument/2006/relationships/tags" Target="../tags/tag277.xml"/><Relationship Id="rId23" Type="http://schemas.openxmlformats.org/officeDocument/2006/relationships/tags" Target="../tags/tag276.xml"/><Relationship Id="rId22" Type="http://schemas.openxmlformats.org/officeDocument/2006/relationships/tags" Target="../tags/tag275.xml"/><Relationship Id="rId21" Type="http://schemas.openxmlformats.org/officeDocument/2006/relationships/tags" Target="../tags/tag274.xml"/><Relationship Id="rId20" Type="http://schemas.openxmlformats.org/officeDocument/2006/relationships/tags" Target="../tags/tag273.xml"/><Relationship Id="rId2" Type="http://schemas.openxmlformats.org/officeDocument/2006/relationships/tags" Target="../tags/tag255.xml"/><Relationship Id="rId19" Type="http://schemas.openxmlformats.org/officeDocument/2006/relationships/tags" Target="../tags/tag272.xml"/><Relationship Id="rId18" Type="http://schemas.openxmlformats.org/officeDocument/2006/relationships/tags" Target="../tags/tag271.xml"/><Relationship Id="rId17" Type="http://schemas.openxmlformats.org/officeDocument/2006/relationships/tags" Target="../tags/tag270.xml"/><Relationship Id="rId16" Type="http://schemas.openxmlformats.org/officeDocument/2006/relationships/tags" Target="../tags/tag269.xml"/><Relationship Id="rId15" Type="http://schemas.openxmlformats.org/officeDocument/2006/relationships/tags" Target="../tags/tag268.xml"/><Relationship Id="rId14" Type="http://schemas.openxmlformats.org/officeDocument/2006/relationships/tags" Target="../tags/tag267.xml"/><Relationship Id="rId13" Type="http://schemas.openxmlformats.org/officeDocument/2006/relationships/tags" Target="../tags/tag266.xml"/><Relationship Id="rId12" Type="http://schemas.openxmlformats.org/officeDocument/2006/relationships/tags" Target="../tags/tag265.xml"/><Relationship Id="rId11" Type="http://schemas.openxmlformats.org/officeDocument/2006/relationships/tags" Target="../tags/tag264.xml"/><Relationship Id="rId10" Type="http://schemas.openxmlformats.org/officeDocument/2006/relationships/tags" Target="../tags/tag263.xml"/><Relationship Id="rId1" Type="http://schemas.openxmlformats.org/officeDocument/2006/relationships/tags" Target="../tags/tag254.xml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tags" Target="../tags/tag297.xml"/><Relationship Id="rId8" Type="http://schemas.openxmlformats.org/officeDocument/2006/relationships/tags" Target="../tags/tag296.xml"/><Relationship Id="rId7" Type="http://schemas.openxmlformats.org/officeDocument/2006/relationships/tags" Target="../tags/tag295.xml"/><Relationship Id="rId6" Type="http://schemas.openxmlformats.org/officeDocument/2006/relationships/tags" Target="../tags/tag294.xml"/><Relationship Id="rId57" Type="http://schemas.openxmlformats.org/officeDocument/2006/relationships/slideLayout" Target="../slideLayouts/slideLayout2.xml"/><Relationship Id="rId56" Type="http://schemas.openxmlformats.org/officeDocument/2006/relationships/tags" Target="../tags/tag344.xml"/><Relationship Id="rId55" Type="http://schemas.openxmlformats.org/officeDocument/2006/relationships/tags" Target="../tags/tag343.xml"/><Relationship Id="rId54" Type="http://schemas.openxmlformats.org/officeDocument/2006/relationships/tags" Target="../tags/tag342.xml"/><Relationship Id="rId53" Type="http://schemas.openxmlformats.org/officeDocument/2006/relationships/tags" Target="../tags/tag341.xml"/><Relationship Id="rId52" Type="http://schemas.openxmlformats.org/officeDocument/2006/relationships/tags" Target="../tags/tag340.xml"/><Relationship Id="rId51" Type="http://schemas.openxmlformats.org/officeDocument/2006/relationships/tags" Target="../tags/tag339.xml"/><Relationship Id="rId50" Type="http://schemas.openxmlformats.org/officeDocument/2006/relationships/tags" Target="../tags/tag338.xml"/><Relationship Id="rId5" Type="http://schemas.openxmlformats.org/officeDocument/2006/relationships/tags" Target="../tags/tag293.xml"/><Relationship Id="rId49" Type="http://schemas.openxmlformats.org/officeDocument/2006/relationships/tags" Target="../tags/tag337.xml"/><Relationship Id="rId48" Type="http://schemas.openxmlformats.org/officeDocument/2006/relationships/tags" Target="../tags/tag336.xml"/><Relationship Id="rId47" Type="http://schemas.openxmlformats.org/officeDocument/2006/relationships/tags" Target="../tags/tag335.xml"/><Relationship Id="rId46" Type="http://schemas.openxmlformats.org/officeDocument/2006/relationships/tags" Target="../tags/tag334.xml"/><Relationship Id="rId45" Type="http://schemas.openxmlformats.org/officeDocument/2006/relationships/tags" Target="../tags/tag333.xml"/><Relationship Id="rId44" Type="http://schemas.openxmlformats.org/officeDocument/2006/relationships/tags" Target="../tags/tag332.xml"/><Relationship Id="rId43" Type="http://schemas.openxmlformats.org/officeDocument/2006/relationships/tags" Target="../tags/tag331.xml"/><Relationship Id="rId42" Type="http://schemas.openxmlformats.org/officeDocument/2006/relationships/tags" Target="../tags/tag330.xml"/><Relationship Id="rId41" Type="http://schemas.openxmlformats.org/officeDocument/2006/relationships/tags" Target="../tags/tag329.xml"/><Relationship Id="rId40" Type="http://schemas.openxmlformats.org/officeDocument/2006/relationships/tags" Target="../tags/tag328.xml"/><Relationship Id="rId4" Type="http://schemas.openxmlformats.org/officeDocument/2006/relationships/tags" Target="../tags/tag292.xml"/><Relationship Id="rId39" Type="http://schemas.openxmlformats.org/officeDocument/2006/relationships/tags" Target="../tags/tag327.xml"/><Relationship Id="rId38" Type="http://schemas.openxmlformats.org/officeDocument/2006/relationships/tags" Target="../tags/tag326.xml"/><Relationship Id="rId37" Type="http://schemas.openxmlformats.org/officeDocument/2006/relationships/tags" Target="../tags/tag325.xml"/><Relationship Id="rId36" Type="http://schemas.openxmlformats.org/officeDocument/2006/relationships/tags" Target="../tags/tag324.xml"/><Relationship Id="rId35" Type="http://schemas.openxmlformats.org/officeDocument/2006/relationships/tags" Target="../tags/tag323.xml"/><Relationship Id="rId34" Type="http://schemas.openxmlformats.org/officeDocument/2006/relationships/tags" Target="../tags/tag322.xml"/><Relationship Id="rId33" Type="http://schemas.openxmlformats.org/officeDocument/2006/relationships/tags" Target="../tags/tag321.xml"/><Relationship Id="rId32" Type="http://schemas.openxmlformats.org/officeDocument/2006/relationships/tags" Target="../tags/tag320.xml"/><Relationship Id="rId31" Type="http://schemas.openxmlformats.org/officeDocument/2006/relationships/tags" Target="../tags/tag319.xml"/><Relationship Id="rId30" Type="http://schemas.openxmlformats.org/officeDocument/2006/relationships/tags" Target="../tags/tag318.xml"/><Relationship Id="rId3" Type="http://schemas.openxmlformats.org/officeDocument/2006/relationships/tags" Target="../tags/tag291.xml"/><Relationship Id="rId29" Type="http://schemas.openxmlformats.org/officeDocument/2006/relationships/tags" Target="../tags/tag317.xml"/><Relationship Id="rId28" Type="http://schemas.openxmlformats.org/officeDocument/2006/relationships/tags" Target="../tags/tag316.xml"/><Relationship Id="rId27" Type="http://schemas.openxmlformats.org/officeDocument/2006/relationships/tags" Target="../tags/tag315.xml"/><Relationship Id="rId26" Type="http://schemas.openxmlformats.org/officeDocument/2006/relationships/tags" Target="../tags/tag314.xml"/><Relationship Id="rId25" Type="http://schemas.openxmlformats.org/officeDocument/2006/relationships/tags" Target="../tags/tag313.xml"/><Relationship Id="rId24" Type="http://schemas.openxmlformats.org/officeDocument/2006/relationships/tags" Target="../tags/tag312.xml"/><Relationship Id="rId23" Type="http://schemas.openxmlformats.org/officeDocument/2006/relationships/tags" Target="../tags/tag311.xml"/><Relationship Id="rId22" Type="http://schemas.openxmlformats.org/officeDocument/2006/relationships/tags" Target="../tags/tag310.xml"/><Relationship Id="rId21" Type="http://schemas.openxmlformats.org/officeDocument/2006/relationships/tags" Target="../tags/tag309.xml"/><Relationship Id="rId20" Type="http://schemas.openxmlformats.org/officeDocument/2006/relationships/tags" Target="../tags/tag308.xml"/><Relationship Id="rId2" Type="http://schemas.openxmlformats.org/officeDocument/2006/relationships/tags" Target="../tags/tag290.xml"/><Relationship Id="rId19" Type="http://schemas.openxmlformats.org/officeDocument/2006/relationships/tags" Target="../tags/tag307.xml"/><Relationship Id="rId18" Type="http://schemas.openxmlformats.org/officeDocument/2006/relationships/tags" Target="../tags/tag306.xml"/><Relationship Id="rId17" Type="http://schemas.openxmlformats.org/officeDocument/2006/relationships/tags" Target="../tags/tag305.xml"/><Relationship Id="rId16" Type="http://schemas.openxmlformats.org/officeDocument/2006/relationships/tags" Target="../tags/tag304.xml"/><Relationship Id="rId15" Type="http://schemas.openxmlformats.org/officeDocument/2006/relationships/tags" Target="../tags/tag303.xml"/><Relationship Id="rId14" Type="http://schemas.openxmlformats.org/officeDocument/2006/relationships/tags" Target="../tags/tag302.xml"/><Relationship Id="rId13" Type="http://schemas.openxmlformats.org/officeDocument/2006/relationships/tags" Target="../tags/tag301.xml"/><Relationship Id="rId12" Type="http://schemas.openxmlformats.org/officeDocument/2006/relationships/tags" Target="../tags/tag300.xml"/><Relationship Id="rId11" Type="http://schemas.openxmlformats.org/officeDocument/2006/relationships/tags" Target="../tags/tag299.xml"/><Relationship Id="rId10" Type="http://schemas.openxmlformats.org/officeDocument/2006/relationships/tags" Target="../tags/tag298.xml"/><Relationship Id="rId1" Type="http://schemas.openxmlformats.org/officeDocument/2006/relationships/tags" Target="../tags/tag289.xml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tags" Target="../tags/tag353.xml"/><Relationship Id="rId8" Type="http://schemas.openxmlformats.org/officeDocument/2006/relationships/tags" Target="../tags/tag352.xml"/><Relationship Id="rId7" Type="http://schemas.openxmlformats.org/officeDocument/2006/relationships/tags" Target="../tags/tag351.xml"/><Relationship Id="rId6" Type="http://schemas.openxmlformats.org/officeDocument/2006/relationships/tags" Target="../tags/tag350.xml"/><Relationship Id="rId5" Type="http://schemas.openxmlformats.org/officeDocument/2006/relationships/tags" Target="../tags/tag349.xml"/><Relationship Id="rId4" Type="http://schemas.openxmlformats.org/officeDocument/2006/relationships/tags" Target="../tags/tag348.xml"/><Relationship Id="rId3" Type="http://schemas.openxmlformats.org/officeDocument/2006/relationships/tags" Target="../tags/tag347.xml"/><Relationship Id="rId2" Type="http://schemas.openxmlformats.org/officeDocument/2006/relationships/tags" Target="../tags/tag346.xml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345.xml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tags" Target="../tags/tag362.xml"/><Relationship Id="rId8" Type="http://schemas.openxmlformats.org/officeDocument/2006/relationships/tags" Target="../tags/tag361.xml"/><Relationship Id="rId7" Type="http://schemas.openxmlformats.org/officeDocument/2006/relationships/tags" Target="../tags/tag360.xml"/><Relationship Id="rId6" Type="http://schemas.openxmlformats.org/officeDocument/2006/relationships/tags" Target="../tags/tag359.xml"/><Relationship Id="rId5" Type="http://schemas.openxmlformats.org/officeDocument/2006/relationships/tags" Target="../tags/tag358.xml"/><Relationship Id="rId4" Type="http://schemas.openxmlformats.org/officeDocument/2006/relationships/tags" Target="../tags/tag357.xml"/><Relationship Id="rId3" Type="http://schemas.openxmlformats.org/officeDocument/2006/relationships/tags" Target="../tags/tag356.xml"/><Relationship Id="rId2" Type="http://schemas.openxmlformats.org/officeDocument/2006/relationships/tags" Target="../tags/tag355.xml"/><Relationship Id="rId17" Type="http://schemas.openxmlformats.org/officeDocument/2006/relationships/slideLayout" Target="../slideLayouts/slideLayout2.xml"/><Relationship Id="rId16" Type="http://schemas.openxmlformats.org/officeDocument/2006/relationships/tags" Target="../tags/tag369.xml"/><Relationship Id="rId15" Type="http://schemas.openxmlformats.org/officeDocument/2006/relationships/tags" Target="../tags/tag368.xml"/><Relationship Id="rId14" Type="http://schemas.openxmlformats.org/officeDocument/2006/relationships/tags" Target="../tags/tag367.xml"/><Relationship Id="rId13" Type="http://schemas.openxmlformats.org/officeDocument/2006/relationships/tags" Target="../tags/tag366.xml"/><Relationship Id="rId12" Type="http://schemas.openxmlformats.org/officeDocument/2006/relationships/tags" Target="../tags/tag365.xml"/><Relationship Id="rId11" Type="http://schemas.openxmlformats.org/officeDocument/2006/relationships/tags" Target="../tags/tag364.xml"/><Relationship Id="rId10" Type="http://schemas.openxmlformats.org/officeDocument/2006/relationships/tags" Target="../tags/tag363.xml"/><Relationship Id="rId1" Type="http://schemas.openxmlformats.org/officeDocument/2006/relationships/tags" Target="../tags/tag354.xml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tags" Target="../tags/tag378.xml"/><Relationship Id="rId8" Type="http://schemas.openxmlformats.org/officeDocument/2006/relationships/tags" Target="../tags/tag377.xml"/><Relationship Id="rId7" Type="http://schemas.openxmlformats.org/officeDocument/2006/relationships/tags" Target="../tags/tag376.xml"/><Relationship Id="rId6" Type="http://schemas.openxmlformats.org/officeDocument/2006/relationships/tags" Target="../tags/tag375.xml"/><Relationship Id="rId5" Type="http://schemas.openxmlformats.org/officeDocument/2006/relationships/tags" Target="../tags/tag374.xml"/><Relationship Id="rId4" Type="http://schemas.openxmlformats.org/officeDocument/2006/relationships/tags" Target="../tags/tag373.xml"/><Relationship Id="rId3" Type="http://schemas.openxmlformats.org/officeDocument/2006/relationships/tags" Target="../tags/tag372.xml"/><Relationship Id="rId29" Type="http://schemas.openxmlformats.org/officeDocument/2006/relationships/slideLayout" Target="../slideLayouts/slideLayout2.xml"/><Relationship Id="rId28" Type="http://schemas.openxmlformats.org/officeDocument/2006/relationships/tags" Target="../tags/tag397.xml"/><Relationship Id="rId27" Type="http://schemas.openxmlformats.org/officeDocument/2006/relationships/tags" Target="../tags/tag396.xml"/><Relationship Id="rId26" Type="http://schemas.openxmlformats.org/officeDocument/2006/relationships/tags" Target="../tags/tag395.xml"/><Relationship Id="rId25" Type="http://schemas.openxmlformats.org/officeDocument/2006/relationships/tags" Target="../tags/tag394.xml"/><Relationship Id="rId24" Type="http://schemas.openxmlformats.org/officeDocument/2006/relationships/tags" Target="../tags/tag393.xml"/><Relationship Id="rId23" Type="http://schemas.openxmlformats.org/officeDocument/2006/relationships/tags" Target="../tags/tag392.xml"/><Relationship Id="rId22" Type="http://schemas.openxmlformats.org/officeDocument/2006/relationships/tags" Target="../tags/tag391.xml"/><Relationship Id="rId21" Type="http://schemas.openxmlformats.org/officeDocument/2006/relationships/tags" Target="../tags/tag390.xml"/><Relationship Id="rId20" Type="http://schemas.openxmlformats.org/officeDocument/2006/relationships/tags" Target="../tags/tag389.xml"/><Relationship Id="rId2" Type="http://schemas.openxmlformats.org/officeDocument/2006/relationships/tags" Target="../tags/tag371.xml"/><Relationship Id="rId19" Type="http://schemas.openxmlformats.org/officeDocument/2006/relationships/tags" Target="../tags/tag388.xml"/><Relationship Id="rId18" Type="http://schemas.openxmlformats.org/officeDocument/2006/relationships/tags" Target="../tags/tag387.xml"/><Relationship Id="rId17" Type="http://schemas.openxmlformats.org/officeDocument/2006/relationships/tags" Target="../tags/tag386.xml"/><Relationship Id="rId16" Type="http://schemas.openxmlformats.org/officeDocument/2006/relationships/tags" Target="../tags/tag385.xml"/><Relationship Id="rId15" Type="http://schemas.openxmlformats.org/officeDocument/2006/relationships/tags" Target="../tags/tag384.xml"/><Relationship Id="rId14" Type="http://schemas.openxmlformats.org/officeDocument/2006/relationships/tags" Target="../tags/tag383.xml"/><Relationship Id="rId13" Type="http://schemas.openxmlformats.org/officeDocument/2006/relationships/tags" Target="../tags/tag382.xml"/><Relationship Id="rId12" Type="http://schemas.openxmlformats.org/officeDocument/2006/relationships/tags" Target="../tags/tag381.xml"/><Relationship Id="rId11" Type="http://schemas.openxmlformats.org/officeDocument/2006/relationships/tags" Target="../tags/tag380.xml"/><Relationship Id="rId10" Type="http://schemas.openxmlformats.org/officeDocument/2006/relationships/tags" Target="../tags/tag379.xml"/><Relationship Id="rId1" Type="http://schemas.openxmlformats.org/officeDocument/2006/relationships/tags" Target="../tags/tag370.xml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400.xml"/><Relationship Id="rId2" Type="http://schemas.openxmlformats.org/officeDocument/2006/relationships/tags" Target="../tags/tag399.xml"/><Relationship Id="rId1" Type="http://schemas.openxmlformats.org/officeDocument/2006/relationships/tags" Target="../tags/tag398.xml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403.xml"/><Relationship Id="rId2" Type="http://schemas.openxmlformats.org/officeDocument/2006/relationships/tags" Target="../tags/tag402.xml"/><Relationship Id="rId1" Type="http://schemas.openxmlformats.org/officeDocument/2006/relationships/tags" Target="../tags/tag401.xml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405.xml"/><Relationship Id="rId2" Type="http://schemas.openxmlformats.org/officeDocument/2006/relationships/image" Target="../media/image14.png"/><Relationship Id="rId1" Type="http://schemas.openxmlformats.org/officeDocument/2006/relationships/tags" Target="../tags/tag40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06.xml"/><Relationship Id="rId1" Type="http://schemas.openxmlformats.org/officeDocument/2006/relationships/image" Target="../media/image1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0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1" name="标题 1"/>
          <p:cNvSpPr>
            <a:spLocks noGrp="1"/>
          </p:cNvSpPr>
          <p:nvPr>
            <p:ph type="title"/>
          </p:nvPr>
        </p:nvSpPr>
        <p:spPr/>
        <p:txBody>
          <a:bodyPr anchor="b" anchorCtr="0"/>
          <a:p>
            <a:endParaRPr lang="zh-CN" altLang="en-US"/>
          </a:p>
        </p:txBody>
      </p:sp>
      <p:sp>
        <p:nvSpPr>
          <p:cNvPr id="10242" name="Rectangle 2"/>
          <p:cNvSpPr>
            <a:spLocks noGrp="1"/>
          </p:cNvSpPr>
          <p:nvPr/>
        </p:nvSpPr>
        <p:spPr>
          <a:xfrm>
            <a:off x="23813" y="44450"/>
            <a:ext cx="9101137" cy="11430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square" lIns="91440" tIns="45720" rIns="91440" bIns="45720" anchor="b" anchorCtr="0"/>
          <a:p>
            <a:pPr algn="ctr"/>
            <a:r>
              <a:rPr lang="zh-CN" altLang="en-US" sz="4000" dirty="0">
                <a:solidFill>
                  <a:schemeClr val="hlin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lang="en-US" altLang="zh-CN" sz="4000" dirty="0">
                <a:solidFill>
                  <a:schemeClr val="hlin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lang="zh-CN" altLang="en-US" sz="4000" dirty="0">
                <a:solidFill>
                  <a:schemeClr val="hlin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</a:t>
            </a:r>
            <a:r>
              <a:rPr lang="en-US" altLang="zh-CN" sz="4000" dirty="0">
                <a:solidFill>
                  <a:schemeClr val="hlin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4000" dirty="0">
                <a:solidFill>
                  <a:schemeClr val="hlin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输入</a:t>
            </a:r>
            <a:r>
              <a:rPr lang="en-US" altLang="zh-CN" sz="4000" dirty="0">
                <a:solidFill>
                  <a:schemeClr val="hlin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/</a:t>
            </a:r>
            <a:r>
              <a:rPr lang="zh-CN" altLang="en-US" sz="4000" dirty="0">
                <a:solidFill>
                  <a:schemeClr val="hlin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输出技术</a:t>
            </a:r>
            <a:endParaRPr lang="zh-CN" altLang="en-US" sz="4000" dirty="0">
              <a:solidFill>
                <a:schemeClr val="hlink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0243" name="内容占位符 2"/>
          <p:cNvSpPr>
            <a:spLocks noGrp="1"/>
          </p:cNvSpPr>
          <p:nvPr>
            <p:ph idx="1"/>
          </p:nvPr>
        </p:nvSpPr>
        <p:spPr>
          <a:xfrm>
            <a:off x="538798" y="1700213"/>
            <a:ext cx="7772400" cy="3370262"/>
          </a:xfrm>
        </p:spPr>
        <p:txBody>
          <a:bodyPr anchor="t" anchorCtr="0"/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rgbClr val="3333FF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华文新魏" panose="02010800040101010101" pitchFamily="2" charset="-122"/>
                <a:sym typeface="+mn-ea"/>
              </a:rPr>
              <a:t>5.1  I/O</a:t>
            </a:r>
            <a:r>
              <a:rPr lang="zh-CN" altLang="en-US" sz="2800" b="1" dirty="0">
                <a:solidFill>
                  <a:srgbClr val="3333FF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华文新魏" panose="02010800040101010101" pitchFamily="2" charset="-122"/>
                <a:sym typeface="+mn-ea"/>
              </a:rPr>
              <a:t>接口基础及简单接口应用</a:t>
            </a:r>
            <a:endParaRPr lang="zh-CN" altLang="en-US" sz="2800" b="1" i="0" dirty="0">
              <a:solidFill>
                <a:srgbClr val="3333FF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华文新魏" panose="0201080004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rgbClr val="3333FF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华文新魏" panose="02010800040101010101" pitchFamily="2" charset="-122"/>
                <a:sym typeface="+mn-ea"/>
              </a:rPr>
              <a:t>5.2  LED</a:t>
            </a:r>
            <a:r>
              <a:rPr lang="zh-CN" altLang="en-US" sz="2800" b="1" dirty="0">
                <a:solidFill>
                  <a:srgbClr val="3333FF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华文新魏" panose="02010800040101010101" pitchFamily="2" charset="-122"/>
                <a:sym typeface="+mn-ea"/>
              </a:rPr>
              <a:t>数码管及</a:t>
            </a:r>
            <a:r>
              <a:rPr lang="en-US" altLang="zh-CN" sz="2800" b="1" dirty="0">
                <a:solidFill>
                  <a:srgbClr val="3333FF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华文新魏" panose="02010800040101010101" pitchFamily="2" charset="-122"/>
                <a:sym typeface="+mn-ea"/>
              </a:rPr>
              <a:t>I/O</a:t>
            </a:r>
            <a:r>
              <a:rPr lang="zh-CN" altLang="en-US" sz="2800" b="1" dirty="0">
                <a:solidFill>
                  <a:srgbClr val="3333FF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华文新魏" panose="02010800040101010101" pitchFamily="2" charset="-122"/>
                <a:sym typeface="+mn-ea"/>
              </a:rPr>
              <a:t>设备信息交换方式</a:t>
            </a:r>
            <a:endParaRPr lang="zh-CN" altLang="en-US" sz="2800" b="1" i="0" dirty="0">
              <a:solidFill>
                <a:srgbClr val="3333FF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华文新魏" panose="0201080004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rgbClr val="3333FF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华文新魏" panose="02010800040101010101" pitchFamily="2" charset="-122"/>
                <a:sym typeface="+mn-ea"/>
              </a:rPr>
              <a:t>5.3  </a:t>
            </a:r>
            <a:r>
              <a:rPr lang="zh-CN" altLang="en-US" sz="2800" b="1" dirty="0">
                <a:solidFill>
                  <a:srgbClr val="3333FF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华文新魏" panose="02010800040101010101" pitchFamily="2" charset="-122"/>
                <a:sym typeface="+mn-ea"/>
              </a:rPr>
              <a:t>简单交通信号灯系统的实现</a:t>
            </a:r>
            <a:endParaRPr lang="zh-CN" altLang="en-US" sz="2800" b="1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3" name="矩形 59"/>
          <p:cNvSpPr/>
          <p:nvPr>
            <p:custDataLst>
              <p:tags r:id="rId1"/>
            </p:custDataLst>
          </p:nvPr>
        </p:nvSpPr>
        <p:spPr>
          <a:xfrm>
            <a:off x="822325" y="501650"/>
            <a:ext cx="638175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 algn="l"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5.1.1 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基本知识</a:t>
            </a:r>
            <a:endParaRPr lang="zh-CN" altLang="en-US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667068" y="3470275"/>
            <a:ext cx="5729288" cy="2590800"/>
            <a:chOff x="567" y="864"/>
            <a:chExt cx="3609" cy="1968"/>
          </a:xfrm>
        </p:grpSpPr>
        <p:sp>
          <p:nvSpPr>
            <p:cNvPr id="4099" name="Rectangle 3"/>
            <p:cNvSpPr/>
            <p:nvPr>
              <p:custDataLst>
                <p:tags r:id="rId2"/>
              </p:custDataLst>
            </p:nvPr>
          </p:nvSpPr>
          <p:spPr>
            <a:xfrm>
              <a:off x="567" y="864"/>
              <a:ext cx="480" cy="1920"/>
            </a:xfrm>
            <a:prstGeom prst="rect">
              <a:avLst/>
            </a:prstGeom>
            <a:noFill/>
            <a:ln w="38100" cap="sq" cmpd="sng">
              <a:solidFill>
                <a:schemeClr val="tx1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 anchorCtr="0"/>
            <a:p>
              <a:pPr algn="ctr"/>
              <a:r>
                <a:rPr lang="en-US" altLang="zh-CN" b="1" i="0" dirty="0">
                  <a:solidFill>
                    <a:srgbClr val="CC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CPU </a:t>
              </a:r>
              <a:endParaRPr lang="en-US" altLang="zh-CN" b="1" i="0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100" name="Rectangle 4"/>
            <p:cNvSpPr/>
            <p:nvPr>
              <p:custDataLst>
                <p:tags r:id="rId3"/>
              </p:custDataLst>
            </p:nvPr>
          </p:nvSpPr>
          <p:spPr>
            <a:xfrm>
              <a:off x="1248" y="912"/>
              <a:ext cx="912" cy="384"/>
            </a:xfrm>
            <a:prstGeom prst="rect">
              <a:avLst/>
            </a:prstGeom>
            <a:noFill/>
            <a:ln w="38100" cap="sq" cmpd="sng">
              <a:solidFill>
                <a:schemeClr val="tx1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 anchorCtr="0"/>
            <a:p>
              <a:pPr algn="ctr"/>
              <a:r>
                <a:rPr lang="en-US" altLang="zh-CN" b="1" i="0" dirty="0">
                  <a:solidFill>
                    <a:srgbClr val="CC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RAM </a:t>
              </a:r>
              <a:endParaRPr lang="en-US" altLang="zh-CN" b="1" i="0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101" name="Rectangle 5"/>
            <p:cNvSpPr/>
            <p:nvPr>
              <p:custDataLst>
                <p:tags r:id="rId4"/>
              </p:custDataLst>
            </p:nvPr>
          </p:nvSpPr>
          <p:spPr>
            <a:xfrm>
              <a:off x="2496" y="912"/>
              <a:ext cx="912" cy="384"/>
            </a:xfrm>
            <a:prstGeom prst="rect">
              <a:avLst/>
            </a:prstGeom>
            <a:noFill/>
            <a:ln w="38100" cap="sq" cmpd="sng">
              <a:solidFill>
                <a:schemeClr val="tx1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 anchorCtr="0"/>
            <a:p>
              <a:pPr algn="ctr"/>
              <a:r>
                <a:rPr lang="en-US" altLang="zh-CN" b="1" i="0" dirty="0">
                  <a:solidFill>
                    <a:srgbClr val="CC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ROM </a:t>
              </a:r>
              <a:endParaRPr lang="en-US" altLang="zh-CN" b="1" i="0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102" name="Rectangle 6"/>
            <p:cNvSpPr/>
            <p:nvPr>
              <p:custDataLst>
                <p:tags r:id="rId5"/>
              </p:custDataLst>
            </p:nvPr>
          </p:nvSpPr>
          <p:spPr>
            <a:xfrm>
              <a:off x="3744" y="912"/>
              <a:ext cx="432" cy="1920"/>
            </a:xfrm>
            <a:prstGeom prst="rect">
              <a:avLst/>
            </a:prstGeom>
            <a:solidFill>
              <a:schemeClr val="accent2"/>
            </a:solidFill>
            <a:ln w="38100" cap="sq" cmpd="sng">
              <a:solidFill>
                <a:schemeClr val="tx1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 anchorCtr="0"/>
            <a:p>
              <a:pPr algn="ctr"/>
              <a:r>
                <a:rPr lang="en-US" altLang="zh-CN" b="1" i="0" dirty="0">
                  <a:solidFill>
                    <a:srgbClr val="CC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I/O</a:t>
              </a:r>
              <a:endParaRPr lang="en-US" altLang="zh-CN" b="1" i="0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/>
              <a:r>
                <a:rPr lang="zh-CN" altLang="en-US" b="1" i="0" dirty="0">
                  <a:solidFill>
                    <a:srgbClr val="CC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接</a:t>
              </a:r>
              <a:endParaRPr lang="zh-CN" altLang="en-US" b="1" i="0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/>
              <a:r>
                <a:rPr lang="zh-CN" altLang="en-US" b="1" i="0" dirty="0">
                  <a:solidFill>
                    <a:srgbClr val="CC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口</a:t>
              </a:r>
              <a:endParaRPr lang="zh-CN" altLang="en-US" b="1" i="0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/>
              <a:r>
                <a:rPr lang="zh-CN" altLang="en-US" b="1" i="0" dirty="0">
                  <a:solidFill>
                    <a:srgbClr val="CC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电</a:t>
              </a:r>
              <a:endParaRPr lang="zh-CN" altLang="en-US" b="1" i="0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/>
              <a:r>
                <a:rPr lang="en-US" altLang="zh-CN" b="1" i="0" dirty="0">
                  <a:solidFill>
                    <a:srgbClr val="CC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zh-CN" altLang="en-US" b="1" i="0" dirty="0">
                  <a:solidFill>
                    <a:srgbClr val="CC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路 </a:t>
              </a:r>
              <a:endParaRPr lang="zh-CN" altLang="en-US" b="1" i="0" dirty="0">
                <a:solidFill>
                  <a:srgbClr val="CC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" name="Group 7"/>
          <p:cNvGrpSpPr/>
          <p:nvPr/>
        </p:nvGrpSpPr>
        <p:grpSpPr>
          <a:xfrm>
            <a:off x="6396355" y="3551482"/>
            <a:ext cx="2133600" cy="2514600"/>
            <a:chOff x="4176" y="907"/>
            <a:chExt cx="1344" cy="1872"/>
          </a:xfrm>
        </p:grpSpPr>
        <p:sp>
          <p:nvSpPr>
            <p:cNvPr id="4104" name="Rectangle 8"/>
            <p:cNvSpPr/>
            <p:nvPr>
              <p:custDataLst>
                <p:tags r:id="rId6"/>
              </p:custDataLst>
            </p:nvPr>
          </p:nvSpPr>
          <p:spPr>
            <a:xfrm>
              <a:off x="4560" y="1387"/>
              <a:ext cx="960" cy="336"/>
            </a:xfrm>
            <a:prstGeom prst="rect">
              <a:avLst/>
            </a:prstGeom>
            <a:noFill/>
            <a:ln w="12700" cap="sq" cmpd="sng">
              <a:solidFill>
                <a:srgbClr val="3333FF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 anchorCtr="0"/>
            <a:p>
              <a:pPr algn="ctr"/>
              <a:r>
                <a:rPr lang="zh-CN" altLang="en-US" b="1" i="0" dirty="0">
                  <a:solidFill>
                    <a:srgbClr val="3333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输入设备</a:t>
              </a:r>
              <a:endParaRPr lang="zh-CN" altLang="en-US" b="1" i="0" dirty="0">
                <a:solidFill>
                  <a:srgbClr val="3333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105" name="Rectangle 9"/>
            <p:cNvSpPr/>
            <p:nvPr>
              <p:custDataLst>
                <p:tags r:id="rId7"/>
              </p:custDataLst>
            </p:nvPr>
          </p:nvSpPr>
          <p:spPr>
            <a:xfrm>
              <a:off x="4560" y="1915"/>
              <a:ext cx="960" cy="336"/>
            </a:xfrm>
            <a:prstGeom prst="rect">
              <a:avLst/>
            </a:prstGeom>
            <a:noFill/>
            <a:ln w="12700" cap="sq" cmpd="sng">
              <a:solidFill>
                <a:srgbClr val="3333FF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 anchorCtr="0"/>
            <a:p>
              <a:pPr algn="ctr"/>
              <a:r>
                <a:rPr lang="zh-CN" altLang="en-US" b="1" i="0" dirty="0">
                  <a:solidFill>
                    <a:srgbClr val="3333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输出设备</a:t>
              </a:r>
              <a:endParaRPr lang="zh-CN" altLang="en-US" b="1" i="0" dirty="0">
                <a:solidFill>
                  <a:srgbClr val="3333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106" name="Rectangle 10"/>
            <p:cNvSpPr/>
            <p:nvPr>
              <p:custDataLst>
                <p:tags r:id="rId8"/>
              </p:custDataLst>
            </p:nvPr>
          </p:nvSpPr>
          <p:spPr>
            <a:xfrm>
              <a:off x="4560" y="907"/>
              <a:ext cx="960" cy="336"/>
            </a:xfrm>
            <a:prstGeom prst="rect">
              <a:avLst/>
            </a:prstGeom>
            <a:noFill/>
            <a:ln w="12700" cap="sq" cmpd="sng">
              <a:solidFill>
                <a:srgbClr val="3333FF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 anchorCtr="0"/>
            <a:p>
              <a:pPr algn="ctr"/>
              <a:r>
                <a:rPr lang="zh-CN" altLang="en-US" b="1" i="0" dirty="0">
                  <a:solidFill>
                    <a:srgbClr val="3333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外存</a:t>
              </a:r>
              <a:endParaRPr lang="zh-CN" altLang="en-US" b="1" i="0" dirty="0">
                <a:solidFill>
                  <a:srgbClr val="3333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107" name="Rectangle 11"/>
            <p:cNvSpPr/>
            <p:nvPr>
              <p:custDataLst>
                <p:tags r:id="rId9"/>
              </p:custDataLst>
            </p:nvPr>
          </p:nvSpPr>
          <p:spPr>
            <a:xfrm>
              <a:off x="4560" y="2443"/>
              <a:ext cx="960" cy="336"/>
            </a:xfrm>
            <a:prstGeom prst="rect">
              <a:avLst/>
            </a:prstGeom>
            <a:noFill/>
            <a:ln w="12700" cap="sq" cmpd="sng">
              <a:solidFill>
                <a:srgbClr val="3333FF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 anchorCtr="0"/>
            <a:p>
              <a:pPr algn="ctr"/>
              <a:r>
                <a:rPr lang="zh-CN" altLang="en-US" b="1" i="0" dirty="0">
                  <a:solidFill>
                    <a:srgbClr val="3333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其它设备</a:t>
              </a:r>
              <a:endParaRPr lang="zh-CN" altLang="en-US" b="1" i="0" dirty="0">
                <a:solidFill>
                  <a:srgbClr val="3333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108" name="Line 12"/>
            <p:cNvSpPr/>
            <p:nvPr>
              <p:custDataLst>
                <p:tags r:id="rId10"/>
              </p:custDataLst>
            </p:nvPr>
          </p:nvSpPr>
          <p:spPr>
            <a:xfrm>
              <a:off x="4176" y="1099"/>
              <a:ext cx="384" cy="0"/>
            </a:xfrm>
            <a:prstGeom prst="line">
              <a:avLst/>
            </a:prstGeom>
            <a:ln w="38100" cap="sq" cmpd="sng">
              <a:solidFill>
                <a:srgbClr val="3333FF"/>
              </a:solidFill>
              <a:prstDash val="solid"/>
              <a:round/>
              <a:headEnd type="triangle" w="med" len="med"/>
              <a:tailEnd type="triangle" w="med" len="med"/>
            </a:ln>
          </p:spPr>
        </p:sp>
        <p:sp>
          <p:nvSpPr>
            <p:cNvPr id="4109" name="Line 13"/>
            <p:cNvSpPr/>
            <p:nvPr>
              <p:custDataLst>
                <p:tags r:id="rId11"/>
              </p:custDataLst>
            </p:nvPr>
          </p:nvSpPr>
          <p:spPr>
            <a:xfrm>
              <a:off x="4176" y="1579"/>
              <a:ext cx="386" cy="0"/>
            </a:xfrm>
            <a:prstGeom prst="line">
              <a:avLst/>
            </a:prstGeom>
            <a:ln w="38100" cap="sq" cmpd="sng">
              <a:solidFill>
                <a:srgbClr val="3333FF"/>
              </a:solidFill>
              <a:prstDash val="solid"/>
              <a:round/>
              <a:headEnd type="triangle" w="med" len="med"/>
              <a:tailEnd type="triangle" w="med" len="med"/>
            </a:ln>
          </p:spPr>
        </p:sp>
        <p:sp>
          <p:nvSpPr>
            <p:cNvPr id="4110" name="Line 14"/>
            <p:cNvSpPr/>
            <p:nvPr>
              <p:custDataLst>
                <p:tags r:id="rId12"/>
              </p:custDataLst>
            </p:nvPr>
          </p:nvSpPr>
          <p:spPr>
            <a:xfrm>
              <a:off x="4179" y="2107"/>
              <a:ext cx="386" cy="0"/>
            </a:xfrm>
            <a:prstGeom prst="line">
              <a:avLst/>
            </a:prstGeom>
            <a:ln w="38100" cap="sq" cmpd="sng">
              <a:solidFill>
                <a:srgbClr val="3333FF"/>
              </a:solidFill>
              <a:prstDash val="solid"/>
              <a:round/>
              <a:headEnd type="triangle" w="med" len="med"/>
              <a:tailEnd type="triangle" w="med" len="med"/>
            </a:ln>
          </p:spPr>
        </p:sp>
        <p:sp>
          <p:nvSpPr>
            <p:cNvPr id="4111" name="Line 15"/>
            <p:cNvSpPr/>
            <p:nvPr>
              <p:custDataLst>
                <p:tags r:id="rId13"/>
              </p:custDataLst>
            </p:nvPr>
          </p:nvSpPr>
          <p:spPr>
            <a:xfrm>
              <a:off x="4179" y="2587"/>
              <a:ext cx="386" cy="0"/>
            </a:xfrm>
            <a:prstGeom prst="line">
              <a:avLst/>
            </a:prstGeom>
            <a:ln w="38100" cap="sq" cmpd="sng">
              <a:solidFill>
                <a:srgbClr val="3333FF"/>
              </a:solidFill>
              <a:prstDash val="solid"/>
              <a:round/>
              <a:headEnd type="triangle" w="med" len="med"/>
              <a:tailEnd type="triangle" w="med" len="med"/>
            </a:ln>
          </p:spPr>
        </p:sp>
      </p:grpSp>
      <p:grpSp>
        <p:nvGrpSpPr>
          <p:cNvPr id="12" name="Group 16"/>
          <p:cNvGrpSpPr/>
          <p:nvPr/>
        </p:nvGrpSpPr>
        <p:grpSpPr>
          <a:xfrm>
            <a:off x="1453833" y="4044950"/>
            <a:ext cx="4248150" cy="712788"/>
            <a:chOff x="736" y="1395"/>
            <a:chExt cx="2676" cy="449"/>
          </a:xfrm>
        </p:grpSpPr>
        <p:sp>
          <p:nvSpPr>
            <p:cNvPr id="4113" name="Line 17"/>
            <p:cNvSpPr/>
            <p:nvPr>
              <p:custDataLst>
                <p:tags r:id="rId14"/>
              </p:custDataLst>
            </p:nvPr>
          </p:nvSpPr>
          <p:spPr>
            <a:xfrm>
              <a:off x="736" y="1820"/>
              <a:ext cx="2676" cy="0"/>
            </a:xfrm>
            <a:prstGeom prst="line">
              <a:avLst/>
            </a:prstGeom>
            <a:ln w="57150" cap="sq" cmpd="sng">
              <a:solidFill>
                <a:srgbClr val="3333FF"/>
              </a:solidFill>
              <a:prstDash val="solid"/>
              <a:round/>
              <a:headEnd type="none" w="sm" len="sm"/>
              <a:tailEnd type="triangle" w="med" len="med"/>
            </a:ln>
          </p:spPr>
        </p:sp>
        <p:sp>
          <p:nvSpPr>
            <p:cNvPr id="4114" name="Line 18"/>
            <p:cNvSpPr/>
            <p:nvPr>
              <p:custDataLst>
                <p:tags r:id="rId15"/>
              </p:custDataLst>
            </p:nvPr>
          </p:nvSpPr>
          <p:spPr>
            <a:xfrm flipV="1">
              <a:off x="1201" y="1400"/>
              <a:ext cx="0" cy="408"/>
            </a:xfrm>
            <a:prstGeom prst="line">
              <a:avLst/>
            </a:prstGeom>
            <a:ln w="57150" cap="sq" cmpd="sng">
              <a:solidFill>
                <a:srgbClr val="3333FF"/>
              </a:solidFill>
              <a:prstDash val="solid"/>
              <a:round/>
              <a:headEnd type="none" w="sm" len="sm"/>
              <a:tailEnd type="stealth" w="med" len="med"/>
            </a:ln>
          </p:spPr>
        </p:sp>
        <p:sp>
          <p:nvSpPr>
            <p:cNvPr id="4115" name="Line 19"/>
            <p:cNvSpPr/>
            <p:nvPr>
              <p:custDataLst>
                <p:tags r:id="rId16"/>
              </p:custDataLst>
            </p:nvPr>
          </p:nvSpPr>
          <p:spPr>
            <a:xfrm flipV="1">
              <a:off x="2449" y="1395"/>
              <a:ext cx="0" cy="408"/>
            </a:xfrm>
            <a:prstGeom prst="line">
              <a:avLst/>
            </a:prstGeom>
            <a:ln w="57150" cap="sq" cmpd="sng">
              <a:solidFill>
                <a:srgbClr val="3333FF"/>
              </a:solidFill>
              <a:prstDash val="solid"/>
              <a:round/>
              <a:headEnd type="none" w="sm" len="sm"/>
              <a:tailEnd type="stealth" w="med" len="med"/>
            </a:ln>
          </p:spPr>
        </p:sp>
        <p:sp>
          <p:nvSpPr>
            <p:cNvPr id="4116" name="Text Box 20"/>
            <p:cNvSpPr txBox="1"/>
            <p:nvPr>
              <p:custDataLst>
                <p:tags r:id="rId17"/>
              </p:custDataLst>
            </p:nvPr>
          </p:nvSpPr>
          <p:spPr>
            <a:xfrm>
              <a:off x="769" y="1554"/>
              <a:ext cx="528" cy="290"/>
            </a:xfrm>
            <a:prstGeom prst="rect">
              <a:avLst/>
            </a:prstGeom>
            <a:noFill/>
            <a:ln w="12700" cap="sq" cmpd="sng">
              <a:noFill/>
              <a:prstDash val="solid"/>
              <a:miter/>
              <a:headEnd type="none" w="sm" len="sm"/>
              <a:tailEnd type="none" w="sm" len="sm"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i="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AB</a:t>
              </a:r>
              <a:endParaRPr lang="en-US" altLang="zh-CN" b="1" i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3" name="Group 26"/>
          <p:cNvGrpSpPr/>
          <p:nvPr/>
        </p:nvGrpSpPr>
        <p:grpSpPr>
          <a:xfrm>
            <a:off x="1429068" y="4052888"/>
            <a:ext cx="4267200" cy="1779588"/>
            <a:chOff x="856" y="1400"/>
            <a:chExt cx="2688" cy="1121"/>
          </a:xfrm>
        </p:grpSpPr>
        <p:sp>
          <p:nvSpPr>
            <p:cNvPr id="4118" name="Line 27"/>
            <p:cNvSpPr/>
            <p:nvPr>
              <p:custDataLst>
                <p:tags r:id="rId18"/>
              </p:custDataLst>
            </p:nvPr>
          </p:nvSpPr>
          <p:spPr>
            <a:xfrm>
              <a:off x="856" y="2521"/>
              <a:ext cx="2688" cy="0"/>
            </a:xfrm>
            <a:prstGeom prst="line">
              <a:avLst/>
            </a:prstGeom>
            <a:ln w="50800" cap="sq" cmpd="sng">
              <a:solidFill>
                <a:schemeClr val="tx1"/>
              </a:solidFill>
              <a:prstDash val="solid"/>
              <a:round/>
              <a:headEnd type="triangle" w="med" len="med"/>
              <a:tailEnd type="triangle" w="med" len="med"/>
            </a:ln>
          </p:spPr>
        </p:sp>
        <p:sp>
          <p:nvSpPr>
            <p:cNvPr id="4119" name="Line 28"/>
            <p:cNvSpPr/>
            <p:nvPr>
              <p:custDataLst>
                <p:tags r:id="rId19"/>
              </p:custDataLst>
            </p:nvPr>
          </p:nvSpPr>
          <p:spPr>
            <a:xfrm flipV="1">
              <a:off x="1825" y="1400"/>
              <a:ext cx="0" cy="1111"/>
            </a:xfrm>
            <a:prstGeom prst="line">
              <a:avLst/>
            </a:prstGeom>
            <a:ln w="50800" cap="sq" cmpd="sng">
              <a:solidFill>
                <a:schemeClr val="tx1"/>
              </a:solidFill>
              <a:prstDash val="solid"/>
              <a:round/>
              <a:headEnd type="triangle" w="med" len="med"/>
              <a:tailEnd type="triangle" w="med" len="med"/>
            </a:ln>
          </p:spPr>
        </p:sp>
        <p:sp>
          <p:nvSpPr>
            <p:cNvPr id="4120" name="Line 29"/>
            <p:cNvSpPr/>
            <p:nvPr>
              <p:custDataLst>
                <p:tags r:id="rId20"/>
              </p:custDataLst>
            </p:nvPr>
          </p:nvSpPr>
          <p:spPr>
            <a:xfrm flipV="1">
              <a:off x="3073" y="1400"/>
              <a:ext cx="0" cy="1111"/>
            </a:xfrm>
            <a:prstGeom prst="line">
              <a:avLst/>
            </a:prstGeom>
            <a:ln w="50800" cap="sq" cmpd="sng">
              <a:solidFill>
                <a:schemeClr val="tx1"/>
              </a:solidFill>
              <a:prstDash val="solid"/>
              <a:round/>
              <a:headEnd type="triangle" w="med" len="med"/>
              <a:tailEnd type="triangle" w="med" len="med"/>
            </a:ln>
          </p:spPr>
        </p:sp>
        <p:sp>
          <p:nvSpPr>
            <p:cNvPr id="4121" name="Text Box 30"/>
            <p:cNvSpPr txBox="1"/>
            <p:nvPr>
              <p:custDataLst>
                <p:tags r:id="rId21"/>
              </p:custDataLst>
            </p:nvPr>
          </p:nvSpPr>
          <p:spPr>
            <a:xfrm>
              <a:off x="904" y="2225"/>
              <a:ext cx="480" cy="290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i="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CB</a:t>
              </a:r>
              <a:endParaRPr lang="en-US" altLang="zh-CN" b="1" i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4" name="Group 46"/>
          <p:cNvGrpSpPr/>
          <p:nvPr/>
        </p:nvGrpSpPr>
        <p:grpSpPr>
          <a:xfrm>
            <a:off x="1430020" y="4052888"/>
            <a:ext cx="4267200" cy="1270000"/>
            <a:chOff x="721" y="1400"/>
            <a:chExt cx="2688" cy="800"/>
          </a:xfrm>
        </p:grpSpPr>
        <p:sp>
          <p:nvSpPr>
            <p:cNvPr id="4123" name="Text Box 25"/>
            <p:cNvSpPr txBox="1"/>
            <p:nvPr>
              <p:custDataLst>
                <p:tags r:id="rId22"/>
              </p:custDataLst>
            </p:nvPr>
          </p:nvSpPr>
          <p:spPr>
            <a:xfrm>
              <a:off x="769" y="1910"/>
              <a:ext cx="528" cy="290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i="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DB</a:t>
              </a:r>
              <a:endParaRPr lang="en-US" altLang="zh-CN" b="1" i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4124" name="Group 45"/>
            <p:cNvGrpSpPr/>
            <p:nvPr/>
          </p:nvGrpSpPr>
          <p:grpSpPr>
            <a:xfrm>
              <a:off x="721" y="1400"/>
              <a:ext cx="2688" cy="752"/>
              <a:chOff x="721" y="1400"/>
              <a:chExt cx="2688" cy="752"/>
            </a:xfrm>
          </p:grpSpPr>
          <p:sp>
            <p:nvSpPr>
              <p:cNvPr id="4125" name="Line 22"/>
              <p:cNvSpPr/>
              <p:nvPr>
                <p:custDataLst>
                  <p:tags r:id="rId23"/>
                </p:custDataLst>
              </p:nvPr>
            </p:nvSpPr>
            <p:spPr>
              <a:xfrm>
                <a:off x="721" y="2152"/>
                <a:ext cx="2688" cy="0"/>
              </a:xfrm>
              <a:prstGeom prst="line">
                <a:avLst/>
              </a:prstGeom>
              <a:ln w="57150" cap="sq" cmpd="sng">
                <a:solidFill>
                  <a:srgbClr val="FF33CC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sp>
          <p:sp>
            <p:nvSpPr>
              <p:cNvPr id="4126" name="Line 23"/>
              <p:cNvSpPr/>
              <p:nvPr>
                <p:custDataLst>
                  <p:tags r:id="rId24"/>
                </p:custDataLst>
              </p:nvPr>
            </p:nvSpPr>
            <p:spPr>
              <a:xfrm flipV="1">
                <a:off x="1489" y="1400"/>
                <a:ext cx="0" cy="748"/>
              </a:xfrm>
              <a:prstGeom prst="line">
                <a:avLst/>
              </a:prstGeom>
              <a:ln w="57150" cap="sq" cmpd="sng">
                <a:solidFill>
                  <a:srgbClr val="FF33CC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sp>
          <p:sp>
            <p:nvSpPr>
              <p:cNvPr id="4127" name="Line 44"/>
              <p:cNvSpPr/>
              <p:nvPr>
                <p:custDataLst>
                  <p:tags r:id="rId25"/>
                </p:custDataLst>
              </p:nvPr>
            </p:nvSpPr>
            <p:spPr>
              <a:xfrm flipV="1">
                <a:off x="2739" y="1400"/>
                <a:ext cx="0" cy="748"/>
              </a:xfrm>
              <a:prstGeom prst="line">
                <a:avLst/>
              </a:prstGeom>
              <a:ln w="57150" cap="sq" cmpd="sng">
                <a:solidFill>
                  <a:srgbClr val="FF33CC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sp>
        </p:grpSp>
      </p:grpSp>
      <p:sp>
        <p:nvSpPr>
          <p:cNvPr id="4128" name="Rectangle 55"/>
          <p:cNvSpPr/>
          <p:nvPr/>
        </p:nvSpPr>
        <p:spPr>
          <a:xfrm>
            <a:off x="593725" y="2276475"/>
            <a:ext cx="7086600" cy="97726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20000"/>
              </a:lnSpc>
              <a:spcBef>
                <a:spcPts val="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GB" b="1" i="0" dirty="0">
                <a:latin typeface="Arial" panose="020B0604020202020204" pitchFamily="34" charset="0"/>
                <a:ea typeface="宋体" panose="02010600030101010101" pitchFamily="2" charset="-122"/>
              </a:rPr>
              <a:t>将外设连接到总线上的一组逻辑电路的总称</a:t>
            </a:r>
            <a:endParaRPr lang="zh-CN" altLang="en-GB" b="1" i="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ct val="3000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GB" b="1" i="0" dirty="0">
                <a:latin typeface="Arial" panose="020B0604020202020204" pitchFamily="34" charset="0"/>
                <a:ea typeface="宋体" panose="02010600030101010101" pitchFamily="2" charset="-122"/>
              </a:rPr>
              <a:t>实现外设与主机之间的</a:t>
            </a:r>
            <a:r>
              <a:rPr lang="zh-CN" altLang="en-US" b="1" i="0" dirty="0">
                <a:latin typeface="Arial" panose="020B0604020202020204" pitchFamily="34" charset="0"/>
                <a:ea typeface="宋体" panose="02010600030101010101" pitchFamily="2" charset="-122"/>
              </a:rPr>
              <a:t>信息交换</a:t>
            </a:r>
            <a:endParaRPr lang="zh-CN" altLang="en-US" b="1" i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129" name="Rectangle 56"/>
          <p:cNvSpPr/>
          <p:nvPr>
            <p:custDataLst>
              <p:tags r:id="rId26"/>
            </p:custDataLst>
          </p:nvPr>
        </p:nvSpPr>
        <p:spPr>
          <a:xfrm>
            <a:off x="683895" y="1916430"/>
            <a:ext cx="2425065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b="1" i="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什么是</a:t>
            </a:r>
            <a:r>
              <a:rPr lang="en-US" altLang="zh-CN" b="1" i="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I/O</a:t>
            </a:r>
            <a:r>
              <a:rPr lang="zh-CN" altLang="en-US" b="1" i="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接口？</a:t>
            </a:r>
            <a:endParaRPr lang="zh-CN" altLang="en-US" b="1" i="0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130" name="Rectangle 17"/>
          <p:cNvSpPr/>
          <p:nvPr>
            <p:custDataLst>
              <p:tags r:id="rId27"/>
            </p:custDataLst>
          </p:nvPr>
        </p:nvSpPr>
        <p:spPr>
          <a:xfrm>
            <a:off x="593725" y="1501458"/>
            <a:ext cx="2152015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spcBef>
                <a:spcPct val="45000"/>
              </a:spcBef>
            </a:pPr>
            <a:r>
              <a:rPr lang="en-US" altLang="zh-CN" b="1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1. I/O</a:t>
            </a:r>
            <a:r>
              <a:rPr lang="zh-CN" altLang="en-US" b="1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接口概述</a:t>
            </a:r>
            <a:endParaRPr lang="zh-CN" altLang="en-US" b="1" i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2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3" name="矩形 59"/>
          <p:cNvSpPr/>
          <p:nvPr>
            <p:custDataLst>
              <p:tags r:id="rId1"/>
            </p:custDataLst>
          </p:nvPr>
        </p:nvSpPr>
        <p:spPr>
          <a:xfrm>
            <a:off x="822325" y="501650"/>
            <a:ext cx="638175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 algn="l"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5.1.1 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基本知识</a:t>
            </a:r>
            <a:endParaRPr lang="zh-CN" altLang="en-US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128" name="Rectangle 55"/>
          <p:cNvSpPr/>
          <p:nvPr/>
        </p:nvSpPr>
        <p:spPr>
          <a:xfrm>
            <a:off x="593725" y="1917700"/>
            <a:ext cx="7086600" cy="53403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20000"/>
              </a:lnSpc>
              <a:spcBef>
                <a:spcPts val="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 b="1" i="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GB" b="1" i="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命令、数据和状态的缓冲、隔离和锁存</a:t>
            </a:r>
            <a:endParaRPr lang="zh-CN" altLang="en-GB" b="1" i="0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130" name="Rectangle 17"/>
          <p:cNvSpPr/>
          <p:nvPr>
            <p:custDataLst>
              <p:tags r:id="rId2"/>
            </p:custDataLst>
          </p:nvPr>
        </p:nvSpPr>
        <p:spPr>
          <a:xfrm>
            <a:off x="593725" y="1501775"/>
            <a:ext cx="320357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l">
              <a:spcBef>
                <a:spcPct val="45000"/>
              </a:spcBef>
            </a:pPr>
            <a:r>
              <a:rPr lang="en-US" altLang="zh-CN" b="1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2. 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I/O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接口的功能</a:t>
            </a:r>
            <a:endParaRPr lang="zh-CN" altLang="en-US" b="1" i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70585" y="2420620"/>
            <a:ext cx="7680325" cy="902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b="1"/>
              <a:t>接口电路用于缓冲或锁存数据、命令和状态信息，确保计算机和外设之间可靠的信息传送</a:t>
            </a:r>
            <a:endParaRPr lang="zh-CN" altLang="en-US" b="1"/>
          </a:p>
        </p:txBody>
      </p:sp>
      <p:sp>
        <p:nvSpPr>
          <p:cNvPr id="5" name="文本框 4"/>
          <p:cNvSpPr txBox="1"/>
          <p:nvPr/>
        </p:nvSpPr>
        <p:spPr>
          <a:xfrm>
            <a:off x="870585" y="3323590"/>
            <a:ext cx="768032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b="1"/>
              <a:t>连接必须遵循“</a:t>
            </a:r>
            <a:r>
              <a:rPr lang="zh-CN" altLang="en-US" b="1">
                <a:solidFill>
                  <a:srgbClr val="FF0000"/>
                </a:solidFill>
              </a:rPr>
              <a:t>输入要三态、输出要锁存</a:t>
            </a:r>
            <a:r>
              <a:rPr lang="zh-CN" altLang="en-US" b="1"/>
              <a:t>”的原则。</a:t>
            </a:r>
            <a:endParaRPr lang="zh-CN" altLang="en-US" b="1"/>
          </a:p>
        </p:txBody>
      </p:sp>
      <p:sp>
        <p:nvSpPr>
          <p:cNvPr id="6" name="Rectangle 55"/>
          <p:cNvSpPr/>
          <p:nvPr>
            <p:custDataLst>
              <p:tags r:id="rId3"/>
            </p:custDataLst>
          </p:nvPr>
        </p:nvSpPr>
        <p:spPr>
          <a:xfrm>
            <a:off x="593725" y="3789045"/>
            <a:ext cx="7086600" cy="53403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20000"/>
              </a:lnSpc>
              <a:spcBef>
                <a:spcPts val="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GB" b="1" i="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信息形式和格式转换</a:t>
            </a:r>
            <a:endParaRPr lang="zh-CN" altLang="en-GB" b="1" i="0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Rectangle 55"/>
          <p:cNvSpPr/>
          <p:nvPr>
            <p:custDataLst>
              <p:tags r:id="rId4"/>
            </p:custDataLst>
          </p:nvPr>
        </p:nvSpPr>
        <p:spPr>
          <a:xfrm>
            <a:off x="593725" y="4293235"/>
            <a:ext cx="7230745" cy="5340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20000"/>
              </a:lnSpc>
              <a:spcBef>
                <a:spcPts val="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GB" b="1" i="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信息的输入输出及</a:t>
            </a:r>
            <a:r>
              <a:rPr lang="zh-CN" altLang="en-US" b="1">
                <a:solidFill>
                  <a:srgbClr val="0000FF"/>
                </a:solidFill>
                <a:sym typeface="+mn-ea"/>
              </a:rPr>
              <a:t>与</a:t>
            </a:r>
            <a:r>
              <a:rPr lang="en-US" altLang="zh-CN" b="1">
                <a:solidFill>
                  <a:srgbClr val="0000FF"/>
                </a:solidFill>
                <a:sym typeface="+mn-ea"/>
              </a:rPr>
              <a:t>CPU</a:t>
            </a:r>
            <a:r>
              <a:rPr lang="zh-CN" altLang="en-US" b="1">
                <a:solidFill>
                  <a:srgbClr val="0000FF"/>
                </a:solidFill>
                <a:sym typeface="+mn-ea"/>
              </a:rPr>
              <a:t>和</a:t>
            </a:r>
            <a:r>
              <a:rPr lang="en-US" altLang="zh-CN" b="1">
                <a:solidFill>
                  <a:srgbClr val="0000FF"/>
                </a:solidFill>
                <a:sym typeface="+mn-ea"/>
              </a:rPr>
              <a:t>I/O</a:t>
            </a:r>
            <a:r>
              <a:rPr lang="zh-CN" altLang="en-US" b="1">
                <a:solidFill>
                  <a:srgbClr val="0000FF"/>
                </a:solidFill>
                <a:sym typeface="+mn-ea"/>
              </a:rPr>
              <a:t>设备进行联络</a:t>
            </a:r>
            <a:endParaRPr lang="zh-CN" altLang="en-GB" b="1" i="0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Rectangle 55"/>
          <p:cNvSpPr/>
          <p:nvPr>
            <p:custDataLst>
              <p:tags r:id="rId5"/>
            </p:custDataLst>
          </p:nvPr>
        </p:nvSpPr>
        <p:spPr>
          <a:xfrm>
            <a:off x="593725" y="4797425"/>
            <a:ext cx="7303135" cy="5340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20000"/>
              </a:lnSpc>
              <a:spcBef>
                <a:spcPts val="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GB" b="1" i="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根据寻址信息选择外设</a:t>
            </a:r>
            <a:endParaRPr lang="zh-CN" altLang="en-GB" b="1" i="0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70585" y="5336540"/>
            <a:ext cx="4572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chemeClr val="tx1"/>
                </a:solidFill>
                <a:sym typeface="+mn-ea"/>
              </a:rPr>
              <a:t>CPU</a:t>
            </a:r>
            <a:r>
              <a:rPr lang="zh-CN" altLang="en-US" b="1" dirty="0">
                <a:solidFill>
                  <a:schemeClr val="tx1"/>
                </a:solidFill>
                <a:sym typeface="+mn-ea"/>
              </a:rPr>
              <a:t>通过</a:t>
            </a:r>
            <a:r>
              <a:rPr lang="en-US" altLang="zh-CN" b="1" dirty="0">
                <a:solidFill>
                  <a:srgbClr val="0000FF"/>
                </a:solidFill>
                <a:sym typeface="+mn-ea"/>
                <a:hlinkClick r:id="" action="ppaction://noaction"/>
              </a:rPr>
              <a:t>I/O</a:t>
            </a:r>
            <a:r>
              <a:rPr lang="zh-CN" altLang="en-US" b="1" dirty="0">
                <a:solidFill>
                  <a:srgbClr val="0000FF"/>
                </a:solidFill>
                <a:sym typeface="+mn-ea"/>
                <a:hlinkClick r:id="" action="ppaction://noaction"/>
              </a:rPr>
              <a:t>端口</a:t>
            </a:r>
            <a:r>
              <a:rPr lang="zh-CN" altLang="en-US" b="1" dirty="0">
                <a:solidFill>
                  <a:schemeClr val="tx1"/>
                </a:solidFill>
                <a:sym typeface="+mn-ea"/>
              </a:rPr>
              <a:t>进行</a:t>
            </a:r>
            <a:r>
              <a:rPr lang="zh-CN" altLang="en-US" b="1">
                <a:solidFill>
                  <a:schemeClr val="tx1"/>
                </a:solidFill>
                <a:sym typeface="+mn-ea"/>
              </a:rPr>
              <a:t>寻址</a:t>
            </a:r>
            <a:endParaRPr lang="zh-CN" altLang="en-US" b="1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28" grpId="0"/>
      <p:bldP spid="6" grpId="0"/>
      <p:bldP spid="2" grpId="0"/>
      <p:bldP spid="5" grpId="0"/>
      <p:bldP spid="7" grpId="0"/>
      <p:bldP spid="9" grpId="0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3" name="矩形 59"/>
          <p:cNvSpPr/>
          <p:nvPr>
            <p:custDataLst>
              <p:tags r:id="rId1"/>
            </p:custDataLst>
          </p:nvPr>
        </p:nvSpPr>
        <p:spPr>
          <a:xfrm>
            <a:off x="822325" y="501650"/>
            <a:ext cx="638175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 algn="l"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5.1.1 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基本知识</a:t>
            </a:r>
            <a:endParaRPr lang="zh-CN" altLang="en-US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130" name="Rectangle 17"/>
          <p:cNvSpPr/>
          <p:nvPr>
            <p:custDataLst>
              <p:tags r:id="rId2"/>
            </p:custDataLst>
          </p:nvPr>
        </p:nvSpPr>
        <p:spPr>
          <a:xfrm>
            <a:off x="593725" y="1501775"/>
            <a:ext cx="320357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l">
              <a:spcBef>
                <a:spcPct val="45000"/>
              </a:spcBef>
            </a:pPr>
            <a:r>
              <a:rPr lang="en-US" altLang="zh-CN" b="1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3. </a:t>
            </a:r>
            <a:r>
              <a:rPr b="1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I/O 端口的编址方式</a:t>
            </a:r>
            <a:endParaRPr b="1" dirty="0">
              <a:solidFill>
                <a:schemeClr val="tx1"/>
              </a:solidFill>
              <a:latin typeface="Times New Roman" panose="02020603050405020304" pitchFamily="18" charset="0"/>
              <a:sym typeface="+mn-ea"/>
            </a:endParaRPr>
          </a:p>
        </p:txBody>
      </p:sp>
      <p:sp>
        <p:nvSpPr>
          <p:cNvPr id="4144" name="Rectangle 48"/>
          <p:cNvSpPr/>
          <p:nvPr>
            <p:custDataLst>
              <p:tags r:id="rId3"/>
            </p:custDataLst>
          </p:nvPr>
        </p:nvSpPr>
        <p:spPr>
          <a:xfrm>
            <a:off x="611505" y="1890395"/>
            <a:ext cx="7908290" cy="97726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sym typeface="+mn-ea"/>
              </a:rPr>
              <a:t> </a:t>
            </a:r>
            <a:r>
              <a:rPr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I/O</a:t>
            </a:r>
            <a:r>
              <a:rPr lang="zh-CN" altLang="en-US" b="1" i="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端口</a:t>
            </a:r>
            <a:r>
              <a:rPr lang="zh-CN" altLang="en-US" b="1" i="0" dirty="0">
                <a:solidFill>
                  <a:srgbClr val="3333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en-US" altLang="zh-CN" b="1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CPU</a:t>
            </a:r>
            <a:r>
              <a:rPr lang="zh-CN" altLang="en-US" b="1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可直接读</a:t>
            </a:r>
            <a:r>
              <a:rPr lang="en-US" altLang="zh-CN" b="1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zh-CN" altLang="en-US" b="1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写的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 </a:t>
            </a:r>
            <a:r>
              <a:rPr b="1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I/O</a:t>
            </a:r>
            <a:r>
              <a:rPr lang="zh-CN" altLang="en-US" b="1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接口内部的寄存器</a:t>
            </a:r>
            <a:r>
              <a:rPr lang="zh-CN" altLang="en-US" b="1" i="0" dirty="0">
                <a:solidFill>
                  <a:srgbClr val="3333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；</a:t>
            </a:r>
            <a:endParaRPr lang="zh-CN" altLang="en-US" b="1" i="0" dirty="0">
              <a:solidFill>
                <a:srgbClr val="3333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b="1" i="0" dirty="0">
                <a:solidFill>
                  <a:srgbClr val="3333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端口地址：用</a:t>
            </a:r>
            <a:r>
              <a:rPr lang="en-US" altLang="zh-CN" b="1" i="0" dirty="0">
                <a:solidFill>
                  <a:srgbClr val="3333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8</a:t>
            </a:r>
            <a:r>
              <a:rPr lang="zh-CN" altLang="en-US" b="1" i="0" dirty="0">
                <a:solidFill>
                  <a:srgbClr val="3333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位或</a:t>
            </a:r>
            <a:r>
              <a:rPr lang="en-US" altLang="zh-CN" b="1" i="0" dirty="0">
                <a:solidFill>
                  <a:srgbClr val="3333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16</a:t>
            </a:r>
            <a:r>
              <a:rPr lang="zh-CN" altLang="en-US" b="1" i="0" dirty="0">
                <a:solidFill>
                  <a:srgbClr val="3333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位编址</a:t>
            </a:r>
            <a:endParaRPr lang="zh-CN" altLang="en-US" b="1" i="0" dirty="0">
              <a:solidFill>
                <a:srgbClr val="3333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46" name="Rectangle 4"/>
          <p:cNvSpPr/>
          <p:nvPr>
            <p:custDataLst>
              <p:tags r:id="rId4"/>
            </p:custDataLst>
          </p:nvPr>
        </p:nvSpPr>
        <p:spPr>
          <a:xfrm>
            <a:off x="533400" y="3482975"/>
            <a:ext cx="931863" cy="19812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en-US" altLang="zh-CN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CPU</a:t>
            </a:r>
            <a:endParaRPr lang="en-US" altLang="zh-CN" i="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47" name="Rectangle 5"/>
          <p:cNvSpPr/>
          <p:nvPr>
            <p:custDataLst>
              <p:tags r:id="rId5"/>
            </p:custDataLst>
          </p:nvPr>
        </p:nvSpPr>
        <p:spPr>
          <a:xfrm>
            <a:off x="3327400" y="3406775"/>
            <a:ext cx="3000375" cy="20574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48" name="Rectangle 9"/>
          <p:cNvSpPr/>
          <p:nvPr>
            <p:custDataLst>
              <p:tags r:id="rId6"/>
            </p:custDataLst>
          </p:nvPr>
        </p:nvSpPr>
        <p:spPr>
          <a:xfrm>
            <a:off x="3733800" y="4321175"/>
            <a:ext cx="2116138" cy="381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控制寄存器</a:t>
            </a:r>
            <a:endParaRPr lang="zh-CN" altLang="en-US" i="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49" name="Rectangle 10"/>
          <p:cNvSpPr/>
          <p:nvPr>
            <p:custDataLst>
              <p:tags r:id="rId7"/>
            </p:custDataLst>
          </p:nvPr>
        </p:nvSpPr>
        <p:spPr>
          <a:xfrm>
            <a:off x="3751263" y="4930775"/>
            <a:ext cx="2116137" cy="381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状态寄存器</a:t>
            </a:r>
            <a:endParaRPr lang="zh-CN" altLang="en-US" i="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50" name="AutoShape 11"/>
          <p:cNvSpPr/>
          <p:nvPr>
            <p:custDataLst>
              <p:tags r:id="rId8"/>
            </p:custDataLst>
          </p:nvPr>
        </p:nvSpPr>
        <p:spPr>
          <a:xfrm>
            <a:off x="1465263" y="3635375"/>
            <a:ext cx="1778000" cy="304800"/>
          </a:xfrm>
          <a:prstGeom prst="leftRightArrow">
            <a:avLst>
              <a:gd name="adj1" fmla="val 50000"/>
              <a:gd name="adj2" fmla="val 94494"/>
            </a:avLst>
          </a:prstGeom>
          <a:solidFill>
            <a:srgbClr val="CC66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51" name="AutoShape 12"/>
          <p:cNvSpPr/>
          <p:nvPr>
            <p:custDataLst>
              <p:tags r:id="rId9"/>
            </p:custDataLst>
          </p:nvPr>
        </p:nvSpPr>
        <p:spPr>
          <a:xfrm>
            <a:off x="1465263" y="4397375"/>
            <a:ext cx="1862137" cy="228600"/>
          </a:xfrm>
          <a:prstGeom prst="rightArrow">
            <a:avLst>
              <a:gd name="adj1" fmla="val 50000"/>
              <a:gd name="adj2" fmla="val 203344"/>
            </a:avLst>
          </a:prstGeom>
          <a:solidFill>
            <a:srgbClr val="CC66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52" name="AutoShape 13"/>
          <p:cNvSpPr/>
          <p:nvPr>
            <p:custDataLst>
              <p:tags r:id="rId10"/>
            </p:custDataLst>
          </p:nvPr>
        </p:nvSpPr>
        <p:spPr>
          <a:xfrm>
            <a:off x="1465263" y="4930775"/>
            <a:ext cx="1862137" cy="228600"/>
          </a:xfrm>
          <a:prstGeom prst="rightArrow">
            <a:avLst>
              <a:gd name="adj1" fmla="val 50000"/>
              <a:gd name="adj2" fmla="val 203344"/>
            </a:avLst>
          </a:prstGeom>
          <a:solidFill>
            <a:srgbClr val="CC66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53" name="Text Box 14"/>
          <p:cNvSpPr txBox="1"/>
          <p:nvPr>
            <p:custDataLst>
              <p:tags r:id="rId11"/>
            </p:custDataLst>
          </p:nvPr>
        </p:nvSpPr>
        <p:spPr>
          <a:xfrm>
            <a:off x="1981200" y="3406775"/>
            <a:ext cx="725488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DB</a:t>
            </a:r>
            <a:endParaRPr lang="en-US" altLang="zh-CN" i="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54" name="Text Box 15"/>
          <p:cNvSpPr txBox="1"/>
          <p:nvPr>
            <p:custDataLst>
              <p:tags r:id="rId12"/>
            </p:custDataLst>
          </p:nvPr>
        </p:nvSpPr>
        <p:spPr>
          <a:xfrm>
            <a:off x="1981200" y="4016375"/>
            <a:ext cx="725488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AB</a:t>
            </a:r>
            <a:endParaRPr lang="en-US" altLang="zh-CN" i="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55" name="Text Box 16"/>
          <p:cNvSpPr txBox="1"/>
          <p:nvPr>
            <p:custDataLst>
              <p:tags r:id="rId13"/>
            </p:custDataLst>
          </p:nvPr>
        </p:nvSpPr>
        <p:spPr>
          <a:xfrm>
            <a:off x="1981200" y="4625975"/>
            <a:ext cx="725488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CB</a:t>
            </a:r>
            <a:endParaRPr lang="en-US" altLang="zh-CN" i="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56" name="Rectangle 23"/>
          <p:cNvSpPr/>
          <p:nvPr>
            <p:custDataLst>
              <p:tags r:id="rId14"/>
            </p:custDataLst>
          </p:nvPr>
        </p:nvSpPr>
        <p:spPr>
          <a:xfrm>
            <a:off x="7983538" y="3482975"/>
            <a:ext cx="931862" cy="1981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1800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外设</a:t>
            </a:r>
            <a:endParaRPr lang="zh-CN" altLang="en-US" sz="1800" i="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57" name="AutoShape 24"/>
          <p:cNvSpPr/>
          <p:nvPr>
            <p:custDataLst>
              <p:tags r:id="rId15"/>
            </p:custDataLst>
          </p:nvPr>
        </p:nvSpPr>
        <p:spPr>
          <a:xfrm>
            <a:off x="5915025" y="3711575"/>
            <a:ext cx="2068513" cy="304800"/>
          </a:xfrm>
          <a:prstGeom prst="leftRightArrow">
            <a:avLst>
              <a:gd name="adj1" fmla="val 50000"/>
              <a:gd name="adj2" fmla="val 109934"/>
            </a:avLst>
          </a:prstGeom>
          <a:solidFill>
            <a:srgbClr val="CC66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58" name="Line 26"/>
          <p:cNvSpPr/>
          <p:nvPr>
            <p:custDataLst>
              <p:tags r:id="rId16"/>
            </p:custDataLst>
          </p:nvPr>
        </p:nvSpPr>
        <p:spPr>
          <a:xfrm flipH="1">
            <a:off x="5867400" y="5092065"/>
            <a:ext cx="2068513" cy="0"/>
          </a:xfrm>
          <a:prstGeom prst="line">
            <a:avLst/>
          </a:prstGeom>
          <a:ln w="603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6159" name="Line 27"/>
          <p:cNvSpPr/>
          <p:nvPr>
            <p:custDataLst>
              <p:tags r:id="rId17"/>
            </p:custDataLst>
          </p:nvPr>
        </p:nvSpPr>
        <p:spPr>
          <a:xfrm>
            <a:off x="5867400" y="4486910"/>
            <a:ext cx="2068513" cy="0"/>
          </a:xfrm>
          <a:prstGeom prst="line">
            <a:avLst/>
          </a:prstGeom>
          <a:ln w="603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6160" name="Text Box 28"/>
          <p:cNvSpPr txBox="1"/>
          <p:nvPr>
            <p:custDataLst>
              <p:tags r:id="rId18"/>
            </p:custDataLst>
          </p:nvPr>
        </p:nvSpPr>
        <p:spPr>
          <a:xfrm>
            <a:off x="6535738" y="3406775"/>
            <a:ext cx="1109662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数据线</a:t>
            </a:r>
            <a:endParaRPr lang="zh-CN" altLang="en-US" i="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61" name="Text Box 30"/>
          <p:cNvSpPr txBox="1"/>
          <p:nvPr>
            <p:custDataLst>
              <p:tags r:id="rId19"/>
            </p:custDataLst>
          </p:nvPr>
        </p:nvSpPr>
        <p:spPr>
          <a:xfrm>
            <a:off x="6324600" y="4029710"/>
            <a:ext cx="1550988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控制信息</a:t>
            </a:r>
            <a:endParaRPr lang="zh-CN" altLang="en-US" i="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62" name="Text Box 31"/>
          <p:cNvSpPr txBox="1"/>
          <p:nvPr>
            <p:custDataLst>
              <p:tags r:id="rId20"/>
            </p:custDataLst>
          </p:nvPr>
        </p:nvSpPr>
        <p:spPr>
          <a:xfrm>
            <a:off x="6324600" y="4634865"/>
            <a:ext cx="1550988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状态信息</a:t>
            </a:r>
            <a:endParaRPr lang="zh-CN" altLang="en-US" i="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131" name="Text Box 35"/>
          <p:cNvSpPr txBox="1"/>
          <p:nvPr>
            <p:custDataLst>
              <p:tags r:id="rId21"/>
            </p:custDataLst>
          </p:nvPr>
        </p:nvSpPr>
        <p:spPr>
          <a:xfrm>
            <a:off x="3919538" y="2873375"/>
            <a:ext cx="17780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</a:pPr>
            <a:r>
              <a:rPr lang="en-US" altLang="zh-CN" b="1" i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I/O</a:t>
            </a:r>
            <a:r>
              <a:rPr lang="zh-CN" altLang="en-US" b="1" i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接口</a:t>
            </a:r>
            <a:endParaRPr lang="zh-CN" altLang="en-US" b="1" i="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64" name="Rectangle 43"/>
          <p:cNvSpPr/>
          <p:nvPr>
            <p:custDataLst>
              <p:tags r:id="rId22"/>
            </p:custDataLst>
          </p:nvPr>
        </p:nvSpPr>
        <p:spPr>
          <a:xfrm>
            <a:off x="3733800" y="3635375"/>
            <a:ext cx="2079625" cy="381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数据寄存器</a:t>
            </a:r>
            <a:endParaRPr lang="zh-CN" altLang="en-US" i="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3" name="Group 51"/>
          <p:cNvGrpSpPr/>
          <p:nvPr/>
        </p:nvGrpSpPr>
        <p:grpSpPr>
          <a:xfrm>
            <a:off x="3429000" y="3549015"/>
            <a:ext cx="2428875" cy="1813560"/>
            <a:chOff x="4128" y="2688"/>
            <a:chExt cx="1440" cy="1142"/>
          </a:xfrm>
        </p:grpSpPr>
        <p:sp>
          <p:nvSpPr>
            <p:cNvPr id="6167" name="Text Box 32"/>
            <p:cNvSpPr txBox="1"/>
            <p:nvPr>
              <p:custDataLst>
                <p:tags r:id="rId23"/>
              </p:custDataLst>
            </p:nvPr>
          </p:nvSpPr>
          <p:spPr>
            <a:xfrm>
              <a:off x="4176" y="2688"/>
              <a:ext cx="1392" cy="1142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anchor="t" anchorCtr="0">
              <a:spAutoFit/>
            </a:bodyPr>
            <a:p>
              <a:pPr algn="ctr">
                <a:lnSpc>
                  <a:spcPct val="80000"/>
                </a:lnSpc>
              </a:pPr>
              <a:r>
                <a:rPr lang="zh-CN" altLang="en-US" sz="2800" i="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数据端口</a:t>
              </a:r>
              <a:endParaRPr lang="zh-CN" altLang="en-US" sz="2800" i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>
                <a:lnSpc>
                  <a:spcPct val="80000"/>
                </a:lnSpc>
                <a:buChar char="•"/>
              </a:pPr>
              <a:endParaRPr lang="zh-CN" altLang="en-US" sz="2800" i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>
                <a:lnSpc>
                  <a:spcPct val="80000"/>
                </a:lnSpc>
              </a:pPr>
              <a:r>
                <a:rPr lang="zh-CN" altLang="en-US" sz="2800" i="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控制端口</a:t>
              </a:r>
              <a:endParaRPr lang="zh-CN" altLang="en-US" sz="2800" i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>
                <a:lnSpc>
                  <a:spcPct val="80000"/>
                </a:lnSpc>
                <a:buChar char="•"/>
              </a:pPr>
              <a:endParaRPr lang="zh-CN" altLang="en-US" sz="2800" i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>
                <a:lnSpc>
                  <a:spcPct val="80000"/>
                </a:lnSpc>
              </a:pPr>
              <a:r>
                <a:rPr lang="zh-CN" altLang="en-US" sz="2800" i="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状态端口</a:t>
              </a:r>
              <a:endParaRPr lang="zh-CN" altLang="en-US" sz="2800" i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68" name="Line 49"/>
            <p:cNvSpPr/>
            <p:nvPr>
              <p:custDataLst>
                <p:tags r:id="rId24"/>
              </p:custDataLst>
            </p:nvPr>
          </p:nvSpPr>
          <p:spPr>
            <a:xfrm>
              <a:off x="4128" y="3024"/>
              <a:ext cx="124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169" name="Line 50"/>
            <p:cNvSpPr/>
            <p:nvPr>
              <p:custDataLst>
                <p:tags r:id="rId25"/>
              </p:custDataLst>
            </p:nvPr>
          </p:nvSpPr>
          <p:spPr>
            <a:xfrm>
              <a:off x="4176" y="3456"/>
              <a:ext cx="124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4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3" name="矩形 59"/>
          <p:cNvSpPr/>
          <p:nvPr>
            <p:custDataLst>
              <p:tags r:id="rId1"/>
            </p:custDataLst>
          </p:nvPr>
        </p:nvSpPr>
        <p:spPr>
          <a:xfrm>
            <a:off x="822325" y="501650"/>
            <a:ext cx="638175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 algn="l"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5.1.1 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基本知识</a:t>
            </a:r>
            <a:endParaRPr lang="zh-CN" altLang="en-US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130" name="Rectangle 17"/>
          <p:cNvSpPr/>
          <p:nvPr>
            <p:custDataLst>
              <p:tags r:id="rId2"/>
            </p:custDataLst>
          </p:nvPr>
        </p:nvSpPr>
        <p:spPr>
          <a:xfrm>
            <a:off x="593725" y="1501775"/>
            <a:ext cx="320357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l">
              <a:spcBef>
                <a:spcPct val="45000"/>
              </a:spcBef>
            </a:pPr>
            <a:r>
              <a:rPr lang="en-US" altLang="zh-CN" b="1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3. </a:t>
            </a:r>
            <a:r>
              <a:rPr b="1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I/O 端口的编址方式</a:t>
            </a:r>
            <a:endParaRPr b="1" dirty="0">
              <a:solidFill>
                <a:schemeClr val="tx1"/>
              </a:solidFill>
              <a:latin typeface="Times New Roman" panose="02020603050405020304" pitchFamily="18" charset="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93725" y="1962150"/>
            <a:ext cx="679704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None/>
            </a:pPr>
            <a:r>
              <a:rPr lang="zh-CN" altLang="en-US" b="1">
                <a:sym typeface="+mn-ea"/>
              </a:rPr>
              <a:t>接口电路占用的</a:t>
            </a:r>
            <a:r>
              <a:rPr lang="en-US" altLang="zh-CN" b="1">
                <a:sym typeface="+mn-ea"/>
              </a:rPr>
              <a:t>I/O</a:t>
            </a:r>
            <a:r>
              <a:rPr lang="zh-CN" altLang="en-US" b="1">
                <a:sym typeface="+mn-ea"/>
              </a:rPr>
              <a:t>端口有两类</a:t>
            </a:r>
            <a:r>
              <a:rPr b="1" dirty="0">
                <a:latin typeface="Times New Roman" panose="02020603050405020304" pitchFamily="18" charset="0"/>
                <a:sym typeface="+mn-ea"/>
              </a:rPr>
              <a:t>编址</a:t>
            </a:r>
            <a:r>
              <a:rPr lang="zh-CN" altLang="en-US" b="1">
                <a:sym typeface="+mn-ea"/>
              </a:rPr>
              <a:t>形式</a:t>
            </a:r>
            <a:endParaRPr lang="zh-CN" altLang="en-US" b="1"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93725" y="2349500"/>
            <a:ext cx="7490460" cy="14204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b="1">
                <a:solidFill>
                  <a:srgbClr val="0000FF"/>
                </a:solidFill>
                <a:sym typeface="+mn-ea"/>
              </a:rPr>
              <a:t>I/O</a:t>
            </a:r>
            <a:r>
              <a:rPr lang="zh-CN" altLang="en-US" b="1">
                <a:solidFill>
                  <a:srgbClr val="0000FF"/>
                </a:solidFill>
                <a:sym typeface="+mn-ea"/>
              </a:rPr>
              <a:t>端口</a:t>
            </a:r>
            <a:r>
              <a:rPr lang="zh-CN" altLang="en-US" b="1" dirty="0">
                <a:solidFill>
                  <a:srgbClr val="3333FF"/>
                </a:solidFill>
                <a:latin typeface="Times New Roman" panose="02020603050405020304" pitchFamily="18" charset="0"/>
                <a:sym typeface="+mn-ea"/>
              </a:rPr>
              <a:t>与内存</a:t>
            </a:r>
            <a:r>
              <a:rPr lang="zh-CN" altLang="en-US" b="1">
                <a:solidFill>
                  <a:srgbClr val="0000FF"/>
                </a:solidFill>
                <a:sym typeface="+mn-ea"/>
              </a:rPr>
              <a:t>独立编址</a:t>
            </a:r>
            <a:endParaRPr lang="zh-CN" altLang="en-US" b="1">
              <a:solidFill>
                <a:srgbClr val="0000FF"/>
              </a:solidFill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en-US" altLang="zh-CN" b="1">
                <a:sym typeface="+mn-ea"/>
              </a:rPr>
              <a:t>I/O</a:t>
            </a:r>
            <a:r>
              <a:rPr lang="zh-CN" altLang="en-US" b="1">
                <a:sym typeface="+mn-ea"/>
              </a:rPr>
              <a:t>地址空间独立于存储地址空间</a:t>
            </a:r>
            <a:endParaRPr lang="zh-CN" altLang="en-US" b="1"/>
          </a:p>
          <a:p>
            <a:pPr marL="800100" lvl="1" indent="-342900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zh-CN" altLang="en-US" b="1">
                <a:sym typeface="+mn-ea"/>
              </a:rPr>
              <a:t>如</a:t>
            </a:r>
            <a:r>
              <a:rPr lang="en-US" altLang="zh-CN" b="1">
                <a:sym typeface="+mn-ea"/>
              </a:rPr>
              <a:t>8086/8088</a:t>
            </a:r>
            <a:endParaRPr lang="en-US" altLang="zh-CN" b="1">
              <a:sym typeface="+mn-ea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593725" y="3717925"/>
            <a:ext cx="7490460" cy="14204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b="1">
                <a:solidFill>
                  <a:srgbClr val="0000FF"/>
                </a:solidFill>
                <a:sym typeface="+mn-ea"/>
              </a:rPr>
              <a:t>I/O</a:t>
            </a:r>
            <a:r>
              <a:rPr lang="zh-CN" altLang="en-US" b="1">
                <a:solidFill>
                  <a:srgbClr val="0000FF"/>
                </a:solidFill>
                <a:sym typeface="+mn-ea"/>
              </a:rPr>
              <a:t>端口与</a:t>
            </a:r>
            <a:r>
              <a:rPr lang="zh-CN" altLang="en-US" b="1" dirty="0">
                <a:solidFill>
                  <a:srgbClr val="3333FF"/>
                </a:solidFill>
                <a:latin typeface="Times New Roman" panose="02020603050405020304" pitchFamily="18" charset="0"/>
                <a:sym typeface="+mn-ea"/>
              </a:rPr>
              <a:t>内存</a:t>
            </a:r>
            <a:r>
              <a:rPr lang="zh-CN" altLang="en-US" b="1">
                <a:solidFill>
                  <a:srgbClr val="0000FF"/>
                </a:solidFill>
                <a:sym typeface="+mn-ea"/>
              </a:rPr>
              <a:t>统一编址</a:t>
            </a:r>
            <a:endParaRPr lang="zh-CN" altLang="en-US" b="1">
              <a:solidFill>
                <a:srgbClr val="0000FF"/>
              </a:solidFill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zh-CN" altLang="en-US" b="1">
                <a:sym typeface="+mn-ea"/>
              </a:rPr>
              <a:t>它们共享一个地址空间</a:t>
            </a:r>
            <a:endParaRPr lang="zh-CN" altLang="en-US" b="1"/>
          </a:p>
          <a:p>
            <a:pPr marL="800100" lvl="1" indent="-342900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zh-CN" altLang="en-US" b="1">
                <a:sym typeface="+mn-ea"/>
              </a:rPr>
              <a:t>如</a:t>
            </a:r>
            <a:r>
              <a:rPr lang="en-US" altLang="zh-CN" b="1">
                <a:sym typeface="+mn-ea"/>
              </a:rPr>
              <a:t>M6800</a:t>
            </a:r>
            <a:endParaRPr lang="en-US" altLang="zh-CN" b="1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3" name="矩形 59"/>
          <p:cNvSpPr/>
          <p:nvPr>
            <p:custDataLst>
              <p:tags r:id="rId1"/>
            </p:custDataLst>
          </p:nvPr>
        </p:nvSpPr>
        <p:spPr>
          <a:xfrm>
            <a:off x="822325" y="501650"/>
            <a:ext cx="638175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 algn="l"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5.1.1 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基本知识</a:t>
            </a:r>
            <a:endParaRPr lang="zh-CN" altLang="en-US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130" name="Rectangle 17"/>
          <p:cNvSpPr/>
          <p:nvPr>
            <p:custDataLst>
              <p:tags r:id="rId2"/>
            </p:custDataLst>
          </p:nvPr>
        </p:nvSpPr>
        <p:spPr>
          <a:xfrm>
            <a:off x="593725" y="1501775"/>
            <a:ext cx="776160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l">
              <a:spcBef>
                <a:spcPct val="45000"/>
              </a:spcBef>
            </a:pPr>
            <a:r>
              <a:rPr lang="en-US" altLang="zh-CN" b="1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3. </a:t>
            </a:r>
            <a:r>
              <a:rPr b="1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I/O 端口的编址方式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——</a:t>
            </a:r>
            <a:r>
              <a:rPr lang="en-US" altLang="zh-CN" b="1">
                <a:solidFill>
                  <a:srgbClr val="0000FF"/>
                </a:solidFill>
                <a:sym typeface="+mn-ea"/>
              </a:rPr>
              <a:t>I/O</a:t>
            </a:r>
            <a:r>
              <a:rPr lang="zh-CN" altLang="en-US" b="1">
                <a:solidFill>
                  <a:srgbClr val="0000FF"/>
                </a:solidFill>
                <a:sym typeface="+mn-ea"/>
              </a:rPr>
              <a:t>端口</a:t>
            </a:r>
            <a:r>
              <a:rPr lang="zh-CN" altLang="en-US" b="1" dirty="0">
                <a:solidFill>
                  <a:srgbClr val="3333FF"/>
                </a:solidFill>
                <a:latin typeface="Times New Roman" panose="02020603050405020304" pitchFamily="18" charset="0"/>
                <a:sym typeface="+mn-ea"/>
              </a:rPr>
              <a:t>与内存</a:t>
            </a:r>
            <a:r>
              <a:rPr lang="zh-CN" altLang="en-US" b="1">
                <a:solidFill>
                  <a:srgbClr val="0000FF"/>
                </a:solidFill>
                <a:sym typeface="+mn-ea"/>
              </a:rPr>
              <a:t>独立编址</a:t>
            </a:r>
            <a:endParaRPr b="1" dirty="0">
              <a:solidFill>
                <a:schemeClr val="tx1"/>
              </a:solidFill>
              <a:latin typeface="Times New Roman" panose="02020603050405020304" pitchFamily="18" charset="0"/>
              <a:sym typeface="+mn-ea"/>
            </a:endParaRPr>
          </a:p>
        </p:txBody>
      </p:sp>
      <p:grpSp>
        <p:nvGrpSpPr>
          <p:cNvPr id="17411" name="组合 179203"/>
          <p:cNvGrpSpPr/>
          <p:nvPr/>
        </p:nvGrpSpPr>
        <p:grpSpPr>
          <a:xfrm>
            <a:off x="5508308" y="2287270"/>
            <a:ext cx="3062288" cy="2838450"/>
            <a:chOff x="-45" y="0"/>
            <a:chExt cx="1929" cy="1788"/>
          </a:xfrm>
        </p:grpSpPr>
        <p:sp>
          <p:nvSpPr>
            <p:cNvPr id="17412" name="矩形 179204"/>
            <p:cNvSpPr/>
            <p:nvPr>
              <p:custDataLst>
                <p:tags r:id="rId3"/>
              </p:custDataLst>
            </p:nvPr>
          </p:nvSpPr>
          <p:spPr>
            <a:xfrm>
              <a:off x="1217" y="74"/>
              <a:ext cx="667" cy="1576"/>
            </a:xfrm>
            <a:prstGeom prst="rect">
              <a:avLst/>
            </a:prstGeom>
            <a:noFill/>
            <a:ln w="28575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zh-CN" altLang="en-US" sz="2400" b="1">
                  <a:latin typeface="Tahoma" panose="020B0604030504040204" pitchFamily="34" charset="0"/>
                  <a:ea typeface="宋体" panose="02010600030101010101" pitchFamily="2" charset="-122"/>
                </a:rPr>
                <a:t>内存</a:t>
              </a:r>
              <a:endParaRPr lang="zh-CN" altLang="en-US" sz="2400" b="1">
                <a:latin typeface="Tahoma" panose="020B0604030504040204" pitchFamily="34" charset="0"/>
                <a:ea typeface="宋体" panose="02010600030101010101" pitchFamily="2" charset="-122"/>
              </a:endParaRPr>
            </a:p>
            <a:p>
              <a:pPr algn="ctr"/>
              <a:r>
                <a:rPr lang="zh-CN" altLang="en-US" sz="2400" b="1">
                  <a:latin typeface="Tahoma" panose="020B0604030504040204" pitchFamily="34" charset="0"/>
                  <a:ea typeface="宋体" panose="02010600030101010101" pitchFamily="2" charset="-122"/>
                </a:rPr>
                <a:t>空间</a:t>
              </a:r>
              <a:endParaRPr lang="zh-CN" altLang="en-US" sz="2400" b="1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7413" name="矩形 179205"/>
            <p:cNvSpPr/>
            <p:nvPr>
              <p:custDataLst>
                <p:tags r:id="rId4"/>
              </p:custDataLst>
            </p:nvPr>
          </p:nvSpPr>
          <p:spPr>
            <a:xfrm>
              <a:off x="548" y="1087"/>
              <a:ext cx="667" cy="563"/>
            </a:xfrm>
            <a:prstGeom prst="rect">
              <a:avLst/>
            </a:prstGeom>
            <a:solidFill>
              <a:srgbClr val="A6ADC0"/>
            </a:solidFill>
            <a:ln w="28575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400" b="1">
                  <a:latin typeface="Tahoma" panose="020B0604030504040204" pitchFamily="34" charset="0"/>
                  <a:ea typeface="宋体" panose="02010600030101010101" pitchFamily="2" charset="-122"/>
                </a:rPr>
                <a:t>I/O</a:t>
              </a:r>
              <a:endParaRPr lang="en-US" altLang="zh-CN" sz="2400" b="1">
                <a:latin typeface="Tahoma" panose="020B0604030504040204" pitchFamily="34" charset="0"/>
                <a:ea typeface="宋体" panose="02010600030101010101" pitchFamily="2" charset="-122"/>
              </a:endParaRPr>
            </a:p>
            <a:p>
              <a:pPr algn="ctr"/>
              <a:r>
                <a:rPr lang="zh-CN" altLang="en-US" sz="2400" b="1">
                  <a:latin typeface="Tahoma" panose="020B0604030504040204" pitchFamily="34" charset="0"/>
                  <a:ea typeface="宋体" panose="02010600030101010101" pitchFamily="2" charset="-122"/>
                </a:rPr>
                <a:t>空间</a:t>
              </a:r>
              <a:endParaRPr lang="zh-CN" altLang="en-US" sz="2400" b="1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7414" name="文本框 179206"/>
            <p:cNvSpPr txBox="1"/>
            <p:nvPr>
              <p:custDataLst>
                <p:tags r:id="rId5"/>
              </p:custDataLst>
            </p:nvPr>
          </p:nvSpPr>
          <p:spPr>
            <a:xfrm>
              <a:off x="486" y="0"/>
              <a:ext cx="745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400">
                  <a:latin typeface="Tahoma" panose="020B0604030504040204" pitchFamily="34" charset="0"/>
                  <a:ea typeface="宋体" panose="02010600030101010101" pitchFamily="2" charset="-122"/>
                </a:rPr>
                <a:t>FFFFFH</a:t>
              </a:r>
              <a:endParaRPr lang="en-US" altLang="zh-CN" sz="24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7415" name="文本框 179207"/>
            <p:cNvSpPr txBox="1"/>
            <p:nvPr>
              <p:custDataLst>
                <p:tags r:id="rId6"/>
              </p:custDataLst>
            </p:nvPr>
          </p:nvSpPr>
          <p:spPr>
            <a:xfrm>
              <a:off x="292" y="1500"/>
              <a:ext cx="22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400">
                  <a:latin typeface="Tahoma" panose="020B0604030504040204" pitchFamily="34" charset="0"/>
                  <a:ea typeface="宋体" panose="02010600030101010101" pitchFamily="2" charset="-122"/>
                </a:rPr>
                <a:t>0</a:t>
              </a:r>
              <a:endParaRPr lang="en-US" altLang="zh-CN" sz="24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7416" name="文本框 179208"/>
            <p:cNvSpPr txBox="1"/>
            <p:nvPr>
              <p:custDataLst>
                <p:tags r:id="rId7"/>
              </p:custDataLst>
            </p:nvPr>
          </p:nvSpPr>
          <p:spPr>
            <a:xfrm>
              <a:off x="-45" y="1014"/>
              <a:ext cx="645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400">
                  <a:latin typeface="Tahoma" panose="020B0604030504040204" pitchFamily="34" charset="0"/>
                  <a:ea typeface="宋体" panose="02010600030101010101" pitchFamily="2" charset="-122"/>
                </a:rPr>
                <a:t>FFFFH</a:t>
              </a:r>
              <a:endParaRPr lang="en-US" altLang="zh-CN" sz="24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593725" y="1989455"/>
            <a:ext cx="5574030" cy="2009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rgbClr val="C00000"/>
                </a:solidFill>
                <a:sym typeface="+mn-ea"/>
              </a:rPr>
              <a:t>优点</a:t>
            </a:r>
            <a:r>
              <a:rPr lang="zh-CN" altLang="en-US" b="1">
                <a:sym typeface="+mn-ea"/>
              </a:rPr>
              <a:t>：</a:t>
            </a:r>
            <a:endParaRPr lang="zh-CN" altLang="en-US" b="1"/>
          </a:p>
          <a:p>
            <a:pPr marL="800100" lvl="1" indent="-342900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en-US" altLang="zh-CN" b="1">
                <a:sym typeface="+mn-ea"/>
              </a:rPr>
              <a:t>I/O</a:t>
            </a:r>
            <a:r>
              <a:rPr lang="zh-CN" altLang="en-US" b="1">
                <a:sym typeface="+mn-ea"/>
              </a:rPr>
              <a:t>端口的地址空间独立</a:t>
            </a:r>
            <a:endParaRPr lang="zh-CN" altLang="en-US" b="1"/>
          </a:p>
          <a:p>
            <a:pPr marL="800100" lvl="1" indent="-342900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zh-CN" altLang="en-US" b="1">
                <a:sym typeface="+mn-ea"/>
              </a:rPr>
              <a:t>控制和地址译码电路相对简单</a:t>
            </a:r>
            <a:endParaRPr lang="zh-CN" altLang="en-US" b="1"/>
          </a:p>
          <a:p>
            <a:pPr marL="800100" lvl="1" indent="-342900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zh-CN" altLang="en-US" b="1">
                <a:sym typeface="+mn-ea"/>
              </a:rPr>
              <a:t>专门的</a:t>
            </a:r>
            <a:r>
              <a:rPr lang="en-US" altLang="zh-CN" b="1">
                <a:sym typeface="+mn-ea"/>
              </a:rPr>
              <a:t>I/O</a:t>
            </a:r>
            <a:r>
              <a:rPr lang="zh-CN" altLang="en-US" b="1">
                <a:sym typeface="+mn-ea"/>
              </a:rPr>
              <a:t>指令使程序清晰易读</a:t>
            </a:r>
            <a:endParaRPr lang="zh-CN" altLang="en-US" b="1"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93725" y="4109720"/>
            <a:ext cx="5212715" cy="9036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rgbClr val="C00000"/>
                </a:solidFill>
                <a:sym typeface="+mn-ea"/>
              </a:rPr>
              <a:t>缺点</a:t>
            </a:r>
            <a:r>
              <a:rPr lang="zh-CN" altLang="en-US" b="1">
                <a:sym typeface="+mn-ea"/>
              </a:rPr>
              <a:t>：</a:t>
            </a:r>
            <a:endParaRPr lang="zh-CN" altLang="en-US" b="1"/>
          </a:p>
          <a:p>
            <a:pPr marL="800100" lvl="1" indent="-342900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en-US" altLang="zh-CN" b="1">
                <a:sym typeface="+mn-ea"/>
              </a:rPr>
              <a:t>I/O</a:t>
            </a:r>
            <a:r>
              <a:rPr lang="zh-CN" altLang="en-US" b="1">
                <a:sym typeface="+mn-ea"/>
              </a:rPr>
              <a:t>指令没有存储器指令丰富</a:t>
            </a:r>
            <a:endParaRPr lang="zh-CN" altLang="en-US" b="1">
              <a:sym typeface="+mn-ea"/>
            </a:endParaRPr>
          </a:p>
        </p:txBody>
      </p:sp>
      <p:sp>
        <p:nvSpPr>
          <p:cNvPr id="179210" name="圆角矩形 179209" descr="096"/>
          <p:cNvSpPr/>
          <p:nvPr>
            <p:custDataLst>
              <p:tags r:id="rId8"/>
            </p:custDataLst>
          </p:nvPr>
        </p:nvSpPr>
        <p:spPr>
          <a:xfrm>
            <a:off x="3131820" y="5373370"/>
            <a:ext cx="5545138" cy="719138"/>
          </a:xfrm>
          <a:prstGeom prst="roundRect">
            <a:avLst>
              <a:gd name="adj" fmla="val 16667"/>
            </a:avLst>
          </a:prstGeom>
          <a:blipFill rotWithShape="0">
            <a:blip r:embed="rId9"/>
            <a:stretch>
              <a:fillRect/>
            </a:stretch>
          </a:blipFill>
          <a:ln w="9525">
            <a:noFill/>
          </a:ln>
          <a:effectLst>
            <a:outerShdw dist="107763" dir="2699999" algn="ctr" rotWithShape="0">
              <a:srgbClr val="808080"/>
            </a:outerShdw>
          </a:effectLst>
        </p:spPr>
        <p:txBody>
          <a:bodyPr wrap="none" anchor="ctr" anchorCtr="0"/>
          <a:p>
            <a:pPr algn="ctr">
              <a:lnSpc>
                <a:spcPct val="80000"/>
              </a:lnSpc>
            </a:pPr>
            <a:r>
              <a:rPr lang="en-US" altLang="zh-CN" sz="2800" b="1">
                <a:latin typeface="Tahoma" panose="020B0604030504040204" pitchFamily="34" charset="0"/>
                <a:ea typeface="宋体" panose="02010600030101010101" pitchFamily="2" charset="-122"/>
              </a:rPr>
              <a:t>80x86</a:t>
            </a:r>
            <a:r>
              <a:rPr lang="zh-CN" altLang="en-US" sz="2800" b="1">
                <a:latin typeface="Tahoma" panose="020B0604030504040204" pitchFamily="34" charset="0"/>
                <a:ea typeface="宋体" panose="02010600030101010101" pitchFamily="2" charset="-122"/>
              </a:rPr>
              <a:t>采用</a:t>
            </a:r>
            <a:r>
              <a:rPr lang="en-US" altLang="zh-CN" sz="2800" b="1">
                <a:latin typeface="Tahoma" panose="020B0604030504040204" pitchFamily="34" charset="0"/>
                <a:ea typeface="宋体" panose="02010600030101010101" pitchFamily="2" charset="-122"/>
              </a:rPr>
              <a:t>I/O</a:t>
            </a:r>
            <a:r>
              <a:rPr lang="zh-CN" altLang="en-US" sz="2800" b="1">
                <a:latin typeface="Tahoma" panose="020B0604030504040204" pitchFamily="34" charset="0"/>
                <a:ea typeface="宋体" panose="02010600030101010101" pitchFamily="2" charset="-122"/>
              </a:rPr>
              <a:t>端口独立编址</a:t>
            </a:r>
            <a:endParaRPr lang="zh-CN" altLang="en-US" sz="2800" b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792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792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792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792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79210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3" name="矩形 59"/>
          <p:cNvSpPr/>
          <p:nvPr>
            <p:custDataLst>
              <p:tags r:id="rId1"/>
            </p:custDataLst>
          </p:nvPr>
        </p:nvSpPr>
        <p:spPr>
          <a:xfrm>
            <a:off x="822325" y="501650"/>
            <a:ext cx="638175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 algn="l"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5.1.1 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基本知识</a:t>
            </a:r>
            <a:endParaRPr lang="zh-CN" altLang="en-US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130" name="Rectangle 17"/>
          <p:cNvSpPr/>
          <p:nvPr>
            <p:custDataLst>
              <p:tags r:id="rId2"/>
            </p:custDataLst>
          </p:nvPr>
        </p:nvSpPr>
        <p:spPr>
          <a:xfrm>
            <a:off x="593725" y="1501775"/>
            <a:ext cx="776160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l">
              <a:spcBef>
                <a:spcPct val="45000"/>
              </a:spcBef>
            </a:pPr>
            <a:r>
              <a:rPr lang="en-US" altLang="zh-CN" b="1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3. </a:t>
            </a:r>
            <a:r>
              <a:rPr b="1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I/O 端口的编址方式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——</a:t>
            </a:r>
            <a:r>
              <a:rPr lang="en-US" altLang="zh-CN" b="1">
                <a:solidFill>
                  <a:srgbClr val="0000FF"/>
                </a:solidFill>
                <a:sym typeface="+mn-ea"/>
              </a:rPr>
              <a:t>I/O</a:t>
            </a:r>
            <a:r>
              <a:rPr lang="zh-CN" altLang="en-US" b="1">
                <a:solidFill>
                  <a:srgbClr val="0000FF"/>
                </a:solidFill>
                <a:sym typeface="+mn-ea"/>
              </a:rPr>
              <a:t>端口与</a:t>
            </a:r>
            <a:r>
              <a:rPr lang="zh-CN" altLang="en-US" b="1" dirty="0">
                <a:solidFill>
                  <a:srgbClr val="3333FF"/>
                </a:solidFill>
                <a:latin typeface="Times New Roman" panose="02020603050405020304" pitchFamily="18" charset="0"/>
                <a:sym typeface="+mn-ea"/>
              </a:rPr>
              <a:t>内存</a:t>
            </a:r>
            <a:r>
              <a:rPr lang="zh-CN" altLang="en-US" b="1">
                <a:solidFill>
                  <a:srgbClr val="0000FF"/>
                </a:solidFill>
                <a:sym typeface="+mn-ea"/>
              </a:rPr>
              <a:t>统一编址</a:t>
            </a:r>
            <a:endParaRPr b="1" dirty="0">
              <a:solidFill>
                <a:schemeClr val="tx1"/>
              </a:solidFill>
              <a:latin typeface="Times New Roman" panose="02020603050405020304" pitchFamily="18" charset="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93725" y="1989455"/>
            <a:ext cx="5574030" cy="2009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rgbClr val="C00000"/>
                </a:solidFill>
                <a:sym typeface="+mn-ea"/>
              </a:rPr>
              <a:t>优点</a:t>
            </a:r>
            <a:r>
              <a:rPr lang="zh-CN" altLang="en-US" b="1">
                <a:sym typeface="+mn-ea"/>
              </a:rPr>
              <a:t>：</a:t>
            </a:r>
            <a:endParaRPr lang="zh-CN" altLang="en-US" b="1"/>
          </a:p>
          <a:p>
            <a:pPr marL="800100" lvl="1" indent="-342900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zh-CN" altLang="en-US" b="1">
                <a:sym typeface="+mn-ea"/>
              </a:rPr>
              <a:t>不需要专门的</a:t>
            </a:r>
            <a:r>
              <a:rPr lang="en-US" altLang="zh-CN" b="1">
                <a:sym typeface="+mn-ea"/>
              </a:rPr>
              <a:t>I/O</a:t>
            </a:r>
            <a:r>
              <a:rPr lang="zh-CN" altLang="en-US" b="1">
                <a:sym typeface="+mn-ea"/>
              </a:rPr>
              <a:t>指令</a:t>
            </a:r>
            <a:endParaRPr lang="zh-CN" altLang="en-US" b="1">
              <a:sym typeface="+mn-ea"/>
            </a:endParaRPr>
          </a:p>
          <a:p>
            <a:pPr marL="800100" lvl="1" indent="-342900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en-US" altLang="zh-CN" b="1">
                <a:sym typeface="+mn-ea"/>
              </a:rPr>
              <a:t>I/O</a:t>
            </a:r>
            <a:r>
              <a:rPr lang="zh-CN" altLang="en-US" b="1">
                <a:sym typeface="+mn-ea"/>
              </a:rPr>
              <a:t>数据存取与存储器数据存取一样灵活</a:t>
            </a:r>
            <a:endParaRPr lang="zh-CN" altLang="en-US" b="1"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93725" y="4109720"/>
            <a:ext cx="5212715" cy="23374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rgbClr val="C00000"/>
                </a:solidFill>
                <a:sym typeface="+mn-ea"/>
              </a:rPr>
              <a:t>缺点</a:t>
            </a:r>
            <a:r>
              <a:rPr lang="zh-CN" altLang="en-US" b="1">
                <a:sym typeface="+mn-ea"/>
              </a:rPr>
              <a:t>：</a:t>
            </a:r>
            <a:endParaRPr lang="zh-CN" altLang="en-US" b="1"/>
          </a:p>
          <a:p>
            <a:pPr marL="800100" lvl="1" indent="-342900" algn="l">
              <a:lnSpc>
                <a:spcPct val="13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en-US" b="1">
                <a:sym typeface="+mn-ea"/>
              </a:rPr>
              <a:t>I/O端口要占去部分存储器地址空间</a:t>
            </a:r>
            <a:endParaRPr lang="zh-CN" altLang="en-US" b="1">
              <a:sym typeface="+mn-ea"/>
            </a:endParaRPr>
          </a:p>
          <a:p>
            <a:pPr marL="800100" lvl="1" indent="-342900" algn="l">
              <a:lnSpc>
                <a:spcPct val="13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en-US" b="1">
                <a:sym typeface="+mn-ea"/>
              </a:rPr>
              <a:t>程序不易阅读（不易分清访存和访问外设）</a:t>
            </a:r>
            <a:endParaRPr lang="zh-CN" altLang="en-US" b="1"/>
          </a:p>
          <a:p>
            <a:pPr marL="800100" lvl="1" indent="-342900">
              <a:lnSpc>
                <a:spcPct val="120000"/>
              </a:lnSpc>
              <a:buFont typeface="Wingdings" panose="05000000000000000000" charset="0"/>
              <a:buChar char="Ø"/>
            </a:pPr>
            <a:endParaRPr lang="zh-CN" altLang="en-US" b="1">
              <a:sym typeface="+mn-ea"/>
            </a:endParaRPr>
          </a:p>
        </p:txBody>
      </p:sp>
      <p:grpSp>
        <p:nvGrpSpPr>
          <p:cNvPr id="18435" name="组合 180227"/>
          <p:cNvGrpSpPr/>
          <p:nvPr/>
        </p:nvGrpSpPr>
        <p:grpSpPr>
          <a:xfrm>
            <a:off x="5653280" y="2564448"/>
            <a:ext cx="3096385" cy="3948112"/>
            <a:chOff x="220" y="0"/>
            <a:chExt cx="1886" cy="2487"/>
          </a:xfrm>
        </p:grpSpPr>
        <p:sp>
          <p:nvSpPr>
            <p:cNvPr id="18436" name="矩形 180228"/>
            <p:cNvSpPr/>
            <p:nvPr>
              <p:custDataLst>
                <p:tags r:id="rId3"/>
              </p:custDataLst>
            </p:nvPr>
          </p:nvSpPr>
          <p:spPr>
            <a:xfrm>
              <a:off x="1439" y="83"/>
              <a:ext cx="667" cy="1576"/>
            </a:xfrm>
            <a:prstGeom prst="rect">
              <a:avLst/>
            </a:prstGeom>
            <a:noFill/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zh-CN" altLang="en-US" sz="2400" b="1">
                  <a:latin typeface="Tahoma" panose="020B0604030504040204" pitchFamily="34" charset="0"/>
                  <a:ea typeface="宋体" panose="02010600030101010101" pitchFamily="2" charset="-122"/>
                </a:rPr>
                <a:t>内存</a:t>
              </a:r>
              <a:endParaRPr lang="zh-CN" altLang="en-US" sz="2400" b="1">
                <a:latin typeface="Tahoma" panose="020B0604030504040204" pitchFamily="34" charset="0"/>
                <a:ea typeface="宋体" panose="02010600030101010101" pitchFamily="2" charset="-122"/>
              </a:endParaRPr>
            </a:p>
            <a:p>
              <a:pPr algn="ctr"/>
              <a:r>
                <a:rPr lang="zh-CN" altLang="en-US" sz="2400" b="1">
                  <a:latin typeface="Tahoma" panose="020B0604030504040204" pitchFamily="34" charset="0"/>
                  <a:ea typeface="宋体" panose="02010600030101010101" pitchFamily="2" charset="-122"/>
                </a:rPr>
                <a:t>部分</a:t>
              </a:r>
              <a:endParaRPr lang="zh-CN" altLang="en-US" sz="2400" b="1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8437" name="矩形 180229"/>
            <p:cNvSpPr/>
            <p:nvPr>
              <p:custDataLst>
                <p:tags r:id="rId4"/>
              </p:custDataLst>
            </p:nvPr>
          </p:nvSpPr>
          <p:spPr>
            <a:xfrm>
              <a:off x="1438" y="1656"/>
              <a:ext cx="667" cy="730"/>
            </a:xfrm>
            <a:prstGeom prst="rect">
              <a:avLst/>
            </a:prstGeom>
            <a:solidFill>
              <a:srgbClr val="A6ADC0"/>
            </a:solidFill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400" b="1">
                  <a:latin typeface="Tahoma" panose="020B0604030504040204" pitchFamily="34" charset="0"/>
                  <a:ea typeface="宋体" panose="02010600030101010101" pitchFamily="2" charset="-122"/>
                </a:rPr>
                <a:t>I/O</a:t>
              </a:r>
              <a:endParaRPr lang="en-US" altLang="zh-CN" sz="2400" b="1">
                <a:latin typeface="Tahoma" panose="020B0604030504040204" pitchFamily="34" charset="0"/>
                <a:ea typeface="宋体" panose="02010600030101010101" pitchFamily="2" charset="-122"/>
              </a:endParaRPr>
            </a:p>
            <a:p>
              <a:pPr algn="ctr"/>
              <a:r>
                <a:rPr lang="zh-CN" altLang="en-US" sz="2400" b="1">
                  <a:latin typeface="Tahoma" panose="020B0604030504040204" pitchFamily="34" charset="0"/>
                  <a:ea typeface="宋体" panose="02010600030101010101" pitchFamily="2" charset="-122"/>
                </a:rPr>
                <a:t>部分</a:t>
              </a:r>
              <a:endParaRPr lang="zh-CN" altLang="en-US" sz="2400" b="1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8438" name="左大括号 180230"/>
            <p:cNvSpPr/>
            <p:nvPr>
              <p:custDataLst>
                <p:tags r:id="rId5"/>
              </p:custDataLst>
            </p:nvPr>
          </p:nvSpPr>
          <p:spPr>
            <a:xfrm>
              <a:off x="1257" y="97"/>
              <a:ext cx="106" cy="2274"/>
            </a:xfrm>
            <a:prstGeom prst="leftBrace">
              <a:avLst>
                <a:gd name="adj1" fmla="val 178376"/>
                <a:gd name="adj2" fmla="val 50000"/>
              </a:avLst>
            </a:prstGeom>
            <a:noFill/>
            <a:ln w="9525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Arial" panose="020B0604020202020204" pitchFamily="34" charset="0"/>
                <a:ea typeface="隶书" panose="02010509060101010101" pitchFamily="49" charset="-122"/>
              </a:endParaRPr>
            </a:p>
          </p:txBody>
        </p:sp>
        <p:sp>
          <p:nvSpPr>
            <p:cNvPr id="18439" name="文本框 180231"/>
            <p:cNvSpPr txBox="1"/>
            <p:nvPr>
              <p:custDataLst>
                <p:tags r:id="rId6"/>
              </p:custDataLst>
            </p:nvPr>
          </p:nvSpPr>
          <p:spPr>
            <a:xfrm>
              <a:off x="220" y="1083"/>
              <a:ext cx="1107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r>
                <a:rPr lang="zh-CN" altLang="en-US" sz="2400" b="1">
                  <a:solidFill>
                    <a:srgbClr val="A50021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存储器空间</a:t>
              </a:r>
              <a:endParaRPr lang="zh-CN" altLang="en-US" sz="2400" b="1">
                <a:solidFill>
                  <a:srgbClr val="A50021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8440" name="文本框 180232"/>
            <p:cNvSpPr txBox="1"/>
            <p:nvPr>
              <p:custDataLst>
                <p:tags r:id="rId7"/>
              </p:custDataLst>
            </p:nvPr>
          </p:nvSpPr>
          <p:spPr>
            <a:xfrm>
              <a:off x="699" y="2197"/>
              <a:ext cx="743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400">
                  <a:latin typeface="Tahoma" panose="020B0604030504040204" pitchFamily="34" charset="0"/>
                  <a:ea typeface="宋体" panose="02010600030101010101" pitchFamily="2" charset="-122"/>
                </a:rPr>
                <a:t>00000H</a:t>
              </a:r>
              <a:endParaRPr lang="en-US" altLang="zh-CN" sz="24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8441" name="文本框 180233"/>
            <p:cNvSpPr txBox="1"/>
            <p:nvPr>
              <p:custDataLst>
                <p:tags r:id="rId8"/>
              </p:custDataLst>
            </p:nvPr>
          </p:nvSpPr>
          <p:spPr>
            <a:xfrm>
              <a:off x="724" y="0"/>
              <a:ext cx="720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en-US" altLang="zh-CN" sz="2400">
                  <a:latin typeface="Tahoma" panose="020B0604030504040204" pitchFamily="34" charset="0"/>
                  <a:ea typeface="宋体" panose="02010600030101010101" pitchFamily="2" charset="-122"/>
                </a:rPr>
                <a:t>FFFFFH</a:t>
              </a:r>
              <a:endParaRPr lang="en-US" altLang="zh-CN" sz="24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3" name="矩形 59"/>
          <p:cNvSpPr/>
          <p:nvPr>
            <p:custDataLst>
              <p:tags r:id="rId1"/>
            </p:custDataLst>
          </p:nvPr>
        </p:nvSpPr>
        <p:spPr>
          <a:xfrm>
            <a:off x="822325" y="501650"/>
            <a:ext cx="638175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 algn="l"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5.1.1 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基本知识</a:t>
            </a:r>
            <a:endParaRPr lang="zh-CN" altLang="en-US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130" name="Rectangle 17"/>
          <p:cNvSpPr/>
          <p:nvPr>
            <p:custDataLst>
              <p:tags r:id="rId2"/>
            </p:custDataLst>
          </p:nvPr>
        </p:nvSpPr>
        <p:spPr>
          <a:xfrm>
            <a:off x="593725" y="1501775"/>
            <a:ext cx="776160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l">
              <a:spcBef>
                <a:spcPct val="45000"/>
              </a:spcBef>
            </a:pPr>
            <a:r>
              <a:rPr lang="en-US" altLang="zh-CN" b="1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4. 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接口电路基本结构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sym typeface="+mn-ea"/>
            </a:endParaRPr>
          </a:p>
        </p:txBody>
      </p:sp>
      <p:grpSp>
        <p:nvGrpSpPr>
          <p:cNvPr id="173059" name="组合 173058"/>
          <p:cNvGrpSpPr/>
          <p:nvPr/>
        </p:nvGrpSpPr>
        <p:grpSpPr>
          <a:xfrm>
            <a:off x="372428" y="2087563"/>
            <a:ext cx="8242300" cy="3889375"/>
            <a:chOff x="0" y="0"/>
            <a:chExt cx="5192" cy="2450"/>
          </a:xfrm>
        </p:grpSpPr>
        <p:sp>
          <p:nvSpPr>
            <p:cNvPr id="11267" name="矩形 173059"/>
            <p:cNvSpPr/>
            <p:nvPr>
              <p:custDataLst>
                <p:tags r:id="rId3"/>
              </p:custDataLst>
            </p:nvPr>
          </p:nvSpPr>
          <p:spPr>
            <a:xfrm>
              <a:off x="695" y="1676"/>
              <a:ext cx="1166" cy="46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2700" tIns="12700" rIns="12700" bIns="12700" anchor="t" anchorCtr="0"/>
            <a:p>
              <a:pPr algn="ctr" eaLnBrk="0" hangingPunct="0"/>
              <a:r>
                <a:rPr lang="zh-CN" altLang="en-US" sz="2400" b="1">
                  <a:latin typeface="Times New Roman" panose="02020603050405020304" pitchFamily="18" charset="0"/>
                  <a:ea typeface="宋体" panose="02010600030101010101" pitchFamily="2" charset="-122"/>
                </a:rPr>
                <a:t>控制总线</a:t>
              </a:r>
              <a:r>
                <a:rPr lang="en-US" altLang="zh-CN" sz="2400" b="1">
                  <a:latin typeface="Times New Roman" panose="02020603050405020304" pitchFamily="18" charset="0"/>
                  <a:ea typeface="宋体" panose="02010600030101010101" pitchFamily="2" charset="-122"/>
                </a:rPr>
                <a:t>CB</a:t>
              </a:r>
              <a:endPara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268" name="矩形 173060"/>
            <p:cNvSpPr/>
            <p:nvPr>
              <p:custDataLst>
                <p:tags r:id="rId4"/>
              </p:custDataLst>
            </p:nvPr>
          </p:nvSpPr>
          <p:spPr>
            <a:xfrm>
              <a:off x="706" y="1013"/>
              <a:ext cx="1107" cy="46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2700" tIns="12700" rIns="12700" bIns="12700" anchor="t" anchorCtr="0"/>
            <a:p>
              <a:pPr algn="ctr" eaLnBrk="0" hangingPunct="0"/>
              <a:r>
                <a:rPr lang="zh-CN" altLang="en-US" sz="2400" b="1">
                  <a:latin typeface="Times New Roman" panose="02020603050405020304" pitchFamily="18" charset="0"/>
                  <a:ea typeface="宋体" panose="02010600030101010101" pitchFamily="2" charset="-122"/>
                </a:rPr>
                <a:t>地址总线</a:t>
              </a:r>
              <a:r>
                <a:rPr lang="en-US" altLang="zh-CN" sz="2400" b="1">
                  <a:latin typeface="Times New Roman" panose="02020603050405020304" pitchFamily="18" charset="0"/>
                  <a:ea typeface="宋体" panose="02010600030101010101" pitchFamily="2" charset="-122"/>
                </a:rPr>
                <a:t>AB</a:t>
              </a:r>
              <a:endPara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269" name="矩形 173061"/>
            <p:cNvSpPr/>
            <p:nvPr>
              <p:custDataLst>
                <p:tags r:id="rId5"/>
              </p:custDataLst>
            </p:nvPr>
          </p:nvSpPr>
          <p:spPr>
            <a:xfrm>
              <a:off x="2108" y="0"/>
              <a:ext cx="1148" cy="413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2700" tIns="12700" rIns="12700" bIns="12700" anchor="t" anchorCtr="0"/>
            <a:p>
              <a:pPr algn="ctr" eaLnBrk="0" hangingPunct="0"/>
              <a:r>
                <a:rPr lang="en-US" altLang="zh-CN" sz="2400" b="1">
                  <a:latin typeface="Times New Roman" panose="02020603050405020304" pitchFamily="18" charset="0"/>
                  <a:ea typeface="宋体" panose="02010600030101010101" pitchFamily="2" charset="-122"/>
                </a:rPr>
                <a:t>I/O</a:t>
              </a:r>
              <a:r>
                <a:rPr lang="zh-CN" altLang="en-US" sz="2400" b="1">
                  <a:latin typeface="Times New Roman" panose="02020603050405020304" pitchFamily="18" charset="0"/>
                  <a:ea typeface="宋体" panose="02010600030101010101" pitchFamily="2" charset="-122"/>
                </a:rPr>
                <a:t>接口电路</a:t>
              </a:r>
              <a:endParaRPr lang="zh-CN" altLang="en-US" sz="2400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270" name="矩形 173062"/>
            <p:cNvSpPr/>
            <p:nvPr>
              <p:custDataLst>
                <p:tags r:id="rId6"/>
              </p:custDataLst>
            </p:nvPr>
          </p:nvSpPr>
          <p:spPr>
            <a:xfrm>
              <a:off x="3746" y="408"/>
              <a:ext cx="572" cy="30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2700" tIns="12700" rIns="12700" bIns="12700" anchor="t" anchorCtr="0"/>
            <a:p>
              <a:pPr algn="ctr" eaLnBrk="0" hangingPunct="0"/>
              <a:r>
                <a:rPr lang="zh-CN" altLang="en-US" sz="2400" b="1">
                  <a:latin typeface="Times New Roman" panose="02020603050405020304" pitchFamily="18" charset="0"/>
                  <a:ea typeface="宋体" panose="02010600030101010101" pitchFamily="2" charset="-122"/>
                </a:rPr>
                <a:t>数据</a:t>
              </a:r>
              <a:endParaRPr lang="zh-CN" altLang="en-US" sz="2400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271" name="矩形 173063"/>
            <p:cNvSpPr/>
            <p:nvPr>
              <p:custDataLst>
                <p:tags r:id="rId7"/>
              </p:custDataLst>
            </p:nvPr>
          </p:nvSpPr>
          <p:spPr>
            <a:xfrm>
              <a:off x="3761" y="1734"/>
              <a:ext cx="572" cy="30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2700" tIns="12700" rIns="12700" bIns="12700" anchor="t" anchorCtr="0"/>
            <a:p>
              <a:pPr algn="ctr" eaLnBrk="0" hangingPunct="0"/>
              <a:r>
                <a:rPr lang="zh-CN" altLang="en-US" sz="2400" b="1">
                  <a:latin typeface="Times New Roman" panose="02020603050405020304" pitchFamily="18" charset="0"/>
                  <a:ea typeface="宋体" panose="02010600030101010101" pitchFamily="2" charset="-122"/>
                </a:rPr>
                <a:t>控制</a:t>
              </a:r>
              <a:endParaRPr lang="zh-CN" altLang="en-US" sz="2400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272" name="矩形 173064"/>
            <p:cNvSpPr/>
            <p:nvPr>
              <p:custDataLst>
                <p:tags r:id="rId8"/>
              </p:custDataLst>
            </p:nvPr>
          </p:nvSpPr>
          <p:spPr>
            <a:xfrm>
              <a:off x="3746" y="1070"/>
              <a:ext cx="572" cy="30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2700" tIns="12700" rIns="12700" bIns="12700" anchor="t" anchorCtr="0"/>
            <a:p>
              <a:pPr algn="ctr" eaLnBrk="0" hangingPunct="0"/>
              <a:r>
                <a:rPr lang="zh-CN" altLang="en-US" sz="2400" b="1">
                  <a:latin typeface="Times New Roman" panose="02020603050405020304" pitchFamily="18" charset="0"/>
                  <a:ea typeface="宋体" panose="02010600030101010101" pitchFamily="2" charset="-122"/>
                </a:rPr>
                <a:t>状态</a:t>
              </a:r>
              <a:endParaRPr lang="zh-CN" altLang="en-US" sz="2400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273" name="矩形 173065"/>
            <p:cNvSpPr/>
            <p:nvPr>
              <p:custDataLst>
                <p:tags r:id="rId9"/>
              </p:custDataLst>
            </p:nvPr>
          </p:nvSpPr>
          <p:spPr>
            <a:xfrm>
              <a:off x="716" y="374"/>
              <a:ext cx="1166" cy="46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2700" tIns="12700" rIns="12700" bIns="12700" anchor="t" anchorCtr="0"/>
            <a:p>
              <a:pPr algn="ctr" eaLnBrk="0" hangingPunct="0"/>
              <a:r>
                <a:rPr lang="zh-CN" altLang="en-US" sz="2400" b="1">
                  <a:latin typeface="Times New Roman" panose="02020603050405020304" pitchFamily="18" charset="0"/>
                  <a:ea typeface="宋体" panose="02010600030101010101" pitchFamily="2" charset="-122"/>
                </a:rPr>
                <a:t>数据总线</a:t>
              </a:r>
              <a:r>
                <a:rPr lang="en-US" altLang="zh-CN" sz="2400" b="1">
                  <a:latin typeface="Times New Roman" panose="02020603050405020304" pitchFamily="18" charset="0"/>
                  <a:ea typeface="宋体" panose="02010600030101010101" pitchFamily="2" charset="-122"/>
                </a:rPr>
                <a:t>DB</a:t>
              </a:r>
              <a:endPara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274" name="矩形 173066"/>
            <p:cNvSpPr/>
            <p:nvPr>
              <p:custDataLst>
                <p:tags r:id="rId10"/>
              </p:custDataLst>
            </p:nvPr>
          </p:nvSpPr>
          <p:spPr>
            <a:xfrm>
              <a:off x="0" y="382"/>
              <a:ext cx="682" cy="206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2700" tIns="12700" rIns="12700" bIns="12700" anchor="t" anchorCtr="0"/>
            <a:p>
              <a:pPr algn="ctr" eaLnBrk="0" hangingPunct="0"/>
              <a:endPara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 eaLnBrk="0" hangingPunct="0"/>
              <a:endPara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 eaLnBrk="0" hangingPunct="0"/>
              <a:r>
                <a:rPr lang="en-US" altLang="zh-CN" sz="2400" b="1">
                  <a:latin typeface="Times New Roman" panose="02020603050405020304" pitchFamily="18" charset="0"/>
                  <a:ea typeface="宋体" panose="02010600030101010101" pitchFamily="2" charset="-122"/>
                </a:rPr>
                <a:t>CPU</a:t>
              </a:r>
              <a:endPara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275" name="矩形 173067"/>
            <p:cNvSpPr/>
            <p:nvPr>
              <p:custDataLst>
                <p:tags r:id="rId11"/>
              </p:custDataLst>
            </p:nvPr>
          </p:nvSpPr>
          <p:spPr>
            <a:xfrm>
              <a:off x="4510" y="382"/>
              <a:ext cx="682" cy="206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2700" tIns="12700" rIns="12700" bIns="12700" anchor="t" anchorCtr="0"/>
            <a:p>
              <a:pPr algn="ctr" eaLnBrk="0" hangingPunct="0"/>
              <a:endPara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 eaLnBrk="0" hangingPunct="0"/>
              <a:endPara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 eaLnBrk="0" hangingPunct="0"/>
              <a:r>
                <a:rPr lang="zh-CN" altLang="en-US" sz="2400" b="1">
                  <a:latin typeface="Times New Roman" panose="02020603050405020304" pitchFamily="18" charset="0"/>
                  <a:ea typeface="宋体" panose="02010600030101010101" pitchFamily="2" charset="-122"/>
                </a:rPr>
                <a:t>外设</a:t>
              </a:r>
              <a:endParaRPr lang="zh-CN" altLang="en-US" sz="2400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11276" name="组合 173068"/>
            <p:cNvGrpSpPr/>
            <p:nvPr/>
          </p:nvGrpSpPr>
          <p:grpSpPr>
            <a:xfrm>
              <a:off x="2186" y="547"/>
              <a:ext cx="1152" cy="1708"/>
              <a:chOff x="0" y="0"/>
              <a:chExt cx="20000" cy="19999"/>
            </a:xfrm>
          </p:grpSpPr>
          <p:sp>
            <p:nvSpPr>
              <p:cNvPr id="11277" name="矩形 173069"/>
              <p:cNvSpPr/>
              <p:nvPr>
                <p:custDataLst>
                  <p:tags r:id="rId12"/>
                </p:custDataLst>
              </p:nvPr>
            </p:nvSpPr>
            <p:spPr>
              <a:xfrm>
                <a:off x="0" y="15299"/>
                <a:ext cx="20000" cy="4700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12700" tIns="12700" rIns="12700" bIns="12700" anchor="t" anchorCtr="0"/>
              <a:p>
                <a:pPr algn="ctr" eaLnBrk="0" hangingPunct="0"/>
                <a:r>
                  <a:rPr lang="zh-CN" altLang="en-US" sz="2400" b="1">
                    <a:solidFill>
                      <a:srgbClr val="A5002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控制寄存器</a:t>
                </a:r>
                <a:endParaRPr lang="zh-CN" altLang="en-US" sz="2400" b="1">
                  <a:solidFill>
                    <a:srgbClr val="A5002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278" name="矩形 173070"/>
              <p:cNvSpPr/>
              <p:nvPr>
                <p:custDataLst>
                  <p:tags r:id="rId13"/>
                </p:custDataLst>
              </p:nvPr>
            </p:nvSpPr>
            <p:spPr>
              <a:xfrm>
                <a:off x="0" y="7524"/>
                <a:ext cx="20000" cy="4700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12700" tIns="12700" rIns="12700" bIns="12700" anchor="t" anchorCtr="0"/>
              <a:p>
                <a:pPr algn="ctr" eaLnBrk="0" hangingPunct="0"/>
                <a:r>
                  <a:rPr lang="zh-CN" altLang="en-US" sz="2400" b="1">
                    <a:solidFill>
                      <a:srgbClr val="A5002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状态寄存器</a:t>
                </a:r>
                <a:endParaRPr lang="zh-CN" altLang="en-US" sz="2400" b="1">
                  <a:solidFill>
                    <a:srgbClr val="A5002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279" name="矩形 173071"/>
              <p:cNvSpPr/>
              <p:nvPr>
                <p:custDataLst>
                  <p:tags r:id="rId14"/>
                </p:custDataLst>
              </p:nvPr>
            </p:nvSpPr>
            <p:spPr>
              <a:xfrm>
                <a:off x="0" y="0"/>
                <a:ext cx="20000" cy="4699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12700" tIns="12700" rIns="12700" bIns="12700" anchor="t" anchorCtr="0"/>
              <a:p>
                <a:pPr algn="ctr" eaLnBrk="0" hangingPunct="0"/>
                <a:r>
                  <a:rPr lang="zh-CN" altLang="en-US" sz="2400" b="1">
                    <a:solidFill>
                      <a:srgbClr val="A5002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数据寄存器</a:t>
                </a:r>
                <a:endParaRPr lang="zh-CN" altLang="en-US" sz="2400" b="1">
                  <a:solidFill>
                    <a:srgbClr val="A5002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1280" name="直接连接符 173072"/>
            <p:cNvSpPr/>
            <p:nvPr>
              <p:custDataLst>
                <p:tags r:id="rId15"/>
              </p:custDataLst>
            </p:nvPr>
          </p:nvSpPr>
          <p:spPr>
            <a:xfrm flipH="1">
              <a:off x="3610" y="1380"/>
              <a:ext cx="884" cy="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sm"/>
            </a:ln>
          </p:spPr>
        </p:sp>
        <p:sp>
          <p:nvSpPr>
            <p:cNvPr id="11281" name="直接连接符 173073"/>
            <p:cNvSpPr/>
            <p:nvPr>
              <p:custDataLst>
                <p:tags r:id="rId16"/>
              </p:custDataLst>
            </p:nvPr>
          </p:nvSpPr>
          <p:spPr>
            <a:xfrm flipV="1">
              <a:off x="2039" y="766"/>
              <a:ext cx="1" cy="63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sm"/>
            </a:ln>
          </p:spPr>
        </p:sp>
        <p:sp>
          <p:nvSpPr>
            <p:cNvPr id="11282" name="直接连接符 173074"/>
            <p:cNvSpPr/>
            <p:nvPr>
              <p:custDataLst>
                <p:tags r:id="rId17"/>
              </p:custDataLst>
            </p:nvPr>
          </p:nvSpPr>
          <p:spPr>
            <a:xfrm>
              <a:off x="2034" y="1398"/>
              <a:ext cx="151" cy="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283" name="直接连接符 173075"/>
            <p:cNvSpPr/>
            <p:nvPr>
              <p:custDataLst>
                <p:tags r:id="rId18"/>
              </p:custDataLst>
            </p:nvPr>
          </p:nvSpPr>
          <p:spPr>
            <a:xfrm>
              <a:off x="1958" y="2013"/>
              <a:ext cx="212" cy="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sm"/>
            </a:ln>
          </p:spPr>
        </p:sp>
        <p:sp>
          <p:nvSpPr>
            <p:cNvPr id="11284" name="直接连接符 173076"/>
            <p:cNvSpPr/>
            <p:nvPr>
              <p:custDataLst>
                <p:tags r:id="rId19"/>
              </p:custDataLst>
            </p:nvPr>
          </p:nvSpPr>
          <p:spPr>
            <a:xfrm flipV="1">
              <a:off x="1958" y="777"/>
              <a:ext cx="1" cy="12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285" name="矩形 173077"/>
            <p:cNvSpPr/>
            <p:nvPr>
              <p:custDataLst>
                <p:tags r:id="rId20"/>
              </p:custDataLst>
            </p:nvPr>
          </p:nvSpPr>
          <p:spPr>
            <a:xfrm>
              <a:off x="1866" y="370"/>
              <a:ext cx="1730" cy="2059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>
                <a:latin typeface="Arial" panose="020B0604020202020204" pitchFamily="34" charset="0"/>
                <a:ea typeface="隶书" panose="02010509060101010101" pitchFamily="49" charset="-122"/>
              </a:endParaRPr>
            </a:p>
          </p:txBody>
        </p:sp>
        <p:sp>
          <p:nvSpPr>
            <p:cNvPr id="11286" name="直接连接符 173078"/>
            <p:cNvSpPr/>
            <p:nvPr>
              <p:custDataLst>
                <p:tags r:id="rId21"/>
              </p:custDataLst>
            </p:nvPr>
          </p:nvSpPr>
          <p:spPr>
            <a:xfrm>
              <a:off x="3595" y="2044"/>
              <a:ext cx="909" cy="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sm"/>
            </a:ln>
          </p:spPr>
        </p:sp>
        <p:sp>
          <p:nvSpPr>
            <p:cNvPr id="11287" name="直接连接符 173079"/>
            <p:cNvSpPr/>
            <p:nvPr>
              <p:custDataLst>
                <p:tags r:id="rId22"/>
              </p:custDataLst>
            </p:nvPr>
          </p:nvSpPr>
          <p:spPr>
            <a:xfrm>
              <a:off x="692" y="1381"/>
              <a:ext cx="1160" cy="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sm"/>
            </a:ln>
          </p:spPr>
        </p:sp>
        <p:sp>
          <p:nvSpPr>
            <p:cNvPr id="11288" name="直接连接符 173080"/>
            <p:cNvSpPr/>
            <p:nvPr>
              <p:custDataLst>
                <p:tags r:id="rId23"/>
              </p:custDataLst>
            </p:nvPr>
          </p:nvSpPr>
          <p:spPr>
            <a:xfrm>
              <a:off x="705" y="2046"/>
              <a:ext cx="1147" cy="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sm"/>
            </a:ln>
          </p:spPr>
        </p:sp>
        <p:sp>
          <p:nvSpPr>
            <p:cNvPr id="11289" name="直接连接符 173081"/>
            <p:cNvSpPr/>
            <p:nvPr>
              <p:custDataLst>
                <p:tags r:id="rId24"/>
              </p:custDataLst>
            </p:nvPr>
          </p:nvSpPr>
          <p:spPr>
            <a:xfrm>
              <a:off x="674" y="760"/>
              <a:ext cx="1497" cy="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triangle" w="sm" len="sm"/>
              <a:tailEnd type="triangle" w="sm" len="sm"/>
            </a:ln>
          </p:spPr>
        </p:sp>
        <p:sp>
          <p:nvSpPr>
            <p:cNvPr id="11290" name="直接连接符 173082"/>
            <p:cNvSpPr/>
            <p:nvPr>
              <p:custDataLst>
                <p:tags r:id="rId25"/>
              </p:custDataLst>
            </p:nvPr>
          </p:nvSpPr>
          <p:spPr>
            <a:xfrm>
              <a:off x="3359" y="738"/>
              <a:ext cx="1157" cy="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triangle" w="sm" len="sm"/>
              <a:tailEnd type="triangle" w="sm" len="sm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30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30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3" name="矩形 59"/>
          <p:cNvSpPr/>
          <p:nvPr>
            <p:custDataLst>
              <p:tags r:id="rId1"/>
            </p:custDataLst>
          </p:nvPr>
        </p:nvSpPr>
        <p:spPr>
          <a:xfrm>
            <a:off x="822325" y="501650"/>
            <a:ext cx="638175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 algn="l"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5.1.1 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基本知识</a:t>
            </a:r>
            <a:endParaRPr lang="zh-CN" altLang="en-US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130" name="Rectangle 17"/>
          <p:cNvSpPr/>
          <p:nvPr>
            <p:custDataLst>
              <p:tags r:id="rId2"/>
            </p:custDataLst>
          </p:nvPr>
        </p:nvSpPr>
        <p:spPr>
          <a:xfrm>
            <a:off x="593725" y="1501775"/>
            <a:ext cx="776160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l">
              <a:spcBef>
                <a:spcPct val="45000"/>
              </a:spcBef>
            </a:pPr>
            <a:r>
              <a:rPr lang="en-US" altLang="zh-CN" b="1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4. 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接口电路基本结构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83260" y="1917065"/>
            <a:ext cx="799401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b="1">
                <a:sym typeface="+mn-ea"/>
              </a:rPr>
              <a:t>CPU</a:t>
            </a:r>
            <a:r>
              <a:rPr lang="zh-CN" altLang="en-US" b="1">
                <a:sym typeface="+mn-ea"/>
              </a:rPr>
              <a:t>与外设需要交换</a:t>
            </a:r>
            <a:r>
              <a:rPr lang="zh-CN" altLang="en-US" b="1">
                <a:solidFill>
                  <a:srgbClr val="C00000"/>
                </a:solidFill>
                <a:sym typeface="+mn-ea"/>
              </a:rPr>
              <a:t>数据、状态和控制信息。</a:t>
            </a:r>
            <a:endParaRPr lang="zh-CN" altLang="en-US" b="1">
              <a:solidFill>
                <a:srgbClr val="C00000"/>
              </a:solidFill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94360" y="2367280"/>
            <a:ext cx="7421245" cy="13087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rgbClr val="0000FF"/>
                </a:solidFill>
                <a:sym typeface="+mn-ea"/>
              </a:rPr>
              <a:t>数据寄存器</a:t>
            </a:r>
            <a:endParaRPr lang="zh-CN" altLang="en-US" b="1">
              <a:solidFill>
                <a:srgbClr val="0000FF"/>
              </a:solidFill>
            </a:endParaRPr>
          </a:p>
          <a:p>
            <a:pPr marL="800100" lvl="2" indent="-342900" algn="l">
              <a:lnSpc>
                <a:spcPct val="11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en-US" b="1">
                <a:sym typeface="+mn-ea"/>
              </a:rPr>
              <a:t>数据</a:t>
            </a:r>
            <a:r>
              <a:rPr lang="zh-CN" altLang="en-US" b="1">
                <a:sym typeface="+mn-ea"/>
              </a:rPr>
              <a:t>输入寄存器：保存外设给CPU的数据</a:t>
            </a:r>
            <a:endParaRPr lang="zh-CN" altLang="en-US" b="1"/>
          </a:p>
          <a:p>
            <a:pPr marL="800100" lvl="2" indent="-342900" algn="l">
              <a:lnSpc>
                <a:spcPct val="11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en-US" b="1">
                <a:sym typeface="+mn-ea"/>
              </a:rPr>
              <a:t>数据</a:t>
            </a:r>
            <a:r>
              <a:rPr lang="zh-CN" altLang="en-US" b="1">
                <a:sym typeface="+mn-ea"/>
              </a:rPr>
              <a:t>输出寄存器：保存</a:t>
            </a:r>
            <a:r>
              <a:rPr lang="zh-CN" altLang="en-US" b="1">
                <a:sym typeface="+mn-ea"/>
              </a:rPr>
              <a:t>CPU给外设的数据</a:t>
            </a:r>
            <a:endParaRPr lang="zh-CN" altLang="en-US" b="1">
              <a:sym typeface="+mn-ea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611505" y="3645535"/>
            <a:ext cx="7960360" cy="13087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rgbClr val="0000FF"/>
                </a:solidFill>
                <a:sym typeface="+mn-ea"/>
              </a:rPr>
              <a:t>状态寄存器</a:t>
            </a:r>
            <a:endParaRPr lang="zh-CN" altLang="en-US" b="1">
              <a:solidFill>
                <a:srgbClr val="0000FF"/>
              </a:solidFill>
            </a:endParaRPr>
          </a:p>
          <a:p>
            <a:pPr marL="800100" lvl="2" indent="-342900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zh-CN" altLang="en-US" b="1">
                <a:sym typeface="+mn-ea"/>
              </a:rPr>
              <a:t>保存外设或接口电路的状态， </a:t>
            </a:r>
            <a:r>
              <a:rPr lang="en-US" altLang="zh-CN" b="1">
                <a:sym typeface="+mn-ea"/>
              </a:rPr>
              <a:t>CPU</a:t>
            </a:r>
            <a:r>
              <a:rPr lang="zh-CN" altLang="en-US" b="1">
                <a:sym typeface="+mn-ea"/>
              </a:rPr>
              <a:t>通过其来了解外设状态</a:t>
            </a:r>
            <a:endParaRPr lang="zh-CN" altLang="en-US" b="1"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612140" y="4937760"/>
            <a:ext cx="8031480" cy="902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rgbClr val="0000FF"/>
                </a:solidFill>
                <a:sym typeface="+mn-ea"/>
              </a:rPr>
              <a:t>控制寄存器</a:t>
            </a:r>
            <a:endParaRPr lang="zh-CN" altLang="en-US" b="1">
              <a:solidFill>
                <a:srgbClr val="0000FF"/>
              </a:solidFill>
            </a:endParaRPr>
          </a:p>
          <a:p>
            <a:pPr marL="800100" lvl="2" indent="-342900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zh-CN" altLang="en-US" b="1">
                <a:sym typeface="+mn-ea"/>
              </a:rPr>
              <a:t>保存</a:t>
            </a:r>
            <a:r>
              <a:rPr lang="en-US" altLang="zh-CN" b="1">
                <a:sym typeface="+mn-ea"/>
              </a:rPr>
              <a:t>CPU</a:t>
            </a:r>
            <a:r>
              <a:rPr lang="zh-CN" altLang="en-US" b="1">
                <a:sym typeface="+mn-ea"/>
              </a:rPr>
              <a:t>给外设或接口电路的命令</a:t>
            </a:r>
            <a:endParaRPr lang="zh-CN" altLang="en-US" b="1">
              <a:sym typeface="+mn-ea"/>
            </a:endParaRPr>
          </a:p>
        </p:txBody>
      </p:sp>
      <p:sp>
        <p:nvSpPr>
          <p:cNvPr id="174084" name="圆角矩形 174083"/>
          <p:cNvSpPr/>
          <p:nvPr>
            <p:custDataLst>
              <p:tags r:id="rId5"/>
            </p:custDataLst>
          </p:nvPr>
        </p:nvSpPr>
        <p:spPr>
          <a:xfrm>
            <a:off x="323215" y="5802409"/>
            <a:ext cx="8684260" cy="999932"/>
          </a:xfrm>
          <a:prstGeom prst="roundRect">
            <a:avLst>
              <a:gd name="adj" fmla="val 16667"/>
            </a:avLst>
          </a:prstGeom>
          <a:solidFill>
            <a:srgbClr val="CCFFCC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ctr" anchorCtr="0">
            <a:spAutoFit/>
          </a:bodyPr>
          <a:p>
            <a:pPr>
              <a:lnSpc>
                <a:spcPct val="110000"/>
              </a:lnSpc>
            </a:pPr>
            <a:r>
              <a:rPr lang="zh-CN" altLang="en-US" sz="2400" b="1">
                <a:latin typeface="Arial" panose="020B0604020202020204" pitchFamily="34" charset="0"/>
                <a:ea typeface="宋体" panose="02010600030101010101" pitchFamily="2" charset="-122"/>
              </a:rPr>
              <a:t>这</a:t>
            </a:r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  <a:r>
              <a:rPr lang="zh-CN" altLang="en-US" sz="2400" b="1">
                <a:latin typeface="Arial" panose="020B0604020202020204" pitchFamily="34" charset="0"/>
                <a:ea typeface="宋体" panose="02010600030101010101" pitchFamily="2" charset="-122"/>
              </a:rPr>
              <a:t>类寄存器分别称为数据端口、状态端口和控制端口，或简称数据口、状态口和控制口，每类端口的数量可能不止一个 </a:t>
            </a:r>
            <a:endParaRPr lang="zh-CN" altLang="en-US" sz="2400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2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3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74084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4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74084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740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174084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3" name="矩形 59"/>
          <p:cNvSpPr/>
          <p:nvPr>
            <p:custDataLst>
              <p:tags r:id="rId1"/>
            </p:custDataLst>
          </p:nvPr>
        </p:nvSpPr>
        <p:spPr>
          <a:xfrm>
            <a:off x="822325" y="501650"/>
            <a:ext cx="638175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 algn="l"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5.1.1 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基本知识</a:t>
            </a:r>
            <a:endParaRPr lang="zh-CN" altLang="en-US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130" name="Rectangle 17"/>
          <p:cNvSpPr/>
          <p:nvPr>
            <p:custDataLst>
              <p:tags r:id="rId2"/>
            </p:custDataLst>
          </p:nvPr>
        </p:nvSpPr>
        <p:spPr>
          <a:xfrm>
            <a:off x="593725" y="1501775"/>
            <a:ext cx="776160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l">
              <a:spcBef>
                <a:spcPct val="45000"/>
              </a:spcBef>
            </a:pPr>
            <a:r>
              <a:rPr lang="en-US" altLang="zh-CN" b="1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5. 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接口电路分类</a:t>
            </a:r>
            <a:endParaRPr lang="en-US" altLang="zh-CN" b="1" dirty="0">
              <a:solidFill>
                <a:schemeClr val="tx1"/>
              </a:solidFill>
              <a:latin typeface="Times New Roman" panose="02020603050405020304" pitchFamily="18" charset="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93090" y="1988820"/>
            <a:ext cx="786003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/>
              <a:t>按数据传送方式分：并行接口和串行接口；</a:t>
            </a:r>
            <a:endParaRPr lang="zh-CN" altLang="en-US" b="1"/>
          </a:p>
        </p:txBody>
      </p:sp>
      <p:sp>
        <p:nvSpPr>
          <p:cNvPr id="5" name="文本框 4"/>
          <p:cNvSpPr txBox="1"/>
          <p:nvPr/>
        </p:nvSpPr>
        <p:spPr>
          <a:xfrm>
            <a:off x="593090" y="2493010"/>
            <a:ext cx="830516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/>
              <a:t>按功能选择的灵活性分：可编程接口和不可编程接口</a:t>
            </a:r>
            <a:endParaRPr lang="zh-CN" altLang="en-US" b="1"/>
          </a:p>
        </p:txBody>
      </p:sp>
      <p:sp>
        <p:nvSpPr>
          <p:cNvPr id="6" name="文本框 5"/>
          <p:cNvSpPr txBox="1"/>
          <p:nvPr/>
        </p:nvSpPr>
        <p:spPr>
          <a:xfrm>
            <a:off x="593090" y="2997200"/>
            <a:ext cx="626364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/>
              <a:t>按通用性分：通用接口和专用接口</a:t>
            </a:r>
            <a:endParaRPr lang="zh-CN" altLang="en-US" b="1"/>
          </a:p>
        </p:txBody>
      </p:sp>
      <p:sp>
        <p:nvSpPr>
          <p:cNvPr id="7" name="文本框 6"/>
          <p:cNvSpPr txBox="1"/>
          <p:nvPr/>
        </p:nvSpPr>
        <p:spPr>
          <a:xfrm>
            <a:off x="593090" y="3501390"/>
            <a:ext cx="786066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/>
              <a:t>按数据控制方式分：程序型接口和 DMA型接口</a:t>
            </a:r>
            <a:endParaRPr lang="zh-CN" altLang="en-US" b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3" name="矩形 59"/>
          <p:cNvSpPr/>
          <p:nvPr>
            <p:custDataLst>
              <p:tags r:id="rId1"/>
            </p:custDataLst>
          </p:nvPr>
        </p:nvSpPr>
        <p:spPr>
          <a:xfrm>
            <a:off x="822325" y="501650"/>
            <a:ext cx="638175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 algn="l"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5.1.1 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基本知识</a:t>
            </a:r>
            <a:endParaRPr lang="zh-CN" altLang="en-US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130" name="Rectangle 17"/>
          <p:cNvSpPr/>
          <p:nvPr>
            <p:custDataLst>
              <p:tags r:id="rId2"/>
            </p:custDataLst>
          </p:nvPr>
        </p:nvSpPr>
        <p:spPr>
          <a:xfrm>
            <a:off x="593725" y="1501775"/>
            <a:ext cx="480695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l">
              <a:spcBef>
                <a:spcPct val="45000"/>
              </a:spcBef>
            </a:pPr>
            <a:r>
              <a:rPr lang="en-US" altLang="zh-CN" b="1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6. </a:t>
            </a:r>
            <a:r>
              <a:rPr lang="zh-CN" altLang="en-US" b="1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输入输出（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I/O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）指令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sym typeface="+mn-ea"/>
            </a:endParaRPr>
          </a:p>
        </p:txBody>
      </p:sp>
      <p:sp>
        <p:nvSpPr>
          <p:cNvPr id="8199" name="Text Box 7"/>
          <p:cNvSpPr txBox="1"/>
          <p:nvPr>
            <p:custDataLst>
              <p:tags r:id="rId3"/>
            </p:custDataLst>
          </p:nvPr>
        </p:nvSpPr>
        <p:spPr>
          <a:xfrm>
            <a:off x="762000" y="1949768"/>
            <a:ext cx="79248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b="1" i="0" dirty="0">
                <a:solidFill>
                  <a:srgbClr val="3333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b="1" i="0" dirty="0">
                <a:solidFill>
                  <a:srgbClr val="3333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b="1" i="0" dirty="0">
                <a:solidFill>
                  <a:srgbClr val="3333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）直接寻址</a:t>
            </a:r>
            <a:r>
              <a:rPr lang="en-US" altLang="zh-CN" b="1" i="0" dirty="0">
                <a:solidFill>
                  <a:srgbClr val="3333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I/O</a:t>
            </a:r>
            <a:r>
              <a:rPr lang="zh-CN" altLang="en-US" b="1" i="0" dirty="0">
                <a:solidFill>
                  <a:srgbClr val="3333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指令</a:t>
            </a:r>
            <a:endParaRPr lang="zh-CN" altLang="en-US" b="1" i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4" name="Group 37"/>
          <p:cNvGrpSpPr/>
          <p:nvPr/>
        </p:nvGrpSpPr>
        <p:grpSpPr>
          <a:xfrm>
            <a:off x="1905000" y="4244658"/>
            <a:ext cx="1981200" cy="1801812"/>
            <a:chOff x="1200" y="768"/>
            <a:chExt cx="1248" cy="1135"/>
          </a:xfrm>
        </p:grpSpPr>
        <p:sp>
          <p:nvSpPr>
            <p:cNvPr id="11268" name="Rectangle 9"/>
            <p:cNvSpPr/>
            <p:nvPr>
              <p:custDataLst>
                <p:tags r:id="rId4"/>
              </p:custDataLst>
            </p:nvPr>
          </p:nvSpPr>
          <p:spPr>
            <a:xfrm>
              <a:off x="1200" y="1008"/>
              <a:ext cx="1248" cy="86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en-US" altLang="zh-CN" b="1" i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/>
              <a:endParaRPr lang="en-US" altLang="zh-CN" b="1" i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/>
              <a:endParaRPr lang="en-US" altLang="zh-CN" b="1" i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/>
              <a:endParaRPr lang="en-US" altLang="zh-CN" b="1" i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269" name="Rectangle 11"/>
            <p:cNvSpPr/>
            <p:nvPr>
              <p:custDataLst>
                <p:tags r:id="rId5"/>
              </p:custDataLst>
            </p:nvPr>
          </p:nvSpPr>
          <p:spPr>
            <a:xfrm>
              <a:off x="1392" y="1354"/>
              <a:ext cx="864" cy="259"/>
            </a:xfrm>
            <a:prstGeom prst="rect">
              <a:avLst/>
            </a:prstGeom>
            <a:solidFill>
              <a:srgbClr val="FF33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b="1" i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270" name="Line 12"/>
            <p:cNvSpPr/>
            <p:nvPr>
              <p:custDataLst>
                <p:tags r:id="rId6"/>
              </p:custDataLst>
            </p:nvPr>
          </p:nvSpPr>
          <p:spPr>
            <a:xfrm>
              <a:off x="1824" y="1354"/>
              <a:ext cx="0" cy="25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271" name="Text Box 13"/>
            <p:cNvSpPr txBox="1"/>
            <p:nvPr>
              <p:custDataLst>
                <p:tags r:id="rId7"/>
              </p:custDataLst>
            </p:nvPr>
          </p:nvSpPr>
          <p:spPr>
            <a:xfrm>
              <a:off x="1353" y="1613"/>
              <a:ext cx="1056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i="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AH      AL</a:t>
              </a:r>
              <a:endParaRPr lang="en-US" altLang="zh-CN" b="1" i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272" name="Text Box 14"/>
            <p:cNvSpPr txBox="1"/>
            <p:nvPr>
              <p:custDataLst>
                <p:tags r:id="rId8"/>
              </p:custDataLst>
            </p:nvPr>
          </p:nvSpPr>
          <p:spPr>
            <a:xfrm>
              <a:off x="1200" y="1008"/>
              <a:ext cx="57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endParaRPr lang="zh-CN" altLang="zh-CN" sz="1800" b="1" i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273" name="Text Box 26"/>
            <p:cNvSpPr txBox="1"/>
            <p:nvPr>
              <p:custDataLst>
                <p:tags r:id="rId9"/>
              </p:custDataLst>
            </p:nvPr>
          </p:nvSpPr>
          <p:spPr>
            <a:xfrm>
              <a:off x="1536" y="768"/>
              <a:ext cx="81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endParaRPr lang="zh-CN" altLang="zh-CN" b="1" i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" name="Group 38"/>
          <p:cNvGrpSpPr/>
          <p:nvPr/>
        </p:nvGrpSpPr>
        <p:grpSpPr>
          <a:xfrm>
            <a:off x="4724400" y="4168458"/>
            <a:ext cx="1981200" cy="1828800"/>
            <a:chOff x="2976" y="720"/>
            <a:chExt cx="1248" cy="1152"/>
          </a:xfrm>
        </p:grpSpPr>
        <p:sp>
          <p:nvSpPr>
            <p:cNvPr id="11275" name="Rectangle 17"/>
            <p:cNvSpPr/>
            <p:nvPr>
              <p:custDataLst>
                <p:tags r:id="rId10"/>
              </p:custDataLst>
            </p:nvPr>
          </p:nvSpPr>
          <p:spPr>
            <a:xfrm>
              <a:off x="2976" y="1008"/>
              <a:ext cx="1248" cy="86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en-US" altLang="zh-CN" b="1" i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/>
              <a:endParaRPr lang="en-US" altLang="zh-CN" b="1" i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/>
              <a:endParaRPr lang="en-US" altLang="zh-CN" b="1" i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/>
              <a:endParaRPr lang="en-US" altLang="zh-CN" b="1" i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276" name="Rectangle 18"/>
            <p:cNvSpPr/>
            <p:nvPr>
              <p:custDataLst>
                <p:tags r:id="rId11"/>
              </p:custDataLst>
            </p:nvPr>
          </p:nvSpPr>
          <p:spPr>
            <a:xfrm>
              <a:off x="3168" y="1224"/>
              <a:ext cx="528" cy="432"/>
            </a:xfrm>
            <a:prstGeom prst="rect">
              <a:avLst/>
            </a:prstGeom>
            <a:solidFill>
              <a:srgbClr val="FF33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b="1" i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277" name="Line 23"/>
            <p:cNvSpPr/>
            <p:nvPr>
              <p:custDataLst>
                <p:tags r:id="rId12"/>
              </p:custDataLst>
            </p:nvPr>
          </p:nvSpPr>
          <p:spPr>
            <a:xfrm>
              <a:off x="3168" y="1440"/>
              <a:ext cx="52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278" name="Text Box 24"/>
            <p:cNvSpPr txBox="1"/>
            <p:nvPr>
              <p:custDataLst>
                <p:tags r:id="rId13"/>
              </p:custDataLst>
            </p:nvPr>
          </p:nvSpPr>
          <p:spPr>
            <a:xfrm>
              <a:off x="3696" y="1138"/>
              <a:ext cx="480" cy="55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15000"/>
                </a:spcBef>
              </a:pPr>
              <a:r>
                <a:rPr lang="en-US" altLang="zh-CN" b="1" i="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n</a:t>
              </a:r>
              <a:endParaRPr lang="en-US" altLang="zh-CN" b="1" i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>
                <a:spcBef>
                  <a:spcPct val="15000"/>
                </a:spcBef>
              </a:pPr>
              <a:r>
                <a:rPr lang="en-US" altLang="zh-CN" b="1" i="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n+1</a:t>
              </a:r>
              <a:endParaRPr lang="en-US" altLang="zh-CN" b="1" i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279" name="Text Box 27"/>
            <p:cNvSpPr txBox="1"/>
            <p:nvPr>
              <p:custDataLst>
                <p:tags r:id="rId14"/>
              </p:custDataLst>
            </p:nvPr>
          </p:nvSpPr>
          <p:spPr>
            <a:xfrm>
              <a:off x="3072" y="720"/>
              <a:ext cx="81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endParaRPr lang="zh-CN" altLang="zh-CN" b="1" i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8222" name="Text Box 30"/>
          <p:cNvSpPr txBox="1"/>
          <p:nvPr>
            <p:custDataLst>
              <p:tags r:id="rId15"/>
            </p:custDataLst>
          </p:nvPr>
        </p:nvSpPr>
        <p:spPr>
          <a:xfrm>
            <a:off x="4038600" y="4701858"/>
            <a:ext cx="5334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b="1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</a:t>
            </a:r>
            <a:endParaRPr lang="en-US" altLang="zh-CN" b="1" i="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223" name="Text Box 31"/>
          <p:cNvSpPr txBox="1"/>
          <p:nvPr>
            <p:custDataLst>
              <p:tags r:id="rId16"/>
            </p:custDataLst>
          </p:nvPr>
        </p:nvSpPr>
        <p:spPr>
          <a:xfrm>
            <a:off x="3962400" y="5921058"/>
            <a:ext cx="9144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b="1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OUT</a:t>
            </a:r>
            <a:endParaRPr lang="en-US" altLang="zh-CN" b="1" i="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224" name="Rectangle 32"/>
          <p:cNvSpPr/>
          <p:nvPr>
            <p:custDataLst>
              <p:tags r:id="rId17"/>
            </p:custDataLst>
          </p:nvPr>
        </p:nvSpPr>
        <p:spPr>
          <a:xfrm>
            <a:off x="6172200" y="2411095"/>
            <a:ext cx="2219960" cy="82994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CN" b="1" i="0" dirty="0">
                <a:solidFill>
                  <a:srgbClr val="0000CC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n  = 00H~FFH</a:t>
            </a:r>
            <a:endParaRPr lang="en-US" altLang="zh-CN" b="1" i="0" dirty="0">
              <a:solidFill>
                <a:srgbClr val="0000CC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r>
              <a:rPr lang="en-US" altLang="zh-CN" b="1" i="0" dirty="0">
                <a:solidFill>
                  <a:srgbClr val="0000CC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 8</a:t>
            </a:r>
            <a:r>
              <a:rPr lang="zh-CN" altLang="en-US" b="1" i="0" dirty="0">
                <a:solidFill>
                  <a:srgbClr val="0000CC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位端口地址</a:t>
            </a:r>
            <a:endParaRPr lang="en-US" altLang="zh-CN" b="1" i="0" dirty="0">
              <a:solidFill>
                <a:srgbClr val="0000CC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cxnSp>
        <p:nvCxnSpPr>
          <p:cNvPr id="8225" name="AutoShape 33"/>
          <p:cNvCxnSpPr/>
          <p:nvPr>
            <p:custDataLst>
              <p:tags r:id="rId18"/>
            </p:custDataLst>
          </p:nvPr>
        </p:nvCxnSpPr>
        <p:spPr>
          <a:xfrm rot="-5400000" flipH="1" flipV="1">
            <a:off x="4068763" y="3795395"/>
            <a:ext cx="206375" cy="2552700"/>
          </a:xfrm>
          <a:prstGeom prst="bentConnector3">
            <a:avLst>
              <a:gd name="adj1" fmla="val -110769"/>
            </a:avLst>
          </a:prstGeom>
          <a:ln w="38100" cap="flat" cmpd="sng">
            <a:solidFill>
              <a:srgbClr val="000000"/>
            </a:solidFill>
            <a:prstDash val="solid"/>
            <a:miter/>
            <a:headEnd type="none" w="med" len="med"/>
            <a:tailEnd type="arrow" w="lg" len="lg"/>
          </a:ln>
        </p:spPr>
      </p:cxnSp>
      <p:cxnSp>
        <p:nvCxnSpPr>
          <p:cNvPr id="8227" name="AutoShape 35"/>
          <p:cNvCxnSpPr/>
          <p:nvPr>
            <p:custDataLst>
              <p:tags r:id="rId19"/>
            </p:custDataLst>
          </p:nvPr>
        </p:nvCxnSpPr>
        <p:spPr>
          <a:xfrm rot="-5400000" flipH="1">
            <a:off x="4137025" y="4341495"/>
            <a:ext cx="66675" cy="2552700"/>
          </a:xfrm>
          <a:prstGeom prst="bentConnector3">
            <a:avLst>
              <a:gd name="adj1" fmla="val 1174417"/>
            </a:avLst>
          </a:prstGeom>
          <a:ln w="57150" cap="flat" cmpd="sng">
            <a:solidFill>
              <a:srgbClr val="0000CC"/>
            </a:solidFill>
            <a:prstDash val="solid"/>
            <a:miter/>
            <a:headEnd type="none" w="med" len="med"/>
            <a:tailEnd type="arrow" w="lg" len="lg"/>
          </a:ln>
        </p:spPr>
      </p:cxnSp>
      <p:sp>
        <p:nvSpPr>
          <p:cNvPr id="8231" name="Text Box 39"/>
          <p:cNvSpPr txBox="1"/>
          <p:nvPr>
            <p:custDataLst>
              <p:tags r:id="rId20"/>
            </p:custDataLst>
          </p:nvPr>
        </p:nvSpPr>
        <p:spPr>
          <a:xfrm>
            <a:off x="1219200" y="4930458"/>
            <a:ext cx="12954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b="1" i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CPU</a:t>
            </a:r>
            <a:endParaRPr lang="en-US" altLang="zh-CN" b="1" i="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232" name="Text Box 40"/>
          <p:cNvSpPr txBox="1"/>
          <p:nvPr>
            <p:custDataLst>
              <p:tags r:id="rId21"/>
            </p:custDataLst>
          </p:nvPr>
        </p:nvSpPr>
        <p:spPr>
          <a:xfrm>
            <a:off x="6781800" y="5006658"/>
            <a:ext cx="12954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b="1" i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I/O</a:t>
            </a:r>
            <a:r>
              <a:rPr lang="zh-CN" altLang="en-US" b="1" i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端口</a:t>
            </a:r>
            <a:endParaRPr lang="zh-CN" altLang="en-US" b="1" i="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233" name="Text Box 41"/>
          <p:cNvSpPr txBox="1"/>
          <p:nvPr/>
        </p:nvSpPr>
        <p:spPr>
          <a:xfrm>
            <a:off x="857250" y="3879850"/>
            <a:ext cx="753427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20000"/>
              </a:spcBef>
            </a:pPr>
            <a:r>
              <a:rPr lang="zh-CN" altLang="en-US" b="1" i="0" dirty="0">
                <a:latin typeface="Times New Roman" panose="02020603050405020304" pitchFamily="18" charset="0"/>
                <a:ea typeface="宋体" panose="02010600030101010101" pitchFamily="2" charset="-122"/>
              </a:rPr>
              <a:t>或   </a:t>
            </a:r>
            <a:r>
              <a:rPr lang="en-US" altLang="zh-CN" b="1" i="0" dirty="0">
                <a:latin typeface="Times New Roman" panose="02020603050405020304" pitchFamily="18" charset="0"/>
                <a:ea typeface="宋体" panose="02010600030101010101" pitchFamily="2" charset="-122"/>
              </a:rPr>
              <a:t>OUT     n</a:t>
            </a:r>
            <a:r>
              <a:rPr lang="zh-CN" altLang="en-US" b="1" i="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b="1" i="0" dirty="0">
                <a:latin typeface="Times New Roman" panose="02020603050405020304" pitchFamily="18" charset="0"/>
                <a:ea typeface="宋体" panose="02010600030101010101" pitchFamily="2" charset="-122"/>
              </a:rPr>
              <a:t>AX</a:t>
            </a:r>
            <a:r>
              <a:rPr lang="zh-CN" altLang="en-US" b="1" i="0" dirty="0">
                <a:latin typeface="Times New Roman" panose="02020603050405020304" pitchFamily="18" charset="0"/>
                <a:ea typeface="宋体" panose="02010600030101010101" pitchFamily="2" charset="-122"/>
              </a:rPr>
              <a:t>； </a:t>
            </a:r>
            <a:r>
              <a:rPr lang="zh-CN" altLang="en-US" b="1" i="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（</a:t>
            </a:r>
            <a:r>
              <a:rPr lang="en-US" altLang="zh-CN" b="1" i="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n</a:t>
            </a:r>
            <a:r>
              <a:rPr lang="zh-CN" altLang="en-US" b="1" i="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）</a:t>
            </a:r>
            <a:r>
              <a:rPr lang="zh-CN" altLang="en-US" b="1" i="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b="1" i="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（</a:t>
            </a:r>
            <a:r>
              <a:rPr lang="en-US" altLang="zh-CN" b="1" i="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n+1</a:t>
            </a:r>
            <a:r>
              <a:rPr lang="zh-CN" altLang="en-US" b="1" i="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）</a:t>
            </a:r>
            <a:r>
              <a:rPr lang="zh-CN" altLang="en-US" b="1" i="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b="1" i="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 </a:t>
            </a:r>
            <a:r>
              <a:rPr lang="en-US" altLang="zh-CN" b="1" i="0" dirty="0">
                <a:latin typeface="Times New Roman" panose="02020603050405020304" pitchFamily="18" charset="0"/>
                <a:ea typeface="宋体" panose="02010600030101010101" pitchFamily="2" charset="-122"/>
              </a:rPr>
              <a:t>AX</a:t>
            </a:r>
            <a:endParaRPr lang="en-US" altLang="zh-CN" b="1" i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57555" y="2420620"/>
            <a:ext cx="4572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  <a:sym typeface="+mn-ea"/>
              </a:rPr>
              <a:t>        </a:t>
            </a:r>
            <a:r>
              <a:rPr lang="en-US" altLang="zh-CN" b="1" dirty="0">
                <a:latin typeface="Times New Roman" panose="02020603050405020304" pitchFamily="18" charset="0"/>
                <a:sym typeface="+mn-ea"/>
              </a:rPr>
              <a:t>IN  AL</a:t>
            </a:r>
            <a:r>
              <a:rPr lang="zh-CN" altLang="en-US" b="1" dirty="0">
                <a:latin typeface="Times New Roman" panose="02020603050405020304" pitchFamily="18" charset="0"/>
                <a:sym typeface="+mn-ea"/>
              </a:rPr>
              <a:t>，</a:t>
            </a:r>
            <a:r>
              <a:rPr lang="en-US" altLang="zh-CN" b="1" dirty="0">
                <a:latin typeface="Times New Roman" panose="02020603050405020304" pitchFamily="18" charset="0"/>
                <a:sym typeface="+mn-ea"/>
              </a:rPr>
              <a:t>n</a:t>
            </a:r>
            <a:r>
              <a:rPr lang="zh-CN" altLang="en-US" b="1" dirty="0">
                <a:latin typeface="Times New Roman" panose="02020603050405020304" pitchFamily="18" charset="0"/>
                <a:sym typeface="+mn-ea"/>
              </a:rPr>
              <a:t>；    </a:t>
            </a:r>
            <a:r>
              <a:rPr lang="en-US" altLang="zh-CN" b="1" dirty="0">
                <a:latin typeface="Times New Roman" panose="02020603050405020304" pitchFamily="18" charset="0"/>
                <a:sym typeface="+mn-ea"/>
              </a:rPr>
              <a:t>AL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（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）</a:t>
            </a:r>
            <a:endParaRPr lang="zh-CN" altLang="en-US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55015" y="2896235"/>
            <a:ext cx="621347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Bef>
                <a:spcPct val="20000"/>
              </a:spcBef>
            </a:pPr>
            <a:r>
              <a:rPr lang="zh-CN" altLang="en-US" b="1" dirty="0">
                <a:latin typeface="Times New Roman" panose="02020603050405020304" pitchFamily="18" charset="0"/>
                <a:sym typeface="+mn-ea"/>
              </a:rPr>
              <a:t>或    </a:t>
            </a:r>
            <a:r>
              <a:rPr lang="en-US" altLang="zh-CN" b="1" dirty="0">
                <a:latin typeface="Times New Roman" panose="02020603050405020304" pitchFamily="18" charset="0"/>
                <a:sym typeface="+mn-ea"/>
              </a:rPr>
              <a:t>IN  AX</a:t>
            </a:r>
            <a:r>
              <a:rPr lang="zh-CN" altLang="en-US" b="1" dirty="0">
                <a:latin typeface="Times New Roman" panose="02020603050405020304" pitchFamily="18" charset="0"/>
                <a:sym typeface="+mn-ea"/>
              </a:rPr>
              <a:t>，</a:t>
            </a:r>
            <a:r>
              <a:rPr lang="en-US" altLang="zh-CN" b="1" dirty="0">
                <a:latin typeface="Times New Roman" panose="02020603050405020304" pitchFamily="18" charset="0"/>
                <a:sym typeface="+mn-ea"/>
              </a:rPr>
              <a:t>n</a:t>
            </a:r>
            <a:r>
              <a:rPr lang="zh-CN" altLang="en-US" b="1" dirty="0">
                <a:latin typeface="Times New Roman" panose="02020603050405020304" pitchFamily="18" charset="0"/>
                <a:sym typeface="+mn-ea"/>
              </a:rPr>
              <a:t>；    </a:t>
            </a:r>
            <a:r>
              <a:rPr lang="en-US" altLang="zh-CN" b="1" dirty="0">
                <a:latin typeface="Times New Roman" panose="02020603050405020304" pitchFamily="18" charset="0"/>
                <a:sym typeface="+mn-ea"/>
              </a:rPr>
              <a:t>AX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（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）（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n+1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）</a:t>
            </a:r>
            <a:endParaRPr lang="zh-CN" altLang="en-US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367155" y="3411220"/>
            <a:ext cx="4572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b="1" dirty="0">
                <a:latin typeface="Times New Roman" panose="02020603050405020304" pitchFamily="18" charset="0"/>
                <a:sym typeface="+mn-ea"/>
              </a:rPr>
              <a:t>OUT     n</a:t>
            </a:r>
            <a:r>
              <a:rPr lang="zh-CN" altLang="en-US" b="1" dirty="0">
                <a:latin typeface="Times New Roman" panose="02020603050405020304" pitchFamily="18" charset="0"/>
                <a:sym typeface="+mn-ea"/>
              </a:rPr>
              <a:t>，</a:t>
            </a:r>
            <a:r>
              <a:rPr lang="en-US" altLang="zh-CN" b="1" dirty="0">
                <a:latin typeface="Times New Roman" panose="02020603050405020304" pitchFamily="18" charset="0"/>
                <a:sym typeface="+mn-ea"/>
              </a:rPr>
              <a:t>AL</a:t>
            </a:r>
            <a:r>
              <a:rPr lang="zh-CN" altLang="en-US" b="1" dirty="0">
                <a:latin typeface="Times New Roman" panose="02020603050405020304" pitchFamily="18" charset="0"/>
                <a:sym typeface="+mn-ea"/>
              </a:rPr>
              <a:t>； 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（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）</a:t>
            </a:r>
            <a:r>
              <a:rPr lang="zh-CN" altLang="en-US" b="1" dirty="0">
                <a:latin typeface="Times New Roman" panose="02020603050405020304" pitchFamily="18" charset="0"/>
                <a:sym typeface="+mn-ea"/>
              </a:rPr>
              <a:t> 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 </a:t>
            </a:r>
            <a:r>
              <a:rPr lang="en-US" altLang="zh-CN" b="1" dirty="0">
                <a:latin typeface="Times New Roman" panose="02020603050405020304" pitchFamily="18" charset="0"/>
                <a:sym typeface="+mn-ea"/>
              </a:rPr>
              <a:t>AL</a:t>
            </a:r>
            <a:endParaRPr lang="en-US" altLang="zh-CN" b="1" dirty="0">
              <a:latin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99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8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8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8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8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8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8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8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9" grpId="0" build="p"/>
      <p:bldP spid="8222" grpId="0"/>
      <p:bldP spid="8223" grpId="0"/>
      <p:bldP spid="8224" grpId="0"/>
      <p:bldP spid="8231" grpId="0"/>
      <p:bldP spid="8232" grpId="0"/>
      <p:bldP spid="6" grpId="0"/>
      <p:bldP spid="7" grpId="0"/>
      <p:bldP spid="8" grpId="0"/>
      <p:bldP spid="823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3" name="矩形 59"/>
          <p:cNvSpPr/>
          <p:nvPr>
            <p:custDataLst>
              <p:tags r:id="rId1"/>
            </p:custDataLst>
          </p:nvPr>
        </p:nvSpPr>
        <p:spPr>
          <a:xfrm>
            <a:off x="822325" y="501650"/>
            <a:ext cx="638175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 algn="l"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5.1.1 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基本知识</a:t>
            </a:r>
            <a:endParaRPr lang="zh-CN" altLang="en-US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130" name="Rectangle 17"/>
          <p:cNvSpPr/>
          <p:nvPr>
            <p:custDataLst>
              <p:tags r:id="rId2"/>
            </p:custDataLst>
          </p:nvPr>
        </p:nvSpPr>
        <p:spPr>
          <a:xfrm>
            <a:off x="593725" y="1501775"/>
            <a:ext cx="480695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l">
              <a:spcBef>
                <a:spcPct val="45000"/>
              </a:spcBef>
            </a:pPr>
            <a:r>
              <a:rPr lang="en-US" altLang="zh-CN" b="1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6. </a:t>
            </a:r>
            <a:r>
              <a:rPr lang="zh-CN" altLang="en-US" b="1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输入输出（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I/O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）指令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sym typeface="+mn-ea"/>
            </a:endParaRPr>
          </a:p>
        </p:txBody>
      </p:sp>
      <p:sp>
        <p:nvSpPr>
          <p:cNvPr id="8199" name="Text Box 7"/>
          <p:cNvSpPr txBox="1"/>
          <p:nvPr>
            <p:custDataLst>
              <p:tags r:id="rId3"/>
            </p:custDataLst>
          </p:nvPr>
        </p:nvSpPr>
        <p:spPr>
          <a:xfrm>
            <a:off x="762000" y="1949768"/>
            <a:ext cx="79248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b="1" i="0" dirty="0">
                <a:solidFill>
                  <a:srgbClr val="3333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b="1" i="0" dirty="0">
                <a:solidFill>
                  <a:srgbClr val="3333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b="1" i="0" dirty="0">
                <a:solidFill>
                  <a:srgbClr val="3333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en-US" altLang="zh-CN" b="1" dirty="0">
                <a:solidFill>
                  <a:srgbClr val="3333FF"/>
                </a:solidFill>
                <a:latin typeface="Times New Roman" panose="02020603050405020304" pitchFamily="18" charset="0"/>
                <a:sym typeface="+mn-ea"/>
              </a:rPr>
              <a:t>DX</a:t>
            </a:r>
            <a:r>
              <a:rPr lang="zh-CN" altLang="en-US" b="1" dirty="0">
                <a:solidFill>
                  <a:srgbClr val="3333FF"/>
                </a:solidFill>
                <a:latin typeface="Times New Roman" panose="02020603050405020304" pitchFamily="18" charset="0"/>
                <a:sym typeface="+mn-ea"/>
              </a:rPr>
              <a:t>间接寻址</a:t>
            </a:r>
            <a:r>
              <a:rPr lang="en-US" altLang="zh-CN" b="1" dirty="0">
                <a:solidFill>
                  <a:srgbClr val="3333FF"/>
                </a:solidFill>
                <a:latin typeface="Times New Roman" panose="02020603050405020304" pitchFamily="18" charset="0"/>
                <a:sym typeface="+mn-ea"/>
              </a:rPr>
              <a:t>I/O</a:t>
            </a:r>
            <a:r>
              <a:rPr lang="zh-CN" altLang="en-US" b="1" dirty="0">
                <a:solidFill>
                  <a:srgbClr val="3333FF"/>
                </a:solidFill>
                <a:latin typeface="Times New Roman" panose="02020603050405020304" pitchFamily="18" charset="0"/>
                <a:sym typeface="+mn-ea"/>
              </a:rPr>
              <a:t>指令</a:t>
            </a:r>
            <a:endParaRPr lang="zh-CN" altLang="en-US" b="1" i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55015" y="2410460"/>
            <a:ext cx="751713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 dirty="0">
                <a:solidFill>
                  <a:srgbClr val="0000CC"/>
                </a:solidFill>
                <a:latin typeface="Times New Roman" panose="02020603050405020304" pitchFamily="18" charset="0"/>
                <a:sym typeface="+mn-ea"/>
              </a:rPr>
              <a:t>当端口地址为</a:t>
            </a:r>
            <a:r>
              <a:rPr lang="en-US" altLang="zh-CN" b="1" dirty="0">
                <a:solidFill>
                  <a:srgbClr val="0000CC"/>
                </a:solidFill>
                <a:latin typeface="Times New Roman" panose="02020603050405020304" pitchFamily="18" charset="0"/>
                <a:sym typeface="+mn-ea"/>
              </a:rPr>
              <a:t>0000H~FFFFH</a:t>
            </a:r>
            <a:r>
              <a:rPr lang="zh-CN" altLang="en-US" b="1" dirty="0">
                <a:latin typeface="Times New Roman" panose="02020603050405020304" pitchFamily="18" charset="0"/>
                <a:sym typeface="+mn-ea"/>
              </a:rPr>
              <a:t>时，要使用</a:t>
            </a:r>
            <a:r>
              <a:rPr lang="en-US" altLang="zh-CN" b="1" dirty="0">
                <a:latin typeface="Times New Roman" panose="02020603050405020304" pitchFamily="18" charset="0"/>
                <a:sym typeface="+mn-ea"/>
              </a:rPr>
              <a:t>DX</a:t>
            </a:r>
            <a:r>
              <a:rPr lang="zh-CN" altLang="en-US" b="1" dirty="0">
                <a:solidFill>
                  <a:srgbClr val="3333FF"/>
                </a:solidFill>
                <a:latin typeface="Times New Roman" panose="02020603050405020304" pitchFamily="18" charset="0"/>
                <a:sym typeface="+mn-ea"/>
              </a:rPr>
              <a:t>间接寻址</a:t>
            </a:r>
            <a:endParaRPr lang="zh-CN" altLang="en-US" b="1" dirty="0">
              <a:latin typeface="Times New Roman" panose="02020603050405020304" pitchFamily="18" charset="0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55650" y="2870835"/>
            <a:ext cx="762317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Bef>
                <a:spcPct val="10000"/>
              </a:spcBef>
            </a:pPr>
            <a:r>
              <a:rPr lang="en-US" altLang="zh-CN" b="1" dirty="0">
                <a:latin typeface="Times New Roman" panose="02020603050405020304" pitchFamily="18" charset="0"/>
                <a:sym typeface="+mn-ea"/>
              </a:rPr>
              <a:t>IN  AL</a:t>
            </a:r>
            <a:r>
              <a:rPr lang="zh-CN" altLang="en-US" b="1" dirty="0">
                <a:latin typeface="Times New Roman" panose="02020603050405020304" pitchFamily="18" charset="0"/>
                <a:sym typeface="+mn-ea"/>
              </a:rPr>
              <a:t>，</a:t>
            </a:r>
            <a:r>
              <a:rPr lang="en-US" altLang="zh-CN" b="1" dirty="0">
                <a:latin typeface="Times New Roman" panose="02020603050405020304" pitchFamily="18" charset="0"/>
                <a:sym typeface="+mn-ea"/>
              </a:rPr>
              <a:t>DX</a:t>
            </a:r>
            <a:r>
              <a:rPr lang="zh-CN" altLang="en-US" b="1" dirty="0">
                <a:latin typeface="Times New Roman" panose="02020603050405020304" pitchFamily="18" charset="0"/>
                <a:sym typeface="+mn-ea"/>
              </a:rPr>
              <a:t>；</a:t>
            </a:r>
            <a:r>
              <a:rPr lang="en-US" altLang="zh-CN" b="1" dirty="0">
                <a:latin typeface="Times New Roman" panose="02020603050405020304" pitchFamily="18" charset="0"/>
                <a:sym typeface="+mn-ea"/>
              </a:rPr>
              <a:t>AL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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（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DX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），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DX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指向的端口内容送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AL</a:t>
            </a:r>
            <a:endParaRPr lang="en-US" altLang="zh-CN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55015" y="3357245"/>
            <a:ext cx="815403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Bef>
                <a:spcPct val="10000"/>
              </a:spcBef>
            </a:pPr>
            <a:r>
              <a:rPr lang="en-US" altLang="zh-CN" b="1" dirty="0">
                <a:latin typeface="Times New Roman" panose="02020603050405020304" pitchFamily="18" charset="0"/>
                <a:sym typeface="+mn-ea"/>
              </a:rPr>
              <a:t>OUT  DX</a:t>
            </a:r>
            <a:r>
              <a:rPr lang="zh-CN" altLang="en-US" b="1" dirty="0">
                <a:latin typeface="Times New Roman" panose="02020603050405020304" pitchFamily="18" charset="0"/>
                <a:sym typeface="+mn-ea"/>
              </a:rPr>
              <a:t>，</a:t>
            </a:r>
            <a:r>
              <a:rPr lang="en-US" altLang="zh-CN" b="1" dirty="0">
                <a:latin typeface="Times New Roman" panose="02020603050405020304" pitchFamily="18" charset="0"/>
                <a:sym typeface="+mn-ea"/>
              </a:rPr>
              <a:t>AL</a:t>
            </a:r>
            <a:r>
              <a:rPr lang="zh-CN" altLang="en-US" b="1" dirty="0">
                <a:latin typeface="Times New Roman" panose="02020603050405020304" pitchFamily="18" charset="0"/>
                <a:sym typeface="+mn-ea"/>
              </a:rPr>
              <a:t>；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（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DX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） </a:t>
            </a:r>
            <a:r>
              <a:rPr lang="en-US" altLang="zh-CN" b="1" dirty="0">
                <a:latin typeface="Times New Roman" panose="02020603050405020304" pitchFamily="18" charset="0"/>
                <a:sym typeface="+mn-ea"/>
              </a:rPr>
              <a:t>AL</a:t>
            </a:r>
            <a:r>
              <a:rPr lang="zh-CN" altLang="en-US" b="1" dirty="0">
                <a:latin typeface="Times New Roman" panose="02020603050405020304" pitchFamily="18" charset="0"/>
                <a:sym typeface="+mn-ea"/>
              </a:rPr>
              <a:t>，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AL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内容送到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DX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指向端口</a:t>
            </a:r>
            <a:endParaRPr lang="zh-CN" altLang="en-US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grpSp>
        <p:nvGrpSpPr>
          <p:cNvPr id="7" name="Group 29"/>
          <p:cNvGrpSpPr/>
          <p:nvPr/>
        </p:nvGrpSpPr>
        <p:grpSpPr>
          <a:xfrm>
            <a:off x="528955" y="3836670"/>
            <a:ext cx="2362200" cy="2378075"/>
            <a:chOff x="480" y="2448"/>
            <a:chExt cx="1488" cy="1498"/>
          </a:xfrm>
        </p:grpSpPr>
        <p:sp>
          <p:nvSpPr>
            <p:cNvPr id="12292" name="Rectangle 5"/>
            <p:cNvSpPr/>
            <p:nvPr>
              <p:custDataLst>
                <p:tags r:id="rId4"/>
              </p:custDataLst>
            </p:nvPr>
          </p:nvSpPr>
          <p:spPr>
            <a:xfrm>
              <a:off x="480" y="2736"/>
              <a:ext cx="1488" cy="12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en-US" altLang="zh-CN" b="0" i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/>
              <a:endParaRPr lang="en-US" altLang="zh-CN" b="0" i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/>
              <a:endParaRPr lang="en-US" altLang="zh-CN" b="0" i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/>
              <a:endParaRPr lang="en-US" altLang="zh-CN" b="0" i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293" name="Rectangle 6"/>
            <p:cNvSpPr/>
            <p:nvPr>
              <p:custDataLst>
                <p:tags r:id="rId5"/>
              </p:custDataLst>
            </p:nvPr>
          </p:nvSpPr>
          <p:spPr>
            <a:xfrm>
              <a:off x="576" y="3456"/>
              <a:ext cx="768" cy="259"/>
            </a:xfrm>
            <a:prstGeom prst="rect">
              <a:avLst/>
            </a:prstGeom>
            <a:solidFill>
              <a:srgbClr val="FF33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b="0" i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294" name="Line 7"/>
            <p:cNvSpPr/>
            <p:nvPr>
              <p:custDataLst>
                <p:tags r:id="rId6"/>
              </p:custDataLst>
            </p:nvPr>
          </p:nvSpPr>
          <p:spPr>
            <a:xfrm>
              <a:off x="960" y="3456"/>
              <a:ext cx="0" cy="25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2295" name="Text Box 8"/>
            <p:cNvSpPr txBox="1"/>
            <p:nvPr>
              <p:custDataLst>
                <p:tags r:id="rId7"/>
              </p:custDataLst>
            </p:nvPr>
          </p:nvSpPr>
          <p:spPr>
            <a:xfrm>
              <a:off x="576" y="3696"/>
              <a:ext cx="105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i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AH      AL</a:t>
              </a:r>
              <a:endParaRPr lang="en-US" altLang="zh-CN" sz="2000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296" name="Text Box 15"/>
            <p:cNvSpPr txBox="1"/>
            <p:nvPr>
              <p:custDataLst>
                <p:tags r:id="rId8"/>
              </p:custDataLst>
            </p:nvPr>
          </p:nvSpPr>
          <p:spPr>
            <a:xfrm>
              <a:off x="624" y="2448"/>
              <a:ext cx="1179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i="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CPU</a:t>
              </a:r>
              <a:endParaRPr lang="en-US" altLang="zh-CN" b="1" i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297" name="Rectangle 23"/>
            <p:cNvSpPr/>
            <p:nvPr>
              <p:custDataLst>
                <p:tags r:id="rId9"/>
              </p:custDataLst>
            </p:nvPr>
          </p:nvSpPr>
          <p:spPr>
            <a:xfrm>
              <a:off x="1200" y="3120"/>
              <a:ext cx="720" cy="259"/>
            </a:xfrm>
            <a:prstGeom prst="rect">
              <a:avLst/>
            </a:prstGeom>
            <a:solidFill>
              <a:srgbClr val="00FF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800" i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</a:t>
              </a:r>
              <a:endParaRPr lang="en-US" altLang="zh-CN" sz="2800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44056" name="Text Box 24"/>
          <p:cNvSpPr txBox="1"/>
          <p:nvPr>
            <p:custDataLst>
              <p:tags r:id="rId10"/>
            </p:custDataLst>
          </p:nvPr>
        </p:nvSpPr>
        <p:spPr>
          <a:xfrm>
            <a:off x="1443355" y="4522470"/>
            <a:ext cx="1676400" cy="396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2000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DX</a:t>
            </a:r>
            <a:endParaRPr lang="en-US" altLang="zh-CN" sz="2000" i="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4049" name="Text Box 17"/>
          <p:cNvSpPr txBox="1"/>
          <p:nvPr>
            <p:custDataLst>
              <p:tags r:id="rId11"/>
            </p:custDataLst>
          </p:nvPr>
        </p:nvSpPr>
        <p:spPr>
          <a:xfrm>
            <a:off x="3195955" y="4103370"/>
            <a:ext cx="533400" cy="396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2000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</a:t>
            </a:r>
            <a:endParaRPr lang="en-US" altLang="zh-CN" sz="2000" i="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4050" name="Text Box 18"/>
          <p:cNvSpPr txBox="1"/>
          <p:nvPr>
            <p:custDataLst>
              <p:tags r:id="rId12"/>
            </p:custDataLst>
          </p:nvPr>
        </p:nvSpPr>
        <p:spPr>
          <a:xfrm>
            <a:off x="2891155" y="5932170"/>
            <a:ext cx="914400" cy="396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2000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OUT</a:t>
            </a:r>
            <a:endParaRPr lang="en-US" altLang="zh-CN" sz="2000" i="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8" name="Group 27"/>
          <p:cNvGrpSpPr/>
          <p:nvPr/>
        </p:nvGrpSpPr>
        <p:grpSpPr>
          <a:xfrm>
            <a:off x="3957955" y="3760470"/>
            <a:ext cx="4851496" cy="2438400"/>
            <a:chOff x="2832" y="2160"/>
            <a:chExt cx="2882" cy="1536"/>
          </a:xfrm>
        </p:grpSpPr>
        <p:sp>
          <p:nvSpPr>
            <p:cNvPr id="12302" name="Rectangle 11"/>
            <p:cNvSpPr/>
            <p:nvPr>
              <p:custDataLst>
                <p:tags r:id="rId13"/>
              </p:custDataLst>
            </p:nvPr>
          </p:nvSpPr>
          <p:spPr>
            <a:xfrm>
              <a:off x="2832" y="2496"/>
              <a:ext cx="1248" cy="12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en-US" altLang="zh-CN" i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/>
              <a:endParaRPr lang="en-US" altLang="zh-CN" i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/>
              <a:endParaRPr lang="en-US" altLang="zh-CN" i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/>
              <a:endParaRPr lang="en-US" altLang="zh-CN" i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303" name="Rectangle 12"/>
            <p:cNvSpPr/>
            <p:nvPr>
              <p:custDataLst>
                <p:tags r:id="rId14"/>
              </p:custDataLst>
            </p:nvPr>
          </p:nvSpPr>
          <p:spPr>
            <a:xfrm>
              <a:off x="3360" y="2784"/>
              <a:ext cx="528" cy="600"/>
            </a:xfrm>
            <a:prstGeom prst="rect">
              <a:avLst/>
            </a:prstGeom>
            <a:solidFill>
              <a:srgbClr val="FF33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i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304" name="Line 13"/>
            <p:cNvSpPr/>
            <p:nvPr>
              <p:custDataLst>
                <p:tags r:id="rId15"/>
              </p:custDataLst>
            </p:nvPr>
          </p:nvSpPr>
          <p:spPr>
            <a:xfrm>
              <a:off x="3360" y="3072"/>
              <a:ext cx="52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2305" name="Text Box 14"/>
            <p:cNvSpPr txBox="1"/>
            <p:nvPr>
              <p:custDataLst>
                <p:tags r:id="rId16"/>
              </p:custDataLst>
            </p:nvPr>
          </p:nvSpPr>
          <p:spPr>
            <a:xfrm>
              <a:off x="2976" y="2784"/>
              <a:ext cx="480" cy="63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15000"/>
                </a:spcBef>
              </a:pPr>
              <a:r>
                <a:rPr lang="en-US" altLang="zh-CN" sz="2800" i="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n</a:t>
              </a:r>
              <a:endParaRPr lang="en-US" altLang="zh-CN" sz="2800" i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>
                <a:spcBef>
                  <a:spcPct val="15000"/>
                </a:spcBef>
              </a:pPr>
              <a:r>
                <a:rPr lang="en-US" altLang="zh-CN" sz="2800" i="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n+1</a:t>
              </a:r>
              <a:endParaRPr lang="en-US" altLang="zh-CN" sz="2800" i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306" name="Text Box 16"/>
            <p:cNvSpPr txBox="1"/>
            <p:nvPr>
              <p:custDataLst>
                <p:tags r:id="rId17"/>
              </p:custDataLst>
            </p:nvPr>
          </p:nvSpPr>
          <p:spPr>
            <a:xfrm>
              <a:off x="2832" y="2160"/>
              <a:ext cx="1247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i="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I/O</a:t>
              </a:r>
              <a:r>
                <a:rPr lang="zh-CN" altLang="en-US" b="1" i="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接口</a:t>
              </a:r>
              <a:endParaRPr lang="zh-CN" altLang="en-US" b="1" i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307" name="Rectangle 19"/>
            <p:cNvSpPr/>
            <p:nvPr>
              <p:custDataLst>
                <p:tags r:id="rId18"/>
              </p:custDataLst>
            </p:nvPr>
          </p:nvSpPr>
          <p:spPr>
            <a:xfrm>
              <a:off x="4176" y="3024"/>
              <a:ext cx="1538" cy="51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noAutofit/>
            </a:bodyPr>
            <a:p>
              <a:r>
                <a:rPr lang="en-US" altLang="zh-CN" b="1" i="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n= 0000H~FFFFH</a:t>
              </a:r>
              <a:endParaRPr lang="en-US" altLang="zh-CN" b="1" i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r>
                <a:rPr lang="en-US" altLang="zh-CN" b="1" i="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16</a:t>
              </a:r>
              <a:r>
                <a:rPr lang="zh-CN" altLang="en-US" b="1" i="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位端口地址</a:t>
              </a:r>
              <a:endParaRPr lang="zh-CN" altLang="en-US" b="1" i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  <a:p>
              <a:endParaRPr lang="en-US" altLang="zh-CN" b="1" i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</p:grpSp>
      <p:cxnSp>
        <p:nvCxnSpPr>
          <p:cNvPr id="44052" name="AutoShape 20"/>
          <p:cNvCxnSpPr/>
          <p:nvPr>
            <p:custDataLst>
              <p:tags r:id="rId19"/>
            </p:custDataLst>
          </p:nvPr>
        </p:nvCxnSpPr>
        <p:spPr>
          <a:xfrm rot="-5400000" flipH="1" flipV="1">
            <a:off x="2948305" y="3093720"/>
            <a:ext cx="685800" cy="4000500"/>
          </a:xfrm>
          <a:prstGeom prst="bentConnector3">
            <a:avLst>
              <a:gd name="adj1" fmla="val -33333"/>
            </a:avLst>
          </a:prstGeom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arrow" w="lg" len="lg"/>
          </a:ln>
        </p:spPr>
      </p:cxnSp>
      <p:cxnSp>
        <p:nvCxnSpPr>
          <p:cNvPr id="44054" name="AutoShape 22"/>
          <p:cNvCxnSpPr>
            <a:cxnSpLocks noChangeAspect="1"/>
          </p:cNvCxnSpPr>
          <p:nvPr>
            <p:custDataLst>
              <p:tags r:id="rId20"/>
            </p:custDataLst>
          </p:nvPr>
        </p:nvCxnSpPr>
        <p:spPr>
          <a:xfrm rot="5400000" flipH="1" flipV="1">
            <a:off x="3216593" y="3774758"/>
            <a:ext cx="146050" cy="4000500"/>
          </a:xfrm>
          <a:prstGeom prst="bentConnector3">
            <a:avLst>
              <a:gd name="adj1" fmla="val -410991"/>
            </a:avLst>
          </a:prstGeom>
          <a:ln w="57150" cap="flat" cmpd="sng">
            <a:solidFill>
              <a:srgbClr val="0000CC"/>
            </a:solidFill>
            <a:prstDash val="solid"/>
            <a:miter/>
            <a:headEnd type="none" w="med" len="med"/>
            <a:tailEnd type="arrow" w="lg" len="lg"/>
          </a:ln>
        </p:spPr>
      </p:cxnSp>
      <p:sp>
        <p:nvSpPr>
          <p:cNvPr id="44057" name="Line 25"/>
          <p:cNvSpPr/>
          <p:nvPr>
            <p:custDataLst>
              <p:tags r:id="rId21"/>
            </p:custDataLst>
          </p:nvPr>
        </p:nvSpPr>
        <p:spPr>
          <a:xfrm>
            <a:off x="2738755" y="4979670"/>
            <a:ext cx="1447800" cy="0"/>
          </a:xfrm>
          <a:prstGeom prst="line">
            <a:avLst/>
          </a:prstGeom>
          <a:ln w="57150" cap="flat" cmpd="sng">
            <a:solidFill>
              <a:schemeClr val="tx2"/>
            </a:solidFill>
            <a:prstDash val="solid"/>
            <a:round/>
            <a:headEnd type="none" w="med" len="med"/>
            <a:tailEnd type="triangle" w="med" len="me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99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4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4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44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4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4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44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9" grpId="0" build="p"/>
      <p:bldP spid="4" grpId="0"/>
      <p:bldP spid="5" grpId="0"/>
      <p:bldP spid="44056" grpId="0"/>
      <p:bldP spid="44049" grpId="0"/>
      <p:bldP spid="44050" grpId="0"/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3" name="矩形 59"/>
          <p:cNvSpPr/>
          <p:nvPr>
            <p:custDataLst>
              <p:tags r:id="rId1"/>
            </p:custDataLst>
          </p:nvPr>
        </p:nvSpPr>
        <p:spPr>
          <a:xfrm>
            <a:off x="822325" y="501650"/>
            <a:ext cx="638175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 algn="l"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5.1.2 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简单接口芯片</a:t>
            </a:r>
            <a:endParaRPr lang="en-US" altLang="zh-CN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130" name="Rectangle 17"/>
          <p:cNvSpPr/>
          <p:nvPr>
            <p:custDataLst>
              <p:tags r:id="rId2"/>
            </p:custDataLst>
          </p:nvPr>
        </p:nvSpPr>
        <p:spPr>
          <a:xfrm>
            <a:off x="593725" y="1501775"/>
            <a:ext cx="480695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l">
              <a:spcBef>
                <a:spcPct val="45000"/>
              </a:spcBef>
            </a:pPr>
            <a:r>
              <a:rPr lang="en-US" altLang="zh-CN" b="1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1. 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三态门接口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--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缓冲器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sym typeface="+mn-ea"/>
            </a:endParaRPr>
          </a:p>
        </p:txBody>
      </p:sp>
      <p:sp>
        <p:nvSpPr>
          <p:cNvPr id="13315" name="Text Box 28"/>
          <p:cNvSpPr txBox="1"/>
          <p:nvPr>
            <p:custDataLst>
              <p:tags r:id="rId3"/>
            </p:custDataLst>
          </p:nvPr>
        </p:nvSpPr>
        <p:spPr>
          <a:xfrm>
            <a:off x="1752600" y="4487545"/>
            <a:ext cx="762000" cy="2841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70000"/>
              </a:lnSpc>
              <a:spcBef>
                <a:spcPct val="30000"/>
              </a:spcBef>
            </a:pPr>
            <a:r>
              <a:rPr lang="en-US" altLang="zh-CN" sz="1800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G     </a:t>
            </a:r>
            <a:endParaRPr lang="en-US" altLang="zh-CN" sz="1800" i="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316" name="Line 33"/>
          <p:cNvSpPr/>
          <p:nvPr>
            <p:custDataLst>
              <p:tags r:id="rId4"/>
            </p:custDataLst>
          </p:nvPr>
        </p:nvSpPr>
        <p:spPr>
          <a:xfrm>
            <a:off x="2667000" y="3306445"/>
            <a:ext cx="0" cy="512763"/>
          </a:xfrm>
          <a:prstGeom prst="line">
            <a:avLst/>
          </a:prstGeom>
          <a:ln w="9525" cap="flat" cmpd="sng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</p:sp>
      <p:sp>
        <p:nvSpPr>
          <p:cNvPr id="13317" name="Rectangle 35"/>
          <p:cNvSpPr/>
          <p:nvPr>
            <p:custDataLst>
              <p:tags r:id="rId5"/>
            </p:custDataLst>
          </p:nvPr>
        </p:nvSpPr>
        <p:spPr>
          <a:xfrm>
            <a:off x="2057400" y="1972945"/>
            <a:ext cx="1066800" cy="2362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en-US" altLang="zh-CN" sz="2000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74LS244</a:t>
            </a:r>
            <a:endParaRPr lang="en-US" altLang="zh-CN" sz="2000" i="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ctr"/>
            <a:r>
              <a:rPr lang="zh-CN" altLang="en-US" sz="2000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单向</a:t>
            </a:r>
            <a:endParaRPr lang="zh-CN" altLang="en-US" sz="2000" i="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ctr"/>
            <a:endParaRPr lang="zh-CN" altLang="en-US" sz="2000" i="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ctr"/>
            <a:endParaRPr lang="zh-CN" altLang="en-US" sz="2000" i="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ctr"/>
            <a:endParaRPr lang="en-US" altLang="zh-CN" i="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318" name="Line 38"/>
          <p:cNvSpPr/>
          <p:nvPr>
            <p:custDataLst>
              <p:tags r:id="rId6"/>
            </p:custDataLst>
          </p:nvPr>
        </p:nvSpPr>
        <p:spPr>
          <a:xfrm>
            <a:off x="914400" y="3192145"/>
            <a:ext cx="1143000" cy="0"/>
          </a:xfrm>
          <a:prstGeom prst="line">
            <a:avLst/>
          </a:prstGeom>
          <a:ln w="762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3319" name="Oval 42"/>
          <p:cNvSpPr/>
          <p:nvPr>
            <p:custDataLst>
              <p:tags r:id="rId7"/>
            </p:custDataLst>
          </p:nvPr>
        </p:nvSpPr>
        <p:spPr>
          <a:xfrm flipV="1">
            <a:off x="2514600" y="4335145"/>
            <a:ext cx="152400" cy="128588"/>
          </a:xfrm>
          <a:prstGeom prst="ellipse">
            <a:avLst/>
          </a:prstGeom>
          <a:noFill/>
          <a:ln w="9525" cap="flat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320" name="Line 52"/>
          <p:cNvSpPr/>
          <p:nvPr>
            <p:custDataLst>
              <p:tags r:id="rId8"/>
            </p:custDataLst>
          </p:nvPr>
        </p:nvSpPr>
        <p:spPr>
          <a:xfrm>
            <a:off x="1828800" y="4487545"/>
            <a:ext cx="304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321" name="AutoShape 54"/>
          <p:cNvSpPr/>
          <p:nvPr>
            <p:custDataLst>
              <p:tags r:id="rId9"/>
            </p:custDataLst>
          </p:nvPr>
        </p:nvSpPr>
        <p:spPr>
          <a:xfrm rot="5454911">
            <a:off x="2400300" y="3127058"/>
            <a:ext cx="457200" cy="282575"/>
          </a:xfrm>
          <a:prstGeom prst="flowChartExtract">
            <a:avLst/>
          </a:prstGeom>
          <a:solidFill>
            <a:schemeClr val="accent1"/>
          </a:solidFill>
          <a:ln w="2857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322" name="Line 55"/>
          <p:cNvSpPr/>
          <p:nvPr>
            <p:custDataLst>
              <p:tags r:id="rId10"/>
            </p:custDataLst>
          </p:nvPr>
        </p:nvSpPr>
        <p:spPr>
          <a:xfrm>
            <a:off x="2133600" y="3268345"/>
            <a:ext cx="354013" cy="0"/>
          </a:xfrm>
          <a:prstGeom prst="line">
            <a:avLst/>
          </a:prstGeom>
          <a:ln w="28575" cap="flat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323" name="Line 56"/>
          <p:cNvSpPr/>
          <p:nvPr>
            <p:custDataLst>
              <p:tags r:id="rId11"/>
            </p:custDataLst>
          </p:nvPr>
        </p:nvSpPr>
        <p:spPr>
          <a:xfrm>
            <a:off x="2770188" y="3268345"/>
            <a:ext cx="354012" cy="0"/>
          </a:xfrm>
          <a:prstGeom prst="line">
            <a:avLst/>
          </a:prstGeom>
          <a:ln w="28575" cap="flat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</p:sp>
      <p:grpSp>
        <p:nvGrpSpPr>
          <p:cNvPr id="2" name="Group 59"/>
          <p:cNvGrpSpPr/>
          <p:nvPr/>
        </p:nvGrpSpPr>
        <p:grpSpPr>
          <a:xfrm>
            <a:off x="6617970" y="3644265"/>
            <a:ext cx="2362200" cy="1143000"/>
            <a:chOff x="4272" y="0"/>
            <a:chExt cx="1488" cy="912"/>
          </a:xfrm>
        </p:grpSpPr>
        <p:sp>
          <p:nvSpPr>
            <p:cNvPr id="13325" name="AutoShape 60"/>
            <p:cNvSpPr/>
            <p:nvPr>
              <p:custDataLst>
                <p:tags r:id="rId12"/>
              </p:custDataLst>
            </p:nvPr>
          </p:nvSpPr>
          <p:spPr>
            <a:xfrm rot="5454911">
              <a:off x="4896" y="174"/>
              <a:ext cx="288" cy="209"/>
            </a:xfrm>
            <a:prstGeom prst="flowChartExtract">
              <a:avLst/>
            </a:prstGeom>
            <a:solidFill>
              <a:schemeClr val="accent1"/>
            </a:solidFill>
            <a:ln w="28575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326" name="Line 61"/>
            <p:cNvSpPr/>
            <p:nvPr>
              <p:custDataLst>
                <p:tags r:id="rId13"/>
              </p:custDataLst>
            </p:nvPr>
          </p:nvSpPr>
          <p:spPr>
            <a:xfrm>
              <a:off x="4272" y="288"/>
              <a:ext cx="658" cy="0"/>
            </a:xfrm>
            <a:prstGeom prst="line">
              <a:avLst/>
            </a:prstGeom>
            <a:ln w="28575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27" name="Line 62"/>
            <p:cNvSpPr/>
            <p:nvPr>
              <p:custDataLst>
                <p:tags r:id="rId14"/>
              </p:custDataLst>
            </p:nvPr>
          </p:nvSpPr>
          <p:spPr>
            <a:xfrm>
              <a:off x="5153" y="288"/>
              <a:ext cx="223" cy="0"/>
            </a:xfrm>
            <a:prstGeom prst="line">
              <a:avLst/>
            </a:prstGeom>
            <a:ln w="28575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28" name="Line 63"/>
            <p:cNvSpPr/>
            <p:nvPr>
              <p:custDataLst>
                <p:tags r:id="rId15"/>
              </p:custDataLst>
            </p:nvPr>
          </p:nvSpPr>
          <p:spPr>
            <a:xfrm>
              <a:off x="5064" y="327"/>
              <a:ext cx="0" cy="201"/>
            </a:xfrm>
            <a:prstGeom prst="line">
              <a:avLst/>
            </a:prstGeom>
            <a:ln w="28575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29" name="AutoShape 64"/>
            <p:cNvSpPr/>
            <p:nvPr>
              <p:custDataLst>
                <p:tags r:id="rId16"/>
              </p:custDataLst>
            </p:nvPr>
          </p:nvSpPr>
          <p:spPr>
            <a:xfrm rot="-5521919">
              <a:off x="4862" y="589"/>
              <a:ext cx="290" cy="241"/>
            </a:xfrm>
            <a:prstGeom prst="flowChartExtract">
              <a:avLst/>
            </a:prstGeom>
            <a:solidFill>
              <a:schemeClr val="accent1"/>
            </a:solidFill>
            <a:ln w="28575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330" name="Line 65"/>
            <p:cNvSpPr/>
            <p:nvPr>
              <p:custDataLst>
                <p:tags r:id="rId17"/>
              </p:custDataLst>
            </p:nvPr>
          </p:nvSpPr>
          <p:spPr>
            <a:xfrm>
              <a:off x="5136" y="720"/>
              <a:ext cx="624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31" name="Line 66"/>
            <p:cNvSpPr/>
            <p:nvPr>
              <p:custDataLst>
                <p:tags r:id="rId18"/>
              </p:custDataLst>
            </p:nvPr>
          </p:nvSpPr>
          <p:spPr>
            <a:xfrm>
              <a:off x="5376" y="288"/>
              <a:ext cx="0" cy="43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32" name="Line 67"/>
            <p:cNvSpPr/>
            <p:nvPr>
              <p:custDataLst>
                <p:tags r:id="rId19"/>
              </p:custDataLst>
            </p:nvPr>
          </p:nvSpPr>
          <p:spPr>
            <a:xfrm flipH="1">
              <a:off x="4752" y="720"/>
              <a:ext cx="144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33" name="Line 68"/>
            <p:cNvSpPr/>
            <p:nvPr>
              <p:custDataLst>
                <p:tags r:id="rId20"/>
              </p:custDataLst>
            </p:nvPr>
          </p:nvSpPr>
          <p:spPr>
            <a:xfrm>
              <a:off x="4752" y="288"/>
              <a:ext cx="0" cy="43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34" name="Line 69"/>
            <p:cNvSpPr/>
            <p:nvPr>
              <p:custDataLst>
                <p:tags r:id="rId21"/>
              </p:custDataLst>
            </p:nvPr>
          </p:nvSpPr>
          <p:spPr>
            <a:xfrm>
              <a:off x="4560" y="912"/>
              <a:ext cx="431" cy="0"/>
            </a:xfrm>
            <a:prstGeom prst="line">
              <a:avLst/>
            </a:prstGeom>
            <a:ln w="28575" cap="flat" cmpd="sng">
              <a:solidFill>
                <a:schemeClr val="tx2"/>
              </a:solidFill>
              <a:prstDash val="solid"/>
              <a:round/>
              <a:headEnd type="oval" w="med" len="med"/>
              <a:tailEnd type="none" w="med" len="med"/>
            </a:ln>
          </p:spPr>
        </p:sp>
        <p:sp>
          <p:nvSpPr>
            <p:cNvPr id="13335" name="Line 70"/>
            <p:cNvSpPr/>
            <p:nvPr>
              <p:custDataLst>
                <p:tags r:id="rId22"/>
              </p:custDataLst>
            </p:nvPr>
          </p:nvSpPr>
          <p:spPr>
            <a:xfrm flipV="1">
              <a:off x="4995" y="768"/>
              <a:ext cx="0" cy="144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36" name="Line 71"/>
            <p:cNvSpPr/>
            <p:nvPr>
              <p:custDataLst>
                <p:tags r:id="rId23"/>
              </p:custDataLst>
            </p:nvPr>
          </p:nvSpPr>
          <p:spPr>
            <a:xfrm>
              <a:off x="4560" y="528"/>
              <a:ext cx="504" cy="0"/>
            </a:xfrm>
            <a:prstGeom prst="line">
              <a:avLst/>
            </a:prstGeom>
            <a:ln w="28575" cap="flat" cmpd="sng">
              <a:solidFill>
                <a:schemeClr val="tx2"/>
              </a:solidFill>
              <a:prstDash val="solid"/>
              <a:round/>
              <a:headEnd type="oval" w="med" len="med"/>
              <a:tailEnd type="none" w="med" len="med"/>
            </a:ln>
          </p:spPr>
        </p:sp>
        <p:sp>
          <p:nvSpPr>
            <p:cNvPr id="13337" name="Text Box 72"/>
            <p:cNvSpPr txBox="1"/>
            <p:nvPr>
              <p:custDataLst>
                <p:tags r:id="rId24"/>
              </p:custDataLst>
            </p:nvPr>
          </p:nvSpPr>
          <p:spPr>
            <a:xfrm>
              <a:off x="4320" y="0"/>
              <a:ext cx="288" cy="31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i="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sz="2000" b="0" i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338" name="Text Box 73"/>
            <p:cNvSpPr txBox="1"/>
            <p:nvPr>
              <p:custDataLst>
                <p:tags r:id="rId25"/>
              </p:custDataLst>
            </p:nvPr>
          </p:nvSpPr>
          <p:spPr>
            <a:xfrm>
              <a:off x="5472" y="432"/>
              <a:ext cx="288" cy="31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i="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sz="2000" b="0" i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822325" y="5013325"/>
            <a:ext cx="3321050" cy="829310"/>
            <a:chOff x="1284" y="7749"/>
            <a:chExt cx="5230" cy="1306"/>
          </a:xfrm>
        </p:grpSpPr>
        <p:sp>
          <p:nvSpPr>
            <p:cNvPr id="71754" name="Rectangle 74"/>
            <p:cNvSpPr/>
            <p:nvPr>
              <p:custDataLst>
                <p:tags r:id="rId26"/>
              </p:custDataLst>
            </p:nvPr>
          </p:nvSpPr>
          <p:spPr>
            <a:xfrm>
              <a:off x="1284" y="7749"/>
              <a:ext cx="5230" cy="13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square" anchor="t" anchorCtr="0">
              <a:spAutoFit/>
            </a:bodyPr>
            <a:p>
              <a:r>
                <a:rPr lang="en-US" altLang="zh-CN" b="1" i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74LS244</a:t>
              </a:r>
              <a:r>
                <a:rPr lang="zh-CN" altLang="en-US" b="1" i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单向传输</a:t>
              </a:r>
              <a:endParaRPr lang="zh-CN" altLang="en-US" b="1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r>
                <a:rPr lang="zh-CN" altLang="en-US" b="1" i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当</a:t>
              </a:r>
              <a:r>
                <a:rPr lang="en-US" altLang="zh-CN" b="1" i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G=“0” , A </a:t>
              </a:r>
              <a:r>
                <a:rPr lang="zh-CN" altLang="en-US" b="1" i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端</a:t>
              </a:r>
              <a:r>
                <a:rPr lang="zh-CN" altLang="en-US" b="1" i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</a:t>
              </a:r>
              <a:r>
                <a:rPr lang="zh-CN" altLang="en-US" b="1" i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b="1" i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Y</a:t>
              </a:r>
              <a:r>
                <a:rPr lang="zh-CN" altLang="en-US" b="1" i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端</a:t>
              </a:r>
              <a:endParaRPr lang="zh-CN" altLang="en-US" b="1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340" name="Line 75"/>
            <p:cNvSpPr/>
            <p:nvPr>
              <p:custDataLst>
                <p:tags r:id="rId27"/>
              </p:custDataLst>
            </p:nvPr>
          </p:nvSpPr>
          <p:spPr>
            <a:xfrm>
              <a:off x="1955" y="8507"/>
              <a:ext cx="36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4" name="组合 3"/>
          <p:cNvGrpSpPr/>
          <p:nvPr/>
        </p:nvGrpSpPr>
        <p:grpSpPr>
          <a:xfrm>
            <a:off x="4572000" y="4961255"/>
            <a:ext cx="4199255" cy="1568450"/>
            <a:chOff x="7200" y="7700"/>
            <a:chExt cx="6613" cy="2470"/>
          </a:xfrm>
        </p:grpSpPr>
        <p:sp>
          <p:nvSpPr>
            <p:cNvPr id="71756" name="Rectangle 76"/>
            <p:cNvSpPr/>
            <p:nvPr>
              <p:custDataLst>
                <p:tags r:id="rId28"/>
              </p:custDataLst>
            </p:nvPr>
          </p:nvSpPr>
          <p:spPr>
            <a:xfrm>
              <a:off x="7200" y="7700"/>
              <a:ext cx="6613" cy="247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square" anchor="t" anchorCtr="0">
              <a:spAutoFit/>
            </a:bodyPr>
            <a:p>
              <a:r>
                <a:rPr lang="en-US" altLang="zh-CN" i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74LS245</a:t>
              </a:r>
              <a:r>
                <a:rPr lang="zh-CN" altLang="en-US" i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：</a:t>
              </a:r>
              <a:endParaRPr lang="zh-CN" altLang="en-US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r>
                <a:rPr lang="zh-CN" altLang="en-US" i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当</a:t>
              </a:r>
              <a:r>
                <a:rPr lang="en-US" altLang="zh-CN" i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G=“0”</a:t>
              </a:r>
              <a:r>
                <a:rPr lang="zh-CN" altLang="en-US" i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时 双向传输</a:t>
              </a:r>
              <a:endParaRPr lang="zh-CN" altLang="en-US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r>
                <a:rPr lang="zh-CN" altLang="en-US" i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</a:t>
              </a:r>
              <a:r>
                <a:rPr lang="en-US" altLang="zh-CN" i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DIR=“1”</a:t>
              </a:r>
              <a:r>
                <a:rPr lang="zh-CN" altLang="en-US" i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，</a:t>
              </a:r>
              <a:r>
                <a:rPr lang="en-US" altLang="zh-CN" i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lang="en-US" altLang="zh-CN" i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B</a:t>
              </a:r>
              <a:endParaRPr lang="en-US" altLang="zh-CN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r>
                <a:rPr lang="en-US" altLang="zh-CN" i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DIR=“0”</a:t>
              </a:r>
              <a:r>
                <a:rPr lang="zh-CN" altLang="en-US" i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，</a:t>
              </a:r>
              <a:r>
                <a:rPr lang="en-US" altLang="zh-CN" i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B</a:t>
              </a:r>
              <a:r>
                <a:rPr lang="en-US" altLang="zh-CN" i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lang="en-US" altLang="zh-CN" i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 </a:t>
              </a:r>
              <a:endParaRPr lang="en-US" altLang="zh-CN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13342" name="Line 77"/>
            <p:cNvSpPr/>
            <p:nvPr>
              <p:custDataLst>
                <p:tags r:id="rId29"/>
              </p:custDataLst>
            </p:nvPr>
          </p:nvSpPr>
          <p:spPr>
            <a:xfrm>
              <a:off x="7966" y="8404"/>
              <a:ext cx="34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13343" name="Line 80"/>
          <p:cNvSpPr/>
          <p:nvPr>
            <p:custDataLst>
              <p:tags r:id="rId30"/>
            </p:custDataLst>
          </p:nvPr>
        </p:nvSpPr>
        <p:spPr>
          <a:xfrm>
            <a:off x="3138170" y="3196590"/>
            <a:ext cx="914400" cy="0"/>
          </a:xfrm>
          <a:prstGeom prst="line">
            <a:avLst/>
          </a:prstGeom>
          <a:ln w="762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3344" name="Text Box 81"/>
          <p:cNvSpPr txBox="1"/>
          <p:nvPr>
            <p:custDataLst>
              <p:tags r:id="rId31"/>
            </p:custDataLst>
          </p:nvPr>
        </p:nvSpPr>
        <p:spPr>
          <a:xfrm>
            <a:off x="914400" y="2658745"/>
            <a:ext cx="1143000" cy="100488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i="0" dirty="0">
                <a:latin typeface="Times New Roman" panose="02020603050405020304" pitchFamily="18" charset="0"/>
                <a:ea typeface="宋体" panose="02010600030101010101" pitchFamily="2" charset="-122"/>
              </a:rPr>
              <a:t>输入</a:t>
            </a:r>
            <a:endParaRPr lang="zh-CN" altLang="en-US" i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i="0" dirty="0">
                <a:latin typeface="Times New Roman" panose="02020603050405020304" pitchFamily="18" charset="0"/>
                <a:ea typeface="宋体" panose="02010600030101010101" pitchFamily="2" charset="-122"/>
              </a:rPr>
              <a:t>A </a:t>
            </a:r>
            <a:endParaRPr lang="en-US" altLang="zh-CN" i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345" name="Text Box 82"/>
          <p:cNvSpPr txBox="1"/>
          <p:nvPr>
            <p:custDataLst>
              <p:tags r:id="rId32"/>
            </p:custDataLst>
          </p:nvPr>
        </p:nvSpPr>
        <p:spPr>
          <a:xfrm>
            <a:off x="3290570" y="2663190"/>
            <a:ext cx="1143000" cy="100488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i="0" dirty="0">
                <a:latin typeface="Times New Roman" panose="02020603050405020304" pitchFamily="18" charset="0"/>
                <a:ea typeface="宋体" panose="02010600030101010101" pitchFamily="2" charset="-122"/>
              </a:rPr>
              <a:t>输出</a:t>
            </a:r>
            <a:endParaRPr lang="zh-CN" altLang="en-US" i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i="0" dirty="0"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endParaRPr lang="en-US" altLang="zh-CN" i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346" name="Line 86"/>
          <p:cNvSpPr/>
          <p:nvPr>
            <p:custDataLst>
              <p:tags r:id="rId33"/>
            </p:custDataLst>
          </p:nvPr>
        </p:nvSpPr>
        <p:spPr>
          <a:xfrm>
            <a:off x="2590800" y="3420745"/>
            <a:ext cx="0" cy="914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347" name="Line 87"/>
          <p:cNvSpPr/>
          <p:nvPr>
            <p:custDataLst>
              <p:tags r:id="rId34"/>
            </p:custDataLst>
          </p:nvPr>
        </p:nvSpPr>
        <p:spPr>
          <a:xfrm>
            <a:off x="1905000" y="4819015"/>
            <a:ext cx="6858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348" name="Line 88"/>
          <p:cNvSpPr/>
          <p:nvPr>
            <p:custDataLst>
              <p:tags r:id="rId35"/>
            </p:custDataLst>
          </p:nvPr>
        </p:nvSpPr>
        <p:spPr>
          <a:xfrm flipV="1">
            <a:off x="2590800" y="4446905"/>
            <a:ext cx="0" cy="3810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grpSp>
        <p:nvGrpSpPr>
          <p:cNvPr id="13349" name="Group 91"/>
          <p:cNvGrpSpPr/>
          <p:nvPr/>
        </p:nvGrpSpPr>
        <p:grpSpPr>
          <a:xfrm>
            <a:off x="4361180" y="1972945"/>
            <a:ext cx="4191000" cy="2771775"/>
            <a:chOff x="2976" y="1008"/>
            <a:chExt cx="2640" cy="1746"/>
          </a:xfrm>
        </p:grpSpPr>
        <p:sp>
          <p:nvSpPr>
            <p:cNvPr id="13350" name="Text Box 3"/>
            <p:cNvSpPr txBox="1"/>
            <p:nvPr>
              <p:custDataLst>
                <p:tags r:id="rId36"/>
              </p:custDataLst>
            </p:nvPr>
          </p:nvSpPr>
          <p:spPr>
            <a:xfrm>
              <a:off x="2976" y="1248"/>
              <a:ext cx="2640" cy="58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70000"/>
                </a:lnSpc>
                <a:spcBef>
                  <a:spcPct val="30000"/>
                </a:spcBef>
              </a:pPr>
              <a:r>
                <a:rPr lang="en-US" altLang="zh-CN" i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DIR                               V</a:t>
              </a:r>
              <a:r>
                <a:rPr lang="en-US" altLang="zh-CN" i="0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CC</a:t>
              </a:r>
              <a:endParaRPr lang="en-US" altLang="zh-CN" i="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>
                <a:lnSpc>
                  <a:spcPct val="70000"/>
                </a:lnSpc>
                <a:spcBef>
                  <a:spcPct val="30000"/>
                </a:spcBef>
              </a:pPr>
              <a:endParaRPr lang="en-US" altLang="zh-CN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>
                <a:lnSpc>
                  <a:spcPct val="60000"/>
                </a:lnSpc>
              </a:pPr>
              <a:endParaRPr lang="en-US" altLang="zh-CN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351" name="Line 4"/>
            <p:cNvSpPr/>
            <p:nvPr>
              <p:custDataLst>
                <p:tags r:id="rId37"/>
              </p:custDataLst>
            </p:nvPr>
          </p:nvSpPr>
          <p:spPr>
            <a:xfrm>
              <a:off x="3360" y="1344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3352" name="Line 8"/>
            <p:cNvSpPr/>
            <p:nvPr>
              <p:custDataLst>
                <p:tags r:id="rId38"/>
              </p:custDataLst>
            </p:nvPr>
          </p:nvSpPr>
          <p:spPr>
            <a:xfrm>
              <a:off x="4032" y="1944"/>
              <a:ext cx="0" cy="32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</p:spPr>
        </p:sp>
        <p:sp>
          <p:nvSpPr>
            <p:cNvPr id="13353" name="Rectangle 9"/>
            <p:cNvSpPr/>
            <p:nvPr>
              <p:custDataLst>
                <p:tags r:id="rId39"/>
              </p:custDataLst>
            </p:nvPr>
          </p:nvSpPr>
          <p:spPr>
            <a:xfrm>
              <a:off x="3648" y="1008"/>
              <a:ext cx="672" cy="139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000" i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74LS245</a:t>
              </a:r>
              <a:endParaRPr lang="en-US" altLang="zh-CN" sz="2000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/>
              <a:r>
                <a:rPr lang="zh-CN" altLang="en-US" sz="2000" i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双向</a:t>
              </a:r>
              <a:endParaRPr lang="zh-CN" altLang="en-US" sz="2000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/>
              <a:endParaRPr lang="zh-CN" altLang="en-US" sz="2000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/>
              <a:endParaRPr lang="zh-CN" altLang="en-US" sz="2000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/>
              <a:endParaRPr lang="en-US" altLang="zh-CN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354" name="Oval 16"/>
            <p:cNvSpPr/>
            <p:nvPr>
              <p:custDataLst>
                <p:tags r:id="rId40"/>
              </p:custDataLst>
            </p:nvPr>
          </p:nvSpPr>
          <p:spPr>
            <a:xfrm flipV="1">
              <a:off x="3936" y="2400"/>
              <a:ext cx="96" cy="81"/>
            </a:xfrm>
            <a:prstGeom prst="ellipse">
              <a:avLst/>
            </a:prstGeom>
            <a:noFill/>
            <a:ln w="9525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355" name="Line 17"/>
            <p:cNvSpPr/>
            <p:nvPr>
              <p:custDataLst>
                <p:tags r:id="rId41"/>
              </p:custDataLst>
            </p:nvPr>
          </p:nvSpPr>
          <p:spPr>
            <a:xfrm>
              <a:off x="4320" y="1329"/>
              <a:ext cx="38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sp>
          <p:nvSpPr>
            <p:cNvPr id="13356" name="Line 25"/>
            <p:cNvSpPr/>
            <p:nvPr>
              <p:custDataLst>
                <p:tags r:id="rId42"/>
              </p:custDataLst>
            </p:nvPr>
          </p:nvSpPr>
          <p:spPr>
            <a:xfrm>
              <a:off x="3552" y="2592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57" name="Rectangle 83"/>
            <p:cNvSpPr/>
            <p:nvPr>
              <p:custDataLst>
                <p:tags r:id="rId43"/>
              </p:custDataLst>
            </p:nvPr>
          </p:nvSpPr>
          <p:spPr>
            <a:xfrm>
              <a:off x="3552" y="2592"/>
              <a:ext cx="228" cy="16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pPr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sz="1800" i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G</a:t>
              </a:r>
              <a:endParaRPr lang="en-US" altLang="zh-CN" sz="1800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358" name="Line 84"/>
            <p:cNvSpPr/>
            <p:nvPr>
              <p:custDataLst>
                <p:tags r:id="rId44"/>
              </p:custDataLst>
            </p:nvPr>
          </p:nvSpPr>
          <p:spPr>
            <a:xfrm>
              <a:off x="3024" y="1923"/>
              <a:ext cx="624" cy="0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round/>
              <a:headEnd type="triangle" w="med" len="med"/>
              <a:tailEnd type="triangle" w="med" len="med"/>
            </a:ln>
          </p:spPr>
        </p:sp>
        <p:sp>
          <p:nvSpPr>
            <p:cNvPr id="13359" name="Line 85"/>
            <p:cNvSpPr/>
            <p:nvPr>
              <p:custDataLst>
                <p:tags r:id="rId45"/>
              </p:custDataLst>
            </p:nvPr>
          </p:nvSpPr>
          <p:spPr>
            <a:xfrm>
              <a:off x="4320" y="1920"/>
              <a:ext cx="480" cy="0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round/>
              <a:headEnd type="triangle" w="med" len="med"/>
              <a:tailEnd type="triangle" w="med" len="med"/>
            </a:ln>
          </p:spPr>
        </p:sp>
        <p:sp>
          <p:nvSpPr>
            <p:cNvPr id="13360" name="Line 89"/>
            <p:cNvSpPr/>
            <p:nvPr>
              <p:custDataLst>
                <p:tags r:id="rId46"/>
              </p:custDataLst>
            </p:nvPr>
          </p:nvSpPr>
          <p:spPr>
            <a:xfrm>
              <a:off x="3408" y="2724"/>
              <a:ext cx="57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361" name="Line 90"/>
            <p:cNvSpPr/>
            <p:nvPr>
              <p:custDataLst>
                <p:tags r:id="rId47"/>
              </p:custDataLst>
            </p:nvPr>
          </p:nvSpPr>
          <p:spPr>
            <a:xfrm flipV="1">
              <a:off x="3984" y="2484"/>
              <a:ext cx="0" cy="24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sp>
        <p:nvSpPr>
          <p:cNvPr id="13362" name="Rectangle 93"/>
          <p:cNvSpPr/>
          <p:nvPr>
            <p:custDataLst>
              <p:tags r:id="rId48"/>
            </p:custDataLst>
          </p:nvPr>
        </p:nvSpPr>
        <p:spPr>
          <a:xfrm>
            <a:off x="4742180" y="2963545"/>
            <a:ext cx="4048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i="0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endParaRPr lang="en-US" altLang="zh-CN" i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363" name="Rectangle 94"/>
          <p:cNvSpPr/>
          <p:nvPr>
            <p:custDataLst>
              <p:tags r:id="rId49"/>
            </p:custDataLst>
          </p:nvPr>
        </p:nvSpPr>
        <p:spPr>
          <a:xfrm>
            <a:off x="6647180" y="2963545"/>
            <a:ext cx="3873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i="0" dirty="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endParaRPr lang="en-US" altLang="zh-CN" i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3" name="矩形 59"/>
          <p:cNvSpPr/>
          <p:nvPr>
            <p:custDataLst>
              <p:tags r:id="rId1"/>
            </p:custDataLst>
          </p:nvPr>
        </p:nvSpPr>
        <p:spPr>
          <a:xfrm>
            <a:off x="822325" y="501650"/>
            <a:ext cx="638175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 algn="l"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5.1.2 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简单接口芯片</a:t>
            </a:r>
            <a:endParaRPr lang="en-US" altLang="zh-CN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130" name="Rectangle 17"/>
          <p:cNvSpPr/>
          <p:nvPr>
            <p:custDataLst>
              <p:tags r:id="rId2"/>
            </p:custDataLst>
          </p:nvPr>
        </p:nvSpPr>
        <p:spPr>
          <a:xfrm>
            <a:off x="593725" y="1501775"/>
            <a:ext cx="768794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l">
              <a:spcBef>
                <a:spcPct val="45000"/>
              </a:spcBef>
            </a:pPr>
            <a:r>
              <a:rPr lang="en-US" altLang="zh-CN" b="1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2. 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锁存器接口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--74LS374带有三态输出的8D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触发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器</a:t>
            </a:r>
            <a:endParaRPr lang="en-US" altLang="zh-CN" b="1" dirty="0">
              <a:solidFill>
                <a:schemeClr val="tx1"/>
              </a:solidFill>
              <a:latin typeface="Times New Roman" panose="02020603050405020304" pitchFamily="18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93725" y="5229225"/>
            <a:ext cx="147764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b="1" dirty="0">
                <a:latin typeface="Times New Roman" panose="02020603050405020304" pitchFamily="18" charset="0"/>
                <a:sym typeface="+mn-ea"/>
              </a:rPr>
              <a:t>74LS374</a:t>
            </a:r>
            <a:endParaRPr lang="en-US" altLang="zh-CN" b="1" dirty="0">
              <a:latin typeface="Times New Roman" panose="02020603050405020304" pitchFamily="18" charset="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130675" y="2060575"/>
            <a:ext cx="371348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b="1" dirty="0">
                <a:latin typeface="Times New Roman" panose="02020603050405020304" pitchFamily="18" charset="0"/>
                <a:sym typeface="+mn-ea"/>
              </a:rPr>
              <a:t>74LS374真值表</a:t>
            </a:r>
            <a:endParaRPr lang="en-US" altLang="zh-CN" b="1" dirty="0">
              <a:latin typeface="Times New Roman" panose="02020603050405020304" pitchFamily="18" charset="0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93725" y="2060575"/>
            <a:ext cx="2628900" cy="3162300"/>
          </a:xfrm>
          <a:prstGeom prst="rect">
            <a:avLst/>
          </a:prstGeom>
        </p:spPr>
      </p:pic>
      <p:graphicFrame>
        <p:nvGraphicFramePr>
          <p:cNvPr id="6" name="表格 5"/>
          <p:cNvGraphicFramePr/>
          <p:nvPr>
            <p:custDataLst>
              <p:tags r:id="rId5"/>
            </p:custDataLst>
          </p:nvPr>
        </p:nvGraphicFramePr>
        <p:xfrm>
          <a:off x="3667760" y="2489835"/>
          <a:ext cx="4579620" cy="2069465"/>
        </p:xfrm>
        <a:graphic>
          <a:graphicData uri="http://schemas.openxmlformats.org/drawingml/2006/table">
            <a:tbl>
              <a:tblPr/>
              <a:tblGrid>
                <a:gridCol w="1237615"/>
                <a:gridCol w="1050290"/>
                <a:gridCol w="1146175"/>
                <a:gridCol w="1145540"/>
              </a:tblGrid>
              <a:tr h="83756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2000" b="1">
                          <a:latin typeface="Calibri" panose="020F0502020204030204" charset="0"/>
                          <a:ea typeface="宋体" panose="02010600030101010101" pitchFamily="2" charset="-122"/>
                          <a:cs typeface="Calibri" panose="020F0502020204030204" charset="0"/>
                          <a:sym typeface="+mn-ea"/>
                        </a:rPr>
                        <a:t>输出允许</a:t>
                      </a:r>
                      <a:r>
                        <a:rPr lang="en-US" altLang="zh-CN" sz="2000" b="1">
                          <a:latin typeface="Calibri" panose="020F0502020204030204" charset="0"/>
                          <a:ea typeface="宋体" panose="02010600030101010101" pitchFamily="2" charset="-122"/>
                          <a:cs typeface="Calibri" panose="020F0502020204030204" charset="0"/>
                          <a:sym typeface="+mn-ea"/>
                        </a:rPr>
                        <a:t>OE*</a:t>
                      </a:r>
                      <a:endParaRPr lang="en-US" altLang="zh-CN" sz="2000" b="1">
                        <a:latin typeface="Calibri" panose="020F0502020204030204" charset="0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Calibri" panose="020F0502020204030204" charset="0"/>
                          <a:cs typeface="Calibri" panose="020F0502020204030204" charset="0"/>
                        </a:rPr>
                        <a:t> </a:t>
                      </a:r>
                      <a:r>
                        <a:rPr lang="zh-CN" altLang="en-US" sz="2000" b="1">
                          <a:latin typeface="Calibri" panose="020F0502020204030204" charset="0"/>
                          <a:cs typeface="Calibri" panose="020F0502020204030204" charset="0"/>
                        </a:rPr>
                        <a:t>钟控</a:t>
                      </a:r>
                      <a:r>
                        <a:rPr lang="en-US" sz="2000" b="1">
                          <a:latin typeface="Calibri" panose="020F0502020204030204" charset="0"/>
                          <a:cs typeface="Calibri" panose="020F0502020204030204" charset="0"/>
                        </a:rPr>
                        <a:t>CLK</a:t>
                      </a:r>
                      <a:endParaRPr lang="en-US" sz="2000" b="1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Calibri" panose="020F0502020204030204" charset="0"/>
                          <a:cs typeface="Calibri" panose="020F0502020204030204" charset="0"/>
                        </a:rPr>
                        <a:t> </a:t>
                      </a:r>
                      <a:r>
                        <a:rPr lang="zh-CN" altLang="en-US" sz="2000" b="1">
                          <a:latin typeface="Calibri" panose="020F0502020204030204" charset="0"/>
                          <a:cs typeface="Calibri" panose="020F0502020204030204" charset="0"/>
                        </a:rPr>
                        <a:t>数据</a:t>
                      </a:r>
                      <a:endParaRPr lang="zh-CN" altLang="en-US" sz="20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  <a:p>
                      <a:pPr indent="0" algn="ctr">
                        <a:buNone/>
                      </a:pPr>
                      <a:r>
                        <a:rPr lang="zh-CN" altLang="en-US" sz="2000" b="1">
                          <a:latin typeface="Calibri" panose="020F0502020204030204" charset="0"/>
                          <a:cs typeface="Calibri" panose="020F0502020204030204" charset="0"/>
                        </a:rPr>
                        <a:t>输入</a:t>
                      </a:r>
                      <a:r>
                        <a:rPr lang="en-US" altLang="zh-CN" sz="2000" b="1">
                          <a:latin typeface="Calibri" panose="020F0502020204030204" charset="0"/>
                          <a:cs typeface="Calibri" panose="020F0502020204030204" charset="0"/>
                        </a:rPr>
                        <a:t>Di</a:t>
                      </a:r>
                      <a:endParaRPr lang="en-US" altLang="zh-CN" sz="2000" b="1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Calibri" panose="020F0502020204030204" charset="0"/>
                          <a:cs typeface="Calibri" panose="020F0502020204030204" charset="0"/>
                        </a:rPr>
                        <a:t> </a:t>
                      </a:r>
                      <a:r>
                        <a:rPr lang="zh-CN" altLang="en-US" sz="2000" b="1">
                          <a:latin typeface="Calibri" panose="020F0502020204030204" charset="0"/>
                          <a:cs typeface="Calibri" panose="020F0502020204030204" charset="0"/>
                        </a:rPr>
                        <a:t>数据</a:t>
                      </a:r>
                      <a:endParaRPr lang="zh-CN" altLang="en-US" sz="20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  <a:p>
                      <a:pPr indent="0" algn="ctr">
                        <a:buNone/>
                      </a:pPr>
                      <a:r>
                        <a:rPr lang="zh-CN" altLang="en-US" sz="2000" b="1">
                          <a:latin typeface="Calibri" panose="020F0502020204030204" charset="0"/>
                          <a:cs typeface="Calibri" panose="020F0502020204030204" charset="0"/>
                        </a:rPr>
                        <a:t>输出</a:t>
                      </a:r>
                      <a:r>
                        <a:rPr lang="en-US" altLang="zh-CN" sz="2000" b="1">
                          <a:latin typeface="Calibri" panose="020F0502020204030204" charset="0"/>
                          <a:cs typeface="Calibri" panose="020F0502020204030204" charset="0"/>
                        </a:rPr>
                        <a:t>Qi</a:t>
                      </a:r>
                      <a:endParaRPr lang="en-US" altLang="zh-CN" sz="2000" b="1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797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Calibri" panose="020F0502020204030204" charset="0"/>
                          <a:cs typeface="Calibri" panose="020F0502020204030204" charset="0"/>
                        </a:rPr>
                        <a:t>L </a:t>
                      </a:r>
                      <a:endParaRPr lang="en-US" altLang="en-US" sz="2000" b="1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2000" b="1">
                          <a:latin typeface="Calibri" panose="020F0502020204030204" charset="0"/>
                          <a:cs typeface="Calibri" panose="020F0502020204030204" charset="0"/>
                        </a:rPr>
                        <a:t>无</a:t>
                      </a:r>
                      <a:r>
                        <a:rPr lang="zh-CN" altLang="en-US" sz="2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↑</a:t>
                      </a:r>
                      <a:endParaRPr lang="zh-CN" altLang="en-US" sz="2000" b="1">
                        <a:latin typeface="宋体" panose="02010600030101010101" pitchFamily="2" charset="-122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Calibri" panose="020F0502020204030204" charset="0"/>
                          <a:cs typeface="Calibri" panose="020F0502020204030204" charset="0"/>
                        </a:rPr>
                        <a:t>X </a:t>
                      </a:r>
                      <a:endParaRPr lang="en-US" altLang="en-US" sz="2000" b="1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2000" b="1">
                          <a:latin typeface="Calibri" panose="020F0502020204030204" charset="0"/>
                          <a:ea typeface="宋体" panose="02010600030101010101" pitchFamily="2" charset="-122"/>
                          <a:cs typeface="Calibri" panose="020F0502020204030204" charset="0"/>
                        </a:rPr>
                        <a:t>保持</a:t>
                      </a:r>
                      <a:endParaRPr lang="zh-CN" altLang="en-US" sz="2000" b="1">
                        <a:latin typeface="Calibri" panose="020F0502020204030204" charset="0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797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Calibri" panose="020F0502020204030204" charset="0"/>
                          <a:cs typeface="Calibri" panose="020F0502020204030204" charset="0"/>
                        </a:rPr>
                        <a:t>L </a:t>
                      </a:r>
                      <a:endParaRPr lang="en-US" altLang="en-US" sz="2000" b="1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↑</a:t>
                      </a:r>
                      <a:r>
                        <a:rPr lang="en-US" sz="2000" b="1">
                          <a:latin typeface="Calibri" panose="020F0502020204030204" charset="0"/>
                          <a:cs typeface="Calibri" panose="020F0502020204030204" charset="0"/>
                        </a:rPr>
                        <a:t> </a:t>
                      </a:r>
                      <a:endParaRPr lang="en-US" altLang="en-US" sz="2000" b="1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Calibri" panose="020F0502020204030204" charset="0"/>
                          <a:cs typeface="Calibri" panose="020F0502020204030204" charset="0"/>
                        </a:rPr>
                        <a:t>H </a:t>
                      </a:r>
                      <a:endParaRPr lang="en-US" altLang="en-US" sz="2000" b="1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Calibri" panose="020F0502020204030204" charset="0"/>
                          <a:cs typeface="Calibri" panose="020F0502020204030204" charset="0"/>
                        </a:rPr>
                        <a:t> H</a:t>
                      </a:r>
                      <a:endParaRPr lang="en-US" altLang="en-US" sz="2000" b="1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797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Calibri" panose="020F0502020204030204" charset="0"/>
                          <a:cs typeface="Calibri" panose="020F0502020204030204" charset="0"/>
                        </a:rPr>
                        <a:t> L</a:t>
                      </a:r>
                      <a:endParaRPr lang="en-US" altLang="en-US" sz="2000" b="1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Calibri" panose="020F0502020204030204" charset="0"/>
                          <a:cs typeface="Calibri" panose="020F0502020204030204" charset="0"/>
                        </a:rPr>
                        <a:t> </a:t>
                      </a:r>
                      <a:r>
                        <a:rPr lang="en-US" sz="2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↑</a:t>
                      </a:r>
                      <a:endParaRPr lang="en-US" altLang="en-US" sz="2000" b="1">
                        <a:latin typeface="宋体" panose="02010600030101010101" pitchFamily="2" charset="-122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Calibri" panose="020F0502020204030204" charset="0"/>
                          <a:cs typeface="Calibri" panose="020F0502020204030204" charset="0"/>
                        </a:rPr>
                        <a:t>L </a:t>
                      </a:r>
                      <a:endParaRPr lang="en-US" altLang="en-US" sz="2000" b="1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2000" b="1">
                          <a:latin typeface="Calibri" panose="020F0502020204030204" charset="0"/>
                          <a:cs typeface="Calibri" panose="020F0502020204030204" charset="0"/>
                        </a:rPr>
                        <a:t>L</a:t>
                      </a:r>
                      <a:r>
                        <a:rPr lang="en-US" sz="2000" b="1">
                          <a:latin typeface="Calibri" panose="020F0502020204030204" charset="0"/>
                          <a:cs typeface="Calibri" panose="020F0502020204030204" charset="0"/>
                        </a:rPr>
                        <a:t> </a:t>
                      </a:r>
                      <a:endParaRPr lang="en-US" altLang="en-US" sz="2000" b="1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797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Calibri" panose="020F0502020204030204" charset="0"/>
                          <a:cs typeface="Calibri" panose="020F0502020204030204" charset="0"/>
                        </a:rPr>
                        <a:t> H</a:t>
                      </a:r>
                      <a:endParaRPr lang="en-US" altLang="en-US" sz="2000" b="1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Calibri" panose="020F0502020204030204" charset="0"/>
                          <a:cs typeface="Calibri" panose="020F0502020204030204" charset="0"/>
                        </a:rPr>
                        <a:t> X</a:t>
                      </a:r>
                      <a:endParaRPr lang="en-US" altLang="en-US" sz="2000" b="1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Calibri" panose="020F0502020204030204" charset="0"/>
                          <a:cs typeface="Calibri" panose="020F0502020204030204" charset="0"/>
                        </a:rPr>
                        <a:t> X</a:t>
                      </a:r>
                      <a:endParaRPr lang="en-US" altLang="en-US" sz="2000" b="1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2000" b="1">
                          <a:latin typeface="Calibri" panose="020F0502020204030204" charset="0"/>
                          <a:ea typeface="宋体" panose="02010600030101010101" pitchFamily="2" charset="-122"/>
                          <a:cs typeface="Calibri" panose="020F0502020204030204" charset="0"/>
                        </a:rPr>
                        <a:t>高阻</a:t>
                      </a:r>
                      <a:endParaRPr lang="zh-CN" altLang="en-US" sz="2000" b="1">
                        <a:latin typeface="Calibri" panose="020F0502020204030204" charset="0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07315" y="332740"/>
            <a:ext cx="4307840" cy="321437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427855" y="332740"/>
            <a:ext cx="4635500" cy="58674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51460" y="3573145"/>
            <a:ext cx="423037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b="1"/>
              <a:t>74LS374 用作输入接口</a:t>
            </a:r>
            <a:endParaRPr lang="zh-CN" altLang="en-US" b="1"/>
          </a:p>
        </p:txBody>
      </p:sp>
      <p:sp>
        <p:nvSpPr>
          <p:cNvPr id="5" name="文本框 4"/>
          <p:cNvSpPr txBox="1"/>
          <p:nvPr>
            <p:custDataLst>
              <p:tags r:id="rId5"/>
            </p:custDataLst>
          </p:nvPr>
        </p:nvSpPr>
        <p:spPr>
          <a:xfrm>
            <a:off x="4500245" y="6237605"/>
            <a:ext cx="423037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b="1"/>
              <a:t>74LS374 用作输出接口</a:t>
            </a:r>
            <a:endParaRPr lang="zh-CN" altLang="en-US" b="1"/>
          </a:p>
        </p:txBody>
      </p:sp>
      <p:sp>
        <p:nvSpPr>
          <p:cNvPr id="6" name="圆角矩形 5"/>
          <p:cNvSpPr/>
          <p:nvPr/>
        </p:nvSpPr>
        <p:spPr>
          <a:xfrm>
            <a:off x="251460" y="1628775"/>
            <a:ext cx="2160270" cy="1584325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圆角矩形 6"/>
          <p:cNvSpPr/>
          <p:nvPr>
            <p:custDataLst>
              <p:tags r:id="rId6"/>
            </p:custDataLst>
          </p:nvPr>
        </p:nvSpPr>
        <p:spPr>
          <a:xfrm>
            <a:off x="2628265" y="2493010"/>
            <a:ext cx="1376680" cy="1019810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圆角矩形 7"/>
          <p:cNvSpPr/>
          <p:nvPr>
            <p:custDataLst>
              <p:tags r:id="rId7"/>
            </p:custDataLst>
          </p:nvPr>
        </p:nvSpPr>
        <p:spPr>
          <a:xfrm>
            <a:off x="6870700" y="2853055"/>
            <a:ext cx="1297940" cy="1737995"/>
          </a:xfrm>
          <a:prstGeom prst="roundRect">
            <a:avLst/>
          </a:prstGeom>
          <a:noFill/>
          <a:ln w="28575" cap="flat" cmpd="sng" algn="ctr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圆角矩形 8"/>
          <p:cNvSpPr/>
          <p:nvPr>
            <p:custDataLst>
              <p:tags r:id="rId8"/>
            </p:custDataLst>
          </p:nvPr>
        </p:nvSpPr>
        <p:spPr>
          <a:xfrm>
            <a:off x="8275320" y="2780665"/>
            <a:ext cx="504825" cy="803910"/>
          </a:xfrm>
          <a:prstGeom prst="roundRect">
            <a:avLst/>
          </a:prstGeom>
          <a:noFill/>
          <a:ln w="28575" cap="flat" cmpd="sng" algn="ctr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3489960" y="1987550"/>
          <a:ext cx="4613910" cy="2048510"/>
        </p:xfrm>
        <a:graphic>
          <a:graphicData uri="http://schemas.openxmlformats.org/drawingml/2006/table">
            <a:tbl>
              <a:tblPr/>
              <a:tblGrid>
                <a:gridCol w="1247140"/>
                <a:gridCol w="1057910"/>
                <a:gridCol w="1154430"/>
                <a:gridCol w="1154430"/>
              </a:tblGrid>
              <a:tr h="82931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2000" b="1">
                          <a:latin typeface="Calibri" panose="020F0502020204030204" charset="0"/>
                          <a:ea typeface="宋体" panose="02010600030101010101" pitchFamily="2" charset="-122"/>
                          <a:cs typeface="Calibri" panose="020F0502020204030204" charset="0"/>
                          <a:sym typeface="+mn-ea"/>
                        </a:rPr>
                        <a:t>输出</a:t>
                      </a:r>
                      <a:endParaRPr lang="zh-CN" altLang="en-US" sz="2000" b="1">
                        <a:latin typeface="Calibri" panose="020F0502020204030204" charset="0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  <a:p>
                      <a:pPr indent="0" algn="ctr">
                        <a:buNone/>
                      </a:pPr>
                      <a:r>
                        <a:rPr lang="zh-CN" altLang="en-US" sz="2000" b="1">
                          <a:latin typeface="Calibri" panose="020F0502020204030204" charset="0"/>
                          <a:ea typeface="宋体" panose="02010600030101010101" pitchFamily="2" charset="-122"/>
                          <a:cs typeface="Calibri" panose="020F0502020204030204" charset="0"/>
                          <a:sym typeface="+mn-ea"/>
                        </a:rPr>
                        <a:t>允许</a:t>
                      </a:r>
                      <a:r>
                        <a:rPr lang="en-US" altLang="zh-CN" sz="2000" b="1">
                          <a:latin typeface="Calibri" panose="020F0502020204030204" charset="0"/>
                          <a:ea typeface="宋体" panose="02010600030101010101" pitchFamily="2" charset="-122"/>
                          <a:cs typeface="Calibri" panose="020F0502020204030204" charset="0"/>
                          <a:sym typeface="+mn-ea"/>
                        </a:rPr>
                        <a:t>OE*</a:t>
                      </a:r>
                      <a:endParaRPr lang="en-US" altLang="zh-CN" sz="2000" b="1">
                        <a:latin typeface="Calibri" panose="020F0502020204030204" charset="0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Calibri" panose="020F0502020204030204" charset="0"/>
                          <a:cs typeface="Calibri" panose="020F0502020204030204" charset="0"/>
                        </a:rPr>
                        <a:t> </a:t>
                      </a:r>
                      <a:r>
                        <a:rPr lang="zh-CN" altLang="en-US" sz="2000" b="1">
                          <a:latin typeface="Calibri" panose="020F0502020204030204" charset="0"/>
                          <a:cs typeface="Calibri" panose="020F0502020204030204" charset="0"/>
                        </a:rPr>
                        <a:t>锁存</a:t>
                      </a:r>
                      <a:endParaRPr lang="zh-CN" altLang="en-US" sz="20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  <a:p>
                      <a:pPr indent="0" algn="ctr">
                        <a:buNone/>
                      </a:pPr>
                      <a:r>
                        <a:rPr lang="zh-CN" altLang="en-US" sz="2000" b="1">
                          <a:latin typeface="Calibri" panose="020F0502020204030204" charset="0"/>
                          <a:cs typeface="Calibri" panose="020F0502020204030204" charset="0"/>
                        </a:rPr>
                        <a:t>允许</a:t>
                      </a:r>
                      <a:r>
                        <a:rPr lang="en-US" altLang="zh-CN" sz="2000" b="1">
                          <a:latin typeface="Calibri" panose="020F0502020204030204" charset="0"/>
                          <a:cs typeface="Calibri" panose="020F0502020204030204" charset="0"/>
                        </a:rPr>
                        <a:t>LE</a:t>
                      </a:r>
                      <a:endParaRPr lang="en-US" altLang="zh-CN" sz="2000" b="1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Calibri" panose="020F0502020204030204" charset="0"/>
                          <a:cs typeface="Calibri" panose="020F0502020204030204" charset="0"/>
                        </a:rPr>
                        <a:t> </a:t>
                      </a:r>
                      <a:r>
                        <a:rPr lang="zh-CN" altLang="en-US" sz="2000" b="1">
                          <a:latin typeface="Calibri" panose="020F0502020204030204" charset="0"/>
                          <a:cs typeface="Calibri" panose="020F0502020204030204" charset="0"/>
                        </a:rPr>
                        <a:t>数据</a:t>
                      </a:r>
                      <a:endParaRPr lang="zh-CN" altLang="en-US" sz="20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  <a:p>
                      <a:pPr indent="0" algn="ctr">
                        <a:buNone/>
                      </a:pPr>
                      <a:r>
                        <a:rPr lang="zh-CN" altLang="en-US" sz="2000" b="1">
                          <a:latin typeface="Calibri" panose="020F0502020204030204" charset="0"/>
                          <a:cs typeface="Calibri" panose="020F0502020204030204" charset="0"/>
                        </a:rPr>
                        <a:t>输入</a:t>
                      </a:r>
                      <a:r>
                        <a:rPr lang="en-US" altLang="zh-CN" sz="2000" b="1">
                          <a:latin typeface="Calibri" panose="020F0502020204030204" charset="0"/>
                          <a:cs typeface="Calibri" panose="020F0502020204030204" charset="0"/>
                        </a:rPr>
                        <a:t>Di</a:t>
                      </a:r>
                      <a:endParaRPr lang="en-US" altLang="zh-CN" sz="2000" b="1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Calibri" panose="020F0502020204030204" charset="0"/>
                          <a:cs typeface="Calibri" panose="020F0502020204030204" charset="0"/>
                        </a:rPr>
                        <a:t> </a:t>
                      </a:r>
                      <a:r>
                        <a:rPr lang="zh-CN" altLang="en-US" sz="2000" b="1">
                          <a:latin typeface="Calibri" panose="020F0502020204030204" charset="0"/>
                          <a:cs typeface="Calibri" panose="020F0502020204030204" charset="0"/>
                        </a:rPr>
                        <a:t>数据</a:t>
                      </a:r>
                      <a:endParaRPr lang="zh-CN" altLang="en-US" sz="20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  <a:p>
                      <a:pPr indent="0" algn="ctr">
                        <a:buNone/>
                      </a:pPr>
                      <a:r>
                        <a:rPr lang="zh-CN" altLang="en-US" sz="2000" b="1">
                          <a:latin typeface="Calibri" panose="020F0502020204030204" charset="0"/>
                          <a:cs typeface="Calibri" panose="020F0502020204030204" charset="0"/>
                        </a:rPr>
                        <a:t>输出</a:t>
                      </a:r>
                      <a:r>
                        <a:rPr lang="en-US" altLang="zh-CN" sz="2000" b="1">
                          <a:latin typeface="Calibri" panose="020F0502020204030204" charset="0"/>
                          <a:cs typeface="Calibri" panose="020F0502020204030204" charset="0"/>
                        </a:rPr>
                        <a:t>Qi</a:t>
                      </a:r>
                      <a:endParaRPr lang="en-US" altLang="zh-CN" sz="2000" b="1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Calibri" panose="020F0502020204030204" charset="0"/>
                          <a:cs typeface="Calibri" panose="020F0502020204030204" charset="0"/>
                        </a:rPr>
                        <a:t>L </a:t>
                      </a:r>
                      <a:endParaRPr lang="en-US" altLang="en-US" sz="2000" b="1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Calibri" panose="020F0502020204030204" charset="0"/>
                          <a:cs typeface="Calibri" panose="020F0502020204030204" charset="0"/>
                        </a:rPr>
                        <a:t>H </a:t>
                      </a:r>
                      <a:endParaRPr lang="en-US" altLang="en-US" sz="2000" b="1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Calibri" panose="020F0502020204030204" charset="0"/>
                          <a:cs typeface="Calibri" panose="020F0502020204030204" charset="0"/>
                        </a:rPr>
                        <a:t>H </a:t>
                      </a:r>
                      <a:endParaRPr lang="en-US" altLang="en-US" sz="2000" b="1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Calibri" panose="020F0502020204030204" charset="0"/>
                          <a:cs typeface="Calibri" panose="020F0502020204030204" charset="0"/>
                        </a:rPr>
                        <a:t> H</a:t>
                      </a:r>
                      <a:endParaRPr lang="en-US" altLang="en-US" sz="2000" b="1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Calibri" panose="020F0502020204030204" charset="0"/>
                          <a:cs typeface="Calibri" panose="020F0502020204030204" charset="0"/>
                        </a:rPr>
                        <a:t>L </a:t>
                      </a:r>
                      <a:endParaRPr lang="en-US" altLang="en-US" sz="2000" b="1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Calibri" panose="020F0502020204030204" charset="0"/>
                          <a:cs typeface="Calibri" panose="020F0502020204030204" charset="0"/>
                        </a:rPr>
                        <a:t>H </a:t>
                      </a:r>
                      <a:endParaRPr lang="en-US" altLang="en-US" sz="2000" b="1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Calibri" panose="020F0502020204030204" charset="0"/>
                          <a:cs typeface="Calibri" panose="020F0502020204030204" charset="0"/>
                        </a:rPr>
                        <a:t>L </a:t>
                      </a:r>
                      <a:endParaRPr lang="en-US" altLang="en-US" sz="2000" b="1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Calibri" panose="020F0502020204030204" charset="0"/>
                          <a:cs typeface="Calibri" panose="020F0502020204030204" charset="0"/>
                        </a:rPr>
                        <a:t> L</a:t>
                      </a:r>
                      <a:endParaRPr lang="en-US" altLang="en-US" sz="2000" b="1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Calibri" panose="020F0502020204030204" charset="0"/>
                          <a:cs typeface="Calibri" panose="020F0502020204030204" charset="0"/>
                        </a:rPr>
                        <a:t> L</a:t>
                      </a:r>
                      <a:endParaRPr lang="en-US" altLang="en-US" sz="2000" b="1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Calibri" panose="020F0502020204030204" charset="0"/>
                          <a:cs typeface="Calibri" panose="020F0502020204030204" charset="0"/>
                        </a:rPr>
                        <a:t> L</a:t>
                      </a:r>
                      <a:endParaRPr lang="en-US" altLang="en-US" sz="2000" b="1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Calibri" panose="020F0502020204030204" charset="0"/>
                          <a:cs typeface="Calibri" panose="020F0502020204030204" charset="0"/>
                        </a:rPr>
                        <a:t>X </a:t>
                      </a:r>
                      <a:endParaRPr lang="en-US" altLang="en-US" sz="2000" b="1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2000" b="1">
                          <a:latin typeface="Calibri" panose="020F0502020204030204" charset="0"/>
                          <a:cs typeface="Calibri" panose="020F0502020204030204" charset="0"/>
                        </a:rPr>
                        <a:t>保持</a:t>
                      </a:r>
                      <a:r>
                        <a:rPr lang="en-US" sz="2000" b="1">
                          <a:latin typeface="Calibri" panose="020F0502020204030204" charset="0"/>
                          <a:cs typeface="Calibri" panose="020F0502020204030204" charset="0"/>
                        </a:rPr>
                        <a:t> </a:t>
                      </a:r>
                      <a:endParaRPr lang="en-US" altLang="en-US" sz="2000" b="1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654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Calibri" panose="020F0502020204030204" charset="0"/>
                          <a:cs typeface="Calibri" panose="020F0502020204030204" charset="0"/>
                        </a:rPr>
                        <a:t> H</a:t>
                      </a:r>
                      <a:endParaRPr lang="en-US" altLang="en-US" sz="2000" b="1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Calibri" panose="020F0502020204030204" charset="0"/>
                          <a:cs typeface="Calibri" panose="020F0502020204030204" charset="0"/>
                        </a:rPr>
                        <a:t> X</a:t>
                      </a:r>
                      <a:endParaRPr lang="en-US" altLang="en-US" sz="2000" b="1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Calibri" panose="020F0502020204030204" charset="0"/>
                          <a:cs typeface="Calibri" panose="020F0502020204030204" charset="0"/>
                        </a:rPr>
                        <a:t> X</a:t>
                      </a:r>
                      <a:endParaRPr lang="en-US" altLang="en-US" sz="2000" b="1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2000" b="1">
                          <a:latin typeface="Calibri" panose="020F0502020204030204" charset="0"/>
                          <a:ea typeface="宋体" panose="02010600030101010101" pitchFamily="2" charset="-122"/>
                          <a:cs typeface="Calibri" panose="020F0502020204030204" charset="0"/>
                        </a:rPr>
                        <a:t>高阻</a:t>
                      </a:r>
                      <a:endParaRPr lang="zh-CN" altLang="en-US" sz="2000" b="1">
                        <a:latin typeface="Calibri" panose="020F0502020204030204" charset="0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243" name="矩形 59"/>
          <p:cNvSpPr/>
          <p:nvPr>
            <p:custDataLst>
              <p:tags r:id="rId2"/>
            </p:custDataLst>
          </p:nvPr>
        </p:nvSpPr>
        <p:spPr>
          <a:xfrm>
            <a:off x="822325" y="501650"/>
            <a:ext cx="638175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 algn="l"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5.1.2 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简单接口芯片</a:t>
            </a:r>
            <a:endParaRPr lang="en-US" altLang="zh-CN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539750" y="1454785"/>
            <a:ext cx="648144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b="1"/>
              <a:t>74LS</a:t>
            </a:r>
            <a:r>
              <a:rPr lang="en-US" altLang="zh-CN" b="1"/>
              <a:t>3</a:t>
            </a:r>
            <a:r>
              <a:rPr lang="zh-CN" altLang="en-US" b="1"/>
              <a:t>7</a:t>
            </a:r>
            <a:r>
              <a:rPr lang="en-US" altLang="zh-CN" b="1"/>
              <a:t>3</a:t>
            </a:r>
            <a:r>
              <a:rPr lang="zh-CN" altLang="en-US" b="1"/>
              <a:t> </a:t>
            </a:r>
            <a:r>
              <a:rPr lang="en-US" altLang="zh-CN" b="1" dirty="0">
                <a:latin typeface="Times New Roman" panose="02020603050405020304" pitchFamily="18" charset="0"/>
                <a:sym typeface="+mn-ea"/>
              </a:rPr>
              <a:t>带有三态输出的8D</a:t>
            </a:r>
            <a:r>
              <a:rPr lang="zh-CN" b="1" dirty="0">
                <a:latin typeface="Times New Roman" panose="02020603050405020304" pitchFamily="18" charset="0"/>
                <a:sym typeface="+mn-ea"/>
              </a:rPr>
              <a:t>锁存器</a:t>
            </a:r>
            <a:endParaRPr lang="zh-CN" b="1"/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528320" y="1915160"/>
            <a:ext cx="2695575" cy="3171825"/>
          </a:xfrm>
          <a:prstGeom prst="rect">
            <a:avLst/>
          </a:prstGeom>
        </p:spPr>
      </p:pic>
      <p:sp>
        <p:nvSpPr>
          <p:cNvPr id="3" name="文本框 2"/>
          <p:cNvSpPr txBox="1"/>
          <p:nvPr>
            <p:custDataLst>
              <p:tags r:id="rId6"/>
            </p:custDataLst>
          </p:nvPr>
        </p:nvSpPr>
        <p:spPr>
          <a:xfrm>
            <a:off x="521970" y="5085715"/>
            <a:ext cx="147764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b="1" dirty="0">
                <a:latin typeface="Times New Roman" panose="02020603050405020304" pitchFamily="18" charset="0"/>
                <a:sym typeface="+mn-ea"/>
              </a:rPr>
              <a:t>74LS373</a:t>
            </a:r>
            <a:endParaRPr lang="en-US" altLang="zh-CN" b="1" dirty="0">
              <a:latin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3667760" y="1987550"/>
          <a:ext cx="4579620" cy="2069465"/>
        </p:xfrm>
        <a:graphic>
          <a:graphicData uri="http://schemas.openxmlformats.org/drawingml/2006/table">
            <a:tbl>
              <a:tblPr/>
              <a:tblGrid>
                <a:gridCol w="1237615"/>
                <a:gridCol w="1050290"/>
                <a:gridCol w="1146175"/>
                <a:gridCol w="1145540"/>
              </a:tblGrid>
              <a:tr h="83756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2000" b="1">
                          <a:latin typeface="Calibri" panose="020F0502020204030204" charset="0"/>
                          <a:ea typeface="宋体" panose="02010600030101010101" pitchFamily="2" charset="-122"/>
                          <a:cs typeface="Calibri" panose="020F0502020204030204" charset="0"/>
                          <a:sym typeface="+mn-ea"/>
                        </a:rPr>
                        <a:t>复位</a:t>
                      </a:r>
                      <a:r>
                        <a:rPr lang="en-US" altLang="zh-CN" sz="2000" b="1">
                          <a:latin typeface="Calibri" panose="020F0502020204030204" charset="0"/>
                          <a:ea typeface="宋体" panose="02010600030101010101" pitchFamily="2" charset="-122"/>
                          <a:cs typeface="Calibri" panose="020F0502020204030204" charset="0"/>
                          <a:sym typeface="+mn-ea"/>
                        </a:rPr>
                        <a:t>MR*</a:t>
                      </a:r>
                      <a:endParaRPr lang="en-US" altLang="zh-CN" sz="2000" b="1">
                        <a:latin typeface="Calibri" panose="020F0502020204030204" charset="0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Calibri" panose="020F0502020204030204" charset="0"/>
                          <a:cs typeface="Calibri" panose="020F0502020204030204" charset="0"/>
                        </a:rPr>
                        <a:t> </a:t>
                      </a:r>
                      <a:r>
                        <a:rPr lang="zh-CN" altLang="en-US" sz="2000" b="1">
                          <a:latin typeface="Calibri" panose="020F0502020204030204" charset="0"/>
                          <a:cs typeface="Calibri" panose="020F0502020204030204" charset="0"/>
                        </a:rPr>
                        <a:t>钟控</a:t>
                      </a:r>
                      <a:r>
                        <a:rPr lang="en-US" sz="2000" b="1">
                          <a:latin typeface="Calibri" panose="020F0502020204030204" charset="0"/>
                          <a:cs typeface="Calibri" panose="020F0502020204030204" charset="0"/>
                        </a:rPr>
                        <a:t>CLK</a:t>
                      </a:r>
                      <a:endParaRPr lang="en-US" sz="2000" b="1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Calibri" panose="020F0502020204030204" charset="0"/>
                          <a:cs typeface="Calibri" panose="020F0502020204030204" charset="0"/>
                        </a:rPr>
                        <a:t> </a:t>
                      </a:r>
                      <a:r>
                        <a:rPr lang="zh-CN" altLang="en-US" sz="2000" b="1">
                          <a:latin typeface="Calibri" panose="020F0502020204030204" charset="0"/>
                          <a:cs typeface="Calibri" panose="020F0502020204030204" charset="0"/>
                        </a:rPr>
                        <a:t>数据</a:t>
                      </a:r>
                      <a:endParaRPr lang="zh-CN" altLang="en-US" sz="20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  <a:p>
                      <a:pPr indent="0" algn="ctr">
                        <a:buNone/>
                      </a:pPr>
                      <a:r>
                        <a:rPr lang="zh-CN" altLang="en-US" sz="2000" b="1">
                          <a:latin typeface="Calibri" panose="020F0502020204030204" charset="0"/>
                          <a:cs typeface="Calibri" panose="020F0502020204030204" charset="0"/>
                        </a:rPr>
                        <a:t>输入</a:t>
                      </a:r>
                      <a:r>
                        <a:rPr lang="en-US" altLang="zh-CN" sz="2000" b="1">
                          <a:latin typeface="Calibri" panose="020F0502020204030204" charset="0"/>
                          <a:cs typeface="Calibri" panose="020F0502020204030204" charset="0"/>
                        </a:rPr>
                        <a:t>Di</a:t>
                      </a:r>
                      <a:endParaRPr lang="en-US" altLang="zh-CN" sz="2000" b="1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Calibri" panose="020F0502020204030204" charset="0"/>
                          <a:cs typeface="Calibri" panose="020F0502020204030204" charset="0"/>
                        </a:rPr>
                        <a:t> </a:t>
                      </a:r>
                      <a:r>
                        <a:rPr lang="zh-CN" altLang="en-US" sz="2000" b="1">
                          <a:latin typeface="Calibri" panose="020F0502020204030204" charset="0"/>
                          <a:cs typeface="Calibri" panose="020F0502020204030204" charset="0"/>
                        </a:rPr>
                        <a:t>数据</a:t>
                      </a:r>
                      <a:endParaRPr lang="zh-CN" altLang="en-US" sz="2000" b="1">
                        <a:latin typeface="Calibri" panose="020F0502020204030204" charset="0"/>
                        <a:cs typeface="Calibri" panose="020F0502020204030204" charset="0"/>
                      </a:endParaRPr>
                    </a:p>
                    <a:p>
                      <a:pPr indent="0" algn="ctr">
                        <a:buNone/>
                      </a:pPr>
                      <a:r>
                        <a:rPr lang="zh-CN" altLang="en-US" sz="2000" b="1">
                          <a:latin typeface="Calibri" panose="020F0502020204030204" charset="0"/>
                          <a:cs typeface="Calibri" panose="020F0502020204030204" charset="0"/>
                        </a:rPr>
                        <a:t>输出</a:t>
                      </a:r>
                      <a:r>
                        <a:rPr lang="en-US" altLang="zh-CN" sz="2000" b="1">
                          <a:latin typeface="Calibri" panose="020F0502020204030204" charset="0"/>
                          <a:cs typeface="Calibri" panose="020F0502020204030204" charset="0"/>
                        </a:rPr>
                        <a:t>Qi</a:t>
                      </a:r>
                      <a:endParaRPr lang="en-US" altLang="zh-CN" sz="2000" b="1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797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Calibri" panose="020F0502020204030204" charset="0"/>
                          <a:cs typeface="Calibri" panose="020F0502020204030204" charset="0"/>
                        </a:rPr>
                        <a:t>L </a:t>
                      </a:r>
                      <a:endParaRPr lang="en-US" altLang="en-US" sz="2000" b="1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Calibri" panose="020F0502020204030204" charset="0"/>
                          <a:cs typeface="Calibri" panose="020F0502020204030204" charset="0"/>
                        </a:rPr>
                        <a:t>X</a:t>
                      </a:r>
                      <a:endParaRPr lang="en-US" altLang="en-US" sz="2000" b="1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Calibri" panose="020F0502020204030204" charset="0"/>
                          <a:cs typeface="Calibri" panose="020F0502020204030204" charset="0"/>
                        </a:rPr>
                        <a:t>X </a:t>
                      </a:r>
                      <a:endParaRPr lang="en-US" altLang="en-US" sz="2000" b="1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Calibri" panose="020F0502020204030204" charset="0"/>
                          <a:cs typeface="Calibri" panose="020F0502020204030204" charset="0"/>
                        </a:rPr>
                        <a:t> L</a:t>
                      </a:r>
                      <a:endParaRPr lang="en-US" altLang="en-US" sz="2000" b="1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797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Calibri" panose="020F0502020204030204" charset="0"/>
                          <a:cs typeface="Calibri" panose="020F0502020204030204" charset="0"/>
                        </a:rPr>
                        <a:t>H </a:t>
                      </a:r>
                      <a:endParaRPr lang="en-US" altLang="en-US" sz="2000" b="1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↑</a:t>
                      </a:r>
                      <a:r>
                        <a:rPr lang="en-US" sz="2000" b="1">
                          <a:latin typeface="Calibri" panose="020F0502020204030204" charset="0"/>
                          <a:cs typeface="Calibri" panose="020F0502020204030204" charset="0"/>
                        </a:rPr>
                        <a:t> </a:t>
                      </a:r>
                      <a:endParaRPr lang="en-US" altLang="en-US" sz="2000" b="1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Calibri" panose="020F0502020204030204" charset="0"/>
                          <a:cs typeface="Calibri" panose="020F0502020204030204" charset="0"/>
                        </a:rPr>
                        <a:t>H </a:t>
                      </a:r>
                      <a:endParaRPr lang="en-US" altLang="en-US" sz="2000" b="1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Calibri" panose="020F0502020204030204" charset="0"/>
                          <a:cs typeface="Calibri" panose="020F0502020204030204" charset="0"/>
                        </a:rPr>
                        <a:t> H</a:t>
                      </a:r>
                      <a:endParaRPr lang="en-US" altLang="en-US" sz="2000" b="1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797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Calibri" panose="020F0502020204030204" charset="0"/>
                          <a:cs typeface="Calibri" panose="020F0502020204030204" charset="0"/>
                        </a:rPr>
                        <a:t> H</a:t>
                      </a:r>
                      <a:endParaRPr lang="en-US" altLang="en-US" sz="2000" b="1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Calibri" panose="020F0502020204030204" charset="0"/>
                          <a:cs typeface="Calibri" panose="020F0502020204030204" charset="0"/>
                        </a:rPr>
                        <a:t> </a:t>
                      </a:r>
                      <a:r>
                        <a:rPr lang="en-US" sz="2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</a:rPr>
                        <a:t>↑</a:t>
                      </a:r>
                      <a:endParaRPr lang="en-US" altLang="en-US" sz="2000" b="1">
                        <a:latin typeface="宋体" panose="02010600030101010101" pitchFamily="2" charset="-122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Calibri" panose="020F0502020204030204" charset="0"/>
                          <a:cs typeface="Calibri" panose="020F0502020204030204" charset="0"/>
                        </a:rPr>
                        <a:t>L </a:t>
                      </a:r>
                      <a:endParaRPr lang="en-US" altLang="en-US" sz="2000" b="1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2000" b="1">
                          <a:latin typeface="Calibri" panose="020F0502020204030204" charset="0"/>
                          <a:cs typeface="Calibri" panose="020F0502020204030204" charset="0"/>
                        </a:rPr>
                        <a:t>L</a:t>
                      </a:r>
                      <a:r>
                        <a:rPr lang="en-US" sz="2000" b="1">
                          <a:latin typeface="Calibri" panose="020F0502020204030204" charset="0"/>
                          <a:cs typeface="Calibri" panose="020F0502020204030204" charset="0"/>
                        </a:rPr>
                        <a:t> </a:t>
                      </a:r>
                      <a:endParaRPr lang="en-US" altLang="en-US" sz="2000" b="1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797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Calibri" panose="020F0502020204030204" charset="0"/>
                          <a:cs typeface="Calibri" panose="020F0502020204030204" charset="0"/>
                        </a:rPr>
                        <a:t> H</a:t>
                      </a:r>
                      <a:endParaRPr lang="en-US" altLang="en-US" sz="2000" b="1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Calibri" panose="020F0502020204030204" charset="0"/>
                          <a:cs typeface="Calibri" panose="020F0502020204030204" charset="0"/>
                        </a:rPr>
                        <a:t> </a:t>
                      </a:r>
                      <a:r>
                        <a:rPr lang="zh-CN" altLang="en-US" sz="2000" b="1">
                          <a:latin typeface="Calibri" panose="020F0502020204030204" charset="0"/>
                          <a:cs typeface="Calibri" panose="020F0502020204030204" charset="0"/>
                        </a:rPr>
                        <a:t>无</a:t>
                      </a:r>
                      <a:r>
                        <a:rPr lang="en-US" sz="2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Calibri" panose="020F0502020204030204" charset="0"/>
                          <a:sym typeface="+mn-ea"/>
                        </a:rPr>
                        <a:t>↑</a:t>
                      </a:r>
                      <a:endParaRPr lang="en-US" altLang="en-US" sz="2000" b="1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latin typeface="Calibri" panose="020F0502020204030204" charset="0"/>
                          <a:cs typeface="Calibri" panose="020F0502020204030204" charset="0"/>
                        </a:rPr>
                        <a:t> X</a:t>
                      </a:r>
                      <a:endParaRPr lang="en-US" altLang="en-US" sz="2000" b="1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2000" b="1">
                          <a:latin typeface="Calibri" panose="020F0502020204030204" charset="0"/>
                          <a:ea typeface="宋体" panose="02010600030101010101" pitchFamily="2" charset="-122"/>
                          <a:cs typeface="Calibri" panose="020F0502020204030204" charset="0"/>
                        </a:rPr>
                        <a:t>保持</a:t>
                      </a:r>
                      <a:endParaRPr lang="zh-CN" altLang="en-US" sz="2000" b="1">
                        <a:latin typeface="Calibri" panose="020F0502020204030204" charset="0"/>
                        <a:ea typeface="宋体" panose="02010600030101010101" pitchFamily="2" charset="-122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243" name="矩形 59"/>
          <p:cNvSpPr/>
          <p:nvPr>
            <p:custDataLst>
              <p:tags r:id="rId2"/>
            </p:custDataLst>
          </p:nvPr>
        </p:nvSpPr>
        <p:spPr>
          <a:xfrm>
            <a:off x="822325" y="501650"/>
            <a:ext cx="638175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 algn="l"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5.1.2 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简单接口芯片</a:t>
            </a:r>
            <a:endParaRPr lang="en-US" altLang="zh-CN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539750" y="1454785"/>
            <a:ext cx="648144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zh-CN" altLang="en-US" b="1"/>
              <a:t>74LS</a:t>
            </a:r>
            <a:r>
              <a:rPr lang="en-US" altLang="zh-CN" b="1"/>
              <a:t>2</a:t>
            </a:r>
            <a:r>
              <a:rPr lang="zh-CN" altLang="en-US" b="1"/>
              <a:t>7</a:t>
            </a:r>
            <a:r>
              <a:rPr lang="en-US" altLang="zh-CN" b="1"/>
              <a:t>3</a:t>
            </a:r>
            <a:r>
              <a:rPr lang="zh-CN" altLang="en-US" b="1"/>
              <a:t> </a:t>
            </a:r>
            <a:r>
              <a:rPr lang="en-US" altLang="zh-CN" b="1" dirty="0">
                <a:latin typeface="Times New Roman" panose="02020603050405020304" pitchFamily="18" charset="0"/>
                <a:sym typeface="+mn-ea"/>
              </a:rPr>
              <a:t>带</a:t>
            </a:r>
            <a:r>
              <a:rPr lang="zh-CN" altLang="en-US" b="1" dirty="0">
                <a:latin typeface="Times New Roman" panose="02020603050405020304" pitchFamily="18" charset="0"/>
                <a:sym typeface="+mn-ea"/>
              </a:rPr>
              <a:t>复位</a:t>
            </a:r>
            <a:r>
              <a:rPr lang="en-US" altLang="zh-CN" b="1" dirty="0">
                <a:latin typeface="Times New Roman" panose="02020603050405020304" pitchFamily="18" charset="0"/>
                <a:sym typeface="+mn-ea"/>
              </a:rPr>
              <a:t>的8D</a:t>
            </a:r>
            <a:r>
              <a:rPr lang="zh-CN" altLang="en-US" b="1" dirty="0">
                <a:latin typeface="Times New Roman" panose="02020603050405020304" pitchFamily="18" charset="0"/>
                <a:sym typeface="+mn-ea"/>
              </a:rPr>
              <a:t>触发器</a:t>
            </a:r>
            <a:r>
              <a:rPr lang="zh-CN" b="1" dirty="0">
                <a:latin typeface="Times New Roman" panose="02020603050405020304" pitchFamily="18" charset="0"/>
                <a:sym typeface="+mn-ea"/>
              </a:rPr>
              <a:t>（</a:t>
            </a:r>
            <a:r>
              <a:rPr lang="zh-CN" b="1" dirty="0">
                <a:solidFill>
                  <a:srgbClr val="C00000"/>
                </a:solidFill>
                <a:latin typeface="Times New Roman" panose="02020603050405020304" pitchFamily="18" charset="0"/>
                <a:sym typeface="+mn-ea"/>
              </a:rPr>
              <a:t>无三态</a:t>
            </a:r>
            <a:r>
              <a:rPr lang="zh-CN" b="1" dirty="0">
                <a:latin typeface="Times New Roman" panose="02020603050405020304" pitchFamily="18" charset="0"/>
                <a:sym typeface="+mn-ea"/>
              </a:rPr>
              <a:t>）</a:t>
            </a:r>
            <a:endParaRPr lang="zh-CN" b="1"/>
          </a:p>
          <a:p>
            <a:pPr algn="l"/>
            <a:r>
              <a:rPr lang="zh-CN" altLang="en-US" b="1">
                <a:latin typeface="Calibri" panose="020F0502020204030204" charset="0"/>
                <a:cs typeface="Calibri" panose="020F0502020204030204" charset="0"/>
                <a:sym typeface="+mn-ea"/>
              </a:rPr>
              <a:t>复位</a:t>
            </a:r>
            <a:r>
              <a:rPr lang="en-US" altLang="zh-CN" b="1">
                <a:latin typeface="Calibri" panose="020F0502020204030204" charset="0"/>
                <a:cs typeface="Calibri" panose="020F0502020204030204" charset="0"/>
                <a:sym typeface="+mn-ea"/>
              </a:rPr>
              <a:t>MR*</a:t>
            </a:r>
            <a:endParaRPr lang="zh-CN" b="1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11505" y="1915795"/>
            <a:ext cx="2666365" cy="3228975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593725" y="5157470"/>
            <a:ext cx="147764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b="1" dirty="0">
                <a:latin typeface="Times New Roman" panose="02020603050405020304" pitchFamily="18" charset="0"/>
                <a:sym typeface="+mn-ea"/>
              </a:rPr>
              <a:t>74LS273</a:t>
            </a:r>
            <a:endParaRPr lang="en-US" altLang="zh-CN" b="1" dirty="0">
              <a:latin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3" name="矩形 59"/>
          <p:cNvSpPr/>
          <p:nvPr>
            <p:custDataLst>
              <p:tags r:id="rId1"/>
            </p:custDataLst>
          </p:nvPr>
        </p:nvSpPr>
        <p:spPr>
          <a:xfrm>
            <a:off x="822325" y="501650"/>
            <a:ext cx="638175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 algn="l"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5.1.2 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简单接口芯片</a:t>
            </a:r>
            <a:endParaRPr lang="en-US" altLang="zh-CN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130" name="Rectangle 17"/>
          <p:cNvSpPr/>
          <p:nvPr>
            <p:custDataLst>
              <p:tags r:id="rId2"/>
            </p:custDataLst>
          </p:nvPr>
        </p:nvSpPr>
        <p:spPr>
          <a:xfrm>
            <a:off x="593725" y="1501775"/>
            <a:ext cx="768794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l">
              <a:spcBef>
                <a:spcPct val="45000"/>
              </a:spcBef>
            </a:pPr>
            <a:r>
              <a:rPr lang="en-US" altLang="zh-CN" b="1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3. </a:t>
            </a:r>
            <a:r>
              <a:rPr b="1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案例实现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5-1</a:t>
            </a:r>
            <a:r>
              <a:rPr b="1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：开关控制</a:t>
            </a:r>
            <a:r>
              <a:rPr lang="en-US" altLang="zh-CN" b="1" dirty="0">
                <a:latin typeface="+mn-lt"/>
                <a:ea typeface="+mn-ea"/>
                <a:sym typeface="+mn-ea"/>
              </a:rPr>
              <a:t>7</a:t>
            </a:r>
            <a:r>
              <a:rPr lang="zh-CN" altLang="en-US" b="1" dirty="0">
                <a:latin typeface="+mn-lt"/>
                <a:ea typeface="+mn-ea"/>
                <a:sym typeface="+mn-ea"/>
              </a:rPr>
              <a:t>段数码管</a:t>
            </a:r>
            <a:endParaRPr lang="en-US" altLang="zh-CN" b="1" dirty="0">
              <a:solidFill>
                <a:schemeClr val="tx1"/>
              </a:solidFill>
              <a:latin typeface="Times New Roman" panose="02020603050405020304" pitchFamily="18" charset="0"/>
              <a:sym typeface="+mn-ea"/>
            </a:endParaRPr>
          </a:p>
        </p:txBody>
      </p:sp>
      <p:sp>
        <p:nvSpPr>
          <p:cNvPr id="14340" name="Rectangle 3"/>
          <p:cNvSpPr/>
          <p:nvPr>
            <p:custDataLst>
              <p:tags r:id="rId3"/>
            </p:custDataLst>
          </p:nvPr>
        </p:nvSpPr>
        <p:spPr>
          <a:xfrm>
            <a:off x="521970" y="1989455"/>
            <a:ext cx="7646035" cy="2229485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fontAlgn="base" hangingPunct="1">
              <a:lnSpc>
                <a:spcPct val="100000"/>
              </a:lnSpc>
              <a:buNone/>
            </a:pPr>
            <a:r>
              <a:rPr lang="zh-CN" altLang="en-US" sz="2400" b="1" strike="noStrike" noProof="1" dirty="0">
                <a:latin typeface="+mn-lt"/>
                <a:ea typeface="+mn-ea"/>
                <a:cs typeface="+mn-cs"/>
              </a:rPr>
              <a:t>根据开关状态在</a:t>
            </a:r>
            <a:r>
              <a:rPr lang="en-US" altLang="zh-CN" sz="2400" b="1" strike="noStrike" noProof="1" dirty="0">
                <a:latin typeface="+mn-lt"/>
                <a:ea typeface="+mn-ea"/>
                <a:cs typeface="+mn-cs"/>
              </a:rPr>
              <a:t>7</a:t>
            </a:r>
            <a:r>
              <a:rPr lang="zh-CN" altLang="en-US" sz="2400" b="1" strike="noStrike" noProof="1" dirty="0">
                <a:latin typeface="+mn-lt"/>
                <a:ea typeface="+mn-ea"/>
                <a:cs typeface="+mn-cs"/>
              </a:rPr>
              <a:t>段数码管上显示数字或符号</a:t>
            </a:r>
            <a:endParaRPr lang="zh-CN" altLang="en-US" sz="2400" b="1" strike="noStrike" noProof="1" dirty="0"/>
          </a:p>
          <a:p>
            <a:pPr marL="457200" lvl="0" indent="-457200" eaLnBrk="1" fontAlgn="base" hangingPunct="1">
              <a:lnSpc>
                <a:spcPct val="100000"/>
              </a:lnSpc>
            </a:pPr>
            <a:r>
              <a:rPr lang="zh-CN" altLang="en-US" sz="2400" b="1" strike="noStrike" noProof="1" dirty="0">
                <a:latin typeface="+mn-lt"/>
                <a:ea typeface="+mn-ea"/>
                <a:cs typeface="+mn-cs"/>
              </a:rPr>
              <a:t>设输出接口的地址为</a:t>
            </a:r>
            <a:r>
              <a:rPr lang="en-US" altLang="zh-CN" sz="2400" b="1" strike="noStrike" noProof="1" dirty="0">
                <a:latin typeface="+mn-lt"/>
                <a:ea typeface="+mn-ea"/>
                <a:cs typeface="+mn-cs"/>
              </a:rPr>
              <a:t>0F2H</a:t>
            </a:r>
            <a:endParaRPr lang="en-US" altLang="zh-CN" sz="2400" b="1" strike="noStrike" noProof="1" dirty="0"/>
          </a:p>
          <a:p>
            <a:pPr marL="457200" lvl="0" indent="-457200" eaLnBrk="1" fontAlgn="base" hangingPunct="1">
              <a:lnSpc>
                <a:spcPct val="100000"/>
              </a:lnSpc>
            </a:pPr>
            <a:r>
              <a:rPr lang="zh-CN" altLang="en-US" sz="2400" b="1" strike="noStrike" noProof="1" dirty="0">
                <a:latin typeface="+mn-lt"/>
                <a:ea typeface="+mn-ea"/>
                <a:cs typeface="+mn-cs"/>
              </a:rPr>
              <a:t>设输入接口地址为</a:t>
            </a:r>
            <a:r>
              <a:rPr lang="en-US" altLang="zh-CN" sz="2400" b="1" strike="noStrike" noProof="1" dirty="0">
                <a:latin typeface="+mn-lt"/>
                <a:ea typeface="+mn-ea"/>
                <a:cs typeface="+mn-cs"/>
              </a:rPr>
              <a:t>0F0H</a:t>
            </a:r>
            <a:endParaRPr lang="en-US" altLang="zh-CN" sz="2400" b="1" strike="noStrike" noProof="1" dirty="0"/>
          </a:p>
          <a:p>
            <a:pPr marL="457200" lvl="0" indent="-457200" eaLnBrk="1" fontAlgn="base" hangingPunct="1">
              <a:lnSpc>
                <a:spcPct val="110000"/>
              </a:lnSpc>
            </a:pPr>
            <a:r>
              <a:rPr lang="zh-CN" altLang="en-US" sz="2400" b="1" strike="noStrike" noProof="1" dirty="0">
                <a:latin typeface="+mn-lt"/>
                <a:ea typeface="+mn-ea"/>
                <a:cs typeface="+mn-cs"/>
              </a:rPr>
              <a:t>当开关的状态分别为</a:t>
            </a:r>
            <a:r>
              <a:rPr lang="en-US" altLang="zh-CN" sz="2400" b="1" strike="noStrike" noProof="1" dirty="0">
                <a:latin typeface="+mn-lt"/>
                <a:ea typeface="+mn-ea"/>
                <a:cs typeface="+mn-cs"/>
              </a:rPr>
              <a:t>0000</a:t>
            </a:r>
            <a:r>
              <a:rPr lang="zh-CN" altLang="en-US" sz="2400" b="1" strike="noStrike" noProof="1" dirty="0">
                <a:latin typeface="+mn-lt"/>
                <a:ea typeface="+mn-ea"/>
                <a:cs typeface="+mn-cs"/>
              </a:rPr>
              <a:t>～</a:t>
            </a:r>
            <a:r>
              <a:rPr lang="en-US" altLang="zh-CN" sz="2400" b="1" strike="noStrike" noProof="1" dirty="0">
                <a:latin typeface="+mn-lt"/>
                <a:ea typeface="+mn-ea"/>
                <a:cs typeface="+mn-cs"/>
              </a:rPr>
              <a:t>1111</a:t>
            </a:r>
            <a:r>
              <a:rPr lang="zh-CN" altLang="en-US" sz="2400" b="1" strike="noStrike" noProof="1" dirty="0">
                <a:latin typeface="+mn-lt"/>
                <a:ea typeface="+mn-ea"/>
                <a:cs typeface="+mn-cs"/>
              </a:rPr>
              <a:t>时，在</a:t>
            </a:r>
            <a:r>
              <a:rPr lang="en-US" altLang="zh-CN" sz="2400" b="1" strike="noStrike" noProof="1" dirty="0">
                <a:latin typeface="+mn-lt"/>
                <a:ea typeface="+mn-ea"/>
                <a:cs typeface="+mn-cs"/>
              </a:rPr>
              <a:t>7</a:t>
            </a:r>
            <a:r>
              <a:rPr lang="zh-CN" altLang="en-US" sz="2400" b="1" strike="noStrike" noProof="1" dirty="0">
                <a:latin typeface="+mn-lt"/>
                <a:ea typeface="+mn-ea"/>
                <a:cs typeface="+mn-cs"/>
              </a:rPr>
              <a:t>段数码管上对应显示 </a:t>
            </a:r>
            <a:r>
              <a:rPr lang="en-US" altLang="zh-CN" sz="2400" b="1" strike="noStrike" noProof="1" dirty="0">
                <a:latin typeface="+mn-lt"/>
                <a:ea typeface="+mn-ea"/>
                <a:cs typeface="+mn-cs"/>
              </a:rPr>
              <a:t>’0’</a:t>
            </a:r>
            <a:r>
              <a:rPr lang="zh-CN" altLang="en-US" sz="2400" b="1" strike="noStrike" noProof="1" dirty="0">
                <a:latin typeface="+mn-lt"/>
                <a:ea typeface="+mn-ea"/>
                <a:cs typeface="+mn-cs"/>
              </a:rPr>
              <a:t>～</a:t>
            </a:r>
            <a:r>
              <a:rPr lang="en-US" altLang="zh-CN" sz="2400" b="1" strike="noStrike" noProof="1" dirty="0">
                <a:latin typeface="+mn-lt"/>
                <a:ea typeface="+mn-ea"/>
                <a:cs typeface="+mn-cs"/>
              </a:rPr>
              <a:t>’F’</a:t>
            </a:r>
            <a:endParaRPr lang="en-US" altLang="zh-CN" sz="2400" b="1" strike="noStrike" noProof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3" name="矩形 59"/>
          <p:cNvSpPr/>
          <p:nvPr>
            <p:custDataLst>
              <p:tags r:id="rId1"/>
            </p:custDataLst>
          </p:nvPr>
        </p:nvSpPr>
        <p:spPr>
          <a:xfrm>
            <a:off x="822325" y="501650"/>
            <a:ext cx="638175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 algn="l"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5.1.2 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简单接口芯片</a:t>
            </a:r>
            <a:endParaRPr lang="en-US" altLang="zh-CN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103" name="图片 102"/>
          <p:cNvPicPr/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67360" y="1988185"/>
            <a:ext cx="4228465" cy="45434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" name="图片 1" descr="数码管字符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2045" y="1917065"/>
            <a:ext cx="3886200" cy="2219325"/>
          </a:xfrm>
          <a:prstGeom prst="rect">
            <a:avLst/>
          </a:prstGeom>
        </p:spPr>
      </p:pic>
      <p:sp>
        <p:nvSpPr>
          <p:cNvPr id="4130" name="Rectangle 17"/>
          <p:cNvSpPr/>
          <p:nvPr>
            <p:custDataLst>
              <p:tags r:id="rId5"/>
            </p:custDataLst>
          </p:nvPr>
        </p:nvSpPr>
        <p:spPr>
          <a:xfrm>
            <a:off x="593725" y="1501775"/>
            <a:ext cx="768794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l">
              <a:spcBef>
                <a:spcPct val="45000"/>
              </a:spcBef>
            </a:pPr>
            <a:r>
              <a:rPr lang="en-US" altLang="zh-CN" b="1" dirty="0">
                <a:latin typeface="+mn-lt"/>
                <a:ea typeface="+mn-ea"/>
                <a:sym typeface="+mn-ea"/>
              </a:rPr>
              <a:t>7</a:t>
            </a:r>
            <a:r>
              <a:rPr lang="zh-CN" altLang="en-US" b="1" dirty="0">
                <a:latin typeface="+mn-lt"/>
                <a:ea typeface="+mn-ea"/>
                <a:sym typeface="+mn-ea"/>
              </a:rPr>
              <a:t>段数码管及其字符显示</a:t>
            </a:r>
            <a:endParaRPr lang="en-US" altLang="zh-CN" b="1" dirty="0">
              <a:solidFill>
                <a:schemeClr val="tx1"/>
              </a:solidFill>
              <a:latin typeface="+mn-lt"/>
              <a:ea typeface="+mn-ea"/>
              <a:sym typeface="+mn-ea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4716145" y="4202430"/>
            <a:ext cx="4287520" cy="1949450"/>
            <a:chOff x="7427" y="6618"/>
            <a:chExt cx="6752" cy="3070"/>
          </a:xfrm>
        </p:grpSpPr>
        <p:pic>
          <p:nvPicPr>
            <p:cNvPr id="3" name="图片 2" descr="共阴极数码管字符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427" y="7214"/>
              <a:ext cx="6752" cy="2475"/>
            </a:xfrm>
            <a:prstGeom prst="rect">
              <a:avLst/>
            </a:prstGeom>
          </p:spPr>
        </p:pic>
        <p:sp>
          <p:nvSpPr>
            <p:cNvPr id="4" name="文本框 3"/>
            <p:cNvSpPr txBox="1"/>
            <p:nvPr/>
          </p:nvSpPr>
          <p:spPr>
            <a:xfrm>
              <a:off x="8448" y="6618"/>
              <a:ext cx="4459" cy="72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zh-CN" altLang="en-US" b="1"/>
                <a:t>共阴极数码管显示</a:t>
              </a:r>
              <a:endParaRPr lang="zh-CN" altLang="en-US" b="1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7409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50825" y="57150"/>
            <a:ext cx="8707438" cy="67802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547" name="Text Box 147"/>
          <p:cNvSpPr txBox="1"/>
          <p:nvPr>
            <p:custDataLst>
              <p:tags r:id="rId3"/>
            </p:custDataLst>
          </p:nvPr>
        </p:nvSpPr>
        <p:spPr>
          <a:xfrm>
            <a:off x="2356168" y="6092825"/>
            <a:ext cx="6602412" cy="66357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square" tIns="0" bIns="0" anchor="t" anchorCtr="0">
            <a:spAutoFit/>
          </a:bodyPr>
          <a:p>
            <a:pPr>
              <a:lnSpc>
                <a:spcPct val="90000"/>
              </a:lnSpc>
            </a:pPr>
            <a:r>
              <a:rPr lang="en-US" altLang="zh-CN" i="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74LS245-Y0: 00F0H = </a:t>
            </a:r>
            <a:r>
              <a:rPr lang="en-US" altLang="zh-CN" b="0" i="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0000  0000  1111  0000B</a:t>
            </a:r>
            <a:endParaRPr lang="en-US" altLang="zh-CN" b="0" i="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i="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74LS373-Y1: 00F2H = </a:t>
            </a:r>
            <a:r>
              <a:rPr lang="en-US" altLang="zh-CN" b="0" i="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0000  0000  1111  0010B</a:t>
            </a:r>
            <a:endParaRPr lang="en-US" altLang="zh-CN" b="0" i="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Text Box 147"/>
          <p:cNvSpPr txBox="1"/>
          <p:nvPr>
            <p:custDataLst>
              <p:tags r:id="rId4"/>
            </p:custDataLst>
          </p:nvPr>
        </p:nvSpPr>
        <p:spPr>
          <a:xfrm>
            <a:off x="3849688" y="117475"/>
            <a:ext cx="5099050" cy="44259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square" tIns="0" bIns="0" anchor="t" anchorCtr="0">
            <a:spAutoFit/>
          </a:bodyPr>
          <a:p>
            <a:pPr>
              <a:lnSpc>
                <a:spcPct val="90000"/>
              </a:lnSpc>
            </a:pPr>
            <a:r>
              <a:rPr lang="zh-CN" altLang="en-US" sz="3200" i="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案例</a:t>
            </a:r>
            <a:r>
              <a:rPr lang="en-US" altLang="zh-CN" sz="3200" i="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5-1 Proteus</a:t>
            </a:r>
            <a:r>
              <a:rPr lang="zh-CN" altLang="en-US" sz="3200" i="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仿真参考图</a:t>
            </a:r>
            <a:endParaRPr lang="zh-CN" altLang="en-US" sz="3200" i="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25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25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547" grpId="0" bldLvl="0" animBg="1"/>
      <p:bldP spid="4" grpId="0" bldLvl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1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</a:pPr>
            <a:fld id="{9A0DB2DC-4C9A-4742-B13C-FB6460FD3503}" type="slidenum">
              <a:rPr lang="en-US" altLang="zh-CN" sz="1400" b="0" i="0" dirty="0"/>
            </a:fld>
            <a:endParaRPr lang="en-US" altLang="zh-CN" sz="1400" b="0" i="0" dirty="0"/>
          </a:p>
        </p:txBody>
      </p:sp>
      <p:sp>
        <p:nvSpPr>
          <p:cNvPr id="18435" name="Rectangle 2"/>
          <p:cNvSpPr/>
          <p:nvPr/>
        </p:nvSpPr>
        <p:spPr>
          <a:xfrm>
            <a:off x="536575" y="1341755"/>
            <a:ext cx="8070850" cy="44958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b" anchorCtr="0"/>
          <a:p>
            <a:pPr algn="ctr"/>
            <a:r>
              <a:rPr b="1" dirty="0">
                <a:latin typeface="Times New Roman" panose="02020603050405020304" pitchFamily="18" charset="0"/>
                <a:sym typeface="+mn-ea"/>
              </a:rPr>
              <a:t>案例实现</a:t>
            </a:r>
            <a:r>
              <a:rPr lang="en-US" b="1" dirty="0">
                <a:latin typeface="Times New Roman" panose="02020603050405020304" pitchFamily="18" charset="0"/>
                <a:sym typeface="+mn-ea"/>
              </a:rPr>
              <a:t>5-1</a:t>
            </a:r>
            <a:r>
              <a:rPr b="1" dirty="0">
                <a:latin typeface="Times New Roman" panose="02020603050405020304" pitchFamily="18" charset="0"/>
                <a:sym typeface="+mn-ea"/>
              </a:rPr>
              <a:t>：开关控制</a:t>
            </a:r>
            <a:r>
              <a:rPr lang="en-US" altLang="zh-CN" b="1" dirty="0">
                <a:latin typeface="+mn-lt"/>
                <a:ea typeface="+mn-ea"/>
                <a:sym typeface="+mn-ea"/>
              </a:rPr>
              <a:t>7</a:t>
            </a:r>
            <a:r>
              <a:rPr lang="zh-CN" altLang="en-US" b="1" dirty="0">
                <a:latin typeface="+mn-lt"/>
                <a:ea typeface="+mn-ea"/>
                <a:sym typeface="+mn-ea"/>
              </a:rPr>
              <a:t>段数码管</a:t>
            </a:r>
            <a:endParaRPr lang="zh-CN" altLang="en-US" i="0" dirty="0">
              <a:solidFill>
                <a:srgbClr val="3333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8436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7210" y="1791335"/>
            <a:ext cx="8150225" cy="457581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43" name="矩形 59"/>
          <p:cNvSpPr/>
          <p:nvPr>
            <p:custDataLst>
              <p:tags r:id="rId2"/>
            </p:custDataLst>
          </p:nvPr>
        </p:nvSpPr>
        <p:spPr>
          <a:xfrm>
            <a:off x="822325" y="501650"/>
            <a:ext cx="638175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 algn="l"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5.1.2 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简单接口芯片</a:t>
            </a:r>
            <a:endParaRPr lang="en-US" altLang="zh-CN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3" name="矩形 59"/>
          <p:cNvSpPr/>
          <p:nvPr>
            <p:custDataLst>
              <p:tags r:id="rId1"/>
            </p:custDataLst>
          </p:nvPr>
        </p:nvSpPr>
        <p:spPr>
          <a:xfrm>
            <a:off x="822325" y="501650"/>
            <a:ext cx="815975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 algn="l"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5.2 </a:t>
            </a:r>
            <a:r>
              <a:rPr lang="en-US" altLang="zh-CN" sz="36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  <a:sym typeface="+mn-ea"/>
              </a:rPr>
              <a:t>LED</a:t>
            </a:r>
            <a:r>
              <a:rPr lang="zh-CN" altLang="en-US" sz="36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  <a:sym typeface="+mn-ea"/>
              </a:rPr>
              <a:t>数码管及</a:t>
            </a:r>
            <a:r>
              <a:rPr lang="en-US" altLang="zh-CN" sz="36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  <a:sym typeface="+mn-ea"/>
              </a:rPr>
              <a:t>I/O</a:t>
            </a:r>
            <a:r>
              <a:rPr lang="zh-CN" altLang="en-US" sz="36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  <a:sym typeface="+mn-ea"/>
              </a:rPr>
              <a:t>设备信息交换方式</a:t>
            </a:r>
            <a:endParaRPr lang="en-US" altLang="zh-CN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130" name="Rectangle 17"/>
          <p:cNvSpPr/>
          <p:nvPr>
            <p:custDataLst>
              <p:tags r:id="rId2"/>
            </p:custDataLst>
          </p:nvPr>
        </p:nvSpPr>
        <p:spPr>
          <a:xfrm>
            <a:off x="593725" y="1501775"/>
            <a:ext cx="480695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l">
              <a:spcBef>
                <a:spcPct val="45000"/>
              </a:spcBef>
            </a:pPr>
            <a:r>
              <a:rPr lang="en-US" altLang="zh-CN" b="1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1. </a:t>
            </a:r>
            <a:r>
              <a:rPr b="1" i="0" dirty="0">
                <a:solidFill>
                  <a:schemeClr val="tx1"/>
                </a:solidFill>
                <a:latin typeface="Times New Roman" panose="02020603050405020304" pitchFamily="18" charset="0"/>
              </a:rPr>
              <a:t>微机与 I/O 设备的信息交换方式</a:t>
            </a:r>
            <a:endParaRPr b="1" i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93725" y="1962150"/>
            <a:ext cx="7725410" cy="27495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zh-CN" altLang="en-US" b="1"/>
              <a:t>微型计算机与外设之间数据的输入输出，实际上是 </a:t>
            </a:r>
            <a:r>
              <a:rPr lang="zh-CN" altLang="en-US" b="1">
                <a:solidFill>
                  <a:srgbClr val="C00000"/>
                </a:solidFill>
              </a:rPr>
              <a:t>CPU、内存与外设接口之间进行的信息传送</a:t>
            </a:r>
            <a:r>
              <a:rPr lang="zh-CN" altLang="en-US" b="1"/>
              <a:t>。主要有 4 种方式：</a:t>
            </a:r>
            <a:endParaRPr lang="zh-CN" altLang="en-US" b="1"/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b="1"/>
              <a:t>无条件传送方式</a:t>
            </a:r>
            <a:endParaRPr lang="zh-CN" altLang="en-US" b="1"/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b="1"/>
              <a:t>条件传送（查询工作）方式</a:t>
            </a:r>
            <a:endParaRPr lang="zh-CN" altLang="en-US" b="1"/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b="1"/>
              <a:t>中断控制传送方式</a:t>
            </a:r>
            <a:endParaRPr lang="zh-CN" altLang="en-US" b="1"/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b="1"/>
              <a:t>直接存储器存取(DMA)方式</a:t>
            </a:r>
            <a:endParaRPr lang="zh-CN" altLang="en-US" b="1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30" name="Rectangle 17"/>
          <p:cNvSpPr/>
          <p:nvPr>
            <p:custDataLst>
              <p:tags r:id="rId1"/>
            </p:custDataLst>
          </p:nvPr>
        </p:nvSpPr>
        <p:spPr>
          <a:xfrm>
            <a:off x="306705" y="1501775"/>
            <a:ext cx="714121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l">
              <a:spcBef>
                <a:spcPct val="45000"/>
              </a:spcBef>
            </a:pPr>
            <a:r>
              <a:rPr lang="zh-CN" altLang="en-US" b="1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b="1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b="1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en-US" altLang="zh-CN" b="1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无条件传送方式（同步传送方式）</a:t>
            </a:r>
            <a:endParaRPr lang="zh-CN" altLang="en-US" b="1" i="0" dirty="0">
              <a:solidFill>
                <a:schemeClr val="tx1"/>
              </a:solidFill>
              <a:latin typeface="Times New Roman" panose="02020603050405020304" pitchFamily="18" charset="0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23850" y="1890395"/>
            <a:ext cx="8572500" cy="9772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  <a:spcBef>
                <a:spcPct val="35000"/>
              </a:spcBef>
            </a:pPr>
            <a:r>
              <a:rPr lang="zh-CN" altLang="en-US" b="1" dirty="0">
                <a:latin typeface="Times New Roman" panose="02020603050405020304" pitchFamily="18" charset="0"/>
                <a:sym typeface="+mn-ea"/>
              </a:rPr>
              <a:t>特点：适用于总是处于准备好状态的外设（</a:t>
            </a:r>
            <a:r>
              <a:rPr lang="zh-CN" altLang="en-US" b="1">
                <a:sym typeface="+mn-ea"/>
              </a:rPr>
              <a:t>如</a:t>
            </a:r>
            <a:r>
              <a:rPr lang="en-US" altLang="zh-CN" b="1">
                <a:sym typeface="+mn-ea"/>
              </a:rPr>
              <a:t>LED</a:t>
            </a:r>
            <a:r>
              <a:rPr lang="zh-CN" altLang="en-US" b="1">
                <a:sym typeface="+mn-ea"/>
              </a:rPr>
              <a:t>数码管、按键等）；</a:t>
            </a:r>
            <a:r>
              <a:rPr lang="en-US" altLang="zh-CN" b="1" dirty="0">
                <a:latin typeface="Times New Roman" panose="02020603050405020304" pitchFamily="18" charset="0"/>
                <a:sym typeface="+mn-ea"/>
              </a:rPr>
              <a:t>CPU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sym typeface="+mn-ea"/>
              </a:rPr>
              <a:t>执行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sym typeface="+mn-ea"/>
              </a:rPr>
              <a:t>IN 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sym typeface="+mn-ea"/>
              </a:rPr>
              <a:t>或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sym typeface="+mn-ea"/>
              </a:rPr>
              <a:t>OUT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sym typeface="+mn-ea"/>
              </a:rPr>
              <a:t>指令完成</a:t>
            </a:r>
            <a:r>
              <a:rPr lang="zh-CN" altLang="en-US" b="1" dirty="0">
                <a:latin typeface="Times New Roman" panose="02020603050405020304" pitchFamily="18" charset="0"/>
                <a:sym typeface="+mn-ea"/>
              </a:rPr>
              <a:t>与接口之间的数据传送。</a:t>
            </a:r>
            <a:endParaRPr lang="zh-CN" altLang="en-US" b="1" dirty="0">
              <a:latin typeface="Times New Roman" panose="02020603050405020304" pitchFamily="18" charset="0"/>
              <a:sym typeface="+mn-ea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462915" y="2940050"/>
            <a:ext cx="8103870" cy="3843020"/>
            <a:chOff x="729" y="4630"/>
            <a:chExt cx="12762" cy="6052"/>
          </a:xfrm>
        </p:grpSpPr>
        <p:grpSp>
          <p:nvGrpSpPr>
            <p:cNvPr id="4" name="组合 3"/>
            <p:cNvGrpSpPr/>
            <p:nvPr/>
          </p:nvGrpSpPr>
          <p:grpSpPr>
            <a:xfrm>
              <a:off x="729" y="4630"/>
              <a:ext cx="12763" cy="6053"/>
              <a:chOff x="729" y="4630"/>
              <a:chExt cx="12763" cy="6053"/>
            </a:xfrm>
          </p:grpSpPr>
          <p:graphicFrame>
            <p:nvGraphicFramePr>
              <p:cNvPr id="32770" name="对象 194562"/>
              <p:cNvGraphicFramePr>
                <a:graphicFrameLocks noChangeAspect="1"/>
              </p:cNvGraphicFramePr>
              <p:nvPr>
                <p:custDataLst>
                  <p:tags r:id="rId2"/>
                </p:custDataLst>
              </p:nvPr>
            </p:nvGraphicFramePr>
            <p:xfrm>
              <a:off x="729" y="4630"/>
              <a:ext cx="12763" cy="532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76" name="" r:id="rId3" imgW="2762250" imgH="1352550" progId="MSDraw">
                      <p:embed/>
                    </p:oleObj>
                  </mc:Choice>
                  <mc:Fallback>
                    <p:oleObj name="" r:id="rId3" imgW="2762250" imgH="1352550" progId="MSDraw">
                      <p:embed/>
                      <p:pic>
                        <p:nvPicPr>
                          <p:cNvPr id="0" name="图片 3075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729" y="4630"/>
                            <a:ext cx="12763" cy="5328"/>
                          </a:xfrm>
                          <a:prstGeom prst="rect">
                            <a:avLst/>
                          </a:prstGeom>
                          <a:solidFill>
                            <a:srgbClr val="A6ADC0"/>
                          </a:solidFill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" name="文本框 2"/>
              <p:cNvSpPr txBox="1"/>
              <p:nvPr/>
            </p:nvSpPr>
            <p:spPr>
              <a:xfrm>
                <a:off x="3600" y="9958"/>
                <a:ext cx="7200" cy="72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pPr algn="ctr"/>
                <a:r>
                  <a:rPr lang="zh-CN" altLang="en-US" b="1">
                    <a:sym typeface="+mn-ea"/>
                  </a:rPr>
                  <a:t>无条件传送：输入示例</a:t>
                </a:r>
                <a:endParaRPr lang="zh-CN" altLang="en-US" b="1">
                  <a:sym typeface="+mn-ea"/>
                </a:endParaRPr>
              </a:p>
            </p:txBody>
          </p:sp>
        </p:grpSp>
        <p:sp>
          <p:nvSpPr>
            <p:cNvPr id="7" name="圆角矩形 6"/>
            <p:cNvSpPr/>
            <p:nvPr>
              <p:custDataLst>
                <p:tags r:id="rId5"/>
              </p:custDataLst>
            </p:nvPr>
          </p:nvSpPr>
          <p:spPr>
            <a:xfrm>
              <a:off x="6179" y="7328"/>
              <a:ext cx="1713" cy="1247"/>
            </a:xfrm>
            <a:prstGeom prst="roundRect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vert="horz" wrap="non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en-US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32771" name="文本占位符 194563"/>
          <p:cNvSpPr>
            <a:spLocks noGrp="1"/>
          </p:cNvSpPr>
          <p:nvPr>
            <p:ph idx="1"/>
          </p:nvPr>
        </p:nvSpPr>
        <p:spPr>
          <a:xfrm>
            <a:off x="6228080" y="5517515"/>
            <a:ext cx="2597785" cy="791845"/>
          </a:xfrm>
          <a:solidFill>
            <a:schemeClr val="bg1"/>
          </a:solidFill>
        </p:spPr>
        <p:txBody>
          <a:bodyPr anchor="t" anchorCtr="0"/>
          <a:p>
            <a:pPr eaLnBrk="0" hangingPunct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400" b="1">
                <a:solidFill>
                  <a:srgbClr val="0000FF"/>
                </a:solidFill>
              </a:rPr>
              <a:t>MOV 	DX, 160H</a:t>
            </a:r>
            <a:endParaRPr lang="en-US" altLang="zh-CN" sz="2400" b="1">
              <a:solidFill>
                <a:srgbClr val="0000FF"/>
              </a:solidFill>
            </a:endParaRPr>
          </a:p>
          <a:p>
            <a:pPr eaLnBrk="0" hangingPunct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400" b="1">
                <a:solidFill>
                  <a:srgbClr val="0000FF"/>
                </a:solidFill>
              </a:rPr>
              <a:t>IN AL, DX</a:t>
            </a:r>
            <a:endParaRPr lang="en-US" altLang="zh-CN" sz="2400" b="1">
              <a:solidFill>
                <a:srgbClr val="0000FF"/>
              </a:solidFill>
            </a:endParaRPr>
          </a:p>
        </p:txBody>
      </p:sp>
      <p:sp>
        <p:nvSpPr>
          <p:cNvPr id="6" name="矩形 59"/>
          <p:cNvSpPr/>
          <p:nvPr>
            <p:custDataLst>
              <p:tags r:id="rId6"/>
            </p:custDataLst>
          </p:nvPr>
        </p:nvSpPr>
        <p:spPr>
          <a:xfrm>
            <a:off x="822325" y="501650"/>
            <a:ext cx="815975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 algn="l"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5.2 </a:t>
            </a:r>
            <a:r>
              <a:rPr lang="en-US" altLang="zh-CN" sz="36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  <a:sym typeface="+mn-ea"/>
              </a:rPr>
              <a:t>LED</a:t>
            </a:r>
            <a:r>
              <a:rPr lang="zh-CN" altLang="en-US" sz="36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  <a:sym typeface="+mn-ea"/>
              </a:rPr>
              <a:t>数码管及</a:t>
            </a:r>
            <a:r>
              <a:rPr lang="en-US" altLang="zh-CN" sz="36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  <a:sym typeface="+mn-ea"/>
              </a:rPr>
              <a:t>I/O</a:t>
            </a:r>
            <a:r>
              <a:rPr lang="zh-CN" altLang="en-US" sz="36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  <a:sym typeface="+mn-ea"/>
              </a:rPr>
              <a:t>设备信息交换方式</a:t>
            </a:r>
            <a:endParaRPr lang="en-US" altLang="zh-CN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277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2771" grpId="0" animBg="1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541655" y="2071370"/>
            <a:ext cx="8241665" cy="4577080"/>
            <a:chOff x="675" y="3132"/>
            <a:chExt cx="13200" cy="7338"/>
          </a:xfrm>
        </p:grpSpPr>
        <p:graphicFrame>
          <p:nvGraphicFramePr>
            <p:cNvPr id="33794" name="对象 195586"/>
            <p:cNvGraphicFramePr>
              <a:graphicFrameLocks noChangeAspect="1"/>
            </p:cNvGraphicFramePr>
            <p:nvPr>
              <p:custDataLst>
                <p:tags r:id="rId1"/>
              </p:custDataLst>
            </p:nvPr>
          </p:nvGraphicFramePr>
          <p:xfrm>
            <a:off x="675" y="3132"/>
            <a:ext cx="13200" cy="66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7" name="" r:id="rId2" imgW="2838450" imgH="1498600" progId="MSDraw">
                    <p:embed/>
                  </p:oleObj>
                </mc:Choice>
                <mc:Fallback>
                  <p:oleObj name="" r:id="rId2" imgW="2838450" imgH="1498600" progId="MSDraw">
                    <p:embed/>
                    <p:pic>
                      <p:nvPicPr>
                        <p:cNvPr id="0" name="图片 3076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675" y="3132"/>
                          <a:ext cx="13200" cy="6623"/>
                        </a:xfrm>
                        <a:prstGeom prst="rect">
                          <a:avLst/>
                        </a:prstGeom>
                        <a:solidFill>
                          <a:srgbClr val="A6ADC0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" name="文本框 2"/>
            <p:cNvSpPr txBox="1"/>
            <p:nvPr>
              <p:custDataLst>
                <p:tags r:id="rId4"/>
              </p:custDataLst>
            </p:nvPr>
          </p:nvSpPr>
          <p:spPr>
            <a:xfrm>
              <a:off x="3600" y="9732"/>
              <a:ext cx="7200" cy="73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ctr"/>
              <a:r>
                <a:rPr lang="zh-CN" altLang="en-US" b="1">
                  <a:sym typeface="+mn-ea"/>
                </a:rPr>
                <a:t>无条件传送：输出示例</a:t>
              </a:r>
              <a:endParaRPr lang="zh-CN" altLang="en-US" b="1">
                <a:sym typeface="+mn-ea"/>
              </a:endParaRPr>
            </a:p>
          </p:txBody>
        </p:sp>
      </p:grpSp>
      <p:sp>
        <p:nvSpPr>
          <p:cNvPr id="33795" name="文本占位符 195587"/>
          <p:cNvSpPr>
            <a:spLocks noGrp="1"/>
          </p:cNvSpPr>
          <p:nvPr>
            <p:ph idx="1"/>
          </p:nvPr>
        </p:nvSpPr>
        <p:spPr>
          <a:xfrm>
            <a:off x="6308725" y="5028883"/>
            <a:ext cx="2478088" cy="1139825"/>
          </a:xfrm>
          <a:solidFill>
            <a:schemeClr val="bg1"/>
          </a:solidFill>
        </p:spPr>
        <p:txBody>
          <a:bodyPr anchor="t" anchorCtr="0"/>
          <a:p>
            <a:pPr eaLnBrk="0" hangingPunct="0">
              <a:spcBef>
                <a:spcPct val="0"/>
              </a:spcBef>
              <a:buNone/>
            </a:pPr>
            <a:r>
              <a:rPr lang="en-US" altLang="zh-CN" sz="2400" b="1">
                <a:solidFill>
                  <a:srgbClr val="0000FF"/>
                </a:solidFill>
              </a:rPr>
              <a:t>MOV DX, 160H</a:t>
            </a:r>
            <a:endParaRPr lang="en-US" altLang="zh-CN" sz="2400" b="1">
              <a:solidFill>
                <a:srgbClr val="0000FF"/>
              </a:solidFill>
            </a:endParaRPr>
          </a:p>
          <a:p>
            <a:pPr>
              <a:spcBef>
                <a:spcPct val="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sz="2400" b="1">
                <a:solidFill>
                  <a:srgbClr val="0000FF"/>
                </a:solidFill>
              </a:rPr>
              <a:t>MOV AL, [BX]</a:t>
            </a:r>
            <a:endParaRPr lang="en-US" altLang="zh-CN" sz="2400" b="1">
              <a:solidFill>
                <a:srgbClr val="0000FF"/>
              </a:solidFill>
            </a:endParaRPr>
          </a:p>
          <a:p>
            <a:pPr>
              <a:spcBef>
                <a:spcPct val="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lang="en-US" altLang="zh-CN" sz="2400" b="1">
                <a:solidFill>
                  <a:srgbClr val="0000FF"/>
                </a:solidFill>
              </a:rPr>
              <a:t>OUT  DX, AL</a:t>
            </a:r>
            <a:endParaRPr lang="en-US" altLang="zh-CN" sz="2400" b="1">
              <a:solidFill>
                <a:srgbClr val="0000FF"/>
              </a:solidFill>
            </a:endParaRPr>
          </a:p>
        </p:txBody>
      </p:sp>
      <p:sp>
        <p:nvSpPr>
          <p:cNvPr id="4130" name="Rectangle 17"/>
          <p:cNvSpPr/>
          <p:nvPr>
            <p:custDataLst>
              <p:tags r:id="rId5"/>
            </p:custDataLst>
          </p:nvPr>
        </p:nvSpPr>
        <p:spPr>
          <a:xfrm>
            <a:off x="306705" y="1501775"/>
            <a:ext cx="714121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l">
              <a:spcBef>
                <a:spcPct val="45000"/>
              </a:spcBef>
            </a:pPr>
            <a:r>
              <a:rPr lang="zh-CN" altLang="en-US" b="1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b="1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b="1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en-US" altLang="zh-CN" b="1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无条件传送方式（同步传送方式）</a:t>
            </a:r>
            <a:endParaRPr lang="zh-CN" altLang="en-US" b="1" i="0" dirty="0">
              <a:solidFill>
                <a:schemeClr val="tx1"/>
              </a:solidFill>
              <a:latin typeface="Times New Roman" panose="02020603050405020304" pitchFamily="18" charset="0"/>
              <a:sym typeface="+mn-ea"/>
            </a:endParaRPr>
          </a:p>
        </p:txBody>
      </p:sp>
      <p:sp>
        <p:nvSpPr>
          <p:cNvPr id="4" name="矩形 59"/>
          <p:cNvSpPr/>
          <p:nvPr>
            <p:custDataLst>
              <p:tags r:id="rId6"/>
            </p:custDataLst>
          </p:nvPr>
        </p:nvSpPr>
        <p:spPr>
          <a:xfrm>
            <a:off x="822325" y="501650"/>
            <a:ext cx="815975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 algn="l"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5.2 </a:t>
            </a:r>
            <a:r>
              <a:rPr lang="en-US" altLang="zh-CN" sz="36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  <a:sym typeface="+mn-ea"/>
              </a:rPr>
              <a:t>LED</a:t>
            </a:r>
            <a:r>
              <a:rPr lang="zh-CN" altLang="en-US" sz="36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  <a:sym typeface="+mn-ea"/>
              </a:rPr>
              <a:t>数码管及</a:t>
            </a:r>
            <a:r>
              <a:rPr lang="en-US" altLang="zh-CN" sz="36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  <a:sym typeface="+mn-ea"/>
              </a:rPr>
              <a:t>I/O</a:t>
            </a:r>
            <a:r>
              <a:rPr lang="zh-CN" altLang="en-US" sz="36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  <a:sym typeface="+mn-ea"/>
              </a:rPr>
              <a:t>设备信息交换方式</a:t>
            </a:r>
            <a:endParaRPr lang="en-US" altLang="zh-CN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79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5" grpId="0" animBg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30" name="Rectangle 17"/>
          <p:cNvSpPr/>
          <p:nvPr>
            <p:custDataLst>
              <p:tags r:id="rId1"/>
            </p:custDataLst>
          </p:nvPr>
        </p:nvSpPr>
        <p:spPr>
          <a:xfrm>
            <a:off x="306705" y="1501775"/>
            <a:ext cx="714121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l">
              <a:spcBef>
                <a:spcPct val="45000"/>
              </a:spcBef>
            </a:pPr>
            <a:r>
              <a:rPr lang="zh-CN" altLang="en-US" b="1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b="1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b="1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en-US" altLang="zh-CN" b="1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条件传送（查询工作）方式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98475" y="1917065"/>
            <a:ext cx="8162925" cy="9772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zh-CN" altLang="en-US" b="1">
                <a:sym typeface="+mn-ea"/>
              </a:rPr>
              <a:t>特点：</a:t>
            </a:r>
            <a:r>
              <a:rPr lang="en-US" altLang="zh-CN" b="1">
                <a:sym typeface="+mn-ea"/>
              </a:rPr>
              <a:t>CPU</a:t>
            </a:r>
            <a:r>
              <a:rPr lang="zh-CN" altLang="en-US" b="1">
                <a:sym typeface="+mn-ea"/>
              </a:rPr>
              <a:t>需要</a:t>
            </a:r>
            <a:r>
              <a:rPr lang="zh-CN" altLang="en-US" b="1">
                <a:solidFill>
                  <a:srgbClr val="0000FF"/>
                </a:solidFill>
                <a:sym typeface="+mn-ea"/>
              </a:rPr>
              <a:t>查询外设的工作状态</a:t>
            </a:r>
            <a:r>
              <a:rPr lang="zh-CN" altLang="en-US" b="1">
                <a:sym typeface="+mn-ea"/>
              </a:rPr>
              <a:t>，然后在外设可以交换信息的情况下（</a:t>
            </a:r>
            <a:r>
              <a:rPr lang="zh-CN" altLang="en-US" b="1">
                <a:solidFill>
                  <a:srgbClr val="A50021"/>
                </a:solidFill>
                <a:sym typeface="+mn-ea"/>
              </a:rPr>
              <a:t>就绪</a:t>
            </a:r>
            <a:r>
              <a:rPr lang="zh-CN" altLang="en-US" b="1">
                <a:sym typeface="+mn-ea"/>
              </a:rPr>
              <a:t>）实现数据输入或输出。</a:t>
            </a:r>
            <a:endParaRPr lang="zh-CN" altLang="en-US" b="1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98475" y="2894330"/>
            <a:ext cx="4685030" cy="13468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sym typeface="+mn-ea"/>
              </a:rPr>
              <a:t>对外设及接口的要求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：</a:t>
            </a:r>
            <a:endParaRPr lang="zh-CN" altLang="en-US" b="1" i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20000"/>
              </a:spcBef>
              <a:buChar char="•"/>
            </a:pP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外设应提供设备状态信息</a:t>
            </a:r>
            <a:endParaRPr lang="zh-CN" altLang="en-US" b="1" i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>
              <a:spcBef>
                <a:spcPct val="20000"/>
              </a:spcBef>
              <a:buChar char="•"/>
            </a:pP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接口应具备状态端口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sym typeface="+mn-ea"/>
            </a:endParaRPr>
          </a:p>
        </p:txBody>
      </p:sp>
      <p:grpSp>
        <p:nvGrpSpPr>
          <p:cNvPr id="198660" name="组合 198659"/>
          <p:cNvGrpSpPr/>
          <p:nvPr/>
        </p:nvGrpSpPr>
        <p:grpSpPr>
          <a:xfrm>
            <a:off x="6012180" y="3121025"/>
            <a:ext cx="2667000" cy="3605213"/>
            <a:chOff x="0" y="0"/>
            <a:chExt cx="1523" cy="2180"/>
          </a:xfrm>
        </p:grpSpPr>
        <p:sp>
          <p:nvSpPr>
            <p:cNvPr id="36868" name="矩形 198660"/>
            <p:cNvSpPr/>
            <p:nvPr>
              <p:custDataLst>
                <p:tags r:id="rId2"/>
              </p:custDataLst>
            </p:nvPr>
          </p:nvSpPr>
          <p:spPr>
            <a:xfrm>
              <a:off x="273" y="235"/>
              <a:ext cx="1211" cy="369"/>
            </a:xfrm>
            <a:prstGeom prst="rect">
              <a:avLst/>
            </a:prstGeom>
            <a:noFill/>
            <a:ln w="28575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zh-CN" altLang="en-US" sz="2400" b="1">
                  <a:latin typeface="Times New Roman" panose="02020603050405020304" pitchFamily="18" charset="0"/>
                  <a:ea typeface="宋体" panose="02010600030101010101" pitchFamily="2" charset="-122"/>
                </a:rPr>
                <a:t>查询外设状态</a:t>
              </a:r>
              <a:endParaRPr lang="zh-CN" altLang="en-US" sz="2400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869" name="菱形 198661"/>
            <p:cNvSpPr/>
            <p:nvPr>
              <p:custDataLst>
                <p:tags r:id="rId3"/>
              </p:custDataLst>
            </p:nvPr>
          </p:nvSpPr>
          <p:spPr>
            <a:xfrm>
              <a:off x="312" y="838"/>
              <a:ext cx="1172" cy="504"/>
            </a:xfrm>
            <a:prstGeom prst="diamond">
              <a:avLst/>
            </a:prstGeom>
            <a:solidFill>
              <a:srgbClr val="A6ADC0"/>
            </a:solidFill>
            <a:ln w="9525">
              <a:noFill/>
            </a:ln>
            <a:effectLst>
              <a:outerShdw dist="35921" dir="2699999" algn="ctr" rotWithShape="0">
                <a:srgbClr val="808080"/>
              </a:outerShdw>
            </a:effectLst>
          </p:spPr>
          <p:txBody>
            <a:bodyPr wrap="none" anchor="ctr" anchorCtr="0"/>
            <a:p>
              <a:pPr algn="ctr"/>
              <a:r>
                <a:rPr lang="zh-CN" altLang="en-US" sz="2400" b="1">
                  <a:solidFill>
                    <a:srgbClr val="A5002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就绪？</a:t>
              </a:r>
              <a:endParaRPr lang="zh-CN" altLang="en-US" sz="2400" b="1">
                <a:solidFill>
                  <a:srgbClr val="A5002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870" name="矩形 198662"/>
            <p:cNvSpPr/>
            <p:nvPr>
              <p:custDataLst>
                <p:tags r:id="rId4"/>
              </p:custDataLst>
            </p:nvPr>
          </p:nvSpPr>
          <p:spPr>
            <a:xfrm>
              <a:off x="312" y="1576"/>
              <a:ext cx="1211" cy="369"/>
            </a:xfrm>
            <a:prstGeom prst="rect">
              <a:avLst/>
            </a:prstGeom>
            <a:noFill/>
            <a:ln w="28575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zh-CN" altLang="en-US" sz="2400" b="1">
                  <a:latin typeface="Times New Roman" panose="02020603050405020304" pitchFamily="18" charset="0"/>
                  <a:ea typeface="宋体" panose="02010600030101010101" pitchFamily="2" charset="-122"/>
                </a:rPr>
                <a:t>数据交换</a:t>
              </a:r>
              <a:endParaRPr lang="zh-CN" altLang="en-US" sz="2400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871" name="直接连接符 198663"/>
            <p:cNvSpPr/>
            <p:nvPr>
              <p:custDataLst>
                <p:tags r:id="rId5"/>
              </p:custDataLst>
            </p:nvPr>
          </p:nvSpPr>
          <p:spPr>
            <a:xfrm>
              <a:off x="859" y="0"/>
              <a:ext cx="0" cy="235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6872" name="直接连接符 198664"/>
            <p:cNvSpPr/>
            <p:nvPr>
              <p:custDataLst>
                <p:tags r:id="rId6"/>
              </p:custDataLst>
            </p:nvPr>
          </p:nvSpPr>
          <p:spPr>
            <a:xfrm>
              <a:off x="898" y="604"/>
              <a:ext cx="0" cy="234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6873" name="直接连接符 198665"/>
            <p:cNvSpPr/>
            <p:nvPr>
              <p:custDataLst>
                <p:tags r:id="rId7"/>
              </p:custDataLst>
            </p:nvPr>
          </p:nvSpPr>
          <p:spPr>
            <a:xfrm>
              <a:off x="898" y="1342"/>
              <a:ext cx="0" cy="234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6874" name="直接连接符 198666"/>
            <p:cNvSpPr/>
            <p:nvPr>
              <p:custDataLst>
                <p:tags r:id="rId8"/>
              </p:custDataLst>
            </p:nvPr>
          </p:nvSpPr>
          <p:spPr>
            <a:xfrm>
              <a:off x="898" y="1945"/>
              <a:ext cx="0" cy="235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6875" name="文本框 198667"/>
            <p:cNvSpPr txBox="1"/>
            <p:nvPr>
              <p:custDataLst>
                <p:tags r:id="rId9"/>
              </p:custDataLst>
            </p:nvPr>
          </p:nvSpPr>
          <p:spPr>
            <a:xfrm>
              <a:off x="976" y="1308"/>
              <a:ext cx="391" cy="27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1">
                  <a:latin typeface="Times New Roman" panose="02020603050405020304" pitchFamily="18" charset="0"/>
                  <a:ea typeface="宋体" panose="02010600030101010101" pitchFamily="2" charset="-122"/>
                </a:rPr>
                <a:t>Y</a:t>
              </a:r>
              <a:endPara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876" name="直接连接符 198668"/>
            <p:cNvSpPr/>
            <p:nvPr>
              <p:custDataLst>
                <p:tags r:id="rId10"/>
              </p:custDataLst>
            </p:nvPr>
          </p:nvSpPr>
          <p:spPr>
            <a:xfrm flipH="1">
              <a:off x="0" y="1091"/>
              <a:ext cx="329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877" name="直接连接符 198669"/>
            <p:cNvSpPr/>
            <p:nvPr>
              <p:custDataLst>
                <p:tags r:id="rId11"/>
              </p:custDataLst>
            </p:nvPr>
          </p:nvSpPr>
          <p:spPr>
            <a:xfrm flipV="1">
              <a:off x="0" y="134"/>
              <a:ext cx="0" cy="958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6878" name="直接连接符 198670"/>
            <p:cNvSpPr/>
            <p:nvPr>
              <p:custDataLst>
                <p:tags r:id="rId12"/>
              </p:custDataLst>
            </p:nvPr>
          </p:nvSpPr>
          <p:spPr>
            <a:xfrm>
              <a:off x="0" y="134"/>
              <a:ext cx="859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6879" name="文本框 198671"/>
            <p:cNvSpPr txBox="1"/>
            <p:nvPr>
              <p:custDataLst>
                <p:tags r:id="rId13"/>
              </p:custDataLst>
            </p:nvPr>
          </p:nvSpPr>
          <p:spPr>
            <a:xfrm>
              <a:off x="117" y="838"/>
              <a:ext cx="391" cy="27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1">
                  <a:latin typeface="Times New Roman" panose="02020603050405020304" pitchFamily="18" charset="0"/>
                  <a:ea typeface="宋体" panose="02010600030101010101" pitchFamily="2" charset="-122"/>
                </a:rPr>
                <a:t>N</a:t>
              </a:r>
              <a:endPara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498475" y="4434205"/>
            <a:ext cx="4572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20204" pitchFamily="34" charset="0"/>
            </a:pPr>
            <a:r>
              <a:rPr lang="zh-CN" altLang="en-US" b="1">
                <a:solidFill>
                  <a:schemeClr val="tx2"/>
                </a:solidFill>
                <a:sym typeface="+mn-ea"/>
              </a:rPr>
              <a:t>查询环节</a:t>
            </a:r>
            <a:r>
              <a:rPr lang="en-US" altLang="zh-CN" b="1">
                <a:solidFill>
                  <a:schemeClr val="tx2"/>
                </a:solidFill>
                <a:sym typeface="+mn-ea"/>
              </a:rPr>
              <a:t>:</a:t>
            </a:r>
            <a:r>
              <a:rPr lang="zh-CN" altLang="en-US" b="1">
                <a:sym typeface="+mn-ea"/>
              </a:rPr>
              <a:t>寻址状态口</a:t>
            </a:r>
            <a:endParaRPr lang="zh-CN" altLang="en-US" b="1"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98475" y="4876800"/>
            <a:ext cx="4572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20204" pitchFamily="34" charset="0"/>
            </a:pPr>
            <a:r>
              <a:rPr lang="zh-CN" altLang="en-US" b="1">
                <a:solidFill>
                  <a:schemeClr val="tx2"/>
                </a:solidFill>
                <a:sym typeface="+mn-ea"/>
              </a:rPr>
              <a:t>传送环节</a:t>
            </a:r>
            <a:r>
              <a:rPr lang="en-US" altLang="zh-CN" b="1">
                <a:solidFill>
                  <a:schemeClr val="tx2"/>
                </a:solidFill>
                <a:sym typeface="+mn-ea"/>
              </a:rPr>
              <a:t>:</a:t>
            </a:r>
            <a:r>
              <a:rPr lang="zh-CN" altLang="en-US" b="1">
                <a:sym typeface="+mn-ea"/>
              </a:rPr>
              <a:t>寻址数据口</a:t>
            </a:r>
            <a:endParaRPr lang="zh-CN" altLang="en-US" b="1">
              <a:sym typeface="+mn-ea"/>
            </a:endParaRPr>
          </a:p>
        </p:txBody>
      </p:sp>
      <p:sp>
        <p:nvSpPr>
          <p:cNvPr id="4" name="矩形 59"/>
          <p:cNvSpPr/>
          <p:nvPr>
            <p:custDataLst>
              <p:tags r:id="rId14"/>
            </p:custDataLst>
          </p:nvPr>
        </p:nvSpPr>
        <p:spPr>
          <a:xfrm>
            <a:off x="822325" y="501650"/>
            <a:ext cx="815975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 algn="l"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5.2 </a:t>
            </a:r>
            <a:r>
              <a:rPr lang="en-US" altLang="zh-CN" sz="36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  <a:sym typeface="+mn-ea"/>
              </a:rPr>
              <a:t>LED</a:t>
            </a:r>
            <a:r>
              <a:rPr lang="zh-CN" altLang="en-US" sz="36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  <a:sym typeface="+mn-ea"/>
              </a:rPr>
              <a:t>数码管及</a:t>
            </a:r>
            <a:r>
              <a:rPr lang="en-US" altLang="zh-CN" sz="36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  <a:sym typeface="+mn-ea"/>
              </a:rPr>
              <a:t>I/O</a:t>
            </a:r>
            <a:r>
              <a:rPr lang="zh-CN" altLang="en-US" sz="36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  <a:sym typeface="+mn-ea"/>
              </a:rPr>
              <a:t>设备信息交换方式</a:t>
            </a:r>
            <a:endParaRPr lang="en-US" altLang="zh-CN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9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986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986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6561" name="标题 76801"/>
          <p:cNvSpPr>
            <a:spLocks noGrp="1"/>
          </p:cNvSpPr>
          <p:nvPr>
            <p:ph type="title"/>
          </p:nvPr>
        </p:nvSpPr>
        <p:spPr>
          <a:xfrm>
            <a:off x="828040" y="528955"/>
            <a:ext cx="4975225" cy="651510"/>
          </a:xfrm>
        </p:spPr>
        <p:txBody>
          <a:bodyPr anchor="ctr" anchorCtr="0"/>
          <a:p>
            <a:r>
              <a:rPr lang="en-US" altLang="zh-CN" sz="3600" b="1" dirty="0">
                <a:solidFill>
                  <a:srgbClr val="CC33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华文新魏" panose="02010800040101010101" pitchFamily="2" charset="-122"/>
              </a:rPr>
              <a:t>   </a:t>
            </a:r>
            <a:r>
              <a:rPr lang="zh-CN" altLang="en-US" sz="3600" b="1" dirty="0">
                <a:solidFill>
                  <a:srgbClr val="CC33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华文新魏" panose="02010800040101010101" pitchFamily="2" charset="-122"/>
              </a:rPr>
              <a:t>就绪（</a:t>
            </a:r>
            <a:r>
              <a:rPr lang="en-US" altLang="zh-CN" sz="3600" b="1">
                <a:solidFill>
                  <a:srgbClr val="CC33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华文新魏" panose="02010800040101010101" pitchFamily="2" charset="-122"/>
              </a:rPr>
              <a:t>Ready</a:t>
            </a:r>
            <a:r>
              <a:rPr lang="zh-CN" altLang="en-US" sz="3600" b="1">
                <a:solidFill>
                  <a:srgbClr val="CC33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华文新魏" panose="02010800040101010101" pitchFamily="2" charset="-122"/>
              </a:rPr>
              <a:t>）</a:t>
            </a:r>
            <a:endParaRPr lang="zh-CN" altLang="en-US" sz="3600" b="1">
              <a:solidFill>
                <a:srgbClr val="CC3300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华文新魏" panose="02010800040101010101" pitchFamily="2" charset="-122"/>
            </a:endParaRPr>
          </a:p>
        </p:txBody>
      </p:sp>
      <p:sp>
        <p:nvSpPr>
          <p:cNvPr id="66562" name="文本占位符 76802"/>
          <p:cNvSpPr>
            <a:spLocks noGrp="1"/>
          </p:cNvSpPr>
          <p:nvPr>
            <p:ph idx="1"/>
          </p:nvPr>
        </p:nvSpPr>
        <p:spPr>
          <a:xfrm>
            <a:off x="539750" y="1484630"/>
            <a:ext cx="7634605" cy="4104005"/>
          </a:xfrm>
        </p:spPr>
        <p:txBody>
          <a:bodyPr anchor="t" anchorCtr="0"/>
          <a:p>
            <a:pPr>
              <a:lnSpc>
                <a:spcPct val="110000"/>
              </a:lnSpc>
            </a:pPr>
            <a:r>
              <a:rPr lang="zh-CN" altLang="en-US" sz="2800" b="1" dirty="0">
                <a:solidFill>
                  <a:srgbClr val="0000FF"/>
                </a:solidFill>
              </a:rPr>
              <a:t>在输入场合</a:t>
            </a:r>
            <a:endParaRPr lang="zh-CN" altLang="en-US" sz="2800" b="1" dirty="0">
              <a:solidFill>
                <a:srgbClr val="0000FF"/>
              </a:solidFill>
            </a:endParaRPr>
          </a:p>
          <a:p>
            <a:pPr lvl="1">
              <a:lnSpc>
                <a:spcPct val="110000"/>
              </a:lnSpc>
            </a:pPr>
            <a:r>
              <a:rPr lang="zh-CN" altLang="en-US" sz="2400" b="1" dirty="0"/>
              <a:t>“就绪”说明输入接口已准备好送往</a:t>
            </a:r>
            <a:r>
              <a:rPr lang="en-US" altLang="zh-CN" sz="2400" b="1" dirty="0"/>
              <a:t>CPU</a:t>
            </a:r>
            <a:r>
              <a:rPr lang="zh-CN" altLang="en-US" sz="2400" b="1" dirty="0"/>
              <a:t>的数据，正等着</a:t>
            </a:r>
            <a:r>
              <a:rPr lang="en-US" altLang="zh-CN" sz="2400" b="1" dirty="0"/>
              <a:t>CPU</a:t>
            </a:r>
            <a:r>
              <a:rPr lang="zh-CN" altLang="en-US" sz="2400" b="1" dirty="0"/>
              <a:t>来读取</a:t>
            </a:r>
            <a:endParaRPr lang="zh-CN" altLang="en-US" sz="2400" b="1" dirty="0"/>
          </a:p>
          <a:p>
            <a:pPr lvl="1">
              <a:lnSpc>
                <a:spcPct val="110000"/>
              </a:lnSpc>
            </a:pPr>
            <a:r>
              <a:rPr lang="zh-CN" altLang="en-US" sz="2400" b="1" dirty="0"/>
              <a:t>该状态也可用接口中数据缓冲器已“满”来描述</a:t>
            </a:r>
            <a:endParaRPr lang="zh-CN" altLang="en-US" sz="2400" b="1" dirty="0"/>
          </a:p>
          <a:p>
            <a:pPr>
              <a:lnSpc>
                <a:spcPct val="110000"/>
              </a:lnSpc>
            </a:pPr>
            <a:r>
              <a:rPr lang="zh-CN" altLang="en-US" sz="2800" b="1" dirty="0">
                <a:solidFill>
                  <a:srgbClr val="0000FF"/>
                </a:solidFill>
              </a:rPr>
              <a:t> 在输出场合</a:t>
            </a:r>
            <a:endParaRPr lang="zh-CN" altLang="en-US" sz="2800" b="1" dirty="0">
              <a:solidFill>
                <a:srgbClr val="0000FF"/>
              </a:solidFill>
            </a:endParaRPr>
          </a:p>
          <a:p>
            <a:pPr lvl="1">
              <a:lnSpc>
                <a:spcPct val="110000"/>
              </a:lnSpc>
            </a:pPr>
            <a:r>
              <a:rPr lang="zh-CN" altLang="en-US" sz="2400" b="1" dirty="0"/>
              <a:t>“就绪”说明输出接口已做好准备，等待接收</a:t>
            </a:r>
            <a:r>
              <a:rPr lang="en-US" altLang="zh-CN" sz="2400" b="1" dirty="0"/>
              <a:t>CPU</a:t>
            </a:r>
            <a:r>
              <a:rPr lang="zh-CN" altLang="en-US" sz="2400" b="1" dirty="0"/>
              <a:t>要输出的数据</a:t>
            </a:r>
            <a:endParaRPr lang="zh-CN" altLang="en-US" sz="2400" b="1" dirty="0"/>
          </a:p>
          <a:p>
            <a:pPr lvl="1">
              <a:lnSpc>
                <a:spcPct val="110000"/>
              </a:lnSpc>
            </a:pPr>
            <a:r>
              <a:rPr lang="zh-CN" altLang="en-US" sz="2400" b="1" dirty="0"/>
              <a:t>该状态也可用接口数据缓冲器已“空”、或者用接口（外设）“闲”或不“忙（</a:t>
            </a:r>
            <a:r>
              <a:rPr lang="en-US" altLang="zh-CN" sz="2400" b="1" dirty="0"/>
              <a:t>Busy</a:t>
            </a:r>
            <a:r>
              <a:rPr lang="zh-CN" altLang="en-US" sz="2400" b="1" dirty="0"/>
              <a:t>）”来描述</a:t>
            </a:r>
            <a:endParaRPr lang="zh-CN" altLang="en-US" sz="2400" b="1" dirty="0"/>
          </a:p>
        </p:txBody>
      </p:sp>
      <p:sp>
        <p:nvSpPr>
          <p:cNvPr id="66565" name="圆角矩形 76807" descr="096"/>
          <p:cNvSpPr/>
          <p:nvPr/>
        </p:nvSpPr>
        <p:spPr>
          <a:xfrm>
            <a:off x="4284345" y="116840"/>
            <a:ext cx="4752975" cy="700088"/>
          </a:xfrm>
          <a:prstGeom prst="roundRect">
            <a:avLst>
              <a:gd name="adj" fmla="val 16667"/>
            </a:avLst>
          </a:prstGeom>
          <a:blipFill rotWithShape="0">
            <a:blip r:embed="rId1"/>
            <a:stretch>
              <a:fillRect/>
            </a:stretch>
          </a:blipFill>
          <a:ln w="9525">
            <a:noFill/>
          </a:ln>
        </p:spPr>
        <p:txBody>
          <a:bodyPr wrap="none" anchor="ctr" anchorCtr="0"/>
          <a:p>
            <a:pPr algn="ctr">
              <a:lnSpc>
                <a:spcPct val="80000"/>
              </a:lnSpc>
            </a:pPr>
            <a:r>
              <a:rPr lang="zh-CN" altLang="en-US" sz="2800" b="1" dirty="0">
                <a:latin typeface="Tahoma" panose="020B0604030504040204" pitchFamily="34" charset="0"/>
                <a:ea typeface="宋体" panose="02010600030101010101" pitchFamily="2" charset="-122"/>
              </a:rPr>
              <a:t>就绪：满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en-US" sz="2800" b="1" dirty="0">
                <a:latin typeface="Tahoma" panose="020B0604030504040204" pitchFamily="34" charset="0"/>
                <a:ea typeface="宋体" panose="02010600030101010101" pitchFamily="2" charset="-122"/>
              </a:rPr>
              <a:t>空、闲、不忙</a:t>
            </a:r>
            <a:endParaRPr lang="zh-CN" altLang="en-US" sz="2800" b="1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advClick="0">
    <p:rand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2709" name="Text Box 5"/>
          <p:cNvSpPr txBox="1"/>
          <p:nvPr>
            <p:custDataLst>
              <p:tags r:id="rId1"/>
            </p:custDataLst>
          </p:nvPr>
        </p:nvSpPr>
        <p:spPr>
          <a:xfrm>
            <a:off x="469900" y="1887220"/>
            <a:ext cx="5438140" cy="902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10000"/>
              </a:lnSpc>
            </a:pPr>
            <a:r>
              <a:rPr lang="zh-CN" altLang="en-US" b="1" i="0" dirty="0">
                <a:solidFill>
                  <a:srgbClr val="3333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当</a:t>
            </a:r>
            <a:r>
              <a:rPr lang="en-US" altLang="zh-CN" b="1" i="0" dirty="0">
                <a:solidFill>
                  <a:srgbClr val="3333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READY=1</a:t>
            </a:r>
            <a:r>
              <a:rPr lang="zh-CN" altLang="en-US" b="1" i="0" dirty="0">
                <a:solidFill>
                  <a:srgbClr val="3333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时，表示输入数据准备好</a:t>
            </a:r>
            <a:endParaRPr lang="zh-CN" altLang="en-US" b="1" i="0" dirty="0">
              <a:solidFill>
                <a:srgbClr val="3333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</a:pPr>
            <a:r>
              <a:rPr lang="zh-CN" altLang="en-US" b="1" i="0" dirty="0">
                <a:solidFill>
                  <a:srgbClr val="3333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接到</a:t>
            </a:r>
            <a:r>
              <a:rPr lang="en-US" altLang="zh-CN" b="1" i="0" dirty="0">
                <a:solidFill>
                  <a:srgbClr val="3333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b="1" i="0" baseline="-25000" dirty="0">
                <a:solidFill>
                  <a:srgbClr val="3333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7</a:t>
            </a:r>
            <a:r>
              <a:rPr lang="zh-CN" altLang="en-US" b="1" i="0" dirty="0">
                <a:solidFill>
                  <a:srgbClr val="3333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位上。</a:t>
            </a:r>
            <a:endParaRPr lang="en-US" altLang="zh-CN" b="1" i="0" dirty="0">
              <a:solidFill>
                <a:srgbClr val="3333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2710" name="Text Box 6"/>
          <p:cNvSpPr txBox="1"/>
          <p:nvPr>
            <p:custDataLst>
              <p:tags r:id="rId2"/>
            </p:custDataLst>
          </p:nvPr>
        </p:nvSpPr>
        <p:spPr>
          <a:xfrm>
            <a:off x="6705600" y="4648200"/>
            <a:ext cx="1981200" cy="4667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</a:pPr>
            <a:r>
              <a:rPr lang="zh-CN" altLang="en-US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读入数据</a:t>
            </a:r>
            <a:endParaRPr lang="zh-CN" altLang="en-US" i="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" name="Group 7"/>
          <p:cNvGrpSpPr/>
          <p:nvPr/>
        </p:nvGrpSpPr>
        <p:grpSpPr>
          <a:xfrm>
            <a:off x="6705600" y="1905000"/>
            <a:ext cx="1828800" cy="1304925"/>
            <a:chOff x="4224" y="1008"/>
            <a:chExt cx="1152" cy="822"/>
          </a:xfrm>
        </p:grpSpPr>
        <p:sp>
          <p:nvSpPr>
            <p:cNvPr id="24581" name="Text Box 8"/>
            <p:cNvSpPr txBox="1"/>
            <p:nvPr>
              <p:custDataLst>
                <p:tags r:id="rId3"/>
              </p:custDataLst>
            </p:nvPr>
          </p:nvSpPr>
          <p:spPr>
            <a:xfrm>
              <a:off x="4416" y="1008"/>
              <a:ext cx="768" cy="29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i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初始化</a:t>
              </a:r>
              <a:endParaRPr lang="zh-CN" altLang="en-US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582" name="Text Box 9"/>
            <p:cNvSpPr txBox="1"/>
            <p:nvPr>
              <p:custDataLst>
                <p:tags r:id="rId4"/>
              </p:custDataLst>
            </p:nvPr>
          </p:nvSpPr>
          <p:spPr>
            <a:xfrm>
              <a:off x="4224" y="1536"/>
              <a:ext cx="1152" cy="29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i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查询状态</a:t>
              </a:r>
              <a:endParaRPr lang="zh-CN" altLang="en-US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583" name="Line 10"/>
            <p:cNvSpPr/>
            <p:nvPr>
              <p:custDataLst>
                <p:tags r:id="rId5"/>
              </p:custDataLst>
            </p:nvPr>
          </p:nvSpPr>
          <p:spPr>
            <a:xfrm>
              <a:off x="4797" y="1296"/>
              <a:ext cx="0" cy="24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sp>
        <p:nvSpPr>
          <p:cNvPr id="72715" name="Line 11"/>
          <p:cNvSpPr/>
          <p:nvPr>
            <p:custDataLst>
              <p:tags r:id="rId6"/>
            </p:custDataLst>
          </p:nvPr>
        </p:nvSpPr>
        <p:spPr>
          <a:xfrm>
            <a:off x="7620000" y="5105400"/>
            <a:ext cx="635" cy="32131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72716" name="Line 12"/>
          <p:cNvSpPr/>
          <p:nvPr>
            <p:custDataLst>
              <p:tags r:id="rId7"/>
            </p:custDataLst>
          </p:nvPr>
        </p:nvSpPr>
        <p:spPr>
          <a:xfrm flipH="1" flipV="1">
            <a:off x="6096000" y="3810000"/>
            <a:ext cx="0" cy="19050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grpSp>
        <p:nvGrpSpPr>
          <p:cNvPr id="3" name="Group 13"/>
          <p:cNvGrpSpPr/>
          <p:nvPr/>
        </p:nvGrpSpPr>
        <p:grpSpPr>
          <a:xfrm>
            <a:off x="6096000" y="3200400"/>
            <a:ext cx="2667000" cy="1447800"/>
            <a:chOff x="3840" y="1824"/>
            <a:chExt cx="1680" cy="912"/>
          </a:xfrm>
        </p:grpSpPr>
        <p:sp>
          <p:nvSpPr>
            <p:cNvPr id="24587" name="AutoShape 14"/>
            <p:cNvSpPr/>
            <p:nvPr>
              <p:custDataLst>
                <p:tags r:id="rId8"/>
              </p:custDataLst>
            </p:nvPr>
          </p:nvSpPr>
          <p:spPr>
            <a:xfrm>
              <a:off x="4080" y="1968"/>
              <a:ext cx="1440" cy="528"/>
            </a:xfrm>
            <a:prstGeom prst="flowChartDecision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000" i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READY=1?</a:t>
              </a:r>
              <a:endParaRPr lang="en-US" altLang="zh-CN" sz="2000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588" name="Line 15"/>
            <p:cNvSpPr/>
            <p:nvPr>
              <p:custDataLst>
                <p:tags r:id="rId9"/>
              </p:custDataLst>
            </p:nvPr>
          </p:nvSpPr>
          <p:spPr>
            <a:xfrm>
              <a:off x="4800" y="1824"/>
              <a:ext cx="0" cy="15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4589" name="Line 16"/>
            <p:cNvSpPr/>
            <p:nvPr>
              <p:custDataLst>
                <p:tags r:id="rId10"/>
              </p:custDataLst>
            </p:nvPr>
          </p:nvSpPr>
          <p:spPr>
            <a:xfrm>
              <a:off x="4800" y="2496"/>
              <a:ext cx="0" cy="24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4590" name="Line 17"/>
            <p:cNvSpPr/>
            <p:nvPr>
              <p:custDataLst>
                <p:tags r:id="rId11"/>
              </p:custDataLst>
            </p:nvPr>
          </p:nvSpPr>
          <p:spPr>
            <a:xfrm flipH="1">
              <a:off x="3840" y="2232"/>
              <a:ext cx="24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lg"/>
            </a:ln>
          </p:spPr>
        </p:sp>
      </p:grpSp>
      <p:sp>
        <p:nvSpPr>
          <p:cNvPr id="72722" name="Text Box 18"/>
          <p:cNvSpPr txBox="1"/>
          <p:nvPr>
            <p:custDataLst>
              <p:tags r:id="rId12"/>
            </p:custDataLst>
          </p:nvPr>
        </p:nvSpPr>
        <p:spPr>
          <a:xfrm>
            <a:off x="6248400" y="3352800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endParaRPr lang="en-US" altLang="zh-CN" i="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4" name="Group 19"/>
          <p:cNvGrpSpPr/>
          <p:nvPr/>
        </p:nvGrpSpPr>
        <p:grpSpPr>
          <a:xfrm>
            <a:off x="6096000" y="5181600"/>
            <a:ext cx="2514600" cy="1219200"/>
            <a:chOff x="3840" y="3072"/>
            <a:chExt cx="1584" cy="768"/>
          </a:xfrm>
        </p:grpSpPr>
        <p:sp>
          <p:nvSpPr>
            <p:cNvPr id="24593" name="AutoShape 20"/>
            <p:cNvSpPr/>
            <p:nvPr>
              <p:custDataLst>
                <p:tags r:id="rId13"/>
              </p:custDataLst>
            </p:nvPr>
          </p:nvSpPr>
          <p:spPr>
            <a:xfrm>
              <a:off x="4224" y="3216"/>
              <a:ext cx="1200" cy="384"/>
            </a:xfrm>
            <a:prstGeom prst="flowChartDecision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zh-CN" altLang="en-US" sz="2000" i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传送完</a:t>
              </a:r>
              <a:endParaRPr lang="zh-CN" altLang="en-US" sz="2000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594" name="Line 21"/>
            <p:cNvSpPr/>
            <p:nvPr>
              <p:custDataLst>
                <p:tags r:id="rId14"/>
              </p:custDataLst>
            </p:nvPr>
          </p:nvSpPr>
          <p:spPr>
            <a:xfrm flipH="1">
              <a:off x="3840" y="3408"/>
              <a:ext cx="38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4595" name="Line 22"/>
            <p:cNvSpPr/>
            <p:nvPr>
              <p:custDataLst>
                <p:tags r:id="rId15"/>
              </p:custDataLst>
            </p:nvPr>
          </p:nvSpPr>
          <p:spPr>
            <a:xfrm>
              <a:off x="4800" y="3600"/>
              <a:ext cx="0" cy="24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4596" name="Text Box 23"/>
            <p:cNvSpPr txBox="1"/>
            <p:nvPr>
              <p:custDataLst>
                <p:tags r:id="rId16"/>
              </p:custDataLst>
            </p:nvPr>
          </p:nvSpPr>
          <p:spPr>
            <a:xfrm>
              <a:off x="4032" y="3072"/>
              <a:ext cx="28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i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</a:t>
              </a:r>
              <a:endParaRPr lang="en-US" altLang="zh-CN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09600" y="2658110"/>
            <a:ext cx="5334000" cy="2057400"/>
            <a:chOff x="960" y="4186"/>
            <a:chExt cx="8400" cy="3240"/>
          </a:xfrm>
        </p:grpSpPr>
        <p:sp>
          <p:nvSpPr>
            <p:cNvPr id="24597" name="Rectangle 25"/>
            <p:cNvSpPr/>
            <p:nvPr>
              <p:custDataLst>
                <p:tags r:id="rId17"/>
              </p:custDataLst>
            </p:nvPr>
          </p:nvSpPr>
          <p:spPr>
            <a:xfrm>
              <a:off x="7800" y="4426"/>
              <a:ext cx="1560" cy="2520"/>
            </a:xfrm>
            <a:prstGeom prst="rect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b="1" i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CPU</a:t>
              </a:r>
              <a:endParaRPr lang="en-US" altLang="zh-CN" b="1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598" name="Rectangle 26"/>
            <p:cNvSpPr/>
            <p:nvPr>
              <p:custDataLst>
                <p:tags r:id="rId18"/>
              </p:custDataLst>
            </p:nvPr>
          </p:nvSpPr>
          <p:spPr>
            <a:xfrm>
              <a:off x="960" y="4546"/>
              <a:ext cx="1200" cy="216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zh-CN" altLang="en-US" sz="2000" b="1" i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输入</a:t>
              </a:r>
              <a:endParaRPr lang="zh-CN" altLang="en-US" sz="2000" b="1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/>
              <a:r>
                <a:rPr lang="zh-CN" altLang="en-US" sz="2000" b="1" i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设备</a:t>
              </a:r>
              <a:endParaRPr lang="zh-CN" altLang="en-US" sz="2000" b="1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599" name="Rectangle 27"/>
            <p:cNvSpPr/>
            <p:nvPr>
              <p:custDataLst>
                <p:tags r:id="rId19"/>
              </p:custDataLst>
            </p:nvPr>
          </p:nvSpPr>
          <p:spPr>
            <a:xfrm>
              <a:off x="4200" y="6106"/>
              <a:ext cx="1560" cy="1320"/>
            </a:xfrm>
            <a:prstGeom prst="rect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zh-CN" altLang="en-US" sz="2000" b="1" i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状态</a:t>
              </a:r>
              <a:endParaRPr lang="zh-CN" altLang="en-US" sz="2000" b="1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/>
              <a:r>
                <a:rPr lang="zh-CN" altLang="en-US" sz="2000" b="1" i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端口</a:t>
              </a:r>
              <a:endParaRPr lang="zh-CN" altLang="en-US" sz="2000" b="1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600" name="Rectangle 28"/>
            <p:cNvSpPr/>
            <p:nvPr>
              <p:custDataLst>
                <p:tags r:id="rId20"/>
              </p:custDataLst>
            </p:nvPr>
          </p:nvSpPr>
          <p:spPr>
            <a:xfrm>
              <a:off x="4200" y="4306"/>
              <a:ext cx="1560" cy="1320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zh-CN" altLang="en-US" sz="2000" b="1" i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数据</a:t>
              </a:r>
              <a:endParaRPr lang="zh-CN" altLang="en-US" sz="2000" b="1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/>
              <a:r>
                <a:rPr lang="zh-CN" altLang="en-US" sz="2000" b="1" i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端口</a:t>
              </a:r>
              <a:endParaRPr lang="zh-CN" altLang="en-US" sz="2000" b="1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601" name="Line 29"/>
            <p:cNvSpPr/>
            <p:nvPr>
              <p:custDataLst>
                <p:tags r:id="rId21"/>
              </p:custDataLst>
            </p:nvPr>
          </p:nvSpPr>
          <p:spPr>
            <a:xfrm flipH="1">
              <a:off x="2160" y="4786"/>
              <a:ext cx="2040" cy="0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sp>
          <p:nvSpPr>
            <p:cNvPr id="24602" name="Text Box 30"/>
            <p:cNvSpPr txBox="1"/>
            <p:nvPr>
              <p:custDataLst>
                <p:tags r:id="rId22"/>
              </p:custDataLst>
            </p:nvPr>
          </p:nvSpPr>
          <p:spPr>
            <a:xfrm>
              <a:off x="2438" y="6586"/>
              <a:ext cx="1920" cy="62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1" i="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READY</a:t>
              </a:r>
              <a:endParaRPr lang="en-US" altLang="zh-CN" sz="2000" b="1" i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603" name="Line 31"/>
            <p:cNvSpPr/>
            <p:nvPr>
              <p:custDataLst>
                <p:tags r:id="rId23"/>
              </p:custDataLst>
            </p:nvPr>
          </p:nvSpPr>
          <p:spPr>
            <a:xfrm flipH="1">
              <a:off x="2153" y="6466"/>
              <a:ext cx="204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arrow" w="lg" len="lg"/>
              <a:tailEnd type="none" w="med" len="med"/>
            </a:ln>
          </p:spPr>
        </p:sp>
        <p:sp>
          <p:nvSpPr>
            <p:cNvPr id="24604" name="Text Box 32"/>
            <p:cNvSpPr txBox="1"/>
            <p:nvPr>
              <p:custDataLst>
                <p:tags r:id="rId24"/>
              </p:custDataLst>
            </p:nvPr>
          </p:nvSpPr>
          <p:spPr>
            <a:xfrm>
              <a:off x="6480" y="5626"/>
              <a:ext cx="1680" cy="72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i="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r>
                <a:rPr lang="en-US" altLang="zh-CN" b="1" i="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  <a:endParaRPr lang="en-US" altLang="zh-CN" b="1" i="0" baseline="-25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605" name="Line 33"/>
            <p:cNvSpPr/>
            <p:nvPr>
              <p:custDataLst>
                <p:tags r:id="rId25"/>
              </p:custDataLst>
            </p:nvPr>
          </p:nvSpPr>
          <p:spPr>
            <a:xfrm flipH="1">
              <a:off x="5760" y="4786"/>
              <a:ext cx="2040" cy="0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sp>
          <p:nvSpPr>
            <p:cNvPr id="24606" name="Line 34"/>
            <p:cNvSpPr/>
            <p:nvPr>
              <p:custDataLst>
                <p:tags r:id="rId26"/>
              </p:custDataLst>
            </p:nvPr>
          </p:nvSpPr>
          <p:spPr>
            <a:xfrm>
              <a:off x="5760" y="6466"/>
              <a:ext cx="72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4607" name="Line 35"/>
            <p:cNvSpPr/>
            <p:nvPr>
              <p:custDataLst>
                <p:tags r:id="rId27"/>
              </p:custDataLst>
            </p:nvPr>
          </p:nvSpPr>
          <p:spPr>
            <a:xfrm flipV="1">
              <a:off x="6480" y="4786"/>
              <a:ext cx="0" cy="168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arrow" w="lg" len="lg"/>
            </a:ln>
          </p:spPr>
        </p:sp>
        <p:sp>
          <p:nvSpPr>
            <p:cNvPr id="24608" name="Text Box 36"/>
            <p:cNvSpPr txBox="1"/>
            <p:nvPr>
              <p:custDataLst>
                <p:tags r:id="rId28"/>
              </p:custDataLst>
            </p:nvPr>
          </p:nvSpPr>
          <p:spPr>
            <a:xfrm>
              <a:off x="6360" y="4186"/>
              <a:ext cx="1440" cy="62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1" i="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DB</a:t>
              </a:r>
              <a:endParaRPr lang="en-US" altLang="zh-CN" sz="2000" b="1" i="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72741" name="Text Box 37"/>
          <p:cNvSpPr txBox="1"/>
          <p:nvPr>
            <p:custDataLst>
              <p:tags r:id="rId29"/>
            </p:custDataLst>
          </p:nvPr>
        </p:nvSpPr>
        <p:spPr>
          <a:xfrm>
            <a:off x="7848600" y="4114800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endParaRPr lang="en-US" altLang="zh-CN" i="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5" name="Group 38"/>
          <p:cNvGrpSpPr/>
          <p:nvPr/>
        </p:nvGrpSpPr>
        <p:grpSpPr>
          <a:xfrm>
            <a:off x="6096000" y="2514600"/>
            <a:ext cx="1511300" cy="1371600"/>
            <a:chOff x="3840" y="1392"/>
            <a:chExt cx="952" cy="864"/>
          </a:xfrm>
        </p:grpSpPr>
        <p:sp>
          <p:nvSpPr>
            <p:cNvPr id="24611" name="Line 39"/>
            <p:cNvSpPr/>
            <p:nvPr>
              <p:custDataLst>
                <p:tags r:id="rId30"/>
              </p:custDataLst>
            </p:nvPr>
          </p:nvSpPr>
          <p:spPr>
            <a:xfrm>
              <a:off x="3840" y="1392"/>
              <a:ext cx="95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4612" name="Line 40"/>
            <p:cNvSpPr/>
            <p:nvPr>
              <p:custDataLst>
                <p:tags r:id="rId31"/>
              </p:custDataLst>
            </p:nvPr>
          </p:nvSpPr>
          <p:spPr>
            <a:xfrm flipH="1" flipV="1">
              <a:off x="3840" y="1392"/>
              <a:ext cx="0" cy="86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72745" name="Text Box 41"/>
          <p:cNvSpPr txBox="1"/>
          <p:nvPr>
            <p:custDataLst>
              <p:tags r:id="rId32"/>
            </p:custDataLst>
          </p:nvPr>
        </p:nvSpPr>
        <p:spPr>
          <a:xfrm>
            <a:off x="7696200" y="6019800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endParaRPr lang="en-US" altLang="zh-CN" i="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2746" name="Text Box 42"/>
          <p:cNvSpPr txBox="1"/>
          <p:nvPr>
            <p:custDataLst>
              <p:tags r:id="rId33"/>
            </p:custDataLst>
          </p:nvPr>
        </p:nvSpPr>
        <p:spPr>
          <a:xfrm>
            <a:off x="8534400" y="2514600"/>
            <a:ext cx="609600" cy="8223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i="0" dirty="0">
                <a:latin typeface="Times New Roman" panose="02020603050405020304" pitchFamily="18" charset="0"/>
                <a:ea typeface="宋体" panose="02010600030101010101" pitchFamily="2" charset="-122"/>
              </a:rPr>
              <a:t>查询</a:t>
            </a:r>
            <a:endParaRPr lang="zh-CN" altLang="en-US" i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615" name="Rectangle 44"/>
          <p:cNvSpPr/>
          <p:nvPr>
            <p:custDataLst>
              <p:tags r:id="rId34"/>
            </p:custDataLst>
          </p:nvPr>
        </p:nvSpPr>
        <p:spPr>
          <a:xfrm>
            <a:off x="470535" y="1497330"/>
            <a:ext cx="260604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b="1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r>
              <a:rPr lang="en-US" altLang="zh-CN" b="1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: </a:t>
            </a:r>
            <a:r>
              <a:rPr lang="zh-CN" altLang="en-US" b="1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查询输入</a:t>
            </a:r>
            <a:endParaRPr lang="zh-CN" altLang="en-US" b="1" i="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616" name="Rectangle 45"/>
          <p:cNvSpPr/>
          <p:nvPr/>
        </p:nvSpPr>
        <p:spPr>
          <a:xfrm>
            <a:off x="618490" y="5177155"/>
            <a:ext cx="4343400" cy="141986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90000"/>
              </a:lnSpc>
            </a:pPr>
            <a:r>
              <a:rPr lang="en-US" altLang="zh-CN" b="1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NEXT</a:t>
            </a:r>
            <a:r>
              <a:rPr lang="zh-CN" altLang="en-US" b="1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en-US" altLang="zh-CN" b="1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   AL</a:t>
            </a:r>
            <a:r>
              <a:rPr lang="zh-CN" altLang="en-US" b="1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zh-CN" altLang="en-US" b="1" i="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状态口地址</a:t>
            </a:r>
            <a:endParaRPr lang="zh-CN" altLang="en-US" b="1" i="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zh-CN" altLang="en-US" b="1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</a:t>
            </a:r>
            <a:r>
              <a:rPr lang="en-US" altLang="zh-CN" b="1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AND  AL</a:t>
            </a:r>
            <a:r>
              <a:rPr lang="zh-CN" altLang="en-US" b="1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b="1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80H</a:t>
            </a:r>
            <a:endParaRPr lang="en-US" altLang="zh-CN" b="1" i="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b="1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JZ  NEXT</a:t>
            </a:r>
            <a:endParaRPr lang="en-US" altLang="zh-CN" b="1" i="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b="1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IN   AL</a:t>
            </a:r>
            <a:r>
              <a:rPr lang="zh-CN" altLang="en-US" b="1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zh-CN" altLang="en-US" b="1" i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数据口地址</a:t>
            </a:r>
            <a:endParaRPr lang="zh-CN" altLang="en-US" b="1" i="0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617" name="Rectangle 48"/>
          <p:cNvSpPr/>
          <p:nvPr/>
        </p:nvSpPr>
        <p:spPr>
          <a:xfrm>
            <a:off x="609600" y="4719955"/>
            <a:ext cx="293751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b="1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完成一次查询输入：</a:t>
            </a:r>
            <a:endParaRPr lang="zh-CN" altLang="en-US" b="1" i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矩形 59"/>
          <p:cNvSpPr/>
          <p:nvPr>
            <p:custDataLst>
              <p:tags r:id="rId35"/>
            </p:custDataLst>
          </p:nvPr>
        </p:nvSpPr>
        <p:spPr>
          <a:xfrm>
            <a:off x="822325" y="501650"/>
            <a:ext cx="815975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 algn="l"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5.2 </a:t>
            </a:r>
            <a:r>
              <a:rPr lang="en-US" altLang="zh-CN" sz="36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  <a:sym typeface="+mn-ea"/>
              </a:rPr>
              <a:t>LED</a:t>
            </a:r>
            <a:r>
              <a:rPr lang="zh-CN" altLang="en-US" sz="36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  <a:sym typeface="+mn-ea"/>
              </a:rPr>
              <a:t>数码管及</a:t>
            </a:r>
            <a:r>
              <a:rPr lang="en-US" altLang="zh-CN" sz="36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  <a:sym typeface="+mn-ea"/>
              </a:rPr>
              <a:t>I/O</a:t>
            </a:r>
            <a:r>
              <a:rPr lang="zh-CN" altLang="en-US" sz="36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  <a:sym typeface="+mn-ea"/>
              </a:rPr>
              <a:t>设备信息交换方式</a:t>
            </a:r>
            <a:endParaRPr lang="en-US" altLang="zh-CN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27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27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27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27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727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27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27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27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727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727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727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727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727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727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727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727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727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727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727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727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727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727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727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727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727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727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727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727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727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727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5" dur="500"/>
                                        <p:tgtEl>
                                          <p:spTgt spid="24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8" dur="500"/>
                                        <p:tgtEl>
                                          <p:spTgt spid="24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9" grpId="0"/>
      <p:bldP spid="72710" grpId="0" bldLvl="0" animBg="1"/>
      <p:bldP spid="72722" grpId="0"/>
      <p:bldP spid="72741" grpId="0"/>
      <p:bldP spid="72745" grpId="0"/>
      <p:bldP spid="72746" grpId="0"/>
      <p:bldP spid="24617" grpId="0"/>
      <p:bldP spid="2461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Rectangle 2"/>
          <p:cNvSpPr/>
          <p:nvPr>
            <p:custDataLst>
              <p:tags r:id="rId1"/>
            </p:custDataLst>
          </p:nvPr>
        </p:nvSpPr>
        <p:spPr>
          <a:xfrm>
            <a:off x="537845" y="1467485"/>
            <a:ext cx="7044055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b="1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例：查询输出 </a:t>
            </a:r>
            <a:r>
              <a:rPr lang="zh-CN" altLang="en-US" b="1" i="0" dirty="0">
                <a:latin typeface="Times New Roman" panose="02020603050405020304" pitchFamily="18" charset="0"/>
                <a:ea typeface="宋体" panose="02010600030101010101" pitchFamily="2" charset="-122"/>
              </a:rPr>
              <a:t>，编程将</a:t>
            </a:r>
            <a:r>
              <a:rPr lang="en-US" altLang="zh-CN" b="1" i="0" dirty="0">
                <a:latin typeface="Times New Roman" panose="02020603050405020304" pitchFamily="18" charset="0"/>
                <a:ea typeface="宋体" panose="02010600030101010101" pitchFamily="2" charset="-122"/>
              </a:rPr>
              <a:t>DATA</a:t>
            </a:r>
            <a:r>
              <a:rPr lang="zh-CN" altLang="en-US" b="1" i="0" dirty="0">
                <a:latin typeface="Times New Roman" panose="02020603050405020304" pitchFamily="18" charset="0"/>
                <a:ea typeface="宋体" panose="02010600030101010101" pitchFamily="2" charset="-122"/>
              </a:rPr>
              <a:t>开始的</a:t>
            </a:r>
            <a:r>
              <a:rPr lang="en-US" altLang="zh-CN" b="1" i="0" dirty="0">
                <a:latin typeface="Times New Roman" panose="02020603050405020304" pitchFamily="18" charset="0"/>
                <a:ea typeface="宋体" panose="02010600030101010101" pitchFamily="2" charset="-122"/>
              </a:rPr>
              <a:t>100</a:t>
            </a:r>
            <a:r>
              <a:rPr lang="zh-CN" altLang="en-US" b="1" i="0" dirty="0">
                <a:latin typeface="Times New Roman" panose="02020603050405020304" pitchFamily="18" charset="0"/>
                <a:ea typeface="宋体" panose="02010600030101010101" pitchFamily="2" charset="-122"/>
              </a:rPr>
              <a:t>个字节输出</a:t>
            </a:r>
            <a:endParaRPr lang="zh-CN" altLang="en-US" b="1" i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658" name="Rectangle 103"/>
          <p:cNvSpPr/>
          <p:nvPr>
            <p:custDataLst>
              <p:tags r:id="rId2"/>
            </p:custDataLst>
          </p:nvPr>
        </p:nvSpPr>
        <p:spPr>
          <a:xfrm>
            <a:off x="2892425" y="6237605"/>
            <a:ext cx="52578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457200" indent="-457200">
              <a:buFont typeface="Wingdings" panose="05000000000000000000" pitchFamily="2" charset="2"/>
            </a:pPr>
            <a:r>
              <a:rPr lang="zh-CN" altLang="en-US" b="1" i="0" dirty="0">
                <a:solidFill>
                  <a:srgbClr val="3333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状态表示：</a:t>
            </a:r>
            <a:r>
              <a:rPr lang="en-US" altLang="zh-CN" b="1" i="0" dirty="0">
                <a:solidFill>
                  <a:srgbClr val="3333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D5</a:t>
            </a:r>
            <a:r>
              <a:rPr lang="en-US" altLang="zh-CN" b="1" i="0" dirty="0">
                <a:solidFill>
                  <a:srgbClr val="3333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=1</a:t>
            </a:r>
            <a:r>
              <a:rPr lang="zh-CN" altLang="en-US" b="1" i="0" dirty="0">
                <a:solidFill>
                  <a:srgbClr val="3333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忙；</a:t>
            </a:r>
            <a:r>
              <a:rPr lang="en-US" altLang="zh-CN" b="1" i="0" dirty="0">
                <a:solidFill>
                  <a:srgbClr val="3333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D5</a:t>
            </a:r>
            <a:r>
              <a:rPr lang="en-US" altLang="zh-CN" b="1" i="0" dirty="0">
                <a:solidFill>
                  <a:srgbClr val="3333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=0</a:t>
            </a:r>
            <a:r>
              <a:rPr lang="zh-CN" altLang="en-US" b="1" i="0" dirty="0">
                <a:solidFill>
                  <a:srgbClr val="3333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准备好</a:t>
            </a:r>
            <a:endParaRPr lang="zh-CN" altLang="en-US" b="1" i="0" dirty="0">
              <a:solidFill>
                <a:srgbClr val="3333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611505" y="1988820"/>
            <a:ext cx="7620000" cy="4275138"/>
            <a:chOff x="1567" y="3911"/>
            <a:chExt cx="12000" cy="6733"/>
          </a:xfrm>
        </p:grpSpPr>
        <p:sp>
          <p:nvSpPr>
            <p:cNvPr id="25604" name="Rectangle 4"/>
            <p:cNvSpPr/>
            <p:nvPr>
              <p:custDataLst>
                <p:tags r:id="rId3"/>
              </p:custDataLst>
            </p:nvPr>
          </p:nvSpPr>
          <p:spPr>
            <a:xfrm>
              <a:off x="6105" y="7874"/>
              <a:ext cx="2262" cy="2383"/>
            </a:xfrm>
            <a:prstGeom prst="rect">
              <a:avLst/>
            </a:prstGeom>
            <a:solidFill>
              <a:srgbClr val="FFFF99"/>
            </a:solidFill>
            <a:ln w="9525" cap="flat" cmpd="sng">
              <a:solidFill>
                <a:srgbClr val="CCFFFF"/>
              </a:solidFill>
              <a:prstDash val="dash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en-US" altLang="zh-CN" i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/>
              <a:endParaRPr lang="en-US" altLang="zh-CN" i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/>
              <a:r>
                <a:rPr lang="zh-CN" altLang="en-US" b="1" i="0" dirty="0">
                  <a:solidFill>
                    <a:srgbClr val="C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状态端口</a:t>
              </a:r>
              <a:endParaRPr lang="zh-CN" altLang="en-US" b="1" i="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05" name="Text Box 5"/>
            <p:cNvSpPr txBox="1"/>
            <p:nvPr>
              <p:custDataLst>
                <p:tags r:id="rId4"/>
              </p:custDataLst>
            </p:nvPr>
          </p:nvSpPr>
          <p:spPr>
            <a:xfrm>
              <a:off x="6882" y="4951"/>
              <a:ext cx="568" cy="39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 anchorCtr="0"/>
            <a:p>
              <a:pPr algn="ctr"/>
              <a:endParaRPr lang="zh-CN" altLang="zh-CN" sz="1400" i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606" name="Text Box 6"/>
            <p:cNvSpPr txBox="1"/>
            <p:nvPr>
              <p:custDataLst>
                <p:tags r:id="rId5"/>
              </p:custDataLst>
            </p:nvPr>
          </p:nvSpPr>
          <p:spPr>
            <a:xfrm>
              <a:off x="1567" y="4031"/>
              <a:ext cx="2075" cy="46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p>
              <a:pPr algn="r"/>
              <a:r>
                <a:rPr lang="en-US" altLang="zh-CN" sz="2000" i="0" dirty="0">
                  <a:latin typeface="Arial" panose="020B0604020202020204" pitchFamily="34" charset="0"/>
                  <a:ea typeface="宋体" panose="02010600030101010101" pitchFamily="2" charset="-122"/>
                </a:rPr>
                <a:t>D7-D0</a:t>
              </a:r>
              <a:endParaRPr lang="en-US" altLang="zh-CN" sz="2000" i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endParaRPr lang="en-US" altLang="zh-CN" sz="2000" i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607" name="Rectangle 18"/>
            <p:cNvSpPr/>
            <p:nvPr>
              <p:custDataLst>
                <p:tags r:id="rId6"/>
              </p:custDataLst>
            </p:nvPr>
          </p:nvSpPr>
          <p:spPr>
            <a:xfrm>
              <a:off x="4605" y="6399"/>
              <a:ext cx="905" cy="1402"/>
            </a:xfrm>
            <a:prstGeom prst="rect">
              <a:avLst/>
            </a:prstGeom>
            <a:solidFill>
              <a:srgbClr val="FFFF99"/>
            </a:solidFill>
            <a:ln w="9525" cap="flat" cmpd="sng">
              <a:solidFill>
                <a:srgbClr val="339966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t" anchorCtr="0"/>
            <a:p>
              <a:pPr algn="ctr"/>
              <a:endParaRPr lang="en-US" altLang="zh-CN" sz="1400" i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algn="ctr"/>
              <a:r>
                <a:rPr lang="en-US" altLang="zh-CN" sz="1400" i="0" dirty="0">
                  <a:latin typeface="Arial" panose="020B0604020202020204" pitchFamily="34" charset="0"/>
                  <a:ea typeface="宋体" panose="02010600030101010101" pitchFamily="2" charset="-122"/>
                </a:rPr>
                <a:t>≥1</a:t>
              </a:r>
              <a:endParaRPr lang="en-US" altLang="zh-CN" sz="1400" i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608" name="Text Box 20"/>
            <p:cNvSpPr txBox="1"/>
            <p:nvPr>
              <p:custDataLst>
                <p:tags r:id="rId7"/>
              </p:custDataLst>
            </p:nvPr>
          </p:nvSpPr>
          <p:spPr>
            <a:xfrm>
              <a:off x="3072" y="6311"/>
              <a:ext cx="898" cy="29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 anchorCtr="0"/>
            <a:p>
              <a:pPr algn="ctr"/>
              <a:r>
                <a:rPr lang="en-US" altLang="zh-CN" sz="1400" i="0" dirty="0">
                  <a:latin typeface="Arial" panose="020B0604020202020204" pitchFamily="34" charset="0"/>
                  <a:ea typeface="宋体" panose="02010600030101010101" pitchFamily="2" charset="-122"/>
                </a:rPr>
                <a:t>IOW</a:t>
              </a:r>
              <a:endParaRPr lang="en-US" altLang="zh-CN" sz="1400" i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algn="ctr"/>
              <a:endParaRPr lang="en-US" altLang="zh-CN" sz="1400" i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609" name="Rectangle 21"/>
            <p:cNvSpPr/>
            <p:nvPr>
              <p:custDataLst>
                <p:tags r:id="rId8"/>
              </p:custDataLst>
            </p:nvPr>
          </p:nvSpPr>
          <p:spPr>
            <a:xfrm>
              <a:off x="8380" y="4246"/>
              <a:ext cx="1582" cy="3515"/>
            </a:xfrm>
            <a:prstGeom prst="rect">
              <a:avLst/>
            </a:prstGeom>
            <a:solidFill>
              <a:srgbClr val="FFFF99"/>
            </a:solidFill>
            <a:ln w="9525" cap="flat" cmpd="sng">
              <a:solidFill>
                <a:srgbClr val="339966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10" name="Line 22"/>
            <p:cNvSpPr/>
            <p:nvPr>
              <p:custDataLst>
                <p:tags r:id="rId9"/>
              </p:custDataLst>
            </p:nvPr>
          </p:nvSpPr>
          <p:spPr>
            <a:xfrm flipV="1">
              <a:off x="5527" y="7081"/>
              <a:ext cx="2845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5611" name="Text Box 23"/>
            <p:cNvSpPr txBox="1"/>
            <p:nvPr>
              <p:custDataLst>
                <p:tags r:id="rId10"/>
              </p:custDataLst>
            </p:nvPr>
          </p:nvSpPr>
          <p:spPr>
            <a:xfrm>
              <a:off x="8472" y="4504"/>
              <a:ext cx="878" cy="29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 anchorCtr="0"/>
            <a:p>
              <a:pPr algn="r"/>
              <a:r>
                <a:rPr lang="en-US" altLang="zh-CN" sz="1400" i="0" dirty="0">
                  <a:latin typeface="Arial" panose="020B0604020202020204" pitchFamily="34" charset="0"/>
                  <a:ea typeface="宋体" panose="02010600030101010101" pitchFamily="2" charset="-122"/>
                </a:rPr>
                <a:t>D7-D0</a:t>
              </a:r>
              <a:endParaRPr lang="en-US" altLang="zh-CN" sz="1400" i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algn="r"/>
              <a:endParaRPr lang="en-US" altLang="zh-CN" sz="1400" i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612" name="Text Box 24"/>
            <p:cNvSpPr txBox="1"/>
            <p:nvPr>
              <p:custDataLst>
                <p:tags r:id="rId11"/>
              </p:custDataLst>
            </p:nvPr>
          </p:nvSpPr>
          <p:spPr>
            <a:xfrm>
              <a:off x="5632" y="6551"/>
              <a:ext cx="995" cy="34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 anchorCtr="0"/>
            <a:p>
              <a:pPr algn="r"/>
              <a:r>
                <a:rPr lang="en-US" altLang="zh-CN" sz="2000" i="0" dirty="0">
                  <a:latin typeface="Arial" panose="020B0604020202020204" pitchFamily="34" charset="0"/>
                  <a:ea typeface="宋体" panose="02010600030101010101" pitchFamily="2" charset="-122"/>
                </a:rPr>
                <a:t>F8H</a:t>
              </a:r>
              <a:endParaRPr lang="en-US" altLang="zh-CN" sz="2000" i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613" name="Rectangle 25"/>
            <p:cNvSpPr/>
            <p:nvPr>
              <p:custDataLst>
                <p:tags r:id="rId12"/>
              </p:custDataLst>
            </p:nvPr>
          </p:nvSpPr>
          <p:spPr>
            <a:xfrm>
              <a:off x="11717" y="4246"/>
              <a:ext cx="1850" cy="639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>
              <a:solidFill>
                <a:srgbClr val="339966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14" name="Text Box 26"/>
            <p:cNvSpPr txBox="1"/>
            <p:nvPr>
              <p:custDataLst>
                <p:tags r:id="rId13"/>
              </p:custDataLst>
            </p:nvPr>
          </p:nvSpPr>
          <p:spPr>
            <a:xfrm>
              <a:off x="12570" y="7306"/>
              <a:ext cx="677" cy="109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p>
              <a:pPr algn="just"/>
              <a:r>
                <a:rPr lang="zh-CN" altLang="en-US" i="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外设</a:t>
              </a:r>
              <a:endParaRPr lang="zh-CN" altLang="en-US" i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15" name="Text Box 27"/>
            <p:cNvSpPr txBox="1"/>
            <p:nvPr>
              <p:custDataLst>
                <p:tags r:id="rId14"/>
              </p:custDataLst>
            </p:nvPr>
          </p:nvSpPr>
          <p:spPr>
            <a:xfrm>
              <a:off x="11852" y="4631"/>
              <a:ext cx="508" cy="261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 anchorCtr="0"/>
            <a:p>
              <a:pPr algn="ctr">
                <a:lnSpc>
                  <a:spcPct val="110000"/>
                </a:lnSpc>
              </a:pPr>
              <a:r>
                <a:rPr lang="en-US" altLang="zh-CN" sz="1400" i="0" dirty="0">
                  <a:latin typeface="Arial" panose="020B0604020202020204" pitchFamily="34" charset="0"/>
                  <a:ea typeface="宋体" panose="02010600030101010101" pitchFamily="2" charset="-122"/>
                </a:rPr>
                <a:t>D7</a:t>
              </a:r>
              <a:endParaRPr lang="en-US" altLang="zh-CN" sz="1400" i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algn="ctr">
                <a:lnSpc>
                  <a:spcPct val="110000"/>
                </a:lnSpc>
              </a:pPr>
              <a:r>
                <a:rPr lang="en-US" altLang="zh-CN" sz="1400" i="0" dirty="0">
                  <a:latin typeface="Arial" panose="020B0604020202020204" pitchFamily="34" charset="0"/>
                  <a:ea typeface="宋体" panose="02010600030101010101" pitchFamily="2" charset="-122"/>
                </a:rPr>
                <a:t>D6</a:t>
              </a:r>
              <a:endParaRPr lang="en-US" altLang="zh-CN" sz="1400" i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algn="ctr">
                <a:lnSpc>
                  <a:spcPct val="110000"/>
                </a:lnSpc>
              </a:pPr>
              <a:r>
                <a:rPr lang="en-US" altLang="zh-CN" sz="1400" i="0" dirty="0">
                  <a:latin typeface="Arial" panose="020B0604020202020204" pitchFamily="34" charset="0"/>
                  <a:ea typeface="宋体" panose="02010600030101010101" pitchFamily="2" charset="-122"/>
                </a:rPr>
                <a:t>D5</a:t>
              </a:r>
              <a:endParaRPr lang="en-US" altLang="zh-CN" sz="1400" i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algn="ctr">
                <a:lnSpc>
                  <a:spcPct val="110000"/>
                </a:lnSpc>
              </a:pPr>
              <a:r>
                <a:rPr lang="en-US" altLang="zh-CN" sz="1400" i="0" dirty="0">
                  <a:latin typeface="Arial" panose="020B0604020202020204" pitchFamily="34" charset="0"/>
                  <a:ea typeface="宋体" panose="02010600030101010101" pitchFamily="2" charset="-122"/>
                </a:rPr>
                <a:t>D4</a:t>
              </a:r>
              <a:endParaRPr lang="en-US" altLang="zh-CN" sz="1400" i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algn="ctr">
                <a:lnSpc>
                  <a:spcPct val="110000"/>
                </a:lnSpc>
              </a:pPr>
              <a:r>
                <a:rPr lang="en-US" altLang="zh-CN" sz="1400" i="0" dirty="0">
                  <a:latin typeface="Arial" panose="020B0604020202020204" pitchFamily="34" charset="0"/>
                  <a:ea typeface="宋体" panose="02010600030101010101" pitchFamily="2" charset="-122"/>
                </a:rPr>
                <a:t>D3</a:t>
              </a:r>
              <a:endParaRPr lang="en-US" altLang="zh-CN" sz="1400" i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algn="ctr">
                <a:lnSpc>
                  <a:spcPct val="110000"/>
                </a:lnSpc>
              </a:pPr>
              <a:r>
                <a:rPr lang="en-US" altLang="zh-CN" sz="1400" i="0" dirty="0">
                  <a:latin typeface="Arial" panose="020B0604020202020204" pitchFamily="34" charset="0"/>
                  <a:ea typeface="宋体" panose="02010600030101010101" pitchFamily="2" charset="-122"/>
                </a:rPr>
                <a:t>D2</a:t>
              </a:r>
              <a:endParaRPr lang="en-US" altLang="zh-CN" sz="1400" i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algn="ctr">
                <a:lnSpc>
                  <a:spcPct val="110000"/>
                </a:lnSpc>
              </a:pPr>
              <a:r>
                <a:rPr lang="en-US" altLang="zh-CN" sz="1400" i="0" dirty="0">
                  <a:latin typeface="Arial" panose="020B0604020202020204" pitchFamily="34" charset="0"/>
                  <a:ea typeface="宋体" panose="02010600030101010101" pitchFamily="2" charset="-122"/>
                </a:rPr>
                <a:t>D1</a:t>
              </a:r>
              <a:endParaRPr lang="en-US" altLang="zh-CN" sz="1400" i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algn="ctr">
                <a:lnSpc>
                  <a:spcPct val="110000"/>
                </a:lnSpc>
              </a:pPr>
              <a:r>
                <a:rPr lang="en-US" altLang="zh-CN" sz="1400" i="0" dirty="0">
                  <a:latin typeface="Arial" panose="020B0604020202020204" pitchFamily="34" charset="0"/>
                  <a:ea typeface="宋体" panose="02010600030101010101" pitchFamily="2" charset="-122"/>
                </a:rPr>
                <a:t>D0</a:t>
              </a:r>
              <a:endParaRPr lang="en-US" altLang="zh-CN" sz="1400" i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algn="ctr">
                <a:lnSpc>
                  <a:spcPct val="110000"/>
                </a:lnSpc>
              </a:pPr>
              <a:endParaRPr lang="en-US" altLang="zh-CN" sz="1400" i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616" name="Text Box 28"/>
            <p:cNvSpPr txBox="1"/>
            <p:nvPr>
              <p:custDataLst>
                <p:tags r:id="rId15"/>
              </p:custDataLst>
            </p:nvPr>
          </p:nvSpPr>
          <p:spPr>
            <a:xfrm>
              <a:off x="11980" y="9086"/>
              <a:ext cx="1080" cy="37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 anchorCtr="0"/>
            <a:p>
              <a:pPr algn="just"/>
              <a:r>
                <a:rPr lang="en-US" altLang="zh-CN" sz="1800" i="0" dirty="0">
                  <a:latin typeface="Arial" panose="020B0604020202020204" pitchFamily="34" charset="0"/>
                  <a:ea typeface="宋体" panose="02010600030101010101" pitchFamily="2" charset="-122"/>
                </a:rPr>
                <a:t>BUSY</a:t>
              </a:r>
              <a:endParaRPr lang="en-US" altLang="zh-CN" sz="1800" i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endParaRPr lang="en-US" altLang="zh-CN" sz="1800" i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617" name="AutoShape 29"/>
            <p:cNvSpPr/>
            <p:nvPr>
              <p:custDataLst>
                <p:tags r:id="rId16"/>
              </p:custDataLst>
            </p:nvPr>
          </p:nvSpPr>
          <p:spPr>
            <a:xfrm>
              <a:off x="1717" y="4471"/>
              <a:ext cx="6655" cy="280"/>
            </a:xfrm>
            <a:prstGeom prst="leftRightArrow">
              <a:avLst>
                <a:gd name="adj1" fmla="val 57824"/>
                <a:gd name="adj2" fmla="val 118949"/>
              </a:avLst>
            </a:prstGeom>
            <a:solidFill>
              <a:srgbClr val="FF6600"/>
            </a:solidFill>
            <a:ln w="9525" cap="flat" cmpd="sng">
              <a:solidFill>
                <a:srgbClr val="FF66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18" name="Line 30"/>
            <p:cNvSpPr/>
            <p:nvPr>
              <p:custDataLst>
                <p:tags r:id="rId17"/>
              </p:custDataLst>
            </p:nvPr>
          </p:nvSpPr>
          <p:spPr>
            <a:xfrm flipH="1">
              <a:off x="5460" y="9916"/>
              <a:ext cx="425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5619" name="Line 31"/>
            <p:cNvSpPr/>
            <p:nvPr>
              <p:custDataLst>
                <p:tags r:id="rId18"/>
              </p:custDataLst>
            </p:nvPr>
          </p:nvSpPr>
          <p:spPr>
            <a:xfrm flipV="1">
              <a:off x="6868" y="4698"/>
              <a:ext cx="0" cy="3345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stealth" w="med" len="med"/>
            </a:ln>
          </p:spPr>
        </p:sp>
        <p:grpSp>
          <p:nvGrpSpPr>
            <p:cNvPr id="25620" name="Group 32"/>
            <p:cNvGrpSpPr/>
            <p:nvPr/>
          </p:nvGrpSpPr>
          <p:grpSpPr>
            <a:xfrm>
              <a:off x="6405" y="8021"/>
              <a:ext cx="905" cy="625"/>
              <a:chOff x="3288" y="1848"/>
              <a:chExt cx="288" cy="250"/>
            </a:xfrm>
          </p:grpSpPr>
          <p:sp>
            <p:nvSpPr>
              <p:cNvPr id="25621" name="AutoShape 33"/>
              <p:cNvSpPr/>
              <p:nvPr>
                <p:custDataLst>
                  <p:tags r:id="rId19"/>
                </p:custDataLst>
              </p:nvPr>
            </p:nvSpPr>
            <p:spPr>
              <a:xfrm>
                <a:off x="3288" y="1848"/>
                <a:ext cx="288" cy="250"/>
              </a:xfrm>
              <a:prstGeom prst="triangle">
                <a:avLst>
                  <a:gd name="adj" fmla="val 50000"/>
                </a:avLst>
              </a:prstGeom>
              <a:solidFill>
                <a:srgbClr val="FFFF99"/>
              </a:solidFill>
              <a:ln w="25400" cap="flat" cmpd="sng">
                <a:solidFill>
                  <a:srgbClr val="339966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5622" name="Oval 34"/>
              <p:cNvSpPr/>
              <p:nvPr>
                <p:custDataLst>
                  <p:tags r:id="rId20"/>
                </p:custDataLst>
              </p:nvPr>
            </p:nvSpPr>
            <p:spPr>
              <a:xfrm rot="5400000">
                <a:off x="3315" y="1948"/>
                <a:ext cx="45" cy="45"/>
              </a:xfrm>
              <a:prstGeom prst="ellipse">
                <a:avLst/>
              </a:prstGeom>
              <a:solidFill>
                <a:srgbClr val="FFFF99"/>
              </a:solidFill>
              <a:ln w="25400" cap="flat" cmpd="sng">
                <a:solidFill>
                  <a:srgbClr val="33996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rot="10800000" vert="eaVert" anchor="t" anchorCtr="0"/>
              <a:p>
                <a:endPara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5623" name="Line 35"/>
            <p:cNvSpPr/>
            <p:nvPr>
              <p:custDataLst>
                <p:tags r:id="rId21"/>
              </p:custDataLst>
            </p:nvPr>
          </p:nvSpPr>
          <p:spPr>
            <a:xfrm>
              <a:off x="9962" y="4806"/>
              <a:ext cx="1778" cy="0"/>
            </a:xfrm>
            <a:prstGeom prst="line">
              <a:avLst/>
            </a:prstGeom>
            <a:ln w="9525" cap="flat" cmpd="sng">
              <a:solidFill>
                <a:srgbClr val="FF66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5624" name="Line 36"/>
            <p:cNvSpPr/>
            <p:nvPr>
              <p:custDataLst>
                <p:tags r:id="rId22"/>
              </p:custDataLst>
            </p:nvPr>
          </p:nvSpPr>
          <p:spPr>
            <a:xfrm>
              <a:off x="9962" y="5119"/>
              <a:ext cx="1778" cy="0"/>
            </a:xfrm>
            <a:prstGeom prst="line">
              <a:avLst/>
            </a:prstGeom>
            <a:ln w="9525" cap="flat" cmpd="sng">
              <a:solidFill>
                <a:srgbClr val="FF66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5625" name="Line 37"/>
            <p:cNvSpPr/>
            <p:nvPr>
              <p:custDataLst>
                <p:tags r:id="rId23"/>
              </p:custDataLst>
            </p:nvPr>
          </p:nvSpPr>
          <p:spPr>
            <a:xfrm>
              <a:off x="9962" y="5431"/>
              <a:ext cx="1778" cy="0"/>
            </a:xfrm>
            <a:prstGeom prst="line">
              <a:avLst/>
            </a:prstGeom>
            <a:ln w="9525" cap="flat" cmpd="sng">
              <a:solidFill>
                <a:srgbClr val="FF66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5626" name="Line 38"/>
            <p:cNvSpPr/>
            <p:nvPr>
              <p:custDataLst>
                <p:tags r:id="rId24"/>
              </p:custDataLst>
            </p:nvPr>
          </p:nvSpPr>
          <p:spPr>
            <a:xfrm>
              <a:off x="9962" y="5744"/>
              <a:ext cx="1778" cy="0"/>
            </a:xfrm>
            <a:prstGeom prst="line">
              <a:avLst/>
            </a:prstGeom>
            <a:ln w="9525" cap="flat" cmpd="sng">
              <a:solidFill>
                <a:srgbClr val="FF66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5627" name="Line 39"/>
            <p:cNvSpPr/>
            <p:nvPr>
              <p:custDataLst>
                <p:tags r:id="rId25"/>
              </p:custDataLst>
            </p:nvPr>
          </p:nvSpPr>
          <p:spPr>
            <a:xfrm>
              <a:off x="9962" y="6054"/>
              <a:ext cx="1778" cy="0"/>
            </a:xfrm>
            <a:prstGeom prst="line">
              <a:avLst/>
            </a:prstGeom>
            <a:ln w="9525" cap="flat" cmpd="sng">
              <a:solidFill>
                <a:srgbClr val="FF66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5628" name="Line 40"/>
            <p:cNvSpPr/>
            <p:nvPr>
              <p:custDataLst>
                <p:tags r:id="rId26"/>
              </p:custDataLst>
            </p:nvPr>
          </p:nvSpPr>
          <p:spPr>
            <a:xfrm>
              <a:off x="9962" y="6366"/>
              <a:ext cx="1778" cy="0"/>
            </a:xfrm>
            <a:prstGeom prst="line">
              <a:avLst/>
            </a:prstGeom>
            <a:ln w="9525" cap="flat" cmpd="sng">
              <a:solidFill>
                <a:srgbClr val="FF66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5629" name="Line 41"/>
            <p:cNvSpPr/>
            <p:nvPr>
              <p:custDataLst>
                <p:tags r:id="rId27"/>
              </p:custDataLst>
            </p:nvPr>
          </p:nvSpPr>
          <p:spPr>
            <a:xfrm>
              <a:off x="9962" y="6679"/>
              <a:ext cx="1778" cy="0"/>
            </a:xfrm>
            <a:prstGeom prst="line">
              <a:avLst/>
            </a:prstGeom>
            <a:ln w="9525" cap="flat" cmpd="sng">
              <a:solidFill>
                <a:srgbClr val="FF66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5630" name="Line 42"/>
            <p:cNvSpPr/>
            <p:nvPr>
              <p:custDataLst>
                <p:tags r:id="rId28"/>
              </p:custDataLst>
            </p:nvPr>
          </p:nvSpPr>
          <p:spPr>
            <a:xfrm>
              <a:off x="9962" y="6991"/>
              <a:ext cx="1778" cy="0"/>
            </a:xfrm>
            <a:prstGeom prst="line">
              <a:avLst/>
            </a:prstGeom>
            <a:ln w="9525" cap="flat" cmpd="sng">
              <a:solidFill>
                <a:srgbClr val="FF66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5631" name="Text Box 43"/>
            <p:cNvSpPr txBox="1"/>
            <p:nvPr>
              <p:custDataLst>
                <p:tags r:id="rId29"/>
              </p:custDataLst>
            </p:nvPr>
          </p:nvSpPr>
          <p:spPr>
            <a:xfrm>
              <a:off x="8397" y="6931"/>
              <a:ext cx="568" cy="343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 anchorCtr="0"/>
            <a:p>
              <a:pPr algn="ctr"/>
              <a:r>
                <a:rPr lang="en-US" altLang="zh-CN" sz="1400" i="0" dirty="0">
                  <a:latin typeface="Arial" panose="020B0604020202020204" pitchFamily="34" charset="0"/>
                  <a:ea typeface="宋体" panose="02010600030101010101" pitchFamily="2" charset="-122"/>
                </a:rPr>
                <a:t>CP</a:t>
              </a:r>
              <a:endParaRPr lang="en-US" altLang="zh-CN" sz="1400" i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632" name="Text Box 44"/>
            <p:cNvSpPr txBox="1"/>
            <p:nvPr>
              <p:custDataLst>
                <p:tags r:id="rId30"/>
              </p:custDataLst>
            </p:nvPr>
          </p:nvSpPr>
          <p:spPr>
            <a:xfrm>
              <a:off x="9242" y="4626"/>
              <a:ext cx="625" cy="255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 anchorCtr="0"/>
            <a:p>
              <a:pPr algn="r">
                <a:lnSpc>
                  <a:spcPct val="95000"/>
                </a:lnSpc>
              </a:pPr>
              <a:r>
                <a:rPr lang="en-US" altLang="zh-CN" sz="1400" i="0" dirty="0">
                  <a:latin typeface="Arial" panose="020B0604020202020204" pitchFamily="34" charset="0"/>
                  <a:ea typeface="宋体" panose="02010600030101010101" pitchFamily="2" charset="-122"/>
                </a:rPr>
                <a:t>Q7</a:t>
              </a:r>
              <a:endParaRPr lang="en-US" altLang="zh-CN" sz="1400" i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algn="r">
                <a:lnSpc>
                  <a:spcPct val="95000"/>
                </a:lnSpc>
              </a:pPr>
              <a:r>
                <a:rPr lang="en-US" altLang="zh-CN" sz="1400" i="0" dirty="0">
                  <a:latin typeface="Arial" panose="020B0604020202020204" pitchFamily="34" charset="0"/>
                  <a:ea typeface="宋体" panose="02010600030101010101" pitchFamily="2" charset="-122"/>
                </a:rPr>
                <a:t>Q6</a:t>
              </a:r>
              <a:endParaRPr lang="en-US" altLang="zh-CN" sz="1400" i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algn="r">
                <a:lnSpc>
                  <a:spcPct val="95000"/>
                </a:lnSpc>
              </a:pPr>
              <a:r>
                <a:rPr lang="en-US" altLang="zh-CN" sz="1400" i="0" dirty="0">
                  <a:latin typeface="Arial" panose="020B0604020202020204" pitchFamily="34" charset="0"/>
                  <a:ea typeface="宋体" panose="02010600030101010101" pitchFamily="2" charset="-122"/>
                </a:rPr>
                <a:t>Q5</a:t>
              </a:r>
              <a:endParaRPr lang="en-US" altLang="zh-CN" sz="1400" i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algn="r">
                <a:lnSpc>
                  <a:spcPct val="95000"/>
                </a:lnSpc>
              </a:pPr>
              <a:r>
                <a:rPr lang="en-US" altLang="zh-CN" sz="1400" i="0" dirty="0">
                  <a:latin typeface="Arial" panose="020B0604020202020204" pitchFamily="34" charset="0"/>
                  <a:ea typeface="宋体" panose="02010600030101010101" pitchFamily="2" charset="-122"/>
                </a:rPr>
                <a:t>Q4</a:t>
              </a:r>
              <a:endParaRPr lang="en-US" altLang="zh-CN" sz="1400" i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algn="r">
                <a:lnSpc>
                  <a:spcPct val="95000"/>
                </a:lnSpc>
              </a:pPr>
              <a:r>
                <a:rPr lang="en-US" altLang="zh-CN" sz="1400" i="0" dirty="0">
                  <a:latin typeface="Arial" panose="020B0604020202020204" pitchFamily="34" charset="0"/>
                  <a:ea typeface="宋体" panose="02010600030101010101" pitchFamily="2" charset="-122"/>
                </a:rPr>
                <a:t>Q3</a:t>
              </a:r>
              <a:endParaRPr lang="en-US" altLang="zh-CN" sz="1400" i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algn="r">
                <a:lnSpc>
                  <a:spcPct val="95000"/>
                </a:lnSpc>
              </a:pPr>
              <a:r>
                <a:rPr lang="en-US" altLang="zh-CN" sz="1400" i="0" dirty="0">
                  <a:latin typeface="Arial" panose="020B0604020202020204" pitchFamily="34" charset="0"/>
                  <a:ea typeface="宋体" panose="02010600030101010101" pitchFamily="2" charset="-122"/>
                </a:rPr>
                <a:t>Q2</a:t>
              </a:r>
              <a:endParaRPr lang="en-US" altLang="zh-CN" sz="1400" i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algn="r">
                <a:lnSpc>
                  <a:spcPct val="95000"/>
                </a:lnSpc>
              </a:pPr>
              <a:r>
                <a:rPr lang="en-US" altLang="zh-CN" sz="1400" i="0" dirty="0">
                  <a:latin typeface="Arial" panose="020B0604020202020204" pitchFamily="34" charset="0"/>
                  <a:ea typeface="宋体" panose="02010600030101010101" pitchFamily="2" charset="-122"/>
                </a:rPr>
                <a:t>Q1</a:t>
              </a:r>
              <a:endParaRPr lang="en-US" altLang="zh-CN" sz="1400" i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algn="r">
                <a:lnSpc>
                  <a:spcPct val="95000"/>
                </a:lnSpc>
              </a:pPr>
              <a:r>
                <a:rPr lang="en-US" altLang="zh-CN" sz="1400" i="0" dirty="0">
                  <a:latin typeface="Arial" panose="020B0604020202020204" pitchFamily="34" charset="0"/>
                  <a:ea typeface="宋体" panose="02010600030101010101" pitchFamily="2" charset="-122"/>
                </a:rPr>
                <a:t>Q0</a:t>
              </a:r>
              <a:endParaRPr lang="en-US" altLang="zh-CN" sz="1400" i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>
                <a:lnSpc>
                  <a:spcPct val="95000"/>
                </a:lnSpc>
              </a:pPr>
              <a:endParaRPr lang="en-US" altLang="zh-CN" sz="1400" i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634" name="Line 69"/>
            <p:cNvSpPr/>
            <p:nvPr>
              <p:custDataLst>
                <p:tags r:id="rId31"/>
              </p:custDataLst>
            </p:nvPr>
          </p:nvSpPr>
          <p:spPr>
            <a:xfrm>
              <a:off x="3185" y="7421"/>
              <a:ext cx="142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5635" name="Rectangle 72"/>
            <p:cNvSpPr/>
            <p:nvPr>
              <p:custDataLst>
                <p:tags r:id="rId32"/>
              </p:custDataLst>
            </p:nvPr>
          </p:nvSpPr>
          <p:spPr>
            <a:xfrm>
              <a:off x="4605" y="9234"/>
              <a:ext cx="905" cy="1402"/>
            </a:xfrm>
            <a:prstGeom prst="rect">
              <a:avLst/>
            </a:prstGeom>
            <a:solidFill>
              <a:srgbClr val="FFFF99"/>
            </a:solidFill>
            <a:ln w="9525" cap="flat" cmpd="sng">
              <a:solidFill>
                <a:srgbClr val="339966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t" anchorCtr="0"/>
            <a:p>
              <a:pPr algn="ctr"/>
              <a:endParaRPr lang="en-US" altLang="zh-CN" sz="1400" i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algn="ctr"/>
              <a:r>
                <a:rPr lang="en-US" altLang="zh-CN" sz="1400" i="0" dirty="0">
                  <a:latin typeface="Arial" panose="020B0604020202020204" pitchFamily="34" charset="0"/>
                  <a:ea typeface="宋体" panose="02010600030101010101" pitchFamily="2" charset="-122"/>
                </a:rPr>
                <a:t>≥1</a:t>
              </a:r>
              <a:endParaRPr lang="en-US" altLang="zh-CN" sz="1400" i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636" name="Line 75"/>
            <p:cNvSpPr/>
            <p:nvPr>
              <p:custDataLst>
                <p:tags r:id="rId33"/>
              </p:custDataLst>
            </p:nvPr>
          </p:nvSpPr>
          <p:spPr>
            <a:xfrm>
              <a:off x="2705" y="10391"/>
              <a:ext cx="191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5637" name="Text Box 77"/>
            <p:cNvSpPr txBox="1"/>
            <p:nvPr>
              <p:custDataLst>
                <p:tags r:id="rId34"/>
              </p:custDataLst>
            </p:nvPr>
          </p:nvSpPr>
          <p:spPr>
            <a:xfrm>
              <a:off x="3675" y="9911"/>
              <a:ext cx="897" cy="29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 anchorCtr="0"/>
            <a:p>
              <a:pPr algn="ctr"/>
              <a:r>
                <a:rPr lang="en-US" altLang="zh-CN" sz="1400" i="0" dirty="0">
                  <a:latin typeface="Arial" panose="020B0604020202020204" pitchFamily="34" charset="0"/>
                  <a:ea typeface="宋体" panose="02010600030101010101" pitchFamily="2" charset="-122"/>
                </a:rPr>
                <a:t>IOR</a:t>
              </a:r>
              <a:endParaRPr lang="en-US" altLang="zh-CN" sz="1400" i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algn="ctr"/>
              <a:endParaRPr lang="en-US" altLang="zh-CN" sz="1400" i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638" name="Line 79"/>
            <p:cNvSpPr/>
            <p:nvPr>
              <p:custDataLst>
                <p:tags r:id="rId35"/>
              </p:custDataLst>
            </p:nvPr>
          </p:nvSpPr>
          <p:spPr>
            <a:xfrm>
              <a:off x="5885" y="8329"/>
              <a:ext cx="64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5639" name="Line 80"/>
            <p:cNvSpPr/>
            <p:nvPr>
              <p:custDataLst>
                <p:tags r:id="rId36"/>
              </p:custDataLst>
            </p:nvPr>
          </p:nvSpPr>
          <p:spPr>
            <a:xfrm flipV="1">
              <a:off x="5885" y="8329"/>
              <a:ext cx="0" cy="1587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5640" name="Line 81"/>
            <p:cNvSpPr/>
            <p:nvPr>
              <p:custDataLst>
                <p:tags r:id="rId37"/>
              </p:custDataLst>
            </p:nvPr>
          </p:nvSpPr>
          <p:spPr>
            <a:xfrm>
              <a:off x="9400" y="7361"/>
              <a:ext cx="42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5641" name="Text Box 82"/>
            <p:cNvSpPr txBox="1"/>
            <p:nvPr>
              <p:custDataLst>
                <p:tags r:id="rId38"/>
              </p:custDataLst>
            </p:nvPr>
          </p:nvSpPr>
          <p:spPr>
            <a:xfrm>
              <a:off x="9395" y="7471"/>
              <a:ext cx="567" cy="343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 anchorCtr="0"/>
            <a:p>
              <a:pPr algn="just"/>
              <a:r>
                <a:rPr lang="en-US" altLang="zh-CN" sz="1400" i="0" dirty="0">
                  <a:latin typeface="Arial" panose="020B0604020202020204" pitchFamily="34" charset="0"/>
                  <a:ea typeface="宋体" panose="02010600030101010101" pitchFamily="2" charset="-122"/>
                </a:rPr>
                <a:t>OE</a:t>
              </a:r>
              <a:endParaRPr lang="en-US" altLang="zh-CN" sz="1400" i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642" name="Text Box 83"/>
            <p:cNvSpPr txBox="1"/>
            <p:nvPr>
              <p:custDataLst>
                <p:tags r:id="rId39"/>
              </p:custDataLst>
            </p:nvPr>
          </p:nvSpPr>
          <p:spPr>
            <a:xfrm>
              <a:off x="8340" y="3911"/>
              <a:ext cx="1850" cy="433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1800" i="0" dirty="0">
                  <a:latin typeface="Arial" panose="020B0604020202020204" pitchFamily="34" charset="0"/>
                  <a:ea typeface="宋体" panose="02010600030101010101" pitchFamily="2" charset="-122"/>
                </a:rPr>
                <a:t>74LS374</a:t>
              </a:r>
              <a:endParaRPr lang="en-US" altLang="zh-CN" sz="1800" i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643" name="Line 84"/>
            <p:cNvSpPr/>
            <p:nvPr>
              <p:custDataLst>
                <p:tags r:id="rId40"/>
              </p:custDataLst>
            </p:nvPr>
          </p:nvSpPr>
          <p:spPr>
            <a:xfrm>
              <a:off x="6882" y="8649"/>
              <a:ext cx="0" cy="585"/>
            </a:xfrm>
            <a:prstGeom prst="line">
              <a:avLst/>
            </a:prstGeom>
            <a:ln w="28575" cap="flat" cmpd="sng">
              <a:solidFill>
                <a:srgbClr val="FF66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5644" name="Line 85"/>
            <p:cNvSpPr/>
            <p:nvPr>
              <p:custDataLst>
                <p:tags r:id="rId41"/>
              </p:custDataLst>
            </p:nvPr>
          </p:nvSpPr>
          <p:spPr>
            <a:xfrm>
              <a:off x="6882" y="9234"/>
              <a:ext cx="4835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5645" name="Line 86"/>
            <p:cNvSpPr/>
            <p:nvPr>
              <p:custDataLst>
                <p:tags r:id="rId42"/>
              </p:custDataLst>
            </p:nvPr>
          </p:nvSpPr>
          <p:spPr>
            <a:xfrm>
              <a:off x="10012" y="7534"/>
              <a:ext cx="710" cy="0"/>
            </a:xfrm>
            <a:prstGeom prst="line">
              <a:avLst/>
            </a:prstGeom>
            <a:ln w="9525" cap="flat" cmpd="sng">
              <a:solidFill>
                <a:srgbClr val="FF66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5646" name="Line 87"/>
            <p:cNvSpPr/>
            <p:nvPr>
              <p:custDataLst>
                <p:tags r:id="rId43"/>
              </p:custDataLst>
            </p:nvPr>
          </p:nvSpPr>
          <p:spPr>
            <a:xfrm>
              <a:off x="11942" y="9036"/>
              <a:ext cx="875" cy="5"/>
            </a:xfrm>
            <a:prstGeom prst="line">
              <a:avLst/>
            </a:prstGeom>
            <a:ln w="28575" cap="flat" cmpd="sng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5647" name="Text Box 89"/>
            <p:cNvSpPr txBox="1"/>
            <p:nvPr>
              <p:custDataLst>
                <p:tags r:id="rId44"/>
              </p:custDataLst>
            </p:nvPr>
          </p:nvSpPr>
          <p:spPr>
            <a:xfrm>
              <a:off x="4825" y="8231"/>
              <a:ext cx="997" cy="34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 anchorCtr="0"/>
            <a:p>
              <a:pPr algn="r"/>
              <a:r>
                <a:rPr lang="en-US" altLang="zh-CN" sz="1800" i="0" dirty="0">
                  <a:latin typeface="Arial" panose="020B0604020202020204" pitchFamily="34" charset="0"/>
                  <a:ea typeface="宋体" panose="02010600030101010101" pitchFamily="2" charset="-122"/>
                </a:rPr>
                <a:t>FBH</a:t>
              </a:r>
              <a:endParaRPr lang="en-US" altLang="zh-CN" sz="1800" i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648" name="Line 90"/>
            <p:cNvSpPr/>
            <p:nvPr>
              <p:custDataLst>
                <p:tags r:id="rId45"/>
              </p:custDataLst>
            </p:nvPr>
          </p:nvSpPr>
          <p:spPr>
            <a:xfrm>
              <a:off x="3205" y="6271"/>
              <a:ext cx="64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5649" name="Line 91"/>
            <p:cNvSpPr/>
            <p:nvPr>
              <p:custDataLst>
                <p:tags r:id="rId46"/>
              </p:custDataLst>
            </p:nvPr>
          </p:nvSpPr>
          <p:spPr>
            <a:xfrm>
              <a:off x="3825" y="9911"/>
              <a:ext cx="64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5650" name="Line 92"/>
            <p:cNvSpPr/>
            <p:nvPr>
              <p:custDataLst>
                <p:tags r:id="rId47"/>
              </p:custDataLst>
            </p:nvPr>
          </p:nvSpPr>
          <p:spPr>
            <a:xfrm>
              <a:off x="10747" y="7526"/>
              <a:ext cx="0" cy="480"/>
            </a:xfrm>
            <a:prstGeom prst="line">
              <a:avLst/>
            </a:prstGeom>
            <a:ln w="12700" cap="sq" cmpd="sng">
              <a:solidFill>
                <a:srgbClr val="FF6600"/>
              </a:solidFill>
              <a:prstDash val="solid"/>
              <a:round/>
              <a:headEnd type="none" w="sm" len="sm"/>
              <a:tailEnd type="none" w="lg" len="lg"/>
            </a:ln>
          </p:spPr>
        </p:sp>
        <p:sp>
          <p:nvSpPr>
            <p:cNvPr id="25651" name="Line 93"/>
            <p:cNvSpPr/>
            <p:nvPr>
              <p:custDataLst>
                <p:tags r:id="rId48"/>
              </p:custDataLst>
            </p:nvPr>
          </p:nvSpPr>
          <p:spPr>
            <a:xfrm>
              <a:off x="10447" y="8006"/>
              <a:ext cx="453" cy="0"/>
            </a:xfrm>
            <a:prstGeom prst="line">
              <a:avLst/>
            </a:prstGeom>
            <a:ln w="12700" cap="sq" cmpd="sng">
              <a:solidFill>
                <a:srgbClr val="FF6600"/>
              </a:solidFill>
              <a:prstDash val="solid"/>
              <a:round/>
              <a:headEnd type="none" w="sm" len="sm"/>
              <a:tailEnd type="none" w="lg" len="lg"/>
            </a:ln>
          </p:spPr>
        </p:sp>
        <p:sp>
          <p:nvSpPr>
            <p:cNvPr id="25652" name="Text Box 95"/>
            <p:cNvSpPr txBox="1"/>
            <p:nvPr>
              <p:custDataLst>
                <p:tags r:id="rId49"/>
              </p:custDataLst>
            </p:nvPr>
          </p:nvSpPr>
          <p:spPr>
            <a:xfrm>
              <a:off x="1567" y="7151"/>
              <a:ext cx="1655" cy="188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i="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地址译码电路</a:t>
              </a:r>
              <a:endParaRPr lang="zh-CN" altLang="en-US" i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53" name="Line 96"/>
            <p:cNvSpPr/>
            <p:nvPr>
              <p:custDataLst>
                <p:tags r:id="rId50"/>
              </p:custDataLst>
            </p:nvPr>
          </p:nvSpPr>
          <p:spPr>
            <a:xfrm>
              <a:off x="3222" y="8351"/>
              <a:ext cx="903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5654" name="Line 97"/>
            <p:cNvSpPr/>
            <p:nvPr>
              <p:custDataLst>
                <p:tags r:id="rId51"/>
              </p:custDataLst>
            </p:nvPr>
          </p:nvSpPr>
          <p:spPr>
            <a:xfrm>
              <a:off x="4125" y="8351"/>
              <a:ext cx="0" cy="108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5655" name="Line 98"/>
            <p:cNvSpPr/>
            <p:nvPr>
              <p:custDataLst>
                <p:tags r:id="rId52"/>
              </p:custDataLst>
            </p:nvPr>
          </p:nvSpPr>
          <p:spPr>
            <a:xfrm>
              <a:off x="4125" y="9431"/>
              <a:ext cx="51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5656" name="Line 99"/>
            <p:cNvSpPr/>
            <p:nvPr>
              <p:custDataLst>
                <p:tags r:id="rId53"/>
              </p:custDataLst>
            </p:nvPr>
          </p:nvSpPr>
          <p:spPr>
            <a:xfrm>
              <a:off x="2744" y="6791"/>
              <a:ext cx="1871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5657" name="Rectangle 101"/>
            <p:cNvSpPr/>
            <p:nvPr>
              <p:custDataLst>
                <p:tags r:id="rId54"/>
              </p:custDataLst>
            </p:nvPr>
          </p:nvSpPr>
          <p:spPr>
            <a:xfrm>
              <a:off x="6862" y="5396"/>
              <a:ext cx="905" cy="72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r>
                <a:rPr lang="en-US" altLang="zh-CN" i="0" dirty="0">
                  <a:latin typeface="Arial" panose="020B0604020202020204" pitchFamily="34" charset="0"/>
                  <a:ea typeface="宋体" panose="02010600030101010101" pitchFamily="2" charset="-122"/>
                </a:rPr>
                <a:t>D5</a:t>
              </a:r>
              <a:endParaRPr lang="en-US" altLang="zh-CN" i="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659" name="Rectangle 104"/>
            <p:cNvSpPr/>
            <p:nvPr>
              <p:custDataLst>
                <p:tags r:id="rId55"/>
              </p:custDataLst>
            </p:nvPr>
          </p:nvSpPr>
          <p:spPr>
            <a:xfrm>
              <a:off x="4825" y="5951"/>
              <a:ext cx="2220" cy="7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p>
              <a:r>
                <a:rPr lang="zh-CN" altLang="en-US" i="0" dirty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数据端口</a:t>
              </a:r>
              <a:endParaRPr lang="zh-CN" altLang="en-US" i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3" name="矩形 59"/>
          <p:cNvSpPr/>
          <p:nvPr>
            <p:custDataLst>
              <p:tags r:id="rId56"/>
            </p:custDataLst>
          </p:nvPr>
        </p:nvSpPr>
        <p:spPr>
          <a:xfrm>
            <a:off x="822325" y="501650"/>
            <a:ext cx="815975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 algn="l"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5.2 </a:t>
            </a:r>
            <a:r>
              <a:rPr lang="en-US" altLang="zh-CN" sz="36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  <a:sym typeface="+mn-ea"/>
              </a:rPr>
              <a:t>LED</a:t>
            </a:r>
            <a:r>
              <a:rPr lang="zh-CN" altLang="en-US" sz="36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  <a:sym typeface="+mn-ea"/>
              </a:rPr>
              <a:t>数码管及</a:t>
            </a:r>
            <a:r>
              <a:rPr lang="en-US" altLang="zh-CN" sz="36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  <a:sym typeface="+mn-ea"/>
              </a:rPr>
              <a:t>I/O</a:t>
            </a:r>
            <a:r>
              <a:rPr lang="zh-CN" altLang="en-US" sz="36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  <a:sym typeface="+mn-ea"/>
              </a:rPr>
              <a:t>设备信息交换方式</a:t>
            </a:r>
            <a:endParaRPr lang="en-US" altLang="zh-CN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277" name="Text Box 125"/>
          <p:cNvSpPr txBox="1"/>
          <p:nvPr>
            <p:custDataLst>
              <p:tags r:id="rId1"/>
            </p:custDataLst>
          </p:nvPr>
        </p:nvSpPr>
        <p:spPr>
          <a:xfrm>
            <a:off x="3415665" y="1916113"/>
            <a:ext cx="5029200" cy="4558665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90000"/>
              </a:lnSpc>
            </a:pPr>
            <a:r>
              <a:rPr lang="en-US" altLang="zh-CN" b="1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LEA  BX</a:t>
            </a:r>
            <a:r>
              <a:rPr lang="zh-CN" altLang="en-US" b="1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b="1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DATA</a:t>
            </a:r>
            <a:endParaRPr lang="en-US" altLang="zh-CN" b="1" i="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b="1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MOV  CX</a:t>
            </a:r>
            <a:r>
              <a:rPr lang="zh-CN" altLang="en-US" b="1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b="1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100;</a:t>
            </a:r>
            <a:endParaRPr lang="en-US" altLang="zh-CN" b="1" i="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endParaRPr lang="en-US" altLang="zh-CN" b="1" i="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en-US" altLang="zh-CN" b="1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NEXT</a:t>
            </a:r>
            <a:r>
              <a:rPr lang="zh-CN" altLang="en-US" b="1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en-US" altLang="zh-CN" b="1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   AL</a:t>
            </a:r>
            <a:r>
              <a:rPr lang="zh-CN" altLang="en-US" b="1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b="1" i="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en-US" altLang="zh-CN" b="1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FBH</a:t>
            </a:r>
            <a:endParaRPr lang="en-US" altLang="zh-CN" b="1" i="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en-US" altLang="zh-CN" b="1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AND  AL</a:t>
            </a:r>
            <a:r>
              <a:rPr lang="zh-CN" altLang="en-US" b="1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b="1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20H </a:t>
            </a:r>
            <a:endParaRPr lang="en-US" altLang="zh-CN" b="1" i="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en-US" altLang="zh-CN" b="1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;0010 0000B</a:t>
            </a:r>
            <a:endParaRPr lang="en-US" altLang="zh-CN" b="1" i="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en-US" altLang="zh-CN" b="1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JNZ  NEXT</a:t>
            </a:r>
            <a:endParaRPr lang="en-US" altLang="zh-CN" b="1" i="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50000"/>
              </a:lnSpc>
            </a:pPr>
            <a:endParaRPr lang="en-US" altLang="zh-CN" b="1" i="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b="1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MOV AL,[BX];</a:t>
            </a:r>
            <a:endParaRPr lang="en-US" altLang="zh-CN" b="1" i="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b="1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	  OUT  </a:t>
            </a:r>
            <a:r>
              <a:rPr lang="en-US" altLang="zh-CN" b="1" i="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en-US" altLang="zh-CN" b="1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F8H,AL</a:t>
            </a:r>
            <a:endParaRPr lang="en-US" altLang="zh-CN" b="1" i="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b="1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INC  BX</a:t>
            </a:r>
            <a:endParaRPr lang="en-US" altLang="zh-CN" b="1" i="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b="1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DEC CX;</a:t>
            </a:r>
            <a:endParaRPr lang="en-US" altLang="zh-CN" b="1" i="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b="1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JNZ  NEXT</a:t>
            </a:r>
            <a:endParaRPr lang="en-US" altLang="zh-CN" b="1" i="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9280" name="AutoShape 128"/>
          <p:cNvSpPr/>
          <p:nvPr>
            <p:custDataLst>
              <p:tags r:id="rId2"/>
            </p:custDataLst>
          </p:nvPr>
        </p:nvSpPr>
        <p:spPr>
          <a:xfrm>
            <a:off x="7091998" y="3068638"/>
            <a:ext cx="71437" cy="1223962"/>
          </a:xfrm>
          <a:prstGeom prst="rightBrace">
            <a:avLst>
              <a:gd name="adj1" fmla="val 142144"/>
              <a:gd name="adj2" fmla="val 50000"/>
            </a:avLst>
          </a:prstGeom>
          <a:noFill/>
          <a:ln w="9525" cap="flat" cmpd="sng">
            <a:solidFill>
              <a:srgbClr val="0000CC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endParaRPr lang="zh-CN" altLang="zh-CN" b="1" i="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9283" name="Text Box 131"/>
          <p:cNvSpPr txBox="1"/>
          <p:nvPr>
            <p:custDataLst>
              <p:tags r:id="rId3"/>
            </p:custDataLst>
          </p:nvPr>
        </p:nvSpPr>
        <p:spPr>
          <a:xfrm>
            <a:off x="7316153" y="3403600"/>
            <a:ext cx="8382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b="1" i="0" dirty="0">
                <a:solidFill>
                  <a:srgbClr val="0000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查询</a:t>
            </a:r>
            <a:endParaRPr lang="zh-CN" altLang="en-US" b="1" i="0" dirty="0">
              <a:solidFill>
                <a:srgbClr val="0000C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9364" name="AutoShape 212"/>
          <p:cNvSpPr/>
          <p:nvPr>
            <p:custDataLst>
              <p:tags r:id="rId4"/>
            </p:custDataLst>
          </p:nvPr>
        </p:nvSpPr>
        <p:spPr>
          <a:xfrm>
            <a:off x="7059930" y="4719955"/>
            <a:ext cx="152400" cy="1600200"/>
          </a:xfrm>
          <a:prstGeom prst="rightBrace">
            <a:avLst>
              <a:gd name="adj1" fmla="val 87500"/>
              <a:gd name="adj2" fmla="val 50000"/>
            </a:avLst>
          </a:prstGeom>
          <a:noFill/>
          <a:ln w="9525" cap="flat" cmpd="sng">
            <a:solidFill>
              <a:srgbClr val="0000CC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endParaRPr lang="zh-CN" altLang="zh-CN" b="1" i="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9365" name="Text Box 213"/>
          <p:cNvSpPr txBox="1"/>
          <p:nvPr>
            <p:custDataLst>
              <p:tags r:id="rId5"/>
            </p:custDataLst>
          </p:nvPr>
        </p:nvSpPr>
        <p:spPr>
          <a:xfrm>
            <a:off x="7364730" y="5248910"/>
            <a:ext cx="8382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b="1" i="0" dirty="0">
                <a:solidFill>
                  <a:srgbClr val="0000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传送</a:t>
            </a:r>
            <a:endParaRPr lang="zh-CN" altLang="en-US" b="1" i="0" dirty="0">
              <a:solidFill>
                <a:srgbClr val="0000C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631" name="Rectangle 214"/>
          <p:cNvSpPr/>
          <p:nvPr>
            <p:custDataLst>
              <p:tags r:id="rId6"/>
            </p:custDataLst>
          </p:nvPr>
        </p:nvSpPr>
        <p:spPr>
          <a:xfrm>
            <a:off x="520065" y="1447483"/>
            <a:ext cx="140716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b="1" i="0" dirty="0">
                <a:latin typeface="Times New Roman" panose="02020603050405020304" pitchFamily="18" charset="0"/>
                <a:ea typeface="宋体" panose="02010600030101010101" pitchFamily="2" charset="-122"/>
              </a:rPr>
              <a:t>程序段：</a:t>
            </a:r>
            <a:endParaRPr lang="zh-CN" altLang="en-US" b="1" i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632" name="Rectangle 215"/>
          <p:cNvSpPr/>
          <p:nvPr>
            <p:custDataLst>
              <p:tags r:id="rId7"/>
            </p:custDataLst>
          </p:nvPr>
        </p:nvSpPr>
        <p:spPr>
          <a:xfrm>
            <a:off x="3720465" y="1447800"/>
            <a:ext cx="402336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b="1" i="0" dirty="0">
                <a:latin typeface="Times New Roman" panose="02020603050405020304" pitchFamily="18" charset="0"/>
                <a:ea typeface="宋体" panose="02010600030101010101" pitchFamily="2" charset="-122"/>
              </a:rPr>
              <a:t>DATA  DB  30H,40H,60H….. </a:t>
            </a:r>
            <a:endParaRPr lang="en-US" altLang="zh-CN" b="1" i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633" name="Rectangle 216"/>
          <p:cNvSpPr/>
          <p:nvPr>
            <p:custDataLst>
              <p:tags r:id="rId8"/>
            </p:custDataLst>
          </p:nvPr>
        </p:nvSpPr>
        <p:spPr>
          <a:xfrm>
            <a:off x="520065" y="1900555"/>
            <a:ext cx="2438400" cy="243522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>
              <a:lnSpc>
                <a:spcPct val="115000"/>
              </a:lnSpc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b="1" i="0" dirty="0">
                <a:latin typeface="Times New Roman" panose="02020603050405020304" pitchFamily="18" charset="0"/>
                <a:ea typeface="宋体" panose="02010600030101010101" pitchFamily="2" charset="-122"/>
              </a:rPr>
              <a:t>状态端口 </a:t>
            </a:r>
            <a:r>
              <a:rPr lang="en-US" altLang="zh-CN" b="1" i="0" dirty="0">
                <a:latin typeface="Times New Roman" panose="02020603050405020304" pitchFamily="18" charset="0"/>
                <a:ea typeface="宋体" panose="02010600030101010101" pitchFamily="2" charset="-122"/>
              </a:rPr>
              <a:t>FBH</a:t>
            </a:r>
            <a:endParaRPr lang="en-US" altLang="zh-CN" b="1" i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75000"/>
              </a:lnSpc>
              <a:spcBef>
                <a:spcPct val="50000"/>
              </a:spcBef>
              <a:buFont typeface="Wingdings" panose="05000000000000000000" pitchFamily="2" charset="2"/>
            </a:pPr>
            <a:r>
              <a:rPr lang="en-US" altLang="zh-CN" b="1" i="0" dirty="0">
                <a:latin typeface="Arial" panose="020B0604020202020204" pitchFamily="34" charset="0"/>
                <a:ea typeface="宋体" panose="02010600030101010101" pitchFamily="2" charset="-122"/>
              </a:rPr>
              <a:t>   D5</a:t>
            </a:r>
            <a:r>
              <a:rPr lang="en-US" altLang="zh-CN" b="1" i="0" dirty="0">
                <a:latin typeface="Times New Roman" panose="02020603050405020304" pitchFamily="18" charset="0"/>
                <a:ea typeface="宋体" panose="02010600030101010101" pitchFamily="2" charset="-122"/>
              </a:rPr>
              <a:t>=1</a:t>
            </a:r>
            <a:r>
              <a:rPr lang="zh-CN" altLang="en-US" b="1" i="0" dirty="0">
                <a:latin typeface="Times New Roman" panose="02020603050405020304" pitchFamily="18" charset="0"/>
                <a:ea typeface="宋体" panose="02010600030101010101" pitchFamily="2" charset="-122"/>
              </a:rPr>
              <a:t>忙</a:t>
            </a:r>
            <a:endParaRPr lang="zh-CN" altLang="en-US" b="1" i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75000"/>
              </a:lnSpc>
              <a:spcBef>
                <a:spcPct val="50000"/>
              </a:spcBef>
              <a:buFont typeface="Wingdings" panose="05000000000000000000" pitchFamily="2" charset="2"/>
            </a:pPr>
            <a:r>
              <a:rPr lang="zh-CN" altLang="en-US" b="1" i="0" dirty="0"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r>
              <a:rPr lang="en-US" altLang="zh-CN" b="1" i="0" dirty="0">
                <a:latin typeface="Arial" panose="020B0604020202020204" pitchFamily="34" charset="0"/>
                <a:ea typeface="宋体" panose="02010600030101010101" pitchFamily="2" charset="-122"/>
              </a:rPr>
              <a:t>D5</a:t>
            </a:r>
            <a:r>
              <a:rPr lang="en-US" altLang="zh-CN" b="1" i="0" dirty="0">
                <a:latin typeface="Times New Roman" panose="02020603050405020304" pitchFamily="18" charset="0"/>
                <a:ea typeface="宋体" panose="02010600030101010101" pitchFamily="2" charset="-122"/>
              </a:rPr>
              <a:t> =0</a:t>
            </a:r>
            <a:r>
              <a:rPr lang="zh-CN" altLang="en-US" b="1" i="0" dirty="0">
                <a:latin typeface="Times New Roman" panose="02020603050405020304" pitchFamily="18" charset="0"/>
                <a:ea typeface="宋体" panose="02010600030101010101" pitchFamily="2" charset="-122"/>
              </a:rPr>
              <a:t>准备好</a:t>
            </a:r>
            <a:endParaRPr lang="zh-CN" altLang="en-US" b="1" i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b="1" i="0" dirty="0">
                <a:latin typeface="Times New Roman" panose="02020603050405020304" pitchFamily="18" charset="0"/>
                <a:ea typeface="宋体" panose="02010600030101010101" pitchFamily="2" charset="-122"/>
              </a:rPr>
              <a:t>数据端口 </a:t>
            </a:r>
            <a:r>
              <a:rPr lang="en-US" altLang="zh-CN" b="1" i="0" dirty="0">
                <a:latin typeface="Times New Roman" panose="02020603050405020304" pitchFamily="18" charset="0"/>
                <a:ea typeface="宋体" panose="02010600030101010101" pitchFamily="2" charset="-122"/>
              </a:rPr>
              <a:t>F8H</a:t>
            </a:r>
            <a:endParaRPr lang="en-US" altLang="zh-CN" b="1" i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b="1" i="0" dirty="0">
                <a:latin typeface="Times New Roman" panose="02020603050405020304" pitchFamily="18" charset="0"/>
                <a:ea typeface="宋体" panose="02010600030101010101" pitchFamily="2" charset="-122"/>
              </a:rPr>
              <a:t>查询输出</a:t>
            </a:r>
            <a:endParaRPr lang="zh-CN" altLang="en-US" b="1" i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243" name="矩形 59"/>
          <p:cNvSpPr/>
          <p:nvPr>
            <p:custDataLst>
              <p:tags r:id="rId9"/>
            </p:custDataLst>
          </p:nvPr>
        </p:nvSpPr>
        <p:spPr>
          <a:xfrm>
            <a:off x="822325" y="501650"/>
            <a:ext cx="815975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 algn="l"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5.2 </a:t>
            </a:r>
            <a:r>
              <a:rPr lang="en-US" altLang="zh-CN" sz="36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  <a:sym typeface="+mn-ea"/>
              </a:rPr>
              <a:t>LED</a:t>
            </a:r>
            <a:r>
              <a:rPr lang="zh-CN" altLang="en-US" sz="36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  <a:sym typeface="+mn-ea"/>
              </a:rPr>
              <a:t>数码管及</a:t>
            </a:r>
            <a:r>
              <a:rPr lang="en-US" altLang="zh-CN" sz="36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  <a:sym typeface="+mn-ea"/>
              </a:rPr>
              <a:t>I/O</a:t>
            </a:r>
            <a:r>
              <a:rPr lang="zh-CN" altLang="en-US" sz="36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  <a:sym typeface="+mn-ea"/>
              </a:rPr>
              <a:t>设备信息交换方式</a:t>
            </a:r>
            <a:endParaRPr lang="en-US" altLang="zh-CN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9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77">
                                            <p:txEl>
                                              <p:charRg st="0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9277">
                                            <p:txEl>
                                              <p:charRg st="0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77">
                                            <p:txEl>
                                              <p:charRg st="27" end="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9277">
                                            <p:txEl>
                                              <p:charRg st="27" end="5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77">
                                            <p:txEl>
                                              <p:charRg st="55" end="7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9277">
                                            <p:txEl>
                                              <p:charRg st="55" end="7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77">
                                            <p:txEl>
                                              <p:charRg st="73" end="10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9277">
                                            <p:txEl>
                                              <p:charRg st="73" end="10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77">
                                            <p:txEl>
                                              <p:charRg st="100" end="1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9277">
                                            <p:txEl>
                                              <p:charRg st="100" end="13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77">
                                            <p:txEl>
                                              <p:charRg st="134" end="1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49277">
                                            <p:txEl>
                                              <p:charRg st="134" end="15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77">
                                            <p:txEl>
                                              <p:charRg st="159" end="18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49277">
                                            <p:txEl>
                                              <p:charRg st="159" end="18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77">
                                            <p:txEl>
                                              <p:charRg st="186" end="20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49277">
                                            <p:txEl>
                                              <p:charRg st="186" end="20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77">
                                            <p:txEl>
                                              <p:charRg st="202" end="2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49277">
                                            <p:txEl>
                                              <p:charRg st="202" end="2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77">
                                            <p:txEl>
                                              <p:charRg st="224" end="2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49277">
                                            <p:txEl>
                                              <p:charRg st="224" end="24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77">
                                            <p:txEl>
                                              <p:charRg st="246" end="26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49277">
                                            <p:txEl>
                                              <p:charRg st="246" end="26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49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49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49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49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277" grpId="0" animBg="1" build="p"/>
      <p:bldP spid="49280" grpId="0" bldLvl="0" animBg="1"/>
      <p:bldP spid="49283" grpId="0"/>
      <p:bldP spid="49364" grpId="0" bldLvl="0" animBg="1"/>
      <p:bldP spid="4936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3" name="矩形 59"/>
          <p:cNvSpPr/>
          <p:nvPr>
            <p:custDataLst>
              <p:tags r:id="rId1"/>
            </p:custDataLst>
          </p:nvPr>
        </p:nvSpPr>
        <p:spPr>
          <a:xfrm>
            <a:off x="822325" y="501650"/>
            <a:ext cx="815975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 algn="l"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5.2 </a:t>
            </a:r>
            <a:r>
              <a:rPr lang="en-US" altLang="zh-CN" sz="36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  <a:sym typeface="+mn-ea"/>
              </a:rPr>
              <a:t>LED</a:t>
            </a:r>
            <a:r>
              <a:rPr lang="zh-CN" altLang="en-US" sz="36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  <a:sym typeface="+mn-ea"/>
              </a:rPr>
              <a:t>数码管及</a:t>
            </a:r>
            <a:r>
              <a:rPr lang="en-US" altLang="zh-CN" sz="36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  <a:sym typeface="+mn-ea"/>
              </a:rPr>
              <a:t>I/O</a:t>
            </a:r>
            <a:r>
              <a:rPr lang="zh-CN" altLang="en-US" sz="36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  <a:sym typeface="+mn-ea"/>
              </a:rPr>
              <a:t>设备信息交换方式</a:t>
            </a:r>
            <a:endParaRPr lang="en-US" altLang="zh-CN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130" name="Rectangle 17"/>
          <p:cNvSpPr/>
          <p:nvPr>
            <p:custDataLst>
              <p:tags r:id="rId2"/>
            </p:custDataLst>
          </p:nvPr>
        </p:nvSpPr>
        <p:spPr>
          <a:xfrm>
            <a:off x="306705" y="1501775"/>
            <a:ext cx="714121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l">
              <a:spcBef>
                <a:spcPct val="45000"/>
              </a:spcBef>
            </a:pPr>
            <a:r>
              <a:rPr lang="zh-CN" altLang="en-US" b="1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b="1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b="1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en-US" altLang="zh-CN" b="1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中断控制传送方式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sym typeface="+mn-ea"/>
            </a:endParaRPr>
          </a:p>
        </p:txBody>
      </p:sp>
      <p:sp>
        <p:nvSpPr>
          <p:cNvPr id="27650" name="Rectangle 2"/>
          <p:cNvSpPr/>
          <p:nvPr/>
        </p:nvSpPr>
        <p:spPr>
          <a:xfrm>
            <a:off x="491490" y="3522345"/>
            <a:ext cx="4885690" cy="299847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 anchorCtr="0"/>
          <a:p>
            <a:pPr marL="342900" indent="-342900">
              <a:lnSpc>
                <a:spcPct val="100000"/>
              </a:lnSpc>
              <a:spcBef>
                <a:spcPct val="20000"/>
              </a:spcBef>
              <a:spcAft>
                <a:spcPct val="30000"/>
              </a:spcAft>
            </a:pPr>
            <a:r>
              <a:rPr lang="zh-CN" altLang="en-US" b="1" i="0" u="sng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特点</a:t>
            </a:r>
            <a:r>
              <a:rPr lang="zh-CN" altLang="en-US" b="1" i="0" u="sng" dirty="0"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endParaRPr lang="zh-CN" altLang="en-US" b="1" i="0" u="sng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 algn="just">
              <a:lnSpc>
                <a:spcPct val="100000"/>
              </a:lnSpc>
              <a:spcBef>
                <a:spcPct val="20000"/>
              </a:spcBef>
              <a:buChar char="•"/>
            </a:pPr>
            <a:r>
              <a:rPr lang="zh-CN" altLang="en-US" b="1" i="0" dirty="0">
                <a:latin typeface="Times New Roman" panose="02020603050405020304" pitchFamily="18" charset="0"/>
                <a:ea typeface="宋体" panose="02010600030101010101" pitchFamily="2" charset="-122"/>
              </a:rPr>
              <a:t>外设主动向</a:t>
            </a:r>
            <a:r>
              <a:rPr lang="en-US" altLang="zh-CN" b="1" i="0" dirty="0">
                <a:latin typeface="Times New Roman" panose="02020603050405020304" pitchFamily="18" charset="0"/>
                <a:ea typeface="宋体" panose="02010600030101010101" pitchFamily="2" charset="-122"/>
              </a:rPr>
              <a:t>CPU</a:t>
            </a:r>
            <a:r>
              <a:rPr lang="zh-CN" altLang="en-US" b="1" i="0" dirty="0">
                <a:latin typeface="Times New Roman" panose="02020603050405020304" pitchFamily="18" charset="0"/>
                <a:ea typeface="宋体" panose="02010600030101010101" pitchFamily="2" charset="-122"/>
              </a:rPr>
              <a:t>提出请求，</a:t>
            </a:r>
            <a:r>
              <a:rPr lang="en-US" altLang="zh-CN" b="1" i="0" dirty="0">
                <a:latin typeface="Times New Roman" panose="02020603050405020304" pitchFamily="18" charset="0"/>
                <a:ea typeface="宋体" panose="02010600030101010101" pitchFamily="2" charset="-122"/>
              </a:rPr>
              <a:t>CPU</a:t>
            </a:r>
            <a:r>
              <a:rPr lang="zh-CN" altLang="en-US" b="1" i="0" dirty="0">
                <a:latin typeface="Times New Roman" panose="02020603050405020304" pitchFamily="18" charset="0"/>
                <a:ea typeface="宋体" panose="02010600030101010101" pitchFamily="2" charset="-122"/>
              </a:rPr>
              <a:t>再去为它服务；服务结束后，</a:t>
            </a:r>
            <a:r>
              <a:rPr lang="en-US" altLang="zh-CN" b="1" dirty="0">
                <a:latin typeface="Times New Roman" panose="02020603050405020304" pitchFamily="18" charset="0"/>
                <a:sym typeface="+mn-ea"/>
              </a:rPr>
              <a:t>CPU</a:t>
            </a:r>
            <a:r>
              <a:rPr lang="zh-CN" altLang="en-US" b="1" i="0" dirty="0">
                <a:latin typeface="Times New Roman" panose="02020603050405020304" pitchFamily="18" charset="0"/>
                <a:ea typeface="宋体" panose="02010600030101010101" pitchFamily="2" charset="-122"/>
              </a:rPr>
              <a:t>返回原主程序继续执行；</a:t>
            </a:r>
            <a:endParaRPr lang="zh-CN" altLang="en-US" b="1" i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>
              <a:lnSpc>
                <a:spcPct val="100000"/>
              </a:lnSpc>
              <a:spcBef>
                <a:spcPct val="20000"/>
              </a:spcBef>
              <a:buChar char="•"/>
            </a:pPr>
            <a:r>
              <a:rPr lang="zh-CN" altLang="en-GB" b="1" i="0" dirty="0">
                <a:latin typeface="Times New Roman" panose="02020603050405020304" pitchFamily="18" charset="0"/>
                <a:ea typeface="宋体" panose="02010600030101010101" pitchFamily="2" charset="-122"/>
              </a:rPr>
              <a:t>优点：</a:t>
            </a:r>
            <a:r>
              <a:rPr lang="en-GB" altLang="zh-CN" b="1" i="0" dirty="0">
                <a:latin typeface="Times New Roman" panose="02020603050405020304" pitchFamily="18" charset="0"/>
                <a:ea typeface="宋体" panose="02010600030101010101" pitchFamily="2" charset="-122"/>
              </a:rPr>
              <a:t>CPU</a:t>
            </a:r>
            <a:r>
              <a:rPr lang="zh-CN" altLang="en-GB" b="1" i="0" dirty="0">
                <a:latin typeface="Times New Roman" panose="02020603050405020304" pitchFamily="18" charset="0"/>
                <a:ea typeface="宋体" panose="02010600030101010101" pitchFamily="2" charset="-122"/>
              </a:rPr>
              <a:t>效率高，实时性好，速度快</a:t>
            </a:r>
            <a:endParaRPr lang="zh-CN" altLang="en-GB" b="1" i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>
              <a:lnSpc>
                <a:spcPct val="100000"/>
              </a:lnSpc>
              <a:spcBef>
                <a:spcPct val="20000"/>
              </a:spcBef>
              <a:buChar char="•"/>
            </a:pPr>
            <a:r>
              <a:rPr lang="zh-CN" altLang="en-US" b="1" i="0" dirty="0">
                <a:latin typeface="Times New Roman" panose="02020603050405020304" pitchFamily="18" charset="0"/>
                <a:ea typeface="宋体" panose="02010600030101010101" pitchFamily="2" charset="-122"/>
              </a:rPr>
              <a:t>缺点：程序编制较为复杂</a:t>
            </a:r>
            <a:endParaRPr lang="zh-CN" altLang="en-US" b="1" i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37845" y="1904365"/>
            <a:ext cx="7919720" cy="1642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 algn="just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中断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：</a:t>
            </a:r>
            <a:r>
              <a:rPr lang="en-US" altLang="zh-CN" b="1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CPU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在执行程序中，被内部或外部的事件所打断，转去执行一段预先安排好的中断服务程序；服务结束后，又返回原来的断点，继续执行原来程序的过程。</a:t>
            </a:r>
            <a:endParaRPr lang="zh-CN" altLang="en-US" b="1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342900" indent="-342900" algn="just">
              <a:lnSpc>
                <a:spcPct val="10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断点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：主程序暂停执行指令的地址。</a:t>
            </a:r>
            <a:endParaRPr lang="zh-CN" altLang="en-US" b="1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45061" name="组合 45060"/>
          <p:cNvGrpSpPr/>
          <p:nvPr/>
        </p:nvGrpSpPr>
        <p:grpSpPr>
          <a:xfrm>
            <a:off x="5301615" y="3234055"/>
            <a:ext cx="3427730" cy="3395345"/>
            <a:chOff x="1107" y="1030"/>
            <a:chExt cx="3899" cy="2521"/>
          </a:xfrm>
        </p:grpSpPr>
        <p:sp>
          <p:nvSpPr>
            <p:cNvPr id="41987" name="直接连接符 45061"/>
            <p:cNvSpPr/>
            <p:nvPr>
              <p:custDataLst>
                <p:tags r:id="rId3"/>
              </p:custDataLst>
            </p:nvPr>
          </p:nvSpPr>
          <p:spPr>
            <a:xfrm>
              <a:off x="2585" y="1440"/>
              <a:ext cx="0" cy="845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1988" name="直接连接符 45062"/>
            <p:cNvSpPr/>
            <p:nvPr>
              <p:custDataLst>
                <p:tags r:id="rId4"/>
              </p:custDataLst>
            </p:nvPr>
          </p:nvSpPr>
          <p:spPr>
            <a:xfrm>
              <a:off x="2585" y="2411"/>
              <a:ext cx="0" cy="1140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oval" w="med" len="med"/>
              <a:tailEnd type="triangle" w="med" len="med"/>
            </a:ln>
          </p:spPr>
        </p:sp>
        <p:sp>
          <p:nvSpPr>
            <p:cNvPr id="41989" name="直接连接符 45063"/>
            <p:cNvSpPr/>
            <p:nvPr>
              <p:custDataLst>
                <p:tags r:id="rId5"/>
              </p:custDataLst>
            </p:nvPr>
          </p:nvSpPr>
          <p:spPr>
            <a:xfrm>
              <a:off x="3821" y="2074"/>
              <a:ext cx="0" cy="717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1990" name="椭圆形标注 45064"/>
            <p:cNvSpPr/>
            <p:nvPr>
              <p:custDataLst>
                <p:tags r:id="rId6"/>
              </p:custDataLst>
            </p:nvPr>
          </p:nvSpPr>
          <p:spPr>
            <a:xfrm>
              <a:off x="1193" y="2332"/>
              <a:ext cx="734" cy="455"/>
            </a:xfrm>
            <a:prstGeom prst="wedgeEllipseCallout">
              <a:avLst>
                <a:gd name="adj1" fmla="val 119889"/>
                <a:gd name="adj2" fmla="val -40829"/>
              </a:avLst>
            </a:prstGeom>
            <a:noFill/>
            <a:ln w="28575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pPr algn="ctr"/>
              <a:endParaRPr lang="zh-CN" altLang="zh-CN" sz="20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1991" name="文本框 45065"/>
            <p:cNvSpPr txBox="1"/>
            <p:nvPr>
              <p:custDataLst>
                <p:tags r:id="rId7"/>
              </p:custDataLst>
            </p:nvPr>
          </p:nvSpPr>
          <p:spPr>
            <a:xfrm>
              <a:off x="1264" y="2276"/>
              <a:ext cx="645" cy="525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anchor="ctr" anchorCtr="0">
              <a:spAutoFit/>
            </a:bodyPr>
            <a:p>
              <a:pPr algn="ctr"/>
              <a:r>
                <a:rPr lang="zh-CN" altLang="en-US" sz="2000" b="1" dirty="0">
                  <a:solidFill>
                    <a:srgbClr val="C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断点</a:t>
              </a:r>
              <a:endPara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1992" name="文本框 45066"/>
            <p:cNvSpPr txBox="1"/>
            <p:nvPr>
              <p:custDataLst>
                <p:tags r:id="rId8"/>
              </p:custDataLst>
            </p:nvPr>
          </p:nvSpPr>
          <p:spPr>
            <a:xfrm>
              <a:off x="1817" y="1030"/>
              <a:ext cx="1228" cy="456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anchor="ctr" anchorCtr="0">
              <a:noAutofit/>
            </a:bodyPr>
            <a:p>
              <a:pPr algn="ctr"/>
              <a:r>
                <a:rPr lang="zh-CN" altLang="en-US" sz="2000" b="1" dirty="0">
                  <a:solidFill>
                    <a:srgbClr val="C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主程序</a:t>
              </a:r>
              <a:endPara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1993" name="文本框 45067"/>
            <p:cNvSpPr txBox="1"/>
            <p:nvPr>
              <p:custDataLst>
                <p:tags r:id="rId9"/>
              </p:custDataLst>
            </p:nvPr>
          </p:nvSpPr>
          <p:spPr>
            <a:xfrm>
              <a:off x="2723" y="1671"/>
              <a:ext cx="2036" cy="296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anchor="ctr" anchorCtr="0">
              <a:spAutoFit/>
            </a:bodyPr>
            <a:p>
              <a:pPr algn="ctr"/>
              <a:r>
                <a:rPr lang="zh-CN" altLang="en-US" sz="2000" b="1" dirty="0">
                  <a:solidFill>
                    <a:srgbClr val="00B0F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中断服务程序</a:t>
              </a:r>
              <a:endParaRPr lang="zh-CN" altLang="en-US" sz="2000" b="1" dirty="0">
                <a:solidFill>
                  <a:srgbClr val="00B0F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1994" name="直接连接符 45068"/>
            <p:cNvSpPr/>
            <p:nvPr>
              <p:custDataLst>
                <p:tags r:id="rId10"/>
              </p:custDataLst>
            </p:nvPr>
          </p:nvSpPr>
          <p:spPr>
            <a:xfrm>
              <a:off x="1817" y="2242"/>
              <a:ext cx="624" cy="0"/>
            </a:xfrm>
            <a:prstGeom prst="line">
              <a:avLst/>
            </a:prstGeom>
            <a:ln w="2857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1995" name="文本框 45069"/>
            <p:cNvSpPr txBox="1"/>
            <p:nvPr>
              <p:custDataLst>
                <p:tags r:id="rId11"/>
              </p:custDataLst>
            </p:nvPr>
          </p:nvSpPr>
          <p:spPr>
            <a:xfrm>
              <a:off x="1107" y="1925"/>
              <a:ext cx="1447" cy="296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anchor="ctr" anchorCtr="0">
              <a:spAutoFit/>
            </a:bodyPr>
            <a:p>
              <a:pPr algn="ctr"/>
              <a:r>
                <a:rPr lang="zh-CN" altLang="en-US" sz="2000" b="1" dirty="0">
                  <a:latin typeface="Arial" panose="020B0604020202020204" pitchFamily="34" charset="0"/>
                  <a:ea typeface="宋体" panose="02010600030101010101" pitchFamily="2" charset="-122"/>
                </a:rPr>
                <a:t>中断请求</a:t>
              </a:r>
              <a:endPara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1996" name="直接连接符 45070"/>
            <p:cNvSpPr/>
            <p:nvPr>
              <p:custDataLst>
                <p:tags r:id="rId12"/>
              </p:custDataLst>
            </p:nvPr>
          </p:nvSpPr>
          <p:spPr>
            <a:xfrm flipV="1">
              <a:off x="2681" y="2031"/>
              <a:ext cx="1104" cy="254"/>
            </a:xfrm>
            <a:prstGeom prst="line">
              <a:avLst/>
            </a:prstGeom>
            <a:ln w="28575" cap="flat" cmpd="sng">
              <a:solidFill>
                <a:schemeClr val="tx2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1997" name="直接连接符 45071"/>
            <p:cNvSpPr/>
            <p:nvPr>
              <p:custDataLst>
                <p:tags r:id="rId13"/>
              </p:custDataLst>
            </p:nvPr>
          </p:nvSpPr>
          <p:spPr>
            <a:xfrm flipH="1" flipV="1">
              <a:off x="2681" y="2369"/>
              <a:ext cx="1056" cy="464"/>
            </a:xfrm>
            <a:prstGeom prst="line">
              <a:avLst/>
            </a:prstGeom>
            <a:ln w="28575" cap="flat" cmpd="sng">
              <a:solidFill>
                <a:schemeClr val="tx2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1998" name="文本框 45072"/>
            <p:cNvSpPr txBox="1"/>
            <p:nvPr>
              <p:custDataLst>
                <p:tags r:id="rId14"/>
              </p:custDataLst>
            </p:nvPr>
          </p:nvSpPr>
          <p:spPr>
            <a:xfrm>
              <a:off x="3865" y="1966"/>
              <a:ext cx="1141" cy="753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anchor="ctr" anchorCtr="0">
              <a:spAutoFit/>
            </a:bodyPr>
            <a:p>
              <a:pPr algn="ctr"/>
              <a:r>
                <a:rPr lang="zh-CN" altLang="en-US" sz="2000" b="1" dirty="0">
                  <a:latin typeface="Arial" panose="020B0604020202020204" pitchFamily="34" charset="0"/>
                  <a:ea typeface="宋体" panose="02010600030101010101" pitchFamily="2" charset="-122"/>
                </a:rPr>
                <a:t>对外设</a:t>
              </a:r>
              <a:endPara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algn="ctr"/>
              <a:r>
                <a:rPr lang="zh-CN" altLang="en-US" sz="2000" b="1" dirty="0">
                  <a:latin typeface="Arial" panose="020B0604020202020204" pitchFamily="34" charset="0"/>
                  <a:ea typeface="宋体" panose="02010600030101010101" pitchFamily="2" charset="-122"/>
                </a:rPr>
                <a:t>进行</a:t>
              </a:r>
              <a:endPara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algn="ctr"/>
              <a:r>
                <a:rPr lang="zh-CN" altLang="en-US" sz="2000" b="1" dirty="0">
                  <a:latin typeface="Arial" panose="020B0604020202020204" pitchFamily="34" charset="0"/>
                  <a:ea typeface="宋体" panose="02010600030101010101" pitchFamily="2" charset="-122"/>
                </a:rPr>
                <a:t>处理</a:t>
              </a:r>
              <a:endPara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1999" name="文本框 45073"/>
            <p:cNvSpPr txBox="1"/>
            <p:nvPr>
              <p:custDataLst>
                <p:tags r:id="rId15"/>
              </p:custDataLst>
            </p:nvPr>
          </p:nvSpPr>
          <p:spPr>
            <a:xfrm>
              <a:off x="1623" y="2783"/>
              <a:ext cx="888" cy="525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ctr" anchorCtr="0">
              <a:spAutoFit/>
            </a:bodyPr>
            <a:p>
              <a:pPr algn="ctr"/>
              <a:r>
                <a:rPr lang="zh-CN" altLang="en-US" sz="2000" b="1" dirty="0">
                  <a:latin typeface="Arial" panose="020B0604020202020204" pitchFamily="34" charset="0"/>
                  <a:ea typeface="宋体" panose="02010600030101010101" pitchFamily="2" charset="-122"/>
                </a:rPr>
                <a:t>继续执行</a:t>
              </a:r>
              <a:endPara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2000" name="文本框 45074"/>
            <p:cNvSpPr txBox="1"/>
            <p:nvPr>
              <p:custDataLst>
                <p:tags r:id="rId16"/>
              </p:custDataLst>
            </p:nvPr>
          </p:nvSpPr>
          <p:spPr>
            <a:xfrm>
              <a:off x="3045" y="2896"/>
              <a:ext cx="1416" cy="296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anchor="ctr" anchorCtr="0">
              <a:spAutoFit/>
            </a:bodyPr>
            <a:p>
              <a:pPr algn="ctr"/>
              <a:r>
                <a:rPr lang="zh-CN" altLang="en-US" sz="2000" b="1" dirty="0">
                  <a:latin typeface="Arial" panose="020B0604020202020204" pitchFamily="34" charset="0"/>
                  <a:ea typeface="宋体" panose="02010600030101010101" pitchFamily="2" charset="-122"/>
                </a:rPr>
                <a:t>返回断点</a:t>
              </a:r>
              <a:endPara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50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50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27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765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3" name="矩形 59"/>
          <p:cNvSpPr/>
          <p:nvPr>
            <p:custDataLst>
              <p:tags r:id="rId1"/>
            </p:custDataLst>
          </p:nvPr>
        </p:nvSpPr>
        <p:spPr>
          <a:xfrm>
            <a:off x="822325" y="501650"/>
            <a:ext cx="815975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 algn="l"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5.2 </a:t>
            </a:r>
            <a:r>
              <a:rPr lang="en-US" altLang="zh-CN" sz="36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  <a:sym typeface="+mn-ea"/>
              </a:rPr>
              <a:t>LED</a:t>
            </a:r>
            <a:r>
              <a:rPr lang="zh-CN" altLang="en-US" sz="36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  <a:sym typeface="+mn-ea"/>
              </a:rPr>
              <a:t>数码管及</a:t>
            </a:r>
            <a:r>
              <a:rPr lang="en-US" altLang="zh-CN" sz="36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  <a:sym typeface="+mn-ea"/>
              </a:rPr>
              <a:t>I/O</a:t>
            </a:r>
            <a:r>
              <a:rPr lang="zh-CN" altLang="en-US" sz="36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  <a:sym typeface="+mn-ea"/>
              </a:rPr>
              <a:t>设备信息交换方式</a:t>
            </a:r>
            <a:endParaRPr lang="en-US" altLang="zh-CN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0369" name="Text Box 129"/>
          <p:cNvSpPr txBox="1"/>
          <p:nvPr>
            <p:custDataLst>
              <p:tags r:id="rId2"/>
            </p:custDataLst>
          </p:nvPr>
        </p:nvSpPr>
        <p:spPr>
          <a:xfrm>
            <a:off x="304800" y="2451735"/>
            <a:ext cx="2514600" cy="70675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i="0" dirty="0">
                <a:latin typeface="Times New Roman" panose="02020603050405020304" pitchFamily="18" charset="0"/>
                <a:ea typeface="宋体" panose="02010600030101010101" pitchFamily="2" charset="-122"/>
              </a:rPr>
              <a:t>查询方式存在等待过程，降低</a:t>
            </a:r>
            <a:r>
              <a:rPr lang="en-US" altLang="zh-CN" sz="2000" b="1" i="0" dirty="0">
                <a:latin typeface="Times New Roman" panose="02020603050405020304" pitchFamily="18" charset="0"/>
                <a:ea typeface="宋体" panose="02010600030101010101" pitchFamily="2" charset="-122"/>
              </a:rPr>
              <a:t>CPU</a:t>
            </a:r>
            <a:r>
              <a:rPr lang="zh-CN" altLang="en-US" sz="2000" b="1" i="0" dirty="0">
                <a:latin typeface="Times New Roman" panose="02020603050405020304" pitchFamily="18" charset="0"/>
                <a:ea typeface="宋体" panose="02010600030101010101" pitchFamily="2" charset="-122"/>
              </a:rPr>
              <a:t>利用率</a:t>
            </a:r>
            <a:endParaRPr lang="zh-CN" altLang="en-US" sz="2000" b="1" i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" name="Group 177"/>
          <p:cNvGrpSpPr/>
          <p:nvPr/>
        </p:nvGrpSpPr>
        <p:grpSpPr>
          <a:xfrm>
            <a:off x="2819400" y="1537335"/>
            <a:ext cx="5334000" cy="2057400"/>
            <a:chOff x="960" y="912"/>
            <a:chExt cx="3360" cy="1296"/>
          </a:xfrm>
        </p:grpSpPr>
        <p:sp>
          <p:nvSpPr>
            <p:cNvPr id="28676" name="Rectangle 131"/>
            <p:cNvSpPr/>
            <p:nvPr>
              <p:custDataLst>
                <p:tags r:id="rId3"/>
              </p:custDataLst>
            </p:nvPr>
          </p:nvSpPr>
          <p:spPr>
            <a:xfrm>
              <a:off x="3696" y="1008"/>
              <a:ext cx="624" cy="1008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b="1" i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CPU</a:t>
              </a:r>
              <a:endParaRPr lang="en-US" altLang="zh-CN" b="1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677" name="Rectangle 132"/>
            <p:cNvSpPr/>
            <p:nvPr>
              <p:custDataLst>
                <p:tags r:id="rId4"/>
              </p:custDataLst>
            </p:nvPr>
          </p:nvSpPr>
          <p:spPr>
            <a:xfrm>
              <a:off x="960" y="1056"/>
              <a:ext cx="480" cy="864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zh-CN" altLang="en-US" sz="2000" b="1" i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输入</a:t>
              </a:r>
              <a:endParaRPr lang="zh-CN" altLang="en-US" sz="2000" b="1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/>
              <a:r>
                <a:rPr lang="zh-CN" altLang="en-US" sz="2000" b="1" i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设备</a:t>
              </a:r>
              <a:endParaRPr lang="zh-CN" altLang="en-US" sz="2000" b="1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678" name="Rectangle 133"/>
            <p:cNvSpPr/>
            <p:nvPr>
              <p:custDataLst>
                <p:tags r:id="rId5"/>
              </p:custDataLst>
            </p:nvPr>
          </p:nvSpPr>
          <p:spPr>
            <a:xfrm>
              <a:off x="2256" y="1680"/>
              <a:ext cx="624" cy="528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zh-CN" altLang="en-US" sz="2000" b="1" i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状态</a:t>
              </a:r>
              <a:endParaRPr lang="zh-CN" altLang="en-US" sz="2000" b="1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/>
              <a:r>
                <a:rPr lang="zh-CN" altLang="en-US" sz="2000" b="1" i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端口</a:t>
              </a:r>
              <a:endParaRPr lang="zh-CN" altLang="en-US" sz="2000" b="1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679" name="Rectangle 134"/>
            <p:cNvSpPr/>
            <p:nvPr>
              <p:custDataLst>
                <p:tags r:id="rId6"/>
              </p:custDataLst>
            </p:nvPr>
          </p:nvSpPr>
          <p:spPr>
            <a:xfrm>
              <a:off x="2256" y="960"/>
              <a:ext cx="624" cy="528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zh-CN" altLang="en-US" sz="2000" b="1" i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数据</a:t>
              </a:r>
              <a:endParaRPr lang="zh-CN" altLang="en-US" sz="2000" b="1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/>
              <a:r>
                <a:rPr lang="zh-CN" altLang="en-US" sz="2000" b="1" i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端口</a:t>
              </a:r>
              <a:endParaRPr lang="zh-CN" altLang="en-US" sz="2000" b="1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680" name="Line 135"/>
            <p:cNvSpPr/>
            <p:nvPr>
              <p:custDataLst>
                <p:tags r:id="rId7"/>
              </p:custDataLst>
            </p:nvPr>
          </p:nvSpPr>
          <p:spPr>
            <a:xfrm flipH="1">
              <a:off x="1440" y="1152"/>
              <a:ext cx="816" cy="0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sp>
          <p:nvSpPr>
            <p:cNvPr id="28681" name="Text Box 136"/>
            <p:cNvSpPr txBox="1"/>
            <p:nvPr>
              <p:custDataLst>
                <p:tags r:id="rId8"/>
              </p:custDataLst>
            </p:nvPr>
          </p:nvSpPr>
          <p:spPr>
            <a:xfrm>
              <a:off x="2928" y="1872"/>
              <a:ext cx="768" cy="251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1" i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READY</a:t>
              </a:r>
              <a:endParaRPr lang="en-US" altLang="zh-CN" sz="2000" b="1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682" name="Line 137"/>
            <p:cNvSpPr/>
            <p:nvPr>
              <p:custDataLst>
                <p:tags r:id="rId9"/>
              </p:custDataLst>
            </p:nvPr>
          </p:nvSpPr>
          <p:spPr>
            <a:xfrm flipH="1">
              <a:off x="1392" y="1824"/>
              <a:ext cx="86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arrow" w="lg" len="lg"/>
              <a:tailEnd type="none" w="med" len="med"/>
            </a:ln>
          </p:spPr>
        </p:sp>
        <p:sp>
          <p:nvSpPr>
            <p:cNvPr id="28683" name="Text Box 138"/>
            <p:cNvSpPr txBox="1"/>
            <p:nvPr>
              <p:custDataLst>
                <p:tags r:id="rId10"/>
              </p:custDataLst>
            </p:nvPr>
          </p:nvSpPr>
          <p:spPr>
            <a:xfrm>
              <a:off x="3168" y="1488"/>
              <a:ext cx="479" cy="290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squar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i="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r>
                <a:rPr lang="en-US" altLang="zh-CN" b="1" i="0" baseline="-25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  <a:r>
                <a:rPr lang="zh-CN" altLang="en-US" sz="2000" b="1" i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位</a:t>
              </a:r>
              <a:endParaRPr lang="zh-CN" altLang="en-US" sz="2000" b="1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684" name="Line 139"/>
            <p:cNvSpPr/>
            <p:nvPr>
              <p:custDataLst>
                <p:tags r:id="rId11"/>
              </p:custDataLst>
            </p:nvPr>
          </p:nvSpPr>
          <p:spPr>
            <a:xfrm flipH="1">
              <a:off x="2880" y="1152"/>
              <a:ext cx="816" cy="0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sp>
          <p:nvSpPr>
            <p:cNvPr id="28685" name="Line 140"/>
            <p:cNvSpPr/>
            <p:nvPr>
              <p:custDataLst>
                <p:tags r:id="rId12"/>
              </p:custDataLst>
            </p:nvPr>
          </p:nvSpPr>
          <p:spPr>
            <a:xfrm>
              <a:off x="2880" y="1824"/>
              <a:ext cx="28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8686" name="Line 141"/>
            <p:cNvSpPr/>
            <p:nvPr>
              <p:custDataLst>
                <p:tags r:id="rId13"/>
              </p:custDataLst>
            </p:nvPr>
          </p:nvSpPr>
          <p:spPr>
            <a:xfrm flipV="1">
              <a:off x="3168" y="1152"/>
              <a:ext cx="0" cy="67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arrow" w="lg" len="lg"/>
            </a:ln>
          </p:spPr>
        </p:sp>
        <p:sp>
          <p:nvSpPr>
            <p:cNvPr id="28687" name="Text Box 142"/>
            <p:cNvSpPr txBox="1"/>
            <p:nvPr>
              <p:custDataLst>
                <p:tags r:id="rId14"/>
              </p:custDataLst>
            </p:nvPr>
          </p:nvSpPr>
          <p:spPr>
            <a:xfrm>
              <a:off x="3120" y="912"/>
              <a:ext cx="576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1" i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DB</a:t>
              </a:r>
              <a:endParaRPr lang="en-US" altLang="zh-CN" sz="2000" b="1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0411" name="Text Box 171"/>
          <p:cNvSpPr txBox="1"/>
          <p:nvPr>
            <p:custDataLst>
              <p:tags r:id="rId15"/>
            </p:custDataLst>
          </p:nvPr>
        </p:nvSpPr>
        <p:spPr>
          <a:xfrm>
            <a:off x="755650" y="1703070"/>
            <a:ext cx="18288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b="1" i="0" dirty="0">
                <a:solidFill>
                  <a:srgbClr val="3333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查询方式</a:t>
            </a:r>
            <a:endParaRPr lang="zh-CN" altLang="en-US" b="1" i="0" dirty="0">
              <a:solidFill>
                <a:srgbClr val="3333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409" name="Line 169"/>
          <p:cNvSpPr/>
          <p:nvPr>
            <p:custDataLst>
              <p:tags r:id="rId16"/>
            </p:custDataLst>
          </p:nvPr>
        </p:nvSpPr>
        <p:spPr>
          <a:xfrm>
            <a:off x="5943600" y="5499735"/>
            <a:ext cx="1295400" cy="0"/>
          </a:xfrm>
          <a:prstGeom prst="line">
            <a:avLst/>
          </a:prstGeom>
          <a:ln w="28575" cap="flat" cmpd="sng">
            <a:solidFill>
              <a:srgbClr val="0000CC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0412" name="Text Box 172"/>
          <p:cNvSpPr txBox="1"/>
          <p:nvPr>
            <p:custDataLst>
              <p:tags r:id="rId17"/>
            </p:custDataLst>
          </p:nvPr>
        </p:nvSpPr>
        <p:spPr>
          <a:xfrm>
            <a:off x="762000" y="4280535"/>
            <a:ext cx="18288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b="1" i="0" dirty="0">
                <a:solidFill>
                  <a:srgbClr val="3333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中断方式</a:t>
            </a:r>
            <a:endParaRPr lang="zh-CN" altLang="en-US" b="1" i="0" dirty="0">
              <a:solidFill>
                <a:srgbClr val="3333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3" name="Group 178"/>
          <p:cNvGrpSpPr/>
          <p:nvPr/>
        </p:nvGrpSpPr>
        <p:grpSpPr>
          <a:xfrm>
            <a:off x="2895600" y="4051935"/>
            <a:ext cx="5334000" cy="2057400"/>
            <a:chOff x="1008" y="2448"/>
            <a:chExt cx="3360" cy="1296"/>
          </a:xfrm>
        </p:grpSpPr>
        <p:sp>
          <p:nvSpPr>
            <p:cNvPr id="28692" name="Rectangle 157"/>
            <p:cNvSpPr/>
            <p:nvPr>
              <p:custDataLst>
                <p:tags r:id="rId18"/>
              </p:custDataLst>
            </p:nvPr>
          </p:nvSpPr>
          <p:spPr>
            <a:xfrm>
              <a:off x="3744" y="2544"/>
              <a:ext cx="624" cy="1008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b="1" i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CPU</a:t>
              </a:r>
              <a:endParaRPr lang="en-US" altLang="zh-CN" b="1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/>
              <a:endParaRPr lang="en-US" altLang="zh-CN" b="1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/>
              <a:endParaRPr lang="en-US" altLang="zh-CN" b="1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/>
              <a:endParaRPr lang="en-US" altLang="zh-CN" b="1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693" name="Rectangle 158"/>
            <p:cNvSpPr/>
            <p:nvPr>
              <p:custDataLst>
                <p:tags r:id="rId19"/>
              </p:custDataLst>
            </p:nvPr>
          </p:nvSpPr>
          <p:spPr>
            <a:xfrm>
              <a:off x="1008" y="2592"/>
              <a:ext cx="480" cy="864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zh-CN" altLang="en-US" sz="2000" b="1" i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输入</a:t>
              </a:r>
              <a:endParaRPr lang="zh-CN" altLang="en-US" sz="2000" b="1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/>
              <a:r>
                <a:rPr lang="zh-CN" altLang="en-US" sz="2000" b="1" i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设备</a:t>
              </a:r>
              <a:endParaRPr lang="zh-CN" altLang="en-US" sz="2000" b="1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694" name="Rectangle 159"/>
            <p:cNvSpPr/>
            <p:nvPr>
              <p:custDataLst>
                <p:tags r:id="rId20"/>
              </p:custDataLst>
            </p:nvPr>
          </p:nvSpPr>
          <p:spPr>
            <a:xfrm>
              <a:off x="2304" y="3216"/>
              <a:ext cx="624" cy="528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zh-CN" altLang="en-US" sz="2000" b="1" i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中断控</a:t>
              </a:r>
              <a:endParaRPr lang="zh-CN" altLang="en-US" sz="2000" b="1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/>
              <a:r>
                <a:rPr lang="zh-CN" altLang="en-US" sz="2000" b="1" i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制电路</a:t>
              </a:r>
              <a:endParaRPr lang="zh-CN" altLang="en-US" sz="2000" b="1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695" name="Rectangle 160"/>
            <p:cNvSpPr/>
            <p:nvPr>
              <p:custDataLst>
                <p:tags r:id="rId21"/>
              </p:custDataLst>
            </p:nvPr>
          </p:nvSpPr>
          <p:spPr>
            <a:xfrm>
              <a:off x="2304" y="2496"/>
              <a:ext cx="624" cy="528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zh-CN" altLang="en-US" sz="2000" b="1" i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数据</a:t>
              </a:r>
              <a:endParaRPr lang="zh-CN" altLang="en-US" sz="2000" b="1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/>
              <a:r>
                <a:rPr lang="zh-CN" altLang="en-US" sz="2000" b="1" i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端口</a:t>
              </a:r>
              <a:endParaRPr lang="zh-CN" altLang="en-US" sz="2000" b="1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696" name="Line 161"/>
            <p:cNvSpPr/>
            <p:nvPr>
              <p:custDataLst>
                <p:tags r:id="rId22"/>
              </p:custDataLst>
            </p:nvPr>
          </p:nvSpPr>
          <p:spPr>
            <a:xfrm flipH="1">
              <a:off x="1488" y="2688"/>
              <a:ext cx="816" cy="0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sp>
          <p:nvSpPr>
            <p:cNvPr id="28697" name="Text Box 162"/>
            <p:cNvSpPr txBox="1"/>
            <p:nvPr>
              <p:custDataLst>
                <p:tags r:id="rId23"/>
              </p:custDataLst>
            </p:nvPr>
          </p:nvSpPr>
          <p:spPr>
            <a:xfrm>
              <a:off x="2931" y="3408"/>
              <a:ext cx="768" cy="251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square"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000" b="1" i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中断请求</a:t>
              </a:r>
              <a:endParaRPr lang="zh-CN" altLang="en-US" sz="2000" b="1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698" name="Line 163"/>
            <p:cNvSpPr/>
            <p:nvPr>
              <p:custDataLst>
                <p:tags r:id="rId24"/>
              </p:custDataLst>
            </p:nvPr>
          </p:nvSpPr>
          <p:spPr>
            <a:xfrm flipH="1">
              <a:off x="1440" y="3360"/>
              <a:ext cx="86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arrow" w="lg" len="lg"/>
              <a:tailEnd type="none" w="med" len="med"/>
            </a:ln>
          </p:spPr>
        </p:sp>
        <p:sp>
          <p:nvSpPr>
            <p:cNvPr id="28699" name="Line 165"/>
            <p:cNvSpPr/>
            <p:nvPr>
              <p:custDataLst>
                <p:tags r:id="rId25"/>
              </p:custDataLst>
            </p:nvPr>
          </p:nvSpPr>
          <p:spPr>
            <a:xfrm flipH="1">
              <a:off x="2928" y="2688"/>
              <a:ext cx="816" cy="0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sp>
          <p:nvSpPr>
            <p:cNvPr id="28700" name="Line 166"/>
            <p:cNvSpPr/>
            <p:nvPr>
              <p:custDataLst>
                <p:tags r:id="rId26"/>
              </p:custDataLst>
            </p:nvPr>
          </p:nvSpPr>
          <p:spPr>
            <a:xfrm>
              <a:off x="2928" y="3360"/>
              <a:ext cx="28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8701" name="Text Box 168"/>
            <p:cNvSpPr txBox="1"/>
            <p:nvPr>
              <p:custDataLst>
                <p:tags r:id="rId27"/>
              </p:custDataLst>
            </p:nvPr>
          </p:nvSpPr>
          <p:spPr>
            <a:xfrm>
              <a:off x="3168" y="2448"/>
              <a:ext cx="576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1" i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DB</a:t>
              </a:r>
              <a:endParaRPr lang="en-US" altLang="zh-CN" sz="2000" b="1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02" name="Text Box 173"/>
            <p:cNvSpPr txBox="1"/>
            <p:nvPr>
              <p:custDataLst>
                <p:tags r:id="rId28"/>
              </p:custDataLst>
            </p:nvPr>
          </p:nvSpPr>
          <p:spPr>
            <a:xfrm>
              <a:off x="3789" y="3264"/>
              <a:ext cx="576" cy="251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1" i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INTR</a:t>
              </a:r>
              <a:endParaRPr lang="en-US" altLang="zh-CN" sz="2000" b="1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304800" y="4953635"/>
            <a:ext cx="2724785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eaLnBrk="1" hangingPunct="1"/>
            <a:r>
              <a:rPr lang="zh-CN" altLang="en-US" sz="2000" b="1" i="0" dirty="0">
                <a:sym typeface="+mn-ea"/>
              </a:rPr>
              <a:t>利用中断来实现</a:t>
            </a:r>
            <a:r>
              <a:rPr lang="en-US" altLang="zh-CN" sz="2000" b="1" i="0" dirty="0">
                <a:sym typeface="+mn-ea"/>
              </a:rPr>
              <a:t>CPU</a:t>
            </a:r>
            <a:r>
              <a:rPr lang="zh-CN" altLang="en-US" sz="2000" b="1" i="0" dirty="0">
                <a:sym typeface="+mn-ea"/>
              </a:rPr>
              <a:t>与外设之间的高效数据传送。</a:t>
            </a:r>
            <a:endParaRPr lang="zh-CN" altLang="en-US" sz="2000" b="1" i="0" dirty="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69" grpId="0"/>
      <p:bldP spid="10411" grpId="0"/>
      <p:bldP spid="10412" grpId="0"/>
      <p:bldP spid="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3" name="矩形 59"/>
          <p:cNvSpPr/>
          <p:nvPr>
            <p:custDataLst>
              <p:tags r:id="rId1"/>
            </p:custDataLst>
          </p:nvPr>
        </p:nvSpPr>
        <p:spPr>
          <a:xfrm>
            <a:off x="822325" y="501650"/>
            <a:ext cx="815975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 algn="l"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5.2 </a:t>
            </a:r>
            <a:r>
              <a:rPr lang="en-US" altLang="zh-CN" sz="36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  <a:sym typeface="+mn-ea"/>
              </a:rPr>
              <a:t>LED</a:t>
            </a:r>
            <a:r>
              <a:rPr lang="zh-CN" altLang="en-US" sz="36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  <a:sym typeface="+mn-ea"/>
              </a:rPr>
              <a:t>数码管及</a:t>
            </a:r>
            <a:r>
              <a:rPr lang="en-US" altLang="zh-CN" sz="36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  <a:sym typeface="+mn-ea"/>
              </a:rPr>
              <a:t>I/O</a:t>
            </a:r>
            <a:r>
              <a:rPr lang="zh-CN" altLang="en-US" sz="36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  <a:sym typeface="+mn-ea"/>
              </a:rPr>
              <a:t>设备信息交换方式</a:t>
            </a:r>
            <a:endParaRPr lang="en-US" altLang="zh-CN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130" name="Rectangle 17"/>
          <p:cNvSpPr/>
          <p:nvPr>
            <p:custDataLst>
              <p:tags r:id="rId2"/>
            </p:custDataLst>
          </p:nvPr>
        </p:nvSpPr>
        <p:spPr>
          <a:xfrm>
            <a:off x="306705" y="1501775"/>
            <a:ext cx="714121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l">
              <a:spcBef>
                <a:spcPct val="45000"/>
              </a:spcBef>
            </a:pPr>
            <a:r>
              <a:rPr lang="zh-CN" altLang="en-US" b="1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b="1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b="1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en-US" altLang="zh-CN" b="1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直接存储器存取（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DMA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）方式</a:t>
            </a: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sym typeface="+mn-ea"/>
            </a:endParaRPr>
          </a:p>
        </p:txBody>
      </p:sp>
      <p:sp>
        <p:nvSpPr>
          <p:cNvPr id="80933" name="Rectangle 37"/>
          <p:cNvSpPr/>
          <p:nvPr>
            <p:custDataLst>
              <p:tags r:id="rId3"/>
            </p:custDataLst>
          </p:nvPr>
        </p:nvSpPr>
        <p:spPr>
          <a:xfrm>
            <a:off x="481330" y="1917065"/>
            <a:ext cx="8167370" cy="96964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0" lvl="1" indent="-342900" algn="just">
              <a:lnSpc>
                <a:spcPct val="120000"/>
              </a:lnSpc>
              <a:spcBef>
                <a:spcPct val="50000"/>
              </a:spcBef>
            </a:pPr>
            <a:r>
              <a:rPr lang="zh-CN" altLang="en-US" b="1" i="0" dirty="0">
                <a:latin typeface="Times New Roman" panose="02020603050405020304" pitchFamily="18" charset="0"/>
                <a:ea typeface="宋体" panose="02010600030101010101" pitchFamily="2" charset="-122"/>
              </a:rPr>
              <a:t>特点：</a:t>
            </a:r>
            <a:r>
              <a:rPr lang="zh-CN" altLang="en-US" b="1" i="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在</a:t>
            </a:r>
            <a:r>
              <a:rPr lang="en-US" altLang="zh-CN" b="1" dirty="0">
                <a:solidFill>
                  <a:srgbClr val="C00000"/>
                </a:solidFill>
                <a:sym typeface="+mn-ea"/>
              </a:rPr>
              <a:t>DMAC</a:t>
            </a:r>
            <a:r>
              <a:rPr lang="zh-CN" altLang="en-US" b="1" dirty="0">
                <a:solidFill>
                  <a:srgbClr val="C00000"/>
                </a:solidFill>
                <a:sym typeface="+mn-ea"/>
              </a:rPr>
              <a:t>（</a:t>
            </a:r>
            <a:r>
              <a:rPr lang="en-US" altLang="zh-CN" b="1" dirty="0">
                <a:solidFill>
                  <a:srgbClr val="C00000"/>
                </a:solidFill>
                <a:sym typeface="+mn-ea"/>
              </a:rPr>
              <a:t>DMA</a:t>
            </a:r>
            <a:r>
              <a:rPr lang="zh-CN" altLang="en-US" b="1" dirty="0">
                <a:solidFill>
                  <a:srgbClr val="C00000"/>
                </a:solidFill>
                <a:sym typeface="+mn-ea"/>
              </a:rPr>
              <a:t>控制器）控制下，外设直接和存储器进行数据传送，适合大量、快速数据传送</a:t>
            </a:r>
            <a:r>
              <a:rPr lang="zh-CN" altLang="en-US" b="1" dirty="0">
                <a:sym typeface="+mn-ea"/>
              </a:rPr>
              <a:t>。</a:t>
            </a:r>
            <a:endParaRPr lang="zh-CN" altLang="en-US" b="1" dirty="0"/>
          </a:p>
          <a:p>
            <a:pPr marL="342900" indent="-342900">
              <a:spcBef>
                <a:spcPct val="50000"/>
              </a:spcBef>
            </a:pPr>
            <a:endParaRPr lang="zh-CN" altLang="en-US" b="1" i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33">
                                            <p:txEl>
                                              <p:charRg st="0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0933">
                                            <p:txEl>
                                              <p:charRg st="0" end="3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93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67" name="AutoShape 32"/>
          <p:cNvSpPr/>
          <p:nvPr/>
        </p:nvSpPr>
        <p:spPr>
          <a:xfrm>
            <a:off x="4060190" y="2606585"/>
            <a:ext cx="3240000" cy="719455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en-US" altLang="zh-CN" sz="2200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CPU</a:t>
            </a:r>
            <a:r>
              <a:rPr lang="zh-CN" altLang="en-US" sz="2200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响应</a:t>
            </a:r>
            <a:r>
              <a:rPr lang="en-US" altLang="zh-CN" sz="2200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DMA</a:t>
            </a:r>
            <a:r>
              <a:rPr lang="zh-CN" altLang="en-US" sz="2200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请求，</a:t>
            </a:r>
            <a:endParaRPr lang="zh-CN" altLang="en-US" sz="2200" i="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ctr"/>
            <a:r>
              <a:rPr lang="zh-CN" altLang="en-US" sz="2200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交出总线控制权</a:t>
            </a:r>
            <a:endParaRPr lang="zh-CN" altLang="en-US" sz="2200" i="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768" name="AutoShape 33"/>
          <p:cNvSpPr/>
          <p:nvPr/>
        </p:nvSpPr>
        <p:spPr>
          <a:xfrm>
            <a:off x="4060190" y="3655605"/>
            <a:ext cx="3240000" cy="395605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200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从源地址读取数据</a:t>
            </a:r>
            <a:endParaRPr lang="zh-CN" altLang="en-US" sz="2200" i="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769" name="AutoShape 34"/>
          <p:cNvSpPr/>
          <p:nvPr/>
        </p:nvSpPr>
        <p:spPr>
          <a:xfrm>
            <a:off x="7875905" y="3787775"/>
            <a:ext cx="657860" cy="1046480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200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修改</a:t>
            </a:r>
            <a:endParaRPr lang="zh-CN" altLang="en-US" sz="2200" i="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ctr"/>
            <a:r>
              <a:rPr lang="zh-CN" altLang="en-US" sz="2200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地址</a:t>
            </a:r>
            <a:endParaRPr lang="zh-CN" altLang="en-US" sz="2200" i="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ctr"/>
            <a:r>
              <a:rPr lang="zh-CN" altLang="en-US" sz="2200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指针</a:t>
            </a:r>
            <a:endParaRPr lang="zh-CN" altLang="en-US" sz="2200" i="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770" name="AutoShape 35"/>
          <p:cNvSpPr/>
          <p:nvPr/>
        </p:nvSpPr>
        <p:spPr>
          <a:xfrm>
            <a:off x="4060190" y="4380775"/>
            <a:ext cx="3240000" cy="395605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200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将数据写入目的地址</a:t>
            </a:r>
            <a:endParaRPr lang="zh-CN" altLang="en-US" sz="2200" i="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771" name="AutoShape 36"/>
          <p:cNvSpPr/>
          <p:nvPr/>
        </p:nvSpPr>
        <p:spPr>
          <a:xfrm>
            <a:off x="4060190" y="6165760"/>
            <a:ext cx="3240000" cy="395605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en-US" altLang="zh-CN" sz="2200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DMA</a:t>
            </a:r>
            <a:r>
              <a:rPr lang="zh-CN" altLang="en-US" sz="2200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结束</a:t>
            </a:r>
            <a:endParaRPr lang="zh-CN" altLang="en-US" sz="2200" i="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772" name="AutoShape 37"/>
          <p:cNvSpPr/>
          <p:nvPr/>
        </p:nvSpPr>
        <p:spPr>
          <a:xfrm>
            <a:off x="4060190" y="5105945"/>
            <a:ext cx="3240000" cy="730250"/>
          </a:xfrm>
          <a:prstGeom prst="flowChartDecision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en-US" altLang="zh-CN" sz="2200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r>
              <a:rPr lang="zh-CN" altLang="en-US" sz="2200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数据传送结束否？</a:t>
            </a:r>
            <a:endParaRPr lang="zh-CN" altLang="en-US" sz="2200" i="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782" name="AutoShape 48"/>
          <p:cNvSpPr/>
          <p:nvPr/>
        </p:nvSpPr>
        <p:spPr>
          <a:xfrm>
            <a:off x="4060190" y="1557020"/>
            <a:ext cx="3240000" cy="720000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200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外设通过</a:t>
            </a:r>
            <a:r>
              <a:rPr lang="en-US" altLang="zh-CN" sz="2200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DMAC</a:t>
            </a:r>
            <a:r>
              <a:rPr lang="zh-CN" altLang="en-US" sz="2200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向</a:t>
            </a:r>
            <a:endParaRPr lang="zh-CN" altLang="en-US" sz="2200" i="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ctr"/>
            <a:r>
              <a:rPr lang="en-US" altLang="zh-CN" sz="2200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CPU</a:t>
            </a:r>
            <a:r>
              <a:rPr lang="zh-CN" altLang="en-US" sz="2200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发送</a:t>
            </a:r>
            <a:r>
              <a:rPr lang="en-US" altLang="zh-CN" sz="2200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DMA</a:t>
            </a:r>
            <a:r>
              <a:rPr lang="zh-CN" altLang="en-US" sz="2200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请求</a:t>
            </a:r>
            <a:endParaRPr lang="zh-CN" altLang="en-US" sz="2200" i="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4" name="直接箭头连接符 3"/>
          <p:cNvCxnSpPr>
            <a:stCxn id="31782" idx="2"/>
            <a:endCxn id="31767" idx="0"/>
          </p:cNvCxnSpPr>
          <p:nvPr/>
        </p:nvCxnSpPr>
        <p:spPr>
          <a:xfrm>
            <a:off x="5680075" y="2277110"/>
            <a:ext cx="0" cy="329565"/>
          </a:xfrm>
          <a:prstGeom prst="straightConnector1">
            <a:avLst/>
          </a:prstGeom>
          <a:solidFill>
            <a:schemeClr val="accent1"/>
          </a:solidFill>
          <a:ln w="349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med" len="med"/>
          </a:ln>
        </p:spPr>
      </p:cxnSp>
      <p:cxnSp>
        <p:nvCxnSpPr>
          <p:cNvPr id="5" name="直接箭头连接符 4"/>
          <p:cNvCxnSpPr>
            <a:stCxn id="31767" idx="2"/>
            <a:endCxn id="31768" idx="0"/>
          </p:cNvCxnSpPr>
          <p:nvPr/>
        </p:nvCxnSpPr>
        <p:spPr>
          <a:xfrm>
            <a:off x="5680075" y="3326130"/>
            <a:ext cx="0" cy="329565"/>
          </a:xfrm>
          <a:prstGeom prst="straightConnector1">
            <a:avLst/>
          </a:prstGeom>
          <a:solidFill>
            <a:schemeClr val="accent1"/>
          </a:solidFill>
          <a:ln w="349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med" len="med"/>
          </a:ln>
        </p:spPr>
      </p:cxnSp>
      <p:cxnSp>
        <p:nvCxnSpPr>
          <p:cNvPr id="6" name="直接箭头连接符 5"/>
          <p:cNvCxnSpPr>
            <a:stCxn id="31768" idx="2"/>
            <a:endCxn id="31770" idx="0"/>
          </p:cNvCxnSpPr>
          <p:nvPr/>
        </p:nvCxnSpPr>
        <p:spPr>
          <a:xfrm>
            <a:off x="5680075" y="4051300"/>
            <a:ext cx="0" cy="329565"/>
          </a:xfrm>
          <a:prstGeom prst="straightConnector1">
            <a:avLst/>
          </a:prstGeom>
          <a:solidFill>
            <a:schemeClr val="accent1"/>
          </a:solidFill>
          <a:ln w="349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med" len="med"/>
          </a:ln>
        </p:spPr>
      </p:cxnSp>
      <p:cxnSp>
        <p:nvCxnSpPr>
          <p:cNvPr id="7" name="直接箭头连接符 6"/>
          <p:cNvCxnSpPr>
            <a:stCxn id="31770" idx="2"/>
            <a:endCxn id="31772" idx="0"/>
          </p:cNvCxnSpPr>
          <p:nvPr/>
        </p:nvCxnSpPr>
        <p:spPr>
          <a:xfrm>
            <a:off x="5680075" y="4776470"/>
            <a:ext cx="0" cy="329565"/>
          </a:xfrm>
          <a:prstGeom prst="straightConnector1">
            <a:avLst/>
          </a:prstGeom>
          <a:solidFill>
            <a:schemeClr val="accent1"/>
          </a:solidFill>
          <a:ln w="349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med" len="med"/>
          </a:ln>
        </p:spPr>
      </p:cxnSp>
      <p:cxnSp>
        <p:nvCxnSpPr>
          <p:cNvPr id="8" name="直接箭头连接符 7"/>
          <p:cNvCxnSpPr>
            <a:stCxn id="31772" idx="2"/>
            <a:endCxn id="31771" idx="0"/>
          </p:cNvCxnSpPr>
          <p:nvPr/>
        </p:nvCxnSpPr>
        <p:spPr>
          <a:xfrm>
            <a:off x="5680075" y="5836285"/>
            <a:ext cx="0" cy="329565"/>
          </a:xfrm>
          <a:prstGeom prst="straightConnector1">
            <a:avLst/>
          </a:prstGeom>
          <a:solidFill>
            <a:schemeClr val="accent1"/>
          </a:solidFill>
          <a:ln w="349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med" len="med"/>
          </a:ln>
        </p:spPr>
      </p:cxnSp>
      <p:cxnSp>
        <p:nvCxnSpPr>
          <p:cNvPr id="9" name="肘形连接符 8"/>
          <p:cNvCxnSpPr>
            <a:stCxn id="31772" idx="3"/>
            <a:endCxn id="31769" idx="2"/>
          </p:cNvCxnSpPr>
          <p:nvPr/>
        </p:nvCxnSpPr>
        <p:spPr>
          <a:xfrm flipV="1">
            <a:off x="7299960" y="4834255"/>
            <a:ext cx="904875" cy="636905"/>
          </a:xfrm>
          <a:prstGeom prst="bentConnector2">
            <a:avLst/>
          </a:prstGeom>
          <a:solidFill>
            <a:schemeClr val="accent1"/>
          </a:solidFill>
          <a:ln w="349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med" len="med"/>
          </a:ln>
        </p:spPr>
      </p:cxnSp>
      <p:cxnSp>
        <p:nvCxnSpPr>
          <p:cNvPr id="10" name="肘形连接符 9"/>
          <p:cNvCxnSpPr>
            <a:stCxn id="31769" idx="0"/>
          </p:cNvCxnSpPr>
          <p:nvPr/>
        </p:nvCxnSpPr>
        <p:spPr>
          <a:xfrm rot="16200000" flipV="1">
            <a:off x="6780530" y="2363470"/>
            <a:ext cx="358775" cy="2489200"/>
          </a:xfrm>
          <a:prstGeom prst="bentConnector2">
            <a:avLst/>
          </a:prstGeom>
          <a:solidFill>
            <a:schemeClr val="accent1"/>
          </a:solidFill>
          <a:ln w="349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stealth" w="med" len="med"/>
          </a:ln>
        </p:spPr>
      </p:cxnSp>
      <p:sp>
        <p:nvSpPr>
          <p:cNvPr id="11" name="Text Box 46"/>
          <p:cNvSpPr txBox="1"/>
          <p:nvPr/>
        </p:nvSpPr>
        <p:spPr>
          <a:xfrm>
            <a:off x="7489825" y="5084763"/>
            <a:ext cx="385763" cy="42989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2200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endParaRPr lang="en-US" altLang="zh-CN" sz="2200" i="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" name="Text Box 46"/>
          <p:cNvSpPr txBox="1"/>
          <p:nvPr/>
        </p:nvSpPr>
        <p:spPr>
          <a:xfrm>
            <a:off x="5787390" y="5797868"/>
            <a:ext cx="385763" cy="42989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2200" i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endParaRPr lang="en-US" altLang="zh-CN" sz="2200" i="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243" name="矩形 59"/>
          <p:cNvSpPr/>
          <p:nvPr>
            <p:custDataLst>
              <p:tags r:id="rId1"/>
            </p:custDataLst>
          </p:nvPr>
        </p:nvSpPr>
        <p:spPr>
          <a:xfrm>
            <a:off x="822325" y="501650"/>
            <a:ext cx="815975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 algn="l"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5.2 </a:t>
            </a:r>
            <a:r>
              <a:rPr lang="en-US" altLang="zh-CN" sz="36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  <a:sym typeface="+mn-ea"/>
              </a:rPr>
              <a:t>LED</a:t>
            </a:r>
            <a:r>
              <a:rPr lang="zh-CN" altLang="en-US" sz="36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  <a:sym typeface="+mn-ea"/>
              </a:rPr>
              <a:t>数码管及</a:t>
            </a:r>
            <a:r>
              <a:rPr lang="en-US" altLang="zh-CN" sz="36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  <a:sym typeface="+mn-ea"/>
              </a:rPr>
              <a:t>I/O</a:t>
            </a:r>
            <a:r>
              <a:rPr lang="zh-CN" altLang="en-US" sz="3600" b="1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  <a:sym typeface="+mn-ea"/>
              </a:rPr>
              <a:t>设备信息交换方式</a:t>
            </a:r>
            <a:endParaRPr lang="en-US" altLang="zh-CN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2"/>
            </p:custDataLst>
          </p:nvPr>
        </p:nvSpPr>
        <p:spPr>
          <a:xfrm>
            <a:off x="539750" y="1484630"/>
            <a:ext cx="331660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/>
              <a:t>典型的 DMA 传送流程</a:t>
            </a:r>
            <a:endParaRPr lang="zh-CN" altLang="en-US" b="1"/>
          </a:p>
        </p:txBody>
      </p:sp>
      <p:sp>
        <p:nvSpPr>
          <p:cNvPr id="16" name="Text Box 2"/>
          <p:cNvSpPr txBox="1"/>
          <p:nvPr>
            <p:custDataLst>
              <p:tags r:id="rId3"/>
            </p:custDataLst>
          </p:nvPr>
        </p:nvSpPr>
        <p:spPr>
          <a:xfrm>
            <a:off x="539750" y="2169160"/>
            <a:ext cx="3329305" cy="90297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10000"/>
              </a:lnSpc>
              <a:buChar char="•"/>
            </a:pPr>
            <a:r>
              <a:rPr lang="en-US" altLang="zh-CN" b="1" i="0" dirty="0">
                <a:latin typeface="Times New Roman" panose="02020603050405020304" pitchFamily="18" charset="0"/>
                <a:ea typeface="宋体" panose="02010600030101010101" pitchFamily="2" charset="-122"/>
              </a:rPr>
              <a:t>HOLD </a:t>
            </a:r>
            <a:r>
              <a:rPr lang="en-US" altLang="zh-CN" b="1" i="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b="1" i="0" dirty="0">
                <a:latin typeface="Times New Roman" panose="02020603050405020304" pitchFamily="18" charset="0"/>
                <a:ea typeface="宋体" panose="02010600030101010101" pitchFamily="2" charset="-122"/>
              </a:rPr>
              <a:t>总线请求信号</a:t>
            </a:r>
            <a:endParaRPr lang="zh-CN" altLang="en-US" b="1" i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buChar char="•"/>
            </a:pPr>
            <a:r>
              <a:rPr lang="en-US" altLang="zh-CN" b="1" i="0" dirty="0">
                <a:latin typeface="Times New Roman" panose="02020603050405020304" pitchFamily="18" charset="0"/>
                <a:ea typeface="宋体" panose="02010600030101010101" pitchFamily="2" charset="-122"/>
              </a:rPr>
              <a:t>HLDA</a:t>
            </a:r>
            <a:r>
              <a:rPr lang="en-US" altLang="zh-CN" b="1" i="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r>
              <a:rPr lang="zh-CN" altLang="en-US" b="1" i="0" dirty="0">
                <a:latin typeface="Times New Roman" panose="02020603050405020304" pitchFamily="18" charset="0"/>
                <a:ea typeface="宋体" panose="02010600030101010101" pitchFamily="2" charset="-122"/>
              </a:rPr>
              <a:t>总线响应</a:t>
            </a:r>
            <a:r>
              <a:rPr lang="zh-CN" altLang="en-US" b="1" dirty="0">
                <a:latin typeface="Times New Roman" panose="02020603050405020304" pitchFamily="18" charset="0"/>
                <a:sym typeface="+mn-ea"/>
              </a:rPr>
              <a:t>信号</a:t>
            </a:r>
            <a:endParaRPr lang="zh-CN" altLang="en-US" b="1" i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11505" y="3213100"/>
            <a:ext cx="3074035" cy="130873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p>
            <a:pPr algn="just">
              <a:lnSpc>
                <a:spcPct val="110000"/>
              </a:lnSpc>
            </a:pP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sym typeface="+mn-ea"/>
              </a:rPr>
              <a:t>DMA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sym typeface="+mn-ea"/>
              </a:rPr>
              <a:t>方式需要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sym typeface="+mn-ea"/>
              </a:rPr>
              <a:t>CPU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sym typeface="+mn-ea"/>
              </a:rPr>
              <a:t>释放总线，由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sym typeface="+mn-ea"/>
              </a:rPr>
              <a:t>DMAC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sym typeface="+mn-ea"/>
              </a:rPr>
              <a:t>管理，完成数据传送</a:t>
            </a:r>
            <a:r>
              <a:rPr lang="zh-CN" altLang="en-US" b="1" dirty="0">
                <a:latin typeface="Times New Roman" panose="02020603050405020304" pitchFamily="18" charset="0"/>
                <a:sym typeface="+mn-ea"/>
              </a:rPr>
              <a:t>。</a:t>
            </a:r>
            <a:endParaRPr lang="en-US" altLang="zh-CN" b="1" dirty="0">
              <a:latin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1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1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1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1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31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31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500"/>
                            </p:stCondLst>
                            <p:childTnLst>
                              <p:par>
                                <p:cTn id="58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16" presetClass="entr" presetSubtype="2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6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00"/>
                            </p:stCondLst>
                            <p:childTnLst>
                              <p:par>
                                <p:cTn id="7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31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82" grpId="0" bldLvl="0" animBg="1"/>
      <p:bldP spid="31767" grpId="0" bldLvl="0" animBg="1"/>
      <p:bldP spid="31768" grpId="0" bldLvl="0" animBg="1"/>
      <p:bldP spid="31770" grpId="0" bldLvl="0" animBg="1"/>
      <p:bldP spid="31772" grpId="0" bldLvl="0" animBg="1"/>
      <p:bldP spid="11" grpId="0"/>
      <p:bldP spid="31769" grpId="0" bldLvl="0" animBg="1"/>
      <p:bldP spid="12" grpId="0"/>
      <p:bldP spid="31771" grpId="0" bldLvl="0" animBg="1"/>
      <p:bldP spid="16" grpId="0"/>
      <p:bldP spid="17" grpId="0" bldLvl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22325" y="1556385"/>
            <a:ext cx="6694805" cy="5069205"/>
          </a:xfrm>
          <a:prstGeom prst="rect">
            <a:avLst/>
          </a:prstGeom>
        </p:spPr>
      </p:pic>
      <p:sp>
        <p:nvSpPr>
          <p:cNvPr id="32772" name="Rectangle 34"/>
          <p:cNvSpPr/>
          <p:nvPr/>
        </p:nvSpPr>
        <p:spPr>
          <a:xfrm>
            <a:off x="4356100" y="1595755"/>
            <a:ext cx="324358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ClrTx/>
              <a:buFontTx/>
            </a:pPr>
            <a:r>
              <a:rPr lang="zh-CN" altLang="en-US" b="1" i="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最小模式下的系统配置</a:t>
            </a:r>
            <a:endParaRPr lang="zh-CN" altLang="en-US" b="1" i="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243" name="矩形 59"/>
          <p:cNvSpPr/>
          <p:nvPr>
            <p:custDataLst>
              <p:tags r:id="rId3"/>
            </p:custDataLst>
          </p:nvPr>
        </p:nvSpPr>
        <p:spPr>
          <a:xfrm>
            <a:off x="822325" y="501650"/>
            <a:ext cx="815975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 algn="l"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5.3 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简单交通信号灯系统的实现</a:t>
            </a:r>
            <a:endParaRPr lang="en-US" altLang="zh-CN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379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4813" y="1031875"/>
            <a:ext cx="8332787" cy="5638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404495" y="193040"/>
            <a:ext cx="8548370" cy="82994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square" anchor="t" anchorCtr="0">
            <a:spAutoFit/>
          </a:bodyPr>
          <a:p>
            <a:pPr>
              <a:buClrTx/>
              <a:buFontTx/>
            </a:pPr>
            <a:r>
              <a:rPr lang="zh-CN" altLang="en-US" i="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作业</a:t>
            </a:r>
            <a:r>
              <a:rPr lang="en-US" altLang="zh-CN" i="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i="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：请结合第</a:t>
            </a:r>
            <a:r>
              <a:rPr lang="en-US" altLang="zh-CN" i="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i="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章简单红绿灯系统设计，参照第</a:t>
            </a:r>
            <a:r>
              <a:rPr lang="en-US" altLang="zh-CN" i="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i="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章案例</a:t>
            </a:r>
            <a:r>
              <a:rPr lang="en-US" altLang="zh-CN" i="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2-1</a:t>
            </a:r>
            <a:r>
              <a:rPr lang="zh-CN" altLang="en-US" i="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或</a:t>
            </a:r>
            <a:r>
              <a:rPr lang="en-US" altLang="zh-CN" i="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2-2</a:t>
            </a:r>
            <a:r>
              <a:rPr lang="zh-CN" altLang="en-US" i="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完成简单接口红绿灯系统设计并在</a:t>
            </a:r>
            <a:r>
              <a:rPr lang="en-US" altLang="zh-CN" i="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Proteus</a:t>
            </a:r>
            <a:r>
              <a:rPr lang="zh-CN" altLang="en-US" i="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仿真系统中实现。</a:t>
            </a:r>
            <a:endParaRPr lang="zh-CN" altLang="en-US" i="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4817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840" y="836295"/>
            <a:ext cx="8703310" cy="58451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395605" y="386080"/>
            <a:ext cx="9083675" cy="45656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square" anchor="t" anchorCtr="0">
            <a:noAutofit/>
          </a:bodyPr>
          <a:p>
            <a:pPr>
              <a:buClrTx/>
              <a:buFontTx/>
            </a:pPr>
            <a:r>
              <a:rPr lang="zh-CN" altLang="en-US" b="1" i="0" dirty="0">
                <a:solidFill>
                  <a:srgbClr val="3333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简单接口红绿灯系统原理图</a:t>
            </a:r>
            <a:r>
              <a:rPr lang="en-US" altLang="zh-CN" b="1" i="0" dirty="0">
                <a:solidFill>
                  <a:srgbClr val="3333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-- </a:t>
            </a:r>
            <a:r>
              <a:rPr lang="zh-CN" altLang="en-US" b="1" i="0" dirty="0">
                <a:solidFill>
                  <a:srgbClr val="3333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红绿灯部分</a:t>
            </a:r>
            <a:endParaRPr lang="zh-CN" altLang="en-US" b="1" i="0" dirty="0">
              <a:solidFill>
                <a:srgbClr val="3333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5841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790" y="478790"/>
            <a:ext cx="8796020" cy="263334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224790" y="120650"/>
            <a:ext cx="874268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buClrTx/>
              <a:buFontTx/>
            </a:pPr>
            <a:r>
              <a:rPr lang="zh-CN" altLang="en-US" b="1" i="0" dirty="0">
                <a:solidFill>
                  <a:srgbClr val="3333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简单接口红绿灯系统原理图</a:t>
            </a:r>
            <a:r>
              <a:rPr lang="en-US" altLang="zh-CN" b="1" i="0" dirty="0">
                <a:solidFill>
                  <a:srgbClr val="3333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-- </a:t>
            </a:r>
            <a:r>
              <a:rPr lang="zh-CN" altLang="en-US" b="1" i="0" dirty="0">
                <a:solidFill>
                  <a:srgbClr val="3333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输出接口部分</a:t>
            </a:r>
            <a:endParaRPr lang="zh-CN" altLang="en-US" b="1" i="0" dirty="0">
              <a:solidFill>
                <a:srgbClr val="3333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2"/>
            </p:custDataLst>
          </p:nvPr>
        </p:nvGraphicFramePr>
        <p:xfrm>
          <a:off x="224473" y="3000693"/>
          <a:ext cx="8796655" cy="374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7745"/>
                <a:gridCol w="459740"/>
                <a:gridCol w="307340"/>
                <a:gridCol w="958215"/>
                <a:gridCol w="958850"/>
                <a:gridCol w="958850"/>
                <a:gridCol w="958850"/>
                <a:gridCol w="958215"/>
                <a:gridCol w="958850"/>
              </a:tblGrid>
              <a:tr h="1188720">
                <a:tc>
                  <a:txBody>
                    <a:bodyPr/>
                    <a:p>
                      <a:pPr algn="ctr" fontAlgn="auto">
                        <a:buNone/>
                      </a:pP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  <a:p>
                      <a:pPr algn="ctr" fontAlgn="auto">
                        <a:buNone/>
                      </a:pPr>
                      <a:r>
                        <a:rPr lang="zh-CN" altLang="en-US">
                          <a:solidFill>
                            <a:schemeClr val="tx1"/>
                          </a:solidFill>
                        </a:rPr>
                        <a:t>红绿灯控制码值与对应红绿灯</a:t>
                      </a:r>
                      <a:r>
                        <a:rPr lang="zh-CN" altLang="en-US">
                          <a:solidFill>
                            <a:schemeClr val="tx1"/>
                          </a:solidFill>
                        </a:rPr>
                        <a:t>状态</a:t>
                      </a:r>
                      <a:endParaRPr lang="zh-C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auto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A7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auto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A6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auto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A5-AB2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  <a:p>
                      <a:pPr algn="ctr" fontAlgn="auto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zh-CN" altLang="en-US">
                          <a:solidFill>
                            <a:schemeClr val="tx1"/>
                          </a:solidFill>
                        </a:rPr>
                        <a:t>南北道黄灯</a:t>
                      </a: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auto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A4-AB1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  <a:p>
                      <a:pPr algn="ctr" fontAlgn="auto">
                        <a:buNone/>
                      </a:pPr>
                      <a:r>
                        <a:rPr lang="en-US" altLang="zh-CN" sz="1800">
                          <a:solidFill>
                            <a:schemeClr val="tx1"/>
                          </a:solidFill>
                          <a:sym typeface="+mn-ea"/>
                        </a:rPr>
                        <a:t>(</a:t>
                      </a:r>
                      <a:r>
                        <a:rPr lang="zh-CN" altLang="en-US" sz="1800">
                          <a:solidFill>
                            <a:schemeClr val="tx1"/>
                          </a:solidFill>
                          <a:sym typeface="+mn-ea"/>
                        </a:rPr>
                        <a:t>南北道绿灯</a:t>
                      </a:r>
                      <a:r>
                        <a:rPr lang="en-US" altLang="zh-CN" sz="1800">
                          <a:solidFill>
                            <a:schemeClr val="tx1"/>
                          </a:solidFill>
                          <a:sym typeface="+mn-ea"/>
                        </a:rPr>
                        <a:t>)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auto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A3-AB0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  <a:p>
                      <a:pPr algn="ctr" fontAlgn="auto">
                        <a:buNone/>
                      </a:pPr>
                      <a:r>
                        <a:rPr lang="en-US" altLang="zh-CN" sz="1800">
                          <a:solidFill>
                            <a:schemeClr val="tx1"/>
                          </a:solidFill>
                          <a:sym typeface="+mn-ea"/>
                        </a:rPr>
                        <a:t>(</a:t>
                      </a:r>
                      <a:r>
                        <a:rPr lang="zh-CN" altLang="en-US" sz="1800">
                          <a:solidFill>
                            <a:schemeClr val="tx1"/>
                          </a:solidFill>
                          <a:sym typeface="+mn-ea"/>
                        </a:rPr>
                        <a:t>南北道</a:t>
                      </a:r>
                      <a:r>
                        <a:rPr lang="zh-CN" altLang="en-US" sz="1800">
                          <a:solidFill>
                            <a:schemeClr val="tx1"/>
                          </a:solidFill>
                          <a:sym typeface="+mn-ea"/>
                        </a:rPr>
                        <a:t>红灯</a:t>
                      </a:r>
                      <a:r>
                        <a:rPr lang="en-US" altLang="zh-CN" sz="1800">
                          <a:solidFill>
                            <a:schemeClr val="tx1"/>
                          </a:solidFill>
                          <a:sym typeface="+mn-ea"/>
                        </a:rPr>
                        <a:t>)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auto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A2-AA2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  <a:p>
                      <a:pPr algn="ctr" fontAlgn="auto">
                        <a:buNone/>
                      </a:pPr>
                      <a:r>
                        <a:rPr lang="en-US" altLang="zh-CN" sz="1800">
                          <a:solidFill>
                            <a:schemeClr val="tx1"/>
                          </a:solidFill>
                          <a:sym typeface="+mn-ea"/>
                        </a:rPr>
                        <a:t>(</a:t>
                      </a:r>
                      <a:r>
                        <a:rPr lang="zh-CN" altLang="en-US" sz="1800">
                          <a:solidFill>
                            <a:schemeClr val="tx1"/>
                          </a:solidFill>
                          <a:sym typeface="+mn-ea"/>
                        </a:rPr>
                        <a:t>东西道黄灯</a:t>
                      </a:r>
                      <a:r>
                        <a:rPr lang="en-US" altLang="zh-CN" sz="1800">
                          <a:solidFill>
                            <a:schemeClr val="tx1"/>
                          </a:solidFill>
                          <a:sym typeface="+mn-ea"/>
                        </a:rPr>
                        <a:t>)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auto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A1-AA1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  <a:p>
                      <a:pPr algn="ctr" fontAlgn="auto">
                        <a:buNone/>
                      </a:pPr>
                      <a:r>
                        <a:rPr lang="en-US" altLang="zh-CN" sz="1800">
                          <a:solidFill>
                            <a:schemeClr val="tx1"/>
                          </a:solidFill>
                          <a:sym typeface="+mn-ea"/>
                        </a:rPr>
                        <a:t>(</a:t>
                      </a:r>
                      <a:r>
                        <a:rPr lang="zh-CN" altLang="en-US" sz="1800">
                          <a:solidFill>
                            <a:schemeClr val="tx1"/>
                          </a:solidFill>
                          <a:sym typeface="+mn-ea"/>
                        </a:rPr>
                        <a:t>东西道绿灯</a:t>
                      </a:r>
                      <a:r>
                        <a:rPr lang="en-US" altLang="zh-CN" sz="1800">
                          <a:solidFill>
                            <a:schemeClr val="tx1"/>
                          </a:solidFill>
                          <a:sym typeface="+mn-ea"/>
                        </a:rPr>
                        <a:t>)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auto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A0-AA0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  <a:p>
                      <a:pPr algn="ctr" fontAlgn="auto">
                        <a:buNone/>
                      </a:pPr>
                      <a:r>
                        <a:rPr lang="en-US" altLang="zh-CN" sz="1800">
                          <a:solidFill>
                            <a:schemeClr val="tx1"/>
                          </a:solidFill>
                          <a:sym typeface="+mn-ea"/>
                        </a:rPr>
                        <a:t>(</a:t>
                      </a:r>
                      <a:r>
                        <a:rPr lang="zh-CN" altLang="en-US" sz="1800">
                          <a:solidFill>
                            <a:schemeClr val="tx1"/>
                          </a:solidFill>
                          <a:sym typeface="+mn-ea"/>
                        </a:rPr>
                        <a:t>东西道</a:t>
                      </a:r>
                      <a:r>
                        <a:rPr lang="zh-CN" altLang="en-US" sz="1800">
                          <a:solidFill>
                            <a:schemeClr val="tx1"/>
                          </a:solidFill>
                          <a:sym typeface="+mn-ea"/>
                        </a:rPr>
                        <a:t>红灯</a:t>
                      </a:r>
                      <a:r>
                        <a:rPr lang="en-US" altLang="zh-CN" sz="1800">
                          <a:solidFill>
                            <a:schemeClr val="tx1"/>
                          </a:solidFill>
                          <a:sym typeface="+mn-ea"/>
                        </a:rPr>
                        <a:t>)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14020">
                <a:tc>
                  <a:txBody>
                    <a:bodyPr/>
                    <a:p>
                      <a:pPr algn="ctr" fontAlgn="auto"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南北道</a:t>
                      </a:r>
                      <a:r>
                        <a:rPr lang="zh-CN" altLang="en-US" b="1">
                          <a:solidFill>
                            <a:srgbClr val="FF0000"/>
                          </a:solidFill>
                        </a:rPr>
                        <a:t>红</a:t>
                      </a: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灯亮，东西道</a:t>
                      </a:r>
                      <a:r>
                        <a:rPr lang="zh-CN" altLang="en-US" b="1">
                          <a:solidFill>
                            <a:srgbClr val="FF0000"/>
                          </a:solidFill>
                        </a:rPr>
                        <a:t>绿</a:t>
                      </a: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灯亮，持续</a:t>
                      </a:r>
                      <a:r>
                        <a:rPr lang="en-US" altLang="zh-CN" b="1">
                          <a:solidFill>
                            <a:schemeClr val="tx1"/>
                          </a:solidFill>
                        </a:rPr>
                        <a:t>7</a:t>
                      </a: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秒；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auto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auto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auto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auto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auto">
                        <a:buNone/>
                      </a:pPr>
                      <a:r>
                        <a:rPr lang="en-US" altLang="zh-CN" b="1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altLang="zh-CN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auto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auto">
                        <a:buNone/>
                      </a:pPr>
                      <a:r>
                        <a:rPr lang="en-US" altLang="zh-CN" b="1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altLang="zh-CN" b="1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auto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14020">
                <a:tc>
                  <a:txBody>
                    <a:bodyPr/>
                    <a:p>
                      <a:pPr algn="ctr" fontAlgn="auto">
                        <a:buNone/>
                      </a:pPr>
                      <a:r>
                        <a:rPr lang="zh-CN" altLang="en-US" sz="1800" b="1">
                          <a:solidFill>
                            <a:schemeClr val="tx1"/>
                          </a:solidFill>
                          <a:sym typeface="+mn-ea"/>
                        </a:rPr>
                        <a:t>南北道</a:t>
                      </a:r>
                      <a:r>
                        <a:rPr lang="zh-CN" altLang="en-US" sz="1800" b="1">
                          <a:solidFill>
                            <a:srgbClr val="FF0000"/>
                          </a:solidFill>
                          <a:sym typeface="+mn-ea"/>
                        </a:rPr>
                        <a:t>红</a:t>
                      </a:r>
                      <a:r>
                        <a:rPr lang="zh-CN" altLang="en-US" sz="1800" b="1">
                          <a:solidFill>
                            <a:schemeClr val="tx1"/>
                          </a:solidFill>
                          <a:sym typeface="+mn-ea"/>
                        </a:rPr>
                        <a:t>灯亮，东西道</a:t>
                      </a:r>
                      <a:r>
                        <a:rPr lang="zh-CN" altLang="en-US" sz="1800" b="1">
                          <a:solidFill>
                            <a:srgbClr val="FF0000"/>
                          </a:solidFill>
                          <a:sym typeface="+mn-ea"/>
                        </a:rPr>
                        <a:t>黄</a:t>
                      </a:r>
                      <a:r>
                        <a:rPr lang="zh-CN" altLang="en-US" sz="1800" b="1">
                          <a:solidFill>
                            <a:schemeClr val="tx1"/>
                          </a:solidFill>
                          <a:sym typeface="+mn-ea"/>
                        </a:rPr>
                        <a:t>灯亮，持续</a:t>
                      </a:r>
                      <a:r>
                        <a:rPr lang="en-US" altLang="zh-CN" sz="1800" b="1">
                          <a:solidFill>
                            <a:schemeClr val="tx1"/>
                          </a:solidFill>
                          <a:sym typeface="+mn-ea"/>
                        </a:rPr>
                        <a:t>3</a:t>
                      </a:r>
                      <a:r>
                        <a:rPr lang="zh-CN" altLang="en-US" sz="1800" b="1">
                          <a:solidFill>
                            <a:schemeClr val="tx1"/>
                          </a:solidFill>
                          <a:sym typeface="+mn-ea"/>
                        </a:rPr>
                        <a:t>秒；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auto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auto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auto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auto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auto">
                        <a:buNone/>
                      </a:pPr>
                      <a:r>
                        <a:rPr lang="en-US" altLang="zh-CN" b="1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altLang="zh-CN" b="1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auto">
                        <a:buNone/>
                      </a:pPr>
                      <a:r>
                        <a:rPr lang="en-US" altLang="zh-CN" b="1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altLang="zh-CN" b="1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auto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auto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14020">
                <a:tc>
                  <a:txBody>
                    <a:bodyPr/>
                    <a:p>
                      <a:pPr algn="ctr" fontAlgn="auto">
                        <a:buNone/>
                      </a:pPr>
                      <a:r>
                        <a:rPr lang="zh-CN" altLang="en-US" sz="1800" b="1">
                          <a:solidFill>
                            <a:schemeClr val="tx1"/>
                          </a:solidFill>
                          <a:sym typeface="+mn-ea"/>
                        </a:rPr>
                        <a:t>南北道</a:t>
                      </a:r>
                      <a:r>
                        <a:rPr lang="zh-CN" altLang="en-US" sz="1800" b="1">
                          <a:solidFill>
                            <a:srgbClr val="FF0000"/>
                          </a:solidFill>
                          <a:sym typeface="+mn-ea"/>
                        </a:rPr>
                        <a:t>绿</a:t>
                      </a:r>
                      <a:r>
                        <a:rPr lang="zh-CN" altLang="en-US" sz="1800" b="1">
                          <a:solidFill>
                            <a:schemeClr val="tx1"/>
                          </a:solidFill>
                          <a:sym typeface="+mn-ea"/>
                        </a:rPr>
                        <a:t>灯亮，东西道</a:t>
                      </a:r>
                      <a:r>
                        <a:rPr lang="zh-CN" altLang="en-US" sz="1800" b="1">
                          <a:solidFill>
                            <a:srgbClr val="FF0000"/>
                          </a:solidFill>
                          <a:sym typeface="+mn-ea"/>
                        </a:rPr>
                        <a:t>红</a:t>
                      </a:r>
                      <a:r>
                        <a:rPr lang="zh-CN" altLang="en-US" sz="1800" b="1">
                          <a:solidFill>
                            <a:schemeClr val="tx1"/>
                          </a:solidFill>
                          <a:sym typeface="+mn-ea"/>
                        </a:rPr>
                        <a:t>灯亮，持续</a:t>
                      </a:r>
                      <a:r>
                        <a:rPr lang="en-US" altLang="zh-CN" sz="1800" b="1">
                          <a:solidFill>
                            <a:schemeClr val="tx1"/>
                          </a:solidFill>
                          <a:sym typeface="+mn-ea"/>
                        </a:rPr>
                        <a:t>7</a:t>
                      </a:r>
                      <a:r>
                        <a:rPr lang="zh-CN" altLang="en-US" sz="1800" b="1">
                          <a:solidFill>
                            <a:schemeClr val="tx1"/>
                          </a:solidFill>
                          <a:sym typeface="+mn-ea"/>
                        </a:rPr>
                        <a:t>秒；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auto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auto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auto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auto">
                        <a:buNone/>
                      </a:pPr>
                      <a:r>
                        <a:rPr lang="en-US" altLang="zh-CN" b="1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altLang="zh-CN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auto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auto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auto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auto">
                        <a:buNone/>
                      </a:pPr>
                      <a:r>
                        <a:rPr lang="en-US" altLang="zh-CN" b="1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altLang="zh-CN" b="1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14020">
                <a:tc>
                  <a:txBody>
                    <a:bodyPr/>
                    <a:p>
                      <a:pPr algn="ctr" fontAlgn="auto">
                        <a:buNone/>
                      </a:pPr>
                      <a:r>
                        <a:rPr lang="zh-CN" altLang="en-US" sz="1800" b="1">
                          <a:solidFill>
                            <a:schemeClr val="tx1"/>
                          </a:solidFill>
                          <a:sym typeface="+mn-ea"/>
                        </a:rPr>
                        <a:t>南北道</a:t>
                      </a:r>
                      <a:r>
                        <a:rPr lang="zh-CN" altLang="en-US" sz="1800" b="1">
                          <a:solidFill>
                            <a:srgbClr val="FF0000"/>
                          </a:solidFill>
                          <a:sym typeface="+mn-ea"/>
                        </a:rPr>
                        <a:t>黄</a:t>
                      </a:r>
                      <a:r>
                        <a:rPr lang="zh-CN" altLang="en-US" sz="1800" b="1">
                          <a:solidFill>
                            <a:schemeClr val="tx1"/>
                          </a:solidFill>
                          <a:sym typeface="+mn-ea"/>
                        </a:rPr>
                        <a:t>灯亮，东西道</a:t>
                      </a:r>
                      <a:r>
                        <a:rPr lang="zh-CN" altLang="en-US" sz="1800" b="1">
                          <a:solidFill>
                            <a:srgbClr val="FF0000"/>
                          </a:solidFill>
                          <a:sym typeface="+mn-ea"/>
                        </a:rPr>
                        <a:t>红</a:t>
                      </a:r>
                      <a:r>
                        <a:rPr lang="zh-CN" altLang="en-US" sz="1800" b="1">
                          <a:solidFill>
                            <a:schemeClr val="tx1"/>
                          </a:solidFill>
                          <a:sym typeface="+mn-ea"/>
                        </a:rPr>
                        <a:t>灯亮，持续</a:t>
                      </a:r>
                      <a:r>
                        <a:rPr lang="en-US" altLang="zh-CN" sz="1800" b="1">
                          <a:solidFill>
                            <a:schemeClr val="tx1"/>
                          </a:solidFill>
                          <a:sym typeface="+mn-ea"/>
                        </a:rPr>
                        <a:t>3</a:t>
                      </a:r>
                      <a:r>
                        <a:rPr lang="zh-CN" altLang="en-US" sz="1800" b="1">
                          <a:solidFill>
                            <a:schemeClr val="tx1"/>
                          </a:solidFill>
                          <a:sym typeface="+mn-ea"/>
                        </a:rPr>
                        <a:t>秒；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auto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auto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auto">
                        <a:buNone/>
                      </a:pPr>
                      <a:r>
                        <a:rPr lang="en-US" altLang="zh-CN" b="1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altLang="zh-CN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auto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auto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auto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auto"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auto">
                        <a:buNone/>
                      </a:pPr>
                      <a:r>
                        <a:rPr lang="en-US" altLang="zh-CN" b="1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altLang="zh-CN" b="1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91139" name="Text Box 3"/>
          <p:cNvSpPr txBox="1"/>
          <p:nvPr/>
        </p:nvSpPr>
        <p:spPr>
          <a:xfrm>
            <a:off x="2909888" y="785813"/>
            <a:ext cx="2235200" cy="8604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2000" i="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OUT 02H, AL</a:t>
            </a:r>
            <a:endParaRPr lang="en-US" altLang="zh-CN" sz="2000" i="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sz="2000" i="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;02H=0000 0010B</a:t>
            </a:r>
            <a:endParaRPr lang="en-US" altLang="zh-CN" sz="2000" i="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1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3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6865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" y="306070"/>
            <a:ext cx="4588510" cy="636460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6866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6463" y="764540"/>
            <a:ext cx="3944937" cy="31464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6867" name="Rectangle 34"/>
          <p:cNvSpPr/>
          <p:nvPr/>
        </p:nvSpPr>
        <p:spPr>
          <a:xfrm>
            <a:off x="4716463" y="188913"/>
            <a:ext cx="1612900" cy="522287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ClrTx/>
              <a:buFontTx/>
            </a:pPr>
            <a:r>
              <a:rPr lang="zh-CN" altLang="en-US" sz="2800" i="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参考程序</a:t>
            </a:r>
            <a:endParaRPr lang="zh-CN" altLang="en-US" sz="2800" i="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1" name="Rectangle 3"/>
          <p:cNvSpPr>
            <a:spLocks noGrp="1"/>
          </p:cNvSpPr>
          <p:nvPr>
            <p:ph idx="1"/>
          </p:nvPr>
        </p:nvSpPr>
        <p:spPr>
          <a:xfrm>
            <a:off x="544195" y="1474470"/>
            <a:ext cx="8411210" cy="4658360"/>
          </a:xfrm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en-US" altLang="zh-CN" sz="3600" b="1" dirty="0"/>
              <a:t>p150</a:t>
            </a:r>
            <a:endParaRPr lang="en-US" altLang="zh-CN" sz="3600" b="1" dirty="0"/>
          </a:p>
          <a:p>
            <a:pPr eaLnBrk="1" hangingPunct="1">
              <a:buNone/>
            </a:pPr>
            <a:r>
              <a:rPr lang="en-US" altLang="zh-CN" sz="3600" b="1" dirty="0"/>
              <a:t>5.2,    5.3,   5.4,   5.5</a:t>
            </a:r>
            <a:endParaRPr lang="en-US" altLang="zh-CN" sz="3600" b="1" dirty="0"/>
          </a:p>
        </p:txBody>
      </p:sp>
      <p:sp>
        <p:nvSpPr>
          <p:cNvPr id="10243" name="矩形 59"/>
          <p:cNvSpPr/>
          <p:nvPr>
            <p:custDataLst>
              <p:tags r:id="rId1"/>
            </p:custDataLst>
          </p:nvPr>
        </p:nvSpPr>
        <p:spPr>
          <a:xfrm>
            <a:off x="822325" y="501650"/>
            <a:ext cx="815975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 algn="l"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——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习题</a:t>
            </a:r>
            <a:endParaRPr lang="zh-CN" altLang="en-US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M_BEAUTIFY_FLAG" val="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BEAUTIFY_FLAG" val="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BEAUTIFY_FLAG" val=""/>
</p:tagLst>
</file>

<file path=ppt/tags/tag178.xml><?xml version="1.0" encoding="utf-8"?>
<p:tagLst xmlns:p="http://schemas.openxmlformats.org/presentationml/2006/main">
  <p:tag name="KSO_WM_BEAUTIFY_FLAG" val=""/>
</p:tagLst>
</file>

<file path=ppt/tags/tag179.xml><?xml version="1.0" encoding="utf-8"?>
<p:tagLst xmlns:p="http://schemas.openxmlformats.org/presentationml/2006/main">
  <p:tag name="KSO_WM_BEAUTIFY_FLAG" val=""/>
</p:tagLst>
</file>

<file path=ppt/tags/tag180.xml><?xml version="1.0" encoding="utf-8"?>
<p:tagLst xmlns:p="http://schemas.openxmlformats.org/presentationml/2006/main">
  <p:tag name="KSO_WM_BEAUTIFY_FLAG" val=""/>
</p:tagLst>
</file>

<file path=ppt/tags/tag181.xml><?xml version="1.0" encoding="utf-8"?>
<p:tagLst xmlns:p="http://schemas.openxmlformats.org/presentationml/2006/main">
  <p:tag name="KSO_WM_BEAUTIFY_FLAG" val=""/>
</p:tagLst>
</file>

<file path=ppt/tags/tag182.xml><?xml version="1.0" encoding="utf-8"?>
<p:tagLst xmlns:p="http://schemas.openxmlformats.org/presentationml/2006/main">
  <p:tag name="KSO_WM_BEAUTIFY_FLAG" val=""/>
</p:tagLst>
</file>

<file path=ppt/tags/tag183.xml><?xml version="1.0" encoding="utf-8"?>
<p:tagLst xmlns:p="http://schemas.openxmlformats.org/presentationml/2006/main">
  <p:tag name="KSO_WM_BEAUTIFY_FLAG" val=""/>
</p:tagLst>
</file>

<file path=ppt/tags/tag184.xml><?xml version="1.0" encoding="utf-8"?>
<p:tagLst xmlns:p="http://schemas.openxmlformats.org/presentationml/2006/main">
  <p:tag name="KSO_WM_BEAUTIFY_FLAG" val=""/>
</p:tagLst>
</file>

<file path=ppt/tags/tag185.xml><?xml version="1.0" encoding="utf-8"?>
<p:tagLst xmlns:p="http://schemas.openxmlformats.org/presentationml/2006/main">
  <p:tag name="KSO_WM_BEAUTIFY_FLAG" val=""/>
</p:tagLst>
</file>

<file path=ppt/tags/tag186.xml><?xml version="1.0" encoding="utf-8"?>
<p:tagLst xmlns:p="http://schemas.openxmlformats.org/presentationml/2006/main">
  <p:tag name="KSO_WM_BEAUTIFY_FLAG" val=""/>
</p:tagLst>
</file>

<file path=ppt/tags/tag187.xml><?xml version="1.0" encoding="utf-8"?>
<p:tagLst xmlns:p="http://schemas.openxmlformats.org/presentationml/2006/main">
  <p:tag name="KSO_WM_BEAUTIFY_FLAG" val=""/>
</p:tagLst>
</file>

<file path=ppt/tags/tag188.xml><?xml version="1.0" encoding="utf-8"?>
<p:tagLst xmlns:p="http://schemas.openxmlformats.org/presentationml/2006/main">
  <p:tag name="KSO_WM_BEAUTIFY_FLAG" val=""/>
</p:tagLst>
</file>

<file path=ppt/tags/tag189.xml><?xml version="1.0" encoding="utf-8"?>
<p:tagLst xmlns:p="http://schemas.openxmlformats.org/presentationml/2006/main">
  <p:tag name="KSO_WM_BEAUTIFY_FLAG" val=""/>
</p:tagLst>
</file>

<file path=ppt/tags/tag190.xml><?xml version="1.0" encoding="utf-8"?>
<p:tagLst xmlns:p="http://schemas.openxmlformats.org/presentationml/2006/main">
  <p:tag name="KSO_WM_BEAUTIFY_FLAG" val=""/>
</p:tagLst>
</file>

<file path=ppt/tags/tag191.xml><?xml version="1.0" encoding="utf-8"?>
<p:tagLst xmlns:p="http://schemas.openxmlformats.org/presentationml/2006/main">
  <p:tag name="KSO_WM_BEAUTIFY_FLAG" val=""/>
</p:tagLst>
</file>

<file path=ppt/tags/tag192.xml><?xml version="1.0" encoding="utf-8"?>
<p:tagLst xmlns:p="http://schemas.openxmlformats.org/presentationml/2006/main">
  <p:tag name="KSO_WM_BEAUTIFY_FLAG" val=""/>
</p:tagLst>
</file>

<file path=ppt/tags/tag193.xml><?xml version="1.0" encoding="utf-8"?>
<p:tagLst xmlns:p="http://schemas.openxmlformats.org/presentationml/2006/main">
  <p:tag name="KSO_WM_BEAUTIFY_FLAG" val=""/>
</p:tagLst>
</file>

<file path=ppt/tags/tag194.xml><?xml version="1.0" encoding="utf-8"?>
<p:tagLst xmlns:p="http://schemas.openxmlformats.org/presentationml/2006/main">
  <p:tag name="KSO_WM_BEAUTIFY_FLAG" val=""/>
</p:tagLst>
</file>

<file path=ppt/tags/tag195.xml><?xml version="1.0" encoding="utf-8"?>
<p:tagLst xmlns:p="http://schemas.openxmlformats.org/presentationml/2006/main">
  <p:tag name="KSO_WM_BEAUTIFY_FLAG" val=""/>
</p:tagLst>
</file>

<file path=ppt/tags/tag196.xml><?xml version="1.0" encoding="utf-8"?>
<p:tagLst xmlns:p="http://schemas.openxmlformats.org/presentationml/2006/main">
  <p:tag name="KSO_WM_BEAUTIFY_FLAG" val=""/>
</p:tagLst>
</file>

<file path=ppt/tags/tag197.xml><?xml version="1.0" encoding="utf-8"?>
<p:tagLst xmlns:p="http://schemas.openxmlformats.org/presentationml/2006/main">
  <p:tag name="KSO_WM_BEAUTIFY_FLAG" val=""/>
</p:tagLst>
</file>

<file path=ppt/tags/tag198.xml><?xml version="1.0" encoding="utf-8"?>
<p:tagLst xmlns:p="http://schemas.openxmlformats.org/presentationml/2006/main">
  <p:tag name="KSO_WM_BEAUTIFY_FLAG" val=""/>
</p:tagLst>
</file>

<file path=ppt/tags/tag199.xml><?xml version="1.0" encoding="utf-8"?>
<p:tagLst xmlns:p="http://schemas.openxmlformats.org/presentationml/2006/main">
  <p:tag name="KSO_WM_BEAUTIFY_FLAG" val=""/>
</p:tagLst>
</file>

<file path=ppt/tags/tag200.xml><?xml version="1.0" encoding="utf-8"?>
<p:tagLst xmlns:p="http://schemas.openxmlformats.org/presentationml/2006/main">
  <p:tag name="KSO_WM_BEAUTIFY_FLAG" val=""/>
</p:tagLst>
</file>

<file path=ppt/tags/tag201.xml><?xml version="1.0" encoding="utf-8"?>
<p:tagLst xmlns:p="http://schemas.openxmlformats.org/presentationml/2006/main">
  <p:tag name="KSO_WM_BEAUTIFY_FLAG" val=""/>
</p:tagLst>
</file>

<file path=ppt/tags/tag202.xml><?xml version="1.0" encoding="utf-8"?>
<p:tagLst xmlns:p="http://schemas.openxmlformats.org/presentationml/2006/main">
  <p:tag name="KSO_WM_BEAUTIFY_FLAG" val=""/>
</p:tagLst>
</file>

<file path=ppt/tags/tag203.xml><?xml version="1.0" encoding="utf-8"?>
<p:tagLst xmlns:p="http://schemas.openxmlformats.org/presentationml/2006/main">
  <p:tag name="KSO_WM_UNIT_TABLE_BEAUTIFY" val="smartTable{14ecc7cf-87eb-4d91-9314-87788e465dff}"/>
  <p:tag name="TABLE_ENDDRAG_ORIGIN_RECT" val="360*162"/>
  <p:tag name="TABLE_ENDDRAG_RECT" val="288*156*360*162"/>
  <p:tag name="KSO_WM_BEAUTIFY_FLAG" val=""/>
</p:tagLst>
</file>

<file path=ppt/tags/tag204.xml><?xml version="1.0" encoding="utf-8"?>
<p:tagLst xmlns:p="http://schemas.openxmlformats.org/presentationml/2006/main">
  <p:tag name="KSO_WM_BEAUTIFY_FLAG" val=""/>
</p:tagLst>
</file>

<file path=ppt/tags/tag205.xml><?xml version="1.0" encoding="utf-8"?>
<p:tagLst xmlns:p="http://schemas.openxmlformats.org/presentationml/2006/main">
  <p:tag name="KSO_WM_BEAUTIFY_FLAG" val=""/>
</p:tagLst>
</file>

<file path=ppt/tags/tag206.xml><?xml version="1.0" encoding="utf-8"?>
<p:tagLst xmlns:p="http://schemas.openxmlformats.org/presentationml/2006/main">
  <p:tag name="KSO_WM_BEAUTIFY_FLAG" val=""/>
</p:tagLst>
</file>

<file path=ppt/tags/tag207.xml><?xml version="1.0" encoding="utf-8"?>
<p:tagLst xmlns:p="http://schemas.openxmlformats.org/presentationml/2006/main">
  <p:tag name="KSO_WM_BEAUTIFY_FLAG" val=""/>
</p:tagLst>
</file>

<file path=ppt/tags/tag208.xml><?xml version="1.0" encoding="utf-8"?>
<p:tagLst xmlns:p="http://schemas.openxmlformats.org/presentationml/2006/main">
  <p:tag name="KSO_WM_BEAUTIFY_FLAG" val=""/>
</p:tagLst>
</file>

<file path=ppt/tags/tag209.xml><?xml version="1.0" encoding="utf-8"?>
<p:tagLst xmlns:p="http://schemas.openxmlformats.org/presentationml/2006/main">
  <p:tag name="KSO_WM_BEAUTIFY_FLAG" val=""/>
</p:tagLst>
</file>

<file path=ppt/tags/tag210.xml><?xml version="1.0" encoding="utf-8"?>
<p:tagLst xmlns:p="http://schemas.openxmlformats.org/presentationml/2006/main">
  <p:tag name="KSO_WM_UNIT_TABLE_BEAUTIFY" val="smartTable{14ecc7cf-87eb-4d91-9314-87788e465dff}"/>
  <p:tag name="TABLE_ENDDRAG_ORIGIN_RECT" val="363*152"/>
  <p:tag name="TABLE_ENDDRAG_RECT" val="223*128*363*152"/>
</p:tagLst>
</file>

<file path=ppt/tags/tag211.xml><?xml version="1.0" encoding="utf-8"?>
<p:tagLst xmlns:p="http://schemas.openxmlformats.org/presentationml/2006/main">
  <p:tag name="KSO_WM_BEAUTIFY_FLAG" val=""/>
</p:tagLst>
</file>

<file path=ppt/tags/tag212.xml><?xml version="1.0" encoding="utf-8"?>
<p:tagLst xmlns:p="http://schemas.openxmlformats.org/presentationml/2006/main">
  <p:tag name="KSO_WM_BEAUTIFY_FLAG" val=""/>
</p:tagLst>
</file>

<file path=ppt/tags/tag213.xml><?xml version="1.0" encoding="utf-8"?>
<p:tagLst xmlns:p="http://schemas.openxmlformats.org/presentationml/2006/main">
  <p:tag name="KSO_WM_BEAUTIFY_FLAG" val=""/>
</p:tagLst>
</file>

<file path=ppt/tags/tag214.xml><?xml version="1.0" encoding="utf-8"?>
<p:tagLst xmlns:p="http://schemas.openxmlformats.org/presentationml/2006/main">
  <p:tag name="KSO_WM_BEAUTIFY_FLAG" val=""/>
</p:tagLst>
</file>

<file path=ppt/tags/tag215.xml><?xml version="1.0" encoding="utf-8"?>
<p:tagLst xmlns:p="http://schemas.openxmlformats.org/presentationml/2006/main">
  <p:tag name="KSO_WM_UNIT_TABLE_BEAUTIFY" val="smartTable{aaec372e-6ffb-4610-80b9-60601530762c}"/>
  <p:tag name="TABLE_ENDDRAG_ORIGIN_RECT" val="363*152"/>
  <p:tag name="TABLE_ENDDRAG_RECT" val="223*128*363*152"/>
</p:tagLst>
</file>

<file path=ppt/tags/tag216.xml><?xml version="1.0" encoding="utf-8"?>
<p:tagLst xmlns:p="http://schemas.openxmlformats.org/presentationml/2006/main">
  <p:tag name="KSO_WM_BEAUTIFY_FLAG" val=""/>
</p:tagLst>
</file>

<file path=ppt/tags/tag217.xml><?xml version="1.0" encoding="utf-8"?>
<p:tagLst xmlns:p="http://schemas.openxmlformats.org/presentationml/2006/main">
  <p:tag name="KSO_WM_BEAUTIFY_FLAG" val=""/>
</p:tagLst>
</file>

<file path=ppt/tags/tag218.xml><?xml version="1.0" encoding="utf-8"?>
<p:tagLst xmlns:p="http://schemas.openxmlformats.org/presentationml/2006/main">
  <p:tag name="KSO_WM_BEAUTIFY_FLAG" val=""/>
</p:tagLst>
</file>

<file path=ppt/tags/tag219.xml><?xml version="1.0" encoding="utf-8"?>
<p:tagLst xmlns:p="http://schemas.openxmlformats.org/presentationml/2006/main">
  <p:tag name="KSO_WM_BEAUTIFY_FLAG" val=""/>
</p:tagLst>
</file>

<file path=ppt/tags/tag220.xml><?xml version="1.0" encoding="utf-8"?>
<p:tagLst xmlns:p="http://schemas.openxmlformats.org/presentationml/2006/main">
  <p:tag name="KSO_WM_BEAUTIFY_FLAG" val=""/>
</p:tagLst>
</file>

<file path=ppt/tags/tag221.xml><?xml version="1.0" encoding="utf-8"?>
<p:tagLst xmlns:p="http://schemas.openxmlformats.org/presentationml/2006/main">
  <p:tag name="KSO_WM_BEAUTIFY_FLAG" val=""/>
</p:tagLst>
</file>

<file path=ppt/tags/tag222.xml><?xml version="1.0" encoding="utf-8"?>
<p:tagLst xmlns:p="http://schemas.openxmlformats.org/presentationml/2006/main">
  <p:tag name="KSO_WM_BEAUTIFY_FLAG" val=""/>
</p:tagLst>
</file>

<file path=ppt/tags/tag223.xml><?xml version="1.0" encoding="utf-8"?>
<p:tagLst xmlns:p="http://schemas.openxmlformats.org/presentationml/2006/main">
  <p:tag name="KSO_WM_BEAUTIFY_FLAG" val=""/>
</p:tagLst>
</file>

<file path=ppt/tags/tag224.xml><?xml version="1.0" encoding="utf-8"?>
<p:tagLst xmlns:p="http://schemas.openxmlformats.org/presentationml/2006/main">
  <p:tag name="KSO_WM_BEAUTIFY_FLAG" val=""/>
</p:tagLst>
</file>

<file path=ppt/tags/tag225.xml><?xml version="1.0" encoding="utf-8"?>
<p:tagLst xmlns:p="http://schemas.openxmlformats.org/presentationml/2006/main">
  <p:tag name="KSO_WM_BEAUTIFY_FLAG" val=""/>
</p:tagLst>
</file>

<file path=ppt/tags/tag226.xml><?xml version="1.0" encoding="utf-8"?>
<p:tagLst xmlns:p="http://schemas.openxmlformats.org/presentationml/2006/main">
  <p:tag name="KSO_WM_BEAUTIFY_FLAG" val=""/>
</p:tagLst>
</file>

<file path=ppt/tags/tag227.xml><?xml version="1.0" encoding="utf-8"?>
<p:tagLst xmlns:p="http://schemas.openxmlformats.org/presentationml/2006/main">
  <p:tag name="KSO_WM_BEAUTIFY_FLAG" val=""/>
</p:tagLst>
</file>

<file path=ppt/tags/tag228.xml><?xml version="1.0" encoding="utf-8"?>
<p:tagLst xmlns:p="http://schemas.openxmlformats.org/presentationml/2006/main">
  <p:tag name="KSO_WM_BEAUTIFY_FLAG" val=""/>
</p:tagLst>
</file>

<file path=ppt/tags/tag229.xml><?xml version="1.0" encoding="utf-8"?>
<p:tagLst xmlns:p="http://schemas.openxmlformats.org/presentationml/2006/main">
  <p:tag name="KSO_WM_BEAUTIFY_FLAG" val=""/>
</p:tagLst>
</file>

<file path=ppt/tags/tag230.xml><?xml version="1.0" encoding="utf-8"?>
<p:tagLst xmlns:p="http://schemas.openxmlformats.org/presentationml/2006/main">
  <p:tag name="KSO_WM_BEAUTIFY_FLAG" val=""/>
</p:tagLst>
</file>

<file path=ppt/tags/tag231.xml><?xml version="1.0" encoding="utf-8"?>
<p:tagLst xmlns:p="http://schemas.openxmlformats.org/presentationml/2006/main">
  <p:tag name="KSO_WM_BEAUTIFY_FLAG" val=""/>
</p:tagLst>
</file>

<file path=ppt/tags/tag232.xml><?xml version="1.0" encoding="utf-8"?>
<p:tagLst xmlns:p="http://schemas.openxmlformats.org/presentationml/2006/main">
  <p:tag name="KSO_WM_BEAUTIFY_FLAG" val=""/>
</p:tagLst>
</file>

<file path=ppt/tags/tag233.xml><?xml version="1.0" encoding="utf-8"?>
<p:tagLst xmlns:p="http://schemas.openxmlformats.org/presentationml/2006/main">
  <p:tag name="KSO_WM_BEAUTIFY_FLAG" val=""/>
</p:tagLst>
</file>

<file path=ppt/tags/tag234.xml><?xml version="1.0" encoding="utf-8"?>
<p:tagLst xmlns:p="http://schemas.openxmlformats.org/presentationml/2006/main">
  <p:tag name="KSO_WM_BEAUTIFY_FLAG" val=""/>
</p:tagLst>
</file>

<file path=ppt/tags/tag235.xml><?xml version="1.0" encoding="utf-8"?>
<p:tagLst xmlns:p="http://schemas.openxmlformats.org/presentationml/2006/main">
  <p:tag name="KSO_WM_BEAUTIFY_FLAG" val=""/>
</p:tagLst>
</file>

<file path=ppt/tags/tag236.xml><?xml version="1.0" encoding="utf-8"?>
<p:tagLst xmlns:p="http://schemas.openxmlformats.org/presentationml/2006/main">
  <p:tag name="KSO_WM_BEAUTIFY_FLAG" val=""/>
</p:tagLst>
</file>

<file path=ppt/tags/tag237.xml><?xml version="1.0" encoding="utf-8"?>
<p:tagLst xmlns:p="http://schemas.openxmlformats.org/presentationml/2006/main">
  <p:tag name="KSO_WM_BEAUTIFY_FLAG" val=""/>
</p:tagLst>
</file>

<file path=ppt/tags/tag238.xml><?xml version="1.0" encoding="utf-8"?>
<p:tagLst xmlns:p="http://schemas.openxmlformats.org/presentationml/2006/main">
  <p:tag name="KSO_WM_BEAUTIFY_FLAG" val=""/>
</p:tagLst>
</file>

<file path=ppt/tags/tag239.xml><?xml version="1.0" encoding="utf-8"?>
<p:tagLst xmlns:p="http://schemas.openxmlformats.org/presentationml/2006/main">
  <p:tag name="KSO_WM_BEAUTIFY_FLAG" val=""/>
</p:tagLst>
</file>

<file path=ppt/tags/tag240.xml><?xml version="1.0" encoding="utf-8"?>
<p:tagLst xmlns:p="http://schemas.openxmlformats.org/presentationml/2006/main">
  <p:tag name="KSO_WM_BEAUTIFY_FLAG" val=""/>
</p:tagLst>
</file>

<file path=ppt/tags/tag241.xml><?xml version="1.0" encoding="utf-8"?>
<p:tagLst xmlns:p="http://schemas.openxmlformats.org/presentationml/2006/main">
  <p:tag name="KSO_WM_BEAUTIFY_FLAG" val=""/>
</p:tagLst>
</file>

<file path=ppt/tags/tag242.xml><?xml version="1.0" encoding="utf-8"?>
<p:tagLst xmlns:p="http://schemas.openxmlformats.org/presentationml/2006/main">
  <p:tag name="KSO_WM_BEAUTIFY_FLAG" val=""/>
</p:tagLst>
</file>

<file path=ppt/tags/tag243.xml><?xml version="1.0" encoding="utf-8"?>
<p:tagLst xmlns:p="http://schemas.openxmlformats.org/presentationml/2006/main">
  <p:tag name="KSO_WM_BEAUTIFY_FLAG" val=""/>
</p:tagLst>
</file>

<file path=ppt/tags/tag244.xml><?xml version="1.0" encoding="utf-8"?>
<p:tagLst xmlns:p="http://schemas.openxmlformats.org/presentationml/2006/main">
  <p:tag name="KSO_WM_BEAUTIFY_FLAG" val=""/>
</p:tagLst>
</file>

<file path=ppt/tags/tag245.xml><?xml version="1.0" encoding="utf-8"?>
<p:tagLst xmlns:p="http://schemas.openxmlformats.org/presentationml/2006/main">
  <p:tag name="KSO_WM_BEAUTIFY_FLAG" val=""/>
</p:tagLst>
</file>

<file path=ppt/tags/tag246.xml><?xml version="1.0" encoding="utf-8"?>
<p:tagLst xmlns:p="http://schemas.openxmlformats.org/presentationml/2006/main">
  <p:tag name="KSO_WM_BEAUTIFY_FLAG" val=""/>
</p:tagLst>
</file>

<file path=ppt/tags/tag247.xml><?xml version="1.0" encoding="utf-8"?>
<p:tagLst xmlns:p="http://schemas.openxmlformats.org/presentationml/2006/main">
  <p:tag name="KSO_WM_BEAUTIFY_FLAG" val=""/>
</p:tagLst>
</file>

<file path=ppt/tags/tag248.xml><?xml version="1.0" encoding="utf-8"?>
<p:tagLst xmlns:p="http://schemas.openxmlformats.org/presentationml/2006/main">
  <p:tag name="KSO_WM_BEAUTIFY_FLAG" val=""/>
</p:tagLst>
</file>

<file path=ppt/tags/tag249.xml><?xml version="1.0" encoding="utf-8"?>
<p:tagLst xmlns:p="http://schemas.openxmlformats.org/presentationml/2006/main">
  <p:tag name="KSO_WM_BEAUTIFY_FLAG" val=""/>
</p:tagLst>
</file>

<file path=ppt/tags/tag250.xml><?xml version="1.0" encoding="utf-8"?>
<p:tagLst xmlns:p="http://schemas.openxmlformats.org/presentationml/2006/main">
  <p:tag name="KSO_WM_BEAUTIFY_FLAG" val=""/>
</p:tagLst>
</file>

<file path=ppt/tags/tag251.xml><?xml version="1.0" encoding="utf-8"?>
<p:tagLst xmlns:p="http://schemas.openxmlformats.org/presentationml/2006/main">
  <p:tag name="KSO_WM_BEAUTIFY_FLAG" val=""/>
</p:tagLst>
</file>

<file path=ppt/tags/tag252.xml><?xml version="1.0" encoding="utf-8"?>
<p:tagLst xmlns:p="http://schemas.openxmlformats.org/presentationml/2006/main">
  <p:tag name="KSO_WM_BEAUTIFY_FLAG" val=""/>
</p:tagLst>
</file>

<file path=ppt/tags/tag253.xml><?xml version="1.0" encoding="utf-8"?>
<p:tagLst xmlns:p="http://schemas.openxmlformats.org/presentationml/2006/main">
  <p:tag name="KSO_WM_BEAUTIFY_FLAG" val=""/>
</p:tagLst>
</file>

<file path=ppt/tags/tag254.xml><?xml version="1.0" encoding="utf-8"?>
<p:tagLst xmlns:p="http://schemas.openxmlformats.org/presentationml/2006/main">
  <p:tag name="KSO_WM_BEAUTIFY_FLAG" val=""/>
</p:tagLst>
</file>

<file path=ppt/tags/tag255.xml><?xml version="1.0" encoding="utf-8"?>
<p:tagLst xmlns:p="http://schemas.openxmlformats.org/presentationml/2006/main">
  <p:tag name="KSO_WM_BEAUTIFY_FLAG" val=""/>
</p:tagLst>
</file>

<file path=ppt/tags/tag256.xml><?xml version="1.0" encoding="utf-8"?>
<p:tagLst xmlns:p="http://schemas.openxmlformats.org/presentationml/2006/main">
  <p:tag name="KSO_WM_BEAUTIFY_FLAG" val=""/>
</p:tagLst>
</file>

<file path=ppt/tags/tag257.xml><?xml version="1.0" encoding="utf-8"?>
<p:tagLst xmlns:p="http://schemas.openxmlformats.org/presentationml/2006/main">
  <p:tag name="KSO_WM_BEAUTIFY_FLAG" val=""/>
</p:tagLst>
</file>

<file path=ppt/tags/tag258.xml><?xml version="1.0" encoding="utf-8"?>
<p:tagLst xmlns:p="http://schemas.openxmlformats.org/presentationml/2006/main">
  <p:tag name="KSO_WM_BEAUTIFY_FLAG" val=""/>
</p:tagLst>
</file>

<file path=ppt/tags/tag259.xml><?xml version="1.0" encoding="utf-8"?>
<p:tagLst xmlns:p="http://schemas.openxmlformats.org/presentationml/2006/main">
  <p:tag name="KSO_WM_BEAUTIFY_FLAG" val=""/>
</p:tagLst>
</file>

<file path=ppt/tags/tag260.xml><?xml version="1.0" encoding="utf-8"?>
<p:tagLst xmlns:p="http://schemas.openxmlformats.org/presentationml/2006/main">
  <p:tag name="KSO_WM_BEAUTIFY_FLAG" val=""/>
</p:tagLst>
</file>

<file path=ppt/tags/tag261.xml><?xml version="1.0" encoding="utf-8"?>
<p:tagLst xmlns:p="http://schemas.openxmlformats.org/presentationml/2006/main">
  <p:tag name="KSO_WM_BEAUTIFY_FLAG" val=""/>
</p:tagLst>
</file>

<file path=ppt/tags/tag262.xml><?xml version="1.0" encoding="utf-8"?>
<p:tagLst xmlns:p="http://schemas.openxmlformats.org/presentationml/2006/main">
  <p:tag name="KSO_WM_BEAUTIFY_FLAG" val=""/>
</p:tagLst>
</file>

<file path=ppt/tags/tag263.xml><?xml version="1.0" encoding="utf-8"?>
<p:tagLst xmlns:p="http://schemas.openxmlformats.org/presentationml/2006/main">
  <p:tag name="KSO_WM_BEAUTIFY_FLAG" val=""/>
</p:tagLst>
</file>

<file path=ppt/tags/tag264.xml><?xml version="1.0" encoding="utf-8"?>
<p:tagLst xmlns:p="http://schemas.openxmlformats.org/presentationml/2006/main">
  <p:tag name="KSO_WM_BEAUTIFY_FLAG" val=""/>
</p:tagLst>
</file>

<file path=ppt/tags/tag265.xml><?xml version="1.0" encoding="utf-8"?>
<p:tagLst xmlns:p="http://schemas.openxmlformats.org/presentationml/2006/main">
  <p:tag name="KSO_WM_BEAUTIFY_FLAG" val=""/>
</p:tagLst>
</file>

<file path=ppt/tags/tag266.xml><?xml version="1.0" encoding="utf-8"?>
<p:tagLst xmlns:p="http://schemas.openxmlformats.org/presentationml/2006/main">
  <p:tag name="KSO_WM_BEAUTIFY_FLAG" val=""/>
</p:tagLst>
</file>

<file path=ppt/tags/tag267.xml><?xml version="1.0" encoding="utf-8"?>
<p:tagLst xmlns:p="http://schemas.openxmlformats.org/presentationml/2006/main">
  <p:tag name="KSO_WM_BEAUTIFY_FLAG" val=""/>
</p:tagLst>
</file>

<file path=ppt/tags/tag268.xml><?xml version="1.0" encoding="utf-8"?>
<p:tagLst xmlns:p="http://schemas.openxmlformats.org/presentationml/2006/main">
  <p:tag name="KSO_WM_BEAUTIFY_FLAG" val=""/>
</p:tagLst>
</file>

<file path=ppt/tags/tag269.xml><?xml version="1.0" encoding="utf-8"?>
<p:tagLst xmlns:p="http://schemas.openxmlformats.org/presentationml/2006/main">
  <p:tag name="KSO_WM_BEAUTIFY_FLAG" val=""/>
</p:tagLst>
</file>

<file path=ppt/tags/tag270.xml><?xml version="1.0" encoding="utf-8"?>
<p:tagLst xmlns:p="http://schemas.openxmlformats.org/presentationml/2006/main">
  <p:tag name="KSO_WM_BEAUTIFY_FLAG" val=""/>
</p:tagLst>
</file>

<file path=ppt/tags/tag271.xml><?xml version="1.0" encoding="utf-8"?>
<p:tagLst xmlns:p="http://schemas.openxmlformats.org/presentationml/2006/main">
  <p:tag name="KSO_WM_BEAUTIFY_FLAG" val=""/>
</p:tagLst>
</file>

<file path=ppt/tags/tag272.xml><?xml version="1.0" encoding="utf-8"?>
<p:tagLst xmlns:p="http://schemas.openxmlformats.org/presentationml/2006/main">
  <p:tag name="KSO_WM_BEAUTIFY_FLAG" val=""/>
</p:tagLst>
</file>

<file path=ppt/tags/tag273.xml><?xml version="1.0" encoding="utf-8"?>
<p:tagLst xmlns:p="http://schemas.openxmlformats.org/presentationml/2006/main">
  <p:tag name="KSO_WM_BEAUTIFY_FLAG" val=""/>
</p:tagLst>
</file>

<file path=ppt/tags/tag274.xml><?xml version="1.0" encoding="utf-8"?>
<p:tagLst xmlns:p="http://schemas.openxmlformats.org/presentationml/2006/main">
  <p:tag name="KSO_WM_BEAUTIFY_FLAG" val=""/>
</p:tagLst>
</file>

<file path=ppt/tags/tag275.xml><?xml version="1.0" encoding="utf-8"?>
<p:tagLst xmlns:p="http://schemas.openxmlformats.org/presentationml/2006/main">
  <p:tag name="KSO_WM_BEAUTIFY_FLAG" val=""/>
</p:tagLst>
</file>

<file path=ppt/tags/tag276.xml><?xml version="1.0" encoding="utf-8"?>
<p:tagLst xmlns:p="http://schemas.openxmlformats.org/presentationml/2006/main">
  <p:tag name="KSO_WM_BEAUTIFY_FLAG" val=""/>
</p:tagLst>
</file>

<file path=ppt/tags/tag277.xml><?xml version="1.0" encoding="utf-8"?>
<p:tagLst xmlns:p="http://schemas.openxmlformats.org/presentationml/2006/main">
  <p:tag name="KSO_WM_BEAUTIFY_FLAG" val=""/>
</p:tagLst>
</file>

<file path=ppt/tags/tag278.xml><?xml version="1.0" encoding="utf-8"?>
<p:tagLst xmlns:p="http://schemas.openxmlformats.org/presentationml/2006/main">
  <p:tag name="KSO_WM_BEAUTIFY_FLAG" val=""/>
</p:tagLst>
</file>

<file path=ppt/tags/tag279.xml><?xml version="1.0" encoding="utf-8"?>
<p:tagLst xmlns:p="http://schemas.openxmlformats.org/presentationml/2006/main">
  <p:tag name="KSO_WM_BEAUTIFY_FLAG" val=""/>
</p:tagLst>
</file>

<file path=ppt/tags/tag280.xml><?xml version="1.0" encoding="utf-8"?>
<p:tagLst xmlns:p="http://schemas.openxmlformats.org/presentationml/2006/main">
  <p:tag name="KSO_WM_BEAUTIFY_FLAG" val=""/>
</p:tagLst>
</file>

<file path=ppt/tags/tag281.xml><?xml version="1.0" encoding="utf-8"?>
<p:tagLst xmlns:p="http://schemas.openxmlformats.org/presentationml/2006/main">
  <p:tag name="KSO_WM_BEAUTIFY_FLAG" val=""/>
</p:tagLst>
</file>

<file path=ppt/tags/tag282.xml><?xml version="1.0" encoding="utf-8"?>
<p:tagLst xmlns:p="http://schemas.openxmlformats.org/presentationml/2006/main">
  <p:tag name="KSO_WM_BEAUTIFY_FLAG" val=""/>
</p:tagLst>
</file>

<file path=ppt/tags/tag283.xml><?xml version="1.0" encoding="utf-8"?>
<p:tagLst xmlns:p="http://schemas.openxmlformats.org/presentationml/2006/main">
  <p:tag name="KSO_WM_BEAUTIFY_FLAG" val=""/>
</p:tagLst>
</file>

<file path=ppt/tags/tag284.xml><?xml version="1.0" encoding="utf-8"?>
<p:tagLst xmlns:p="http://schemas.openxmlformats.org/presentationml/2006/main">
  <p:tag name="KSO_WM_BEAUTIFY_FLAG" val=""/>
</p:tagLst>
</file>

<file path=ppt/tags/tag285.xml><?xml version="1.0" encoding="utf-8"?>
<p:tagLst xmlns:p="http://schemas.openxmlformats.org/presentationml/2006/main">
  <p:tag name="KSO_WM_BEAUTIFY_FLAG" val=""/>
</p:tagLst>
</file>

<file path=ppt/tags/tag286.xml><?xml version="1.0" encoding="utf-8"?>
<p:tagLst xmlns:p="http://schemas.openxmlformats.org/presentationml/2006/main">
  <p:tag name="KSO_WM_BEAUTIFY_FLAG" val=""/>
</p:tagLst>
</file>

<file path=ppt/tags/tag287.xml><?xml version="1.0" encoding="utf-8"?>
<p:tagLst xmlns:p="http://schemas.openxmlformats.org/presentationml/2006/main">
  <p:tag name="KSO_WM_BEAUTIFY_FLAG" val=""/>
</p:tagLst>
</file>

<file path=ppt/tags/tag288.xml><?xml version="1.0" encoding="utf-8"?>
<p:tagLst xmlns:p="http://schemas.openxmlformats.org/presentationml/2006/main">
  <p:tag name="KSO_WM_BEAUTIFY_FLAG" val=""/>
</p:tagLst>
</file>

<file path=ppt/tags/tag289.xml><?xml version="1.0" encoding="utf-8"?>
<p:tagLst xmlns:p="http://schemas.openxmlformats.org/presentationml/2006/main">
  <p:tag name="KSO_WM_BEAUTIFY_FLAG" val=""/>
</p:tagLst>
</file>

<file path=ppt/tags/tag290.xml><?xml version="1.0" encoding="utf-8"?>
<p:tagLst xmlns:p="http://schemas.openxmlformats.org/presentationml/2006/main">
  <p:tag name="KSO_WM_BEAUTIFY_FLAG" val=""/>
</p:tagLst>
</file>

<file path=ppt/tags/tag291.xml><?xml version="1.0" encoding="utf-8"?>
<p:tagLst xmlns:p="http://schemas.openxmlformats.org/presentationml/2006/main">
  <p:tag name="KSO_WM_BEAUTIFY_FLAG" val=""/>
</p:tagLst>
</file>

<file path=ppt/tags/tag292.xml><?xml version="1.0" encoding="utf-8"?>
<p:tagLst xmlns:p="http://schemas.openxmlformats.org/presentationml/2006/main">
  <p:tag name="KSO_WM_BEAUTIFY_FLAG" val=""/>
</p:tagLst>
</file>

<file path=ppt/tags/tag293.xml><?xml version="1.0" encoding="utf-8"?>
<p:tagLst xmlns:p="http://schemas.openxmlformats.org/presentationml/2006/main">
  <p:tag name="KSO_WM_BEAUTIFY_FLAG" val=""/>
</p:tagLst>
</file>

<file path=ppt/tags/tag294.xml><?xml version="1.0" encoding="utf-8"?>
<p:tagLst xmlns:p="http://schemas.openxmlformats.org/presentationml/2006/main">
  <p:tag name="KSO_WM_BEAUTIFY_FLAG" val=""/>
</p:tagLst>
</file>

<file path=ppt/tags/tag295.xml><?xml version="1.0" encoding="utf-8"?>
<p:tagLst xmlns:p="http://schemas.openxmlformats.org/presentationml/2006/main">
  <p:tag name="KSO_WM_BEAUTIFY_FLAG" val=""/>
</p:tagLst>
</file>

<file path=ppt/tags/tag296.xml><?xml version="1.0" encoding="utf-8"?>
<p:tagLst xmlns:p="http://schemas.openxmlformats.org/presentationml/2006/main">
  <p:tag name="KSO_WM_BEAUTIFY_FLAG" val=""/>
</p:tagLst>
</file>

<file path=ppt/tags/tag297.xml><?xml version="1.0" encoding="utf-8"?>
<p:tagLst xmlns:p="http://schemas.openxmlformats.org/presentationml/2006/main">
  <p:tag name="KSO_WM_BEAUTIFY_FLAG" val=""/>
</p:tagLst>
</file>

<file path=ppt/tags/tag298.xml><?xml version="1.0" encoding="utf-8"?>
<p:tagLst xmlns:p="http://schemas.openxmlformats.org/presentationml/2006/main">
  <p:tag name="KSO_WM_BEAUTIFY_FLAG" val=""/>
</p:tagLst>
</file>

<file path=ppt/tags/tag299.xml><?xml version="1.0" encoding="utf-8"?>
<p:tagLst xmlns:p="http://schemas.openxmlformats.org/presentationml/2006/main">
  <p:tag name="KSO_WM_BEAUTIFY_FLAG" val=""/>
</p:tagLst>
</file>

<file path=ppt/tags/tag300.xml><?xml version="1.0" encoding="utf-8"?>
<p:tagLst xmlns:p="http://schemas.openxmlformats.org/presentationml/2006/main">
  <p:tag name="KSO_WM_BEAUTIFY_FLAG" val=""/>
</p:tagLst>
</file>

<file path=ppt/tags/tag301.xml><?xml version="1.0" encoding="utf-8"?>
<p:tagLst xmlns:p="http://schemas.openxmlformats.org/presentationml/2006/main">
  <p:tag name="KSO_WM_BEAUTIFY_FLAG" val=""/>
</p:tagLst>
</file>

<file path=ppt/tags/tag302.xml><?xml version="1.0" encoding="utf-8"?>
<p:tagLst xmlns:p="http://schemas.openxmlformats.org/presentationml/2006/main">
  <p:tag name="KSO_WM_BEAUTIFY_FLAG" val=""/>
</p:tagLst>
</file>

<file path=ppt/tags/tag303.xml><?xml version="1.0" encoding="utf-8"?>
<p:tagLst xmlns:p="http://schemas.openxmlformats.org/presentationml/2006/main">
  <p:tag name="KSO_WM_BEAUTIFY_FLAG" val=""/>
</p:tagLst>
</file>

<file path=ppt/tags/tag304.xml><?xml version="1.0" encoding="utf-8"?>
<p:tagLst xmlns:p="http://schemas.openxmlformats.org/presentationml/2006/main">
  <p:tag name="KSO_WM_BEAUTIFY_FLAG" val=""/>
</p:tagLst>
</file>

<file path=ppt/tags/tag305.xml><?xml version="1.0" encoding="utf-8"?>
<p:tagLst xmlns:p="http://schemas.openxmlformats.org/presentationml/2006/main">
  <p:tag name="KSO_WM_BEAUTIFY_FLAG" val=""/>
</p:tagLst>
</file>

<file path=ppt/tags/tag306.xml><?xml version="1.0" encoding="utf-8"?>
<p:tagLst xmlns:p="http://schemas.openxmlformats.org/presentationml/2006/main">
  <p:tag name="KSO_WM_BEAUTIFY_FLAG" val=""/>
</p:tagLst>
</file>

<file path=ppt/tags/tag307.xml><?xml version="1.0" encoding="utf-8"?>
<p:tagLst xmlns:p="http://schemas.openxmlformats.org/presentationml/2006/main">
  <p:tag name="KSO_WM_BEAUTIFY_FLAG" val=""/>
</p:tagLst>
</file>

<file path=ppt/tags/tag308.xml><?xml version="1.0" encoding="utf-8"?>
<p:tagLst xmlns:p="http://schemas.openxmlformats.org/presentationml/2006/main">
  <p:tag name="KSO_WM_BEAUTIFY_FLAG" val=""/>
</p:tagLst>
</file>

<file path=ppt/tags/tag309.xml><?xml version="1.0" encoding="utf-8"?>
<p:tagLst xmlns:p="http://schemas.openxmlformats.org/presentationml/2006/main">
  <p:tag name="KSO_WM_BEAUTIFY_FLAG" val=""/>
</p:tagLst>
</file>

<file path=ppt/tags/tag310.xml><?xml version="1.0" encoding="utf-8"?>
<p:tagLst xmlns:p="http://schemas.openxmlformats.org/presentationml/2006/main">
  <p:tag name="KSO_WM_BEAUTIFY_FLAG" val=""/>
</p:tagLst>
</file>

<file path=ppt/tags/tag311.xml><?xml version="1.0" encoding="utf-8"?>
<p:tagLst xmlns:p="http://schemas.openxmlformats.org/presentationml/2006/main">
  <p:tag name="KSO_WM_BEAUTIFY_FLAG" val=""/>
</p:tagLst>
</file>

<file path=ppt/tags/tag312.xml><?xml version="1.0" encoding="utf-8"?>
<p:tagLst xmlns:p="http://schemas.openxmlformats.org/presentationml/2006/main">
  <p:tag name="KSO_WM_BEAUTIFY_FLAG" val=""/>
</p:tagLst>
</file>

<file path=ppt/tags/tag313.xml><?xml version="1.0" encoding="utf-8"?>
<p:tagLst xmlns:p="http://schemas.openxmlformats.org/presentationml/2006/main">
  <p:tag name="KSO_WM_BEAUTIFY_FLAG" val=""/>
</p:tagLst>
</file>

<file path=ppt/tags/tag314.xml><?xml version="1.0" encoding="utf-8"?>
<p:tagLst xmlns:p="http://schemas.openxmlformats.org/presentationml/2006/main">
  <p:tag name="KSO_WM_BEAUTIFY_FLAG" val=""/>
</p:tagLst>
</file>

<file path=ppt/tags/tag315.xml><?xml version="1.0" encoding="utf-8"?>
<p:tagLst xmlns:p="http://schemas.openxmlformats.org/presentationml/2006/main">
  <p:tag name="KSO_WM_BEAUTIFY_FLAG" val=""/>
</p:tagLst>
</file>

<file path=ppt/tags/tag316.xml><?xml version="1.0" encoding="utf-8"?>
<p:tagLst xmlns:p="http://schemas.openxmlformats.org/presentationml/2006/main">
  <p:tag name="KSO_WM_BEAUTIFY_FLAG" val=""/>
</p:tagLst>
</file>

<file path=ppt/tags/tag317.xml><?xml version="1.0" encoding="utf-8"?>
<p:tagLst xmlns:p="http://schemas.openxmlformats.org/presentationml/2006/main">
  <p:tag name="KSO_WM_BEAUTIFY_FLAG" val=""/>
</p:tagLst>
</file>

<file path=ppt/tags/tag318.xml><?xml version="1.0" encoding="utf-8"?>
<p:tagLst xmlns:p="http://schemas.openxmlformats.org/presentationml/2006/main">
  <p:tag name="KSO_WM_BEAUTIFY_FLAG" val=""/>
</p:tagLst>
</file>

<file path=ppt/tags/tag319.xml><?xml version="1.0" encoding="utf-8"?>
<p:tagLst xmlns:p="http://schemas.openxmlformats.org/presentationml/2006/main">
  <p:tag name="KSO_WM_BEAUTIFY_FLAG" val=""/>
</p:tagLst>
</file>

<file path=ppt/tags/tag320.xml><?xml version="1.0" encoding="utf-8"?>
<p:tagLst xmlns:p="http://schemas.openxmlformats.org/presentationml/2006/main">
  <p:tag name="KSO_WM_BEAUTIFY_FLAG" val=""/>
</p:tagLst>
</file>

<file path=ppt/tags/tag321.xml><?xml version="1.0" encoding="utf-8"?>
<p:tagLst xmlns:p="http://schemas.openxmlformats.org/presentationml/2006/main">
  <p:tag name="KSO_WM_BEAUTIFY_FLAG" val=""/>
</p:tagLst>
</file>

<file path=ppt/tags/tag322.xml><?xml version="1.0" encoding="utf-8"?>
<p:tagLst xmlns:p="http://schemas.openxmlformats.org/presentationml/2006/main">
  <p:tag name="KSO_WM_BEAUTIFY_FLAG" val=""/>
</p:tagLst>
</file>

<file path=ppt/tags/tag323.xml><?xml version="1.0" encoding="utf-8"?>
<p:tagLst xmlns:p="http://schemas.openxmlformats.org/presentationml/2006/main">
  <p:tag name="KSO_WM_BEAUTIFY_FLAG" val=""/>
</p:tagLst>
</file>

<file path=ppt/tags/tag324.xml><?xml version="1.0" encoding="utf-8"?>
<p:tagLst xmlns:p="http://schemas.openxmlformats.org/presentationml/2006/main">
  <p:tag name="KSO_WM_BEAUTIFY_FLAG" val=""/>
</p:tagLst>
</file>

<file path=ppt/tags/tag325.xml><?xml version="1.0" encoding="utf-8"?>
<p:tagLst xmlns:p="http://schemas.openxmlformats.org/presentationml/2006/main">
  <p:tag name="KSO_WM_BEAUTIFY_FLAG" val=""/>
</p:tagLst>
</file>

<file path=ppt/tags/tag326.xml><?xml version="1.0" encoding="utf-8"?>
<p:tagLst xmlns:p="http://schemas.openxmlformats.org/presentationml/2006/main">
  <p:tag name="KSO_WM_BEAUTIFY_FLAG" val=""/>
</p:tagLst>
</file>

<file path=ppt/tags/tag327.xml><?xml version="1.0" encoding="utf-8"?>
<p:tagLst xmlns:p="http://schemas.openxmlformats.org/presentationml/2006/main">
  <p:tag name="KSO_WM_BEAUTIFY_FLAG" val=""/>
</p:tagLst>
</file>

<file path=ppt/tags/tag328.xml><?xml version="1.0" encoding="utf-8"?>
<p:tagLst xmlns:p="http://schemas.openxmlformats.org/presentationml/2006/main">
  <p:tag name="KSO_WM_BEAUTIFY_FLAG" val=""/>
</p:tagLst>
</file>

<file path=ppt/tags/tag329.xml><?xml version="1.0" encoding="utf-8"?>
<p:tagLst xmlns:p="http://schemas.openxmlformats.org/presentationml/2006/main">
  <p:tag name="KSO_WM_BEAUTIFY_FLAG" val=""/>
</p:tagLst>
</file>

<file path=ppt/tags/tag330.xml><?xml version="1.0" encoding="utf-8"?>
<p:tagLst xmlns:p="http://schemas.openxmlformats.org/presentationml/2006/main">
  <p:tag name="KSO_WM_BEAUTIFY_FLAG" val=""/>
</p:tagLst>
</file>

<file path=ppt/tags/tag331.xml><?xml version="1.0" encoding="utf-8"?>
<p:tagLst xmlns:p="http://schemas.openxmlformats.org/presentationml/2006/main">
  <p:tag name="KSO_WM_BEAUTIFY_FLAG" val=""/>
</p:tagLst>
</file>

<file path=ppt/tags/tag332.xml><?xml version="1.0" encoding="utf-8"?>
<p:tagLst xmlns:p="http://schemas.openxmlformats.org/presentationml/2006/main">
  <p:tag name="KSO_WM_BEAUTIFY_FLAG" val=""/>
</p:tagLst>
</file>

<file path=ppt/tags/tag333.xml><?xml version="1.0" encoding="utf-8"?>
<p:tagLst xmlns:p="http://schemas.openxmlformats.org/presentationml/2006/main">
  <p:tag name="KSO_WM_BEAUTIFY_FLAG" val=""/>
</p:tagLst>
</file>

<file path=ppt/tags/tag334.xml><?xml version="1.0" encoding="utf-8"?>
<p:tagLst xmlns:p="http://schemas.openxmlformats.org/presentationml/2006/main">
  <p:tag name="KSO_WM_BEAUTIFY_FLAG" val=""/>
</p:tagLst>
</file>

<file path=ppt/tags/tag335.xml><?xml version="1.0" encoding="utf-8"?>
<p:tagLst xmlns:p="http://schemas.openxmlformats.org/presentationml/2006/main">
  <p:tag name="KSO_WM_BEAUTIFY_FLAG" val=""/>
</p:tagLst>
</file>

<file path=ppt/tags/tag336.xml><?xml version="1.0" encoding="utf-8"?>
<p:tagLst xmlns:p="http://schemas.openxmlformats.org/presentationml/2006/main">
  <p:tag name="KSO_WM_BEAUTIFY_FLAG" val=""/>
</p:tagLst>
</file>

<file path=ppt/tags/tag337.xml><?xml version="1.0" encoding="utf-8"?>
<p:tagLst xmlns:p="http://schemas.openxmlformats.org/presentationml/2006/main">
  <p:tag name="KSO_WM_BEAUTIFY_FLAG" val=""/>
</p:tagLst>
</file>

<file path=ppt/tags/tag338.xml><?xml version="1.0" encoding="utf-8"?>
<p:tagLst xmlns:p="http://schemas.openxmlformats.org/presentationml/2006/main">
  <p:tag name="KSO_WM_BEAUTIFY_FLAG" val=""/>
</p:tagLst>
</file>

<file path=ppt/tags/tag339.xml><?xml version="1.0" encoding="utf-8"?>
<p:tagLst xmlns:p="http://schemas.openxmlformats.org/presentationml/2006/main">
  <p:tag name="KSO_WM_BEAUTIFY_FLAG" val=""/>
</p:tagLst>
</file>

<file path=ppt/tags/tag340.xml><?xml version="1.0" encoding="utf-8"?>
<p:tagLst xmlns:p="http://schemas.openxmlformats.org/presentationml/2006/main">
  <p:tag name="KSO_WM_BEAUTIFY_FLAG" val=""/>
</p:tagLst>
</file>

<file path=ppt/tags/tag341.xml><?xml version="1.0" encoding="utf-8"?>
<p:tagLst xmlns:p="http://schemas.openxmlformats.org/presentationml/2006/main">
  <p:tag name="KSO_WM_BEAUTIFY_FLAG" val=""/>
</p:tagLst>
</file>

<file path=ppt/tags/tag342.xml><?xml version="1.0" encoding="utf-8"?>
<p:tagLst xmlns:p="http://schemas.openxmlformats.org/presentationml/2006/main">
  <p:tag name="KSO_WM_BEAUTIFY_FLAG" val=""/>
</p:tagLst>
</file>

<file path=ppt/tags/tag343.xml><?xml version="1.0" encoding="utf-8"?>
<p:tagLst xmlns:p="http://schemas.openxmlformats.org/presentationml/2006/main">
  <p:tag name="KSO_WM_BEAUTIFY_FLAG" val=""/>
</p:tagLst>
</file>

<file path=ppt/tags/tag344.xml><?xml version="1.0" encoding="utf-8"?>
<p:tagLst xmlns:p="http://schemas.openxmlformats.org/presentationml/2006/main">
  <p:tag name="KSO_WM_BEAUTIFY_FLAG" val=""/>
</p:tagLst>
</file>

<file path=ppt/tags/tag345.xml><?xml version="1.0" encoding="utf-8"?>
<p:tagLst xmlns:p="http://schemas.openxmlformats.org/presentationml/2006/main">
  <p:tag name="KSO_WM_BEAUTIFY_FLAG" val=""/>
</p:tagLst>
</file>

<file path=ppt/tags/tag346.xml><?xml version="1.0" encoding="utf-8"?>
<p:tagLst xmlns:p="http://schemas.openxmlformats.org/presentationml/2006/main">
  <p:tag name="KSO_WM_BEAUTIFY_FLAG" val=""/>
</p:tagLst>
</file>

<file path=ppt/tags/tag347.xml><?xml version="1.0" encoding="utf-8"?>
<p:tagLst xmlns:p="http://schemas.openxmlformats.org/presentationml/2006/main">
  <p:tag name="KSO_WM_BEAUTIFY_FLAG" val=""/>
</p:tagLst>
</file>

<file path=ppt/tags/tag348.xml><?xml version="1.0" encoding="utf-8"?>
<p:tagLst xmlns:p="http://schemas.openxmlformats.org/presentationml/2006/main">
  <p:tag name="KSO_WM_BEAUTIFY_FLAG" val=""/>
</p:tagLst>
</file>

<file path=ppt/tags/tag349.xml><?xml version="1.0" encoding="utf-8"?>
<p:tagLst xmlns:p="http://schemas.openxmlformats.org/presentationml/2006/main">
  <p:tag name="KSO_WM_BEAUTIFY_FLAG" val=""/>
</p:tagLst>
</file>

<file path=ppt/tags/tag350.xml><?xml version="1.0" encoding="utf-8"?>
<p:tagLst xmlns:p="http://schemas.openxmlformats.org/presentationml/2006/main">
  <p:tag name="KSO_WM_BEAUTIFY_FLAG" val=""/>
</p:tagLst>
</file>

<file path=ppt/tags/tag351.xml><?xml version="1.0" encoding="utf-8"?>
<p:tagLst xmlns:p="http://schemas.openxmlformats.org/presentationml/2006/main">
  <p:tag name="KSO_WM_BEAUTIFY_FLAG" val=""/>
</p:tagLst>
</file>

<file path=ppt/tags/tag352.xml><?xml version="1.0" encoding="utf-8"?>
<p:tagLst xmlns:p="http://schemas.openxmlformats.org/presentationml/2006/main">
  <p:tag name="KSO_WM_BEAUTIFY_FLAG" val=""/>
</p:tagLst>
</file>

<file path=ppt/tags/tag353.xml><?xml version="1.0" encoding="utf-8"?>
<p:tagLst xmlns:p="http://schemas.openxmlformats.org/presentationml/2006/main">
  <p:tag name="KSO_WM_BEAUTIFY_FLAG" val=""/>
</p:tagLst>
</file>

<file path=ppt/tags/tag354.xml><?xml version="1.0" encoding="utf-8"?>
<p:tagLst xmlns:p="http://schemas.openxmlformats.org/presentationml/2006/main">
  <p:tag name="KSO_WM_BEAUTIFY_FLAG" val=""/>
</p:tagLst>
</file>

<file path=ppt/tags/tag355.xml><?xml version="1.0" encoding="utf-8"?>
<p:tagLst xmlns:p="http://schemas.openxmlformats.org/presentationml/2006/main">
  <p:tag name="KSO_WM_BEAUTIFY_FLAG" val=""/>
</p:tagLst>
</file>

<file path=ppt/tags/tag356.xml><?xml version="1.0" encoding="utf-8"?>
<p:tagLst xmlns:p="http://schemas.openxmlformats.org/presentationml/2006/main">
  <p:tag name="KSO_WM_BEAUTIFY_FLAG" val=""/>
</p:tagLst>
</file>

<file path=ppt/tags/tag357.xml><?xml version="1.0" encoding="utf-8"?>
<p:tagLst xmlns:p="http://schemas.openxmlformats.org/presentationml/2006/main">
  <p:tag name="KSO_WM_BEAUTIFY_FLAG" val=""/>
</p:tagLst>
</file>

<file path=ppt/tags/tag358.xml><?xml version="1.0" encoding="utf-8"?>
<p:tagLst xmlns:p="http://schemas.openxmlformats.org/presentationml/2006/main">
  <p:tag name="KSO_WM_BEAUTIFY_FLAG" val=""/>
</p:tagLst>
</file>

<file path=ppt/tags/tag359.xml><?xml version="1.0" encoding="utf-8"?>
<p:tagLst xmlns:p="http://schemas.openxmlformats.org/presentationml/2006/main">
  <p:tag name="KSO_WM_BEAUTIFY_FLAG" val=""/>
</p:tagLst>
</file>

<file path=ppt/tags/tag360.xml><?xml version="1.0" encoding="utf-8"?>
<p:tagLst xmlns:p="http://schemas.openxmlformats.org/presentationml/2006/main">
  <p:tag name="KSO_WM_BEAUTIFY_FLAG" val=""/>
</p:tagLst>
</file>

<file path=ppt/tags/tag361.xml><?xml version="1.0" encoding="utf-8"?>
<p:tagLst xmlns:p="http://schemas.openxmlformats.org/presentationml/2006/main">
  <p:tag name="KSO_WM_BEAUTIFY_FLAG" val=""/>
</p:tagLst>
</file>

<file path=ppt/tags/tag362.xml><?xml version="1.0" encoding="utf-8"?>
<p:tagLst xmlns:p="http://schemas.openxmlformats.org/presentationml/2006/main">
  <p:tag name="KSO_WM_BEAUTIFY_FLAG" val=""/>
</p:tagLst>
</file>

<file path=ppt/tags/tag363.xml><?xml version="1.0" encoding="utf-8"?>
<p:tagLst xmlns:p="http://schemas.openxmlformats.org/presentationml/2006/main">
  <p:tag name="KSO_WM_BEAUTIFY_FLAG" val=""/>
</p:tagLst>
</file>

<file path=ppt/tags/tag364.xml><?xml version="1.0" encoding="utf-8"?>
<p:tagLst xmlns:p="http://schemas.openxmlformats.org/presentationml/2006/main">
  <p:tag name="KSO_WM_BEAUTIFY_FLAG" val=""/>
</p:tagLst>
</file>

<file path=ppt/tags/tag365.xml><?xml version="1.0" encoding="utf-8"?>
<p:tagLst xmlns:p="http://schemas.openxmlformats.org/presentationml/2006/main">
  <p:tag name="KSO_WM_BEAUTIFY_FLAG" val=""/>
</p:tagLst>
</file>

<file path=ppt/tags/tag366.xml><?xml version="1.0" encoding="utf-8"?>
<p:tagLst xmlns:p="http://schemas.openxmlformats.org/presentationml/2006/main">
  <p:tag name="KSO_WM_BEAUTIFY_FLAG" val=""/>
</p:tagLst>
</file>

<file path=ppt/tags/tag367.xml><?xml version="1.0" encoding="utf-8"?>
<p:tagLst xmlns:p="http://schemas.openxmlformats.org/presentationml/2006/main">
  <p:tag name="KSO_WM_BEAUTIFY_FLAG" val=""/>
</p:tagLst>
</file>

<file path=ppt/tags/tag368.xml><?xml version="1.0" encoding="utf-8"?>
<p:tagLst xmlns:p="http://schemas.openxmlformats.org/presentationml/2006/main">
  <p:tag name="KSO_WM_BEAUTIFY_FLAG" val=""/>
</p:tagLst>
</file>

<file path=ppt/tags/tag369.xml><?xml version="1.0" encoding="utf-8"?>
<p:tagLst xmlns:p="http://schemas.openxmlformats.org/presentationml/2006/main">
  <p:tag name="KSO_WM_BEAUTIFY_FLAG" val=""/>
</p:tagLst>
</file>

<file path=ppt/tags/tag370.xml><?xml version="1.0" encoding="utf-8"?>
<p:tagLst xmlns:p="http://schemas.openxmlformats.org/presentationml/2006/main">
  <p:tag name="KSO_WM_BEAUTIFY_FLAG" val=""/>
</p:tagLst>
</file>

<file path=ppt/tags/tag371.xml><?xml version="1.0" encoding="utf-8"?>
<p:tagLst xmlns:p="http://schemas.openxmlformats.org/presentationml/2006/main">
  <p:tag name="KSO_WM_BEAUTIFY_FLAG" val=""/>
</p:tagLst>
</file>

<file path=ppt/tags/tag372.xml><?xml version="1.0" encoding="utf-8"?>
<p:tagLst xmlns:p="http://schemas.openxmlformats.org/presentationml/2006/main">
  <p:tag name="KSO_WM_BEAUTIFY_FLAG" val=""/>
</p:tagLst>
</file>

<file path=ppt/tags/tag373.xml><?xml version="1.0" encoding="utf-8"?>
<p:tagLst xmlns:p="http://schemas.openxmlformats.org/presentationml/2006/main">
  <p:tag name="KSO_WM_BEAUTIFY_FLAG" val=""/>
</p:tagLst>
</file>

<file path=ppt/tags/tag374.xml><?xml version="1.0" encoding="utf-8"?>
<p:tagLst xmlns:p="http://schemas.openxmlformats.org/presentationml/2006/main">
  <p:tag name="KSO_WM_BEAUTIFY_FLAG" val=""/>
</p:tagLst>
</file>

<file path=ppt/tags/tag375.xml><?xml version="1.0" encoding="utf-8"?>
<p:tagLst xmlns:p="http://schemas.openxmlformats.org/presentationml/2006/main">
  <p:tag name="KSO_WM_BEAUTIFY_FLAG" val=""/>
</p:tagLst>
</file>

<file path=ppt/tags/tag376.xml><?xml version="1.0" encoding="utf-8"?>
<p:tagLst xmlns:p="http://schemas.openxmlformats.org/presentationml/2006/main">
  <p:tag name="KSO_WM_BEAUTIFY_FLAG" val=""/>
</p:tagLst>
</file>

<file path=ppt/tags/tag377.xml><?xml version="1.0" encoding="utf-8"?>
<p:tagLst xmlns:p="http://schemas.openxmlformats.org/presentationml/2006/main">
  <p:tag name="KSO_WM_BEAUTIFY_FLAG" val=""/>
</p:tagLst>
</file>

<file path=ppt/tags/tag378.xml><?xml version="1.0" encoding="utf-8"?>
<p:tagLst xmlns:p="http://schemas.openxmlformats.org/presentationml/2006/main">
  <p:tag name="KSO_WM_BEAUTIFY_FLAG" val=""/>
</p:tagLst>
</file>

<file path=ppt/tags/tag379.xml><?xml version="1.0" encoding="utf-8"?>
<p:tagLst xmlns:p="http://schemas.openxmlformats.org/presentationml/2006/main">
  <p:tag name="KSO_WM_BEAUTIFY_FLAG" val=""/>
</p:tagLst>
</file>

<file path=ppt/tags/tag380.xml><?xml version="1.0" encoding="utf-8"?>
<p:tagLst xmlns:p="http://schemas.openxmlformats.org/presentationml/2006/main">
  <p:tag name="KSO_WM_BEAUTIFY_FLAG" val=""/>
</p:tagLst>
</file>

<file path=ppt/tags/tag381.xml><?xml version="1.0" encoding="utf-8"?>
<p:tagLst xmlns:p="http://schemas.openxmlformats.org/presentationml/2006/main">
  <p:tag name="KSO_WM_BEAUTIFY_FLAG" val=""/>
</p:tagLst>
</file>

<file path=ppt/tags/tag382.xml><?xml version="1.0" encoding="utf-8"?>
<p:tagLst xmlns:p="http://schemas.openxmlformats.org/presentationml/2006/main">
  <p:tag name="KSO_WM_BEAUTIFY_FLAG" val=""/>
</p:tagLst>
</file>

<file path=ppt/tags/tag383.xml><?xml version="1.0" encoding="utf-8"?>
<p:tagLst xmlns:p="http://schemas.openxmlformats.org/presentationml/2006/main">
  <p:tag name="KSO_WM_BEAUTIFY_FLAG" val=""/>
</p:tagLst>
</file>

<file path=ppt/tags/tag384.xml><?xml version="1.0" encoding="utf-8"?>
<p:tagLst xmlns:p="http://schemas.openxmlformats.org/presentationml/2006/main">
  <p:tag name="KSO_WM_BEAUTIFY_FLAG" val=""/>
</p:tagLst>
</file>

<file path=ppt/tags/tag385.xml><?xml version="1.0" encoding="utf-8"?>
<p:tagLst xmlns:p="http://schemas.openxmlformats.org/presentationml/2006/main">
  <p:tag name="KSO_WM_BEAUTIFY_FLAG" val=""/>
</p:tagLst>
</file>

<file path=ppt/tags/tag386.xml><?xml version="1.0" encoding="utf-8"?>
<p:tagLst xmlns:p="http://schemas.openxmlformats.org/presentationml/2006/main">
  <p:tag name="KSO_WM_BEAUTIFY_FLAG" val=""/>
</p:tagLst>
</file>

<file path=ppt/tags/tag387.xml><?xml version="1.0" encoding="utf-8"?>
<p:tagLst xmlns:p="http://schemas.openxmlformats.org/presentationml/2006/main">
  <p:tag name="KSO_WM_BEAUTIFY_FLAG" val=""/>
</p:tagLst>
</file>

<file path=ppt/tags/tag388.xml><?xml version="1.0" encoding="utf-8"?>
<p:tagLst xmlns:p="http://schemas.openxmlformats.org/presentationml/2006/main">
  <p:tag name="KSO_WM_BEAUTIFY_FLAG" val=""/>
</p:tagLst>
</file>

<file path=ppt/tags/tag389.xml><?xml version="1.0" encoding="utf-8"?>
<p:tagLst xmlns:p="http://schemas.openxmlformats.org/presentationml/2006/main">
  <p:tag name="KSO_WM_BEAUTIFY_FLAG" val=""/>
</p:tagLst>
</file>

<file path=ppt/tags/tag390.xml><?xml version="1.0" encoding="utf-8"?>
<p:tagLst xmlns:p="http://schemas.openxmlformats.org/presentationml/2006/main">
  <p:tag name="KSO_WM_BEAUTIFY_FLAG" val=""/>
</p:tagLst>
</file>

<file path=ppt/tags/tag391.xml><?xml version="1.0" encoding="utf-8"?>
<p:tagLst xmlns:p="http://schemas.openxmlformats.org/presentationml/2006/main">
  <p:tag name="KSO_WM_BEAUTIFY_FLAG" val=""/>
</p:tagLst>
</file>

<file path=ppt/tags/tag392.xml><?xml version="1.0" encoding="utf-8"?>
<p:tagLst xmlns:p="http://schemas.openxmlformats.org/presentationml/2006/main">
  <p:tag name="KSO_WM_BEAUTIFY_FLAG" val=""/>
</p:tagLst>
</file>

<file path=ppt/tags/tag393.xml><?xml version="1.0" encoding="utf-8"?>
<p:tagLst xmlns:p="http://schemas.openxmlformats.org/presentationml/2006/main">
  <p:tag name="KSO_WM_BEAUTIFY_FLAG" val=""/>
</p:tagLst>
</file>

<file path=ppt/tags/tag394.xml><?xml version="1.0" encoding="utf-8"?>
<p:tagLst xmlns:p="http://schemas.openxmlformats.org/presentationml/2006/main">
  <p:tag name="KSO_WM_BEAUTIFY_FLAG" val=""/>
</p:tagLst>
</file>

<file path=ppt/tags/tag395.xml><?xml version="1.0" encoding="utf-8"?>
<p:tagLst xmlns:p="http://schemas.openxmlformats.org/presentationml/2006/main">
  <p:tag name="KSO_WM_BEAUTIFY_FLAG" val=""/>
</p:tagLst>
</file>

<file path=ppt/tags/tag396.xml><?xml version="1.0" encoding="utf-8"?>
<p:tagLst xmlns:p="http://schemas.openxmlformats.org/presentationml/2006/main">
  <p:tag name="KSO_WM_BEAUTIFY_FLAG" val=""/>
</p:tagLst>
</file>

<file path=ppt/tags/tag397.xml><?xml version="1.0" encoding="utf-8"?>
<p:tagLst xmlns:p="http://schemas.openxmlformats.org/presentationml/2006/main">
  <p:tag name="KSO_WM_BEAUTIFY_FLAG" val=""/>
</p:tagLst>
</file>

<file path=ppt/tags/tag398.xml><?xml version="1.0" encoding="utf-8"?>
<p:tagLst xmlns:p="http://schemas.openxmlformats.org/presentationml/2006/main">
  <p:tag name="KSO_WM_BEAUTIFY_FLAG" val=""/>
</p:tagLst>
</file>

<file path=ppt/tags/tag399.xml><?xml version="1.0" encoding="utf-8"?>
<p:tagLst xmlns:p="http://schemas.openxmlformats.org/presentationml/2006/main">
  <p:tag name="KSO_WM_BEAUTIFY_FLAG" val=""/>
</p:tagLst>
</file>

<file path=ppt/tags/tag400.xml><?xml version="1.0" encoding="utf-8"?>
<p:tagLst xmlns:p="http://schemas.openxmlformats.org/presentationml/2006/main">
  <p:tag name="KSO_WM_BEAUTIFY_FLAG" val=""/>
</p:tagLst>
</file>

<file path=ppt/tags/tag401.xml><?xml version="1.0" encoding="utf-8"?>
<p:tagLst xmlns:p="http://schemas.openxmlformats.org/presentationml/2006/main">
  <p:tag name="KSO_WM_BEAUTIFY_FLAG" val=""/>
</p:tagLst>
</file>

<file path=ppt/tags/tag402.xml><?xml version="1.0" encoding="utf-8"?>
<p:tagLst xmlns:p="http://schemas.openxmlformats.org/presentationml/2006/main">
  <p:tag name="KSO_WM_BEAUTIFY_FLAG" val=""/>
</p:tagLst>
</file>

<file path=ppt/tags/tag403.xml><?xml version="1.0" encoding="utf-8"?>
<p:tagLst xmlns:p="http://schemas.openxmlformats.org/presentationml/2006/main">
  <p:tag name="KSO_WM_BEAUTIFY_FLAG" val=""/>
</p:tagLst>
</file>

<file path=ppt/tags/tag404.xml><?xml version="1.0" encoding="utf-8"?>
<p:tagLst xmlns:p="http://schemas.openxmlformats.org/presentationml/2006/main">
  <p:tag name="KSO_WM_BEAUTIFY_FLAG" val=""/>
</p:tagLst>
</file>

<file path=ppt/tags/tag405.xml><?xml version="1.0" encoding="utf-8"?>
<p:tagLst xmlns:p="http://schemas.openxmlformats.org/presentationml/2006/main">
  <p:tag name="KSO_WM_BEAUTIFY_FLAG" val=""/>
</p:tagLst>
</file>

<file path=ppt/tags/tag406.xml><?xml version="1.0" encoding="utf-8"?>
<p:tagLst xmlns:p="http://schemas.openxmlformats.org/presentationml/2006/main">
  <p:tag name="KSO_WM_UNIT_TABLE_BEAUTIFY" val="smartTable{3059b303-de1c-4a37-91f3-978fc23351eb}"/>
</p:tagLst>
</file>

<file path=ppt/tags/tag407.xml><?xml version="1.0" encoding="utf-8"?>
<p:tagLst xmlns:p="http://schemas.openxmlformats.org/presentationml/2006/main">
  <p:tag name="KSO_WM_BEAUTIFY_FLAG" val=""/>
</p:tagLst>
</file>

<file path=ppt/tags/tag408.xml><?xml version="1.0" encoding="utf-8"?>
<p:tagLst xmlns:p="http://schemas.openxmlformats.org/presentationml/2006/main">
  <p:tag name="KSO_WPP_MARK_KEY" val="886ba558-67b6-49d3-8ff4-1dddd213c2aa"/>
  <p:tag name="COMMONDATA" val="eyJoZGlkIjoiNGNiMWI2MjUxYmM1ZWM5YzFjOGE2MWRjMWE5MWY1N2QifQ=="/>
  <p:tag name="commondata" val="eyJoZGlkIjoiMzBhNjA4MTY3MzQ1OTEzY2U5MzkwMWJhYTU2Njg0MDgifQ=="/>
</p:tagLst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0</TotalTime>
  <Words>4834</Words>
  <Application>WPS 演示</Application>
  <PresentationFormat>全屏显示(4:3)</PresentationFormat>
  <Paragraphs>967</Paragraphs>
  <Slides>39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39</vt:i4>
      </vt:variant>
    </vt:vector>
  </HeadingPairs>
  <TitlesOfParts>
    <vt:vector size="54" baseType="lpstr">
      <vt:lpstr>Arial</vt:lpstr>
      <vt:lpstr>宋体</vt:lpstr>
      <vt:lpstr>Wingdings</vt:lpstr>
      <vt:lpstr>Tahoma</vt:lpstr>
      <vt:lpstr>华文新魏</vt:lpstr>
      <vt:lpstr>Times New Roman</vt:lpstr>
      <vt:lpstr>Wingdings</vt:lpstr>
      <vt:lpstr>隶书</vt:lpstr>
      <vt:lpstr>微软雅黑</vt:lpstr>
      <vt:lpstr>Arial Unicode MS</vt:lpstr>
      <vt:lpstr>Calibri</vt:lpstr>
      <vt:lpstr>Symbol</vt:lpstr>
      <vt:lpstr>Blends</vt:lpstr>
      <vt:lpstr>MSDraw</vt:lpstr>
      <vt:lpstr>MSDraw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  就绪（Ready）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清华大学计算机系微机组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戴梅萼</dc:creator>
  <cp:lastModifiedBy>曹锦纲</cp:lastModifiedBy>
  <cp:revision>771</cp:revision>
  <dcterms:created xsi:type="dcterms:W3CDTF">2003-08-15T08:41:00Z</dcterms:created>
  <dcterms:modified xsi:type="dcterms:W3CDTF">2025-10-19T05:30:27Z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B90AB730C3D24FD390136CE948879CB9</vt:lpwstr>
  </property>
  <property fmtid="{D5CDD505-2E9C-101B-9397-08002B2CF9AE}" pid="3" name="KSOProductBuildVer">
    <vt:lpwstr>2052-12.1.0.22529</vt:lpwstr>
  </property>
</Properties>
</file>