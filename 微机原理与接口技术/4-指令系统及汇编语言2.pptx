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4"/>
  </p:notesMasterIdLst>
  <p:sldIdLst>
    <p:sldId id="493" r:id="rId6"/>
    <p:sldId id="429" r:id="rId7"/>
    <p:sldId id="430" r:id="rId8"/>
    <p:sldId id="437" r:id="rId9"/>
    <p:sldId id="438" r:id="rId10"/>
    <p:sldId id="431" r:id="rId11"/>
    <p:sldId id="529" r:id="rId12"/>
    <p:sldId id="439" r:id="rId13"/>
    <p:sldId id="528" r:id="rId15"/>
    <p:sldId id="556" r:id="rId16"/>
    <p:sldId id="557" r:id="rId17"/>
    <p:sldId id="562" r:id="rId18"/>
    <p:sldId id="462" r:id="rId19"/>
    <p:sldId id="563" r:id="rId20"/>
    <p:sldId id="564" r:id="rId21"/>
    <p:sldId id="447" r:id="rId22"/>
    <p:sldId id="565" r:id="rId23"/>
    <p:sldId id="559" r:id="rId24"/>
    <p:sldId id="560" r:id="rId25"/>
    <p:sldId id="561" r:id="rId26"/>
    <p:sldId id="463" r:id="rId27"/>
    <p:sldId id="465" r:id="rId28"/>
    <p:sldId id="581" r:id="rId29"/>
    <p:sldId id="454" r:id="rId30"/>
    <p:sldId id="567" r:id="rId31"/>
    <p:sldId id="451" r:id="rId32"/>
    <p:sldId id="582" r:id="rId33"/>
    <p:sldId id="583" r:id="rId34"/>
    <p:sldId id="457" r:id="rId35"/>
    <p:sldId id="585" r:id="rId36"/>
    <p:sldId id="460" r:id="rId37"/>
  </p:sldIdLst>
  <p:sldSz cx="9144000" cy="6858000" type="screen4x3"/>
  <p:notesSz cx="6858000" cy="9144000"/>
  <p:custDataLst>
    <p:tags r:id="rId4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0033CC"/>
    <a:srgbClr val="913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22516"/>
    <p:restoredTop sz="84972"/>
  </p:normalViewPr>
  <p:slideViewPr>
    <p:cSldViewPr showGuides="1">
      <p:cViewPr varScale="1">
        <p:scale>
          <a:sx n="60" d="100"/>
          <a:sy n="60" d="100"/>
        </p:scale>
        <p:origin x="-1422" y="-78"/>
      </p:cViewPr>
      <p:guideLst>
        <p:guide orient="horz" pos="2076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2" Type="http://schemas.openxmlformats.org/officeDocument/2006/relationships/tags" Target="tags/tag67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8-09T08:23:37.509" idx="1">
    <p:pos x="10" y="1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8-09T08:23:37.509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F44C25-EE46-48AD-B7AB-CBFA57442ED1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17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99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 algn="just">
              <a:buBlip>
                <a:blip r:embed="rId3"/>
              </a:buBlip>
            </a:pPr>
            <a:r>
              <a:rPr lang="en-US" altLang="zh-CN" b="1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Jcc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指令实际虽然只有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条，但却有</a:t>
            </a:r>
            <a:r>
              <a:rPr lang="en-US" altLang="zh-CN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个助记符</a:t>
            </a:r>
            <a:endParaRPr lang="zh-CN" altLang="en-US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 algn="just">
              <a:lnSpc>
                <a:spcPct val="120000"/>
              </a:lnSpc>
              <a:buBlip>
                <a:blip r:embed="rId3"/>
              </a:buBlip>
            </a:pPr>
            <a:r>
              <a:rPr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采用多个助记符，目的是为了方便记忆和使用</a:t>
            </a:r>
            <a:endParaRPr lang="zh-CN" altLang="en-US" b="1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Blip>
                <a:blip r:embed="rId3"/>
              </a:buBlip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19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403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AL &gt;[2041H]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CF=1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更好理解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12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6147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50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717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17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819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8198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82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106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19977;-&#31532;3&#31456;%20&#25351;&#20196;&#31995;&#32479;&#21450;&#27719;&#32534;&#35821;&#35328;&#19968;.pp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29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9.xml"/><Relationship Id="rId5" Type="http://schemas.openxmlformats.org/officeDocument/2006/relationships/image" Target="../media/image10.png"/><Relationship Id="rId4" Type="http://schemas.openxmlformats.org/officeDocument/2006/relationships/tags" Target="../tags/tag4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4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9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2.xml"/><Relationship Id="rId8" Type="http://schemas.openxmlformats.org/officeDocument/2006/relationships/slideLayout" Target="../slideLayouts/slideLayout40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image" Target="../media/image13.png"/><Relationship Id="rId3" Type="http://schemas.openxmlformats.org/officeDocument/2006/relationships/tags" Target="../tags/tag53.xml"/><Relationship Id="rId2" Type="http://schemas.openxmlformats.org/officeDocument/2006/relationships/image" Target="../media/image12.png"/><Relationship Id="rId1" Type="http://schemas.openxmlformats.org/officeDocument/2006/relationships/tags" Target="../tags/tag5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17.png"/><Relationship Id="rId3" Type="http://schemas.openxmlformats.org/officeDocument/2006/relationships/tags" Target="../tags/tag60.xml"/><Relationship Id="rId2" Type="http://schemas.openxmlformats.org/officeDocument/2006/relationships/image" Target="../media/image16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6.xml"/><Relationship Id="rId1" Type="http://schemas.openxmlformats.org/officeDocument/2006/relationships/tags" Target="../tags/tag5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23813" y="44450"/>
            <a:ext cx="9101137" cy="1143000"/>
          </a:xfrm>
          <a:solidFill>
            <a:schemeClr val="bg1"/>
          </a:solidFill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指令系统及汇编语言程序设计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-2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4000" dirty="0">
              <a:solidFill>
                <a:schemeClr val="hlin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714375" y="1412875"/>
            <a:ext cx="8240713" cy="4719638"/>
          </a:xfrm>
        </p:spPr>
        <p:txBody>
          <a:bodyPr vert="horz" wrap="square" lIns="91440" tIns="45720" rIns="91440" bIns="45720" anchor="t" anchorCtr="0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altLang="zh-CN" sz="360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60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hlinkClick r:id="rId1" action="ppaction://hlinkpres?slideindex=1&amp;slidetitle="/>
              </a:rPr>
              <a:t>3.4 </a:t>
            </a:r>
            <a:r>
              <a:rPr kumimoji="1" lang="zh-CN" altLang="en-US" sz="360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hlinkClick r:id="rId1" action="ppaction://hlinkpres?slideindex=1&amp;slidetitle="/>
              </a:rPr>
              <a:t>指令系统</a:t>
            </a:r>
            <a:endParaRPr kumimoji="1" lang="zh-CN" altLang="en-US" sz="360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  <a:hlinkClick r:id="rId1" action="ppaction://hlinkpres?slideindex=1&amp;slidetitle=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hlinkClick r:id="rId1" action="ppaction://hlinkpres?slideindex=1&amp;slidetitle="/>
              </a:rPr>
              <a:t>3.4.2 </a:t>
            </a:r>
            <a:r>
              <a:rPr kumimoji="1" lang="zh-CN" altLang="en-US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hlinkClick r:id="rId1" action="ppaction://hlinkpres?slideindex=1&amp;slidetitle="/>
              </a:rPr>
              <a:t>算术运算指令</a:t>
            </a:r>
            <a:endParaRPr kumimoji="1" lang="zh-CN" altLang="en-US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hlinkClick r:id="rId1" action="ppaction://hlinkpres?slideindex=1&amp;slidetitle=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9" name="Text Box 66"/>
          <p:cNvSpPr txBox="1"/>
          <p:nvPr/>
        </p:nvSpPr>
        <p:spPr>
          <a:xfrm>
            <a:off x="493713" y="1571625"/>
            <a:ext cx="8150225" cy="39227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加法和减法指令</a:t>
            </a:r>
            <a:endParaRPr lang="zh-CN" altLang="en-US" sz="2800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加 1/减 1 指令</a:t>
            </a:r>
            <a:endParaRPr lang="zh-CN" altLang="en-US" sz="2800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求补指令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比较指令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乘法和除法指令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ahoma" panose="020B0604030504040204" pitchFamily="34" charset="0"/>
              </a:rPr>
              <a:t> BCD</a:t>
            </a:r>
            <a:r>
              <a:rPr lang="zh-CN" altLang="en-US" sz="2800" b="1" dirty="0">
                <a:latin typeface="Tahoma" panose="020B0604030504040204" pitchFamily="34" charset="0"/>
              </a:rPr>
              <a:t>码调整指令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	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267" name="矩形 59"/>
          <p:cNvSpPr/>
          <p:nvPr/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0" name="Rectangle 49"/>
          <p:cNvSpPr/>
          <p:nvPr/>
        </p:nvSpPr>
        <p:spPr>
          <a:xfrm>
            <a:off x="539750" y="1484313"/>
            <a:ext cx="821531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加法和减法指令（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8/16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5" name="Text Box 14"/>
          <p:cNvSpPr txBox="1"/>
          <p:nvPr/>
        </p:nvSpPr>
        <p:spPr>
          <a:xfrm>
            <a:off x="609600" y="2528888"/>
            <a:ext cx="8153400" cy="233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ADD   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reg</a:t>
            </a: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reg/mem/imm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spcAft>
                <a:spcPts val="3000"/>
              </a:spcAft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ADD    </a:t>
            </a: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mem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reg/imm            ;(OP1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OP1+OP2</a:t>
            </a:r>
            <a:r>
              <a:rPr lang="en-US" altLang="zh-CN" b="1" dirty="0">
                <a:latin typeface="Tahoma" panose="020B0604030504040204" pitchFamily="34" charset="0"/>
              </a:rPr>
              <a:t> )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SUB    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reg</a:t>
            </a: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reg/mem/imm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SUB    </a:t>
            </a: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 mem</a:t>
            </a: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reg/imm         ;(OP1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OP1-OP2</a:t>
            </a:r>
            <a:r>
              <a:rPr lang="en-US" altLang="zh-CN" b="1" dirty="0">
                <a:latin typeface="Tahoma" panose="020B0604030504040204" pitchFamily="34" charset="0"/>
              </a:rPr>
              <a:t> )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sym typeface="Monotype Sorts" pitchFamily="2" charset="2"/>
            </a:endParaRPr>
          </a:p>
        </p:txBody>
      </p:sp>
      <p:sp>
        <p:nvSpPr>
          <p:cNvPr id="9221" name="Rectangle 32"/>
          <p:cNvSpPr/>
          <p:nvPr/>
        </p:nvSpPr>
        <p:spPr>
          <a:xfrm>
            <a:off x="611188" y="5013325"/>
            <a:ext cx="7054850" cy="1568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t" anchorCtr="0">
            <a:spAutoFit/>
          </a:bodyPr>
          <a:p>
            <a:pPr fontAlgn="base">
              <a:spcBef>
                <a:spcPct val="50000"/>
              </a:spcBef>
              <a:buClrTx/>
              <a:buFontTx/>
            </a:pPr>
            <a:r>
              <a:rPr lang="zh-CN" altLang="en-US" b="1" strike="noStrike" noProof="1" dirty="0">
                <a:solidFill>
                  <a:srgbClr val="FF0000"/>
                </a:solidFill>
                <a:latin typeface="Tahoma" panose="020B0604030504040204" pitchFamily="34" charset="0"/>
              </a:rPr>
              <a:t>判断指令书写是否正确？</a:t>
            </a:r>
            <a:r>
              <a:rPr lang="zh-CN" altLang="en-US" b="1" strike="noStrike" noProof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      </a:t>
            </a:r>
            <a:r>
              <a:rPr lang="en-US" altLang="zh-CN" b="1" strike="noStrike" noProof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   </a:t>
            </a:r>
            <a:endParaRPr lang="en-US" altLang="zh-CN" b="1" strike="noStrike" noProof="1" dirty="0">
              <a:solidFill>
                <a:srgbClr val="FF0000"/>
              </a:solidFill>
              <a:latin typeface="Tahoma" panose="020B0604030504040204" pitchFamily="34" charset="0"/>
              <a:sym typeface="Monotype Sorts" pitchFamily="2" charset="2"/>
            </a:endParaRPr>
          </a:p>
          <a:p>
            <a:pPr marL="342900" indent="-342900" algn="ctr" fontAlgn="base">
              <a:spcBef>
                <a:spcPct val="5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b="1" strike="noStrike" noProof="1" dirty="0">
                <a:latin typeface="Tahoma" panose="020B0604030504040204" pitchFamily="34" charset="0"/>
                <a:sym typeface="Monotype Sorts" pitchFamily="2" charset="2"/>
              </a:rPr>
              <a:t>ADD   [BX] </a:t>
            </a:r>
            <a:r>
              <a:rPr lang="zh-CN" altLang="en-US" b="1" strike="noStrike" noProof="1" dirty="0">
                <a:latin typeface="Tahoma" panose="020B0604030504040204" pitchFamily="34" charset="0"/>
                <a:sym typeface="Monotype Sorts" pitchFamily="2" charset="2"/>
              </a:rPr>
              <a:t>，</a:t>
            </a:r>
            <a:r>
              <a:rPr lang="en-US" altLang="zh-CN" b="1" strike="noStrike" noProof="1" dirty="0">
                <a:latin typeface="Tahoma" panose="020B0604030504040204" pitchFamily="34" charset="0"/>
                <a:sym typeface="Monotype Sorts" pitchFamily="2" charset="2"/>
              </a:rPr>
              <a:t>[SI] </a:t>
            </a:r>
            <a:endParaRPr lang="zh-CN" altLang="en-US" b="1" strike="noStrike" noProof="1" dirty="0">
              <a:latin typeface="Tahoma" panose="020B0604030504040204" pitchFamily="34" charset="0"/>
              <a:sym typeface="Monotype Sorts" pitchFamily="2" charset="2"/>
            </a:endParaRPr>
          </a:p>
          <a:p>
            <a:pPr marL="342900" indent="-342900" algn="ctr" fontAlgn="base">
              <a:spcBef>
                <a:spcPct val="5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b="1" strike="noStrike" noProof="1" dirty="0">
                <a:latin typeface="Tahoma" panose="020B0604030504040204" pitchFamily="34" charset="0"/>
                <a:sym typeface="Monotype Sorts" pitchFamily="2" charset="2"/>
              </a:rPr>
              <a:t>ADD   30H  , 40H</a:t>
            </a:r>
            <a:endParaRPr lang="en-US" altLang="zh-CN" b="1" strike="noStrike" noProof="1" dirty="0">
              <a:latin typeface="Tahoma" panose="020B0604030504040204" pitchFamily="34" charset="0"/>
              <a:sym typeface="Monotype Sorts" pitchFamily="2" charset="2"/>
            </a:endParaRPr>
          </a:p>
        </p:txBody>
      </p:sp>
      <p:sp>
        <p:nvSpPr>
          <p:cNvPr id="1229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加减指令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989138"/>
            <a:ext cx="7308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⑴ 不带进位/借位的加、减法指令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/>
      <p:bldP spid="922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710" name="Text Box 14"/>
          <p:cNvSpPr txBox="1"/>
          <p:nvPr/>
        </p:nvSpPr>
        <p:spPr>
          <a:xfrm>
            <a:off x="500063" y="1989138"/>
            <a:ext cx="8116887" cy="2339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ADC    reg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reg/mem/imm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spcAft>
                <a:spcPts val="3000"/>
              </a:spcAft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ADC    mem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reg/imm        ;(OP1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OP1+OP2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+CF</a:t>
            </a:r>
            <a:r>
              <a:rPr lang="en-US" altLang="zh-CN" b="1" dirty="0">
                <a:latin typeface="Tahoma" panose="020B0604030504040204" pitchFamily="34" charset="0"/>
              </a:rPr>
              <a:t> )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SBB     reg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reg/mem/imm6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SBB     mem   </a:t>
            </a:r>
            <a:r>
              <a:rPr lang="zh-CN" altLang="en-US" b="1" dirty="0">
                <a:latin typeface="Tahoma" panose="020B0604030504040204" pitchFamily="34" charset="0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reg/imm     ;(OP1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OP1-OP2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-CF</a:t>
            </a:r>
            <a:r>
              <a:rPr lang="en-US" altLang="zh-CN" b="1" dirty="0">
                <a:latin typeface="Tahoma" panose="020B0604030504040204" pitchFamily="34" charset="0"/>
              </a:rPr>
              <a:t> )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sym typeface="Monotype Sorts" pitchFamily="2" charset="2"/>
            </a:endParaRPr>
          </a:p>
        </p:txBody>
      </p:sp>
      <p:sp>
        <p:nvSpPr>
          <p:cNvPr id="10246" name="Rectangle 49"/>
          <p:cNvSpPr/>
          <p:nvPr/>
        </p:nvSpPr>
        <p:spPr>
          <a:xfrm>
            <a:off x="501650" y="4579938"/>
            <a:ext cx="83947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spcBef>
                <a:spcPct val="50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带进位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借位加减法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主要用于多字节运算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16" name="文本框 2"/>
          <p:cNvSpPr txBox="1"/>
          <p:nvPr>
            <p:custDataLst>
              <p:tags r:id="rId1"/>
            </p:custDataLst>
          </p:nvPr>
        </p:nvSpPr>
        <p:spPr>
          <a:xfrm>
            <a:off x="539750" y="1484313"/>
            <a:ext cx="7308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 带进位/借位的加、减法指令</a:t>
            </a:r>
            <a:endParaRPr lang="zh-CN" altLang="en-US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7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加减指令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1650" y="5113338"/>
            <a:ext cx="8156575" cy="939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strike="noStrike" noProof="1">
                <a:solidFill>
                  <a:srgbClr val="C00000"/>
                </a:solidFill>
              </a:rPr>
              <a:t>注意</a:t>
            </a:r>
            <a:r>
              <a:rPr lang="zh-CN" altLang="en-US" b="1" strike="noStrike" noProof="1"/>
              <a:t>：加减指令将影响标志位。两个正数相加，结果为负数；或</a:t>
            </a:r>
            <a:r>
              <a:rPr lang="zh-CN" altLang="en-US" b="1" strike="noStrike" noProof="1">
                <a:sym typeface="+mn-ea"/>
              </a:rPr>
              <a:t>两个负数相</a:t>
            </a:r>
            <a:r>
              <a:rPr lang="zh-CN" altLang="en-US" b="1" strike="noStrike" noProof="1">
                <a:sym typeface="+mn-ea"/>
              </a:rPr>
              <a:t>加</a:t>
            </a:r>
            <a:r>
              <a:rPr lang="zh-CN" altLang="en-US" b="1" strike="noStrike" noProof="1">
                <a:sym typeface="+mn-ea"/>
              </a:rPr>
              <a:t>，结果为</a:t>
            </a:r>
            <a:r>
              <a:rPr lang="zh-CN" altLang="en-US" b="1" strike="noStrike" noProof="1">
                <a:sym typeface="+mn-ea"/>
              </a:rPr>
              <a:t>正</a:t>
            </a:r>
            <a:r>
              <a:rPr lang="zh-CN" altLang="en-US" b="1" strike="noStrike" noProof="1">
                <a:sym typeface="+mn-ea"/>
              </a:rPr>
              <a:t>数</a:t>
            </a:r>
            <a:r>
              <a:rPr lang="zh-CN" altLang="en-US" b="1" strike="noStrike" noProof="1"/>
              <a:t>，将产生溢出（</a:t>
            </a:r>
            <a:r>
              <a:rPr lang="en-US" altLang="zh-CN" b="1" strike="noStrike" noProof="1"/>
              <a:t>OF=1</a:t>
            </a:r>
            <a:r>
              <a:rPr lang="zh-CN" altLang="en-US" b="1" strike="noStrike" noProof="1"/>
              <a:t>）。</a:t>
            </a:r>
            <a:endParaRPr lang="zh-CN" altLang="en-US" b="1" strike="noStrike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/>
      <p:bldP spid="10246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98" name="Text Box 26"/>
          <p:cNvSpPr txBox="1"/>
          <p:nvPr/>
        </p:nvSpPr>
        <p:spPr>
          <a:xfrm>
            <a:off x="855663" y="1428750"/>
            <a:ext cx="7129462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latin typeface="Tahoma" panose="020B0604030504040204" pitchFamily="34" charset="0"/>
              </a:rPr>
              <a:t>例：计算   </a:t>
            </a:r>
            <a:r>
              <a:rPr lang="en-US" altLang="zh-CN" sz="2800" b="1" dirty="0">
                <a:latin typeface="Tahoma" panose="020B0604030504040204" pitchFamily="34" charset="0"/>
              </a:rPr>
              <a:t>1234F000H+98765000H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699" name="Rectangle 27"/>
          <p:cNvSpPr/>
          <p:nvPr/>
        </p:nvSpPr>
        <p:spPr>
          <a:xfrm>
            <a:off x="627063" y="2667000"/>
            <a:ext cx="294005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1 2 3 4  F000H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0" name="Rectangle 28"/>
          <p:cNvSpPr/>
          <p:nvPr/>
        </p:nvSpPr>
        <p:spPr>
          <a:xfrm>
            <a:off x="712788" y="3124200"/>
            <a:ext cx="282098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9 8 7 6  5000H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1" name="Line 29"/>
          <p:cNvSpPr/>
          <p:nvPr/>
        </p:nvSpPr>
        <p:spPr>
          <a:xfrm>
            <a:off x="398463" y="3657600"/>
            <a:ext cx="297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702" name="Text Box 30"/>
          <p:cNvSpPr txBox="1"/>
          <p:nvPr/>
        </p:nvSpPr>
        <p:spPr>
          <a:xfrm>
            <a:off x="212725" y="3119438"/>
            <a:ext cx="6096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+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3" name="Text Box 31"/>
          <p:cNvSpPr txBox="1"/>
          <p:nvPr/>
        </p:nvSpPr>
        <p:spPr>
          <a:xfrm>
            <a:off x="322263" y="3657600"/>
            <a:ext cx="343376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 A A A B  4000H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4" name="Text Box 32"/>
          <p:cNvSpPr txBox="1"/>
          <p:nvPr/>
        </p:nvSpPr>
        <p:spPr>
          <a:xfrm>
            <a:off x="1770063" y="3276600"/>
            <a:ext cx="4572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、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8705" name="Text Box 33"/>
          <p:cNvSpPr txBox="1"/>
          <p:nvPr/>
        </p:nvSpPr>
        <p:spPr>
          <a:xfrm>
            <a:off x="3284538" y="2362200"/>
            <a:ext cx="4300537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 MOV  AX</a:t>
            </a:r>
            <a:r>
              <a:rPr lang="zh-CN" altLang="en-US" sz="2800" b="1" dirty="0"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800" b="1" dirty="0">
                <a:latin typeface="Tahoma" panose="020B0604030504040204" pitchFamily="34" charset="0"/>
              </a:rPr>
              <a:t>F000H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6" name="Text Box 34"/>
          <p:cNvSpPr txBox="1"/>
          <p:nvPr/>
        </p:nvSpPr>
        <p:spPr>
          <a:xfrm>
            <a:off x="3627438" y="2833688"/>
            <a:ext cx="34290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ADD  AX</a:t>
            </a:r>
            <a:r>
              <a:rPr lang="zh-CN" altLang="en-US" sz="2800" b="1" dirty="0"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5000H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7" name="Text Box 35"/>
          <p:cNvSpPr txBox="1"/>
          <p:nvPr/>
        </p:nvSpPr>
        <p:spPr>
          <a:xfrm>
            <a:off x="3627438" y="3917950"/>
            <a:ext cx="34290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MOV  BX</a:t>
            </a:r>
            <a:r>
              <a:rPr lang="zh-CN" altLang="en-US" sz="2800" b="1" dirty="0"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1234H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8" name="Text Box 36"/>
          <p:cNvSpPr txBox="1"/>
          <p:nvPr/>
        </p:nvSpPr>
        <p:spPr>
          <a:xfrm>
            <a:off x="3627438" y="4451350"/>
            <a:ext cx="34290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ADC</a:t>
            </a:r>
            <a:r>
              <a:rPr lang="en-US" altLang="zh-CN" sz="2800" b="1" dirty="0">
                <a:latin typeface="Tahoma" panose="020B0604030504040204" pitchFamily="34" charset="0"/>
              </a:rPr>
              <a:t>  BX</a:t>
            </a:r>
            <a:r>
              <a:rPr lang="zh-CN" altLang="en-US" sz="2800" b="1" dirty="0"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9876H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28709" name="Text Box 37"/>
          <p:cNvSpPr txBox="1"/>
          <p:nvPr/>
        </p:nvSpPr>
        <p:spPr>
          <a:xfrm>
            <a:off x="4465638" y="3333750"/>
            <a:ext cx="43910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；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AX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 4000H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CF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1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8710" name="Text Box 38"/>
          <p:cNvSpPr txBox="1"/>
          <p:nvPr/>
        </p:nvSpPr>
        <p:spPr>
          <a:xfrm>
            <a:off x="4427538" y="4976813"/>
            <a:ext cx="4429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；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BX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 AAABH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CF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0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8711" name="Line 39"/>
          <p:cNvSpPr/>
          <p:nvPr/>
        </p:nvSpPr>
        <p:spPr>
          <a:xfrm>
            <a:off x="2146300" y="2438400"/>
            <a:ext cx="0" cy="2057400"/>
          </a:xfrm>
          <a:prstGeom prst="line">
            <a:avLst/>
          </a:prstGeom>
          <a:ln w="28575" cap="rnd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14352" name="Rectangle 40"/>
          <p:cNvSpPr/>
          <p:nvPr/>
        </p:nvSpPr>
        <p:spPr>
          <a:xfrm>
            <a:off x="1571625" y="571500"/>
            <a:ext cx="26463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多字节运算：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  <a:sym typeface="Monotype Sorts" pitchFamily="2" charset="2"/>
            </a:endParaRPr>
          </a:p>
        </p:txBody>
      </p:sp>
      <p:sp>
        <p:nvSpPr>
          <p:cNvPr id="19" name="Text Box 33"/>
          <p:cNvSpPr txBox="1"/>
          <p:nvPr/>
        </p:nvSpPr>
        <p:spPr>
          <a:xfrm>
            <a:off x="3427413" y="1928813"/>
            <a:ext cx="4643437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 ADD  0F000H</a:t>
            </a:r>
            <a:r>
              <a:rPr lang="zh-CN" altLang="en-US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5000H</a:t>
            </a:r>
            <a:endParaRPr lang="en-US" altLang="zh-CN" sz="2800" b="1" dirty="0">
              <a:solidFill>
                <a:srgbClr val="0070C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组合 23"/>
          <p:cNvGrpSpPr/>
          <p:nvPr/>
        </p:nvGrpSpPr>
        <p:grpSpPr>
          <a:xfrm>
            <a:off x="7999413" y="1928813"/>
            <a:ext cx="500062" cy="571500"/>
            <a:chOff x="8286776" y="1928802"/>
            <a:chExt cx="500066" cy="571504"/>
          </a:xfrm>
        </p:grpSpPr>
        <p:cxnSp>
          <p:nvCxnSpPr>
            <p:cNvPr id="14355" name="直接连接符 20"/>
            <p:cNvCxnSpPr/>
            <p:nvPr/>
          </p:nvCxnSpPr>
          <p:spPr>
            <a:xfrm rot="-5400000" flipH="1">
              <a:off x="8251057" y="1964521"/>
              <a:ext cx="571504" cy="50006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4356" name="直接连接符 22"/>
            <p:cNvCxnSpPr/>
            <p:nvPr/>
          </p:nvCxnSpPr>
          <p:spPr>
            <a:xfrm rot="-10800000" flipV="1">
              <a:off x="8358214" y="2000240"/>
              <a:ext cx="428628" cy="35719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cxnSp>
        <p:nvCxnSpPr>
          <p:cNvPr id="23" name="直接连接符 22"/>
          <p:cNvCxnSpPr/>
          <p:nvPr/>
        </p:nvCxnSpPr>
        <p:spPr>
          <a:xfrm>
            <a:off x="5713413" y="2786063"/>
            <a:ext cx="285750" cy="1587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" name="直接箭头连接符 24"/>
          <p:cNvCxnSpPr/>
          <p:nvPr/>
        </p:nvCxnSpPr>
        <p:spPr>
          <a:xfrm rot="-5400000" flipV="1">
            <a:off x="4857750" y="1714500"/>
            <a:ext cx="1785938" cy="500063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4286250" y="642938"/>
            <a:ext cx="270986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与变量名相区别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8" grpId="0"/>
      <p:bldP spid="28699" grpId="0"/>
      <p:bldP spid="28700" grpId="0"/>
      <p:bldP spid="28702" grpId="0"/>
      <p:bldP spid="28703" grpId="0"/>
      <p:bldP spid="28704" grpId="0"/>
      <p:bldP spid="28705" grpId="0"/>
      <p:bldP spid="28706" grpId="0"/>
      <p:bldP spid="28707" grpId="0"/>
      <p:bldP spid="28708" grpId="0"/>
      <p:bldP spid="28709" grpId="0"/>
      <p:bldP spid="28710" grpId="0"/>
      <p:bldP spid="19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2" name="矩形 45"/>
          <p:cNvSpPr/>
          <p:nvPr/>
        </p:nvSpPr>
        <p:spPr>
          <a:xfrm>
            <a:off x="777875" y="260350"/>
            <a:ext cx="83661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3-1. </a:t>
            </a:r>
            <a:r>
              <a:rPr lang="zh-CN" altLang="en-US" sz="2800" b="1" dirty="0">
                <a:latin typeface="Tahoma" panose="020B0604030504040204" pitchFamily="34" charset="0"/>
              </a:rPr>
              <a:t>计算多字节数据</a:t>
            </a:r>
            <a:r>
              <a:rPr lang="en-US" altLang="zh-CN" sz="2800" b="1" dirty="0">
                <a:latin typeface="Tahoma" panose="020B0604030504040204" pitchFamily="34" charset="0"/>
              </a:rPr>
              <a:t>1122334455667788H</a:t>
            </a:r>
            <a:r>
              <a:rPr lang="zh-CN" altLang="en-US" sz="2800" b="1" dirty="0">
                <a:latin typeface="Tahoma" panose="020B0604030504040204" pitchFamily="34" charset="0"/>
              </a:rPr>
              <a:t>与 </a:t>
            </a: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        99AABBCCDDEEFF00H</a:t>
            </a:r>
            <a:r>
              <a:rPr lang="zh-CN" altLang="en-US" sz="2800" b="1" dirty="0">
                <a:latin typeface="Tahoma" panose="020B0604030504040204" pitchFamily="34" charset="0"/>
              </a:rPr>
              <a:t>的和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14375" y="1500188"/>
            <a:ext cx="47609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1122  3344  5566  7788H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28650" y="2143125"/>
            <a:ext cx="487838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99AA  BBCC  DDEE  FF00H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50" name="Text Box 30"/>
          <p:cNvSpPr txBox="1"/>
          <p:nvPr/>
        </p:nvSpPr>
        <p:spPr>
          <a:xfrm>
            <a:off x="0" y="2071688"/>
            <a:ext cx="6096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+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142875" y="2786063"/>
            <a:ext cx="5500688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3" name="矩形 52"/>
          <p:cNvSpPr/>
          <p:nvPr/>
        </p:nvSpPr>
        <p:spPr>
          <a:xfrm>
            <a:off x="620713" y="2928938"/>
            <a:ext cx="48926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AACC  EF11   3355  7688H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429375" y="1565275"/>
            <a:ext cx="917575" cy="35385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88H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77H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66H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55H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44H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33H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22H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11H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29500" y="1101725"/>
            <a:ext cx="1714500" cy="3970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偏移地址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0000H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0001H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0002H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0003H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0004H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0005H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0006H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0007H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2600" y="5143500"/>
            <a:ext cx="80835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D1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en-US" altLang="zh-CN" sz="2800" b="1" dirty="0">
                <a:solidFill>
                  <a:srgbClr val="C00000"/>
                </a:solidFill>
                <a:latin typeface="Tahoma" panose="020B0604030504040204" pitchFamily="34" charset="0"/>
              </a:rPr>
              <a:t>DB</a:t>
            </a:r>
            <a:r>
              <a:rPr lang="en-US" altLang="zh-CN" sz="2800" b="1" dirty="0">
                <a:latin typeface="Tahoma" panose="020B0604030504040204" pitchFamily="34" charset="0"/>
              </a:rPr>
              <a:t> 88H,77H,66H,55H,44H,33H,22H,11H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875" y="5805488"/>
            <a:ext cx="75311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;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D1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en-US" altLang="zh-CN" sz="2800" b="1" dirty="0">
                <a:solidFill>
                  <a:srgbClr val="C00000"/>
                </a:solidFill>
                <a:latin typeface="Tahoma" panose="020B0604030504040204" pitchFamily="34" charset="0"/>
              </a:rPr>
              <a:t>DW</a:t>
            </a: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7788H,5566H,3344H,</a:t>
            </a:r>
            <a:r>
              <a:rPr lang="en-US" altLang="zh-CN" sz="2800" b="1" dirty="0">
                <a:latin typeface="Tahoma" panose="020B0604030504040204" pitchFamily="34" charset="0"/>
              </a:rPr>
              <a:t>1122H      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3" grpId="0"/>
      <p:bldP spid="59" grpId="0"/>
      <p:bldP spid="60" grpId="0"/>
      <p:bldP spid="2" grpId="0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14375" y="1500188"/>
            <a:ext cx="47609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1122  3344  5566  7788H</a:t>
            </a: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28650" y="2143125"/>
            <a:ext cx="487838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99AA  BBCC  DDEE  FF00H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</p:txBody>
      </p:sp>
      <p:sp>
        <p:nvSpPr>
          <p:cNvPr id="50" name="Text Box 30"/>
          <p:cNvSpPr txBox="1"/>
          <p:nvPr/>
        </p:nvSpPr>
        <p:spPr>
          <a:xfrm>
            <a:off x="0" y="2071688"/>
            <a:ext cx="6096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+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142875" y="2786063"/>
            <a:ext cx="5500688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3" name="矩形 52"/>
          <p:cNvSpPr/>
          <p:nvPr/>
        </p:nvSpPr>
        <p:spPr>
          <a:xfrm>
            <a:off x="620713" y="2928938"/>
            <a:ext cx="48926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AACC  EF11   3355  7688H</a:t>
            </a: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429375" y="1565275"/>
            <a:ext cx="993775" cy="35385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00H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FFH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EEH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DDH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CCH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BBH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AAH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00B0F0"/>
                </a:solidFill>
                <a:latin typeface="Tahoma" panose="020B0604030504040204" pitchFamily="34" charset="0"/>
              </a:rPr>
              <a:t>99H</a:t>
            </a:r>
            <a:endParaRPr lang="en-US" altLang="zh-CN" sz="2800" b="1" dirty="0">
              <a:solidFill>
                <a:srgbClr val="00B0F0"/>
              </a:solidFill>
              <a:latin typeface="Tahoma" panose="020B060403050404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429500" y="1101725"/>
            <a:ext cx="1714500" cy="3968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偏移地址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0008H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0009H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000AH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000BH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000CH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000DH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000EH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000FH</a:t>
            </a: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2600" y="5143500"/>
            <a:ext cx="841216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D2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DB</a:t>
            </a: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00H,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FFH,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EEH,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DDH,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CCH,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BBH,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en-US" altLang="zh-CN" b="1" dirty="0">
                <a:latin typeface="Tahoma" panose="020B0604030504040204" pitchFamily="34" charset="0"/>
              </a:rPr>
              <a:t>AAH,99H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813" y="5805488"/>
            <a:ext cx="781050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;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D2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DW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FF00H,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DDEEH,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BBCCH,99AAH      </a:t>
            </a:r>
            <a:endParaRPr lang="en-US" altLang="zh-CN" sz="2800" b="1" dirty="0">
              <a:latin typeface="Tahoma" panose="020B0604030504040204" pitchFamily="34" charset="0"/>
              <a:sym typeface="宋体" panose="02010600030101010101" pitchFamily="2" charset="-122"/>
            </a:endParaRPr>
          </a:p>
        </p:txBody>
      </p:sp>
      <p:sp>
        <p:nvSpPr>
          <p:cNvPr id="16395" name="矩形 45"/>
          <p:cNvSpPr/>
          <p:nvPr>
            <p:custDataLst>
              <p:tags r:id="rId1"/>
            </p:custDataLst>
          </p:nvPr>
        </p:nvSpPr>
        <p:spPr>
          <a:xfrm>
            <a:off x="777875" y="260350"/>
            <a:ext cx="83661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3-1.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计算多字节数据</a:t>
            </a:r>
            <a:r>
              <a:rPr lang="en-US" altLang="zh-CN" sz="2800" b="1" dirty="0">
                <a:latin typeface="Tahoma" panose="020B0604030504040204" pitchFamily="34" charset="0"/>
              </a:rPr>
              <a:t>1122334455667788H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        99AABBCCDDEEFF00H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的和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3" grpId="0"/>
      <p:bldP spid="59" grpId="0"/>
      <p:bldP spid="60" grpId="0"/>
      <p:bldP spid="2" grpId="0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0" name="矩形 45"/>
          <p:cNvSpPr/>
          <p:nvPr/>
        </p:nvSpPr>
        <p:spPr>
          <a:xfrm>
            <a:off x="214313" y="0"/>
            <a:ext cx="8929687" cy="952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3-1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、</a:t>
            </a:r>
            <a:r>
              <a:rPr lang="zh-CN" altLang="en-US" sz="2800" b="1" dirty="0">
                <a:latin typeface="Tahoma" panose="020B0604030504040204" pitchFamily="34" charset="0"/>
              </a:rPr>
              <a:t>计算多字节数据</a:t>
            </a:r>
            <a:r>
              <a:rPr lang="en-US" altLang="zh-CN" sz="2800" b="1" dirty="0">
                <a:latin typeface="Tahoma" panose="020B0604030504040204" pitchFamily="34" charset="0"/>
              </a:rPr>
              <a:t>1122334455667788H</a:t>
            </a:r>
            <a:r>
              <a:rPr lang="zh-CN" altLang="en-US" sz="2800" b="1" dirty="0">
                <a:latin typeface="Tahoma" panose="020B0604030504040204" pitchFamily="34" charset="0"/>
              </a:rPr>
              <a:t>与 </a:t>
            </a:r>
            <a:r>
              <a:rPr lang="en-US" altLang="zh-CN" sz="2800" b="1" dirty="0">
                <a:latin typeface="Tahoma" panose="020B0604030504040204" pitchFamily="34" charset="0"/>
              </a:rPr>
              <a:t>99AABBCCDDEEFF00H</a:t>
            </a:r>
            <a:r>
              <a:rPr lang="zh-CN" altLang="en-US" sz="2800" b="1" dirty="0">
                <a:latin typeface="Tahoma" panose="020B0604030504040204" pitchFamily="34" charset="0"/>
              </a:rPr>
              <a:t>的和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pic>
        <p:nvPicPr>
          <p:cNvPr id="6246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00"/>
            <a:ext cx="4664075" cy="58197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8" name="直接连接符 17"/>
          <p:cNvCxnSpPr/>
          <p:nvPr/>
        </p:nvCxnSpPr>
        <p:spPr>
          <a:xfrm>
            <a:off x="714375" y="4059238"/>
            <a:ext cx="1336675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1979613" y="3717925"/>
            <a:ext cx="1500187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;CF=0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1741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938213"/>
            <a:ext cx="3998913" cy="1436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163" y="2279650"/>
            <a:ext cx="1581150" cy="25114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" name="组合 14"/>
          <p:cNvGrpSpPr/>
          <p:nvPr/>
        </p:nvGrpSpPr>
        <p:grpSpPr>
          <a:xfrm>
            <a:off x="4714875" y="2351088"/>
            <a:ext cx="754063" cy="460375"/>
            <a:chOff x="7425" y="3928"/>
            <a:chExt cx="1187" cy="725"/>
          </a:xfrm>
        </p:grpSpPr>
        <p:cxnSp>
          <p:nvCxnSpPr>
            <p:cNvPr id="17417" name="直接连接符 4"/>
            <p:cNvCxnSpPr/>
            <p:nvPr/>
          </p:nvCxnSpPr>
          <p:spPr>
            <a:xfrm>
              <a:off x="7429" y="4607"/>
              <a:ext cx="858" cy="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17418" name="TextBox 18"/>
            <p:cNvSpPr txBox="1"/>
            <p:nvPr/>
          </p:nvSpPr>
          <p:spPr>
            <a:xfrm>
              <a:off x="7425" y="3928"/>
              <a:ext cx="118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SI</a:t>
              </a:r>
              <a:endParaRPr lang="zh-CN" altLang="en-US" b="1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716463" y="4510088"/>
            <a:ext cx="754062" cy="460375"/>
            <a:chOff x="7427" y="7328"/>
            <a:chExt cx="1187" cy="725"/>
          </a:xfrm>
        </p:grpSpPr>
        <p:cxnSp>
          <p:nvCxnSpPr>
            <p:cNvPr id="17420" name="直接连接符 6"/>
            <p:cNvCxnSpPr/>
            <p:nvPr/>
          </p:nvCxnSpPr>
          <p:spPr>
            <a:xfrm>
              <a:off x="7429" y="7940"/>
              <a:ext cx="858" cy="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17421" name="TextBox 18"/>
            <p:cNvSpPr txBox="1"/>
            <p:nvPr/>
          </p:nvSpPr>
          <p:spPr>
            <a:xfrm>
              <a:off x="7427" y="7328"/>
              <a:ext cx="118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DI</a:t>
              </a:r>
              <a:endParaRPr lang="zh-CN" altLang="en-US" b="1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359025"/>
            <a:ext cx="1543050" cy="2324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163" y="4799013"/>
            <a:ext cx="1390650" cy="20447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16"/>
          <p:cNvGrpSpPr/>
          <p:nvPr/>
        </p:nvGrpSpPr>
        <p:grpSpPr>
          <a:xfrm>
            <a:off x="6877050" y="2359025"/>
            <a:ext cx="752475" cy="460375"/>
            <a:chOff x="10829" y="3939"/>
            <a:chExt cx="1187" cy="725"/>
          </a:xfrm>
        </p:grpSpPr>
        <p:cxnSp>
          <p:nvCxnSpPr>
            <p:cNvPr id="17425" name="直接连接符 12"/>
            <p:cNvCxnSpPr/>
            <p:nvPr/>
          </p:nvCxnSpPr>
          <p:spPr>
            <a:xfrm>
              <a:off x="10831" y="4621"/>
              <a:ext cx="858" cy="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  <p:sp>
          <p:nvSpPr>
            <p:cNvPr id="17426" name="TextBox 18"/>
            <p:cNvSpPr txBox="1"/>
            <p:nvPr/>
          </p:nvSpPr>
          <p:spPr>
            <a:xfrm>
              <a:off x="10829" y="3939"/>
              <a:ext cx="118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BX</a:t>
              </a:r>
              <a:endParaRPr lang="zh-CN" altLang="en-US" b="1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19458" name="矩形 45"/>
          <p:cNvSpPr/>
          <p:nvPr/>
        </p:nvSpPr>
        <p:spPr>
          <a:xfrm>
            <a:off x="214313" y="0"/>
            <a:ext cx="8929687" cy="952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3-1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计算多字节数据</a:t>
            </a:r>
            <a:r>
              <a:rPr lang="en-US" altLang="zh-CN" sz="2800" b="1" dirty="0">
                <a:latin typeface="Tahoma" panose="020B0604030504040204" pitchFamily="34" charset="0"/>
              </a:rPr>
              <a:t>1122334455667788H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latin typeface="Tahoma" panose="020B0604030504040204" pitchFamily="34" charset="0"/>
              </a:rPr>
              <a:t>99AABBCCDDEEFF00H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的和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945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8225"/>
            <a:ext cx="4664075" cy="58197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9460" name="直接连接符 17"/>
          <p:cNvCxnSpPr/>
          <p:nvPr/>
        </p:nvCxnSpPr>
        <p:spPr>
          <a:xfrm>
            <a:off x="714375" y="4148138"/>
            <a:ext cx="8572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9461" name="TextBox 18"/>
          <p:cNvSpPr txBox="1"/>
          <p:nvPr/>
        </p:nvSpPr>
        <p:spPr>
          <a:xfrm>
            <a:off x="2195513" y="3819525"/>
            <a:ext cx="1500187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;CF=0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-12700"/>
            <a:ext cx="7453313" cy="6835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1004888" y="3649663"/>
            <a:ext cx="8143875" cy="18145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查看结果时，需补充文字说明：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加数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的存放地址：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…~…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，数据值为：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…….H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加数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的存放地址：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…~…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，数据值为：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…….H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和的存放地址：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     …~…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，数据值为：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…….H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698750" y="5759450"/>
            <a:ext cx="2160588" cy="31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" name="直接连接符 4"/>
          <p:cNvCxnSpPr/>
          <p:nvPr/>
        </p:nvCxnSpPr>
        <p:spPr>
          <a:xfrm>
            <a:off x="4953000" y="5765800"/>
            <a:ext cx="2159000" cy="31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" name="直接连接符 5"/>
          <p:cNvCxnSpPr/>
          <p:nvPr/>
        </p:nvCxnSpPr>
        <p:spPr>
          <a:xfrm>
            <a:off x="2714625" y="5900738"/>
            <a:ext cx="2160588" cy="317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2253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求补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31" name="Rectangle 49"/>
          <p:cNvSpPr/>
          <p:nvPr>
            <p:custDataLst>
              <p:tags r:id="rId2"/>
            </p:custDataLst>
          </p:nvPr>
        </p:nvSpPr>
        <p:spPr>
          <a:xfrm>
            <a:off x="539750" y="1484313"/>
            <a:ext cx="39512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2.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求补指令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4213" y="1947863"/>
            <a:ext cx="806132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b="1" dirty="0">
                <a:latin typeface="Tahoma" panose="020B0604030504040204" pitchFamily="34" charset="0"/>
              </a:rPr>
              <a:t>NEG   reg/imm    ;</a:t>
            </a:r>
            <a:r>
              <a:rPr lang="en-US" altLang="zh-CN" sz="2800" b="1" dirty="0">
                <a:latin typeface="Tahoma" panose="020B0604030504040204" pitchFamily="34" charset="0"/>
                <a:sym typeface="宋体" panose="02010600030101010101" pitchFamily="2" charset="-122"/>
              </a:rPr>
              <a:t>reg/imm←0 - reg/imm</a:t>
            </a:r>
            <a:endParaRPr lang="en-US" altLang="zh-CN" sz="2800" b="1" dirty="0">
              <a:latin typeface="Tahoma" panose="020B0604030504040204" pitchFamily="34" charset="0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2565400"/>
            <a:ext cx="7997825" cy="939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marL="342900" indent="-342900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strike="noStrike" noProof="1"/>
              <a:t>NEG 指令可用于已知某负数的绝对值求其补码，或已知某负数的补码求其绝对值</a:t>
            </a:r>
            <a:r>
              <a:rPr lang="zh-CN" altLang="en-US" strike="noStrike" noProof="1"/>
              <a:t>。</a:t>
            </a:r>
            <a:endParaRPr lang="zh-CN" altLang="en-US" strike="noStrike" noProof="1"/>
          </a:p>
        </p:txBody>
      </p:sp>
      <p:sp>
        <p:nvSpPr>
          <p:cNvPr id="5" name="文本框 4"/>
          <p:cNvSpPr txBox="1"/>
          <p:nvPr/>
        </p:nvSpPr>
        <p:spPr>
          <a:xfrm>
            <a:off x="539750" y="3455988"/>
            <a:ext cx="7997825" cy="1789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例如： 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ahoma" panose="020B0604030504040204" pitchFamily="34" charset="0"/>
              </a:rPr>
              <a:t>      	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MOV AL,56H </a:t>
            </a:r>
            <a:r>
              <a:rPr lang="en-US" altLang="zh-CN" b="1">
                <a:latin typeface="Tahoma" panose="020B0604030504040204" pitchFamily="34" charset="0"/>
              </a:rPr>
              <a:t>	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;AL=01010110B=+86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 indent="4572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NEG AL </a:t>
            </a:r>
            <a:r>
              <a:rPr lang="en-US" altLang="zh-CN" b="1">
                <a:latin typeface="Tahoma" panose="020B0604030504040204" pitchFamily="34" charset="0"/>
              </a:rPr>
              <a:t>		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;AL=10101010B=(-86)</a:t>
            </a:r>
            <a:r>
              <a:rPr lang="zh-CN" altLang="en-US" b="1" baseline="-25000">
                <a:latin typeface="Tahoma" panose="020B0604030504040204" pitchFamily="34" charset="0"/>
                <a:ea typeface="宋体" panose="02010600030101010101" pitchFamily="2" charset="-122"/>
              </a:rPr>
              <a:t>补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1" indent="4572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NEG AL </a:t>
            </a:r>
            <a:r>
              <a:rPr lang="en-US" altLang="zh-CN" b="1">
                <a:latin typeface="Tahoma" panose="020B0604030504040204" pitchFamily="34" charset="0"/>
              </a:rPr>
              <a:t>		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;AL=01010110B=+86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750" y="5300663"/>
            <a:ext cx="7997825" cy="12588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marL="342900" indent="-342900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strike="noStrike" noProof="1">
                <a:solidFill>
                  <a:srgbClr val="C00000"/>
                </a:solidFill>
              </a:rPr>
              <a:t>执行 NEG 指令，一般 CF=1，操作数为零时 CF=0。</a:t>
            </a:r>
            <a:endParaRPr lang="zh-CN" altLang="en-US" sz="2200" b="1" strike="noStrike" noProof="1">
              <a:solidFill>
                <a:srgbClr val="C00000"/>
              </a:solidFill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strike="noStrike" noProof="1">
                <a:solidFill>
                  <a:srgbClr val="C00000"/>
                </a:solidFill>
              </a:rPr>
              <a:t>当操作数为 80H（-128）或 8000H（-32768），执行 NEG 指令后结果不变，但 OF 置 1，其它情况 OF 均置 0。</a:t>
            </a:r>
            <a:endParaRPr lang="zh-CN" altLang="en-US" sz="2200" b="1" strike="noStrike" noProof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27651" name="Text Box 2"/>
          <p:cNvSpPr txBox="1"/>
          <p:nvPr/>
        </p:nvSpPr>
        <p:spPr>
          <a:xfrm>
            <a:off x="682625" y="1989138"/>
            <a:ext cx="7748588" cy="998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15000"/>
              </a:lnSpc>
              <a:spcBef>
                <a:spcPts val="5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CMP     reg,  reg/mem/imm          (8/16)                      CMP     mem,  reg/imm           ; OP1 - OP2</a:t>
            </a:r>
            <a:endParaRPr lang="en-US" altLang="zh-CN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组合 28"/>
          <p:cNvGrpSpPr/>
          <p:nvPr/>
        </p:nvGrpSpPr>
        <p:grpSpPr>
          <a:xfrm>
            <a:off x="684213" y="4221163"/>
            <a:ext cx="7858125" cy="604837"/>
            <a:chOff x="785816" y="4324346"/>
            <a:chExt cx="7858150" cy="604852"/>
          </a:xfrm>
        </p:grpSpPr>
        <p:sp>
          <p:nvSpPr>
            <p:cNvPr id="23556" name="Rectangle 43"/>
            <p:cNvSpPr/>
            <p:nvPr/>
          </p:nvSpPr>
          <p:spPr>
            <a:xfrm>
              <a:off x="785816" y="4324346"/>
              <a:ext cx="7858150" cy="604852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          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OF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  DF  IF  TF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  SF  ZF  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  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AF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    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PF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    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CF</a:t>
              </a:r>
              <a:endPara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3557" name="Line 44"/>
            <p:cNvSpPr/>
            <p:nvPr/>
          </p:nvSpPr>
          <p:spPr>
            <a:xfrm>
              <a:off x="1285852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58" name="Line 45"/>
            <p:cNvSpPr/>
            <p:nvPr/>
          </p:nvSpPr>
          <p:spPr>
            <a:xfrm>
              <a:off x="1714480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59" name="Line 46"/>
            <p:cNvSpPr/>
            <p:nvPr/>
          </p:nvSpPr>
          <p:spPr>
            <a:xfrm>
              <a:off x="2143108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0" name="Line 47"/>
            <p:cNvSpPr/>
            <p:nvPr/>
          </p:nvSpPr>
          <p:spPr>
            <a:xfrm>
              <a:off x="2571736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1" name="Line 48"/>
            <p:cNvSpPr/>
            <p:nvPr/>
          </p:nvSpPr>
          <p:spPr>
            <a:xfrm>
              <a:off x="3071802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2" name="Line 49"/>
            <p:cNvSpPr/>
            <p:nvPr/>
          </p:nvSpPr>
          <p:spPr>
            <a:xfrm>
              <a:off x="3643306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3" name="Line 50"/>
            <p:cNvSpPr/>
            <p:nvPr/>
          </p:nvSpPr>
          <p:spPr>
            <a:xfrm>
              <a:off x="4143372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4" name="Line 51"/>
            <p:cNvSpPr/>
            <p:nvPr/>
          </p:nvSpPr>
          <p:spPr>
            <a:xfrm>
              <a:off x="6143636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5" name="Line 52"/>
            <p:cNvSpPr/>
            <p:nvPr/>
          </p:nvSpPr>
          <p:spPr>
            <a:xfrm>
              <a:off x="5715008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6" name="Line 53"/>
            <p:cNvSpPr/>
            <p:nvPr/>
          </p:nvSpPr>
          <p:spPr>
            <a:xfrm>
              <a:off x="5214942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7" name="Line 54"/>
            <p:cNvSpPr/>
            <p:nvPr/>
          </p:nvSpPr>
          <p:spPr>
            <a:xfrm>
              <a:off x="4714876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8" name="Line 55"/>
            <p:cNvSpPr/>
            <p:nvPr/>
          </p:nvSpPr>
          <p:spPr>
            <a:xfrm>
              <a:off x="6643702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9" name="Line 56"/>
            <p:cNvSpPr/>
            <p:nvPr/>
          </p:nvSpPr>
          <p:spPr>
            <a:xfrm>
              <a:off x="7072330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0" name="Line 57"/>
            <p:cNvSpPr/>
            <p:nvPr/>
          </p:nvSpPr>
          <p:spPr>
            <a:xfrm>
              <a:off x="7572396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1" name="Line 58"/>
            <p:cNvSpPr/>
            <p:nvPr/>
          </p:nvSpPr>
          <p:spPr>
            <a:xfrm>
              <a:off x="8001024" y="4324346"/>
              <a:ext cx="0" cy="60485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3572" name="矩形 45"/>
          <p:cNvSpPr/>
          <p:nvPr/>
        </p:nvSpPr>
        <p:spPr>
          <a:xfrm>
            <a:off x="611188" y="1484313"/>
            <a:ext cx="64293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 比较指令CMP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98" name="文本框 2"/>
          <p:cNvSpPr txBox="1"/>
          <p:nvPr/>
        </p:nvSpPr>
        <p:spPr>
          <a:xfrm>
            <a:off x="684213" y="5156200"/>
            <a:ext cx="7332662" cy="946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spcBef>
                <a:spcPts val="5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例：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CMP  AX,BX     ; AX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BX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置标志位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spcBef>
                <a:spcPts val="5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        JZ     NEXT      ;ZF=1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转标号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NEXT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处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2625" y="2959100"/>
            <a:ext cx="7867650" cy="9461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algn="just" fontAlgn="base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Tx/>
              <a:buFontTx/>
            </a:pPr>
            <a:r>
              <a:rPr lang="zh-CN" altLang="en-US" b="1" strike="noStrike" noProof="1" dirty="0">
                <a:sym typeface="+mn-ea"/>
              </a:rPr>
              <a:t>特点：</a:t>
            </a:r>
            <a:r>
              <a:rPr lang="en-US" altLang="zh-CN" b="1" strike="noStrike" noProof="1" dirty="0">
                <a:sym typeface="+mn-ea"/>
              </a:rPr>
              <a:t>结果不送回目的操作数，源和目的操作数的值不</a:t>
            </a:r>
            <a:endParaRPr lang="en-US" altLang="zh-CN" b="1" strike="noStrike" noProof="1" dirty="0">
              <a:latin typeface="Tahoma" panose="020B0604030504040204" pitchFamily="34" charset="0"/>
            </a:endParaRPr>
          </a:p>
          <a:p>
            <a:pPr algn="just" fontAlgn="base">
              <a:lnSpc>
                <a:spcPct val="115000"/>
              </a:lnSpc>
              <a:spcBef>
                <a:spcPts val="50"/>
              </a:spcBef>
              <a:spcAft>
                <a:spcPts val="0"/>
              </a:spcAft>
              <a:buClrTx/>
              <a:buFontTx/>
            </a:pPr>
            <a:r>
              <a:rPr lang="en-US" altLang="zh-CN" b="1" strike="noStrike" noProof="1" dirty="0">
                <a:sym typeface="+mn-ea"/>
              </a:rPr>
              <a:t>变，但影响 6 个状态标志位</a:t>
            </a:r>
            <a:r>
              <a:rPr lang="zh-CN" altLang="en-US" b="1" strike="noStrike" noProof="1" dirty="0">
                <a:sym typeface="+mn-ea"/>
              </a:rPr>
              <a:t>。</a:t>
            </a:r>
            <a:endParaRPr lang="zh-CN" altLang="en-US" b="1" strike="noStrike" noProof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4" grpId="0" animBg="1"/>
      <p:bldP spid="245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乘除指令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8" name="矩形 45"/>
          <p:cNvSpPr/>
          <p:nvPr>
            <p:custDataLst>
              <p:tags r:id="rId2"/>
            </p:custDataLst>
          </p:nvPr>
        </p:nvSpPr>
        <p:spPr>
          <a:xfrm>
            <a:off x="611188" y="1484313"/>
            <a:ext cx="64293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 乘法和除法指令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1916113"/>
            <a:ext cx="7921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）无符号数乘法指令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en-US" altLang="zh-CN" b="1" dirty="0">
                <a:latin typeface="Tahoma" panose="020B0604030504040204" pitchFamily="34" charset="0"/>
              </a:rPr>
              <a:t>MUL   reg/mem(8/16)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0732" name="Rectangle 12"/>
          <p:cNvSpPr/>
          <p:nvPr>
            <p:custDataLst>
              <p:tags r:id="rId3"/>
            </p:custDataLst>
          </p:nvPr>
        </p:nvSpPr>
        <p:spPr>
          <a:xfrm>
            <a:off x="395288" y="2349500"/>
            <a:ext cx="86772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）有符号数乘法指令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    </a:t>
            </a:r>
            <a:r>
              <a:rPr lang="en-US" altLang="zh-CN" b="1" dirty="0">
                <a:latin typeface="Tahoma" panose="020B0604030504040204" pitchFamily="34" charset="0"/>
              </a:rPr>
              <a:t>IMUL</a:t>
            </a:r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reg/mem(8/16)</a:t>
            </a:r>
            <a:endParaRPr lang="en-US" altLang="zh-CN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188" y="2757488"/>
            <a:ext cx="7705725" cy="939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b="1">
                <a:latin typeface="Tahoma" panose="020B0604030504040204" pitchFamily="34" charset="0"/>
              </a:rPr>
              <a:t>采用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</a:rPr>
              <a:t>隐含寻址</a:t>
            </a:r>
            <a:r>
              <a:rPr lang="zh-CN" altLang="en-US" b="1">
                <a:latin typeface="Tahoma" panose="020B0604030504040204" pitchFamily="34" charset="0"/>
              </a:rPr>
              <a:t>方式。乘法隐含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</a:rPr>
              <a:t>目的操作数为 AX（与 DX）</a:t>
            </a:r>
            <a:r>
              <a:rPr lang="zh-CN" altLang="en-US" b="1">
                <a:latin typeface="Tahoma" panose="020B0604030504040204" pitchFamily="34" charset="0"/>
              </a:rPr>
              <a:t>，源操作数由指令给出。</a:t>
            </a:r>
            <a:endParaRPr lang="zh-CN" altLang="en-US" b="1">
              <a:latin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7450" y="3697288"/>
            <a:ext cx="57483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b="1">
                <a:latin typeface="Tahoma" panose="020B0604030504040204" pitchFamily="34" charset="0"/>
              </a:rPr>
              <a:t>(</a:t>
            </a:r>
            <a:r>
              <a:rPr lang="zh-CN" altLang="en-US" b="1">
                <a:solidFill>
                  <a:srgbClr val="0000FF"/>
                </a:solidFill>
                <a:latin typeface="Tahoma" panose="020B0604030504040204" pitchFamily="34" charset="0"/>
              </a:rPr>
              <a:t>DX,AX</a:t>
            </a:r>
            <a:r>
              <a:rPr lang="zh-CN" altLang="en-US" b="1">
                <a:latin typeface="Tahoma" panose="020B0604030504040204" pitchFamily="34" charset="0"/>
              </a:rPr>
              <a:t>)/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</a:rPr>
              <a:t>AX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←</a:t>
            </a:r>
            <a:r>
              <a:rPr lang="zh-CN" altLang="en-US" b="1">
                <a:latin typeface="Tahoma" panose="020B0604030504040204" pitchFamily="34" charset="0"/>
              </a:rPr>
              <a:t>reg/mem*</a:t>
            </a:r>
            <a:r>
              <a:rPr lang="zh-CN" altLang="en-US" b="1">
                <a:solidFill>
                  <a:srgbClr val="0000FF"/>
                </a:solidFill>
                <a:latin typeface="Tahoma" panose="020B0604030504040204" pitchFamily="34" charset="0"/>
              </a:rPr>
              <a:t>AX</a:t>
            </a:r>
            <a:r>
              <a:rPr lang="zh-CN" altLang="en-US" b="1">
                <a:latin typeface="Tahoma" panose="020B0604030504040204" pitchFamily="34" charset="0"/>
              </a:rPr>
              <a:t>/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</a:rPr>
              <a:t>AL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188" y="4221163"/>
            <a:ext cx="7286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例</a:t>
            </a:r>
            <a:r>
              <a:rPr lang="en-US" altLang="zh-CN" b="1" dirty="0">
                <a:latin typeface="Tahoma" panose="020B0604030504040204" pitchFamily="34" charset="0"/>
              </a:rPr>
              <a:t>: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0725" name="Text Box 5"/>
          <p:cNvSpPr txBox="1"/>
          <p:nvPr>
            <p:custDataLst>
              <p:tags r:id="rId4"/>
            </p:custDataLst>
          </p:nvPr>
        </p:nvSpPr>
        <p:spPr>
          <a:xfrm>
            <a:off x="1260475" y="4241800"/>
            <a:ext cx="3581400" cy="12715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MUL   DL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MUL   BX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MUL   BYTE PTR[SI]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0728" name="Text Box 8"/>
          <p:cNvSpPr txBox="1"/>
          <p:nvPr>
            <p:custDataLst>
              <p:tags r:id="rId5"/>
            </p:custDataLst>
          </p:nvPr>
        </p:nvSpPr>
        <p:spPr>
          <a:xfrm>
            <a:off x="4587875" y="4203700"/>
            <a:ext cx="4419600" cy="1330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;AX 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latin typeface="Tahoma" panose="020B0604030504040204" pitchFamily="34" charset="0"/>
              </a:rPr>
              <a:t>AL*DL    </a:t>
            </a:r>
            <a:r>
              <a:rPr lang="zh-CN" altLang="en-US" b="1" dirty="0">
                <a:latin typeface="Tahoma" panose="020B0604030504040204" pitchFamily="34" charset="0"/>
              </a:rPr>
              <a:t>字节乘法 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;DX  AX 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latin typeface="Tahoma" panose="020B0604030504040204" pitchFamily="34" charset="0"/>
              </a:rPr>
              <a:t>AX*BX</a:t>
            </a:r>
            <a:r>
              <a:rPr lang="zh-CN" altLang="en-US" b="1" dirty="0">
                <a:latin typeface="Tahoma" panose="020B0604030504040204" pitchFamily="34" charset="0"/>
              </a:rPr>
              <a:t>字乘法 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;AX 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latin typeface="Tahoma" panose="020B0604030504040204" pitchFamily="34" charset="0"/>
              </a:rPr>
              <a:t>AL*(DS*16+SI)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4" y="4293235"/>
            <a:ext cx="7863840" cy="2213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</a:rPr>
              <a:t>对无符号数乘法，如果乘积的高半部分不为零，则 CF=OF=1</a:t>
            </a:r>
            <a:r>
              <a:rPr lang="zh-CN" altLang="en-US" b="1" strike="noStrike" noProof="1">
                <a:solidFill>
                  <a:schemeClr val="tx1"/>
                </a:solidFill>
                <a:effectLst/>
                <a:sym typeface="+mn-ea"/>
              </a:rPr>
              <a:t>，</a:t>
            </a:r>
            <a:r>
              <a:rPr lang="zh-CN" altLang="en-US" b="1" strike="noStrike" noProof="1">
                <a:solidFill>
                  <a:schemeClr val="tx1"/>
                </a:solidFill>
                <a:effectLst/>
              </a:rPr>
              <a:t>否则 CF=OF=0。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</a:rPr>
              <a:t>对有符号数乘法，若乘积的高半部分是低半部分的符号位的扩展，则 CF=OF=0，否则 CF=OF=1。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</a:rPr>
              <a:t>对其他标志位均无定义。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728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22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728">
                                            <p:txEl>
                                              <p:charRg st="22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4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728">
                                            <p:txEl>
                                              <p:charRg st="4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732" grpId="0"/>
      <p:bldP spid="3" grpId="0"/>
      <p:bldP spid="4" grpId="0"/>
      <p:bldP spid="30725" grpId="0"/>
      <p:bldP spid="30728" grpId="0" build="p"/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3" name="Text Box 3"/>
          <p:cNvSpPr txBox="1"/>
          <p:nvPr/>
        </p:nvSpPr>
        <p:spPr>
          <a:xfrm>
            <a:off x="528638" y="1555750"/>
            <a:ext cx="868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例：无符号数计算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255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*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0725" name="Text Box 5"/>
          <p:cNvSpPr txBox="1"/>
          <p:nvPr/>
        </p:nvSpPr>
        <p:spPr>
          <a:xfrm>
            <a:off x="757238" y="2184400"/>
            <a:ext cx="3581400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   AL,255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   BL,2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MUL    BL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0728" name="Text Box 8"/>
          <p:cNvSpPr txBox="1"/>
          <p:nvPr/>
        </p:nvSpPr>
        <p:spPr>
          <a:xfrm>
            <a:off x="3635375" y="2112963"/>
            <a:ext cx="4938713" cy="1271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;AL=1111 1111B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;AX=0000 0001 1111 1110B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" name="Text Box 3"/>
          <p:cNvSpPr txBox="1"/>
          <p:nvPr/>
        </p:nvSpPr>
        <p:spPr>
          <a:xfrm>
            <a:off x="539750" y="3716338"/>
            <a:ext cx="868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有符号数计算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-1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*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0" name="Text Box 5"/>
          <p:cNvSpPr txBox="1"/>
          <p:nvPr/>
        </p:nvSpPr>
        <p:spPr>
          <a:xfrm>
            <a:off x="768350" y="4344988"/>
            <a:ext cx="3581400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   AL,-1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   BL,2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IMUL    BL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" name="Text Box 8"/>
          <p:cNvSpPr txBox="1"/>
          <p:nvPr/>
        </p:nvSpPr>
        <p:spPr>
          <a:xfrm>
            <a:off x="3490913" y="4273550"/>
            <a:ext cx="5067300" cy="1201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;AL=1111 1111B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5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;AX=1111 1111 1111 1110B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25608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乘除指令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2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16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728">
                                            <p:txEl>
                                              <p:charRg st="16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728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16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charRg st="16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charRg st="18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30725" grpId="0"/>
      <p:bldP spid="30728" grpId="0" build="p"/>
      <p:bldP spid="9" grpId="0" build="p"/>
      <p:bldP spid="10" grpId="0"/>
      <p:bldP spid="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乘除指令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50" name="矩形 45"/>
          <p:cNvSpPr/>
          <p:nvPr>
            <p:custDataLst>
              <p:tags r:id="rId2"/>
            </p:custDataLst>
          </p:nvPr>
        </p:nvSpPr>
        <p:spPr>
          <a:xfrm>
            <a:off x="611188" y="1484313"/>
            <a:ext cx="64293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 乘法和除法指令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1916113"/>
            <a:ext cx="7921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无符号数除法指令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DIV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reg/mem(8/16)</a:t>
            </a:r>
            <a:endParaRPr lang="en-US" altLang="zh-CN" b="1" dirty="0">
              <a:latin typeface="Tahoma" panose="020B0604030504040204" pitchFamily="34" charset="0"/>
              <a:sym typeface="宋体" panose="02010600030101010101" pitchFamily="2" charset="-122"/>
            </a:endParaRPr>
          </a:p>
        </p:txBody>
      </p:sp>
      <p:sp>
        <p:nvSpPr>
          <p:cNvPr id="30732" name="Rectangle 12"/>
          <p:cNvSpPr/>
          <p:nvPr>
            <p:custDataLst>
              <p:tags r:id="rId3"/>
            </p:custDataLst>
          </p:nvPr>
        </p:nvSpPr>
        <p:spPr>
          <a:xfrm>
            <a:off x="395288" y="2349500"/>
            <a:ext cx="82311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）有符号数除法指令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  </a:t>
            </a:r>
            <a:r>
              <a:rPr lang="en-US" altLang="zh-CN" b="1" dirty="0">
                <a:latin typeface="Tahoma" panose="020B0604030504040204" pitchFamily="34" charset="0"/>
              </a:rPr>
              <a:t>IDIV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reg/mem(8/16)</a:t>
            </a:r>
            <a:endParaRPr lang="en-US" altLang="zh-CN" b="1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188" y="2757488"/>
            <a:ext cx="7705725" cy="939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采用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隐含寻址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方式。除法隐含了被除数，除数由指令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给出，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除数不能为立即数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7450" y="3697288"/>
            <a:ext cx="72882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b="1">
                <a:latin typeface="Tahoma" panose="020B0604030504040204" pitchFamily="34" charset="0"/>
              </a:rPr>
              <a:t>AX 除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以</a:t>
            </a:r>
            <a:r>
              <a:rPr lang="en-US" altLang="zh-CN" b="1">
                <a:latin typeface="Tahoma" panose="020B0604030504040204" pitchFamily="34" charset="0"/>
              </a:rPr>
              <a:t> 8 位 reg/mem，商</a:t>
            </a:r>
            <a:r>
              <a:rPr lang="en-US" altLang="zh-CN" b="1">
                <a:latin typeface="宋体" panose="02010600030101010101" pitchFamily="2" charset="-122"/>
              </a:rPr>
              <a:t>→</a:t>
            </a:r>
            <a:r>
              <a:rPr lang="en-US" altLang="zh-CN" b="1">
                <a:latin typeface="Tahoma" panose="020B0604030504040204" pitchFamily="34" charset="0"/>
              </a:rPr>
              <a:t>AL，余数</a:t>
            </a:r>
            <a:r>
              <a:rPr lang="en-US" altLang="zh-CN" b="1">
                <a:latin typeface="宋体" panose="02010600030101010101" pitchFamily="2" charset="-122"/>
              </a:rPr>
              <a:t>→</a:t>
            </a:r>
            <a:r>
              <a:rPr lang="en-US" altLang="zh-CN" b="1">
                <a:latin typeface="Tahoma" panose="020B0604030504040204" pitchFamily="34" charset="0"/>
              </a:rPr>
              <a:t>AH</a:t>
            </a:r>
            <a:endParaRPr lang="en-US" altLang="zh-CN" b="1">
              <a:latin typeface="Tahoma" panose="020B060403050404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28675" y="4149725"/>
            <a:ext cx="7359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b="1">
                <a:latin typeface="Tahoma" panose="020B0604030504040204" pitchFamily="34" charset="0"/>
              </a:rPr>
              <a:t>DX,AX 除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以</a:t>
            </a:r>
            <a:r>
              <a:rPr lang="en-US" altLang="zh-CN" b="1">
                <a:latin typeface="Tahoma" panose="020B0604030504040204" pitchFamily="34" charset="0"/>
              </a:rPr>
              <a:t> 16 位 reg/mem，商</a:t>
            </a:r>
            <a:r>
              <a:rPr lang="en-US" altLang="zh-CN" b="1">
                <a:latin typeface="宋体" panose="02010600030101010101" pitchFamily="2" charset="-122"/>
              </a:rPr>
              <a:t>→</a:t>
            </a:r>
            <a:r>
              <a:rPr lang="en-US" altLang="zh-CN" b="1">
                <a:latin typeface="Tahoma" panose="020B0604030504040204" pitchFamily="34" charset="0"/>
              </a:rPr>
              <a:t>AX，余数</a:t>
            </a:r>
            <a:r>
              <a:rPr lang="en-US" altLang="zh-CN" b="1">
                <a:latin typeface="宋体" panose="02010600030101010101" pitchFamily="2" charset="-122"/>
                <a:sym typeface="宋体" panose="02010600030101010101" pitchFamily="2" charset="-122"/>
              </a:rPr>
              <a:t>→</a:t>
            </a:r>
            <a:r>
              <a:rPr lang="en-US" altLang="zh-CN" b="1">
                <a:latin typeface="Tahoma" panose="020B0604030504040204" pitchFamily="34" charset="0"/>
              </a:rPr>
              <a:t>DX</a:t>
            </a:r>
            <a:endParaRPr lang="en-US" altLang="zh-CN" b="1">
              <a:latin typeface="Tahoma" panose="020B0604030504040204" pitchFamily="34" charset="0"/>
            </a:endParaRPr>
          </a:p>
        </p:txBody>
      </p:sp>
      <p:sp>
        <p:nvSpPr>
          <p:cNvPr id="32786" name="Text Box 18"/>
          <p:cNvSpPr txBox="1"/>
          <p:nvPr>
            <p:custDataLst>
              <p:tags r:id="rId5"/>
            </p:custDataLst>
          </p:nvPr>
        </p:nvSpPr>
        <p:spPr>
          <a:xfrm>
            <a:off x="609600" y="4651375"/>
            <a:ext cx="7848600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DIV   DL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；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AX/DL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商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AL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，余数 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AH</a:t>
            </a:r>
            <a:endParaRPr lang="en-US" altLang="zh-CN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DIV   BX     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DX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AX/BX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商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AX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，余数 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DX</a:t>
            </a:r>
            <a:endParaRPr lang="en-US" altLang="zh-CN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u="sng" dirty="0">
                <a:solidFill>
                  <a:srgbClr val="000099"/>
                </a:solidFill>
                <a:latin typeface="Tahoma" panose="020B0604030504040204" pitchFamily="34" charset="0"/>
              </a:rPr>
              <a:t>DIV   BYTE  PTR[  SI 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]</a:t>
            </a:r>
            <a:r>
              <a:rPr lang="zh-CN" altLang="en-US" b="1" dirty="0">
                <a:solidFill>
                  <a:srgbClr val="000099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；操作？</a:t>
            </a:r>
            <a:endParaRPr lang="zh-CN" altLang="en-US" b="1" dirty="0">
              <a:solidFill>
                <a:srgbClr val="000099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6110" y="4725035"/>
            <a:ext cx="7863840" cy="17887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zh-CN" altLang="en-US" b="1" strike="noStrike" noProof="1">
                <a:solidFill>
                  <a:schemeClr val="tx1"/>
                </a:solidFill>
                <a:effectLst/>
                <a:sym typeface="+mn-ea"/>
              </a:rPr>
              <a:t>注意：</a:t>
            </a:r>
            <a:endParaRPr lang="zh-CN" altLang="en-US" b="1" strike="noStrike" noProof="1">
              <a:solidFill>
                <a:schemeClr val="tx1"/>
              </a:solidFill>
              <a:effectLst/>
              <a:sym typeface="+mn-ea"/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  <a:sym typeface="+mn-ea"/>
              </a:rPr>
              <a:t>指令要求被除数是除数的双倍字长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  <a:sym typeface="+mn-ea"/>
              </a:rPr>
              <a:t>当商超出AL或AX范围，计算机产生0号除法错中断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  <a:p>
            <a:pPr marL="342900" indent="-342900" algn="just" fontAlgn="base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strike="noStrike" noProof="1">
                <a:solidFill>
                  <a:schemeClr val="tx1"/>
                </a:solidFill>
                <a:effectLst/>
              </a:rPr>
              <a:t>除法指令对六个标志位均无影响。</a:t>
            </a:r>
            <a:endParaRPr lang="zh-CN" altLang="en-US" b="1" strike="noStrike" noProof="1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2786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7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>
                                            <p:txEl>
                                              <p:charRg st="6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786">
                                            <p:txEl>
                                              <p:charRg st="65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732" grpId="0"/>
      <p:bldP spid="3" grpId="0"/>
      <p:bldP spid="4" grpId="0"/>
      <p:bldP spid="6" grpId="0" bldLvl="0" animBg="1"/>
      <p:bldP spid="7" grpId="0"/>
      <p:bldP spid="3278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8" name="Text Box 2"/>
          <p:cNvSpPr txBox="1"/>
          <p:nvPr>
            <p:custDataLst>
              <p:tags r:id="rId1"/>
            </p:custDataLst>
          </p:nvPr>
        </p:nvSpPr>
        <p:spPr>
          <a:xfrm>
            <a:off x="368300" y="2505075"/>
            <a:ext cx="8318500" cy="922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例：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MOV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25H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010 0101B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        CBW                   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AH=00H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，即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AX=0025H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3"/>
          <p:cNvSpPr txBox="1"/>
          <p:nvPr>
            <p:custDataLst>
              <p:tags r:id="rId2"/>
            </p:custDataLst>
          </p:nvPr>
        </p:nvSpPr>
        <p:spPr>
          <a:xfrm>
            <a:off x="457200" y="4398963"/>
            <a:ext cx="8513763" cy="922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例：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MOV   AX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8025H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AX=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000 0000 0010 0101B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CWD     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DX=FFFFH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，即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DX.AX=FFFF8025H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27653" name="矩形 45"/>
          <p:cNvSpPr/>
          <p:nvPr>
            <p:custDataLst>
              <p:tags r:id="rId3"/>
            </p:custDataLst>
          </p:nvPr>
        </p:nvSpPr>
        <p:spPr>
          <a:xfrm>
            <a:off x="509588" y="3508375"/>
            <a:ext cx="65309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6. 字转换为双字指令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CWD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矩形 59"/>
          <p:cNvSpPr/>
          <p:nvPr>
            <p:custDataLst>
              <p:tags r:id="rId4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扩展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8" name="矩形 45"/>
          <p:cNvSpPr/>
          <p:nvPr>
            <p:custDataLst>
              <p:tags r:id="rId5"/>
            </p:custDataLst>
          </p:nvPr>
        </p:nvSpPr>
        <p:spPr>
          <a:xfrm>
            <a:off x="509588" y="1484313"/>
            <a:ext cx="65309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5. 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字节转换为字指令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CBW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57200" y="1963738"/>
            <a:ext cx="72993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格式：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CBW 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中的符号位扩展到</a:t>
            </a:r>
            <a:r>
              <a:rPr lang="en-US" altLang="zh-CN" b="1" dirty="0">
                <a:latin typeface="Tahoma" panose="020B0604030504040204" pitchFamily="34" charset="0"/>
              </a:rPr>
              <a:t>AH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中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476250" y="3938588"/>
            <a:ext cx="74342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CWD 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AX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中的符号位扩展到</a:t>
            </a:r>
            <a:r>
              <a:rPr lang="en-US" altLang="zh-CN" b="1" dirty="0">
                <a:latin typeface="Tahoma" panose="020B0604030504040204" pitchFamily="34" charset="0"/>
              </a:rPr>
              <a:t>DX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中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7653" grpId="0" animBg="1"/>
      <p:bldP spid="4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矩形 45"/>
          <p:cNvSpPr/>
          <p:nvPr/>
        </p:nvSpPr>
        <p:spPr>
          <a:xfrm>
            <a:off x="403225" y="1484313"/>
            <a:ext cx="8509000" cy="10810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4-1.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计算表达式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Z = ((X-Y)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7) /(Y+2)</a:t>
            </a:r>
            <a:r>
              <a:rPr lang="zh-CN" altLang="en-US" sz="2800" b="1" dirty="0">
                <a:latin typeface="Tahoma" panose="020B0604030504040204" pitchFamily="34" charset="0"/>
              </a:rPr>
              <a:t>的值，已知</a:t>
            </a:r>
            <a:r>
              <a:rPr lang="en-US" altLang="zh-CN" sz="2800" b="1" dirty="0">
                <a:latin typeface="Tahoma" panose="020B0604030504040204" pitchFamily="34" charset="0"/>
              </a:rPr>
              <a:t>X=10</a:t>
            </a:r>
            <a:r>
              <a:rPr lang="zh-CN" altLang="en-US" sz="2800" b="1" dirty="0">
                <a:latin typeface="Tahoma" panose="020B0604030504040204" pitchFamily="34" charset="0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Y=5</a:t>
            </a:r>
            <a:r>
              <a:rPr lang="zh-CN" altLang="en-US" sz="2800" b="1" dirty="0">
                <a:latin typeface="Tahoma" panose="020B0604030504040204" pitchFamily="34" charset="0"/>
              </a:rPr>
              <a:t>。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29698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20" name="Rectangle 8"/>
          <p:cNvSpPr/>
          <p:nvPr/>
        </p:nvSpPr>
        <p:spPr>
          <a:xfrm>
            <a:off x="141288" y="2860675"/>
            <a:ext cx="1441450" cy="5762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X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pitchFamily="34" charset="0"/>
              </a:rPr>
              <a:t>-Y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38921" name="Line 9"/>
          <p:cNvSpPr/>
          <p:nvPr/>
        </p:nvSpPr>
        <p:spPr>
          <a:xfrm>
            <a:off x="862013" y="3436938"/>
            <a:ext cx="0" cy="3603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2" name="Rectangle 10"/>
          <p:cNvSpPr/>
          <p:nvPr/>
        </p:nvSpPr>
        <p:spPr>
          <a:xfrm>
            <a:off x="141288" y="3797300"/>
            <a:ext cx="1441450" cy="5762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sz="2800" b="1" dirty="0">
                <a:solidFill>
                  <a:schemeClr val="tx2"/>
                </a:solidFill>
                <a:latin typeface="Tahoma" panose="020B0604030504040204" pitchFamily="34" charset="0"/>
              </a:rPr>
              <a:t>*7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38923" name="Line 11"/>
          <p:cNvSpPr/>
          <p:nvPr/>
        </p:nvSpPr>
        <p:spPr>
          <a:xfrm>
            <a:off x="862013" y="4373563"/>
            <a:ext cx="0" cy="3603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4" name="Rectangle 12"/>
          <p:cNvSpPr/>
          <p:nvPr/>
        </p:nvSpPr>
        <p:spPr>
          <a:xfrm>
            <a:off x="141288" y="4732338"/>
            <a:ext cx="1441450" cy="5762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sz="2800" b="1" dirty="0">
                <a:solidFill>
                  <a:schemeClr val="tx2"/>
                </a:solidFill>
                <a:latin typeface="Tahoma" panose="020B0604030504040204" pitchFamily="34" charset="0"/>
              </a:rPr>
              <a:t>Y+2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38925" name="Line 13"/>
          <p:cNvSpPr/>
          <p:nvPr/>
        </p:nvSpPr>
        <p:spPr>
          <a:xfrm>
            <a:off x="862013" y="5308600"/>
            <a:ext cx="0" cy="3603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6" name="Rectangle 14"/>
          <p:cNvSpPr/>
          <p:nvPr/>
        </p:nvSpPr>
        <p:spPr>
          <a:xfrm>
            <a:off x="141288" y="5668963"/>
            <a:ext cx="1441450" cy="5762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sz="2800" b="1" dirty="0">
                <a:solidFill>
                  <a:schemeClr val="tx2"/>
                </a:solidFill>
                <a:latin typeface="Tahoma" panose="020B0604030504040204" pitchFamily="34" charset="0"/>
              </a:rPr>
              <a:t>/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1475" y="3575050"/>
            <a:ext cx="2420938" cy="1938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；被乘数在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，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乘数自定义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积在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AX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1475" y="5432425"/>
            <a:ext cx="2347913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被除数在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AX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，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；除数自定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；商在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AL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26641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0" y="-15875"/>
            <a:ext cx="5151438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 bldLvl="0" animBg="1"/>
      <p:bldP spid="38922" grpId="0" bldLvl="0" animBg="1"/>
      <p:bldP spid="38924" grpId="0" bldLvl="0" animBg="1"/>
      <p:bldP spid="38926" grpId="0" bldLvl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BCD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码调整指令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矩形 45"/>
          <p:cNvSpPr/>
          <p:nvPr>
            <p:custDataLst>
              <p:tags r:id="rId2"/>
            </p:custDataLst>
          </p:nvPr>
        </p:nvSpPr>
        <p:spPr>
          <a:xfrm>
            <a:off x="611188" y="1484313"/>
            <a:ext cx="64293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6. BCD 码（十进制数）调整指令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1916113"/>
            <a:ext cx="7921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加法的十进制调整指令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DAA</a:t>
            </a:r>
            <a:endParaRPr lang="en-US" altLang="zh-CN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Text Box 9"/>
          <p:cNvSpPr txBox="1"/>
          <p:nvPr>
            <p:custDataLst>
              <p:tags r:id="rId3"/>
            </p:custDataLst>
          </p:nvPr>
        </p:nvSpPr>
        <p:spPr>
          <a:xfrm>
            <a:off x="609600" y="2420938"/>
            <a:ext cx="37623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   计算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28+26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5" name="组合 16"/>
          <p:cNvGrpSpPr/>
          <p:nvPr/>
        </p:nvGrpSpPr>
        <p:grpSpPr>
          <a:xfrm>
            <a:off x="7215188" y="1285875"/>
            <a:ext cx="1143000" cy="1568450"/>
            <a:chOff x="5643570" y="926702"/>
            <a:chExt cx="1143008" cy="922842"/>
          </a:xfrm>
        </p:grpSpPr>
        <p:sp>
          <p:nvSpPr>
            <p:cNvPr id="30726" name="矩形 13"/>
            <p:cNvSpPr/>
            <p:nvPr>
              <p:custDataLst>
                <p:tags r:id="rId4"/>
              </p:custDataLst>
            </p:nvPr>
          </p:nvSpPr>
          <p:spPr>
            <a:xfrm>
              <a:off x="5715008" y="926702"/>
              <a:ext cx="1071570" cy="9228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 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28H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+26H    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54H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cxnSp>
          <p:nvCxnSpPr>
            <p:cNvPr id="30727" name="直接连接符 15"/>
            <p:cNvCxnSpPr/>
            <p:nvPr>
              <p:custDataLst>
                <p:tags r:id="rId5"/>
              </p:custDataLst>
            </p:nvPr>
          </p:nvCxnSpPr>
          <p:spPr>
            <a:xfrm>
              <a:off x="5643570" y="1594269"/>
              <a:ext cx="1071570" cy="15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grpSp>
        <p:nvGrpSpPr>
          <p:cNvPr id="8" name="组合 17"/>
          <p:cNvGrpSpPr/>
          <p:nvPr/>
        </p:nvGrpSpPr>
        <p:grpSpPr>
          <a:xfrm>
            <a:off x="5643563" y="1300163"/>
            <a:ext cx="1143000" cy="1568450"/>
            <a:chOff x="5643570" y="998468"/>
            <a:chExt cx="1143008" cy="1568684"/>
          </a:xfrm>
        </p:grpSpPr>
        <p:sp>
          <p:nvSpPr>
            <p:cNvPr id="30729" name="矩形 18"/>
            <p:cNvSpPr/>
            <p:nvPr>
              <p:custDataLst>
                <p:tags r:id="rId6"/>
              </p:custDataLst>
            </p:nvPr>
          </p:nvSpPr>
          <p:spPr>
            <a:xfrm>
              <a:off x="5715008" y="998468"/>
              <a:ext cx="1071570" cy="15686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   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28H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just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+26H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 4EH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cxnSp>
          <p:nvCxnSpPr>
            <p:cNvPr id="3073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5643570" y="2143116"/>
              <a:ext cx="1071570" cy="15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grpSp>
        <p:nvGrpSpPr>
          <p:cNvPr id="9" name="组合 27"/>
          <p:cNvGrpSpPr/>
          <p:nvPr/>
        </p:nvGrpSpPr>
        <p:grpSpPr>
          <a:xfrm>
            <a:off x="6357938" y="2716213"/>
            <a:ext cx="1573212" cy="430212"/>
            <a:chOff x="6500032" y="2286786"/>
            <a:chExt cx="1574018" cy="429422"/>
          </a:xfrm>
        </p:grpSpPr>
        <p:cxnSp>
          <p:nvCxnSpPr>
            <p:cNvPr id="30732" name="直接连接符 21"/>
            <p:cNvCxnSpPr/>
            <p:nvPr>
              <p:custDataLst>
                <p:tags r:id="rId8"/>
              </p:custDataLst>
            </p:nvPr>
          </p:nvCxnSpPr>
          <p:spPr>
            <a:xfrm rot="5400000">
              <a:off x="6322231" y="2536025"/>
              <a:ext cx="357190" cy="15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30733" name="直接连接符 23"/>
            <p:cNvCxnSpPr/>
            <p:nvPr>
              <p:custDataLst>
                <p:tags r:id="rId9"/>
              </p:custDataLst>
            </p:nvPr>
          </p:nvCxnSpPr>
          <p:spPr>
            <a:xfrm>
              <a:off x="6500826" y="2714620"/>
              <a:ext cx="1571636" cy="15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30734" name="直接箭头连接符 25"/>
            <p:cNvCxnSpPr/>
            <p:nvPr>
              <p:custDataLst>
                <p:tags r:id="rId10"/>
              </p:custDataLst>
            </p:nvPr>
          </p:nvCxnSpPr>
          <p:spPr>
            <a:xfrm rot="5400000" flipH="1" flipV="1">
              <a:off x="7858942" y="2500306"/>
              <a:ext cx="428628" cy="1588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arrow" w="med" len="med"/>
            </a:ln>
          </p:spPr>
        </p:cxnSp>
      </p:grpSp>
      <p:sp>
        <p:nvSpPr>
          <p:cNvPr id="29" name="TextBox 28"/>
          <p:cNvSpPr txBox="1"/>
          <p:nvPr>
            <p:custDataLst>
              <p:tags r:id="rId11"/>
            </p:custDataLst>
          </p:nvPr>
        </p:nvSpPr>
        <p:spPr>
          <a:xfrm>
            <a:off x="6742113" y="2735263"/>
            <a:ext cx="7985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+6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Rectangle 8"/>
          <p:cNvSpPr/>
          <p:nvPr>
            <p:custDataLst>
              <p:tags r:id="rId12"/>
            </p:custDataLst>
          </p:nvPr>
        </p:nvSpPr>
        <p:spPr>
          <a:xfrm>
            <a:off x="609600" y="4527550"/>
            <a:ext cx="74231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调整方法：结果大于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或有向高位进位，加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10"/>
          <p:cNvSpPr/>
          <p:nvPr>
            <p:custDataLst>
              <p:tags r:id="rId13"/>
            </p:custDataLst>
          </p:nvPr>
        </p:nvSpPr>
        <p:spPr>
          <a:xfrm>
            <a:off x="1000125" y="2774950"/>
            <a:ext cx="3340100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28H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ADD 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26H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DAA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；对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调整，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14"/>
            </p:custDataLst>
          </p:nvPr>
        </p:nvSpPr>
        <p:spPr>
          <a:xfrm>
            <a:off x="3971925" y="2787650"/>
            <a:ext cx="45720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28H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28H+26H=4EH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 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4EH+06H=54H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grpSp>
        <p:nvGrpSpPr>
          <p:cNvPr id="14" name="Group 11"/>
          <p:cNvGrpSpPr/>
          <p:nvPr/>
        </p:nvGrpSpPr>
        <p:grpSpPr>
          <a:xfrm>
            <a:off x="457200" y="5046663"/>
            <a:ext cx="8291513" cy="1419225"/>
            <a:chOff x="864" y="3106"/>
            <a:chExt cx="4416" cy="894"/>
          </a:xfrm>
        </p:grpSpPr>
        <p:sp>
          <p:nvSpPr>
            <p:cNvPr id="19461" name="Rectangle 3"/>
            <p:cNvSpPr/>
            <p:nvPr>
              <p:custDataLst>
                <p:tags r:id="rId15"/>
              </p:custDataLst>
            </p:nvPr>
          </p:nvSpPr>
          <p:spPr>
            <a:xfrm>
              <a:off x="864" y="3106"/>
              <a:ext cx="4416" cy="89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anchor="t" anchorCtr="0">
              <a:spAutoFit/>
            </a:bodyPr>
            <a:p>
              <a:pPr fontAlgn="base">
                <a:buClrTx/>
                <a:buFontTx/>
              </a:pPr>
              <a:r>
                <a:rPr lang="zh-CN" altLang="en-US" b="1" strike="noStrike" noProof="1" dirty="0">
                  <a:solidFill>
                    <a:srgbClr val="FF0000"/>
                  </a:solidFill>
                  <a:latin typeface="Tahoma" panose="020B0604030504040204" pitchFamily="34" charset="0"/>
                </a:rPr>
                <a:t>使用</a:t>
              </a:r>
              <a:r>
                <a:rPr lang="zh-CN" altLang="en-US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：仅对</a:t>
              </a:r>
              <a:r>
                <a:rPr lang="en-US" altLang="zh-CN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AL</a:t>
              </a:r>
              <a:r>
                <a:rPr lang="zh-CN" altLang="en-US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调整，加法结果必须存放在</a:t>
              </a:r>
              <a:r>
                <a:rPr lang="en-US" altLang="zh-CN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AL</a:t>
              </a:r>
              <a:r>
                <a:rPr lang="zh-CN" altLang="en-US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中。     </a:t>
              </a:r>
              <a:endParaRPr lang="zh-CN" altLang="en-US" b="1" strike="noStrike" noProof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pPr fontAlgn="base">
                <a:lnSpc>
                  <a:spcPct val="130000"/>
                </a:lnSpc>
                <a:buClrTx/>
                <a:buFontTx/>
              </a:pPr>
              <a:r>
                <a:rPr lang="zh-CN" altLang="en-US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           </a:t>
              </a:r>
              <a:r>
                <a:rPr lang="en-US" altLang="zh-CN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ADD                       ADC</a:t>
              </a:r>
              <a:endParaRPr lang="en-US" altLang="zh-CN" b="1" strike="noStrike" noProof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pPr fontAlgn="base">
                <a:lnSpc>
                  <a:spcPct val="130000"/>
                </a:lnSpc>
                <a:buClrTx/>
                <a:buFontTx/>
              </a:pPr>
              <a:r>
                <a:rPr lang="en-US" altLang="zh-CN" b="1" strike="noStrike" noProof="1" dirty="0">
                  <a:solidFill>
                    <a:srgbClr val="0000FF"/>
                  </a:solidFill>
                  <a:latin typeface="Tahoma" panose="020B0604030504040204" pitchFamily="34" charset="0"/>
                </a:rPr>
                <a:t>           DAA                       DAA</a:t>
              </a:r>
              <a:endParaRPr lang="en-US" altLang="zh-CN" b="1" strike="noStrike" noProof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462" name="AutoShape 5"/>
            <p:cNvSpPr/>
            <p:nvPr>
              <p:custDataLst>
                <p:tags r:id="rId16"/>
              </p:custDataLst>
            </p:nvPr>
          </p:nvSpPr>
          <p:spPr>
            <a:xfrm>
              <a:off x="1344" y="3453"/>
              <a:ext cx="48" cy="480"/>
            </a:xfrm>
            <a:prstGeom prst="leftBrace">
              <a:avLst>
                <a:gd name="adj1" fmla="val 83009"/>
                <a:gd name="adj2" fmla="val 50000"/>
              </a:avLst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 anchorCtr="0"/>
            <a:p>
              <a:pPr fontAlgn="base">
                <a:buClrTx/>
                <a:buFontTx/>
              </a:pPr>
              <a:endParaRPr lang="zh-CN" altLang="en-US" sz="2800" b="1" strike="noStrike" noProof="1" dirty="0">
                <a:latin typeface="Tahoma" panose="020B0604030504040204" pitchFamily="34" charset="0"/>
              </a:endParaRPr>
            </a:p>
          </p:txBody>
        </p:sp>
        <p:sp>
          <p:nvSpPr>
            <p:cNvPr id="19463" name="AutoShape 6"/>
            <p:cNvSpPr/>
            <p:nvPr>
              <p:custDataLst>
                <p:tags r:id="rId17"/>
              </p:custDataLst>
            </p:nvPr>
          </p:nvSpPr>
          <p:spPr>
            <a:xfrm>
              <a:off x="2780" y="3453"/>
              <a:ext cx="48" cy="480"/>
            </a:xfrm>
            <a:prstGeom prst="leftBrace">
              <a:avLst>
                <a:gd name="adj1" fmla="val 83009"/>
                <a:gd name="adj2" fmla="val 50000"/>
              </a:avLst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anchor="ctr" anchorCtr="0"/>
            <a:p>
              <a:pPr fontAlgn="base">
                <a:buClrTx/>
                <a:buFontTx/>
              </a:pPr>
              <a:endParaRPr lang="zh-CN" altLang="en-US" sz="2800" b="1" strike="noStrike" noProof="1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3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charRg st="13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1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charRg st="1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  <p:bldP spid="29" grpId="0"/>
      <p:bldP spid="10" grpId="0" build="p"/>
      <p:bldP spid="12" grpId="0" uiExpand="1" build="p"/>
      <p:bldP spid="1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b="1" dirty="0">
                <a:latin typeface="Tahoma" panose="020B0604030504040204" pitchFamily="34" charset="0"/>
              </a:rPr>
            </a:fld>
            <a:endParaRPr lang="en-US" altLang="zh-CN" sz="1400" b="1" dirty="0">
              <a:latin typeface="Tahoma" panose="020B0604030504040204" pitchFamily="34" charset="0"/>
            </a:endParaRPr>
          </a:p>
        </p:txBody>
      </p:sp>
      <p:sp>
        <p:nvSpPr>
          <p:cNvPr id="32770" name="Text Box 2"/>
          <p:cNvSpPr txBox="1"/>
          <p:nvPr/>
        </p:nvSpPr>
        <p:spPr>
          <a:xfrm>
            <a:off x="171450" y="1447800"/>
            <a:ext cx="51911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）减法的十进制调整指令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DAS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457200" y="4830763"/>
            <a:ext cx="8291513" cy="1346200"/>
            <a:chOff x="864" y="3106"/>
            <a:chExt cx="4416" cy="848"/>
          </a:xfrm>
        </p:grpSpPr>
        <p:sp>
          <p:nvSpPr>
            <p:cNvPr id="32772" name="Rectangle 3"/>
            <p:cNvSpPr/>
            <p:nvPr/>
          </p:nvSpPr>
          <p:spPr>
            <a:xfrm>
              <a:off x="864" y="3106"/>
              <a:ext cx="4416" cy="848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zh-CN" alt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使用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：仅对</a:t>
              </a: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AL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调整，减法结果必须存放在</a:t>
              </a: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AL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中。     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        </a:t>
              </a: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SUB                       SBB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pPr>
                <a:lnSpc>
                  <a:spcPct val="120000"/>
                </a:lnSpc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           DAS                       DAS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3" name="AutoShape 5"/>
            <p:cNvSpPr/>
            <p:nvPr/>
          </p:nvSpPr>
          <p:spPr>
            <a:xfrm>
              <a:off x="1344" y="3408"/>
              <a:ext cx="48" cy="480"/>
            </a:xfrm>
            <a:prstGeom prst="leftBrace">
              <a:avLst>
                <a:gd name="adj1" fmla="val 82685"/>
                <a:gd name="adj2" fmla="val 50000"/>
              </a:avLst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AutoShape 6"/>
            <p:cNvSpPr/>
            <p:nvPr/>
          </p:nvSpPr>
          <p:spPr>
            <a:xfrm>
              <a:off x="2780" y="3408"/>
              <a:ext cx="48" cy="480"/>
            </a:xfrm>
            <a:prstGeom prst="leftBrace">
              <a:avLst>
                <a:gd name="adj1" fmla="val 82685"/>
                <a:gd name="adj2" fmla="val 50000"/>
              </a:avLst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8"/>
          <p:cNvSpPr/>
          <p:nvPr/>
        </p:nvSpPr>
        <p:spPr>
          <a:xfrm>
            <a:off x="542925" y="4292600"/>
            <a:ext cx="79581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调整方法：结果大于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或有向高位借位，减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6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调整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Box 9"/>
          <p:cNvSpPr txBox="1"/>
          <p:nvPr/>
        </p:nvSpPr>
        <p:spPr>
          <a:xfrm>
            <a:off x="427038" y="1928813"/>
            <a:ext cx="3657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   计算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26-18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2" name="Rectangle 10"/>
          <p:cNvSpPr/>
          <p:nvPr/>
        </p:nvSpPr>
        <p:spPr>
          <a:xfrm>
            <a:off x="855663" y="2487613"/>
            <a:ext cx="3040062" cy="17526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26H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SUB 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18H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DAS        ;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对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调整</a:t>
            </a:r>
            <a:r>
              <a:rPr lang="en-US" altLang="zh-CN" b="1" dirty="0">
                <a:latin typeface="Tahoma" panose="020B0604030504040204" pitchFamily="34" charset="0"/>
              </a:rPr>
              <a:t>,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27463" y="2500313"/>
            <a:ext cx="45720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26H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26H-18H=0EH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0EH-06H=08H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grpSp>
        <p:nvGrpSpPr>
          <p:cNvPr id="3" name="组合 16"/>
          <p:cNvGrpSpPr/>
          <p:nvPr/>
        </p:nvGrpSpPr>
        <p:grpSpPr>
          <a:xfrm>
            <a:off x="7358063" y="855663"/>
            <a:ext cx="1143000" cy="1568450"/>
            <a:chOff x="5643570" y="998468"/>
            <a:chExt cx="1143008" cy="1568684"/>
          </a:xfrm>
        </p:grpSpPr>
        <p:sp>
          <p:nvSpPr>
            <p:cNvPr id="32780" name="矩形 13"/>
            <p:cNvSpPr/>
            <p:nvPr/>
          </p:nvSpPr>
          <p:spPr>
            <a:xfrm>
              <a:off x="5715008" y="998468"/>
              <a:ext cx="1071570" cy="15686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 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26H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- 18H    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08H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32781" name="直接连接符 15"/>
            <p:cNvCxnSpPr/>
            <p:nvPr/>
          </p:nvCxnSpPr>
          <p:spPr>
            <a:xfrm>
              <a:off x="5643570" y="2143116"/>
              <a:ext cx="1071570" cy="15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grpSp>
        <p:nvGrpSpPr>
          <p:cNvPr id="4" name="组合 17"/>
          <p:cNvGrpSpPr/>
          <p:nvPr/>
        </p:nvGrpSpPr>
        <p:grpSpPr>
          <a:xfrm>
            <a:off x="5786438" y="869950"/>
            <a:ext cx="1143000" cy="1568450"/>
            <a:chOff x="5643570" y="998468"/>
            <a:chExt cx="1143008" cy="1568684"/>
          </a:xfrm>
        </p:grpSpPr>
        <p:sp>
          <p:nvSpPr>
            <p:cNvPr id="32783" name="矩形 18"/>
            <p:cNvSpPr/>
            <p:nvPr/>
          </p:nvSpPr>
          <p:spPr>
            <a:xfrm>
              <a:off x="5715008" y="998468"/>
              <a:ext cx="1071570" cy="15686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 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26H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- 18H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  <a:p>
              <a:pPr algn="r"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   0EH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32784" name="直接连接符 19"/>
            <p:cNvCxnSpPr/>
            <p:nvPr/>
          </p:nvCxnSpPr>
          <p:spPr>
            <a:xfrm>
              <a:off x="5643570" y="2143116"/>
              <a:ext cx="1071570" cy="15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grpSp>
        <p:nvGrpSpPr>
          <p:cNvPr id="6" name="组合 27"/>
          <p:cNvGrpSpPr/>
          <p:nvPr/>
        </p:nvGrpSpPr>
        <p:grpSpPr>
          <a:xfrm>
            <a:off x="6500813" y="2286000"/>
            <a:ext cx="1573212" cy="430213"/>
            <a:chOff x="6500032" y="2286786"/>
            <a:chExt cx="1574018" cy="429422"/>
          </a:xfrm>
        </p:grpSpPr>
        <p:cxnSp>
          <p:nvCxnSpPr>
            <p:cNvPr id="32786" name="直接连接符 21"/>
            <p:cNvCxnSpPr/>
            <p:nvPr/>
          </p:nvCxnSpPr>
          <p:spPr>
            <a:xfrm rot="5400000">
              <a:off x="6322231" y="2536025"/>
              <a:ext cx="357190" cy="15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32787" name="直接连接符 23"/>
            <p:cNvCxnSpPr/>
            <p:nvPr/>
          </p:nvCxnSpPr>
          <p:spPr>
            <a:xfrm>
              <a:off x="6500826" y="2714620"/>
              <a:ext cx="1571636" cy="15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32788" name="直接箭头连接符 25"/>
            <p:cNvCxnSpPr/>
            <p:nvPr/>
          </p:nvCxnSpPr>
          <p:spPr>
            <a:xfrm rot="5400000" flipH="1" flipV="1">
              <a:off x="7858942" y="2500306"/>
              <a:ext cx="428628" cy="1588"/>
            </a:xfrm>
            <a:prstGeom prst="straightConnector1">
              <a:avLst/>
            </a:prstGeom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arrow" w="med" len="med"/>
            </a:ln>
          </p:spPr>
        </p:cxnSp>
      </p:grpSp>
      <p:sp>
        <p:nvSpPr>
          <p:cNvPr id="29" name="TextBox 28"/>
          <p:cNvSpPr txBox="1"/>
          <p:nvPr/>
        </p:nvSpPr>
        <p:spPr>
          <a:xfrm>
            <a:off x="7072313" y="2286000"/>
            <a:ext cx="928687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-6</a:t>
            </a:r>
            <a:endParaRPr lang="zh-CN" altLang="en-US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9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283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BCD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码调整指令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3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charRg st="13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1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charRg st="1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charRg st="2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/>
      <p:bldP spid="12" grpId="0" uiExpand="1" build="p"/>
      <p:bldP spid="13" grpId="0" build="p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33794" name="矩形 45"/>
          <p:cNvSpPr/>
          <p:nvPr/>
        </p:nvSpPr>
        <p:spPr>
          <a:xfrm>
            <a:off x="269875" y="1500188"/>
            <a:ext cx="8562975" cy="9032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3-2.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计算</a:t>
            </a:r>
            <a:r>
              <a:rPr lang="en-US" altLang="zh-CN" b="1" dirty="0">
                <a:latin typeface="Tahoma" panose="020B0604030504040204" pitchFamily="34" charset="0"/>
              </a:rPr>
              <a:t>8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字节的</a:t>
            </a:r>
            <a:r>
              <a:rPr lang="en-US" altLang="zh-CN" b="1" dirty="0">
                <a:latin typeface="Tahoma" panose="020B0604030504040204" pitchFamily="34" charset="0"/>
              </a:rPr>
              <a:t>BCD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码十进制数</a:t>
            </a:r>
            <a:r>
              <a:rPr lang="en-US" altLang="zh-CN" b="1" dirty="0">
                <a:latin typeface="Tahoma" panose="020B0604030504040204" pitchFamily="34" charset="0"/>
              </a:rPr>
              <a:t>1122334455667788H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b="1" dirty="0">
                <a:latin typeface="Tahoma" panose="020B0604030504040204" pitchFamily="34" charset="0"/>
              </a:rPr>
              <a:t>9988776655443322H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的和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00125" y="2505075"/>
            <a:ext cx="50720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11 22  33  44  55  66  77  88H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28688" y="3148013"/>
            <a:ext cx="51435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99  88  77  66  55  44  33 22H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0" name="Text Box 30"/>
          <p:cNvSpPr txBox="1"/>
          <p:nvPr/>
        </p:nvSpPr>
        <p:spPr>
          <a:xfrm>
            <a:off x="287338" y="3125788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+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571500" y="3646488"/>
            <a:ext cx="5500688" cy="1587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3" name="矩形 52"/>
          <p:cNvSpPr/>
          <p:nvPr/>
        </p:nvSpPr>
        <p:spPr>
          <a:xfrm>
            <a:off x="250825" y="5051425"/>
            <a:ext cx="58293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01 </a:t>
            </a:r>
            <a:r>
              <a:rPr lang="en-US" altLang="zh-CN" b="1" dirty="0">
                <a:latin typeface="Tahoma" panose="020B0604030504040204" pitchFamily="34" charset="0"/>
              </a:rPr>
              <a:t> 11  11  11  11  11  11  11  10H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356350" y="2425700"/>
            <a:ext cx="804863" cy="3416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88H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77H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66H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55H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44H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33H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22H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11H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00H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285038" y="2106613"/>
            <a:ext cx="1714500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偏移地址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0000H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0001H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0002H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0003H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0004H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0005H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0006H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0007H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0008H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5875" y="4292600"/>
            <a:ext cx="12858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DAA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28688" y="3717925"/>
            <a:ext cx="51435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AA AA AA  AA  AA  AA  AA AAH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3786188" y="4146550"/>
            <a:ext cx="428625" cy="873125"/>
          </a:xfrm>
          <a:prstGeom prst="downArrow">
            <a:avLst>
              <a:gd name="adj1" fmla="val 50000"/>
              <a:gd name="adj2" fmla="val 4989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2505075"/>
            <a:ext cx="7318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3124200"/>
            <a:ext cx="6937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Box 19"/>
          <p:cNvSpPr txBox="1"/>
          <p:nvPr/>
        </p:nvSpPr>
        <p:spPr>
          <a:xfrm>
            <a:off x="611188" y="3681413"/>
            <a:ext cx="6905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3808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283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算术运算指令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BCD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码调整指令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3" grpId="0"/>
      <p:bldP spid="59" grpId="0"/>
      <p:bldP spid="60" grpId="0"/>
      <p:bldP spid="16" grpId="0"/>
      <p:bldP spid="17" grpId="0"/>
      <p:bldP spid="18" grpId="0" bldLvl="0" animBg="1"/>
      <p:bldP spid="19" grpId="0"/>
      <p:bldP spid="20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984875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813" y="1203325"/>
            <a:ext cx="5308600" cy="3314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5143500" y="571500"/>
            <a:ext cx="357188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" name="直接连接符 26"/>
          <p:cNvCxnSpPr/>
          <p:nvPr/>
        </p:nvCxnSpPr>
        <p:spPr>
          <a:xfrm>
            <a:off x="5214938" y="857250"/>
            <a:ext cx="357187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/>
          <p:nvPr/>
        </p:nvCxnSpPr>
        <p:spPr>
          <a:xfrm>
            <a:off x="1643063" y="1000125"/>
            <a:ext cx="357187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/>
          <p:nvPr/>
        </p:nvCxnSpPr>
        <p:spPr>
          <a:xfrm>
            <a:off x="1000125" y="3698875"/>
            <a:ext cx="8572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" name="直接连接符 31"/>
          <p:cNvCxnSpPr/>
          <p:nvPr/>
        </p:nvCxnSpPr>
        <p:spPr>
          <a:xfrm>
            <a:off x="928688" y="4572000"/>
            <a:ext cx="8572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3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57313" y="0"/>
            <a:ext cx="7566025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428875" y="5770563"/>
            <a:ext cx="2571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>
            <a:off x="5000625" y="5786438"/>
            <a:ext cx="1928813" cy="1587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8" name="直接连接符 37"/>
          <p:cNvCxnSpPr/>
          <p:nvPr/>
        </p:nvCxnSpPr>
        <p:spPr>
          <a:xfrm>
            <a:off x="2414588" y="5915025"/>
            <a:ext cx="642937" cy="1588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" name="直接连接符 39"/>
          <p:cNvCxnSpPr/>
          <p:nvPr/>
        </p:nvCxnSpPr>
        <p:spPr>
          <a:xfrm>
            <a:off x="3071813" y="5913438"/>
            <a:ext cx="2428875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矩形 35"/>
          <p:cNvSpPr/>
          <p:nvPr/>
        </p:nvSpPr>
        <p:spPr>
          <a:xfrm>
            <a:off x="755650" y="427038"/>
            <a:ext cx="8051800" cy="777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Clr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习题</a:t>
            </a: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3-3. 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计算</a:t>
            </a: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个数据的和</a:t>
            </a:r>
            <a:endParaRPr lang="zh-CN" altLang="en-US" sz="3200" b="1" dirty="0">
              <a:latin typeface="Tahoma" panose="020B0604030504040204" pitchFamily="34" charset="0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1304925" y="3521075"/>
            <a:ext cx="2449513" cy="4667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AL+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[BX]</a:t>
            </a:r>
            <a:endParaRPr lang="en-US" altLang="zh-CN" b="1" dirty="0"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26984" name="AutoShape 8"/>
          <p:cNvSpPr/>
          <p:nvPr/>
        </p:nvSpPr>
        <p:spPr>
          <a:xfrm>
            <a:off x="1463675" y="5419725"/>
            <a:ext cx="2133600" cy="457200"/>
          </a:xfrm>
          <a:prstGeom prst="flowChartDecision">
            <a:avLst/>
          </a:prstGeom>
          <a:solidFill>
            <a:srgbClr val="FFFF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=0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5" name="Text Box 9"/>
          <p:cNvSpPr txBox="1"/>
          <p:nvPr/>
        </p:nvSpPr>
        <p:spPr>
          <a:xfrm>
            <a:off x="1235075" y="51911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N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6" name="Line 10"/>
          <p:cNvSpPr/>
          <p:nvPr/>
        </p:nvSpPr>
        <p:spPr>
          <a:xfrm flipH="1" flipV="1">
            <a:off x="1044575" y="5648325"/>
            <a:ext cx="4556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7" name="Line 11"/>
          <p:cNvSpPr/>
          <p:nvPr/>
        </p:nvSpPr>
        <p:spPr>
          <a:xfrm flipH="1" flipV="1">
            <a:off x="1028700" y="3305175"/>
            <a:ext cx="23813" cy="23399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8" name="Line 12"/>
          <p:cNvSpPr/>
          <p:nvPr/>
        </p:nvSpPr>
        <p:spPr>
          <a:xfrm>
            <a:off x="1006475" y="33051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1" name="Line 15"/>
          <p:cNvSpPr/>
          <p:nvPr/>
        </p:nvSpPr>
        <p:spPr>
          <a:xfrm>
            <a:off x="2528888" y="3140075"/>
            <a:ext cx="1587" cy="3603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2" name="Line 16"/>
          <p:cNvSpPr/>
          <p:nvPr/>
        </p:nvSpPr>
        <p:spPr>
          <a:xfrm>
            <a:off x="2530475" y="5191125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3" name="Line 17"/>
          <p:cNvSpPr/>
          <p:nvPr/>
        </p:nvSpPr>
        <p:spPr>
          <a:xfrm flipH="1">
            <a:off x="2528888" y="5876925"/>
            <a:ext cx="1587" cy="2746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4" name="Text Box 18"/>
          <p:cNvSpPr txBox="1"/>
          <p:nvPr/>
        </p:nvSpPr>
        <p:spPr>
          <a:xfrm>
            <a:off x="2606675" y="5719763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Y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95" name="Rectangle 19"/>
          <p:cNvSpPr/>
          <p:nvPr/>
        </p:nvSpPr>
        <p:spPr>
          <a:xfrm>
            <a:off x="1123950" y="1936750"/>
            <a:ext cx="2917825" cy="1200150"/>
          </a:xfrm>
          <a:prstGeom prst="rect">
            <a:avLst/>
          </a:prstGeom>
          <a:solidFill>
            <a:srgbClr val="C7FFF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BX</a:t>
            </a:r>
            <a:r>
              <a:rPr lang="zh-CN" altLang="en-US" b="1" dirty="0">
                <a:latin typeface="Tahoma" panose="020B0604030504040204" pitchFamily="34" charset="0"/>
              </a:rPr>
              <a:t>指向</a:t>
            </a:r>
            <a:r>
              <a:rPr lang="en-US" altLang="zh-CN" b="1" dirty="0">
                <a:latin typeface="Tahoma" panose="020B0604030504040204" pitchFamily="34" charset="0"/>
              </a:rPr>
              <a:t>BLOCK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10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7006" name="Text Box 30"/>
          <p:cNvSpPr txBox="1"/>
          <p:nvPr/>
        </p:nvSpPr>
        <p:spPr>
          <a:xfrm>
            <a:off x="1763713" y="6151563"/>
            <a:ext cx="1600200" cy="4667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结束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" name="Text Box 30"/>
          <p:cNvSpPr txBox="1"/>
          <p:nvPr/>
        </p:nvSpPr>
        <p:spPr>
          <a:xfrm>
            <a:off x="466725" y="1676400"/>
            <a:ext cx="503238" cy="1384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初始化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30"/>
          <p:cNvSpPr txBox="1"/>
          <p:nvPr/>
        </p:nvSpPr>
        <p:spPr>
          <a:xfrm>
            <a:off x="476250" y="3282950"/>
            <a:ext cx="503238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循环体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/>
          <p:nvPr/>
        </p:nvSpPr>
        <p:spPr>
          <a:xfrm>
            <a:off x="1592263" y="4386263"/>
            <a:ext cx="1905000" cy="83185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BX</a:t>
            </a:r>
            <a:r>
              <a:rPr lang="en-US" altLang="zh-CN" b="1" dirty="0">
                <a:latin typeface="Tahoma" panose="020B0604030504040204" pitchFamily="34" charset="0"/>
              </a:rPr>
              <a:t> BX+1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CX</a:t>
            </a:r>
            <a:r>
              <a:rPr lang="en-US" altLang="zh-CN" b="1" dirty="0">
                <a:latin typeface="Tahoma" panose="020B0604030504040204" pitchFamily="34" charset="0"/>
              </a:rPr>
              <a:t> CX-1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6" name="Line 15"/>
          <p:cNvSpPr/>
          <p:nvPr/>
        </p:nvSpPr>
        <p:spPr>
          <a:xfrm>
            <a:off x="2528888" y="4002088"/>
            <a:ext cx="1587" cy="395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" name="Text Box 30"/>
          <p:cNvSpPr txBox="1"/>
          <p:nvPr/>
        </p:nvSpPr>
        <p:spPr>
          <a:xfrm>
            <a:off x="477838" y="4732338"/>
            <a:ext cx="503237" cy="18145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循环控制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" name="Text Box 7"/>
          <p:cNvSpPr txBox="1"/>
          <p:nvPr/>
        </p:nvSpPr>
        <p:spPr>
          <a:xfrm>
            <a:off x="5435600" y="3521075"/>
            <a:ext cx="2449513" cy="466725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AX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AX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[BX]</a:t>
            </a:r>
            <a:endParaRPr lang="en-US" altLang="zh-CN" b="1" dirty="0"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5594350" y="5419725"/>
            <a:ext cx="2133600" cy="457200"/>
          </a:xfrm>
          <a:prstGeom prst="flowChartDecision">
            <a:avLst/>
          </a:prstGeom>
          <a:solidFill>
            <a:srgbClr val="FFFF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=0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1" name="Text Box 9"/>
          <p:cNvSpPr txBox="1"/>
          <p:nvPr/>
        </p:nvSpPr>
        <p:spPr>
          <a:xfrm>
            <a:off x="5365750" y="51911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N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2" name="Line 10"/>
          <p:cNvSpPr/>
          <p:nvPr/>
        </p:nvSpPr>
        <p:spPr>
          <a:xfrm flipH="1" flipV="1">
            <a:off x="5186363" y="5648325"/>
            <a:ext cx="4683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" name="Line 11"/>
          <p:cNvSpPr/>
          <p:nvPr/>
        </p:nvSpPr>
        <p:spPr>
          <a:xfrm flipH="1" flipV="1">
            <a:off x="5160963" y="3305175"/>
            <a:ext cx="22225" cy="23606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" name="Line 12"/>
          <p:cNvSpPr/>
          <p:nvPr/>
        </p:nvSpPr>
        <p:spPr>
          <a:xfrm>
            <a:off x="5137150" y="3305175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" name="Line 15"/>
          <p:cNvSpPr/>
          <p:nvPr/>
        </p:nvSpPr>
        <p:spPr>
          <a:xfrm>
            <a:off x="6659563" y="3138488"/>
            <a:ext cx="1587" cy="396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6" name="Line 16"/>
          <p:cNvSpPr/>
          <p:nvPr/>
        </p:nvSpPr>
        <p:spPr>
          <a:xfrm>
            <a:off x="6661150" y="5191125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7" name="Line 17"/>
          <p:cNvSpPr/>
          <p:nvPr/>
        </p:nvSpPr>
        <p:spPr>
          <a:xfrm flipH="1">
            <a:off x="6659563" y="5876925"/>
            <a:ext cx="1587" cy="2746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8" name="Text Box 18"/>
          <p:cNvSpPr txBox="1"/>
          <p:nvPr/>
        </p:nvSpPr>
        <p:spPr>
          <a:xfrm>
            <a:off x="6737350" y="5719763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Y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9" name="Rectangle 19"/>
          <p:cNvSpPr/>
          <p:nvPr/>
        </p:nvSpPr>
        <p:spPr>
          <a:xfrm>
            <a:off x="5183188" y="1936750"/>
            <a:ext cx="2917825" cy="1200150"/>
          </a:xfrm>
          <a:prstGeom prst="rect">
            <a:avLst/>
          </a:prstGeom>
          <a:solidFill>
            <a:srgbClr val="C7FFF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BX</a:t>
            </a:r>
            <a:r>
              <a:rPr lang="zh-CN" altLang="en-US" b="1" dirty="0">
                <a:latin typeface="Tahoma" panose="020B0604030504040204" pitchFamily="34" charset="0"/>
              </a:rPr>
              <a:t>指向</a:t>
            </a:r>
            <a:r>
              <a:rPr lang="en-US" altLang="zh-CN" b="1" dirty="0">
                <a:latin typeface="Tahoma" panose="020B0604030504040204" pitchFamily="34" charset="0"/>
              </a:rPr>
              <a:t>BLOCK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AX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10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Text Box 30"/>
          <p:cNvSpPr txBox="1"/>
          <p:nvPr/>
        </p:nvSpPr>
        <p:spPr>
          <a:xfrm>
            <a:off x="5894388" y="6151563"/>
            <a:ext cx="1600200" cy="4667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结束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1" name="Text Box 30"/>
          <p:cNvSpPr txBox="1"/>
          <p:nvPr/>
        </p:nvSpPr>
        <p:spPr>
          <a:xfrm>
            <a:off x="4597400" y="1676400"/>
            <a:ext cx="503238" cy="1384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初始化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2" name="Text Box 30"/>
          <p:cNvSpPr txBox="1"/>
          <p:nvPr/>
        </p:nvSpPr>
        <p:spPr>
          <a:xfrm>
            <a:off x="4608513" y="3282950"/>
            <a:ext cx="503237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循环体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3" name="Text Box 7"/>
          <p:cNvSpPr txBox="1"/>
          <p:nvPr/>
        </p:nvSpPr>
        <p:spPr>
          <a:xfrm>
            <a:off x="5722938" y="4386263"/>
            <a:ext cx="1905000" cy="83185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BX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BX+2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CX</a:t>
            </a:r>
            <a:r>
              <a:rPr lang="en-US" altLang="zh-CN" b="1" dirty="0">
                <a:latin typeface="Tahoma" panose="020B0604030504040204" pitchFamily="34" charset="0"/>
              </a:rPr>
              <a:t> CX-1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4" name="Line 15"/>
          <p:cNvSpPr/>
          <p:nvPr/>
        </p:nvSpPr>
        <p:spPr>
          <a:xfrm>
            <a:off x="6659563" y="3986213"/>
            <a:ext cx="1587" cy="395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6" name="Text Box 30"/>
          <p:cNvSpPr txBox="1"/>
          <p:nvPr/>
        </p:nvSpPr>
        <p:spPr>
          <a:xfrm>
            <a:off x="4608513" y="4732338"/>
            <a:ext cx="503237" cy="18145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循环控制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5876" name="TextBox 9"/>
          <p:cNvSpPr txBox="1"/>
          <p:nvPr/>
        </p:nvSpPr>
        <p:spPr>
          <a:xfrm>
            <a:off x="1123950" y="1393825"/>
            <a:ext cx="2976563" cy="522288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800" b="1" dirty="0">
                <a:latin typeface="Tahoma" panose="020B0604030504040204" pitchFamily="34" charset="0"/>
              </a:rPr>
              <a:t>每个数据为</a:t>
            </a:r>
            <a:r>
              <a:rPr lang="en-US" altLang="zh-CN" sz="2800" b="1" dirty="0">
                <a:latin typeface="Tahoma" panose="020B0604030504040204" pitchFamily="34" charset="0"/>
              </a:rPr>
              <a:t>8</a:t>
            </a:r>
            <a:r>
              <a:rPr lang="zh-CN" altLang="en-US" sz="2800" b="1" dirty="0">
                <a:latin typeface="Tahoma" panose="020B0604030504040204" pitchFamily="34" charset="0"/>
              </a:rPr>
              <a:t>位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35877" name="TextBox 56"/>
          <p:cNvSpPr txBox="1"/>
          <p:nvPr/>
        </p:nvSpPr>
        <p:spPr>
          <a:xfrm>
            <a:off x="5091113" y="1362075"/>
            <a:ext cx="3297237" cy="52070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sz="2800" b="1" dirty="0">
                <a:latin typeface="Tahoma" panose="020B0604030504040204" pitchFamily="34" charset="0"/>
              </a:rPr>
              <a:t>每个数据为</a:t>
            </a:r>
            <a:r>
              <a:rPr lang="en-US" altLang="zh-CN" sz="2800" b="1" dirty="0">
                <a:latin typeface="Tahoma" panose="020B0604030504040204" pitchFamily="34" charset="0"/>
              </a:rPr>
              <a:t>16</a:t>
            </a:r>
            <a:r>
              <a:rPr lang="zh-CN" altLang="en-US" sz="2800" b="1" dirty="0">
                <a:latin typeface="Tahoma" panose="020B0604030504040204" pitchFamily="34" charset="0"/>
              </a:rPr>
              <a:t>位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6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3" grpId="0" bldLvl="0" animBg="1"/>
      <p:bldP spid="126984" grpId="0" bldLvl="0" animBg="1"/>
      <p:bldP spid="126985" grpId="0"/>
      <p:bldP spid="126994" grpId="0"/>
      <p:bldP spid="126995" grpId="0" bldLvl="0" animBg="1"/>
      <p:bldP spid="127006" grpId="0" bldLvl="0" animBg="1"/>
      <p:bldP spid="2" grpId="0" bldLvl="0" animBg="1"/>
      <p:bldP spid="3" grpId="0"/>
      <p:bldP spid="5" grpId="0" bldLvl="0" animBg="1"/>
      <p:bldP spid="37" grpId="0"/>
      <p:bldP spid="39" grpId="0" bldLvl="0" animBg="1"/>
      <p:bldP spid="40" grpId="0" bldLvl="0" animBg="1"/>
      <p:bldP spid="41" grpId="0"/>
      <p:bldP spid="48" grpId="0"/>
      <p:bldP spid="49" grpId="0" bldLvl="0" animBg="1"/>
      <p:bldP spid="50" grpId="0" bldLvl="0" animBg="1"/>
      <p:bldP spid="51" grpId="0" bldLvl="0" animBg="1"/>
      <p:bldP spid="52" grpId="0"/>
      <p:bldP spid="53" grpId="0" bldLvl="0" animBg="1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矩形 35"/>
          <p:cNvSpPr/>
          <p:nvPr/>
        </p:nvSpPr>
        <p:spPr>
          <a:xfrm>
            <a:off x="796925" y="214313"/>
            <a:ext cx="8347075" cy="954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习题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3-4.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计算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个以压缩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BCD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码表示的十进制数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                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的和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(8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位数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3321050" y="3090863"/>
            <a:ext cx="2449513" cy="830262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AL+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[BX]</a:t>
            </a:r>
            <a:endParaRPr lang="en-US" altLang="zh-CN" b="1" dirty="0"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DAA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26984" name="AutoShape 8"/>
          <p:cNvSpPr/>
          <p:nvPr/>
        </p:nvSpPr>
        <p:spPr>
          <a:xfrm>
            <a:off x="3479800" y="5400675"/>
            <a:ext cx="2133600" cy="457200"/>
          </a:xfrm>
          <a:prstGeom prst="flowChartDecision">
            <a:avLst/>
          </a:prstGeom>
          <a:solidFill>
            <a:srgbClr val="FFFF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=0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5" name="Text Box 9"/>
          <p:cNvSpPr txBox="1"/>
          <p:nvPr/>
        </p:nvSpPr>
        <p:spPr>
          <a:xfrm>
            <a:off x="3251200" y="517207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N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6" name="Line 10"/>
          <p:cNvSpPr/>
          <p:nvPr/>
        </p:nvSpPr>
        <p:spPr>
          <a:xfrm flipH="1" flipV="1">
            <a:off x="3022600" y="562927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7" name="Line 11"/>
          <p:cNvSpPr/>
          <p:nvPr/>
        </p:nvSpPr>
        <p:spPr>
          <a:xfrm flipH="1" flipV="1">
            <a:off x="3044825" y="2874963"/>
            <a:ext cx="12700" cy="2754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8" name="Line 12"/>
          <p:cNvSpPr/>
          <p:nvPr/>
        </p:nvSpPr>
        <p:spPr>
          <a:xfrm>
            <a:off x="3022600" y="2874963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1" name="Line 15"/>
          <p:cNvSpPr/>
          <p:nvPr/>
        </p:nvSpPr>
        <p:spPr>
          <a:xfrm>
            <a:off x="4545013" y="2709863"/>
            <a:ext cx="1587" cy="395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2" name="Line 16"/>
          <p:cNvSpPr/>
          <p:nvPr/>
        </p:nvSpPr>
        <p:spPr>
          <a:xfrm>
            <a:off x="4546600" y="5172075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3" name="Line 17"/>
          <p:cNvSpPr/>
          <p:nvPr/>
        </p:nvSpPr>
        <p:spPr>
          <a:xfrm flipH="1">
            <a:off x="4545013" y="5857875"/>
            <a:ext cx="1587" cy="2746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4" name="Text Box 18"/>
          <p:cNvSpPr txBox="1"/>
          <p:nvPr/>
        </p:nvSpPr>
        <p:spPr>
          <a:xfrm>
            <a:off x="4622800" y="5700713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Y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95" name="Rectangle 19"/>
          <p:cNvSpPr/>
          <p:nvPr/>
        </p:nvSpPr>
        <p:spPr>
          <a:xfrm>
            <a:off x="3140075" y="1506538"/>
            <a:ext cx="2917825" cy="120015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fontAlgn="base">
              <a:buClrTx/>
              <a:buFontTx/>
            </a:pP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BX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指向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BLOCK</a:t>
            </a:r>
            <a:endParaRPr lang="en-US" altLang="zh-CN" b="1" strike="noStrike" noProof="1" dirty="0">
              <a:latin typeface="Tahoma" panose="020B0604030504040204" pitchFamily="34" charset="0"/>
            </a:endParaRPr>
          </a:p>
          <a:p>
            <a:pPr algn="ctr" fontAlgn="base">
              <a:buClrTx/>
              <a:buFontTx/>
            </a:pP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AL 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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0</a:t>
            </a:r>
            <a:endParaRPr lang="en-US" altLang="zh-CN" b="1" strike="noStrike" noProof="1" dirty="0">
              <a:latin typeface="Tahoma" panose="020B0604030504040204" pitchFamily="34" charset="0"/>
            </a:endParaRPr>
          </a:p>
          <a:p>
            <a:pPr algn="ctr" fontAlgn="base">
              <a:buClrTx/>
              <a:buFontTx/>
            </a:pP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CX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10</a:t>
            </a:r>
            <a:endParaRPr lang="en-US" altLang="zh-CN" b="1" strike="noStrike" noProof="1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7006" name="Text Box 30"/>
          <p:cNvSpPr txBox="1"/>
          <p:nvPr/>
        </p:nvSpPr>
        <p:spPr>
          <a:xfrm>
            <a:off x="3779838" y="6132513"/>
            <a:ext cx="1600200" cy="4667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结束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" name="Text Box 30"/>
          <p:cNvSpPr txBox="1"/>
          <p:nvPr/>
        </p:nvSpPr>
        <p:spPr>
          <a:xfrm>
            <a:off x="2482850" y="1246188"/>
            <a:ext cx="503238" cy="1384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初始化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30"/>
          <p:cNvSpPr txBox="1"/>
          <p:nvPr/>
        </p:nvSpPr>
        <p:spPr>
          <a:xfrm>
            <a:off x="2492375" y="2924175"/>
            <a:ext cx="503238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循环体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/>
          <p:nvPr/>
        </p:nvSpPr>
        <p:spPr>
          <a:xfrm>
            <a:off x="3536950" y="4367213"/>
            <a:ext cx="1905000" cy="83185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BX</a:t>
            </a:r>
            <a:r>
              <a:rPr lang="en-US" altLang="zh-CN" b="1" dirty="0">
                <a:latin typeface="Tahoma" panose="020B0604030504040204" pitchFamily="34" charset="0"/>
              </a:rPr>
              <a:t> BX+1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CX</a:t>
            </a:r>
            <a:r>
              <a:rPr lang="en-US" altLang="zh-CN" b="1" dirty="0">
                <a:latin typeface="Tahoma" panose="020B0604030504040204" pitchFamily="34" charset="0"/>
              </a:rPr>
              <a:t> CX-1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6" name="Line 15"/>
          <p:cNvSpPr/>
          <p:nvPr/>
        </p:nvSpPr>
        <p:spPr>
          <a:xfrm>
            <a:off x="4546600" y="3921125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7" name="Text Box 30"/>
          <p:cNvSpPr txBox="1"/>
          <p:nvPr/>
        </p:nvSpPr>
        <p:spPr>
          <a:xfrm>
            <a:off x="2565400" y="4749800"/>
            <a:ext cx="503238" cy="184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循环控制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26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2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3" grpId="0" bldLvl="0" animBg="1"/>
      <p:bldP spid="126984" grpId="0" bldLvl="0" animBg="1"/>
      <p:bldP spid="126985" grpId="0"/>
      <p:bldP spid="126994" grpId="0"/>
      <p:bldP spid="126995" grpId="0" bldLvl="0" animBg="1"/>
      <p:bldP spid="127006" grpId="0" bldLvl="0" animBg="1"/>
      <p:bldP spid="2" grpId="0" animBg="1"/>
      <p:bldP spid="3" grpId="0"/>
      <p:bldP spid="5" grpId="0" bldLvl="0" animBg="1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宋体" panose="02010600030101010101" pitchFamily="2" charset="-122"/>
              </a:rPr>
              <a:t>(JCC  OP1)</a:t>
            </a:r>
            <a:endParaRPr lang="en-US" altLang="zh-CN" sz="36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3238" y="1479550"/>
            <a:ext cx="8218488" cy="22145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条件转移指令</a:t>
            </a:r>
            <a:r>
              <a:rPr lang="en-US" altLang="zh-CN" b="1" noProof="1" err="1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JCC</a:t>
            </a: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根据指定的条件确定程序是否发生转移。其通用格式为：</a:t>
            </a:r>
            <a:endParaRPr lang="zh-CN" altLang="en-US" b="1" noProof="1" dirty="0"/>
          </a:p>
          <a:p>
            <a:pPr>
              <a:lnSpc>
                <a:spcPct val="115000"/>
              </a:lnSpc>
              <a:spcAft>
                <a:spcPts val="0"/>
              </a:spcAft>
              <a:buNone/>
            </a:pP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</a:t>
            </a:r>
            <a:r>
              <a:rPr lang="en-US" altLang="zh-CN" b="1" noProof="1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JCC</a:t>
            </a:r>
            <a:r>
              <a:rPr lang="en-US" altLang="zh-CN" b="1" noProof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OP1</a:t>
            </a:r>
            <a:r>
              <a:rPr lang="en-US" altLang="zh-CN" b="1" noProof="1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          </a:t>
            </a: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；</a:t>
            </a:r>
            <a:r>
              <a:rPr lang="zh-CN" altLang="en-US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条件满足</a:t>
            </a:r>
            <a:r>
              <a:rPr lang="en-US" altLang="zh-CN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,</a:t>
            </a:r>
            <a:r>
              <a:rPr lang="zh-CN" altLang="en-US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发生转移</a:t>
            </a:r>
            <a:endParaRPr lang="zh-CN" altLang="en-US" b="1" noProof="1" dirty="0"/>
          </a:p>
          <a:p>
            <a:pPr>
              <a:lnSpc>
                <a:spcPct val="115000"/>
              </a:lnSpc>
              <a:spcAft>
                <a:spcPts val="0"/>
              </a:spcAft>
              <a:buNone/>
            </a:pP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			；</a:t>
            </a:r>
            <a:r>
              <a:rPr lang="en-US" altLang="zh-CN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IP←IP</a:t>
            </a:r>
            <a:r>
              <a:rPr lang="zh-CN" altLang="en-US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＋</a:t>
            </a:r>
            <a:r>
              <a:rPr lang="en-US" altLang="zh-CN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8</a:t>
            </a:r>
            <a:r>
              <a:rPr lang="zh-CN" altLang="en-US" b="1" noProof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位位移量</a:t>
            </a: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；</a:t>
            </a:r>
            <a:endParaRPr lang="zh-CN" altLang="en-US" b="1" noProof="1" dirty="0"/>
          </a:p>
          <a:p>
            <a:pPr>
              <a:lnSpc>
                <a:spcPct val="115000"/>
              </a:lnSpc>
              <a:spcAft>
                <a:spcPts val="0"/>
              </a:spcAft>
              <a:buNone/>
            </a:pPr>
            <a:r>
              <a:rPr lang="zh-CN" altLang="en-US" b="1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				；</a:t>
            </a:r>
            <a:r>
              <a:rPr lang="zh-CN" altLang="en-US" b="1" noProof="1" dirty="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否则，顺序执行</a:t>
            </a:r>
            <a:endParaRPr lang="zh-CN" altLang="en-US" b="1" noProof="1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238" y="3733800"/>
            <a:ext cx="8218487" cy="901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注意：在 8086/8088 中，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所有条件转移指令都为短转移(转移距离为-128~+127)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3238" y="4724400"/>
            <a:ext cx="82184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err="1">
                <a:latin typeface="Tahoma" panose="020B0604030504040204" pitchFamily="34" charset="0"/>
              </a:rPr>
              <a:t>JCC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r>
              <a:rPr lang="zh-CN" altLang="en-US" b="1" dirty="0">
                <a:solidFill>
                  <a:srgbClr val="FF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不影响标志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，但要利用标志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96050" y="6324600"/>
            <a:ext cx="1905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7"/>
          <p:cNvGrpSpPr/>
          <p:nvPr/>
        </p:nvGrpSpPr>
        <p:grpSpPr>
          <a:xfrm>
            <a:off x="3200400" y="1865313"/>
            <a:ext cx="5729288" cy="4643437"/>
            <a:chOff x="240" y="336"/>
            <a:chExt cx="3312" cy="2925"/>
          </a:xfrm>
        </p:grpSpPr>
        <p:sp>
          <p:nvSpPr>
            <p:cNvPr id="38915" name="Text Box 3"/>
            <p:cNvSpPr txBox="1"/>
            <p:nvPr/>
          </p:nvSpPr>
          <p:spPr>
            <a:xfrm>
              <a:off x="240" y="336"/>
              <a:ext cx="3312" cy="2925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指令助记符    测试条件        指令功能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8916" name="Line 4"/>
            <p:cNvSpPr/>
            <p:nvPr/>
          </p:nvSpPr>
          <p:spPr>
            <a:xfrm>
              <a:off x="240" y="672"/>
              <a:ext cx="331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7" name="Line 5"/>
            <p:cNvSpPr/>
            <p:nvPr/>
          </p:nvSpPr>
          <p:spPr>
            <a:xfrm flipH="1">
              <a:off x="1296" y="336"/>
              <a:ext cx="2" cy="2925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8" name="Line 6"/>
            <p:cNvSpPr/>
            <p:nvPr/>
          </p:nvSpPr>
          <p:spPr>
            <a:xfrm>
              <a:off x="2304" y="336"/>
              <a:ext cx="0" cy="2925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2412" name="Text Box 12"/>
          <p:cNvSpPr txBox="1"/>
          <p:nvPr/>
        </p:nvSpPr>
        <p:spPr>
          <a:xfrm>
            <a:off x="360363" y="1484313"/>
            <a:ext cx="3498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）直接检测标志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2413" name="Rectangle 13"/>
          <p:cNvSpPr/>
          <p:nvPr/>
        </p:nvSpPr>
        <p:spPr>
          <a:xfrm>
            <a:off x="3276600" y="2406650"/>
            <a:ext cx="5611813" cy="411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JC           	   CF=1          </a:t>
            </a:r>
            <a:r>
              <a:rPr lang="zh-CN" altLang="en-US" b="1" dirty="0">
                <a:latin typeface="Tahoma" panose="020B0604030504040204" pitchFamily="34" charset="0"/>
              </a:rPr>
              <a:t>有进位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JNC                 CF=0          </a:t>
            </a:r>
            <a:r>
              <a:rPr lang="zh-CN" altLang="en-US" b="1" dirty="0">
                <a:latin typeface="Tahoma" panose="020B0604030504040204" pitchFamily="34" charset="0"/>
              </a:rPr>
              <a:t>无进位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JZ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JE</a:t>
            </a:r>
            <a:r>
              <a:rPr lang="en-US" altLang="zh-CN" b="1" dirty="0">
                <a:latin typeface="Tahoma" panose="020B0604030504040204" pitchFamily="34" charset="0"/>
              </a:rPr>
              <a:t>              ZF=1          </a:t>
            </a:r>
            <a:r>
              <a:rPr lang="zh-CN" altLang="en-US" b="1" dirty="0">
                <a:latin typeface="Tahoma" panose="020B0604030504040204" pitchFamily="34" charset="0"/>
              </a:rPr>
              <a:t>结果为零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JNZ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JNE</a:t>
            </a:r>
            <a:r>
              <a:rPr lang="en-US" altLang="zh-CN" b="1" dirty="0">
                <a:latin typeface="Tahoma" panose="020B0604030504040204" pitchFamily="34" charset="0"/>
              </a:rPr>
              <a:t>         ZF=0          </a:t>
            </a:r>
            <a:r>
              <a:rPr lang="zh-CN" altLang="en-US" b="1" dirty="0">
                <a:latin typeface="Tahoma" panose="020B0604030504040204" pitchFamily="34" charset="0"/>
              </a:rPr>
              <a:t>结果不为零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JS                    SF=1          </a:t>
            </a:r>
            <a:r>
              <a:rPr lang="zh-CN" altLang="en-US" b="1" dirty="0">
                <a:latin typeface="Tahoma" panose="020B0604030504040204" pitchFamily="34" charset="0"/>
              </a:rPr>
              <a:t>符号为负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JNS                 SF=0          </a:t>
            </a:r>
            <a:r>
              <a:rPr lang="zh-CN" altLang="en-US" b="1" dirty="0">
                <a:latin typeface="Tahoma" panose="020B0604030504040204" pitchFamily="34" charset="0"/>
              </a:rPr>
              <a:t>符号为正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JO                   OF=1          </a:t>
            </a:r>
            <a:r>
              <a:rPr lang="zh-CN" altLang="en-US" b="1" dirty="0">
                <a:latin typeface="Tahoma" panose="020B0604030504040204" pitchFamily="34" charset="0"/>
              </a:rPr>
              <a:t>溢出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JNO                OF=0          </a:t>
            </a:r>
            <a:r>
              <a:rPr lang="zh-CN" altLang="en-US" b="1" dirty="0">
                <a:latin typeface="Tahoma" panose="020B0604030504040204" pitchFamily="34" charset="0"/>
              </a:rPr>
              <a:t>无溢出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JP/JPE            PF=1          </a:t>
            </a:r>
            <a:r>
              <a:rPr lang="zh-CN" altLang="en-US" b="1" dirty="0">
                <a:latin typeface="Tahoma" panose="020B0604030504040204" pitchFamily="34" charset="0"/>
              </a:rPr>
              <a:t>偶数个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JNP/JPO         PF=0          </a:t>
            </a:r>
            <a:r>
              <a:rPr lang="zh-CN" altLang="en-US" b="1" dirty="0">
                <a:latin typeface="Tahoma" panose="020B0604030504040204" pitchFamily="34" charset="0"/>
              </a:rPr>
              <a:t>奇数个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02414" name="Rectangle 14"/>
          <p:cNvSpPr/>
          <p:nvPr/>
        </p:nvSpPr>
        <p:spPr>
          <a:xfrm>
            <a:off x="539750" y="1944688"/>
            <a:ext cx="2692400" cy="1273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可测标志位有：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CF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ZF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、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OF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PF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8922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宋体" panose="02010600030101010101" pitchFamily="2" charset="-122"/>
              </a:rPr>
              <a:t>(JCC  OP1)</a:t>
            </a:r>
            <a:endParaRPr lang="en-US" altLang="zh-CN" sz="36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1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charRg st="8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414">
                                            <p:txEl>
                                              <p:charRg st="8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4">
                                            <p:txEl>
                                              <p:charRg st="8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charRg st="23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2414">
                                            <p:txEl>
                                              <p:charRg st="23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4">
                                            <p:txEl>
                                              <p:charRg st="23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241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35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413">
                                            <p:txEl>
                                              <p:charRg st="35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35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73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2413">
                                            <p:txEl>
                                              <p:charRg st="73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73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111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2413">
                                            <p:txEl>
                                              <p:charRg st="111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111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2413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188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2413">
                                            <p:txEl>
                                              <p:charRg st="188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188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227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2413">
                                            <p:txEl>
                                              <p:charRg st="227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227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265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2413">
                                            <p:txEl>
                                              <p:charRg st="265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265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302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2413">
                                            <p:txEl>
                                              <p:charRg st="302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302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>
                                            <p:txEl>
                                              <p:charRg st="339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2413">
                                            <p:txEl>
                                              <p:charRg st="339" end="3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13">
                                            <p:txEl>
                                              <p:charRg st="339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2" grpId="0"/>
      <p:bldP spid="102413" grpId="0" uiExpand="1" build="p"/>
      <p:bldP spid="10241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0962" name="Text Box 1027"/>
          <p:cNvSpPr txBox="1"/>
          <p:nvPr/>
        </p:nvSpPr>
        <p:spPr>
          <a:xfrm>
            <a:off x="142875" y="2003425"/>
            <a:ext cx="8786813" cy="452437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类别             指令助记符        指令功能              标志位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无符号数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比较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 A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bove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 B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elow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有符号数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比较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G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reat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FF00"/>
                </a:solidFill>
                <a:latin typeface="Tahoma" panose="020B0604030504040204" pitchFamily="34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ess</a:t>
            </a:r>
            <a:endParaRPr lang="en-US" altLang="zh-CN" b="1" dirty="0">
              <a:solidFill>
                <a:srgbClr val="FFFF00"/>
              </a:solidFill>
              <a:latin typeface="Tahoma" panose="020B0604030504040204" pitchFamily="34" charset="0"/>
            </a:endParaRPr>
          </a:p>
        </p:txBody>
      </p:sp>
      <p:sp>
        <p:nvSpPr>
          <p:cNvPr id="40963" name="Line 1028"/>
          <p:cNvSpPr/>
          <p:nvPr/>
        </p:nvSpPr>
        <p:spPr>
          <a:xfrm>
            <a:off x="142875" y="2495550"/>
            <a:ext cx="8783638" cy="46038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964" name="Line 1029"/>
          <p:cNvSpPr/>
          <p:nvPr/>
        </p:nvSpPr>
        <p:spPr>
          <a:xfrm flipH="1">
            <a:off x="1782763" y="2003425"/>
            <a:ext cx="3175" cy="449580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965" name="Line 1030"/>
          <p:cNvSpPr/>
          <p:nvPr/>
        </p:nvSpPr>
        <p:spPr>
          <a:xfrm>
            <a:off x="3857625" y="2003425"/>
            <a:ext cx="0" cy="449580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966" name="Line 1033"/>
          <p:cNvSpPr/>
          <p:nvPr/>
        </p:nvSpPr>
        <p:spPr>
          <a:xfrm flipV="1">
            <a:off x="142875" y="4500563"/>
            <a:ext cx="8788400" cy="3810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704" name="Rectangle 1036"/>
          <p:cNvSpPr/>
          <p:nvPr/>
        </p:nvSpPr>
        <p:spPr>
          <a:xfrm>
            <a:off x="1857375" y="2720975"/>
            <a:ext cx="4579938" cy="16811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JA</a:t>
            </a:r>
            <a:r>
              <a:rPr lang="en-US" altLang="zh-CN" b="1" dirty="0">
                <a:latin typeface="Tahoma" panose="020B0604030504040204" pitchFamily="34" charset="0"/>
              </a:rPr>
              <a:t> / JNBE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高于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不低于等于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JAE</a:t>
            </a:r>
            <a:r>
              <a:rPr lang="en-US" altLang="zh-CN" b="1" dirty="0">
                <a:latin typeface="Tahoma" panose="020B0604030504040204" pitchFamily="34" charset="0"/>
              </a:rPr>
              <a:t> / JNB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高于等于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不低于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JB</a:t>
            </a:r>
            <a:r>
              <a:rPr lang="en-US" altLang="zh-CN" b="1" dirty="0">
                <a:latin typeface="Tahoma" panose="020B0604030504040204" pitchFamily="34" charset="0"/>
              </a:rPr>
              <a:t> / JNAE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低于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不高于等于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JBE</a:t>
            </a:r>
            <a:r>
              <a:rPr lang="en-US" altLang="zh-CN" b="1" dirty="0">
                <a:latin typeface="Tahoma" panose="020B0604030504040204" pitchFamily="34" charset="0"/>
              </a:rPr>
              <a:t> / JNA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低于等于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不高于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Rectangle 1036"/>
          <p:cNvSpPr/>
          <p:nvPr/>
        </p:nvSpPr>
        <p:spPr>
          <a:xfrm>
            <a:off x="6429375" y="4718050"/>
            <a:ext cx="2332038" cy="16779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SF=OF且ZF=0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SF=OF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或ZF=1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SF≠OF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SF≠OF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或ZF=1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Line 1030"/>
          <p:cNvSpPr/>
          <p:nvPr/>
        </p:nvSpPr>
        <p:spPr>
          <a:xfrm>
            <a:off x="6429375" y="2079625"/>
            <a:ext cx="0" cy="4427538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" name="矩形 24"/>
          <p:cNvSpPr/>
          <p:nvPr/>
        </p:nvSpPr>
        <p:spPr>
          <a:xfrm>
            <a:off x="6500813" y="2717800"/>
            <a:ext cx="2286000" cy="1677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CF=0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且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ZF=0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CF=0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ZF=1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CF=1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CF=1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ZF=1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28813" y="4679950"/>
            <a:ext cx="4572000" cy="1681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JG</a:t>
            </a:r>
            <a:r>
              <a:rPr lang="en-US" altLang="zh-CN" b="1" dirty="0">
                <a:latin typeface="Tahoma" panose="020B0604030504040204" pitchFamily="34" charset="0"/>
              </a:rPr>
              <a:t> / JNLE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大于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不小于等于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JGE</a:t>
            </a:r>
            <a:r>
              <a:rPr lang="en-US" altLang="zh-CN" b="1" dirty="0">
                <a:latin typeface="Tahoma" panose="020B0604030504040204" pitchFamily="34" charset="0"/>
              </a:rPr>
              <a:t> / JNL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大于等于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不小于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JL</a:t>
            </a:r>
            <a:r>
              <a:rPr lang="en-US" altLang="zh-CN" b="1" dirty="0">
                <a:latin typeface="Tahoma" panose="020B0604030504040204" pitchFamily="34" charset="0"/>
              </a:rPr>
              <a:t> / JNGE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小于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不大于等于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JLE</a:t>
            </a:r>
            <a:r>
              <a:rPr lang="en-US" altLang="zh-CN" b="1" dirty="0">
                <a:latin typeface="Tahoma" panose="020B0604030504040204" pitchFamily="34" charset="0"/>
              </a:rPr>
              <a:t> / JNG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小于等于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不大于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2" name="Text Box 12"/>
          <p:cNvSpPr txBox="1"/>
          <p:nvPr>
            <p:custDataLst>
              <p:tags r:id="rId1"/>
            </p:custDataLst>
          </p:nvPr>
        </p:nvSpPr>
        <p:spPr>
          <a:xfrm>
            <a:off x="360363" y="1484313"/>
            <a:ext cx="3498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）间接检测标志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789940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宋体" panose="02010600030101010101" pitchFamily="2" charset="-122"/>
              </a:rPr>
              <a:t>(JCC  OP1)</a:t>
            </a:r>
            <a:endParaRPr lang="en-US" altLang="zh-CN" sz="3600" b="1" dirty="0">
              <a:solidFill>
                <a:srgbClr val="0000FF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/>
      <p:bldP spid="17" grpId="0"/>
      <p:bldP spid="25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8082" name="Text Box 18"/>
          <p:cNvSpPr txBox="1"/>
          <p:nvPr/>
        </p:nvSpPr>
        <p:spPr>
          <a:xfrm>
            <a:off x="1204913" y="16525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[</a:t>
            </a:r>
            <a:r>
              <a:rPr lang="en-US" altLang="zh-CN" b="1" dirty="0">
                <a:latin typeface="Tahoma" panose="020B0604030504040204" pitchFamily="34" charset="0"/>
              </a:rPr>
              <a:t>2040H]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88083" name="Text Box 19"/>
          <p:cNvSpPr txBox="1"/>
          <p:nvPr/>
        </p:nvSpPr>
        <p:spPr>
          <a:xfrm>
            <a:off x="1204913" y="23383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–[</a:t>
            </a:r>
            <a:r>
              <a:rPr lang="en-US" altLang="zh-CN" b="1" dirty="0">
                <a:latin typeface="Tahoma" panose="020B0604030504040204" pitchFamily="34" charset="0"/>
              </a:rPr>
              <a:t>2041H]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88084" name="AutoShape 20"/>
          <p:cNvSpPr/>
          <p:nvPr/>
        </p:nvSpPr>
        <p:spPr>
          <a:xfrm>
            <a:off x="1073150" y="3070225"/>
            <a:ext cx="2930525" cy="930275"/>
          </a:xfrm>
          <a:prstGeom prst="diamond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AL &gt;[2041H]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？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8085" name="Line 21"/>
          <p:cNvSpPr/>
          <p:nvPr/>
        </p:nvSpPr>
        <p:spPr>
          <a:xfrm flipH="1">
            <a:off x="654050" y="3533775"/>
            <a:ext cx="4333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8086" name="Line 22"/>
          <p:cNvSpPr/>
          <p:nvPr/>
        </p:nvSpPr>
        <p:spPr>
          <a:xfrm>
            <a:off x="657225" y="3529013"/>
            <a:ext cx="9525" cy="1871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8087" name="Text Box 23"/>
          <p:cNvSpPr txBox="1"/>
          <p:nvPr/>
        </p:nvSpPr>
        <p:spPr>
          <a:xfrm>
            <a:off x="1133475" y="5619750"/>
            <a:ext cx="2809875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[2042H]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  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88088" name="Line 24"/>
          <p:cNvSpPr/>
          <p:nvPr/>
        </p:nvSpPr>
        <p:spPr>
          <a:xfrm>
            <a:off x="663575" y="5386388"/>
            <a:ext cx="1908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88089" name="Line 25"/>
          <p:cNvSpPr/>
          <p:nvPr/>
        </p:nvSpPr>
        <p:spPr>
          <a:xfrm>
            <a:off x="2527300" y="4010025"/>
            <a:ext cx="9525" cy="312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8090" name="Text Box 26"/>
          <p:cNvSpPr txBox="1"/>
          <p:nvPr/>
        </p:nvSpPr>
        <p:spPr>
          <a:xfrm>
            <a:off x="1933575" y="3929063"/>
            <a:ext cx="4302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N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8091" name="Line 27"/>
          <p:cNvSpPr/>
          <p:nvPr/>
        </p:nvSpPr>
        <p:spPr>
          <a:xfrm>
            <a:off x="2560638" y="4789488"/>
            <a:ext cx="0" cy="828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8092" name="Line 28"/>
          <p:cNvSpPr/>
          <p:nvPr/>
        </p:nvSpPr>
        <p:spPr>
          <a:xfrm flipH="1">
            <a:off x="2560638" y="2795588"/>
            <a:ext cx="0" cy="287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8093" name="Line 29"/>
          <p:cNvSpPr/>
          <p:nvPr/>
        </p:nvSpPr>
        <p:spPr>
          <a:xfrm>
            <a:off x="2559050" y="2119313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8094" name="Text Box 30"/>
          <p:cNvSpPr txBox="1"/>
          <p:nvPr/>
        </p:nvSpPr>
        <p:spPr>
          <a:xfrm>
            <a:off x="595313" y="314007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Y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8095" name="Text Box 31"/>
          <p:cNvSpPr txBox="1"/>
          <p:nvPr/>
        </p:nvSpPr>
        <p:spPr>
          <a:xfrm>
            <a:off x="4991100" y="1500188"/>
            <a:ext cx="3768725" cy="11064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AL,  [2040H]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CMP   AL,   [2041H]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8096" name="Text Box 32"/>
          <p:cNvSpPr txBox="1"/>
          <p:nvPr/>
        </p:nvSpPr>
        <p:spPr>
          <a:xfrm>
            <a:off x="4991100" y="3109913"/>
            <a:ext cx="3411538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大时，转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；否则顺序往下执行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8098" name="Rectangle 34"/>
          <p:cNvSpPr/>
          <p:nvPr/>
        </p:nvSpPr>
        <p:spPr>
          <a:xfrm>
            <a:off x="719138" y="4868863"/>
            <a:ext cx="12144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8099" name="Text Box 35"/>
          <p:cNvSpPr txBox="1"/>
          <p:nvPr/>
        </p:nvSpPr>
        <p:spPr>
          <a:xfrm>
            <a:off x="1204913" y="43322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[</a:t>
            </a:r>
            <a:r>
              <a:rPr lang="en-US" altLang="zh-CN" b="1" dirty="0">
                <a:latin typeface="Tahoma" panose="020B0604030504040204" pitchFamily="34" charset="0"/>
              </a:rPr>
              <a:t>2041H]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88103" name="Rectangle 39"/>
          <p:cNvSpPr/>
          <p:nvPr/>
        </p:nvSpPr>
        <p:spPr>
          <a:xfrm>
            <a:off x="4991100" y="3894138"/>
            <a:ext cx="2930525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lnSpc>
                <a:spcPct val="130000"/>
              </a:lnSpc>
              <a:spcBef>
                <a:spcPct val="150000"/>
              </a:spcBef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MOV AL,  [2041H]</a:t>
            </a:r>
            <a:endParaRPr lang="en-US" altLang="zh-CN" b="1" dirty="0">
              <a:solidFill>
                <a:srgbClr val="00B050"/>
              </a:solidFill>
              <a:latin typeface="Tahoma" panose="020B0604030504040204" pitchFamily="34" charset="0"/>
            </a:endParaRPr>
          </a:p>
        </p:txBody>
      </p:sp>
      <p:sp>
        <p:nvSpPr>
          <p:cNvPr id="88104" name="Rectangle 40"/>
          <p:cNvSpPr/>
          <p:nvPr/>
        </p:nvSpPr>
        <p:spPr>
          <a:xfrm>
            <a:off x="4991100" y="2609850"/>
            <a:ext cx="3281363" cy="5699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9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JA  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88105" name="Rectangle 41"/>
          <p:cNvSpPr/>
          <p:nvPr/>
        </p:nvSpPr>
        <p:spPr>
          <a:xfrm>
            <a:off x="4110038" y="4511675"/>
            <a:ext cx="4073525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lnSpc>
                <a:spcPct val="130000"/>
              </a:lnSpc>
              <a:spcBef>
                <a:spcPct val="145000"/>
              </a:spcBef>
              <a:buClrTx/>
              <a:buFontTx/>
            </a:pP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GREAT</a:t>
            </a:r>
            <a:r>
              <a:rPr lang="en-US" altLang="zh-CN" b="1" dirty="0">
                <a:latin typeface="Tahoma" panose="020B0604030504040204" pitchFamily="34" charset="0"/>
              </a:rPr>
              <a:t>: MOV [2042H], AL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3030" name="矩形 25"/>
          <p:cNvSpPr/>
          <p:nvPr/>
        </p:nvSpPr>
        <p:spPr>
          <a:xfrm>
            <a:off x="1044575" y="333375"/>
            <a:ext cx="7681913" cy="901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5-1. </a:t>
            </a:r>
            <a:r>
              <a:rPr lang="zh-CN" altLang="en-US" b="1" dirty="0">
                <a:latin typeface="Tahoma" panose="020B0604030504040204" pitchFamily="34" charset="0"/>
              </a:rPr>
              <a:t>找出</a:t>
            </a:r>
            <a:r>
              <a:rPr lang="en-US" altLang="zh-CN" b="1" dirty="0">
                <a:latin typeface="Tahoma" panose="020B0604030504040204" pitchFamily="34" charset="0"/>
              </a:rPr>
              <a:t>2040H</a:t>
            </a:r>
            <a:r>
              <a:rPr lang="zh-CN" altLang="en-US" b="1" dirty="0">
                <a:latin typeface="Tahoma" panose="020B0604030504040204" pitchFamily="34" charset="0"/>
              </a:rPr>
              <a:t>单元和</a:t>
            </a:r>
            <a:r>
              <a:rPr lang="en-US" altLang="zh-CN" b="1" dirty="0">
                <a:latin typeface="Tahoma" panose="020B0604030504040204" pitchFamily="34" charset="0"/>
              </a:rPr>
              <a:t>2041H</a:t>
            </a:r>
            <a:r>
              <a:rPr lang="zh-CN" altLang="en-US" b="1" dirty="0">
                <a:latin typeface="Tahoma" panose="020B0604030504040204" pitchFamily="34" charset="0"/>
              </a:rPr>
              <a:t>单元的大数，并送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              2042H</a:t>
            </a:r>
            <a:r>
              <a:rPr lang="zh-CN" altLang="en-US" b="1" dirty="0">
                <a:latin typeface="Tahoma" panose="020B0604030504040204" pitchFamily="34" charset="0"/>
              </a:rPr>
              <a:t>单元（数据自己定义）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8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8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8809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9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5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8095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95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5" dur="500"/>
                                        <p:tgtEl>
                                          <p:spTgt spid="8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2" grpId="0" bldLvl="0" animBg="1"/>
      <p:bldP spid="88083" grpId="0" bldLvl="0" animBg="1"/>
      <p:bldP spid="88084" grpId="0" bldLvl="0" animBg="1"/>
      <p:bldP spid="88087" grpId="0" bldLvl="0" animBg="1"/>
      <p:bldP spid="88090" grpId="0"/>
      <p:bldP spid="88094" grpId="0"/>
      <p:bldP spid="88095" grpId="0" build="p"/>
      <p:bldP spid="88096" grpId="0"/>
      <p:bldP spid="88098" grpId="0"/>
      <p:bldP spid="88099" grpId="0" bldLvl="0" animBg="1"/>
      <p:bldP spid="88103" grpId="0"/>
      <p:bldP spid="88104" grpId="0"/>
      <p:bldP spid="8810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5058" name="Text Box 18"/>
          <p:cNvSpPr txBox="1"/>
          <p:nvPr/>
        </p:nvSpPr>
        <p:spPr>
          <a:xfrm>
            <a:off x="1204913" y="16525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[</a:t>
            </a:r>
            <a:r>
              <a:rPr lang="en-US" altLang="zh-CN" b="1" dirty="0">
                <a:latin typeface="Tahoma" panose="020B0604030504040204" pitchFamily="34" charset="0"/>
              </a:rPr>
              <a:t>2040H]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Text Box 19"/>
          <p:cNvSpPr txBox="1"/>
          <p:nvPr/>
        </p:nvSpPr>
        <p:spPr>
          <a:xfrm>
            <a:off x="1204913" y="23383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–[</a:t>
            </a:r>
            <a:r>
              <a:rPr lang="en-US" altLang="zh-CN" b="1" dirty="0">
                <a:latin typeface="Tahoma" panose="020B0604030504040204" pitchFamily="34" charset="0"/>
              </a:rPr>
              <a:t>2041H]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AutoShape 20"/>
          <p:cNvSpPr/>
          <p:nvPr/>
        </p:nvSpPr>
        <p:spPr>
          <a:xfrm>
            <a:off x="1073150" y="3070225"/>
            <a:ext cx="2930525" cy="930275"/>
          </a:xfrm>
          <a:prstGeom prst="diamond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AL &gt;[2041H]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5061" name="Line 21"/>
          <p:cNvSpPr/>
          <p:nvPr/>
        </p:nvSpPr>
        <p:spPr>
          <a:xfrm flipH="1">
            <a:off x="654050" y="3533775"/>
            <a:ext cx="4333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062" name="Line 22"/>
          <p:cNvSpPr/>
          <p:nvPr/>
        </p:nvSpPr>
        <p:spPr>
          <a:xfrm>
            <a:off x="657225" y="3529013"/>
            <a:ext cx="9525" cy="1871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063" name="Text Box 23"/>
          <p:cNvSpPr txBox="1"/>
          <p:nvPr/>
        </p:nvSpPr>
        <p:spPr>
          <a:xfrm>
            <a:off x="1133475" y="5619750"/>
            <a:ext cx="2809875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[2042H]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 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5064" name="Line 24"/>
          <p:cNvSpPr/>
          <p:nvPr/>
        </p:nvSpPr>
        <p:spPr>
          <a:xfrm>
            <a:off x="663575" y="5386388"/>
            <a:ext cx="19081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45065" name="Line 25"/>
          <p:cNvSpPr/>
          <p:nvPr/>
        </p:nvSpPr>
        <p:spPr>
          <a:xfrm>
            <a:off x="2527300" y="4010025"/>
            <a:ext cx="9525" cy="312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066" name="Text Box 26"/>
          <p:cNvSpPr txBox="1"/>
          <p:nvPr/>
        </p:nvSpPr>
        <p:spPr>
          <a:xfrm>
            <a:off x="1933575" y="3929063"/>
            <a:ext cx="4302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N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5067" name="Line 27"/>
          <p:cNvSpPr/>
          <p:nvPr/>
        </p:nvSpPr>
        <p:spPr>
          <a:xfrm>
            <a:off x="2549525" y="4808538"/>
            <a:ext cx="0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068" name="Line 28"/>
          <p:cNvSpPr/>
          <p:nvPr/>
        </p:nvSpPr>
        <p:spPr>
          <a:xfrm flipH="1">
            <a:off x="2560638" y="2795588"/>
            <a:ext cx="0" cy="287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069" name="Line 29"/>
          <p:cNvSpPr/>
          <p:nvPr/>
        </p:nvSpPr>
        <p:spPr>
          <a:xfrm>
            <a:off x="2559050" y="2119313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5070" name="Text Box 30"/>
          <p:cNvSpPr txBox="1"/>
          <p:nvPr/>
        </p:nvSpPr>
        <p:spPr>
          <a:xfrm>
            <a:off x="595313" y="3140075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Y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5071" name="Text Box 31"/>
          <p:cNvSpPr txBox="1"/>
          <p:nvPr/>
        </p:nvSpPr>
        <p:spPr>
          <a:xfrm>
            <a:off x="4991100" y="1500188"/>
            <a:ext cx="3768725" cy="11064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AL,  [2040H]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CMP   AL,   [2041H]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5072" name="Text Box 32"/>
          <p:cNvSpPr txBox="1"/>
          <p:nvPr/>
        </p:nvSpPr>
        <p:spPr>
          <a:xfrm>
            <a:off x="4991100" y="3109913"/>
            <a:ext cx="3411538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大时，转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；否则顺序往下执行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5073" name="Rectangle 34"/>
          <p:cNvSpPr/>
          <p:nvPr/>
        </p:nvSpPr>
        <p:spPr>
          <a:xfrm>
            <a:off x="1309688" y="4833938"/>
            <a:ext cx="12144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5074" name="Text Box 35"/>
          <p:cNvSpPr txBox="1"/>
          <p:nvPr/>
        </p:nvSpPr>
        <p:spPr>
          <a:xfrm>
            <a:off x="1204913" y="4332288"/>
            <a:ext cx="2667000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[</a:t>
            </a:r>
            <a:r>
              <a:rPr lang="en-US" altLang="zh-CN" b="1" dirty="0">
                <a:latin typeface="Tahoma" panose="020B0604030504040204" pitchFamily="34" charset="0"/>
              </a:rPr>
              <a:t>2041H]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75" name="Rectangle 39"/>
          <p:cNvSpPr/>
          <p:nvPr/>
        </p:nvSpPr>
        <p:spPr>
          <a:xfrm>
            <a:off x="4991100" y="3894138"/>
            <a:ext cx="2930525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lnSpc>
                <a:spcPct val="130000"/>
              </a:lnSpc>
              <a:spcBef>
                <a:spcPct val="150000"/>
              </a:spcBef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MOV AL,  [2041H]</a:t>
            </a:r>
            <a:endParaRPr lang="en-US" altLang="zh-CN" b="1" dirty="0">
              <a:solidFill>
                <a:srgbClr val="00B050"/>
              </a:solidFill>
              <a:latin typeface="Tahoma" panose="020B0604030504040204" pitchFamily="34" charset="0"/>
            </a:endParaRPr>
          </a:p>
        </p:txBody>
      </p:sp>
      <p:sp>
        <p:nvSpPr>
          <p:cNvPr id="45076" name="Rectangle 40"/>
          <p:cNvSpPr/>
          <p:nvPr/>
        </p:nvSpPr>
        <p:spPr>
          <a:xfrm>
            <a:off x="4991100" y="2609850"/>
            <a:ext cx="3281363" cy="5699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9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JA  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GREAT</a:t>
            </a:r>
            <a:endParaRPr lang="en-US" altLang="zh-CN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5077" name="Rectangle 41"/>
          <p:cNvSpPr/>
          <p:nvPr/>
        </p:nvSpPr>
        <p:spPr>
          <a:xfrm>
            <a:off x="4110038" y="4511675"/>
            <a:ext cx="4073525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lnSpc>
                <a:spcPct val="130000"/>
              </a:lnSpc>
              <a:spcBef>
                <a:spcPct val="145000"/>
              </a:spcBef>
              <a:buClrTx/>
              <a:buFontTx/>
            </a:pP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GREAT</a:t>
            </a:r>
            <a:r>
              <a:rPr lang="en-US" altLang="zh-CN" b="1" dirty="0">
                <a:latin typeface="Tahoma" panose="020B0604030504040204" pitchFamily="34" charset="0"/>
              </a:rPr>
              <a:t>: MOV [2042H], AL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5078" name="矩形 25"/>
          <p:cNvSpPr/>
          <p:nvPr/>
        </p:nvSpPr>
        <p:spPr>
          <a:xfrm>
            <a:off x="1044575" y="333375"/>
            <a:ext cx="7681913" cy="901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5-1.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找出</a:t>
            </a:r>
            <a:r>
              <a:rPr lang="en-US" altLang="zh-CN" b="1" dirty="0">
                <a:latin typeface="Tahoma" panose="020B0604030504040204" pitchFamily="34" charset="0"/>
              </a:rPr>
              <a:t>2040H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单元和</a:t>
            </a:r>
            <a:r>
              <a:rPr lang="en-US" altLang="zh-CN" b="1" dirty="0">
                <a:latin typeface="Tahoma" panose="020B0604030504040204" pitchFamily="34" charset="0"/>
              </a:rPr>
              <a:t>2041H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单元的大数，并送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              2042H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单元（数据自己定义）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091238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8038" y="44450"/>
            <a:ext cx="8335962" cy="68135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8" name="直接连接符 27"/>
          <p:cNvCxnSpPr/>
          <p:nvPr>
            <p:custDataLst>
              <p:tags r:id="rId5"/>
            </p:custDataLst>
          </p:nvPr>
        </p:nvCxnSpPr>
        <p:spPr>
          <a:xfrm>
            <a:off x="827088" y="3716338"/>
            <a:ext cx="1000125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>
            <p:custDataLst>
              <p:tags r:id="rId6"/>
            </p:custDataLst>
          </p:nvPr>
        </p:nvCxnSpPr>
        <p:spPr>
          <a:xfrm>
            <a:off x="827088" y="4837113"/>
            <a:ext cx="1000125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1908175" y="5081588"/>
            <a:ext cx="1000125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矩形 35"/>
          <p:cNvSpPr/>
          <p:nvPr/>
        </p:nvSpPr>
        <p:spPr>
          <a:xfrm>
            <a:off x="787400" y="357188"/>
            <a:ext cx="7410450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5-2.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找出</a:t>
            </a:r>
            <a:r>
              <a:rPr lang="en-US" altLang="zh-CN" b="1" dirty="0">
                <a:latin typeface="Tahoma" panose="020B0604030504040204" pitchFamily="34" charset="0"/>
              </a:rPr>
              <a:t>10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个数（</a:t>
            </a:r>
            <a:r>
              <a:rPr lang="en-US" altLang="zh-CN" b="1" dirty="0">
                <a:latin typeface="Tahoma" panose="020B0604030504040204" pitchFamily="34" charset="0"/>
              </a:rPr>
              <a:t>8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位数）里的最大数（数据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       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自己定义）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6983" name="Text Box 7"/>
          <p:cNvSpPr txBox="1"/>
          <p:nvPr/>
        </p:nvSpPr>
        <p:spPr>
          <a:xfrm>
            <a:off x="5400675" y="3500438"/>
            <a:ext cx="1905000" cy="4667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[BX]</a:t>
            </a:r>
            <a:endParaRPr lang="en-US" altLang="zh-CN" b="1" dirty="0"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126984" name="AutoShape 8"/>
          <p:cNvSpPr/>
          <p:nvPr/>
        </p:nvSpPr>
        <p:spPr>
          <a:xfrm>
            <a:off x="5272088" y="5399088"/>
            <a:ext cx="2133600" cy="457200"/>
          </a:xfrm>
          <a:prstGeom prst="flowChartDecision">
            <a:avLst/>
          </a:prstGeom>
          <a:solidFill>
            <a:schemeClr val="bg1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=0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5" name="Text Box 9"/>
          <p:cNvSpPr txBox="1"/>
          <p:nvPr/>
        </p:nvSpPr>
        <p:spPr>
          <a:xfrm>
            <a:off x="5043488" y="5170488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N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86" name="Line 10"/>
          <p:cNvSpPr/>
          <p:nvPr/>
        </p:nvSpPr>
        <p:spPr>
          <a:xfrm flipH="1" flipV="1">
            <a:off x="4862513" y="5618163"/>
            <a:ext cx="431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7" name="Line 11"/>
          <p:cNvSpPr/>
          <p:nvPr/>
        </p:nvSpPr>
        <p:spPr>
          <a:xfrm flipH="1" flipV="1">
            <a:off x="4824413" y="2136775"/>
            <a:ext cx="46037" cy="34909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988" name="Line 12"/>
          <p:cNvSpPr/>
          <p:nvPr/>
        </p:nvSpPr>
        <p:spPr>
          <a:xfrm>
            <a:off x="4814888" y="21463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89" name="Line 13"/>
          <p:cNvSpPr/>
          <p:nvPr/>
        </p:nvSpPr>
        <p:spPr>
          <a:xfrm>
            <a:off x="6327775" y="1992313"/>
            <a:ext cx="1588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1" name="Line 15"/>
          <p:cNvSpPr/>
          <p:nvPr/>
        </p:nvSpPr>
        <p:spPr>
          <a:xfrm>
            <a:off x="6308725" y="3135313"/>
            <a:ext cx="1588" cy="358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2" name="Line 16"/>
          <p:cNvSpPr/>
          <p:nvPr/>
        </p:nvSpPr>
        <p:spPr>
          <a:xfrm>
            <a:off x="6329363" y="5208588"/>
            <a:ext cx="0" cy="1793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3" name="Line 17"/>
          <p:cNvSpPr/>
          <p:nvPr/>
        </p:nvSpPr>
        <p:spPr>
          <a:xfrm flipH="1">
            <a:off x="6337300" y="5856288"/>
            <a:ext cx="1588" cy="2746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994" name="Text Box 18"/>
          <p:cNvSpPr txBox="1"/>
          <p:nvPr/>
        </p:nvSpPr>
        <p:spPr>
          <a:xfrm>
            <a:off x="6415088" y="5699125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Y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26995" name="Rectangle 19"/>
          <p:cNvSpPr/>
          <p:nvPr/>
        </p:nvSpPr>
        <p:spPr>
          <a:xfrm>
            <a:off x="4967288" y="404813"/>
            <a:ext cx="2917825" cy="162401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BX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指向</a:t>
            </a:r>
            <a:r>
              <a:rPr lang="en-US" altLang="zh-CN" b="1" dirty="0">
                <a:latin typeface="Tahoma" panose="020B0604030504040204" pitchFamily="34" charset="0"/>
              </a:rPr>
              <a:t>BLOCK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Wingdings" panose="05000000000000000000" pitchFamily="2" charset="2"/>
              </a:rPr>
              <a:t>[BX] 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BX BX+1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9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7006" name="Text Box 30"/>
          <p:cNvSpPr txBox="1"/>
          <p:nvPr/>
        </p:nvSpPr>
        <p:spPr>
          <a:xfrm>
            <a:off x="5538788" y="6130925"/>
            <a:ext cx="1600200" cy="466725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结束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Text Box 30"/>
          <p:cNvSpPr txBox="1"/>
          <p:nvPr/>
        </p:nvSpPr>
        <p:spPr>
          <a:xfrm>
            <a:off x="4311650" y="501650"/>
            <a:ext cx="635000" cy="1382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初始化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 Box 30"/>
          <p:cNvSpPr txBox="1"/>
          <p:nvPr/>
        </p:nvSpPr>
        <p:spPr>
          <a:xfrm>
            <a:off x="4354513" y="2530475"/>
            <a:ext cx="503237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循环体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5219700" y="2349500"/>
            <a:ext cx="2195513" cy="782638"/>
          </a:xfrm>
          <a:prstGeom prst="flowChartDecision">
            <a:avLst/>
          </a:prstGeom>
          <a:solidFill>
            <a:schemeClr val="bg1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AL&gt;[BX]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/>
          <p:nvPr/>
        </p:nvSpPr>
        <p:spPr>
          <a:xfrm>
            <a:off x="5386388" y="4365625"/>
            <a:ext cx="1905000" cy="83185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BX</a:t>
            </a:r>
            <a:r>
              <a:rPr lang="en-US" altLang="zh-CN" b="1" dirty="0">
                <a:latin typeface="Tahoma" panose="020B0604030504040204" pitchFamily="34" charset="0"/>
              </a:rPr>
              <a:t> BX+1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CX</a:t>
            </a:r>
            <a:r>
              <a:rPr lang="en-US" altLang="zh-CN" b="1" dirty="0">
                <a:latin typeface="Tahoma" panose="020B0604030504040204" pitchFamily="34" charset="0"/>
              </a:rPr>
              <a:t> CX-1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6" name="Line 15"/>
          <p:cNvSpPr/>
          <p:nvPr/>
        </p:nvSpPr>
        <p:spPr>
          <a:xfrm>
            <a:off x="6337300" y="3970338"/>
            <a:ext cx="1588" cy="396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7" name="Group 30"/>
          <p:cNvGrpSpPr/>
          <p:nvPr/>
        </p:nvGrpSpPr>
        <p:grpSpPr>
          <a:xfrm>
            <a:off x="5038725" y="2747963"/>
            <a:ext cx="323850" cy="2159000"/>
            <a:chOff x="476" y="2341"/>
            <a:chExt cx="153" cy="862"/>
          </a:xfrm>
        </p:grpSpPr>
        <p:sp>
          <p:nvSpPr>
            <p:cNvPr id="46101" name="Line 10"/>
            <p:cNvSpPr/>
            <p:nvPr/>
          </p:nvSpPr>
          <p:spPr>
            <a:xfrm flipH="1" flipV="1">
              <a:off x="476" y="2341"/>
              <a:ext cx="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02" name="Line 28"/>
            <p:cNvSpPr/>
            <p:nvPr/>
          </p:nvSpPr>
          <p:spPr>
            <a:xfrm>
              <a:off x="476" y="2341"/>
              <a:ext cx="0" cy="8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03" name="Line 29"/>
            <p:cNvSpPr/>
            <p:nvPr/>
          </p:nvSpPr>
          <p:spPr>
            <a:xfrm>
              <a:off x="476" y="3203"/>
              <a:ext cx="1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8" name="Text Box 18"/>
          <p:cNvSpPr txBox="1"/>
          <p:nvPr/>
        </p:nvSpPr>
        <p:spPr>
          <a:xfrm>
            <a:off x="5148263" y="23241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Y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" name="Text Box 9"/>
          <p:cNvSpPr txBox="1"/>
          <p:nvPr/>
        </p:nvSpPr>
        <p:spPr>
          <a:xfrm>
            <a:off x="6373813" y="3068638"/>
            <a:ext cx="528637" cy="455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N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graphicFrame>
        <p:nvGraphicFramePr>
          <p:cNvPr id="126050" name="Group 98"/>
          <p:cNvGraphicFramePr>
            <a:graphicFrameLocks noGrp="1"/>
          </p:cNvGraphicFramePr>
          <p:nvPr/>
        </p:nvGraphicFramePr>
        <p:xfrm>
          <a:off x="1489075" y="1628775"/>
          <a:ext cx="1608138" cy="4148139"/>
        </p:xfrm>
        <a:graphic>
          <a:graphicData uri="http://schemas.openxmlformats.org/drawingml/2006/table">
            <a:tbl>
              <a:tblPr/>
              <a:tblGrid>
                <a:gridCol w="1608138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12H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34H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78H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56H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6" name="Text Box 99"/>
          <p:cNvSpPr txBox="1"/>
          <p:nvPr/>
        </p:nvSpPr>
        <p:spPr>
          <a:xfrm>
            <a:off x="398463" y="1676400"/>
            <a:ext cx="10906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dirty="0">
                <a:latin typeface="Tahoma" panose="020B0604030504040204" pitchFamily="34" charset="0"/>
              </a:rPr>
              <a:t>BLOCK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135246" name="Rectangle 78"/>
          <p:cNvSpPr/>
          <p:nvPr/>
        </p:nvSpPr>
        <p:spPr>
          <a:xfrm>
            <a:off x="3562350" y="1628775"/>
            <a:ext cx="728663" cy="5746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dirty="0">
                <a:latin typeface="Tahoma" panose="020B0604030504040204" pitchFamily="34" charset="0"/>
              </a:rPr>
              <a:t>AL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135247" name="Line 79"/>
          <p:cNvSpPr/>
          <p:nvPr/>
        </p:nvSpPr>
        <p:spPr>
          <a:xfrm>
            <a:off x="3097213" y="1916113"/>
            <a:ext cx="431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135248" name="Line 80"/>
          <p:cNvSpPr/>
          <p:nvPr/>
        </p:nvSpPr>
        <p:spPr>
          <a:xfrm flipV="1">
            <a:off x="3097213" y="2203450"/>
            <a:ext cx="431800" cy="28892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135249" name="Line 81"/>
          <p:cNvSpPr/>
          <p:nvPr/>
        </p:nvSpPr>
        <p:spPr>
          <a:xfrm flipV="1">
            <a:off x="3097213" y="2276475"/>
            <a:ext cx="503237" cy="647700"/>
          </a:xfrm>
          <a:prstGeom prst="line">
            <a:avLst/>
          </a:prstGeom>
          <a:ln w="28575" cap="flat" cmpd="sng">
            <a:solidFill>
              <a:srgbClr val="003399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135250" name="Line 82"/>
          <p:cNvSpPr/>
          <p:nvPr/>
        </p:nvSpPr>
        <p:spPr>
          <a:xfrm flipV="1">
            <a:off x="3097213" y="2276475"/>
            <a:ext cx="647700" cy="1223963"/>
          </a:xfrm>
          <a:prstGeom prst="line">
            <a:avLst/>
          </a:prstGeom>
          <a:ln w="28575" cap="flat" cmpd="sng">
            <a:solidFill>
              <a:srgbClr val="003399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135251" name="Line 83"/>
          <p:cNvSpPr/>
          <p:nvPr/>
        </p:nvSpPr>
        <p:spPr>
          <a:xfrm flipV="1">
            <a:off x="3097213" y="2276475"/>
            <a:ext cx="792162" cy="3240088"/>
          </a:xfrm>
          <a:prstGeom prst="line">
            <a:avLst/>
          </a:prstGeom>
          <a:ln w="28575" cap="flat" cmpd="sng">
            <a:solidFill>
              <a:srgbClr val="003399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125978" name="Text Box 26"/>
          <p:cNvSpPr txBox="1"/>
          <p:nvPr/>
        </p:nvSpPr>
        <p:spPr>
          <a:xfrm>
            <a:off x="131763" y="1484313"/>
            <a:ext cx="4176712" cy="4524375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LEA      BX,    BLOCK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MOV     AL,   [BX]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INC       BX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MOV    CX,     9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AGAIN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:CMP    AL,   [BX]</a:t>
            </a:r>
            <a:endParaRPr lang="en-US" altLang="zh-CN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	JG     </a:t>
            </a: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NEXT</a:t>
            </a:r>
            <a:endParaRPr lang="en-US" altLang="zh-CN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	MOV      AL,   [BX]</a:t>
            </a:r>
            <a:endParaRPr lang="en-US" altLang="zh-CN" b="1" dirty="0">
              <a:solidFill>
                <a:srgbClr val="000099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NEXT</a:t>
            </a:r>
            <a:r>
              <a:rPr lang="en-US" altLang="zh-CN" b="1" dirty="0">
                <a:latin typeface="Tahoma" panose="020B0604030504040204" pitchFamily="34" charset="0"/>
              </a:rPr>
              <a:t>:INC      BX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DEC      CX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JNZ       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</a:rPr>
              <a:t>AGAIN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MOV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b="1" dirty="0">
                <a:latin typeface="Tahoma" panose="020B0604030504040204" pitchFamily="34" charset="0"/>
              </a:rPr>
              <a:t>AH,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4CH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	INT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latin typeface="Tahoma" panose="020B0604030504040204" pitchFamily="34" charset="0"/>
              </a:rPr>
              <a:t>21H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7" name="Text Box 30"/>
          <p:cNvSpPr txBox="1"/>
          <p:nvPr/>
        </p:nvSpPr>
        <p:spPr>
          <a:xfrm>
            <a:off x="4357688" y="4618038"/>
            <a:ext cx="503237" cy="18145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循环控制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15188" y="4549775"/>
            <a:ext cx="1928812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大数在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AL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26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2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2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3" grpId="0" bldLvl="0" animBg="1"/>
      <p:bldP spid="126984" grpId="0" bldLvl="0" animBg="1"/>
      <p:bldP spid="126985" grpId="0"/>
      <p:bldP spid="126994" grpId="0"/>
      <p:bldP spid="126995" grpId="0" bldLvl="0" animBg="1"/>
      <p:bldP spid="127006" grpId="0" bldLvl="0" animBg="1"/>
      <p:bldP spid="2" grpId="0" bldLvl="0" animBg="1"/>
      <p:bldP spid="3" grpId="0"/>
      <p:bldP spid="4" grpId="0" bldLvl="0" animBg="1"/>
      <p:bldP spid="5" grpId="0" bldLvl="0" animBg="1"/>
      <p:bldP spid="8" grpId="0"/>
      <p:bldP spid="9" grpId="0"/>
      <p:bldP spid="135246" grpId="0" bldLvl="0" animBg="1"/>
      <p:bldP spid="125978" grpId="0" bldLvl="0" animBg="1"/>
      <p:bldP spid="37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3245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-26987"/>
            <a:ext cx="8712200" cy="68516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9" name="直接连接符 38"/>
          <p:cNvCxnSpPr/>
          <p:nvPr/>
        </p:nvCxnSpPr>
        <p:spPr>
          <a:xfrm>
            <a:off x="3011488" y="2051050"/>
            <a:ext cx="1920875" cy="95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" name="直接连接符 39"/>
          <p:cNvCxnSpPr/>
          <p:nvPr/>
        </p:nvCxnSpPr>
        <p:spPr>
          <a:xfrm>
            <a:off x="1638300" y="5113338"/>
            <a:ext cx="3240088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" name="直接连接符 1"/>
          <p:cNvCxnSpPr/>
          <p:nvPr>
            <p:custDataLst>
              <p:tags r:id="rId3"/>
            </p:custDataLst>
          </p:nvPr>
        </p:nvCxnSpPr>
        <p:spPr>
          <a:xfrm>
            <a:off x="466725" y="3803650"/>
            <a:ext cx="9366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>
            <p:custDataLst>
              <p:tags r:id="rId4"/>
            </p:custDataLst>
          </p:nvPr>
        </p:nvCxnSpPr>
        <p:spPr>
          <a:xfrm>
            <a:off x="438150" y="4897438"/>
            <a:ext cx="900113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" name="矩形 3"/>
          <p:cNvSpPr/>
          <p:nvPr/>
        </p:nvSpPr>
        <p:spPr>
          <a:xfrm>
            <a:off x="4859338" y="4724400"/>
            <a:ext cx="360362" cy="4318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t" anchorCtr="0"/>
          <a:p>
            <a:pPr>
              <a:buClrTx/>
              <a:buFontTx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32363" y="1773238"/>
            <a:ext cx="24590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solidFill>
                  <a:srgbClr val="0000FF"/>
                </a:solidFill>
                <a:latin typeface="Tahoma" panose="020B0604030504040204" pitchFamily="34" charset="0"/>
              </a:rPr>
              <a:t>无符号比较</a:t>
            </a:r>
            <a:endParaRPr lang="zh-CN" altLang="en-US" b="1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29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116513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8313" y="0"/>
            <a:ext cx="8650287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" name="直接连接符 3"/>
          <p:cNvCxnSpPr/>
          <p:nvPr>
            <p:custDataLst>
              <p:tags r:id="rId5"/>
            </p:custDataLst>
          </p:nvPr>
        </p:nvCxnSpPr>
        <p:spPr>
          <a:xfrm>
            <a:off x="466725" y="3875088"/>
            <a:ext cx="9366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" name="直接连接符 4"/>
          <p:cNvCxnSpPr/>
          <p:nvPr>
            <p:custDataLst>
              <p:tags r:id="rId6"/>
            </p:custDataLst>
          </p:nvPr>
        </p:nvCxnSpPr>
        <p:spPr>
          <a:xfrm>
            <a:off x="438150" y="4968875"/>
            <a:ext cx="900113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" name="直接连接符 39"/>
          <p:cNvCxnSpPr/>
          <p:nvPr>
            <p:custDataLst>
              <p:tags r:id="rId7"/>
            </p:custDataLst>
          </p:nvPr>
        </p:nvCxnSpPr>
        <p:spPr>
          <a:xfrm>
            <a:off x="1638300" y="5184775"/>
            <a:ext cx="3240088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" name="直接连接符 38"/>
          <p:cNvCxnSpPr/>
          <p:nvPr>
            <p:custDataLst>
              <p:tags r:id="rId8"/>
            </p:custDataLst>
          </p:nvPr>
        </p:nvCxnSpPr>
        <p:spPr>
          <a:xfrm>
            <a:off x="3011488" y="2117725"/>
            <a:ext cx="1920875" cy="95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4887913" y="4806950"/>
            <a:ext cx="360362" cy="4318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t" anchorCtr="0"/>
          <a:p>
            <a:pPr>
              <a:buClrTx/>
              <a:buFontTx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4932363" y="1844675"/>
            <a:ext cx="24590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solidFill>
                  <a:srgbClr val="0000FF"/>
                </a:solidFill>
                <a:latin typeface="Tahoma" panose="020B0604030504040204" pitchFamily="34" charset="0"/>
              </a:rPr>
              <a:t>有符号比较</a:t>
            </a:r>
            <a:endParaRPr lang="zh-CN" altLang="en-US" b="1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1" dirty="0">
                <a:solidFill>
                  <a:srgbClr val="FF0000"/>
                </a:solidFill>
              </a:rPr>
              <a:t>自己完成以下题目：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154" name="矩形 3"/>
          <p:cNvSpPr/>
          <p:nvPr/>
        </p:nvSpPr>
        <p:spPr>
          <a:xfrm>
            <a:off x="469900" y="1571625"/>
            <a:ext cx="8108950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5-3. </a:t>
            </a:r>
            <a:r>
              <a:rPr lang="zh-CN" altLang="en-US" sz="2800" b="1" dirty="0">
                <a:latin typeface="Tahoma" panose="020B0604030504040204" pitchFamily="34" charset="0"/>
              </a:rPr>
              <a:t>找出</a:t>
            </a:r>
            <a:r>
              <a:rPr lang="en-US" altLang="zh-CN" sz="2800" b="1" dirty="0">
                <a:latin typeface="Tahoma" panose="020B0604030504040204" pitchFamily="34" charset="0"/>
              </a:rPr>
              <a:t>10</a:t>
            </a:r>
            <a:r>
              <a:rPr lang="zh-CN" altLang="en-US" sz="2800" b="1" dirty="0">
                <a:latin typeface="Tahoma" panose="020B0604030504040204" pitchFamily="34" charset="0"/>
              </a:rPr>
              <a:t>个数（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位数</a:t>
            </a:r>
            <a:r>
              <a:rPr lang="zh-CN" altLang="en-US" sz="2800" b="1" dirty="0">
                <a:latin typeface="Tahoma" panose="020B0604030504040204" pitchFamily="34" charset="0"/>
              </a:rPr>
              <a:t>）里的最小数（数据自己定义）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9900" y="3071813"/>
            <a:ext cx="8107363" cy="19002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6-1.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latin typeface="Tahoma" panose="020B0604030504040204" pitchFamily="34" charset="0"/>
              </a:rPr>
              <a:t>找出</a:t>
            </a:r>
            <a:r>
              <a:rPr lang="en-US" altLang="zh-CN" sz="2800" b="1" dirty="0">
                <a:latin typeface="Tahoma" panose="020B0604030504040204" pitchFamily="34" charset="0"/>
              </a:rPr>
              <a:t>10</a:t>
            </a:r>
            <a:r>
              <a:rPr lang="zh-CN" altLang="en-US" sz="2800" b="1" dirty="0">
                <a:latin typeface="Tahoma" panose="020B0604030504040204" pitchFamily="34" charset="0"/>
              </a:rPr>
              <a:t>个数（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位数</a:t>
            </a:r>
            <a:r>
              <a:rPr lang="zh-CN" altLang="en-US" sz="2800" b="1" dirty="0">
                <a:latin typeface="Tahoma" panose="020B0604030504040204" pitchFamily="34" charset="0"/>
              </a:rPr>
              <a:t>）里的正数个数（数据自己定义）</a:t>
            </a:r>
            <a:endParaRPr lang="zh-CN" altLang="en-US" sz="2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6-2. </a:t>
            </a:r>
            <a:r>
              <a:rPr lang="zh-CN" altLang="en-US" sz="2800" b="1" dirty="0">
                <a:latin typeface="Tahoma" panose="020B0604030504040204" pitchFamily="34" charset="0"/>
              </a:rPr>
              <a:t>找出</a:t>
            </a:r>
            <a:r>
              <a:rPr lang="en-US" altLang="zh-CN" sz="2800" b="1" dirty="0">
                <a:latin typeface="Tahoma" panose="020B0604030504040204" pitchFamily="34" charset="0"/>
              </a:rPr>
              <a:t>10</a:t>
            </a:r>
            <a:r>
              <a:rPr lang="zh-CN" altLang="en-US" sz="2800" b="1" dirty="0">
                <a:latin typeface="Tahoma" panose="020B0604030504040204" pitchFamily="34" charset="0"/>
              </a:rPr>
              <a:t>个数（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位数</a:t>
            </a:r>
            <a:r>
              <a:rPr lang="zh-CN" altLang="en-US" sz="2800" b="1" dirty="0">
                <a:latin typeface="Tahoma" panose="020B0604030504040204" pitchFamily="34" charset="0"/>
              </a:rPr>
              <a:t>）里的负数个数（数据自己定义）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900" y="5229225"/>
            <a:ext cx="7643813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先画流程图，在完成数据定义、语句编写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DIAGRAM_VIRTUALLY_FRAME" val="{&quot;height&quot;:302.12496062992125,&quot;left&quot;:29,&quot;top&quot;:116.87503937007872,&quot;width&quot;:677.3750393700788}"/>
</p:tagLst>
</file>

<file path=ppt/tags/tag20.xml><?xml version="1.0" encoding="utf-8"?>
<p:tagLst xmlns:p="http://schemas.openxmlformats.org/presentationml/2006/main">
  <p:tag name="KSO_WM_DIAGRAM_VIRTUALLY_FRAME" val="{&quot;height&quot;:302.12496062992125,&quot;left&quot;:29,&quot;top&quot;:116.87503937007872,&quot;width&quot;:677.3750393700788}"/>
</p:tagLst>
</file>

<file path=ppt/tags/tag21.xml><?xml version="1.0" encoding="utf-8"?>
<p:tagLst xmlns:p="http://schemas.openxmlformats.org/presentationml/2006/main">
  <p:tag name="KSO_WM_DIAGRAM_VIRTUALLY_FRAME" val="{&quot;height&quot;:302.12496062992125,&quot;left&quot;:29,&quot;top&quot;:116.87503937007872,&quot;width&quot;:677.3750393700788}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  <p:tag name="KSO_WM_DIAGRAM_VIRTUALLY_FRAME" val="{&quot;height&quot;:302.12496062992125,&quot;left&quot;:29,&quot;top&quot;:116.87503937007872,&quot;width&quot;:677.3750393700788}"/>
</p:tagLst>
</file>

<file path=ppt/tags/tag24.xml><?xml version="1.0" encoding="utf-8"?>
<p:tagLst xmlns:p="http://schemas.openxmlformats.org/presentationml/2006/main">
  <p:tag name="KSO_WM_DIAGRAM_VIRTUALLY_FRAME" val="{&quot;height&quot;:302.12496062992125,&quot;left&quot;:29,&quot;top&quot;:116.87503937007872,&quot;width&quot;:677.3750393700788}"/>
</p:tagLst>
</file>

<file path=ppt/tags/tag25.xml><?xml version="1.0" encoding="utf-8"?>
<p:tagLst xmlns:p="http://schemas.openxmlformats.org/presentationml/2006/main">
  <p:tag name="KSO_WM_DIAGRAM_VIRTUALLY_FRAME" val="{&quot;height&quot;:302.12496062992125,&quot;left&quot;:29,&quot;top&quot;:116.87503937007872,&quot;width&quot;:677.3750393700788}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UNIT_PLACING_PICTURE_USER_VIEWPORT" val="{&quot;height&quot;:10800,&quot;width&quot;:9425}"/>
</p:tagLst>
</file>

<file path=ppt/tags/tag47.xml><?xml version="1.0" encoding="utf-8"?>
<p:tagLst xmlns:p="http://schemas.openxmlformats.org/presentationml/2006/main">
  <p:tag name="KSO_WM_UNIT_PLACING_PICTURE_USER_VIEWPORT" val="{&quot;height&quot;:10800,&quot;width&quot;:11915}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commondata" val="eyJoZGlkIjoiMzBhNjA4MTY3MzQ1OTEzY2U5MzkwMWJhYTU2Njg0MDg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6634</Words>
  <Application>WPS 演示</Application>
  <PresentationFormat>全屏显示(4:3)</PresentationFormat>
  <Paragraphs>743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Tahoma</vt:lpstr>
      <vt:lpstr>华文新魏</vt:lpstr>
      <vt:lpstr>Times New Roman</vt:lpstr>
      <vt:lpstr>Symbol</vt:lpstr>
      <vt:lpstr>Monotype Sorts</vt:lpstr>
      <vt:lpstr>Wingdings</vt:lpstr>
      <vt:lpstr>微软雅黑</vt:lpstr>
      <vt:lpstr>Arial Unicode MS</vt:lpstr>
      <vt:lpstr>Calibri</vt:lpstr>
      <vt:lpstr>Blends</vt:lpstr>
      <vt:lpstr>1_Blends</vt:lpstr>
      <vt:lpstr>2_Blends</vt:lpstr>
      <vt:lpstr>3_Blends</vt:lpstr>
      <vt:lpstr>第3章 指令系统及汇编语言程序设计-2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自己完成以下题目：</vt:lpstr>
    </vt:vector>
  </TitlesOfParts>
  <Company>清华大学计算机系微机组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戴梅萼</dc:creator>
  <cp:lastModifiedBy>caojg</cp:lastModifiedBy>
  <cp:revision>503</cp:revision>
  <dcterms:created xsi:type="dcterms:W3CDTF">2003-08-15T08:41:00Z</dcterms:created>
  <dcterms:modified xsi:type="dcterms:W3CDTF">2024-09-25T06:32:59Z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12A2507D0546466A9FB3E14E41806838_13</vt:lpwstr>
  </property>
  <property fmtid="{D5CDD505-2E9C-101B-9397-08002B2CF9AE}" pid="3" name="KSOProductBuildVer">
    <vt:lpwstr>2052-12.1.0.17857</vt:lpwstr>
  </property>
</Properties>
</file>