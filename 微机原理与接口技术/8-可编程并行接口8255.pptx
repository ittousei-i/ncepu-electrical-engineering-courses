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268" r:id="rId4"/>
    <p:sldId id="673" r:id="rId5"/>
    <p:sldId id="620" r:id="rId6"/>
    <p:sldId id="674" r:id="rId8"/>
    <p:sldId id="676" r:id="rId9"/>
    <p:sldId id="677" r:id="rId10"/>
    <p:sldId id="678" r:id="rId11"/>
    <p:sldId id="679" r:id="rId12"/>
    <p:sldId id="680" r:id="rId13"/>
    <p:sldId id="681" r:id="rId14"/>
    <p:sldId id="786" r:id="rId15"/>
    <p:sldId id="701" r:id="rId16"/>
    <p:sldId id="702" r:id="rId17"/>
    <p:sldId id="703" r:id="rId18"/>
    <p:sldId id="746" r:id="rId19"/>
    <p:sldId id="747" r:id="rId20"/>
    <p:sldId id="751" r:id="rId21"/>
    <p:sldId id="805" r:id="rId22"/>
    <p:sldId id="683" r:id="rId23"/>
    <p:sldId id="682" r:id="rId24"/>
    <p:sldId id="694" r:id="rId25"/>
    <p:sldId id="695" r:id="rId26"/>
    <p:sldId id="696" r:id="rId27"/>
    <p:sldId id="697" r:id="rId28"/>
    <p:sldId id="684" r:id="rId29"/>
    <p:sldId id="772" r:id="rId30"/>
    <p:sldId id="699" r:id="rId31"/>
    <p:sldId id="700" r:id="rId32"/>
    <p:sldId id="651" r:id="rId33"/>
  </p:sldIdLst>
  <p:sldSz cx="9144000" cy="6858000" type="screen4x3"/>
  <p:notesSz cx="6858000" cy="9144000"/>
  <p:custDataLst>
    <p:tags r:id="rId37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4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  <a:srgbClr val="0033CC"/>
    <a:srgbClr val="FFFFCC"/>
    <a:srgbClr val="000099"/>
    <a:srgbClr val="913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21102"/>
    <p:restoredTop sz="84972"/>
  </p:normalViewPr>
  <p:slideViewPr>
    <p:cSldViewPr showGuides="1">
      <p:cViewPr>
        <p:scale>
          <a:sx n="80" d="100"/>
          <a:sy n="80" d="100"/>
        </p:scale>
        <p:origin x="-858" y="-72"/>
      </p:cViewPr>
      <p:guideLst>
        <p:guide orient="horz" pos="2114"/>
        <p:guide pos="29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38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7" Type="http://schemas.openxmlformats.org/officeDocument/2006/relationships/tags" Target="tags/tag355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1EE45C-FC94-47C6-A7DB-491BB32BF512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7170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p>
            <a:pPr lvl="0"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>
                <a:sym typeface="+mn-ea"/>
              </a:rPr>
              <a:t>读/写控制逻辑接收来自 CPU 的地址信息及一些控制信号，然后向 A 组、B 组控制电路发送命令，控制端口数据的传送方向。</a:t>
            </a:r>
            <a:endParaRPr lang="zh-CN" altLang="en-US"/>
          </a:p>
          <a:p>
            <a:r>
              <a:rPr lang="zh-CN" altLang="en-US"/>
              <a:t>数据总线缓冲器是双向三态的 8 位缓冲器，8255A 通过它与系统的数据总线直接相连，实现在CPU 和 8255A 间传送控制字、数据和状态信息。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pPr algn="ctr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STB*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IBF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是外设和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8255A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间的一对应答联络信号，</a:t>
            </a:r>
            <a:endParaRPr lang="zh-CN" altLang="en-US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为的是可靠地输入数据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pPr algn="ctr"/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STB*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IBF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是外设和</a:t>
            </a:r>
            <a:r>
              <a:rPr lang="en-US" altLang="zh-CN" b="1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8255A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间的一对应答联络信号，</a:t>
            </a:r>
            <a:endParaRPr lang="zh-CN" altLang="en-US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sym typeface="+mn-ea"/>
              </a:rPr>
              <a:t>为的是可靠地输入数据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zh-CN" altLang="en-US"/>
              <a:t>端口 C 的部分引脚或全部引脚便用做应答联络线使用，这时端口 C 的内容是反映端口A 或 B 及相应外部设备的状态，称为方式 1 或方式 2 的状态字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pPr defTabSz="914400">
              <a:tabLst>
                <a:tab pos="3714750" algn="l"/>
              </a:tabLs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方式控制字：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>
              <a:buNone/>
              <a:tabLst>
                <a:tab pos="3714750" algn="l"/>
              </a:tabLs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11001100B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或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CCH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tabLst>
                <a:tab pos="3714750" algn="l"/>
              </a:tabLs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初始化的程序段：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buNone/>
              <a:tabLst>
                <a:tab pos="3714750" algn="l"/>
              </a:tabLs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b="1" err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mov</a:t>
            </a:r>
            <a:r>
              <a:rPr lang="en-US" altLang="zh-CN" b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dx,</a:t>
            </a:r>
            <a:r>
              <a:rPr lang="en-US" altLang="zh-CN" b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0ffeh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；控制端口为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FFFEH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buNone/>
              <a:tabLst>
                <a:tab pos="3714750" algn="l"/>
              </a:tabLs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b="1" err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mov</a:t>
            </a:r>
            <a:r>
              <a:rPr lang="en-US" altLang="zh-CN" b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al,</a:t>
            </a:r>
            <a:r>
              <a:rPr lang="en-US" altLang="zh-CN" b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0b1h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；方式控制字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buNone/>
              <a:tabLst>
                <a:tab pos="3714750" algn="l"/>
              </a:tabLst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b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 </a:t>
            </a:r>
            <a:r>
              <a:rPr lang="en-US" altLang="zh-CN" b="1" err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dx,al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	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；送到控制端口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en-US" altLang="zh-CN"/>
              <a:t>CC-</a:t>
            </a:r>
            <a:r>
              <a:rPr lang="zh-CN" altLang="en-US" b="1" dirty="0">
                <a:latin typeface="Tahoma" panose="020B0604030504040204" pitchFamily="34" charset="0"/>
                <a:sym typeface="+mn-ea"/>
              </a:rPr>
              <a:t>共阴极数码管；</a:t>
            </a:r>
            <a:r>
              <a:rPr lang="en-US" altLang="zh-CN" b="1" dirty="0">
                <a:latin typeface="Tahoma" panose="020B0604030504040204" pitchFamily="34" charset="0"/>
                <a:sym typeface="+mn-ea"/>
              </a:rPr>
              <a:t>CA-</a:t>
            </a:r>
            <a:r>
              <a:rPr lang="zh-CN" altLang="en-US" b="1" dirty="0">
                <a:latin typeface="Tahoma" panose="020B0604030504040204" pitchFamily="34" charset="0"/>
                <a:sym typeface="+mn-ea"/>
              </a:rPr>
              <a:t>共阳极数码管</a:t>
            </a:r>
            <a:endParaRPr lang="en-US" altLang="zh-CN" b="1" dirty="0">
              <a:latin typeface="Tahoma" panose="020B0604030504040204" pitchFamily="3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en-US" altLang="zh-CN"/>
              <a:t>AA0-AA2</a:t>
            </a:r>
            <a:r>
              <a:rPr lang="zh-CN" altLang="en-US"/>
              <a:t>：南北灯；</a:t>
            </a:r>
            <a:r>
              <a:rPr lang="en-US" altLang="zh-CN"/>
              <a:t>BB0-BB2</a:t>
            </a:r>
            <a:r>
              <a:rPr lang="zh-CN" altLang="en-US"/>
              <a:t>：东西灯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/>
          </p:nvPr>
        </p:nvSpPr>
        <p:spPr/>
        <p:txBody>
          <a:bodyPr/>
          <a:p>
            <a:r>
              <a:rPr lang="en-US" altLang="zh-CN"/>
              <a:t>AA0-AA2</a:t>
            </a:r>
            <a:r>
              <a:rPr lang="zh-CN" altLang="en-US"/>
              <a:t>：南北灯；</a:t>
            </a:r>
            <a:r>
              <a:rPr lang="en-US" altLang="zh-CN"/>
              <a:t>BB0-BB2</a:t>
            </a:r>
            <a:r>
              <a:rPr lang="zh-CN" altLang="en-US"/>
              <a:t>：东西灯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1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1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4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99" Type="http://schemas.openxmlformats.org/officeDocument/2006/relationships/tags" Target="../tags/tag102.xml"/><Relationship Id="rId98" Type="http://schemas.openxmlformats.org/officeDocument/2006/relationships/tags" Target="../tags/tag101.xml"/><Relationship Id="rId97" Type="http://schemas.openxmlformats.org/officeDocument/2006/relationships/tags" Target="../tags/tag100.xml"/><Relationship Id="rId96" Type="http://schemas.openxmlformats.org/officeDocument/2006/relationships/tags" Target="../tags/tag99.xml"/><Relationship Id="rId95" Type="http://schemas.openxmlformats.org/officeDocument/2006/relationships/tags" Target="../tags/tag98.xml"/><Relationship Id="rId94" Type="http://schemas.openxmlformats.org/officeDocument/2006/relationships/tags" Target="../tags/tag97.xml"/><Relationship Id="rId93" Type="http://schemas.openxmlformats.org/officeDocument/2006/relationships/tags" Target="../tags/tag96.xml"/><Relationship Id="rId92" Type="http://schemas.openxmlformats.org/officeDocument/2006/relationships/tags" Target="../tags/tag95.xml"/><Relationship Id="rId91" Type="http://schemas.openxmlformats.org/officeDocument/2006/relationships/tags" Target="../tags/tag94.xml"/><Relationship Id="rId90" Type="http://schemas.openxmlformats.org/officeDocument/2006/relationships/tags" Target="../tags/tag93.xml"/><Relationship Id="rId9" Type="http://schemas.openxmlformats.org/officeDocument/2006/relationships/tags" Target="../tags/tag12.xml"/><Relationship Id="rId89" Type="http://schemas.openxmlformats.org/officeDocument/2006/relationships/tags" Target="../tags/tag92.xml"/><Relationship Id="rId88" Type="http://schemas.openxmlformats.org/officeDocument/2006/relationships/tags" Target="../tags/tag91.xml"/><Relationship Id="rId87" Type="http://schemas.openxmlformats.org/officeDocument/2006/relationships/tags" Target="../tags/tag90.xml"/><Relationship Id="rId86" Type="http://schemas.openxmlformats.org/officeDocument/2006/relationships/tags" Target="../tags/tag89.xml"/><Relationship Id="rId85" Type="http://schemas.openxmlformats.org/officeDocument/2006/relationships/tags" Target="../tags/tag88.xml"/><Relationship Id="rId84" Type="http://schemas.openxmlformats.org/officeDocument/2006/relationships/tags" Target="../tags/tag87.xml"/><Relationship Id="rId83" Type="http://schemas.openxmlformats.org/officeDocument/2006/relationships/tags" Target="../tags/tag86.xml"/><Relationship Id="rId82" Type="http://schemas.openxmlformats.org/officeDocument/2006/relationships/tags" Target="../tags/tag85.xml"/><Relationship Id="rId81" Type="http://schemas.openxmlformats.org/officeDocument/2006/relationships/tags" Target="../tags/tag84.xml"/><Relationship Id="rId80" Type="http://schemas.openxmlformats.org/officeDocument/2006/relationships/tags" Target="../tags/tag83.xml"/><Relationship Id="rId8" Type="http://schemas.openxmlformats.org/officeDocument/2006/relationships/tags" Target="../tags/tag11.xml"/><Relationship Id="rId79" Type="http://schemas.openxmlformats.org/officeDocument/2006/relationships/tags" Target="../tags/tag82.xml"/><Relationship Id="rId78" Type="http://schemas.openxmlformats.org/officeDocument/2006/relationships/tags" Target="../tags/tag81.xml"/><Relationship Id="rId77" Type="http://schemas.openxmlformats.org/officeDocument/2006/relationships/tags" Target="../tags/tag80.xml"/><Relationship Id="rId76" Type="http://schemas.openxmlformats.org/officeDocument/2006/relationships/tags" Target="../tags/tag79.xml"/><Relationship Id="rId75" Type="http://schemas.openxmlformats.org/officeDocument/2006/relationships/tags" Target="../tags/tag78.xml"/><Relationship Id="rId74" Type="http://schemas.openxmlformats.org/officeDocument/2006/relationships/tags" Target="../tags/tag77.xml"/><Relationship Id="rId73" Type="http://schemas.openxmlformats.org/officeDocument/2006/relationships/tags" Target="../tags/tag76.xml"/><Relationship Id="rId72" Type="http://schemas.openxmlformats.org/officeDocument/2006/relationships/tags" Target="../tags/tag75.xml"/><Relationship Id="rId71" Type="http://schemas.openxmlformats.org/officeDocument/2006/relationships/tags" Target="../tags/tag74.xml"/><Relationship Id="rId70" Type="http://schemas.openxmlformats.org/officeDocument/2006/relationships/tags" Target="../tags/tag73.xml"/><Relationship Id="rId7" Type="http://schemas.openxmlformats.org/officeDocument/2006/relationships/tags" Target="../tags/tag10.xml"/><Relationship Id="rId69" Type="http://schemas.openxmlformats.org/officeDocument/2006/relationships/tags" Target="../tags/tag72.xml"/><Relationship Id="rId68" Type="http://schemas.openxmlformats.org/officeDocument/2006/relationships/tags" Target="../tags/tag71.xml"/><Relationship Id="rId67" Type="http://schemas.openxmlformats.org/officeDocument/2006/relationships/tags" Target="../tags/tag70.xml"/><Relationship Id="rId66" Type="http://schemas.openxmlformats.org/officeDocument/2006/relationships/tags" Target="../tags/tag69.xml"/><Relationship Id="rId65" Type="http://schemas.openxmlformats.org/officeDocument/2006/relationships/tags" Target="../tags/tag68.xml"/><Relationship Id="rId64" Type="http://schemas.openxmlformats.org/officeDocument/2006/relationships/tags" Target="../tags/tag67.xml"/><Relationship Id="rId63" Type="http://schemas.openxmlformats.org/officeDocument/2006/relationships/tags" Target="../tags/tag66.xml"/><Relationship Id="rId62" Type="http://schemas.openxmlformats.org/officeDocument/2006/relationships/tags" Target="../tags/tag65.xml"/><Relationship Id="rId61" Type="http://schemas.openxmlformats.org/officeDocument/2006/relationships/tags" Target="../tags/tag64.xml"/><Relationship Id="rId60" Type="http://schemas.openxmlformats.org/officeDocument/2006/relationships/tags" Target="../tags/tag63.xml"/><Relationship Id="rId6" Type="http://schemas.openxmlformats.org/officeDocument/2006/relationships/tags" Target="../tags/tag9.xml"/><Relationship Id="rId59" Type="http://schemas.openxmlformats.org/officeDocument/2006/relationships/tags" Target="../tags/tag62.xml"/><Relationship Id="rId58" Type="http://schemas.openxmlformats.org/officeDocument/2006/relationships/tags" Target="../tags/tag61.xml"/><Relationship Id="rId57" Type="http://schemas.openxmlformats.org/officeDocument/2006/relationships/tags" Target="../tags/tag60.xml"/><Relationship Id="rId56" Type="http://schemas.openxmlformats.org/officeDocument/2006/relationships/tags" Target="../tags/tag59.xml"/><Relationship Id="rId55" Type="http://schemas.openxmlformats.org/officeDocument/2006/relationships/tags" Target="../tags/tag58.xml"/><Relationship Id="rId54" Type="http://schemas.openxmlformats.org/officeDocument/2006/relationships/tags" Target="../tags/tag57.xml"/><Relationship Id="rId53" Type="http://schemas.openxmlformats.org/officeDocument/2006/relationships/tags" Target="../tags/tag56.xml"/><Relationship Id="rId52" Type="http://schemas.openxmlformats.org/officeDocument/2006/relationships/tags" Target="../tags/tag55.xml"/><Relationship Id="rId51" Type="http://schemas.openxmlformats.org/officeDocument/2006/relationships/tags" Target="../tags/tag54.xml"/><Relationship Id="rId50" Type="http://schemas.openxmlformats.org/officeDocument/2006/relationships/tags" Target="../tags/tag53.xml"/><Relationship Id="rId5" Type="http://schemas.openxmlformats.org/officeDocument/2006/relationships/tags" Target="../tags/tag8.xml"/><Relationship Id="rId49" Type="http://schemas.openxmlformats.org/officeDocument/2006/relationships/tags" Target="../tags/tag52.xml"/><Relationship Id="rId48" Type="http://schemas.openxmlformats.org/officeDocument/2006/relationships/tags" Target="../tags/tag51.xml"/><Relationship Id="rId47" Type="http://schemas.openxmlformats.org/officeDocument/2006/relationships/tags" Target="../tags/tag50.xml"/><Relationship Id="rId46" Type="http://schemas.openxmlformats.org/officeDocument/2006/relationships/tags" Target="../tags/tag49.xml"/><Relationship Id="rId45" Type="http://schemas.openxmlformats.org/officeDocument/2006/relationships/tags" Target="../tags/tag48.xml"/><Relationship Id="rId44" Type="http://schemas.openxmlformats.org/officeDocument/2006/relationships/tags" Target="../tags/tag47.xml"/><Relationship Id="rId43" Type="http://schemas.openxmlformats.org/officeDocument/2006/relationships/tags" Target="../tags/tag46.xml"/><Relationship Id="rId42" Type="http://schemas.openxmlformats.org/officeDocument/2006/relationships/tags" Target="../tags/tag45.xml"/><Relationship Id="rId41" Type="http://schemas.openxmlformats.org/officeDocument/2006/relationships/tags" Target="../tags/tag44.xml"/><Relationship Id="rId40" Type="http://schemas.openxmlformats.org/officeDocument/2006/relationships/tags" Target="../tags/tag43.xml"/><Relationship Id="rId4" Type="http://schemas.openxmlformats.org/officeDocument/2006/relationships/tags" Target="../tags/tag7.xml"/><Relationship Id="rId39" Type="http://schemas.openxmlformats.org/officeDocument/2006/relationships/tags" Target="../tags/tag42.xml"/><Relationship Id="rId38" Type="http://schemas.openxmlformats.org/officeDocument/2006/relationships/tags" Target="../tags/tag41.xml"/><Relationship Id="rId37" Type="http://schemas.openxmlformats.org/officeDocument/2006/relationships/tags" Target="../tags/tag40.xml"/><Relationship Id="rId36" Type="http://schemas.openxmlformats.org/officeDocument/2006/relationships/tags" Target="../tags/tag39.xml"/><Relationship Id="rId35" Type="http://schemas.openxmlformats.org/officeDocument/2006/relationships/tags" Target="../tags/tag38.xml"/><Relationship Id="rId34" Type="http://schemas.openxmlformats.org/officeDocument/2006/relationships/tags" Target="../tags/tag37.xml"/><Relationship Id="rId33" Type="http://schemas.openxmlformats.org/officeDocument/2006/relationships/tags" Target="../tags/tag36.xml"/><Relationship Id="rId32" Type="http://schemas.openxmlformats.org/officeDocument/2006/relationships/tags" Target="../tags/tag35.xml"/><Relationship Id="rId31" Type="http://schemas.openxmlformats.org/officeDocument/2006/relationships/tags" Target="../tags/tag34.xml"/><Relationship Id="rId30" Type="http://schemas.openxmlformats.org/officeDocument/2006/relationships/tags" Target="../tags/tag33.xml"/><Relationship Id="rId3" Type="http://schemas.openxmlformats.org/officeDocument/2006/relationships/tags" Target="../tags/tag6.xml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3" Type="http://schemas.openxmlformats.org/officeDocument/2006/relationships/notesSlide" Target="../notesSlides/notesSlide2.xml"/><Relationship Id="rId122" Type="http://schemas.openxmlformats.org/officeDocument/2006/relationships/slideLayout" Target="../slideLayouts/slideLayout18.xml"/><Relationship Id="rId121" Type="http://schemas.openxmlformats.org/officeDocument/2006/relationships/tags" Target="../tags/tag124.xml"/><Relationship Id="rId120" Type="http://schemas.openxmlformats.org/officeDocument/2006/relationships/tags" Target="../tags/tag123.xml"/><Relationship Id="rId12" Type="http://schemas.openxmlformats.org/officeDocument/2006/relationships/tags" Target="../tags/tag15.xml"/><Relationship Id="rId119" Type="http://schemas.openxmlformats.org/officeDocument/2006/relationships/tags" Target="../tags/tag122.xml"/><Relationship Id="rId118" Type="http://schemas.openxmlformats.org/officeDocument/2006/relationships/tags" Target="../tags/tag121.xml"/><Relationship Id="rId117" Type="http://schemas.openxmlformats.org/officeDocument/2006/relationships/tags" Target="../tags/tag120.xml"/><Relationship Id="rId116" Type="http://schemas.openxmlformats.org/officeDocument/2006/relationships/tags" Target="../tags/tag119.xml"/><Relationship Id="rId115" Type="http://schemas.openxmlformats.org/officeDocument/2006/relationships/tags" Target="../tags/tag118.xml"/><Relationship Id="rId114" Type="http://schemas.openxmlformats.org/officeDocument/2006/relationships/tags" Target="../tags/tag117.xml"/><Relationship Id="rId113" Type="http://schemas.openxmlformats.org/officeDocument/2006/relationships/tags" Target="../tags/tag116.xml"/><Relationship Id="rId112" Type="http://schemas.openxmlformats.org/officeDocument/2006/relationships/tags" Target="../tags/tag115.xml"/><Relationship Id="rId111" Type="http://schemas.openxmlformats.org/officeDocument/2006/relationships/tags" Target="../tags/tag114.xml"/><Relationship Id="rId110" Type="http://schemas.openxmlformats.org/officeDocument/2006/relationships/tags" Target="../tags/tag113.xml"/><Relationship Id="rId11" Type="http://schemas.openxmlformats.org/officeDocument/2006/relationships/tags" Target="../tags/tag14.xml"/><Relationship Id="rId109" Type="http://schemas.openxmlformats.org/officeDocument/2006/relationships/tags" Target="../tags/tag112.xml"/><Relationship Id="rId108" Type="http://schemas.openxmlformats.org/officeDocument/2006/relationships/tags" Target="../tags/tag111.xml"/><Relationship Id="rId107" Type="http://schemas.openxmlformats.org/officeDocument/2006/relationships/tags" Target="../tags/tag110.xml"/><Relationship Id="rId106" Type="http://schemas.openxmlformats.org/officeDocument/2006/relationships/tags" Target="../tags/tag109.xml"/><Relationship Id="rId105" Type="http://schemas.openxmlformats.org/officeDocument/2006/relationships/tags" Target="../tags/tag108.xml"/><Relationship Id="rId104" Type="http://schemas.openxmlformats.org/officeDocument/2006/relationships/tags" Target="../tags/tag107.xml"/><Relationship Id="rId103" Type="http://schemas.openxmlformats.org/officeDocument/2006/relationships/tags" Target="../tags/tag106.xml"/><Relationship Id="rId102" Type="http://schemas.openxmlformats.org/officeDocument/2006/relationships/tags" Target="../tags/tag105.xml"/><Relationship Id="rId101" Type="http://schemas.openxmlformats.org/officeDocument/2006/relationships/tags" Target="../tags/tag104.xml"/><Relationship Id="rId100" Type="http://schemas.openxmlformats.org/officeDocument/2006/relationships/tags" Target="../tags/tag103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6.png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1" Type="http://schemas.openxmlformats.org/officeDocument/2006/relationships/slideLayout" Target="../slideLayouts/slideLayout18.xml"/><Relationship Id="rId30" Type="http://schemas.openxmlformats.org/officeDocument/2006/relationships/tags" Target="../tags/tag164.xml"/><Relationship Id="rId3" Type="http://schemas.openxmlformats.org/officeDocument/2006/relationships/tags" Target="../tags/tag137.xml"/><Relationship Id="rId29" Type="http://schemas.openxmlformats.org/officeDocument/2006/relationships/tags" Target="../tags/tag163.xml"/><Relationship Id="rId28" Type="http://schemas.openxmlformats.org/officeDocument/2006/relationships/tags" Target="../tags/tag162.xml"/><Relationship Id="rId27" Type="http://schemas.openxmlformats.org/officeDocument/2006/relationships/tags" Target="../tags/tag161.xml"/><Relationship Id="rId26" Type="http://schemas.openxmlformats.org/officeDocument/2006/relationships/tags" Target="../tags/tag160.xml"/><Relationship Id="rId25" Type="http://schemas.openxmlformats.org/officeDocument/2006/relationships/tags" Target="../tags/tag159.xml"/><Relationship Id="rId24" Type="http://schemas.openxmlformats.org/officeDocument/2006/relationships/tags" Target="../tags/tag158.xml"/><Relationship Id="rId23" Type="http://schemas.openxmlformats.org/officeDocument/2006/relationships/tags" Target="../tags/tag157.xml"/><Relationship Id="rId22" Type="http://schemas.openxmlformats.org/officeDocument/2006/relationships/tags" Target="../tags/tag156.xml"/><Relationship Id="rId21" Type="http://schemas.openxmlformats.org/officeDocument/2006/relationships/tags" Target="../tags/tag155.xml"/><Relationship Id="rId20" Type="http://schemas.openxmlformats.org/officeDocument/2006/relationships/tags" Target="../tags/tag154.xml"/><Relationship Id="rId2" Type="http://schemas.openxmlformats.org/officeDocument/2006/relationships/tags" Target="../tags/tag136.xml"/><Relationship Id="rId19" Type="http://schemas.openxmlformats.org/officeDocument/2006/relationships/tags" Target="../tags/tag153.xml"/><Relationship Id="rId18" Type="http://schemas.openxmlformats.org/officeDocument/2006/relationships/tags" Target="../tags/tag152.xml"/><Relationship Id="rId17" Type="http://schemas.openxmlformats.org/officeDocument/2006/relationships/tags" Target="../tags/tag151.xml"/><Relationship Id="rId16" Type="http://schemas.openxmlformats.org/officeDocument/2006/relationships/tags" Target="../tags/tag150.xml"/><Relationship Id="rId15" Type="http://schemas.openxmlformats.org/officeDocument/2006/relationships/tags" Target="../tags/tag149.xml"/><Relationship Id="rId14" Type="http://schemas.openxmlformats.org/officeDocument/2006/relationships/tags" Target="../tags/tag148.xml"/><Relationship Id="rId13" Type="http://schemas.openxmlformats.org/officeDocument/2006/relationships/tags" Target="../tags/tag147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tags" Target="../tags/tag13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tags" Target="../tags/tag16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18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" Type="http://schemas.openxmlformats.org/officeDocument/2006/relationships/tags" Target="../tags/tag188.xml"/><Relationship Id="rId1" Type="http://schemas.openxmlformats.org/officeDocument/2006/relationships/tags" Target="../tags/tag18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9" Type="http://schemas.openxmlformats.org/officeDocument/2006/relationships/notesSlide" Target="../notesSlides/notesSlide4.xml"/><Relationship Id="rId48" Type="http://schemas.openxmlformats.org/officeDocument/2006/relationships/slideLayout" Target="../slideLayouts/slideLayout18.xml"/><Relationship Id="rId47" Type="http://schemas.openxmlformats.org/officeDocument/2006/relationships/tags" Target="../tags/tag237.xml"/><Relationship Id="rId46" Type="http://schemas.openxmlformats.org/officeDocument/2006/relationships/tags" Target="../tags/tag236.xml"/><Relationship Id="rId45" Type="http://schemas.openxmlformats.org/officeDocument/2006/relationships/tags" Target="../tags/tag235.xml"/><Relationship Id="rId44" Type="http://schemas.openxmlformats.org/officeDocument/2006/relationships/tags" Target="../tags/tag234.xml"/><Relationship Id="rId43" Type="http://schemas.openxmlformats.org/officeDocument/2006/relationships/tags" Target="../tags/tag233.xml"/><Relationship Id="rId42" Type="http://schemas.openxmlformats.org/officeDocument/2006/relationships/tags" Target="../tags/tag232.xml"/><Relationship Id="rId41" Type="http://schemas.openxmlformats.org/officeDocument/2006/relationships/tags" Target="../tags/tag231.xml"/><Relationship Id="rId40" Type="http://schemas.openxmlformats.org/officeDocument/2006/relationships/tags" Target="../tags/tag230.xml"/><Relationship Id="rId4" Type="http://schemas.openxmlformats.org/officeDocument/2006/relationships/tags" Target="../tags/tag194.xml"/><Relationship Id="rId39" Type="http://schemas.openxmlformats.org/officeDocument/2006/relationships/tags" Target="../tags/tag229.xml"/><Relationship Id="rId38" Type="http://schemas.openxmlformats.org/officeDocument/2006/relationships/tags" Target="../tags/tag228.xml"/><Relationship Id="rId37" Type="http://schemas.openxmlformats.org/officeDocument/2006/relationships/tags" Target="../tags/tag227.xml"/><Relationship Id="rId36" Type="http://schemas.openxmlformats.org/officeDocument/2006/relationships/tags" Target="../tags/tag226.xml"/><Relationship Id="rId35" Type="http://schemas.openxmlformats.org/officeDocument/2006/relationships/tags" Target="../tags/tag225.xml"/><Relationship Id="rId34" Type="http://schemas.openxmlformats.org/officeDocument/2006/relationships/tags" Target="../tags/tag224.xml"/><Relationship Id="rId33" Type="http://schemas.openxmlformats.org/officeDocument/2006/relationships/tags" Target="../tags/tag223.xml"/><Relationship Id="rId32" Type="http://schemas.openxmlformats.org/officeDocument/2006/relationships/tags" Target="../tags/tag222.xml"/><Relationship Id="rId31" Type="http://schemas.openxmlformats.org/officeDocument/2006/relationships/tags" Target="../tags/tag221.xml"/><Relationship Id="rId30" Type="http://schemas.openxmlformats.org/officeDocument/2006/relationships/tags" Target="../tags/tag220.xml"/><Relationship Id="rId3" Type="http://schemas.openxmlformats.org/officeDocument/2006/relationships/tags" Target="../tags/tag193.xml"/><Relationship Id="rId29" Type="http://schemas.openxmlformats.org/officeDocument/2006/relationships/tags" Target="../tags/tag219.xml"/><Relationship Id="rId28" Type="http://schemas.openxmlformats.org/officeDocument/2006/relationships/tags" Target="../tags/tag218.xml"/><Relationship Id="rId27" Type="http://schemas.openxmlformats.org/officeDocument/2006/relationships/tags" Target="../tags/tag217.xml"/><Relationship Id="rId26" Type="http://schemas.openxmlformats.org/officeDocument/2006/relationships/tags" Target="../tags/tag216.xml"/><Relationship Id="rId25" Type="http://schemas.openxmlformats.org/officeDocument/2006/relationships/tags" Target="../tags/tag215.xml"/><Relationship Id="rId24" Type="http://schemas.openxmlformats.org/officeDocument/2006/relationships/tags" Target="../tags/tag214.xml"/><Relationship Id="rId23" Type="http://schemas.openxmlformats.org/officeDocument/2006/relationships/tags" Target="../tags/tag213.xml"/><Relationship Id="rId22" Type="http://schemas.openxmlformats.org/officeDocument/2006/relationships/tags" Target="../tags/tag212.xml"/><Relationship Id="rId21" Type="http://schemas.openxmlformats.org/officeDocument/2006/relationships/tags" Target="../tags/tag211.xml"/><Relationship Id="rId20" Type="http://schemas.openxmlformats.org/officeDocument/2006/relationships/tags" Target="../tags/tag210.xml"/><Relationship Id="rId2" Type="http://schemas.openxmlformats.org/officeDocument/2006/relationships/tags" Target="../tags/tag192.xml"/><Relationship Id="rId19" Type="http://schemas.openxmlformats.org/officeDocument/2006/relationships/tags" Target="../tags/tag209.xml"/><Relationship Id="rId18" Type="http://schemas.openxmlformats.org/officeDocument/2006/relationships/tags" Target="../tags/tag208.xml"/><Relationship Id="rId17" Type="http://schemas.openxmlformats.org/officeDocument/2006/relationships/tags" Target="../tags/tag207.xml"/><Relationship Id="rId16" Type="http://schemas.openxmlformats.org/officeDocument/2006/relationships/tags" Target="../tags/tag206.xml"/><Relationship Id="rId15" Type="http://schemas.openxmlformats.org/officeDocument/2006/relationships/tags" Target="../tags/tag205.xml"/><Relationship Id="rId14" Type="http://schemas.openxmlformats.org/officeDocument/2006/relationships/tags" Target="../tags/tag204.xml"/><Relationship Id="rId13" Type="http://schemas.openxmlformats.org/officeDocument/2006/relationships/tags" Target="../tags/tag203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tags" Target="../tags/tag19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1" Type="http://schemas.openxmlformats.org/officeDocument/2006/relationships/notesSlide" Target="../notesSlides/notesSlide5.xml"/><Relationship Id="rId50" Type="http://schemas.openxmlformats.org/officeDocument/2006/relationships/slideLayout" Target="../slideLayouts/slideLayout7.xml"/><Relationship Id="rId5" Type="http://schemas.openxmlformats.org/officeDocument/2006/relationships/tags" Target="../tags/tag242.xml"/><Relationship Id="rId49" Type="http://schemas.openxmlformats.org/officeDocument/2006/relationships/tags" Target="../tags/tag286.xml"/><Relationship Id="rId48" Type="http://schemas.openxmlformats.org/officeDocument/2006/relationships/tags" Target="../tags/tag285.xml"/><Relationship Id="rId47" Type="http://schemas.openxmlformats.org/officeDocument/2006/relationships/tags" Target="../tags/tag284.xml"/><Relationship Id="rId46" Type="http://schemas.openxmlformats.org/officeDocument/2006/relationships/tags" Target="../tags/tag283.xml"/><Relationship Id="rId45" Type="http://schemas.openxmlformats.org/officeDocument/2006/relationships/tags" Target="../tags/tag282.xml"/><Relationship Id="rId44" Type="http://schemas.openxmlformats.org/officeDocument/2006/relationships/tags" Target="../tags/tag281.xml"/><Relationship Id="rId43" Type="http://schemas.openxmlformats.org/officeDocument/2006/relationships/tags" Target="../tags/tag280.xml"/><Relationship Id="rId42" Type="http://schemas.openxmlformats.org/officeDocument/2006/relationships/tags" Target="../tags/tag279.xml"/><Relationship Id="rId41" Type="http://schemas.openxmlformats.org/officeDocument/2006/relationships/tags" Target="../tags/tag278.xml"/><Relationship Id="rId40" Type="http://schemas.openxmlformats.org/officeDocument/2006/relationships/tags" Target="../tags/tag277.xml"/><Relationship Id="rId4" Type="http://schemas.openxmlformats.org/officeDocument/2006/relationships/tags" Target="../tags/tag241.xml"/><Relationship Id="rId39" Type="http://schemas.openxmlformats.org/officeDocument/2006/relationships/tags" Target="../tags/tag276.xml"/><Relationship Id="rId38" Type="http://schemas.openxmlformats.org/officeDocument/2006/relationships/tags" Target="../tags/tag275.xml"/><Relationship Id="rId37" Type="http://schemas.openxmlformats.org/officeDocument/2006/relationships/tags" Target="../tags/tag274.xml"/><Relationship Id="rId36" Type="http://schemas.openxmlformats.org/officeDocument/2006/relationships/tags" Target="../tags/tag273.xml"/><Relationship Id="rId35" Type="http://schemas.openxmlformats.org/officeDocument/2006/relationships/tags" Target="../tags/tag272.xml"/><Relationship Id="rId34" Type="http://schemas.openxmlformats.org/officeDocument/2006/relationships/tags" Target="../tags/tag271.xml"/><Relationship Id="rId33" Type="http://schemas.openxmlformats.org/officeDocument/2006/relationships/tags" Target="../tags/tag270.xml"/><Relationship Id="rId32" Type="http://schemas.openxmlformats.org/officeDocument/2006/relationships/tags" Target="../tags/tag269.xml"/><Relationship Id="rId31" Type="http://schemas.openxmlformats.org/officeDocument/2006/relationships/tags" Target="../tags/tag268.xml"/><Relationship Id="rId30" Type="http://schemas.openxmlformats.org/officeDocument/2006/relationships/tags" Target="../tags/tag267.xml"/><Relationship Id="rId3" Type="http://schemas.openxmlformats.org/officeDocument/2006/relationships/tags" Target="../tags/tag240.xml"/><Relationship Id="rId29" Type="http://schemas.openxmlformats.org/officeDocument/2006/relationships/tags" Target="../tags/tag266.xml"/><Relationship Id="rId28" Type="http://schemas.openxmlformats.org/officeDocument/2006/relationships/tags" Target="../tags/tag265.xml"/><Relationship Id="rId27" Type="http://schemas.openxmlformats.org/officeDocument/2006/relationships/tags" Target="../tags/tag264.xml"/><Relationship Id="rId26" Type="http://schemas.openxmlformats.org/officeDocument/2006/relationships/tags" Target="../tags/tag263.xml"/><Relationship Id="rId25" Type="http://schemas.openxmlformats.org/officeDocument/2006/relationships/tags" Target="../tags/tag262.xml"/><Relationship Id="rId24" Type="http://schemas.openxmlformats.org/officeDocument/2006/relationships/tags" Target="../tags/tag261.xml"/><Relationship Id="rId23" Type="http://schemas.openxmlformats.org/officeDocument/2006/relationships/tags" Target="../tags/tag260.xml"/><Relationship Id="rId22" Type="http://schemas.openxmlformats.org/officeDocument/2006/relationships/tags" Target="../tags/tag259.xml"/><Relationship Id="rId21" Type="http://schemas.openxmlformats.org/officeDocument/2006/relationships/tags" Target="../tags/tag258.xml"/><Relationship Id="rId20" Type="http://schemas.openxmlformats.org/officeDocument/2006/relationships/tags" Target="../tags/tag257.xml"/><Relationship Id="rId2" Type="http://schemas.openxmlformats.org/officeDocument/2006/relationships/tags" Target="../tags/tag239.xml"/><Relationship Id="rId19" Type="http://schemas.openxmlformats.org/officeDocument/2006/relationships/tags" Target="../tags/tag256.xml"/><Relationship Id="rId18" Type="http://schemas.openxmlformats.org/officeDocument/2006/relationships/tags" Target="../tags/tag255.xml"/><Relationship Id="rId17" Type="http://schemas.openxmlformats.org/officeDocument/2006/relationships/tags" Target="../tags/tag254.xml"/><Relationship Id="rId16" Type="http://schemas.openxmlformats.org/officeDocument/2006/relationships/tags" Target="../tags/tag253.xml"/><Relationship Id="rId15" Type="http://schemas.openxmlformats.org/officeDocument/2006/relationships/tags" Target="../tags/tag252.xml"/><Relationship Id="rId14" Type="http://schemas.openxmlformats.org/officeDocument/2006/relationships/tags" Target="../tags/tag251.xml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tags" Target="../tags/tag293.xml"/><Relationship Id="rId6" Type="http://schemas.openxmlformats.org/officeDocument/2006/relationships/tags" Target="../tags/tag292.xml"/><Relationship Id="rId5" Type="http://schemas.openxmlformats.org/officeDocument/2006/relationships/tags" Target="../tags/tag291.xml"/><Relationship Id="rId47" Type="http://schemas.openxmlformats.org/officeDocument/2006/relationships/slideLayout" Target="../slideLayouts/slideLayout7.xml"/><Relationship Id="rId46" Type="http://schemas.openxmlformats.org/officeDocument/2006/relationships/tags" Target="../tags/tag332.xml"/><Relationship Id="rId45" Type="http://schemas.openxmlformats.org/officeDocument/2006/relationships/tags" Target="../tags/tag331.xml"/><Relationship Id="rId44" Type="http://schemas.openxmlformats.org/officeDocument/2006/relationships/tags" Target="../tags/tag330.xml"/><Relationship Id="rId43" Type="http://schemas.openxmlformats.org/officeDocument/2006/relationships/tags" Target="../tags/tag329.xml"/><Relationship Id="rId42" Type="http://schemas.openxmlformats.org/officeDocument/2006/relationships/tags" Target="../tags/tag328.xml"/><Relationship Id="rId41" Type="http://schemas.openxmlformats.org/officeDocument/2006/relationships/tags" Target="../tags/tag327.xml"/><Relationship Id="rId40" Type="http://schemas.openxmlformats.org/officeDocument/2006/relationships/tags" Target="../tags/tag326.xml"/><Relationship Id="rId4" Type="http://schemas.openxmlformats.org/officeDocument/2006/relationships/tags" Target="../tags/tag290.xml"/><Relationship Id="rId39" Type="http://schemas.openxmlformats.org/officeDocument/2006/relationships/tags" Target="../tags/tag325.xml"/><Relationship Id="rId38" Type="http://schemas.openxmlformats.org/officeDocument/2006/relationships/tags" Target="../tags/tag324.xml"/><Relationship Id="rId37" Type="http://schemas.openxmlformats.org/officeDocument/2006/relationships/tags" Target="../tags/tag323.xml"/><Relationship Id="rId36" Type="http://schemas.openxmlformats.org/officeDocument/2006/relationships/tags" Target="../tags/tag322.xml"/><Relationship Id="rId35" Type="http://schemas.openxmlformats.org/officeDocument/2006/relationships/tags" Target="../tags/tag321.xml"/><Relationship Id="rId34" Type="http://schemas.openxmlformats.org/officeDocument/2006/relationships/tags" Target="../tags/tag320.xml"/><Relationship Id="rId33" Type="http://schemas.openxmlformats.org/officeDocument/2006/relationships/tags" Target="../tags/tag319.xml"/><Relationship Id="rId32" Type="http://schemas.openxmlformats.org/officeDocument/2006/relationships/tags" Target="../tags/tag318.xml"/><Relationship Id="rId31" Type="http://schemas.openxmlformats.org/officeDocument/2006/relationships/tags" Target="../tags/tag317.xml"/><Relationship Id="rId30" Type="http://schemas.openxmlformats.org/officeDocument/2006/relationships/tags" Target="../tags/tag316.xml"/><Relationship Id="rId3" Type="http://schemas.openxmlformats.org/officeDocument/2006/relationships/tags" Target="../tags/tag289.xml"/><Relationship Id="rId29" Type="http://schemas.openxmlformats.org/officeDocument/2006/relationships/tags" Target="../tags/tag315.xml"/><Relationship Id="rId28" Type="http://schemas.openxmlformats.org/officeDocument/2006/relationships/tags" Target="../tags/tag314.xml"/><Relationship Id="rId27" Type="http://schemas.openxmlformats.org/officeDocument/2006/relationships/tags" Target="../tags/tag313.xml"/><Relationship Id="rId26" Type="http://schemas.openxmlformats.org/officeDocument/2006/relationships/tags" Target="../tags/tag312.xml"/><Relationship Id="rId25" Type="http://schemas.openxmlformats.org/officeDocument/2006/relationships/tags" Target="../tags/tag311.xml"/><Relationship Id="rId24" Type="http://schemas.openxmlformats.org/officeDocument/2006/relationships/tags" Target="../tags/tag310.xml"/><Relationship Id="rId23" Type="http://schemas.openxmlformats.org/officeDocument/2006/relationships/tags" Target="../tags/tag309.xml"/><Relationship Id="rId22" Type="http://schemas.openxmlformats.org/officeDocument/2006/relationships/tags" Target="../tags/tag308.xml"/><Relationship Id="rId21" Type="http://schemas.openxmlformats.org/officeDocument/2006/relationships/tags" Target="../tags/tag307.xml"/><Relationship Id="rId20" Type="http://schemas.openxmlformats.org/officeDocument/2006/relationships/tags" Target="../tags/tag306.xml"/><Relationship Id="rId2" Type="http://schemas.openxmlformats.org/officeDocument/2006/relationships/tags" Target="../tags/tag288.xml"/><Relationship Id="rId19" Type="http://schemas.openxmlformats.org/officeDocument/2006/relationships/tags" Target="../tags/tag305.xml"/><Relationship Id="rId18" Type="http://schemas.openxmlformats.org/officeDocument/2006/relationships/tags" Target="../tags/tag304.xml"/><Relationship Id="rId17" Type="http://schemas.openxmlformats.org/officeDocument/2006/relationships/tags" Target="../tags/tag303.xml"/><Relationship Id="rId16" Type="http://schemas.openxmlformats.org/officeDocument/2006/relationships/tags" Target="../tags/tag302.xml"/><Relationship Id="rId15" Type="http://schemas.openxmlformats.org/officeDocument/2006/relationships/tags" Target="../tags/tag301.xml"/><Relationship Id="rId14" Type="http://schemas.openxmlformats.org/officeDocument/2006/relationships/tags" Target="../tags/tag300.xml"/><Relationship Id="rId13" Type="http://schemas.openxmlformats.org/officeDocument/2006/relationships/tags" Target="../tags/tag299.xml"/><Relationship Id="rId12" Type="http://schemas.openxmlformats.org/officeDocument/2006/relationships/tags" Target="../tags/tag298.xml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8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tags" Target="../tags/tag340.xml"/><Relationship Id="rId7" Type="http://schemas.openxmlformats.org/officeDocument/2006/relationships/tags" Target="../tags/tag339.xml"/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42.xml"/><Relationship Id="rId1" Type="http://schemas.openxmlformats.org/officeDocument/2006/relationships/tags" Target="../tags/tag333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34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44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.png"/><Relationship Id="rId3" Type="http://schemas.openxmlformats.org/officeDocument/2006/relationships/tags" Target="../tags/tag346.xml"/><Relationship Id="rId2" Type="http://schemas.openxmlformats.org/officeDocument/2006/relationships/image" Target="../media/image1.png"/><Relationship Id="rId1" Type="http://schemas.openxmlformats.org/officeDocument/2006/relationships/tags" Target="../tags/tag345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8.xml"/><Relationship Id="rId2" Type="http://schemas.openxmlformats.org/officeDocument/2006/relationships/tags" Target="../tags/tag347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50.xml"/><Relationship Id="rId4" Type="http://schemas.openxmlformats.org/officeDocument/2006/relationships/image" Target="../media/image10.png"/><Relationship Id="rId3" Type="http://schemas.openxmlformats.org/officeDocument/2006/relationships/tags" Target="../tags/tag349.xml"/><Relationship Id="rId2" Type="http://schemas.openxmlformats.org/officeDocument/2006/relationships/image" Target="../media/image9.png"/><Relationship Id="rId1" Type="http://schemas.openxmlformats.org/officeDocument/2006/relationships/tags" Target="../tags/tag34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51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tags" Target="../tags/tag35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tags" Target="../tags/tag354.xml"/><Relationship Id="rId2" Type="http://schemas.openxmlformats.org/officeDocument/2006/relationships/image" Target="../media/image15.png"/><Relationship Id="rId1" Type="http://schemas.openxmlformats.org/officeDocument/2006/relationships/tags" Target="../tags/tag35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/>
        </p:nvSpPr>
        <p:spPr>
          <a:xfrm>
            <a:off x="23813" y="44450"/>
            <a:ext cx="9101137" cy="1143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lIns="91440" tIns="45720" rIns="91440" bIns="45720" anchor="b" anchorCtr="0"/>
          <a:p>
            <a:pPr algn="ctr"/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可编程并行接口芯片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Intel 8255A</a:t>
            </a:r>
            <a:endParaRPr lang="en-US" altLang="zh-CN" sz="4000" dirty="0">
              <a:solidFill>
                <a:schemeClr val="hlin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4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7043" y="1700213"/>
            <a:ext cx="7772400" cy="337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6.1 并行I/O接口芯片Intel 8255A概述</a:t>
            </a:r>
            <a:endParaRPr lang="en-US" altLang="zh-CN" sz="2800" b="1" i="0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6.2 项目实现--8255A实现交通信号灯的控制</a:t>
            </a:r>
            <a:endParaRPr lang="zh-CN" altLang="en-US" sz="2800" b="1" i="0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6.3 Intel 8255的应用</a:t>
            </a:r>
            <a:endParaRPr lang="en-US" altLang="zh-CN" sz="2800" b="1" dirty="0">
              <a:solidFill>
                <a:srgbClr val="3333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3644900"/>
            <a:ext cx="8010525" cy="1863725"/>
          </a:xfrm>
          <a:prstGeom prst="rect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FF0000"/>
                </a:solidFill>
              </a:rPr>
              <a:t>目标案例 6</a:t>
            </a:r>
            <a:r>
              <a:rPr lang="en-US" altLang="zh-CN" b="1">
                <a:solidFill>
                  <a:srgbClr val="FF0000"/>
                </a:solidFill>
              </a:rPr>
              <a:t>-</a:t>
            </a:r>
            <a:r>
              <a:rPr lang="zh-CN" altLang="en-US" b="1">
                <a:solidFill>
                  <a:srgbClr val="FF0000"/>
                </a:solidFill>
              </a:rPr>
              <a:t>1</a:t>
            </a:r>
            <a:r>
              <a:rPr lang="zh-CN" altLang="en-US" b="1"/>
              <a:t>：8255</a:t>
            </a:r>
            <a:r>
              <a:rPr lang="en-US" altLang="zh-CN" b="1"/>
              <a:t>A</a:t>
            </a:r>
            <a:r>
              <a:rPr lang="zh-CN" altLang="en-US" b="1"/>
              <a:t> 读取并显示开关状态</a:t>
            </a:r>
            <a:endParaRPr lang="zh-CN" altLang="en-US" b="1"/>
          </a:p>
          <a:p>
            <a:pPr>
              <a:lnSpc>
                <a:spcPct val="120000"/>
              </a:lnSpc>
            </a:pPr>
            <a:r>
              <a:rPr lang="zh-CN" altLang="en-US" b="1"/>
              <a:t>要求：正确设定 8255A 并行端口的工作方式，设计电路并编制程序，实现将</a:t>
            </a:r>
            <a:r>
              <a:rPr lang="zh-CN" altLang="en-US" b="1">
                <a:sym typeface="+mn-ea"/>
              </a:rPr>
              <a:t>PA</a:t>
            </a:r>
            <a:r>
              <a:rPr lang="zh-CN" altLang="en-US" b="1"/>
              <a:t>口的开关状态通过</a:t>
            </a:r>
            <a:r>
              <a:rPr lang="zh-CN" altLang="en-US" b="1">
                <a:sym typeface="+mn-ea"/>
              </a:rPr>
              <a:t>PB</a:t>
            </a:r>
            <a:r>
              <a:rPr lang="zh-CN" altLang="en-US" b="1"/>
              <a:t> 口的发光二极管显示出来。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并行I/O接口芯片Intel 8255A概述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148463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dirty="0">
                <a:sym typeface="+mn-ea"/>
              </a:rPr>
              <a:t>并行数据传输方式</a:t>
            </a:r>
            <a:endParaRPr lang="zh-CN" altLang="en-US" b="1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1917065"/>
            <a:ext cx="7896225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并行接</a:t>
            </a:r>
            <a:r>
              <a:rPr lang="zh-CN" altLang="en-US" b="1">
                <a:sym typeface="+mn-ea"/>
              </a:rPr>
              <a:t>口</a:t>
            </a:r>
            <a:r>
              <a:rPr lang="zh-CN" altLang="en-US" b="1" dirty="0">
                <a:sym typeface="+mn-ea"/>
              </a:rPr>
              <a:t>是在通信过程中能够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同时传送数据所有位</a:t>
            </a:r>
            <a:r>
              <a:rPr lang="zh-CN" altLang="en-US" b="1" dirty="0">
                <a:sym typeface="+mn-ea"/>
              </a:rPr>
              <a:t>的接口芯片</a:t>
            </a:r>
            <a:r>
              <a:rPr lang="zh-CN" altLang="en-US" b="1"/>
              <a:t>，通常以字节或字为单位传送。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611505" y="2853055"/>
            <a:ext cx="7896225" cy="534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spcBef>
                <a:spcPct val="5000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zh-CN" altLang="en-US" b="1">
                <a:sym typeface="+mn-ea"/>
              </a:rPr>
              <a:t>速度快，效率高；适合近距离传送；无固定数据格式</a:t>
            </a:r>
            <a:r>
              <a:rPr lang="zh-CN" altLang="en-US" b="1" dirty="0">
                <a:sym typeface="+mn-ea"/>
              </a:rPr>
              <a:t>。</a:t>
            </a:r>
            <a:endParaRPr lang="zh-CN" altLang="en-US" b="1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2140" y="3357245"/>
            <a:ext cx="7895590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ea"/>
              </a:rPr>
              <a:t>微机系统中最基本的信息交换方法</a:t>
            </a:r>
            <a:endParaRPr lang="zh-CN" altLang="en-US" b="1" dirty="0"/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ea"/>
              </a:rPr>
              <a:t>例如系统板上各部件之间</a:t>
            </a:r>
            <a:endParaRPr lang="zh-CN" altLang="en-US" b="1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" y="549275"/>
            <a:ext cx="9010650" cy="628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46" name="Rectangle 34"/>
          <p:cNvSpPr/>
          <p:nvPr/>
        </p:nvSpPr>
        <p:spPr>
          <a:xfrm>
            <a:off x="0" y="47625"/>
            <a:ext cx="871537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引入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--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开关输入、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LED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灯输出最小模式电路图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3950" y="517843"/>
            <a:ext cx="1000125" cy="4619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8086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9850" y="684213"/>
            <a:ext cx="10001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开关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78738" y="6165850"/>
            <a:ext cx="135731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LED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灯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43438" y="548323"/>
            <a:ext cx="2286000" cy="8302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数据输入接口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74LS245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14875" y="4292600"/>
            <a:ext cx="2071688" cy="830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数据输出接口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74LS373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pic>
        <p:nvPicPr>
          <p:cNvPr id="3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525" y="588010"/>
            <a:ext cx="3128963" cy="60737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3" name="左箭头 32"/>
          <p:cNvSpPr/>
          <p:nvPr/>
        </p:nvSpPr>
        <p:spPr>
          <a:xfrm>
            <a:off x="7072313" y="1285875"/>
            <a:ext cx="1785937" cy="928688"/>
          </a:xfrm>
          <a:prstGeom prst="leftArrow">
            <a:avLst>
              <a:gd name="adj1" fmla="val 50000"/>
              <a:gd name="adj2" fmla="val 49946"/>
            </a:avLst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6" name="右箭头 35"/>
          <p:cNvSpPr/>
          <p:nvPr/>
        </p:nvSpPr>
        <p:spPr>
          <a:xfrm>
            <a:off x="7072313" y="3214688"/>
            <a:ext cx="1643062" cy="1071562"/>
          </a:xfrm>
          <a:prstGeom prst="rightArrow">
            <a:avLst>
              <a:gd name="adj1" fmla="val 50000"/>
              <a:gd name="adj2" fmla="val 49954"/>
            </a:avLst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38" name="左右箭头 37"/>
          <p:cNvSpPr/>
          <p:nvPr/>
        </p:nvSpPr>
        <p:spPr>
          <a:xfrm>
            <a:off x="2857500" y="1357313"/>
            <a:ext cx="857250" cy="357187"/>
          </a:xfrm>
          <a:prstGeom prst="leftRightArrow">
            <a:avLst>
              <a:gd name="adj1" fmla="val 50000"/>
              <a:gd name="adj2" fmla="val 49933"/>
            </a:avLst>
          </a:prstGeom>
          <a:solidFill>
            <a:srgbClr val="FFFFCC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7" grpId="0"/>
      <p:bldP spid="8" grpId="0" bldLvl="0" animBg="1"/>
      <p:bldP spid="9" grpId="0" animBg="1"/>
      <p:bldP spid="33" grpId="0" animBg="1"/>
      <p:bldP spid="36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/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1.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内部结构及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外部引脚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8485" y="1917065"/>
            <a:ext cx="7865110" cy="1789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可编程并行接口电路芯片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40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根引脚，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sym typeface="+mn-ea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24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根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外设引脚，分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3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个端口、</a:t>
            </a:r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组控制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共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种输入输出工作方式</a:t>
            </a:r>
            <a:endParaRPr lang="zh-CN" altLang="en-US" b="1" dirty="0">
              <a:solidFill>
                <a:srgbClr val="C00000"/>
              </a:solidFill>
              <a:latin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t="1407"/>
          <a:stretch>
            <a:fillRect/>
          </a:stretch>
        </p:blipFill>
        <p:spPr>
          <a:xfrm>
            <a:off x="5940425" y="1484630"/>
            <a:ext cx="2676525" cy="50272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6809" name="组合 156808"/>
          <p:cNvGrpSpPr/>
          <p:nvPr/>
        </p:nvGrpSpPr>
        <p:grpSpPr>
          <a:xfrm>
            <a:off x="-11112" y="1341755"/>
            <a:ext cx="9144000" cy="5383213"/>
            <a:chOff x="0" y="901"/>
            <a:chExt cx="5760" cy="3391"/>
          </a:xfrm>
        </p:grpSpPr>
        <p:sp>
          <p:nvSpPr>
            <p:cNvPr id="156679" name="矩形 156678"/>
            <p:cNvSpPr/>
            <p:nvPr>
              <p:custDataLst>
                <p:tags r:id="rId1"/>
              </p:custDataLst>
            </p:nvPr>
          </p:nvSpPr>
          <p:spPr>
            <a:xfrm>
              <a:off x="1039" y="1854"/>
              <a:ext cx="768" cy="771"/>
            </a:xfrm>
            <a:prstGeom prst="rect">
              <a:avLst/>
            </a:prstGeom>
            <a:solidFill>
              <a:schemeClr val="bg2">
                <a:lumMod val="10000"/>
                <a:lumOff val="90000"/>
              </a:schemeClr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>
                <a:spcBef>
                  <a:spcPts val="100"/>
                </a:spcBef>
              </a:pPr>
              <a:r>
                <a:rPr lang="zh-CN" altLang="en-US" sz="2200" b="1" dirty="0">
                  <a:latin typeface="Times New Roman" panose="02020603050405020304" pitchFamily="18" charset="0"/>
                </a:rPr>
                <a:t>数据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>
                <a:spcBef>
                  <a:spcPts val="100"/>
                </a:spcBef>
              </a:pPr>
              <a:r>
                <a:rPr lang="zh-CN" altLang="en-US" sz="2200" b="1" dirty="0">
                  <a:latin typeface="Times New Roman" panose="02020603050405020304" pitchFamily="18" charset="0"/>
                </a:rPr>
                <a:t>总线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latin typeface="Times New Roman" panose="02020603050405020304" pitchFamily="18" charset="0"/>
                </a:rPr>
                <a:t>缓冲器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56680" name="组合 156679"/>
            <p:cNvGrpSpPr/>
            <p:nvPr/>
          </p:nvGrpSpPr>
          <p:grpSpPr>
            <a:xfrm>
              <a:off x="3083" y="2150"/>
              <a:ext cx="43" cy="124"/>
              <a:chOff x="132" y="0"/>
              <a:chExt cx="19868" cy="19999"/>
            </a:xfrm>
          </p:grpSpPr>
          <p:sp>
            <p:nvSpPr>
              <p:cNvPr id="156681" name="直接连接符 156680"/>
              <p:cNvSpPr/>
              <p:nvPr>
                <p:custDataLst>
                  <p:tags r:id="rId2"/>
                </p:custDataLst>
              </p:nvPr>
            </p:nvSpPr>
            <p:spPr>
              <a:xfrm>
                <a:off x="132" y="0"/>
                <a:ext cx="19868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682" name="直接连接符 156681"/>
              <p:cNvSpPr/>
              <p:nvPr>
                <p:custDataLst>
                  <p:tags r:id="rId3"/>
                </p:custDataLst>
              </p:nvPr>
            </p:nvSpPr>
            <p:spPr>
              <a:xfrm flipH="1">
                <a:off x="132" y="9925"/>
                <a:ext cx="19868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683" name="直接连接符 156682"/>
            <p:cNvSpPr/>
            <p:nvPr>
              <p:custDataLst>
                <p:tags r:id="rId4"/>
              </p:custDataLst>
            </p:nvPr>
          </p:nvSpPr>
          <p:spPr>
            <a:xfrm flipH="1">
              <a:off x="1817" y="2150"/>
              <a:ext cx="44" cy="6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684" name="直接连接符 156683"/>
            <p:cNvSpPr/>
            <p:nvPr>
              <p:custDataLst>
                <p:tags r:id="rId5"/>
              </p:custDataLst>
            </p:nvPr>
          </p:nvSpPr>
          <p:spPr>
            <a:xfrm>
              <a:off x="1817" y="2211"/>
              <a:ext cx="44" cy="6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6685" name="组合 156684"/>
            <p:cNvGrpSpPr/>
            <p:nvPr/>
          </p:nvGrpSpPr>
          <p:grpSpPr>
            <a:xfrm>
              <a:off x="1837" y="2176"/>
              <a:ext cx="1293" cy="55"/>
              <a:chOff x="0" y="0"/>
              <a:chExt cx="20000" cy="19973"/>
            </a:xfrm>
          </p:grpSpPr>
          <p:sp>
            <p:nvSpPr>
              <p:cNvPr id="156686" name="直接连接符 156685"/>
              <p:cNvSpPr/>
              <p:nvPr>
                <p:custDataLst>
                  <p:tags r:id="rId6"/>
                </p:custDataLst>
              </p:nvPr>
            </p:nvSpPr>
            <p:spPr>
              <a:xfrm>
                <a:off x="0" y="0"/>
                <a:ext cx="20000" cy="33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687" name="直接连接符 156686"/>
              <p:cNvSpPr/>
              <p:nvPr>
                <p:custDataLst>
                  <p:tags r:id="rId7"/>
                </p:custDataLst>
              </p:nvPr>
            </p:nvSpPr>
            <p:spPr>
              <a:xfrm>
                <a:off x="0" y="19639"/>
                <a:ext cx="20000" cy="33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688" name="直接连接符 156687"/>
            <p:cNvSpPr/>
            <p:nvPr>
              <p:custDataLst>
                <p:tags r:id="rId8"/>
              </p:custDataLst>
            </p:nvPr>
          </p:nvSpPr>
          <p:spPr>
            <a:xfrm>
              <a:off x="982" y="2150"/>
              <a:ext cx="43" cy="6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689" name="直接连接符 156688"/>
            <p:cNvSpPr/>
            <p:nvPr>
              <p:custDataLst>
                <p:tags r:id="rId9"/>
              </p:custDataLst>
            </p:nvPr>
          </p:nvSpPr>
          <p:spPr>
            <a:xfrm flipH="1">
              <a:off x="982" y="2211"/>
              <a:ext cx="43" cy="6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690" name="直接连接符 156689"/>
            <p:cNvSpPr/>
            <p:nvPr>
              <p:custDataLst>
                <p:tags r:id="rId10"/>
              </p:custDataLst>
            </p:nvPr>
          </p:nvSpPr>
          <p:spPr>
            <a:xfrm flipH="1">
              <a:off x="774" y="2150"/>
              <a:ext cx="44" cy="6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691" name="直接连接符 156690"/>
            <p:cNvSpPr/>
            <p:nvPr>
              <p:custDataLst>
                <p:tags r:id="rId11"/>
              </p:custDataLst>
            </p:nvPr>
          </p:nvSpPr>
          <p:spPr>
            <a:xfrm>
              <a:off x="774" y="2211"/>
              <a:ext cx="44" cy="63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692" name="直接连接符 156691"/>
            <p:cNvSpPr/>
            <p:nvPr>
              <p:custDataLst>
                <p:tags r:id="rId12"/>
              </p:custDataLst>
            </p:nvPr>
          </p:nvSpPr>
          <p:spPr>
            <a:xfrm>
              <a:off x="794" y="2187"/>
              <a:ext cx="21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693" name="直接连接符 156692"/>
            <p:cNvSpPr/>
            <p:nvPr>
              <p:custDataLst>
                <p:tags r:id="rId13"/>
              </p:custDataLst>
            </p:nvPr>
          </p:nvSpPr>
          <p:spPr>
            <a:xfrm>
              <a:off x="794" y="2240"/>
              <a:ext cx="21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694" name="矩形 156693"/>
            <p:cNvSpPr/>
            <p:nvPr>
              <p:custDataLst>
                <p:tags r:id="rId14"/>
              </p:custDataLst>
            </p:nvPr>
          </p:nvSpPr>
          <p:spPr>
            <a:xfrm>
              <a:off x="1930" y="3651"/>
              <a:ext cx="951" cy="24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p>
              <a:pPr algn="ctr" eaLnBrk="0" hangingPunct="0"/>
              <a:r>
                <a:rPr lang="zh-CN" altLang="en-US" sz="2200" b="1" dirty="0">
                  <a:latin typeface="Times New Roman" panose="02020603050405020304" pitchFamily="18" charset="0"/>
                </a:rPr>
                <a:t>内部控制线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6695" name="矩形 156694"/>
            <p:cNvSpPr/>
            <p:nvPr>
              <p:custDataLst>
                <p:tags r:id="rId15"/>
              </p:custDataLst>
            </p:nvPr>
          </p:nvSpPr>
          <p:spPr>
            <a:xfrm>
              <a:off x="1961" y="1955"/>
              <a:ext cx="951" cy="24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p>
              <a:pPr algn="ctr" eaLnBrk="0" hangingPunct="0"/>
              <a:r>
                <a:rPr lang="zh-CN" altLang="en-US" sz="2200" b="1" dirty="0">
                  <a:latin typeface="Times New Roman" panose="02020603050405020304" pitchFamily="18" charset="0"/>
                </a:rPr>
                <a:t>内部数据线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6696" name="矩形 156695"/>
            <p:cNvSpPr/>
            <p:nvPr>
              <p:custDataLst>
                <p:tags r:id="rId16"/>
              </p:custDataLst>
            </p:nvPr>
          </p:nvSpPr>
          <p:spPr>
            <a:xfrm>
              <a:off x="0" y="2105"/>
              <a:ext cx="775" cy="24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p>
              <a:pPr algn="r" eaLnBrk="0" hangingPunct="0"/>
              <a:r>
                <a:rPr lang="en-US" altLang="zh-CN" sz="2200" b="1">
                  <a:latin typeface="Times New Roman" panose="02020603050405020304" pitchFamily="18" charset="0"/>
                </a:rPr>
                <a:t>D</a:t>
              </a:r>
              <a:r>
                <a:rPr lang="en-US" altLang="zh-CN" sz="2200" b="1" baseline="-25000">
                  <a:latin typeface="Times New Roman" panose="02020603050405020304" pitchFamily="18" charset="0"/>
                </a:rPr>
                <a:t>0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～</a:t>
              </a:r>
              <a:r>
                <a:rPr lang="en-US" altLang="zh-CN" sz="2200" b="1">
                  <a:latin typeface="Times New Roman" panose="02020603050405020304" pitchFamily="18" charset="0"/>
                </a:rPr>
                <a:t>D</a:t>
              </a:r>
              <a:r>
                <a:rPr lang="en-US" altLang="zh-CN" sz="2200" b="1" baseline="-25000">
                  <a:latin typeface="Times New Roman" panose="02020603050405020304" pitchFamily="18" charset="0"/>
                </a:rPr>
                <a:t>7</a:t>
              </a:r>
              <a:endParaRPr lang="en-US" altLang="zh-CN" sz="2200" b="1">
                <a:latin typeface="Times New Roman" panose="02020603050405020304" pitchFamily="18" charset="0"/>
              </a:endParaRPr>
            </a:p>
          </p:txBody>
        </p:sp>
        <p:sp>
          <p:nvSpPr>
            <p:cNvPr id="156697" name="矩形 156696"/>
            <p:cNvSpPr/>
            <p:nvPr>
              <p:custDataLst>
                <p:tags r:id="rId17"/>
              </p:custDataLst>
            </p:nvPr>
          </p:nvSpPr>
          <p:spPr>
            <a:xfrm>
              <a:off x="2086" y="1010"/>
              <a:ext cx="639" cy="5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>
                <a:spcBef>
                  <a:spcPts val="300"/>
                </a:spcBef>
              </a:pPr>
              <a:r>
                <a:rPr lang="en-US" altLang="zh-CN" sz="2200" b="1">
                  <a:latin typeface="Times New Roman" panose="02020603050405020304" pitchFamily="18" charset="0"/>
                </a:rPr>
                <a:t>A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组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latin typeface="Times New Roman" panose="02020603050405020304" pitchFamily="18" charset="0"/>
                </a:rPr>
                <a:t>控制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6698" name="矩形 156697"/>
            <p:cNvSpPr/>
            <p:nvPr>
              <p:custDataLst>
                <p:tags r:id="rId18"/>
              </p:custDataLst>
            </p:nvPr>
          </p:nvSpPr>
          <p:spPr>
            <a:xfrm>
              <a:off x="3622" y="904"/>
              <a:ext cx="831" cy="70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>
                <a:spcBef>
                  <a:spcPts val="600"/>
                </a:spcBef>
              </a:pPr>
              <a:r>
                <a:rPr lang="en-US" altLang="zh-CN" sz="2200" b="1">
                  <a:latin typeface="Times New Roman" panose="02020603050405020304" pitchFamily="18" charset="0"/>
                </a:rPr>
                <a:t>A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组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端口</a:t>
              </a:r>
              <a:r>
                <a:rPr lang="en-US" altLang="zh-CN" sz="2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2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6699" name="组合 156698"/>
            <p:cNvGrpSpPr/>
            <p:nvPr/>
          </p:nvGrpSpPr>
          <p:grpSpPr>
            <a:xfrm>
              <a:off x="3218" y="1223"/>
              <a:ext cx="390" cy="90"/>
              <a:chOff x="-2" y="0"/>
              <a:chExt cx="20002" cy="19999"/>
            </a:xfrm>
          </p:grpSpPr>
          <p:sp>
            <p:nvSpPr>
              <p:cNvPr id="156700" name="直接连接符 156699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590" y="0"/>
                <a:ext cx="3410" cy="1002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01" name="直接连接符 156700"/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16590" y="10020"/>
                <a:ext cx="3410" cy="997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02" name="直接连接符 156701"/>
              <p:cNvSpPr/>
              <p:nvPr>
                <p:custDataLst>
                  <p:tags r:id="rId21"/>
                </p:custDataLst>
              </p:nvPr>
            </p:nvSpPr>
            <p:spPr>
              <a:xfrm flipH="1">
                <a:off x="-2" y="0"/>
                <a:ext cx="3410" cy="1002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03" name="直接连接符 156702"/>
              <p:cNvSpPr/>
              <p:nvPr>
                <p:custDataLst>
                  <p:tags r:id="rId22"/>
                </p:custDataLst>
              </p:nvPr>
            </p:nvSpPr>
            <p:spPr>
              <a:xfrm>
                <a:off x="-2" y="10020"/>
                <a:ext cx="3410" cy="997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04" name="直接连接符 156703"/>
              <p:cNvSpPr/>
              <p:nvPr>
                <p:custDataLst>
                  <p:tags r:id="rId23"/>
                </p:custDataLst>
              </p:nvPr>
            </p:nvSpPr>
            <p:spPr>
              <a:xfrm>
                <a:off x="1592" y="5987"/>
                <a:ext cx="16755" cy="20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05" name="直接连接符 156704"/>
              <p:cNvSpPr/>
              <p:nvPr>
                <p:custDataLst>
                  <p:tags r:id="rId24"/>
                </p:custDataLst>
              </p:nvPr>
            </p:nvSpPr>
            <p:spPr>
              <a:xfrm>
                <a:off x="1592" y="14622"/>
                <a:ext cx="16755" cy="163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06" name="直接连接符 156705"/>
            <p:cNvSpPr/>
            <p:nvPr>
              <p:custDataLst>
                <p:tags r:id="rId25"/>
              </p:custDataLst>
            </p:nvPr>
          </p:nvSpPr>
          <p:spPr>
            <a:xfrm>
              <a:off x="2724" y="1467"/>
              <a:ext cx="884" cy="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07" name="矩形 156706"/>
            <p:cNvSpPr/>
            <p:nvPr>
              <p:custDataLst>
                <p:tags r:id="rId26"/>
              </p:custDataLst>
            </p:nvPr>
          </p:nvSpPr>
          <p:spPr>
            <a:xfrm>
              <a:off x="3622" y="1718"/>
              <a:ext cx="831" cy="71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/>
              <a:r>
                <a:rPr lang="en-US" altLang="zh-CN" sz="2200" b="1">
                  <a:latin typeface="Times New Roman" panose="02020603050405020304" pitchFamily="18" charset="0"/>
                </a:rPr>
                <a:t>A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组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solidFill>
                    <a:srgbClr val="00B0F0"/>
                  </a:solidFill>
                  <a:latin typeface="Times New Roman" panose="02020603050405020304" pitchFamily="18" charset="0"/>
                </a:rPr>
                <a:t>端口</a:t>
              </a:r>
              <a:r>
                <a:rPr lang="en-US" altLang="zh-CN" sz="2200" b="1">
                  <a:solidFill>
                    <a:srgbClr val="00B0F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200" b="1">
                <a:solidFill>
                  <a:srgbClr val="00B0F0"/>
                </a:solidFill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solidFill>
                    <a:srgbClr val="00B0F0"/>
                  </a:solidFill>
                  <a:latin typeface="Times New Roman" panose="02020603050405020304" pitchFamily="18" charset="0"/>
                </a:rPr>
                <a:t>上部</a:t>
              </a:r>
              <a:endParaRPr lang="zh-CN" altLang="en-US" sz="2200" b="1" dirty="0">
                <a:solidFill>
                  <a:srgbClr val="00B0F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6708" name="组合 156707"/>
            <p:cNvGrpSpPr/>
            <p:nvPr/>
          </p:nvGrpSpPr>
          <p:grpSpPr>
            <a:xfrm>
              <a:off x="3218" y="2037"/>
              <a:ext cx="390" cy="90"/>
              <a:chOff x="-2" y="0"/>
              <a:chExt cx="20002" cy="20001"/>
            </a:xfrm>
          </p:grpSpPr>
          <p:sp>
            <p:nvSpPr>
              <p:cNvPr id="156709" name="直接连接符 156708"/>
              <p:cNvSpPr/>
              <p:nvPr>
                <p:custDataLst>
                  <p:tags r:id="rId27"/>
                </p:custDataLst>
              </p:nvPr>
            </p:nvSpPr>
            <p:spPr>
              <a:xfrm>
                <a:off x="16590" y="0"/>
                <a:ext cx="3410" cy="998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10" name="直接连接符 156709"/>
              <p:cNvSpPr/>
              <p:nvPr>
                <p:custDataLst>
                  <p:tags r:id="rId28"/>
                </p:custDataLst>
              </p:nvPr>
            </p:nvSpPr>
            <p:spPr>
              <a:xfrm flipH="1">
                <a:off x="16590" y="9980"/>
                <a:ext cx="3410" cy="1002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11" name="直接连接符 156710"/>
              <p:cNvSpPr/>
              <p:nvPr>
                <p:custDataLst>
                  <p:tags r:id="rId29"/>
                </p:custDataLst>
              </p:nvPr>
            </p:nvSpPr>
            <p:spPr>
              <a:xfrm flipH="1">
                <a:off x="-2" y="0"/>
                <a:ext cx="3410" cy="998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12" name="直接连接符 156711"/>
              <p:cNvSpPr/>
              <p:nvPr>
                <p:custDataLst>
                  <p:tags r:id="rId30"/>
                </p:custDataLst>
              </p:nvPr>
            </p:nvSpPr>
            <p:spPr>
              <a:xfrm>
                <a:off x="-2" y="9980"/>
                <a:ext cx="3410" cy="1002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13" name="直接连接符 156712"/>
              <p:cNvSpPr/>
              <p:nvPr>
                <p:custDataLst>
                  <p:tags r:id="rId31"/>
                </p:custDataLst>
              </p:nvPr>
            </p:nvSpPr>
            <p:spPr>
              <a:xfrm>
                <a:off x="1592" y="5988"/>
                <a:ext cx="16755" cy="20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14" name="直接连接符 156713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92" y="14583"/>
                <a:ext cx="16755" cy="20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15" name="直接连接符 156714"/>
            <p:cNvSpPr/>
            <p:nvPr>
              <p:custDataLst>
                <p:tags r:id="rId33"/>
              </p:custDataLst>
            </p:nvPr>
          </p:nvSpPr>
          <p:spPr>
            <a:xfrm>
              <a:off x="3451" y="2281"/>
              <a:ext cx="157" cy="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sm" len="sm"/>
              <a:tailEnd type="arrow" w="sm" len="sm"/>
            </a:ln>
          </p:spPr>
        </p:sp>
        <p:grpSp>
          <p:nvGrpSpPr>
            <p:cNvPr id="156716" name="组合 156715"/>
            <p:cNvGrpSpPr/>
            <p:nvPr/>
          </p:nvGrpSpPr>
          <p:grpSpPr>
            <a:xfrm>
              <a:off x="3144" y="901"/>
              <a:ext cx="63" cy="3283"/>
              <a:chOff x="-20" y="0"/>
              <a:chExt cx="20020" cy="20000"/>
            </a:xfrm>
          </p:grpSpPr>
          <p:sp>
            <p:nvSpPr>
              <p:cNvPr id="156717" name="直接连接符 15671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9727" y="22"/>
                <a:ext cx="273" cy="19978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18" name="直接连接符 156717"/>
              <p:cNvSpPr/>
              <p:nvPr>
                <p:custDataLst>
                  <p:tags r:id="rId35"/>
                </p:custDataLst>
              </p:nvPr>
            </p:nvSpPr>
            <p:spPr>
              <a:xfrm>
                <a:off x="-20" y="0"/>
                <a:ext cx="364" cy="2000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19" name="直接连接符 156718"/>
            <p:cNvSpPr/>
            <p:nvPr>
              <p:custDataLst>
                <p:tags r:id="rId36"/>
              </p:custDataLst>
            </p:nvPr>
          </p:nvSpPr>
          <p:spPr>
            <a:xfrm>
              <a:off x="2973" y="1060"/>
              <a:ext cx="635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20" name="直接连接符 156719"/>
            <p:cNvSpPr/>
            <p:nvPr>
              <p:custDataLst>
                <p:tags r:id="rId37"/>
              </p:custDataLst>
            </p:nvPr>
          </p:nvSpPr>
          <p:spPr>
            <a:xfrm>
              <a:off x="2969" y="1060"/>
              <a:ext cx="1" cy="258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21" name="直接连接符 156720"/>
            <p:cNvSpPr/>
            <p:nvPr>
              <p:custDataLst>
                <p:tags r:id="rId38"/>
              </p:custDataLst>
            </p:nvPr>
          </p:nvSpPr>
          <p:spPr>
            <a:xfrm>
              <a:off x="2973" y="1860"/>
              <a:ext cx="635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22" name="直接连接符 156721"/>
            <p:cNvSpPr/>
            <p:nvPr>
              <p:custDataLst>
                <p:tags r:id="rId39"/>
              </p:custDataLst>
            </p:nvPr>
          </p:nvSpPr>
          <p:spPr>
            <a:xfrm>
              <a:off x="3448" y="1471"/>
              <a:ext cx="1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23" name="直接连接符 156722"/>
            <p:cNvSpPr/>
            <p:nvPr>
              <p:custDataLst>
                <p:tags r:id="rId40"/>
              </p:custDataLst>
            </p:nvPr>
          </p:nvSpPr>
          <p:spPr>
            <a:xfrm>
              <a:off x="2966" y="1864"/>
              <a:ext cx="1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6724" name="组合 156723"/>
            <p:cNvGrpSpPr/>
            <p:nvPr/>
          </p:nvGrpSpPr>
          <p:grpSpPr>
            <a:xfrm>
              <a:off x="2724" y="1213"/>
              <a:ext cx="416" cy="113"/>
              <a:chOff x="0" y="0"/>
              <a:chExt cx="20003" cy="19999"/>
            </a:xfrm>
          </p:grpSpPr>
          <p:sp>
            <p:nvSpPr>
              <p:cNvPr id="156725" name="直接连接符 156724"/>
              <p:cNvSpPr/>
              <p:nvPr>
                <p:custDataLst>
                  <p:tags r:id="rId41"/>
                </p:custDataLst>
              </p:nvPr>
            </p:nvSpPr>
            <p:spPr>
              <a:xfrm flipH="1">
                <a:off x="0" y="0"/>
                <a:ext cx="3696" cy="9902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26" name="直接连接符 156725"/>
              <p:cNvSpPr/>
              <p:nvPr>
                <p:custDataLst>
                  <p:tags r:id="rId42"/>
                </p:custDataLst>
              </p:nvPr>
            </p:nvSpPr>
            <p:spPr>
              <a:xfrm>
                <a:off x="0" y="10065"/>
                <a:ext cx="3696" cy="993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27" name="直接连接符 15672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744" y="6058"/>
                <a:ext cx="18259" cy="163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28" name="直接连接符 156727"/>
              <p:cNvSpPr/>
              <p:nvPr>
                <p:custDataLst>
                  <p:tags r:id="rId44"/>
                </p:custDataLst>
              </p:nvPr>
            </p:nvSpPr>
            <p:spPr>
              <a:xfrm>
                <a:off x="1744" y="14722"/>
                <a:ext cx="18259" cy="13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29" name="矩形 156728"/>
            <p:cNvSpPr/>
            <p:nvPr>
              <p:custDataLst>
                <p:tags r:id="rId45"/>
              </p:custDataLst>
            </p:nvPr>
          </p:nvSpPr>
          <p:spPr>
            <a:xfrm>
              <a:off x="2086" y="2786"/>
              <a:ext cx="639" cy="59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>
                <a:spcBef>
                  <a:spcPts val="300"/>
                </a:spcBef>
              </a:pPr>
              <a:r>
                <a:rPr lang="en-US" altLang="zh-CN" sz="2200" b="1">
                  <a:latin typeface="Times New Roman" panose="02020603050405020304" pitchFamily="18" charset="0"/>
                </a:rPr>
                <a:t>B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组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latin typeface="Times New Roman" panose="02020603050405020304" pitchFamily="18" charset="0"/>
                </a:rPr>
                <a:t>控制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6730" name="矩形 156729"/>
            <p:cNvSpPr/>
            <p:nvPr>
              <p:custDataLst>
                <p:tags r:id="rId46"/>
              </p:custDataLst>
            </p:nvPr>
          </p:nvSpPr>
          <p:spPr>
            <a:xfrm>
              <a:off x="3622" y="2681"/>
              <a:ext cx="831" cy="7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>
                <a:spcBef>
                  <a:spcPts val="600"/>
                </a:spcBef>
              </a:pPr>
              <a:r>
                <a:rPr lang="en-US" altLang="zh-CN" sz="2200" b="1">
                  <a:latin typeface="Times New Roman" panose="02020603050405020304" pitchFamily="18" charset="0"/>
                </a:rPr>
                <a:t>B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组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端口</a:t>
              </a:r>
              <a:r>
                <a:rPr lang="en-US" altLang="zh-CN" sz="22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2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6731" name="组合 156730"/>
            <p:cNvGrpSpPr/>
            <p:nvPr/>
          </p:nvGrpSpPr>
          <p:grpSpPr>
            <a:xfrm>
              <a:off x="3218" y="3000"/>
              <a:ext cx="390" cy="90"/>
              <a:chOff x="-2" y="0"/>
              <a:chExt cx="20002" cy="19999"/>
            </a:xfrm>
          </p:grpSpPr>
          <p:sp>
            <p:nvSpPr>
              <p:cNvPr id="156732" name="直接连接符 156731"/>
              <p:cNvSpPr/>
              <p:nvPr>
                <p:custDataLst>
                  <p:tags r:id="rId47"/>
                </p:custDataLst>
              </p:nvPr>
            </p:nvSpPr>
            <p:spPr>
              <a:xfrm>
                <a:off x="16590" y="0"/>
                <a:ext cx="3410" cy="1002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33" name="直接连接符 156732"/>
              <p:cNvSpPr/>
              <p:nvPr>
                <p:custDataLst>
                  <p:tags r:id="rId48"/>
                </p:custDataLst>
              </p:nvPr>
            </p:nvSpPr>
            <p:spPr>
              <a:xfrm flipH="1">
                <a:off x="16590" y="10020"/>
                <a:ext cx="3410" cy="997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34" name="直接连接符 156733"/>
              <p:cNvSpPr/>
              <p:nvPr>
                <p:custDataLst>
                  <p:tags r:id="rId49"/>
                </p:custDataLst>
              </p:nvPr>
            </p:nvSpPr>
            <p:spPr>
              <a:xfrm flipH="1">
                <a:off x="-2" y="0"/>
                <a:ext cx="3410" cy="1002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35" name="直接连接符 156734"/>
              <p:cNvSpPr/>
              <p:nvPr>
                <p:custDataLst>
                  <p:tags r:id="rId50"/>
                </p:custDataLst>
              </p:nvPr>
            </p:nvSpPr>
            <p:spPr>
              <a:xfrm>
                <a:off x="-2" y="10020"/>
                <a:ext cx="3410" cy="997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36" name="直接连接符 156735"/>
              <p:cNvSpPr/>
              <p:nvPr>
                <p:custDataLst>
                  <p:tags r:id="rId51"/>
                </p:custDataLst>
              </p:nvPr>
            </p:nvSpPr>
            <p:spPr>
              <a:xfrm>
                <a:off x="1592" y="6028"/>
                <a:ext cx="16755" cy="20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37" name="直接连接符 156736"/>
              <p:cNvSpPr/>
              <p:nvPr>
                <p:custDataLst>
                  <p:tags r:id="rId52"/>
                </p:custDataLst>
              </p:nvPr>
            </p:nvSpPr>
            <p:spPr>
              <a:xfrm>
                <a:off x="1592" y="14622"/>
                <a:ext cx="16755" cy="20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38" name="直接连接符 156737"/>
            <p:cNvSpPr/>
            <p:nvPr>
              <p:custDataLst>
                <p:tags r:id="rId53"/>
              </p:custDataLst>
            </p:nvPr>
          </p:nvSpPr>
          <p:spPr>
            <a:xfrm>
              <a:off x="2724" y="3244"/>
              <a:ext cx="884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39" name="矩形 156738"/>
            <p:cNvSpPr/>
            <p:nvPr>
              <p:custDataLst>
                <p:tags r:id="rId54"/>
              </p:custDataLst>
            </p:nvPr>
          </p:nvSpPr>
          <p:spPr>
            <a:xfrm>
              <a:off x="3622" y="3494"/>
              <a:ext cx="831" cy="71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/>
              <a:r>
                <a:rPr lang="en-US" altLang="zh-CN" sz="2200" b="1">
                  <a:latin typeface="Times New Roman" panose="02020603050405020304" pitchFamily="18" charset="0"/>
                </a:rPr>
                <a:t>B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组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solidFill>
                    <a:srgbClr val="00B0F0"/>
                  </a:solidFill>
                  <a:latin typeface="Times New Roman" panose="02020603050405020304" pitchFamily="18" charset="0"/>
                </a:rPr>
                <a:t>端口</a:t>
              </a:r>
              <a:r>
                <a:rPr lang="en-US" altLang="zh-CN" sz="2200" b="1">
                  <a:solidFill>
                    <a:srgbClr val="00B0F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200" b="1">
                <a:solidFill>
                  <a:srgbClr val="00B0F0"/>
                </a:solidFill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solidFill>
                    <a:srgbClr val="00B0F0"/>
                  </a:solidFill>
                  <a:latin typeface="Times New Roman" panose="02020603050405020304" pitchFamily="18" charset="0"/>
                </a:rPr>
                <a:t>下部</a:t>
              </a:r>
              <a:endParaRPr lang="zh-CN" altLang="en-US" sz="2200" b="1" dirty="0">
                <a:solidFill>
                  <a:srgbClr val="00B0F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6740" name="组合 156739"/>
            <p:cNvGrpSpPr/>
            <p:nvPr/>
          </p:nvGrpSpPr>
          <p:grpSpPr>
            <a:xfrm>
              <a:off x="3218" y="3814"/>
              <a:ext cx="390" cy="90"/>
              <a:chOff x="-2" y="0"/>
              <a:chExt cx="20002" cy="20001"/>
            </a:xfrm>
          </p:grpSpPr>
          <p:sp>
            <p:nvSpPr>
              <p:cNvPr id="156741" name="直接连接符 156740"/>
              <p:cNvSpPr/>
              <p:nvPr>
                <p:custDataLst>
                  <p:tags r:id="rId55"/>
                </p:custDataLst>
              </p:nvPr>
            </p:nvSpPr>
            <p:spPr>
              <a:xfrm>
                <a:off x="16590" y="0"/>
                <a:ext cx="3410" cy="998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42" name="直接连接符 156741"/>
              <p:cNvSpPr/>
              <p:nvPr>
                <p:custDataLst>
                  <p:tags r:id="rId56"/>
                </p:custDataLst>
              </p:nvPr>
            </p:nvSpPr>
            <p:spPr>
              <a:xfrm flipH="1">
                <a:off x="16590" y="9980"/>
                <a:ext cx="3410" cy="1002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43" name="直接连接符 156742"/>
              <p:cNvSpPr/>
              <p:nvPr>
                <p:custDataLst>
                  <p:tags r:id="rId57"/>
                </p:custDataLst>
              </p:nvPr>
            </p:nvSpPr>
            <p:spPr>
              <a:xfrm flipH="1">
                <a:off x="-2" y="0"/>
                <a:ext cx="3410" cy="998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44" name="直接连接符 156743"/>
              <p:cNvSpPr/>
              <p:nvPr>
                <p:custDataLst>
                  <p:tags r:id="rId58"/>
                </p:custDataLst>
              </p:nvPr>
            </p:nvSpPr>
            <p:spPr>
              <a:xfrm>
                <a:off x="-2" y="9980"/>
                <a:ext cx="3410" cy="1002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45" name="直接连接符 156744"/>
              <p:cNvSpPr/>
              <p:nvPr>
                <p:custDataLst>
                  <p:tags r:id="rId59"/>
                </p:custDataLst>
              </p:nvPr>
            </p:nvSpPr>
            <p:spPr>
              <a:xfrm>
                <a:off x="1592" y="5988"/>
                <a:ext cx="16755" cy="20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46" name="直接连接符 156745"/>
              <p:cNvSpPr/>
              <p:nvPr>
                <p:custDataLst>
                  <p:tags r:id="rId60"/>
                </p:custDataLst>
              </p:nvPr>
            </p:nvSpPr>
            <p:spPr>
              <a:xfrm>
                <a:off x="1592" y="14583"/>
                <a:ext cx="16755" cy="20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47" name="直接连接符 156746"/>
            <p:cNvSpPr/>
            <p:nvPr>
              <p:custDataLst>
                <p:tags r:id="rId61"/>
              </p:custDataLst>
            </p:nvPr>
          </p:nvSpPr>
          <p:spPr>
            <a:xfrm>
              <a:off x="3451" y="4058"/>
              <a:ext cx="157" cy="1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48" name="直接连接符 156747"/>
            <p:cNvSpPr/>
            <p:nvPr>
              <p:custDataLst>
                <p:tags r:id="rId62"/>
              </p:custDataLst>
            </p:nvPr>
          </p:nvSpPr>
          <p:spPr>
            <a:xfrm flipH="1">
              <a:off x="3451" y="3248"/>
              <a:ext cx="5" cy="814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49" name="直接连接符 156748"/>
            <p:cNvSpPr/>
            <p:nvPr>
              <p:custDataLst>
                <p:tags r:id="rId63"/>
              </p:custDataLst>
            </p:nvPr>
          </p:nvSpPr>
          <p:spPr>
            <a:xfrm>
              <a:off x="2973" y="2837"/>
              <a:ext cx="635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50" name="直接连接符 156749"/>
            <p:cNvSpPr/>
            <p:nvPr>
              <p:custDataLst>
                <p:tags r:id="rId64"/>
              </p:custDataLst>
            </p:nvPr>
          </p:nvSpPr>
          <p:spPr>
            <a:xfrm>
              <a:off x="1790" y="3637"/>
              <a:ext cx="1818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51" name="直接连接符 156750"/>
            <p:cNvSpPr/>
            <p:nvPr>
              <p:custDataLst>
                <p:tags r:id="rId65"/>
              </p:custDataLst>
            </p:nvPr>
          </p:nvSpPr>
          <p:spPr>
            <a:xfrm>
              <a:off x="3448" y="3248"/>
              <a:ext cx="1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52" name="直接连接符 156751"/>
            <p:cNvSpPr/>
            <p:nvPr>
              <p:custDataLst>
                <p:tags r:id="rId66"/>
              </p:custDataLst>
            </p:nvPr>
          </p:nvSpPr>
          <p:spPr>
            <a:xfrm>
              <a:off x="2966" y="3641"/>
              <a:ext cx="1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6753" name="组合 156752"/>
            <p:cNvGrpSpPr/>
            <p:nvPr/>
          </p:nvGrpSpPr>
          <p:grpSpPr>
            <a:xfrm>
              <a:off x="2724" y="2990"/>
              <a:ext cx="416" cy="113"/>
              <a:chOff x="0" y="0"/>
              <a:chExt cx="20003" cy="20000"/>
            </a:xfrm>
          </p:grpSpPr>
          <p:sp>
            <p:nvSpPr>
              <p:cNvPr id="156754" name="直接连接符 156753"/>
              <p:cNvSpPr/>
              <p:nvPr>
                <p:custDataLst>
                  <p:tags r:id="rId67"/>
                </p:custDataLst>
              </p:nvPr>
            </p:nvSpPr>
            <p:spPr>
              <a:xfrm flipH="1">
                <a:off x="0" y="0"/>
                <a:ext cx="3696" cy="9935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55" name="直接连接符 156754"/>
              <p:cNvSpPr/>
              <p:nvPr>
                <p:custDataLst>
                  <p:tags r:id="rId68"/>
                </p:custDataLst>
              </p:nvPr>
            </p:nvSpPr>
            <p:spPr>
              <a:xfrm>
                <a:off x="0" y="10065"/>
                <a:ext cx="3696" cy="9935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56" name="直接连接符 156755"/>
              <p:cNvSpPr/>
              <p:nvPr>
                <p:custDataLst>
                  <p:tags r:id="rId69"/>
                </p:custDataLst>
              </p:nvPr>
            </p:nvSpPr>
            <p:spPr>
              <a:xfrm>
                <a:off x="1744" y="6091"/>
                <a:ext cx="18259" cy="163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57" name="直接连接符 156756"/>
              <p:cNvSpPr/>
              <p:nvPr>
                <p:custDataLst>
                  <p:tags r:id="rId70"/>
                </p:custDataLst>
              </p:nvPr>
            </p:nvSpPr>
            <p:spPr>
              <a:xfrm>
                <a:off x="1744" y="14723"/>
                <a:ext cx="18259" cy="163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58" name="直接连接符 156757"/>
            <p:cNvSpPr/>
            <p:nvPr>
              <p:custDataLst>
                <p:tags r:id="rId71"/>
              </p:custDataLst>
            </p:nvPr>
          </p:nvSpPr>
          <p:spPr>
            <a:xfrm>
              <a:off x="2966" y="2841"/>
              <a:ext cx="1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59" name="矩形 156758"/>
            <p:cNvSpPr/>
            <p:nvPr>
              <p:custDataLst>
                <p:tags r:id="rId72"/>
              </p:custDataLst>
            </p:nvPr>
          </p:nvSpPr>
          <p:spPr>
            <a:xfrm>
              <a:off x="1054" y="2905"/>
              <a:ext cx="737" cy="1252"/>
            </a:xfrm>
            <a:prstGeom prst="rect">
              <a:avLst/>
            </a:prstGeom>
            <a:solidFill>
              <a:schemeClr val="accent5"/>
            </a:solidFill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12700" tIns="12700" rIns="12700" bIns="12700"/>
            <a:p>
              <a:pPr algn="ctr" eaLnBrk="0" hangingPunct="0">
                <a:spcBef>
                  <a:spcPts val="1600"/>
                </a:spcBef>
              </a:pPr>
              <a:endParaRPr lang="en-US" altLang="zh-CN" sz="2200" b="1" dirty="0">
                <a:latin typeface="Times New Roman" panose="02020603050405020304" pitchFamily="18" charset="0"/>
              </a:endParaRPr>
            </a:p>
            <a:p>
              <a:pPr algn="ctr" eaLnBrk="0" hangingPunct="0">
                <a:spcBef>
                  <a:spcPts val="1600"/>
                </a:spcBef>
              </a:pPr>
              <a:r>
                <a:rPr lang="zh-CN" altLang="en-US" sz="2200" b="1" dirty="0">
                  <a:latin typeface="Times New Roman" panose="02020603050405020304" pitchFamily="18" charset="0"/>
                </a:rPr>
                <a:t>读写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latin typeface="Times New Roman" panose="02020603050405020304" pitchFamily="18" charset="0"/>
                </a:rPr>
                <a:t>控制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  <a:p>
              <a:pPr algn="ctr" eaLnBrk="0" hangingPunct="0"/>
              <a:r>
                <a:rPr lang="zh-CN" altLang="en-US" sz="2200" b="1" dirty="0">
                  <a:latin typeface="Times New Roman" panose="02020603050405020304" pitchFamily="18" charset="0"/>
                </a:rPr>
                <a:t>逻辑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56761" name="直接连接符 156760"/>
            <p:cNvSpPr/>
            <p:nvPr>
              <p:custDataLst>
                <p:tags r:id="rId73"/>
              </p:custDataLst>
            </p:nvPr>
          </p:nvSpPr>
          <p:spPr>
            <a:xfrm>
              <a:off x="805" y="2999"/>
              <a:ext cx="25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62" name="直接连接符 156761"/>
            <p:cNvSpPr/>
            <p:nvPr>
              <p:custDataLst>
                <p:tags r:id="rId74"/>
              </p:custDataLst>
            </p:nvPr>
          </p:nvSpPr>
          <p:spPr>
            <a:xfrm>
              <a:off x="805" y="3429"/>
              <a:ext cx="25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63" name="直接连接符 156762"/>
            <p:cNvSpPr/>
            <p:nvPr>
              <p:custDataLst>
                <p:tags r:id="rId75"/>
              </p:custDataLst>
            </p:nvPr>
          </p:nvSpPr>
          <p:spPr>
            <a:xfrm>
              <a:off x="805" y="3644"/>
              <a:ext cx="25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64" name="直接连接符 156763"/>
            <p:cNvSpPr/>
            <p:nvPr>
              <p:custDataLst>
                <p:tags r:id="rId76"/>
              </p:custDataLst>
            </p:nvPr>
          </p:nvSpPr>
          <p:spPr>
            <a:xfrm>
              <a:off x="805" y="3871"/>
              <a:ext cx="25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65" name="直接连接符 156764"/>
            <p:cNvSpPr/>
            <p:nvPr>
              <p:custDataLst>
                <p:tags r:id="rId77"/>
              </p:custDataLst>
            </p:nvPr>
          </p:nvSpPr>
          <p:spPr>
            <a:xfrm>
              <a:off x="1790" y="3085"/>
              <a:ext cx="297" cy="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66" name="直接连接符 156765"/>
            <p:cNvSpPr/>
            <p:nvPr>
              <p:custDataLst>
                <p:tags r:id="rId78"/>
              </p:custDataLst>
            </p:nvPr>
          </p:nvSpPr>
          <p:spPr>
            <a:xfrm>
              <a:off x="805" y="4075"/>
              <a:ext cx="25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767" name="直接连接符 156766"/>
            <p:cNvSpPr/>
            <p:nvPr>
              <p:custDataLst>
                <p:tags r:id="rId79"/>
              </p:custDataLst>
            </p:nvPr>
          </p:nvSpPr>
          <p:spPr>
            <a:xfrm>
              <a:off x="1936" y="1345"/>
              <a:ext cx="136" cy="4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68" name="直接连接符 156767"/>
            <p:cNvSpPr/>
            <p:nvPr>
              <p:custDataLst>
                <p:tags r:id="rId80"/>
              </p:custDataLst>
            </p:nvPr>
          </p:nvSpPr>
          <p:spPr>
            <a:xfrm flipV="1">
              <a:off x="1416" y="2637"/>
              <a:ext cx="1" cy="272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arrow" w="sm" len="sm"/>
            </a:ln>
          </p:spPr>
        </p:sp>
        <p:sp>
          <p:nvSpPr>
            <p:cNvPr id="156769" name="直接连接符 156768"/>
            <p:cNvSpPr/>
            <p:nvPr>
              <p:custDataLst>
                <p:tags r:id="rId81"/>
              </p:custDataLst>
            </p:nvPr>
          </p:nvSpPr>
          <p:spPr>
            <a:xfrm>
              <a:off x="1938" y="3085"/>
              <a:ext cx="1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56770" name="组合 156769"/>
            <p:cNvGrpSpPr/>
            <p:nvPr/>
          </p:nvGrpSpPr>
          <p:grpSpPr>
            <a:xfrm>
              <a:off x="4463" y="1173"/>
              <a:ext cx="251" cy="124"/>
              <a:chOff x="2" y="0"/>
              <a:chExt cx="19998" cy="19999"/>
            </a:xfrm>
          </p:grpSpPr>
          <p:sp>
            <p:nvSpPr>
              <p:cNvPr id="156771" name="直接连接符 156770"/>
              <p:cNvSpPr/>
              <p:nvPr>
                <p:custDataLst>
                  <p:tags r:id="rId82"/>
                </p:custDataLst>
              </p:nvPr>
            </p:nvSpPr>
            <p:spPr>
              <a:xfrm>
                <a:off x="16537" y="0"/>
                <a:ext cx="3463" cy="1008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72" name="直接连接符 156771"/>
              <p:cNvSpPr/>
              <p:nvPr>
                <p:custDataLst>
                  <p:tags r:id="rId83"/>
                </p:custDataLst>
              </p:nvPr>
            </p:nvSpPr>
            <p:spPr>
              <a:xfrm flipH="1">
                <a:off x="16537" y="9940"/>
                <a:ext cx="3463" cy="1005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73" name="直接连接符 156772"/>
              <p:cNvSpPr/>
              <p:nvPr>
                <p:custDataLst>
                  <p:tags r:id="rId84"/>
                </p:custDataLst>
              </p:nvPr>
            </p:nvSpPr>
            <p:spPr>
              <a:xfrm flipH="1">
                <a:off x="2" y="0"/>
                <a:ext cx="3463" cy="1008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74" name="直接连接符 156773"/>
              <p:cNvSpPr/>
              <p:nvPr>
                <p:custDataLst>
                  <p:tags r:id="rId85"/>
                </p:custDataLst>
              </p:nvPr>
            </p:nvSpPr>
            <p:spPr>
              <a:xfrm>
                <a:off x="2" y="9940"/>
                <a:ext cx="3463" cy="1005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75" name="直接连接符 156774"/>
              <p:cNvSpPr/>
              <p:nvPr>
                <p:custDataLst>
                  <p:tags r:id="rId86"/>
                </p:custDataLst>
              </p:nvPr>
            </p:nvSpPr>
            <p:spPr>
              <a:xfrm>
                <a:off x="1584" y="5982"/>
                <a:ext cx="16765" cy="14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76" name="直接连接符 156775"/>
              <p:cNvSpPr/>
              <p:nvPr>
                <p:custDataLst>
                  <p:tags r:id="rId87"/>
                </p:custDataLst>
              </p:nvPr>
            </p:nvSpPr>
            <p:spPr>
              <a:xfrm>
                <a:off x="1584" y="14612"/>
                <a:ext cx="16765" cy="14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777" name="矩形 156776"/>
            <p:cNvSpPr/>
            <p:nvPr>
              <p:custDataLst>
                <p:tags r:id="rId88"/>
              </p:custDataLst>
            </p:nvPr>
          </p:nvSpPr>
          <p:spPr>
            <a:xfrm>
              <a:off x="4763" y="3732"/>
              <a:ext cx="981" cy="24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p>
              <a:pPr eaLnBrk="0" hangingPunct="0"/>
              <a:r>
                <a:rPr lang="en-US" altLang="zh-CN" sz="2200" b="1">
                  <a:solidFill>
                    <a:srgbClr val="00B0F0"/>
                  </a:solidFill>
                  <a:latin typeface="Times New Roman" panose="02020603050405020304" pitchFamily="18" charset="0"/>
                </a:rPr>
                <a:t>PC</a:t>
              </a:r>
              <a:r>
                <a:rPr lang="en-US" altLang="zh-CN" sz="2200" b="1" baseline="-25000">
                  <a:solidFill>
                    <a:srgbClr val="00B0F0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 sz="2200" b="1" dirty="0">
                  <a:solidFill>
                    <a:srgbClr val="00B0F0"/>
                  </a:solidFill>
                  <a:latin typeface="Times New Roman" panose="02020603050405020304" pitchFamily="18" charset="0"/>
                </a:rPr>
                <a:t>～</a:t>
              </a:r>
              <a:r>
                <a:rPr lang="en-US" altLang="zh-CN" sz="2200" b="1">
                  <a:solidFill>
                    <a:srgbClr val="00B0F0"/>
                  </a:solidFill>
                  <a:latin typeface="Times New Roman" panose="02020603050405020304" pitchFamily="18" charset="0"/>
                </a:rPr>
                <a:t>PC</a:t>
              </a:r>
              <a:r>
                <a:rPr lang="en-US" altLang="zh-CN" sz="2200" b="1" baseline="-25000">
                  <a:solidFill>
                    <a:srgbClr val="00B0F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200" b="1" baseline="-25000">
                <a:solidFill>
                  <a:srgbClr val="00B0F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6778" name="矩形 156777"/>
            <p:cNvSpPr/>
            <p:nvPr>
              <p:custDataLst>
                <p:tags r:id="rId89"/>
              </p:custDataLst>
            </p:nvPr>
          </p:nvSpPr>
          <p:spPr>
            <a:xfrm>
              <a:off x="4778" y="2932"/>
              <a:ext cx="982" cy="24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p>
              <a:pPr eaLnBrk="0" hangingPunct="0"/>
              <a:r>
                <a:rPr lang="en-US" altLang="zh-CN" sz="22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PB</a:t>
              </a:r>
              <a:r>
                <a:rPr lang="en-US" altLang="zh-CN" sz="2200" b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 sz="22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～</a:t>
              </a:r>
              <a:r>
                <a:rPr lang="en-US" altLang="zh-CN" sz="22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PB</a:t>
              </a:r>
              <a:r>
                <a:rPr lang="en-US" altLang="zh-CN" sz="2200" b="1" baseline="-25000">
                  <a:solidFill>
                    <a:srgbClr val="0000FF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200" b="1" baseline="-25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6779" name="矩形 156778"/>
            <p:cNvSpPr/>
            <p:nvPr>
              <p:custDataLst>
                <p:tags r:id="rId90"/>
              </p:custDataLst>
            </p:nvPr>
          </p:nvSpPr>
          <p:spPr>
            <a:xfrm>
              <a:off x="4763" y="1955"/>
              <a:ext cx="981" cy="24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p>
              <a:pPr eaLnBrk="0" hangingPunct="0"/>
              <a:r>
                <a:rPr lang="en-US" altLang="zh-CN" sz="2200" b="1">
                  <a:solidFill>
                    <a:srgbClr val="00B0F0"/>
                  </a:solidFill>
                  <a:latin typeface="Times New Roman" panose="02020603050405020304" pitchFamily="18" charset="0"/>
                </a:rPr>
                <a:t>PC</a:t>
              </a:r>
              <a:r>
                <a:rPr lang="en-US" altLang="zh-CN" sz="2200" b="1" baseline="-25000">
                  <a:solidFill>
                    <a:srgbClr val="00B0F0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200" b="1" dirty="0">
                  <a:solidFill>
                    <a:srgbClr val="00B0F0"/>
                  </a:solidFill>
                  <a:latin typeface="Times New Roman" panose="02020603050405020304" pitchFamily="18" charset="0"/>
                </a:rPr>
                <a:t>～</a:t>
              </a:r>
              <a:r>
                <a:rPr lang="en-US" altLang="zh-CN" sz="2200" b="1">
                  <a:solidFill>
                    <a:srgbClr val="00B0F0"/>
                  </a:solidFill>
                  <a:latin typeface="Times New Roman" panose="02020603050405020304" pitchFamily="18" charset="0"/>
                </a:rPr>
                <a:t>PC</a:t>
              </a:r>
              <a:r>
                <a:rPr lang="en-US" altLang="zh-CN" sz="2200" b="1" baseline="-25000">
                  <a:solidFill>
                    <a:srgbClr val="00B0F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200" b="1" baseline="-25000">
                <a:solidFill>
                  <a:srgbClr val="00B0F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6780" name="矩形 156779"/>
            <p:cNvSpPr/>
            <p:nvPr>
              <p:custDataLst>
                <p:tags r:id="rId91"/>
              </p:custDataLst>
            </p:nvPr>
          </p:nvSpPr>
          <p:spPr>
            <a:xfrm>
              <a:off x="4778" y="1128"/>
              <a:ext cx="982" cy="245"/>
            </a:xfrm>
            <a:prstGeom prst="rect">
              <a:avLst/>
            </a:prstGeom>
            <a:noFill/>
            <a:ln w="28575">
              <a:noFill/>
            </a:ln>
          </p:spPr>
          <p:txBody>
            <a:bodyPr lIns="12700" tIns="12700" rIns="12700" bIns="12700"/>
            <a:p>
              <a:pPr eaLnBrk="0" hangingPunct="0"/>
              <a:r>
                <a:rPr lang="en-US" altLang="zh-CN" sz="2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PA</a:t>
              </a:r>
              <a:r>
                <a:rPr lang="en-US" altLang="zh-CN" sz="22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0</a:t>
              </a:r>
              <a:r>
                <a:rPr lang="zh-CN" altLang="en-US" sz="22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～</a:t>
              </a:r>
              <a:r>
                <a:rPr lang="en-US" altLang="zh-CN" sz="22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PA</a:t>
              </a:r>
              <a:r>
                <a:rPr lang="en-US" altLang="zh-CN" sz="22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200" b="1" baseline="-25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156781" name="组合 156780"/>
            <p:cNvGrpSpPr/>
            <p:nvPr/>
          </p:nvGrpSpPr>
          <p:grpSpPr>
            <a:xfrm>
              <a:off x="4463" y="2001"/>
              <a:ext cx="251" cy="123"/>
              <a:chOff x="2" y="0"/>
              <a:chExt cx="19998" cy="19999"/>
            </a:xfrm>
          </p:grpSpPr>
          <p:sp>
            <p:nvSpPr>
              <p:cNvPr id="156782" name="直接连接符 156781"/>
              <p:cNvSpPr/>
              <p:nvPr>
                <p:custDataLst>
                  <p:tags r:id="rId92"/>
                </p:custDataLst>
              </p:nvPr>
            </p:nvSpPr>
            <p:spPr>
              <a:xfrm>
                <a:off x="16537" y="0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83" name="直接连接符 156782"/>
              <p:cNvSpPr/>
              <p:nvPr>
                <p:custDataLst>
                  <p:tags r:id="rId93"/>
                </p:custDataLst>
              </p:nvPr>
            </p:nvSpPr>
            <p:spPr>
              <a:xfrm flipH="1">
                <a:off x="16537" y="9925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84" name="直接连接符 156783"/>
              <p:cNvSpPr/>
              <p:nvPr>
                <p:custDataLst>
                  <p:tags r:id="rId94"/>
                </p:custDataLst>
              </p:nvPr>
            </p:nvSpPr>
            <p:spPr>
              <a:xfrm flipH="1">
                <a:off x="2" y="0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85" name="直接连接符 156784"/>
              <p:cNvSpPr/>
              <p:nvPr>
                <p:custDataLst>
                  <p:tags r:id="rId95"/>
                </p:custDataLst>
              </p:nvPr>
            </p:nvSpPr>
            <p:spPr>
              <a:xfrm>
                <a:off x="2" y="9925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86" name="直接连接符 156785"/>
              <p:cNvSpPr/>
              <p:nvPr>
                <p:custDataLst>
                  <p:tags r:id="rId96"/>
                </p:custDataLst>
              </p:nvPr>
            </p:nvSpPr>
            <p:spPr>
              <a:xfrm>
                <a:off x="1584" y="5973"/>
                <a:ext cx="16765" cy="14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87" name="直接连接符 156786"/>
              <p:cNvSpPr/>
              <p:nvPr>
                <p:custDataLst>
                  <p:tags r:id="rId97"/>
                </p:custDataLst>
              </p:nvPr>
            </p:nvSpPr>
            <p:spPr>
              <a:xfrm>
                <a:off x="1584" y="14591"/>
                <a:ext cx="16765" cy="148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56788" name="组合 156787"/>
            <p:cNvGrpSpPr/>
            <p:nvPr/>
          </p:nvGrpSpPr>
          <p:grpSpPr>
            <a:xfrm>
              <a:off x="4463" y="2977"/>
              <a:ext cx="251" cy="124"/>
              <a:chOff x="2" y="0"/>
              <a:chExt cx="19998" cy="19999"/>
            </a:xfrm>
          </p:grpSpPr>
          <p:sp>
            <p:nvSpPr>
              <p:cNvPr id="156789" name="直接连接符 156788"/>
              <p:cNvSpPr/>
              <p:nvPr>
                <p:custDataLst>
                  <p:tags r:id="rId98"/>
                </p:custDataLst>
              </p:nvPr>
            </p:nvSpPr>
            <p:spPr>
              <a:xfrm>
                <a:off x="16537" y="0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0" name="直接连接符 156789"/>
              <p:cNvSpPr/>
              <p:nvPr>
                <p:custDataLst>
                  <p:tags r:id="rId99"/>
                </p:custDataLst>
              </p:nvPr>
            </p:nvSpPr>
            <p:spPr>
              <a:xfrm flipH="1">
                <a:off x="16537" y="9925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1" name="直接连接符 156790"/>
              <p:cNvSpPr/>
              <p:nvPr>
                <p:custDataLst>
                  <p:tags r:id="rId100"/>
                </p:custDataLst>
              </p:nvPr>
            </p:nvSpPr>
            <p:spPr>
              <a:xfrm flipH="1">
                <a:off x="2" y="0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2" name="直接连接符 156791"/>
              <p:cNvSpPr/>
              <p:nvPr>
                <p:custDataLst>
                  <p:tags r:id="rId101"/>
                </p:custDataLst>
              </p:nvPr>
            </p:nvSpPr>
            <p:spPr>
              <a:xfrm>
                <a:off x="2" y="9925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3" name="直接连接符 156792"/>
              <p:cNvSpPr/>
              <p:nvPr>
                <p:custDataLst>
                  <p:tags r:id="rId102"/>
                </p:custDataLst>
              </p:nvPr>
            </p:nvSpPr>
            <p:spPr>
              <a:xfrm>
                <a:off x="1584" y="6003"/>
                <a:ext cx="16765" cy="148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4" name="直接连接符 156793"/>
              <p:cNvSpPr/>
              <p:nvPr>
                <p:custDataLst>
                  <p:tags r:id="rId103"/>
                </p:custDataLst>
              </p:nvPr>
            </p:nvSpPr>
            <p:spPr>
              <a:xfrm>
                <a:off x="1584" y="14591"/>
                <a:ext cx="16765" cy="148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grpSp>
          <p:nvGrpSpPr>
            <p:cNvPr id="156795" name="组合 156794"/>
            <p:cNvGrpSpPr/>
            <p:nvPr/>
          </p:nvGrpSpPr>
          <p:grpSpPr>
            <a:xfrm>
              <a:off x="4463" y="3777"/>
              <a:ext cx="251" cy="124"/>
              <a:chOff x="2" y="0"/>
              <a:chExt cx="19998" cy="19999"/>
            </a:xfrm>
          </p:grpSpPr>
          <p:sp>
            <p:nvSpPr>
              <p:cNvPr id="156796" name="直接连接符 156795"/>
              <p:cNvSpPr/>
              <p:nvPr>
                <p:custDataLst>
                  <p:tags r:id="rId104"/>
                </p:custDataLst>
              </p:nvPr>
            </p:nvSpPr>
            <p:spPr>
              <a:xfrm>
                <a:off x="16537" y="0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7" name="直接连接符 156796"/>
              <p:cNvSpPr/>
              <p:nvPr>
                <p:custDataLst>
                  <p:tags r:id="rId105"/>
                </p:custDataLst>
              </p:nvPr>
            </p:nvSpPr>
            <p:spPr>
              <a:xfrm flipH="1">
                <a:off x="16537" y="9925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8" name="直接连接符 156797"/>
              <p:cNvSpPr/>
              <p:nvPr>
                <p:custDataLst>
                  <p:tags r:id="rId106"/>
                </p:custDataLst>
              </p:nvPr>
            </p:nvSpPr>
            <p:spPr>
              <a:xfrm flipH="1">
                <a:off x="2" y="0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799" name="直接连接符 156798"/>
              <p:cNvSpPr/>
              <p:nvPr>
                <p:custDataLst>
                  <p:tags r:id="rId107"/>
                </p:custDataLst>
              </p:nvPr>
            </p:nvSpPr>
            <p:spPr>
              <a:xfrm>
                <a:off x="2" y="9925"/>
                <a:ext cx="3463" cy="10074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800" name="直接连接符 156799"/>
              <p:cNvSpPr/>
              <p:nvPr>
                <p:custDataLst>
                  <p:tags r:id="rId108"/>
                </p:custDataLst>
              </p:nvPr>
            </p:nvSpPr>
            <p:spPr>
              <a:xfrm>
                <a:off x="1584" y="6003"/>
                <a:ext cx="16765" cy="119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801" name="直接连接符 156800"/>
              <p:cNvSpPr/>
              <p:nvPr>
                <p:custDataLst>
                  <p:tags r:id="rId109"/>
                </p:custDataLst>
              </p:nvPr>
            </p:nvSpPr>
            <p:spPr>
              <a:xfrm>
                <a:off x="1584" y="14591"/>
                <a:ext cx="16765" cy="148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  <p:sp>
          <p:nvSpPr>
            <p:cNvPr id="156802" name="直接连接符 156801"/>
            <p:cNvSpPr/>
            <p:nvPr>
              <p:custDataLst>
                <p:tags r:id="rId110"/>
              </p:custDataLst>
            </p:nvPr>
          </p:nvSpPr>
          <p:spPr>
            <a:xfrm>
              <a:off x="805" y="3238"/>
              <a:ext cx="250" cy="1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803" name="直接连接符 156802"/>
            <p:cNvSpPr/>
            <p:nvPr>
              <p:custDataLst>
                <p:tags r:id="rId111"/>
              </p:custDataLst>
            </p:nvPr>
          </p:nvSpPr>
          <p:spPr>
            <a:xfrm>
              <a:off x="1935" y="1331"/>
              <a:ext cx="1" cy="1757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56804" name="直接连接符 156803"/>
            <p:cNvSpPr/>
            <p:nvPr>
              <p:custDataLst>
                <p:tags r:id="rId112"/>
              </p:custDataLst>
            </p:nvPr>
          </p:nvSpPr>
          <p:spPr>
            <a:xfrm flipV="1">
              <a:off x="3457" y="1468"/>
              <a:ext cx="0" cy="8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56808" name="组合 156807"/>
            <p:cNvGrpSpPr/>
            <p:nvPr/>
          </p:nvGrpSpPr>
          <p:grpSpPr>
            <a:xfrm>
              <a:off x="50" y="2919"/>
              <a:ext cx="745" cy="1373"/>
              <a:chOff x="50" y="2919"/>
              <a:chExt cx="745" cy="1373"/>
            </a:xfrm>
          </p:grpSpPr>
          <p:sp>
            <p:nvSpPr>
              <p:cNvPr id="156760" name="矩形 156759"/>
              <p:cNvSpPr/>
              <p:nvPr>
                <p:custDataLst>
                  <p:tags r:id="rId113"/>
                </p:custDataLst>
              </p:nvPr>
            </p:nvSpPr>
            <p:spPr>
              <a:xfrm>
                <a:off x="50" y="2919"/>
                <a:ext cx="728" cy="1373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lIns="12700" tIns="12700" rIns="12700" bIns="12700"/>
              <a:p>
                <a:pPr algn="r" eaLnBrk="0" hangingPunct="0"/>
                <a:r>
                  <a:rPr lang="en-US" altLang="zh-CN" sz="2200" b="1">
                    <a:latin typeface="Times New Roman" panose="02020603050405020304" pitchFamily="18" charset="0"/>
                  </a:rPr>
                  <a:t>RD</a:t>
                </a:r>
                <a:endParaRPr lang="en-US" altLang="zh-CN" sz="2200" b="1">
                  <a:latin typeface="Times New Roman" panose="02020603050405020304" pitchFamily="18" charset="0"/>
                </a:endParaRPr>
              </a:p>
              <a:p>
                <a:pPr algn="r" eaLnBrk="0" hangingPunct="0"/>
                <a:r>
                  <a:rPr lang="en-US" altLang="zh-CN" sz="2200" b="1">
                    <a:latin typeface="Times New Roman" panose="02020603050405020304" pitchFamily="18" charset="0"/>
                  </a:rPr>
                  <a:t>WR</a:t>
                </a:r>
                <a:endParaRPr lang="en-US" altLang="zh-CN" sz="2200" b="1">
                  <a:latin typeface="Times New Roman" panose="02020603050405020304" pitchFamily="18" charset="0"/>
                </a:endParaRPr>
              </a:p>
              <a:p>
                <a:pPr algn="r" eaLnBrk="0" hangingPunct="0"/>
                <a:r>
                  <a:rPr lang="en-US" altLang="zh-CN" sz="2200" b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200" b="1" baseline="-25000">
                    <a:latin typeface="Times New Roman" panose="02020603050405020304" pitchFamily="18" charset="0"/>
                  </a:rPr>
                  <a:t>0</a:t>
                </a:r>
                <a:endParaRPr lang="en-US" altLang="zh-CN" sz="2200" b="1">
                  <a:latin typeface="Times New Roman" panose="02020603050405020304" pitchFamily="18" charset="0"/>
                </a:endParaRPr>
              </a:p>
              <a:p>
                <a:pPr algn="r" eaLnBrk="0" hangingPunct="0"/>
                <a:r>
                  <a:rPr lang="en-US" altLang="zh-CN" sz="2200" b="1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200" b="1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200" b="1">
                  <a:latin typeface="Times New Roman" panose="02020603050405020304" pitchFamily="18" charset="0"/>
                </a:endParaRPr>
              </a:p>
              <a:p>
                <a:pPr algn="r" eaLnBrk="0" hangingPunct="0"/>
                <a:r>
                  <a:rPr lang="en-US" altLang="zh-CN" sz="2200" b="1">
                    <a:latin typeface="Times New Roman" panose="02020603050405020304" pitchFamily="18" charset="0"/>
                  </a:rPr>
                  <a:t>CS</a:t>
                </a:r>
                <a:endParaRPr lang="en-US" altLang="zh-CN" sz="2200" b="1">
                  <a:latin typeface="Times New Roman" panose="02020603050405020304" pitchFamily="18" charset="0"/>
                </a:endParaRPr>
              </a:p>
              <a:p>
                <a:pPr algn="r" eaLnBrk="0" hangingPunct="0"/>
                <a:r>
                  <a:rPr lang="en-US" altLang="zh-CN" sz="2200" b="1">
                    <a:latin typeface="Times New Roman" panose="02020603050405020304" pitchFamily="18" charset="0"/>
                  </a:rPr>
                  <a:t>RESET</a:t>
                </a:r>
                <a:endParaRPr lang="en-US" altLang="zh-CN" sz="22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805" name="直接连接符 156804"/>
              <p:cNvSpPr/>
              <p:nvPr>
                <p:custDataLst>
                  <p:tags r:id="rId114"/>
                </p:custDataLst>
              </p:nvPr>
            </p:nvSpPr>
            <p:spPr>
              <a:xfrm>
                <a:off x="504" y="2931"/>
                <a:ext cx="250" cy="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806" name="直接连接符 156805"/>
              <p:cNvSpPr/>
              <p:nvPr>
                <p:custDataLst>
                  <p:tags r:id="rId115"/>
                </p:custDataLst>
              </p:nvPr>
            </p:nvSpPr>
            <p:spPr>
              <a:xfrm>
                <a:off x="436" y="3137"/>
                <a:ext cx="319" cy="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156807" name="直接连接符 156806"/>
              <p:cNvSpPr/>
              <p:nvPr>
                <p:custDataLst>
                  <p:tags r:id="rId116"/>
                </p:custDataLst>
              </p:nvPr>
            </p:nvSpPr>
            <p:spPr>
              <a:xfrm>
                <a:off x="545" y="3789"/>
                <a:ext cx="250" cy="1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solid"/>
                <a:headEnd type="none" w="sm" len="sm"/>
                <a:tailEnd type="none" w="sm" len="sm"/>
              </a:ln>
            </p:spPr>
          </p:sp>
        </p:grpSp>
      </p:grpSp>
      <p:sp>
        <p:nvSpPr>
          <p:cNvPr id="10243" name="矩形 59"/>
          <p:cNvSpPr/>
          <p:nvPr>
            <p:custDataLst>
              <p:tags r:id="rId117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156810" name="矩形标注 156809"/>
          <p:cNvSpPr/>
          <p:nvPr>
            <p:custDataLst>
              <p:tags r:id="rId118"/>
            </p:custDataLst>
          </p:nvPr>
        </p:nvSpPr>
        <p:spPr>
          <a:xfrm>
            <a:off x="179705" y="1412875"/>
            <a:ext cx="2362200" cy="1295400"/>
          </a:xfrm>
          <a:prstGeom prst="wedgeRectCallout">
            <a:avLst>
              <a:gd name="adj1" fmla="val 49125"/>
              <a:gd name="adj2" fmla="val 60537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just"/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是一个三态双向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位缓冲器，它是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8255A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与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系统数据总线的接口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811" name="矩形标注 156810"/>
          <p:cNvSpPr/>
          <p:nvPr>
            <p:custDataLst>
              <p:tags r:id="rId119"/>
            </p:custDataLst>
          </p:nvPr>
        </p:nvSpPr>
        <p:spPr>
          <a:xfrm>
            <a:off x="3027045" y="5772785"/>
            <a:ext cx="2362200" cy="990600"/>
          </a:xfrm>
          <a:prstGeom prst="wedgeRectCallout">
            <a:avLst>
              <a:gd name="adj1" fmla="val -62634"/>
              <a:gd name="adj2" fmla="val -33076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just"/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完成对数据口的译码，并将控制命令传给控制电路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812" name="矩形标注 156811"/>
          <p:cNvSpPr/>
          <p:nvPr>
            <p:custDataLst>
              <p:tags r:id="rId120"/>
            </p:custDataLst>
          </p:nvPr>
        </p:nvSpPr>
        <p:spPr>
          <a:xfrm>
            <a:off x="3491865" y="260350"/>
            <a:ext cx="3199130" cy="1123950"/>
          </a:xfrm>
          <a:prstGeom prst="wedgeRectCallout">
            <a:avLst>
              <a:gd name="adj1" fmla="val -38705"/>
              <a:gd name="adj2" fmla="val 6463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just"/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接收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输出的方式控制命令及读写命令来决定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组工作方式和读写操作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813" name="矩形标注 156812"/>
          <p:cNvSpPr/>
          <p:nvPr>
            <p:custDataLst>
              <p:tags r:id="rId121"/>
            </p:custDataLst>
          </p:nvPr>
        </p:nvSpPr>
        <p:spPr>
          <a:xfrm>
            <a:off x="3060700" y="2924810"/>
            <a:ext cx="2514600" cy="1295400"/>
          </a:xfrm>
          <a:prstGeom prst="wedgeRectCallout">
            <a:avLst>
              <a:gd name="adj1" fmla="val 63257"/>
              <a:gd name="adj2" fmla="val 3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just"/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端口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位输入输出端口，每个端口都有数据输入</a:t>
            </a:r>
            <a:r>
              <a:rPr lang="en-US" altLang="zh-CN" sz="2000" b="1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latin typeface="Arial" panose="020B0604020202020204" pitchFamily="34" charset="0"/>
                <a:ea typeface="宋体" panose="02010600030101010101" pitchFamily="2" charset="-122"/>
              </a:rPr>
              <a:t>输出寄存器。</a:t>
            </a:r>
            <a:endParaRPr lang="zh-CN" altLang="en-US" sz="20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56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568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5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56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1568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1568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810" grpId="0" bldLvl="0" animBg="1"/>
      <p:bldP spid="156810" grpId="1" bldLvl="0" animBg="1"/>
      <p:bldP spid="156811" grpId="0" bldLvl="0" animBg="1"/>
      <p:bldP spid="156811" grpId="1" bldLvl="0" animBg="1"/>
      <p:bldP spid="156812" grpId="0" bldLvl="0" animBg="1"/>
      <p:bldP spid="156812" grpId="1" bldLvl="0" animBg="1"/>
      <p:bldP spid="156813" grpId="0" bldLvl="0" animBg="1"/>
      <p:bldP spid="156813" grpId="1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1.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内部结构及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外部引脚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graphicFrame>
        <p:nvGraphicFramePr>
          <p:cNvPr id="160839" name="表格 160838"/>
          <p:cNvGraphicFramePr/>
          <p:nvPr>
            <p:custDataLst>
              <p:tags r:id="rId3"/>
            </p:custDataLst>
          </p:nvPr>
        </p:nvGraphicFramePr>
        <p:xfrm>
          <a:off x="4500245" y="2319655"/>
          <a:ext cx="4220210" cy="1868170"/>
        </p:xfrm>
        <a:graphic>
          <a:graphicData uri="http://schemas.openxmlformats.org/drawingml/2006/table">
            <a:tbl>
              <a:tblPr/>
              <a:tblGrid>
                <a:gridCol w="1887855"/>
                <a:gridCol w="2332355"/>
              </a:tblGrid>
              <a:tr h="432435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端口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工作方式</a:t>
                      </a:r>
                      <a:endParaRPr lang="zh-CN" altLang="en-US" sz="2800" dirty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5735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sz="2800" dirty="0">
                          <a:solidFill>
                            <a:schemeClr val="tx1"/>
                          </a:solidFill>
                          <a:sym typeface="+mn-ea"/>
                        </a:rPr>
                        <a:t>口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B</a:t>
                      </a:r>
                      <a:r>
                        <a:rPr lang="zh-CN" altLang="en-US" sz="2800" dirty="0">
                          <a:solidFill>
                            <a:schemeClr val="tx1"/>
                          </a:solidFill>
                          <a:sym typeface="+mn-ea"/>
                        </a:rPr>
                        <a:t>口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C</a:t>
                      </a:r>
                      <a:r>
                        <a:rPr lang="zh-CN" altLang="en-US" sz="2800" dirty="0">
                          <a:solidFill>
                            <a:schemeClr val="tx1"/>
                          </a:solidFill>
                          <a:sym typeface="+mn-ea"/>
                        </a:rPr>
                        <a:t>口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方式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0</a:t>
                      </a:r>
                      <a:r>
                        <a:rPr lang="zh-CN" altLang="en-US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、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1</a:t>
                      </a:r>
                      <a:r>
                        <a:rPr lang="zh-CN" altLang="en-US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、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2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方式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0</a:t>
                      </a:r>
                      <a:r>
                        <a:rPr lang="zh-CN" altLang="en-US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、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1</a:t>
                      </a:r>
                      <a:endParaRPr lang="en-US" altLang="zh-CN" sz="2800" dirty="0">
                        <a:solidFill>
                          <a:srgbClr val="0000FF"/>
                        </a:solidFill>
                        <a:latin typeface="Tahoma" panose="020B0604030504040204" pitchFamily="34" charset="0"/>
                        <a:sym typeface="+mn-e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方式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  <a:latin typeface="Tahoma" panose="020B0604030504040204" pitchFamily="34" charset="0"/>
                          <a:sym typeface="+mn-ea"/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>
            <p:custDataLst>
              <p:tags r:id="rId6"/>
            </p:custDataLst>
          </p:nvPr>
        </p:nvGraphicFramePr>
        <p:xfrm>
          <a:off x="578485" y="2320290"/>
          <a:ext cx="3672840" cy="2278380"/>
        </p:xfrm>
        <a:graphic>
          <a:graphicData uri="http://schemas.openxmlformats.org/drawingml/2006/table">
            <a:tbl>
              <a:tblPr/>
              <a:tblGrid>
                <a:gridCol w="1742440"/>
                <a:gridCol w="1930400"/>
              </a:tblGrid>
              <a:tr h="480060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A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选择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03910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0    0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0    1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1    0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1    1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>
                          <a:solidFill>
                            <a:srgbClr val="C00000"/>
                          </a:solidFill>
                          <a:sym typeface="+mn-ea"/>
                        </a:rPr>
                        <a:t>A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口</a:t>
                      </a:r>
                      <a:endParaRPr lang="en-US" altLang="zh-CN" b="1">
                        <a:solidFill>
                          <a:srgbClr val="C00000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>
                          <a:solidFill>
                            <a:srgbClr val="C00000"/>
                          </a:solidFill>
                          <a:sym typeface="+mn-ea"/>
                        </a:rPr>
                        <a:t>B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口</a:t>
                      </a:r>
                      <a:endParaRPr lang="en-US" altLang="zh-CN" b="1">
                        <a:solidFill>
                          <a:srgbClr val="C00000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800">
                          <a:solidFill>
                            <a:srgbClr val="C00000"/>
                          </a:solidFill>
                          <a:sym typeface="+mn-ea"/>
                        </a:rPr>
                        <a:t>C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口</a:t>
                      </a:r>
                      <a:endParaRPr lang="en-US" altLang="zh-CN" b="1">
                        <a:solidFill>
                          <a:srgbClr val="C00000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控制口</a:t>
                      </a:r>
                      <a:endParaRPr lang="zh-CN" alt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98170" y="1892935"/>
            <a:ext cx="3652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0033CC"/>
                </a:solidFill>
              </a:rPr>
              <a:t>片内各端口地址选择</a:t>
            </a:r>
            <a:endParaRPr lang="zh-CN" altLang="en-US" b="1">
              <a:solidFill>
                <a:srgbClr val="0033CC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16145" y="1862455"/>
            <a:ext cx="3652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0033CC"/>
                </a:solidFill>
              </a:rPr>
              <a:t>片内各端口工作方式</a:t>
            </a:r>
            <a:endParaRPr lang="zh-CN" altLang="en-US" b="1">
              <a:solidFill>
                <a:srgbClr val="0033CC"/>
              </a:solidFill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7"/>
            </p:custDataLst>
          </p:nvPr>
        </p:nvGraphicFramePr>
        <p:xfrm>
          <a:off x="598170" y="4796155"/>
          <a:ext cx="7612380" cy="1924050"/>
        </p:xfrm>
        <a:graphic>
          <a:graphicData uri="http://schemas.openxmlformats.org/drawingml/2006/table">
            <a:tbl>
              <a:tblPr/>
              <a:tblGrid>
                <a:gridCol w="1876425"/>
                <a:gridCol w="2078355"/>
                <a:gridCol w="2054225"/>
              </a:tblGrid>
              <a:tr h="413385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CS* A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 A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读操作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RD*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写操作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WR*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1615"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0    0    0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0    0    1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0    1    0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0    1    1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读端口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读端口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读端口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非法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4"/>
                        </a:buBlip>
                        <a:defRPr sz="2800" b="1" u="none" kern="1200" baseline="0">
                          <a:solidFill>
                            <a:schemeClr val="accent2"/>
                          </a:solidFill>
                          <a:latin typeface="Arial" panose="020B0604020202020204" pitchFamily="34" charset="0"/>
                          <a:ea typeface="幼圆" panose="02010509060101010101" pitchFamily="49" charset="-122"/>
                        </a:defRPr>
                      </a:lvl1pPr>
                      <a:lvl2pPr marL="742950" lvl="1" indent="-28575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Blip>
                          <a:blip r:embed="rId5"/>
                        </a:buBlip>
                        <a:defRPr sz="2400" b="1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写端口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写端口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写端口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  <a:p>
                      <a:pPr marL="0" lvl="0" indent="0" algn="ctr">
                        <a:lnSpc>
                          <a:spcPct val="8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dirty="0">
                          <a:solidFill>
                            <a:srgbClr val="0000FF"/>
                          </a:solidFill>
                        </a:rPr>
                        <a:t>写控制字</a:t>
                      </a:r>
                      <a:endParaRPr lang="zh-CN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11505" y="4364355"/>
            <a:ext cx="59950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b="1">
                <a:solidFill>
                  <a:srgbClr val="0033CC"/>
                </a:solidFill>
              </a:rPr>
              <a:t>与控制信息配合后的操作组合</a:t>
            </a:r>
            <a:endParaRPr lang="zh-CN" altLang="en-US" b="1">
              <a:solidFill>
                <a:srgbClr val="00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1.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sym typeface="+mn-ea"/>
              </a:rPr>
              <a:t>内部结构及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外部引脚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798"/>
          <a:stretch>
            <a:fillRect/>
          </a:stretch>
        </p:blipFill>
        <p:spPr>
          <a:xfrm>
            <a:off x="2709545" y="260350"/>
            <a:ext cx="3724275" cy="63639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2.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的控制字与初始化编程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8485" y="1908175"/>
            <a:ext cx="56375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0000FF"/>
                </a:solidFill>
              </a:rPr>
              <a:t>8255A 有</a:t>
            </a:r>
            <a:r>
              <a:rPr lang="en-US" altLang="zh-CN" b="1">
                <a:solidFill>
                  <a:srgbClr val="0000FF"/>
                </a:solidFill>
              </a:rPr>
              <a:t>2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种</a:t>
            </a:r>
            <a:r>
              <a:rPr lang="zh-CN" altLang="en-US" b="1">
                <a:solidFill>
                  <a:srgbClr val="0000FF"/>
                </a:solidFill>
              </a:rPr>
              <a:t>控制字</a:t>
            </a:r>
            <a:endParaRPr lang="zh-CN" altLang="en-US" b="1">
              <a:solidFill>
                <a:srgbClr val="0000FF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43305" y="2420620"/>
            <a:ext cx="71323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b="1"/>
              <a:t>工作方式控制字（方式控制字）</a:t>
            </a:r>
            <a:endParaRPr lang="zh-CN" altLang="en-US" b="1"/>
          </a:p>
        </p:txBody>
      </p:sp>
      <p:sp>
        <p:nvSpPr>
          <p:cNvPr id="22" name="文本框 21"/>
          <p:cNvSpPr txBox="1"/>
          <p:nvPr/>
        </p:nvSpPr>
        <p:spPr>
          <a:xfrm>
            <a:off x="1043305" y="289750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b="1"/>
              <a:t>C</a:t>
            </a:r>
            <a:r>
              <a:rPr lang="zh-CN" altLang="en-US" b="1"/>
              <a:t>口置位/复位控制字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0"/>
          <p:cNvGrpSpPr/>
          <p:nvPr/>
        </p:nvGrpSpPr>
        <p:grpSpPr bwMode="auto">
          <a:xfrm>
            <a:off x="785786" y="2786375"/>
            <a:ext cx="7500990" cy="595314"/>
            <a:chOff x="576" y="2112"/>
            <a:chExt cx="2688" cy="192"/>
          </a:xfrm>
          <a:solidFill>
            <a:srgbClr val="FFFFCC"/>
          </a:solidFill>
        </p:grpSpPr>
        <p:sp>
          <p:nvSpPr>
            <p:cNvPr id="4" name="Rectangle 1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576" y="2112"/>
              <a:ext cx="336" cy="192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zh-CN" altLang="en-US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7</a:t>
              </a:r>
              <a:endParaRPr kumimoji="1" lang="zh-CN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Rectangle 12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912" y="2112"/>
              <a:ext cx="336" cy="19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Rectangle 13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928" y="2112"/>
              <a:ext cx="336" cy="192"/>
            </a:xfrm>
            <a:prstGeom prst="rect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Rectangle 1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92" y="2112"/>
              <a:ext cx="336" cy="192"/>
            </a:xfrm>
            <a:prstGeom prst="rect">
              <a:avLst/>
            </a:prstGeom>
            <a:solidFill>
              <a:srgbClr val="00B0F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56" y="2112"/>
              <a:ext cx="336" cy="192"/>
            </a:xfrm>
            <a:prstGeom prst="rect">
              <a:avLst/>
            </a:prstGeom>
            <a:solidFill>
              <a:srgbClr val="00B0F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6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920" y="2112"/>
              <a:ext cx="336" cy="192"/>
            </a:xfrm>
            <a:prstGeom prst="rect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Rectangle 17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584" y="2112"/>
              <a:ext cx="336" cy="19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Rectangle 18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248" y="2112"/>
              <a:ext cx="336" cy="19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5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219" name="Rectangle 6"/>
          <p:cNvSpPr/>
          <p:nvPr>
            <p:custDataLst>
              <p:tags r:id="rId9"/>
            </p:custDataLst>
          </p:nvPr>
        </p:nvSpPr>
        <p:spPr>
          <a:xfrm>
            <a:off x="323215" y="1916113"/>
            <a:ext cx="67056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Tx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工作方式控制字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3" name="组合 46"/>
          <p:cNvGrpSpPr/>
          <p:nvPr/>
        </p:nvGrpSpPr>
        <p:grpSpPr>
          <a:xfrm>
            <a:off x="214313" y="3399155"/>
            <a:ext cx="1500187" cy="1617663"/>
            <a:chOff x="214282" y="3327054"/>
            <a:chExt cx="1500198" cy="1617675"/>
          </a:xfrm>
        </p:grpSpPr>
        <p:sp>
          <p:nvSpPr>
            <p:cNvPr id="9221" name="Text Box 98"/>
            <p:cNvSpPr txBox="1"/>
            <p:nvPr>
              <p:custDataLst>
                <p:tags r:id="rId10"/>
              </p:custDataLst>
            </p:nvPr>
          </p:nvSpPr>
          <p:spPr>
            <a:xfrm>
              <a:off x="214282" y="3929066"/>
              <a:ext cx="1500198" cy="1015663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D7=1</a:t>
              </a:r>
              <a:endParaRPr lang="en-US" altLang="zh-CN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标志位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222" name="Line 20"/>
            <p:cNvSpPr/>
            <p:nvPr>
              <p:custDataLst>
                <p:tags r:id="rId11"/>
              </p:custDataLst>
            </p:nvPr>
          </p:nvSpPr>
          <p:spPr>
            <a:xfrm flipV="1">
              <a:off x="1285852" y="3327054"/>
              <a:ext cx="0" cy="6096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</p:grpSp>
      <p:grpSp>
        <p:nvGrpSpPr>
          <p:cNvPr id="12" name="组合 45"/>
          <p:cNvGrpSpPr/>
          <p:nvPr/>
        </p:nvGrpSpPr>
        <p:grpSpPr>
          <a:xfrm>
            <a:off x="1785938" y="3399155"/>
            <a:ext cx="1714500" cy="1887538"/>
            <a:chOff x="1785918" y="3327054"/>
            <a:chExt cx="1714512" cy="1887896"/>
          </a:xfrm>
        </p:grpSpPr>
        <p:sp>
          <p:nvSpPr>
            <p:cNvPr id="9224" name="Rectangle 73"/>
            <p:cNvSpPr/>
            <p:nvPr>
              <p:custDataLst>
                <p:tags r:id="rId12"/>
              </p:custDataLst>
            </p:nvPr>
          </p:nvSpPr>
          <p:spPr>
            <a:xfrm>
              <a:off x="1785918" y="3919550"/>
              <a:ext cx="1714512" cy="129540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端口</a:t>
              </a:r>
              <a:r>
                <a:rPr lang="en-US" altLang="zh-CN" sz="2000" b="1" dirty="0">
                  <a:latin typeface="Tahoma" panose="020B0604030504040204" pitchFamily="34" charset="0"/>
                </a:rPr>
                <a:t>A</a:t>
              </a:r>
              <a:r>
                <a:rPr lang="zh-CN" altLang="en-US" sz="2000" b="1" dirty="0">
                  <a:latin typeface="Tahoma" panose="020B0604030504040204" pitchFamily="34" charset="0"/>
                </a:rPr>
                <a:t>方式</a:t>
              </a:r>
              <a:endParaRPr lang="zh-CN" altLang="en-US" sz="2000" b="1" dirty="0">
                <a:latin typeface="Tahoma" panose="020B0604030504040204" pitchFamily="34" charset="0"/>
              </a:endParaRPr>
            </a:p>
            <a:p>
              <a:pPr algn="ctr">
                <a:spcBef>
                  <a:spcPct val="30000"/>
                </a:spcBef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00   方式0</a:t>
              </a:r>
              <a:endParaRPr lang="zh-CN" altLang="en-US" sz="2000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01   方式1</a:t>
              </a:r>
              <a:endParaRPr lang="zh-CN" altLang="en-US" sz="2000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1</a:t>
              </a:r>
              <a:r>
                <a:rPr lang="en-US" altLang="zh-CN" sz="2000" b="1" dirty="0">
                  <a:latin typeface="Tahoma" panose="020B0604030504040204" pitchFamily="34" charset="0"/>
                </a:rPr>
                <a:t>×</a:t>
              </a:r>
              <a:r>
                <a:rPr lang="zh-CN" altLang="en-US" sz="2000" b="1" dirty="0">
                  <a:latin typeface="Tahoma" panose="020B0604030504040204" pitchFamily="34" charset="0"/>
                </a:rPr>
                <a:t>  方式2</a:t>
              </a: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9225" name="Line 20"/>
            <p:cNvSpPr/>
            <p:nvPr>
              <p:custDataLst>
                <p:tags r:id="rId13"/>
              </p:custDataLst>
            </p:nvPr>
          </p:nvSpPr>
          <p:spPr>
            <a:xfrm flipV="1">
              <a:off x="2214546" y="3327054"/>
              <a:ext cx="0" cy="6096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9226" name="Line 20"/>
            <p:cNvSpPr/>
            <p:nvPr>
              <p:custDataLst>
                <p:tags r:id="rId14"/>
              </p:custDataLst>
            </p:nvPr>
          </p:nvSpPr>
          <p:spPr>
            <a:xfrm flipV="1">
              <a:off x="3071802" y="3327054"/>
              <a:ext cx="0" cy="6096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</p:grpSp>
      <p:grpSp>
        <p:nvGrpSpPr>
          <p:cNvPr id="13" name="组合 49"/>
          <p:cNvGrpSpPr/>
          <p:nvPr/>
        </p:nvGrpSpPr>
        <p:grpSpPr>
          <a:xfrm>
            <a:off x="3500438" y="3399155"/>
            <a:ext cx="1143000" cy="1887538"/>
            <a:chOff x="3500430" y="3327054"/>
            <a:chExt cx="1143008" cy="1887896"/>
          </a:xfrm>
        </p:grpSpPr>
        <p:sp>
          <p:nvSpPr>
            <p:cNvPr id="9228" name="Rectangle 74"/>
            <p:cNvSpPr/>
            <p:nvPr>
              <p:custDataLst>
                <p:tags r:id="rId15"/>
              </p:custDataLst>
            </p:nvPr>
          </p:nvSpPr>
          <p:spPr>
            <a:xfrm>
              <a:off x="3500430" y="3929066"/>
              <a:ext cx="1143008" cy="1285884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端口</a:t>
              </a:r>
              <a:r>
                <a:rPr lang="en-US" altLang="zh-CN" b="1" dirty="0">
                  <a:latin typeface="Tahoma" panose="020B0604030504040204" pitchFamily="34" charset="0"/>
                </a:rPr>
                <a:t>A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1  输入</a:t>
              </a:r>
              <a:endParaRPr lang="zh-CN" altLang="en-US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0  输出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9229" name="Line 20"/>
            <p:cNvSpPr/>
            <p:nvPr>
              <p:custDataLst>
                <p:tags r:id="rId16"/>
              </p:custDataLst>
            </p:nvPr>
          </p:nvSpPr>
          <p:spPr>
            <a:xfrm flipV="1">
              <a:off x="4071934" y="3327054"/>
              <a:ext cx="0" cy="6096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</p:grpSp>
      <p:grpSp>
        <p:nvGrpSpPr>
          <p:cNvPr id="14" name="组合 50"/>
          <p:cNvGrpSpPr/>
          <p:nvPr/>
        </p:nvGrpSpPr>
        <p:grpSpPr>
          <a:xfrm>
            <a:off x="3071813" y="3399155"/>
            <a:ext cx="2271712" cy="3240088"/>
            <a:chOff x="3071802" y="3327054"/>
            <a:chExt cx="2271714" cy="3240448"/>
          </a:xfrm>
        </p:grpSpPr>
        <p:sp>
          <p:nvSpPr>
            <p:cNvPr id="9231" name="Rectangle 75"/>
            <p:cNvSpPr/>
            <p:nvPr>
              <p:custDataLst>
                <p:tags r:id="rId17"/>
              </p:custDataLst>
            </p:nvPr>
          </p:nvSpPr>
          <p:spPr>
            <a:xfrm>
              <a:off x="3071802" y="5500702"/>
              <a:ext cx="2271714" cy="1066800"/>
            </a:xfrm>
            <a:prstGeom prst="rect">
              <a:avLst/>
            </a:prstGeom>
            <a:solidFill>
              <a:srgbClr val="FFFF00"/>
            </a:solidFill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端口</a:t>
              </a:r>
              <a:r>
                <a:rPr lang="en-US" altLang="zh-CN" sz="2000" b="1" dirty="0">
                  <a:latin typeface="Tahoma" panose="020B0604030504040204" pitchFamily="34" charset="0"/>
                </a:rPr>
                <a:t>C（</a:t>
              </a:r>
              <a:r>
                <a:rPr lang="zh-CN" altLang="en-US" sz="2000" b="1" dirty="0">
                  <a:latin typeface="Tahoma" panose="020B0604030504040204" pitchFamily="34" charset="0"/>
                </a:rPr>
                <a:t>高半部）</a:t>
              </a:r>
              <a:endParaRPr lang="zh-CN" altLang="en-US" sz="2000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1  输入</a:t>
              </a:r>
              <a:endParaRPr lang="zh-CN" altLang="en-US" sz="2000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0  输出</a:t>
              </a: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9232" name="Line 20"/>
            <p:cNvSpPr/>
            <p:nvPr>
              <p:custDataLst>
                <p:tags r:id="rId18"/>
              </p:custDataLst>
            </p:nvPr>
          </p:nvSpPr>
          <p:spPr>
            <a:xfrm flipV="1">
              <a:off x="5000628" y="3327054"/>
              <a:ext cx="0" cy="21600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</p:grpSp>
      <p:grpSp>
        <p:nvGrpSpPr>
          <p:cNvPr id="15" name="组合 51"/>
          <p:cNvGrpSpPr/>
          <p:nvPr/>
        </p:nvGrpSpPr>
        <p:grpSpPr>
          <a:xfrm>
            <a:off x="5357813" y="3399155"/>
            <a:ext cx="1285875" cy="1897063"/>
            <a:chOff x="5357818" y="3327054"/>
            <a:chExt cx="1285884" cy="1897412"/>
          </a:xfrm>
        </p:grpSpPr>
        <p:sp>
          <p:nvSpPr>
            <p:cNvPr id="9234" name="Line 20"/>
            <p:cNvSpPr/>
            <p:nvPr>
              <p:custDataLst>
                <p:tags r:id="rId19"/>
              </p:custDataLst>
            </p:nvPr>
          </p:nvSpPr>
          <p:spPr>
            <a:xfrm flipV="1">
              <a:off x="5929322" y="3327054"/>
              <a:ext cx="0" cy="6096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  <p:sp>
          <p:nvSpPr>
            <p:cNvPr id="9235" name="Rectangle 88"/>
            <p:cNvSpPr/>
            <p:nvPr>
              <p:custDataLst>
                <p:tags r:id="rId20"/>
              </p:custDataLst>
            </p:nvPr>
          </p:nvSpPr>
          <p:spPr>
            <a:xfrm>
              <a:off x="5357818" y="3929066"/>
              <a:ext cx="1285884" cy="1295400"/>
            </a:xfrm>
            <a:prstGeom prst="rect">
              <a:avLst/>
            </a:prstGeom>
            <a:solidFill>
              <a:srgbClr val="00B0F0"/>
            </a:solidFill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端口</a:t>
              </a:r>
              <a:r>
                <a:rPr lang="en-US" altLang="zh-CN" sz="2000" b="1" dirty="0">
                  <a:latin typeface="Tahoma" panose="020B0604030504040204" pitchFamily="34" charset="0"/>
                </a:rPr>
                <a:t>B</a:t>
              </a:r>
              <a:r>
                <a:rPr lang="zh-CN" altLang="en-US" sz="2000" b="1" dirty="0">
                  <a:latin typeface="Tahoma" panose="020B0604030504040204" pitchFamily="34" charset="0"/>
                </a:rPr>
                <a:t>方式</a:t>
              </a:r>
              <a:endParaRPr lang="zh-CN" altLang="en-US" sz="2000" b="1" dirty="0">
                <a:latin typeface="Tahoma" panose="020B0604030504040204" pitchFamily="34" charset="0"/>
              </a:endParaRPr>
            </a:p>
            <a:p>
              <a:pPr algn="ctr">
                <a:spcBef>
                  <a:spcPct val="30000"/>
                </a:spcBef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0 方式0</a:t>
              </a:r>
              <a:endParaRPr lang="zh-CN" altLang="en-US" sz="2000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</a:rPr>
                <a:t>1  方式1</a:t>
              </a: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</p:grpSp>
      <p:sp>
        <p:nvSpPr>
          <p:cNvPr id="38" name="Rectangle 90"/>
          <p:cNvSpPr/>
          <p:nvPr>
            <p:custDataLst>
              <p:tags r:id="rId21"/>
            </p:custDataLst>
          </p:nvPr>
        </p:nvSpPr>
        <p:spPr>
          <a:xfrm>
            <a:off x="6072188" y="5572443"/>
            <a:ext cx="2214562" cy="1071562"/>
          </a:xfrm>
          <a:prstGeom prst="rect">
            <a:avLst/>
          </a:prstGeom>
          <a:solidFill>
            <a:srgbClr val="FFFF00"/>
          </a:solidFill>
          <a:ln w="12700" cap="sq" cmpd="sng">
            <a:solidFill>
              <a:schemeClr val="tx2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zh-CN" altLang="en-US" sz="2000" b="1" dirty="0">
                <a:latin typeface="Tahoma" panose="020B0604030504040204" pitchFamily="34" charset="0"/>
              </a:rPr>
              <a:t>端口</a:t>
            </a:r>
            <a:r>
              <a:rPr lang="en-US" altLang="zh-CN" sz="2000" b="1" dirty="0">
                <a:latin typeface="Tahoma" panose="020B0604030504040204" pitchFamily="34" charset="0"/>
              </a:rPr>
              <a:t>C（</a:t>
            </a:r>
            <a:r>
              <a:rPr lang="zh-CN" altLang="en-US" sz="2000" b="1" dirty="0">
                <a:latin typeface="Tahoma" panose="020B0604030504040204" pitchFamily="34" charset="0"/>
              </a:rPr>
              <a:t>低半部）</a:t>
            </a:r>
            <a:endParaRPr lang="zh-CN" altLang="en-US" sz="2000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zh-CN" altLang="en-US" sz="2000" b="1" dirty="0">
                <a:latin typeface="Tahoma" panose="020B0604030504040204" pitchFamily="34" charset="0"/>
              </a:rPr>
              <a:t>1  输入</a:t>
            </a:r>
            <a:endParaRPr lang="zh-CN" altLang="en-US" sz="2000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zh-CN" altLang="en-US" sz="2000" b="1" dirty="0">
                <a:latin typeface="Tahoma" panose="020B0604030504040204" pitchFamily="34" charset="0"/>
              </a:rPr>
              <a:t>0  输出</a:t>
            </a:r>
            <a:endParaRPr lang="zh-CN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39" name="Line 20"/>
          <p:cNvSpPr/>
          <p:nvPr>
            <p:custDataLst>
              <p:tags r:id="rId22"/>
            </p:custDataLst>
          </p:nvPr>
        </p:nvSpPr>
        <p:spPr>
          <a:xfrm flipV="1">
            <a:off x="7929563" y="3399155"/>
            <a:ext cx="0" cy="2159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</p:spPr>
      </p:sp>
      <p:grpSp>
        <p:nvGrpSpPr>
          <p:cNvPr id="16" name="组合 52"/>
          <p:cNvGrpSpPr/>
          <p:nvPr/>
        </p:nvGrpSpPr>
        <p:grpSpPr>
          <a:xfrm>
            <a:off x="6643688" y="3399155"/>
            <a:ext cx="1071562" cy="1887538"/>
            <a:chOff x="6643702" y="3327054"/>
            <a:chExt cx="1071570" cy="1887896"/>
          </a:xfrm>
        </p:grpSpPr>
        <p:sp>
          <p:nvSpPr>
            <p:cNvPr id="9239" name="Rectangle 89"/>
            <p:cNvSpPr/>
            <p:nvPr>
              <p:custDataLst>
                <p:tags r:id="rId23"/>
              </p:custDataLst>
            </p:nvPr>
          </p:nvSpPr>
          <p:spPr>
            <a:xfrm>
              <a:off x="6643702" y="3929066"/>
              <a:ext cx="1071570" cy="1285884"/>
            </a:xfrm>
            <a:prstGeom prst="rect">
              <a:avLst/>
            </a:prstGeom>
            <a:solidFill>
              <a:srgbClr val="00B0F0"/>
            </a:solidFill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端口</a:t>
              </a:r>
              <a:r>
                <a:rPr lang="en-US" altLang="zh-CN" b="1" dirty="0">
                  <a:latin typeface="Tahoma" panose="020B0604030504040204" pitchFamily="34" charset="0"/>
                </a:rPr>
                <a:t>B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1  输入</a:t>
              </a:r>
              <a:endParaRPr lang="zh-CN" altLang="en-US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0  输出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9240" name="Line 20"/>
            <p:cNvSpPr/>
            <p:nvPr>
              <p:custDataLst>
                <p:tags r:id="rId24"/>
              </p:custDataLst>
            </p:nvPr>
          </p:nvSpPr>
          <p:spPr>
            <a:xfrm flipV="1">
              <a:off x="7000892" y="3327054"/>
              <a:ext cx="0" cy="6096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</p:grpSp>
      <p:grpSp>
        <p:nvGrpSpPr>
          <p:cNvPr id="17" name="组合 47"/>
          <p:cNvGrpSpPr/>
          <p:nvPr/>
        </p:nvGrpSpPr>
        <p:grpSpPr>
          <a:xfrm>
            <a:off x="1714500" y="2150745"/>
            <a:ext cx="3786505" cy="635635"/>
            <a:chOff x="1714480" y="1785926"/>
            <a:chExt cx="3786214" cy="928694"/>
          </a:xfrm>
        </p:grpSpPr>
        <p:sp>
          <p:nvSpPr>
            <p:cNvPr id="9242" name="TextBox 41"/>
            <p:cNvSpPr txBox="1"/>
            <p:nvPr>
              <p:custDataLst>
                <p:tags r:id="rId25"/>
              </p:custDataLst>
            </p:nvPr>
          </p:nvSpPr>
          <p:spPr>
            <a:xfrm>
              <a:off x="2905108" y="1785926"/>
              <a:ext cx="1511952" cy="7626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800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A</a:t>
              </a:r>
              <a:r>
                <a:rPr lang="zh-CN" altLang="en-US" sz="2800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组控制</a:t>
              </a:r>
              <a:endPara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243" name="左大括号 43"/>
            <p:cNvSpPr/>
            <p:nvPr>
              <p:custDataLst>
                <p:tags r:id="rId26"/>
              </p:custDataLst>
            </p:nvPr>
          </p:nvSpPr>
          <p:spPr>
            <a:xfrm rot="5400000">
              <a:off x="3428992" y="642918"/>
              <a:ext cx="357190" cy="3786214"/>
            </a:xfrm>
            <a:prstGeom prst="leftBrace">
              <a:avLst>
                <a:gd name="adj1" fmla="val 8048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18" name="组合 48"/>
          <p:cNvGrpSpPr/>
          <p:nvPr/>
        </p:nvGrpSpPr>
        <p:grpSpPr>
          <a:xfrm>
            <a:off x="5501005" y="2092960"/>
            <a:ext cx="2714625" cy="693420"/>
            <a:chOff x="5500694" y="1785926"/>
            <a:chExt cx="2714644" cy="928694"/>
          </a:xfrm>
        </p:grpSpPr>
        <p:sp>
          <p:nvSpPr>
            <p:cNvPr id="9245" name="TextBox 42"/>
            <p:cNvSpPr txBox="1"/>
            <p:nvPr>
              <p:custDataLst>
                <p:tags r:id="rId27"/>
              </p:custDataLst>
            </p:nvPr>
          </p:nvSpPr>
          <p:spPr>
            <a:xfrm>
              <a:off x="6150931" y="1785926"/>
              <a:ext cx="1513556" cy="6990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2800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B</a:t>
              </a:r>
              <a:r>
                <a:rPr lang="zh-CN" altLang="en-US" sz="2800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组控制</a:t>
              </a:r>
              <a:endPara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9246" name="左大括号 44"/>
            <p:cNvSpPr/>
            <p:nvPr>
              <p:custDataLst>
                <p:tags r:id="rId28"/>
              </p:custDataLst>
            </p:nvPr>
          </p:nvSpPr>
          <p:spPr>
            <a:xfrm rot="5400000">
              <a:off x="6679421" y="1178703"/>
              <a:ext cx="357190" cy="2714644"/>
            </a:xfrm>
            <a:prstGeom prst="leftBrace">
              <a:avLst>
                <a:gd name="adj1" fmla="val 8127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</p:grpSp>
      <p:sp>
        <p:nvSpPr>
          <p:cNvPr id="10243" name="矩形 59"/>
          <p:cNvSpPr/>
          <p:nvPr>
            <p:custDataLst>
              <p:tags r:id="rId29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19" name="Rectangle 4"/>
          <p:cNvSpPr/>
          <p:nvPr>
            <p:custDataLst>
              <p:tags r:id="rId30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2.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的控制字与初始化编程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6"/>
          <p:cNvSpPr/>
          <p:nvPr>
            <p:custDataLst>
              <p:tags r:id="rId1"/>
            </p:custDataLst>
          </p:nvPr>
        </p:nvSpPr>
        <p:spPr>
          <a:xfrm>
            <a:off x="323215" y="1916113"/>
            <a:ext cx="6705600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lIns="92075" tIns="46038" rIns="92075" bIns="46038" anchor="t" anchorCtr="0"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Tx/>
            </a:pP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端口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置位/复位</a:t>
            </a:r>
            <a:r>
              <a:rPr lang="zh-CN" altLang="en-US" b="1">
                <a:solidFill>
                  <a:srgbClr val="0000FF"/>
                </a:solidFill>
                <a:sym typeface="+mn-ea"/>
              </a:rPr>
              <a:t>控制字</a:t>
            </a:r>
            <a:endParaRPr lang="zh-CN" altLang="en-US" b="1" dirty="0">
              <a:solidFill>
                <a:srgbClr val="0000FF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19" name="Rectangle 4"/>
          <p:cNvSpPr/>
          <p:nvPr>
            <p:custDataLst>
              <p:tags r:id="rId3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2.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的控制字与初始化编程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500351" y="2432672"/>
            <a:ext cx="7500990" cy="595314"/>
            <a:chOff x="576" y="2112"/>
            <a:chExt cx="2688" cy="192"/>
          </a:xfrm>
          <a:solidFill>
            <a:srgbClr val="FFFFCC"/>
          </a:solidFill>
        </p:grpSpPr>
        <p:sp>
          <p:nvSpPr>
            <p:cNvPr id="4" name="Rectangle 1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76" y="2112"/>
              <a:ext cx="336" cy="192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zh-CN" altLang="en-US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7</a:t>
              </a:r>
              <a:endParaRPr kumimoji="1" lang="zh-CN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Rectangle 1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12" y="2112"/>
              <a:ext cx="336" cy="19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Rectangle 1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928" y="2112"/>
              <a:ext cx="336" cy="192"/>
            </a:xfrm>
            <a:prstGeom prst="rect">
              <a:avLst/>
            </a:prstGeom>
            <a:solidFill>
              <a:srgbClr val="FF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0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Rectangle 1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592" y="2112"/>
              <a:ext cx="336" cy="192"/>
            </a:xfrm>
            <a:prstGeom prst="rect">
              <a:avLst/>
            </a:prstGeom>
            <a:solidFill>
              <a:srgbClr val="00B0F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256" y="2112"/>
              <a:ext cx="336" cy="192"/>
            </a:xfrm>
            <a:prstGeom prst="rect">
              <a:avLst/>
            </a:prstGeom>
            <a:solidFill>
              <a:srgbClr val="00B0F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920" y="2112"/>
              <a:ext cx="336" cy="192"/>
            </a:xfrm>
            <a:prstGeom prst="rect">
              <a:avLst/>
            </a:prstGeom>
            <a:solidFill>
              <a:srgbClr val="00B0F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Rectangle 1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584" y="2112"/>
              <a:ext cx="336" cy="19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Rectangle 18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248" y="2112"/>
              <a:ext cx="336" cy="192"/>
            </a:xfrm>
            <a:prstGeom prst="rect">
              <a:avLst/>
            </a:prstGeom>
            <a:grp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rPr>
                <a:t>×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" name="组合 46"/>
          <p:cNvGrpSpPr/>
          <p:nvPr/>
        </p:nvGrpSpPr>
        <p:grpSpPr>
          <a:xfrm>
            <a:off x="323848" y="3045460"/>
            <a:ext cx="1377950" cy="1391920"/>
            <a:chOff x="609253" y="3327054"/>
            <a:chExt cx="1377959" cy="1391930"/>
          </a:xfrm>
        </p:grpSpPr>
        <p:sp>
          <p:nvSpPr>
            <p:cNvPr id="10244" name="Text Box 98"/>
            <p:cNvSpPr txBox="1"/>
            <p:nvPr>
              <p:custDataLst>
                <p:tags r:id="rId12"/>
              </p:custDataLst>
            </p:nvPr>
          </p:nvSpPr>
          <p:spPr>
            <a:xfrm>
              <a:off x="609253" y="4000794"/>
              <a:ext cx="1377959" cy="71819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anchor="t" anchorCtr="0">
              <a:spAutoFit/>
            </a:bodyPr>
            <a:p>
              <a:pPr algn="ctr">
                <a:lnSpc>
                  <a:spcPct val="60000"/>
                </a:lnSpc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D7=0</a:t>
              </a:r>
              <a:endParaRPr lang="en-US" altLang="zh-CN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  <a:p>
              <a:pPr algn="ctr">
                <a:lnSpc>
                  <a:spcPct val="60000"/>
                </a:lnSpc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标志位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10245" name="Line 20"/>
            <p:cNvSpPr/>
            <p:nvPr>
              <p:custDataLst>
                <p:tags r:id="rId13"/>
              </p:custDataLst>
            </p:nvPr>
          </p:nvSpPr>
          <p:spPr>
            <a:xfrm flipV="1">
              <a:off x="1285852" y="3327054"/>
              <a:ext cx="0" cy="60960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round/>
              <a:headEnd type="none" w="sm" len="sm"/>
              <a:tailEnd type="triangle" w="lg" len="lg"/>
            </a:ln>
          </p:spPr>
        </p:sp>
      </p:grpSp>
      <p:grpSp>
        <p:nvGrpSpPr>
          <p:cNvPr id="12" name="组合 48"/>
          <p:cNvGrpSpPr/>
          <p:nvPr/>
        </p:nvGrpSpPr>
        <p:grpSpPr>
          <a:xfrm>
            <a:off x="6572568" y="3045460"/>
            <a:ext cx="2357437" cy="1673225"/>
            <a:chOff x="6500826" y="2755550"/>
            <a:chExt cx="2357454" cy="1673582"/>
          </a:xfrm>
        </p:grpSpPr>
        <p:sp>
          <p:nvSpPr>
            <p:cNvPr id="10247" name="Rectangle 90"/>
            <p:cNvSpPr/>
            <p:nvPr>
              <p:custDataLst>
                <p:tags r:id="rId14"/>
              </p:custDataLst>
            </p:nvPr>
          </p:nvSpPr>
          <p:spPr>
            <a:xfrm>
              <a:off x="6500826" y="3357562"/>
              <a:ext cx="2357454" cy="1071570"/>
            </a:xfrm>
            <a:prstGeom prst="rect">
              <a:avLst/>
            </a:prstGeom>
            <a:solidFill>
              <a:schemeClr val="bg1"/>
            </a:solidFill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端口</a:t>
              </a:r>
              <a:r>
                <a:rPr lang="en-US" altLang="zh-CN" b="1" dirty="0">
                  <a:latin typeface="Tahoma" panose="020B0604030504040204" pitchFamily="34" charset="0"/>
                </a:rPr>
                <a:t>C</a:t>
              </a:r>
              <a:r>
                <a:rPr lang="zh-CN" altLang="en-US" b="1" dirty="0">
                  <a:latin typeface="Tahoma" panose="020B0604030504040204" pitchFamily="34" charset="0"/>
                </a:rPr>
                <a:t>置位/复位</a:t>
              </a:r>
              <a:endParaRPr lang="zh-CN" altLang="en-US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1 置位</a:t>
              </a:r>
              <a:endParaRPr lang="zh-CN" altLang="en-US" b="1" dirty="0">
                <a:latin typeface="Tahoma" panose="020B0604030504040204" pitchFamily="34" charset="0"/>
              </a:endParaRPr>
            </a:p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0  复位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10248" name="Line 20"/>
            <p:cNvSpPr/>
            <p:nvPr>
              <p:custDataLst>
                <p:tags r:id="rId15"/>
              </p:custDataLst>
            </p:nvPr>
          </p:nvSpPr>
          <p:spPr>
            <a:xfrm flipV="1">
              <a:off x="7500958" y="2755550"/>
              <a:ext cx="0" cy="60960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round/>
              <a:headEnd type="none" w="sm" len="sm"/>
              <a:tailEnd type="triangle" w="lg" len="lg"/>
            </a:ln>
          </p:spPr>
        </p:sp>
      </p:grpSp>
      <p:grpSp>
        <p:nvGrpSpPr>
          <p:cNvPr id="13" name="组合 49"/>
          <p:cNvGrpSpPr/>
          <p:nvPr/>
        </p:nvGrpSpPr>
        <p:grpSpPr>
          <a:xfrm>
            <a:off x="4286568" y="3075623"/>
            <a:ext cx="2786062" cy="3687446"/>
            <a:chOff x="4214810" y="2786058"/>
            <a:chExt cx="2786082" cy="3687472"/>
          </a:xfrm>
        </p:grpSpPr>
        <p:sp>
          <p:nvSpPr>
            <p:cNvPr id="10250" name="左大括号 43"/>
            <p:cNvSpPr/>
            <p:nvPr>
              <p:custDataLst>
                <p:tags r:id="rId16"/>
              </p:custDataLst>
            </p:nvPr>
          </p:nvSpPr>
          <p:spPr>
            <a:xfrm rot="-5400000">
              <a:off x="5429256" y="1571612"/>
              <a:ext cx="357190" cy="2786082"/>
            </a:xfrm>
            <a:prstGeom prst="leftBrace">
              <a:avLst>
                <a:gd name="adj1" fmla="val 8125"/>
                <a:gd name="adj2" fmla="val 50000"/>
              </a:avLst>
            </a:prstGeom>
            <a:noFill/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0251" name="Rectangle 88"/>
            <p:cNvSpPr/>
            <p:nvPr>
              <p:custDataLst>
                <p:tags r:id="rId17"/>
              </p:custDataLst>
            </p:nvPr>
          </p:nvSpPr>
          <p:spPr>
            <a:xfrm>
              <a:off x="4357686" y="3358198"/>
              <a:ext cx="2071385" cy="3115332"/>
            </a:xfrm>
            <a:prstGeom prst="rect">
              <a:avLst/>
            </a:prstGeom>
            <a:solidFill>
              <a:schemeClr val="bg1"/>
            </a:solidFill>
            <a:ln w="12700" cap="sq" cmpd="sng">
              <a:solidFill>
                <a:schemeClr val="tx2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lnSpc>
                  <a:spcPct val="50000"/>
                </a:lnSpc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端口</a:t>
              </a:r>
              <a:r>
                <a:rPr lang="en-US" altLang="zh-CN" b="1" dirty="0">
                  <a:latin typeface="Tahoma" panose="020B0604030504040204" pitchFamily="34" charset="0"/>
                </a:rPr>
                <a:t>C</a:t>
              </a:r>
              <a:r>
                <a:rPr lang="zh-CN" altLang="en-US" b="1" dirty="0">
                  <a:latin typeface="Tahoma" panose="020B0604030504040204" pitchFamily="34" charset="0"/>
                </a:rPr>
                <a:t>位选择</a:t>
              </a:r>
              <a:endParaRPr lang="zh-CN" altLang="en-US" b="1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000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0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3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001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1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3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010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2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3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011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3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3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100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4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3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101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5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3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110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6</a:t>
              </a:r>
              <a:endParaRPr lang="en-US" altLang="zh-CN" b="1" baseline="-25000" dirty="0">
                <a:latin typeface="Tahoma" panose="020B0604030504040204" pitchFamily="34" charset="0"/>
              </a:endParaRPr>
            </a:p>
            <a:p>
              <a:pPr algn="ctr">
                <a:lnSpc>
                  <a:spcPct val="50000"/>
                </a:lnSpc>
                <a:spcBef>
                  <a:spcPct val="3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111    </a:t>
              </a:r>
              <a:r>
                <a:rPr lang="en-US" altLang="zh-CN" b="1" dirty="0">
                  <a:latin typeface="Tahoma" panose="020B0604030504040204" pitchFamily="34" charset="0"/>
                </a:rPr>
                <a:t>PC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7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79201"/>
          <p:cNvSpPr>
            <a:spLocks noGrp="1"/>
          </p:cNvSpPr>
          <p:nvPr>
            <p:ph type="title"/>
          </p:nvPr>
        </p:nvSpPr>
        <p:spPr>
          <a:xfrm>
            <a:off x="830580" y="508635"/>
            <a:ext cx="8113395" cy="678815"/>
          </a:xfrm>
        </p:spPr>
        <p:txBody>
          <a:bodyPr anchor="ctr" anchorCtr="0"/>
          <a:p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举例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写入方式控制字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746" name="文本占位符 179202"/>
          <p:cNvSpPr>
            <a:spLocks noGrp="1"/>
          </p:cNvSpPr>
          <p:nvPr>
            <p:ph idx="1"/>
          </p:nvPr>
        </p:nvSpPr>
        <p:spPr>
          <a:xfrm>
            <a:off x="417513" y="1493203"/>
            <a:ext cx="8401050" cy="5253037"/>
          </a:xfrm>
        </p:spPr>
        <p:txBody>
          <a:bodyPr anchor="t" anchorCtr="0"/>
          <a:p>
            <a:pPr defTabSz="914400">
              <a:tabLst>
                <a:tab pos="3714750" algn="l"/>
              </a:tabLst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端口：方式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输入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端口上半部：输出，</a:t>
            </a:r>
            <a:r>
              <a:rPr lang="en-US" altLang="zh-CN" sz="2400" b="1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口下半部：输入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端口：方式</a:t>
            </a:r>
            <a:r>
              <a:rPr lang="en-US" altLang="zh-CN" sz="2400" b="1">
                <a:latin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宋体" panose="02010600030101010101" pitchFamily="2" charset="-122"/>
              </a:rPr>
              <a:t>输出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和控制口地址：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FFF8H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FFFAH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FFFCH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F</a:t>
            </a:r>
            <a:r>
              <a:rPr lang="en-US" altLang="zh-CN" sz="2400" b="1" dirty="0">
                <a:latin typeface="宋体" panose="02010600030101010101" pitchFamily="2" charset="-122"/>
              </a:rPr>
              <a:t>FFEH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defTabSz="914400">
              <a:tabLst>
                <a:tab pos="3714750" algn="l"/>
              </a:tabLst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方式控制字：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>
              <a:buNone/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      10110001B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B1H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tabLst>
                <a:tab pos="3714750" algn="l"/>
              </a:tabLst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初始化的程序段：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buNone/>
              <a:tabLst>
                <a:tab pos="3714750" algn="l"/>
              </a:tabLst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400" b="1" err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400" b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dx,</a:t>
            </a:r>
            <a:r>
              <a:rPr lang="en-US" altLang="zh-CN" sz="2400" b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0fffeh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；控制端口为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FFFEH</a:t>
            </a:r>
            <a:endParaRPr lang="en-US" altLang="zh-CN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buNone/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400" b="1" err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mov</a:t>
            </a:r>
            <a:r>
              <a:rPr lang="en-US" altLang="zh-CN" sz="2400" b="1">
                <a:solidFill>
                  <a:srgbClr val="00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al,</a:t>
            </a:r>
            <a:r>
              <a:rPr lang="en-US" altLang="zh-CN" sz="2400" b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0b1h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；方式控制字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914400">
              <a:buNone/>
              <a:tabLst>
                <a:tab pos="3714750" algn="l"/>
              </a:tabLst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400" b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 </a:t>
            </a:r>
            <a:r>
              <a:rPr lang="en-US" altLang="zh-CN" sz="2400" b="1" err="1">
                <a:solidFill>
                  <a:srgbClr val="66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dx,al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；送到控制端口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95605" y="3429000"/>
            <a:ext cx="7128510" cy="2720340"/>
          </a:xfrm>
          <a:prstGeom prst="round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48935" y="44450"/>
            <a:ext cx="3695065" cy="18548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3种工作方式</a:t>
            </a:r>
            <a:endParaRPr lang="en-US" altLang="zh-CN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78485" y="1908175"/>
            <a:ext cx="56375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）方式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：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基本输入输出方式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8485" y="2823845"/>
            <a:ext cx="73888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ea"/>
              </a:rPr>
              <a:t>适用于无条件传送和查询方式的接口电路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8485" y="2368550"/>
            <a:ext cx="659257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/>
              <a:t>端口 A、B、C 均可以工作在方式 0</a:t>
            </a:r>
            <a:endParaRPr lang="zh-CN" altLang="en-US" b="1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611505" y="3289300"/>
            <a:ext cx="73888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sym typeface="+mn-ea"/>
              </a:rPr>
              <a:t>输入时只对数据缓冲，输出时对数据锁存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3种工作方式</a:t>
            </a:r>
            <a:endParaRPr lang="en-US" altLang="zh-CN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78485" y="1908175"/>
            <a:ext cx="56375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）方式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：单向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选通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输入输出方式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8485" y="3110865"/>
            <a:ext cx="73888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ea"/>
              </a:rPr>
              <a:t>适用于查询和中断方式的接口电路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8485" y="2296795"/>
            <a:ext cx="79629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/>
              <a:t>端口 A、B可以工作在方式</a:t>
            </a:r>
            <a:r>
              <a:rPr lang="en-US" altLang="zh-CN" b="1"/>
              <a:t>1</a:t>
            </a:r>
            <a:r>
              <a:rPr lang="zh-CN" altLang="en-US" b="1"/>
              <a:t>，利用端口</a:t>
            </a:r>
            <a:r>
              <a:rPr lang="en-US" altLang="zh-CN" b="1"/>
              <a:t>C</a:t>
            </a:r>
            <a:r>
              <a:rPr lang="zh-CN" altLang="en-US" b="1"/>
              <a:t>的某些位为选通信号</a:t>
            </a:r>
            <a:endParaRPr lang="zh-CN" altLang="en-US" b="1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78485" y="3576320"/>
            <a:ext cx="73888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sym typeface="+mn-ea"/>
              </a:rPr>
              <a:t>输入输出时对数据锁存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3种工作方式</a:t>
            </a:r>
            <a:endParaRPr lang="en-US" altLang="zh-CN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78485" y="1908175"/>
            <a:ext cx="67125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）方式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：单向选通输入输出方式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输入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24485" y="2380615"/>
            <a:ext cx="3404870" cy="4267200"/>
            <a:chOff x="398" y="3749"/>
            <a:chExt cx="5362" cy="6720"/>
          </a:xfrm>
        </p:grpSpPr>
        <p:grpSp>
          <p:nvGrpSpPr>
            <p:cNvPr id="3" name="Group 11"/>
            <p:cNvGrpSpPr/>
            <p:nvPr/>
          </p:nvGrpSpPr>
          <p:grpSpPr>
            <a:xfrm>
              <a:off x="1080" y="3749"/>
              <a:ext cx="4680" cy="6720"/>
              <a:chOff x="3312" y="1248"/>
              <a:chExt cx="1872" cy="2688"/>
            </a:xfrm>
          </p:grpSpPr>
          <p:sp>
            <p:nvSpPr>
              <p:cNvPr id="19461" name="Rectangle 12"/>
              <p:cNvSpPr/>
              <p:nvPr>
                <p:custDataLst>
                  <p:tags r:id="rId4"/>
                </p:custDataLst>
              </p:nvPr>
            </p:nvSpPr>
            <p:spPr>
              <a:xfrm>
                <a:off x="3312" y="1296"/>
                <a:ext cx="864" cy="2640"/>
              </a:xfrm>
              <a:prstGeom prst="rect">
                <a:avLst/>
              </a:prstGeom>
              <a:noFill/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462" name="Group 13"/>
              <p:cNvGrpSpPr/>
              <p:nvPr/>
            </p:nvGrpSpPr>
            <p:grpSpPr>
              <a:xfrm>
                <a:off x="3360" y="1344"/>
                <a:ext cx="816" cy="1056"/>
                <a:chOff x="1296" y="2736"/>
                <a:chExt cx="768" cy="1104"/>
              </a:xfrm>
            </p:grpSpPr>
            <p:sp>
              <p:nvSpPr>
                <p:cNvPr id="19463" name="Rectangle 14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296" y="2736"/>
                  <a:ext cx="432" cy="288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INTE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A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64" name="Rectangle 1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776" y="3120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5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65" name="Rectangle 16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776" y="3312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4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66" name="Rectangle 17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776" y="3648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3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67" name="Line 1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440" y="3024"/>
                  <a:ext cx="0" cy="288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68" name="Line 1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584" y="3168"/>
                  <a:ext cx="192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69" name="Line 20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584" y="3168"/>
                  <a:ext cx="0" cy="144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70" name="Line 21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88" y="3552"/>
                  <a:ext cx="0" cy="192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71" name="Line 2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8" y="3744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72" name="AutoShape 23"/>
                <p:cNvSpPr/>
                <p:nvPr>
                  <p:custDataLst>
                    <p:tags r:id="rId14"/>
                  </p:custDataLst>
                </p:nvPr>
              </p:nvSpPr>
              <p:spPr>
                <a:xfrm rot="5400000">
                  <a:off x="1356" y="3300"/>
                  <a:ext cx="288" cy="216"/>
                </a:xfrm>
                <a:prstGeom prst="flowChartDelay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9473" name="Rectangle 24"/>
              <p:cNvSpPr/>
              <p:nvPr>
                <p:custDataLst>
                  <p:tags r:id="rId15"/>
                </p:custDataLst>
              </p:nvPr>
            </p:nvSpPr>
            <p:spPr>
              <a:xfrm>
                <a:off x="3936" y="1440"/>
                <a:ext cx="192" cy="1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A</a:t>
                </a:r>
                <a:r>
                  <a:rPr lang="zh-CN" altLang="en-US" sz="1800" b="1" dirty="0">
                    <a:latin typeface="Tahoma" panose="020B0604030504040204" pitchFamily="34" charset="0"/>
                  </a:rPr>
                  <a:t>口</a:t>
                </a:r>
                <a:endParaRPr lang="zh-CN" altLang="en-US" sz="18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74" name="Line 25"/>
              <p:cNvSpPr/>
              <p:nvPr>
                <p:custDataLst>
                  <p:tags r:id="rId16"/>
                </p:custDataLst>
              </p:nvPr>
            </p:nvSpPr>
            <p:spPr>
              <a:xfrm>
                <a:off x="4224" y="1824"/>
                <a:ext cx="288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lg"/>
                <a:tailEnd type="triangle" w="med" len="med"/>
              </a:ln>
            </p:spPr>
          </p:sp>
          <p:sp>
            <p:nvSpPr>
              <p:cNvPr id="19475" name="Line 26"/>
              <p:cNvSpPr/>
              <p:nvPr>
                <p:custDataLst>
                  <p:tags r:id="rId17"/>
                </p:custDataLst>
              </p:nvPr>
            </p:nvSpPr>
            <p:spPr>
              <a:xfrm flipH="1">
                <a:off x="4176" y="2016"/>
                <a:ext cx="288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476" name="Line 27"/>
              <p:cNvSpPr/>
              <p:nvPr>
                <p:custDataLst>
                  <p:tags r:id="rId18"/>
                </p:custDataLst>
              </p:nvPr>
            </p:nvSpPr>
            <p:spPr>
              <a:xfrm>
                <a:off x="4224" y="2352"/>
                <a:ext cx="288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477" name="AutoShape 28"/>
              <p:cNvSpPr/>
              <p:nvPr>
                <p:custDataLst>
                  <p:tags r:id="rId19"/>
                </p:custDataLst>
              </p:nvPr>
            </p:nvSpPr>
            <p:spPr>
              <a:xfrm rot="10800000">
                <a:off x="4176" y="1488"/>
                <a:ext cx="480" cy="192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rgbClr val="FFFFCC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78" name="Text Box 29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4368" y="1248"/>
                <a:ext cx="768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PA</a:t>
                </a:r>
                <a:r>
                  <a:rPr lang="en-US" altLang="zh-CN" sz="1800" b="1" baseline="-10000" dirty="0">
                    <a:latin typeface="Tahoma" panose="020B0604030504040204" pitchFamily="34" charset="0"/>
                  </a:rPr>
                  <a:t>7</a:t>
                </a:r>
                <a:r>
                  <a:rPr lang="en-US" altLang="zh-CN" sz="1800" b="1" dirty="0">
                    <a:latin typeface="Tahoma" panose="020B0604030504040204" pitchFamily="34" charset="0"/>
                  </a:rPr>
                  <a:t>~PA</a:t>
                </a:r>
                <a:r>
                  <a:rPr lang="en-US" altLang="zh-CN" sz="1800" b="1" baseline="-18000" dirty="0">
                    <a:latin typeface="Tahoma" panose="020B0604030504040204" pitchFamily="34" charset="0"/>
                  </a:rPr>
                  <a:t>0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479" name="Group 30"/>
              <p:cNvGrpSpPr/>
              <p:nvPr/>
            </p:nvGrpSpPr>
            <p:grpSpPr>
              <a:xfrm>
                <a:off x="4512" y="1920"/>
                <a:ext cx="576" cy="231"/>
                <a:chOff x="1632" y="2592"/>
                <a:chExt cx="480" cy="231"/>
              </a:xfrm>
            </p:grpSpPr>
            <p:sp>
              <p:nvSpPr>
                <p:cNvPr id="19480" name="Text Box 31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1632" y="2592"/>
                  <a:ext cx="480" cy="2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1800" b="1" dirty="0">
                      <a:latin typeface="Tahoma" panose="020B0604030504040204" pitchFamily="34" charset="0"/>
                    </a:rPr>
                    <a:t>STB</a:t>
                  </a:r>
                  <a:r>
                    <a:rPr lang="en-US" altLang="zh-CN" sz="1800" b="1" baseline="-25000" dirty="0">
                      <a:latin typeface="Tahoma" panose="020B0604030504040204" pitchFamily="34" charset="0"/>
                    </a:rPr>
                    <a:t>A</a:t>
                  </a:r>
                  <a:endParaRPr lang="zh-CN" altLang="en-US" sz="18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81" name="Line 32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680" y="2640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</p:grpSp>
          <p:sp>
            <p:nvSpPr>
              <p:cNvPr id="19482" name="Text Box 33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4512" y="1728"/>
                <a:ext cx="528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IBF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A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83" name="Text Box 34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4464" y="2208"/>
                <a:ext cx="672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INTR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A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484" name="Group 35"/>
              <p:cNvGrpSpPr/>
              <p:nvPr/>
            </p:nvGrpSpPr>
            <p:grpSpPr>
              <a:xfrm>
                <a:off x="3360" y="2544"/>
                <a:ext cx="816" cy="1008"/>
                <a:chOff x="1296" y="2736"/>
                <a:chExt cx="768" cy="1104"/>
              </a:xfrm>
            </p:grpSpPr>
            <p:sp>
              <p:nvSpPr>
                <p:cNvPr id="19485" name="Rectangle 36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296" y="2736"/>
                  <a:ext cx="432" cy="288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INTE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B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86" name="Rectangle 37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776" y="3120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1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87" name="Rectangle 38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776" y="3312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2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88" name="Rectangle 39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776" y="3648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0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489" name="Line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440" y="3024"/>
                  <a:ext cx="0" cy="288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90" name="Line 41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1584" y="3168"/>
                  <a:ext cx="192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91" name="Line 42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584" y="3168"/>
                  <a:ext cx="0" cy="144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92" name="Line 43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488" y="3552"/>
                  <a:ext cx="0" cy="192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93" name="Line 44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488" y="3744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494" name="AutoShape 45"/>
                <p:cNvSpPr/>
                <p:nvPr>
                  <p:custDataLst>
                    <p:tags r:id="rId34"/>
                  </p:custDataLst>
                </p:nvPr>
              </p:nvSpPr>
              <p:spPr>
                <a:xfrm rot="5400000">
                  <a:off x="1356" y="3300"/>
                  <a:ext cx="288" cy="216"/>
                </a:xfrm>
                <a:prstGeom prst="flowChartDelay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9495" name="Line 46"/>
              <p:cNvSpPr/>
              <p:nvPr>
                <p:custDataLst>
                  <p:tags r:id="rId35"/>
                </p:custDataLst>
              </p:nvPr>
            </p:nvSpPr>
            <p:spPr>
              <a:xfrm>
                <a:off x="4224" y="2976"/>
                <a:ext cx="336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lg"/>
                <a:tailEnd type="triangle" w="med" len="med"/>
              </a:ln>
            </p:spPr>
          </p:sp>
          <p:sp>
            <p:nvSpPr>
              <p:cNvPr id="19496" name="Line 47"/>
              <p:cNvSpPr/>
              <p:nvPr>
                <p:custDataLst>
                  <p:tags r:id="rId36"/>
                </p:custDataLst>
              </p:nvPr>
            </p:nvSpPr>
            <p:spPr>
              <a:xfrm flipH="1">
                <a:off x="4176" y="3168"/>
                <a:ext cx="336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497" name="Line 48"/>
              <p:cNvSpPr/>
              <p:nvPr>
                <p:custDataLst>
                  <p:tags r:id="rId37"/>
                </p:custDataLst>
              </p:nvPr>
            </p:nvSpPr>
            <p:spPr>
              <a:xfrm>
                <a:off x="4224" y="3504"/>
                <a:ext cx="384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498" name="AutoShape 49"/>
              <p:cNvSpPr/>
              <p:nvPr>
                <p:custDataLst>
                  <p:tags r:id="rId38"/>
                </p:custDataLst>
              </p:nvPr>
            </p:nvSpPr>
            <p:spPr>
              <a:xfrm rot="10800000">
                <a:off x="4176" y="2688"/>
                <a:ext cx="480" cy="192"/>
              </a:xfrm>
              <a:prstGeom prst="rightArrow">
                <a:avLst>
                  <a:gd name="adj1" fmla="val 50000"/>
                  <a:gd name="adj2" fmla="val 62500"/>
                </a:avLst>
              </a:prstGeom>
              <a:solidFill>
                <a:srgbClr val="FFFFCC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499" name="Text Box 50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4368" y="2448"/>
                <a:ext cx="806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PB</a:t>
                </a:r>
                <a:r>
                  <a:rPr lang="en-US" altLang="zh-CN" sz="1800" b="1" baseline="-10000" dirty="0">
                    <a:latin typeface="Tahoma" panose="020B0604030504040204" pitchFamily="34" charset="0"/>
                  </a:rPr>
                  <a:t>7</a:t>
                </a:r>
                <a:r>
                  <a:rPr lang="en-US" altLang="zh-CN" sz="1800" b="1" dirty="0">
                    <a:latin typeface="Tahoma" panose="020B0604030504040204" pitchFamily="34" charset="0"/>
                  </a:rPr>
                  <a:t>~PB</a:t>
                </a:r>
                <a:r>
                  <a:rPr lang="en-US" altLang="zh-CN" sz="1800" b="1" baseline="-18000" dirty="0">
                    <a:latin typeface="Tahoma" panose="020B0604030504040204" pitchFamily="34" charset="0"/>
                  </a:rPr>
                  <a:t>0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500" name="Group 51"/>
              <p:cNvGrpSpPr/>
              <p:nvPr/>
            </p:nvGrpSpPr>
            <p:grpSpPr>
              <a:xfrm>
                <a:off x="4512" y="3072"/>
                <a:ext cx="576" cy="231"/>
                <a:chOff x="1632" y="2592"/>
                <a:chExt cx="480" cy="231"/>
              </a:xfrm>
            </p:grpSpPr>
            <p:sp>
              <p:nvSpPr>
                <p:cNvPr id="19501" name="Text Box 52"/>
                <p:cNvSpPr txBox="1"/>
                <p:nvPr>
                  <p:custDataLst>
                    <p:tags r:id="rId40"/>
                  </p:custDataLst>
                </p:nvPr>
              </p:nvSpPr>
              <p:spPr>
                <a:xfrm>
                  <a:off x="1632" y="2592"/>
                  <a:ext cx="480" cy="231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1800" b="1" dirty="0">
                      <a:latin typeface="Tahoma" panose="020B0604030504040204" pitchFamily="34" charset="0"/>
                    </a:rPr>
                    <a:t>STB</a:t>
                  </a:r>
                  <a:r>
                    <a:rPr lang="en-US" altLang="zh-CN" sz="1800" b="1" baseline="-25000" dirty="0">
                      <a:latin typeface="Tahoma" panose="020B0604030504040204" pitchFamily="34" charset="0"/>
                    </a:rPr>
                    <a:t>B</a:t>
                  </a:r>
                  <a:endParaRPr lang="zh-CN" altLang="en-US" sz="18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02" name="Line 53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680" y="2640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03" name="Text Box 54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4560" y="2880"/>
                <a:ext cx="576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IBF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B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04" name="Text Box 55"/>
              <p:cNvSpPr txBox="1"/>
              <p:nvPr>
                <p:custDataLst>
                  <p:tags r:id="rId43"/>
                </p:custDataLst>
              </p:nvPr>
            </p:nvSpPr>
            <p:spPr>
              <a:xfrm>
                <a:off x="4608" y="3360"/>
                <a:ext cx="576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INTR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B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05" name="Rectangle 56"/>
              <p:cNvSpPr/>
              <p:nvPr>
                <p:custDataLst>
                  <p:tags r:id="rId44"/>
                </p:custDataLst>
              </p:nvPr>
            </p:nvSpPr>
            <p:spPr>
              <a:xfrm>
                <a:off x="3936" y="2688"/>
                <a:ext cx="192" cy="1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B</a:t>
                </a:r>
                <a:r>
                  <a:rPr lang="zh-CN" altLang="en-US" sz="1800" b="1" dirty="0">
                    <a:latin typeface="Tahoma" panose="020B0604030504040204" pitchFamily="34" charset="0"/>
                  </a:rPr>
                  <a:t>口</a:t>
                </a:r>
                <a:endParaRPr lang="zh-CN" altLang="en-US" sz="18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06" name="Rectangle 57"/>
              <p:cNvSpPr/>
              <p:nvPr>
                <p:custDataLst>
                  <p:tags r:id="rId45"/>
                </p:custDataLst>
              </p:nvPr>
            </p:nvSpPr>
            <p:spPr>
              <a:xfrm>
                <a:off x="4224" y="3696"/>
                <a:ext cx="740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PC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6</a:t>
                </a:r>
                <a:r>
                  <a:rPr lang="en-US" altLang="zh-CN" sz="1800" b="1" dirty="0">
                    <a:latin typeface="Tahoma" panose="020B0604030504040204" pitchFamily="34" charset="0"/>
                  </a:rPr>
                  <a:t>、PC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7</a:t>
                </a:r>
                <a:endParaRPr lang="zh-CN" altLang="en-US" sz="1800" b="1" baseline="-250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07" name="Line 58"/>
              <p:cNvSpPr/>
              <p:nvPr>
                <p:custDataLst>
                  <p:tags r:id="rId46"/>
                </p:custDataLst>
              </p:nvPr>
            </p:nvSpPr>
            <p:spPr>
              <a:xfrm>
                <a:off x="4176" y="3696"/>
                <a:ext cx="576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</p:grpSp>
        <p:sp>
          <p:nvSpPr>
            <p:cNvPr id="106" name="Rectangle 3"/>
            <p:cNvSpPr/>
            <p:nvPr>
              <p:custDataLst>
                <p:tags r:id="rId47"/>
              </p:custDataLst>
            </p:nvPr>
          </p:nvSpPr>
          <p:spPr>
            <a:xfrm>
              <a:off x="398" y="5624"/>
              <a:ext cx="793" cy="15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输</a:t>
              </a:r>
              <a:endParaRPr lang="en-US" altLang="zh-CN" b="1" dirty="0">
                <a:solidFill>
                  <a:schemeClr val="tx2"/>
                </a:solidFill>
                <a:latin typeface="Arial" panose="020B0604020202020204" pitchFamily="34" charset="0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入</a:t>
              </a:r>
              <a:endParaRPr lang="zh-CN" altLang="en-US" b="1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3796665" y="2378075"/>
            <a:ext cx="496125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50"/>
                </a:solidFill>
                <a:latin typeface="Times New Roman" panose="02020603050405020304" pitchFamily="18" charset="0"/>
                <a:sym typeface="+mn-ea"/>
              </a:rPr>
              <a:t>STB*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——</a:t>
            </a:r>
            <a:r>
              <a:rPr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sym typeface="+mn-ea"/>
              </a:rPr>
              <a:t>选通信号，低电平有效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由外设提供的输入信号，当其有效时，将输入设备送来的数据锁存至</a:t>
            </a:r>
            <a:r>
              <a:rPr lang="en-US" altLang="zh-CN" sz="2000" b="1">
                <a:sym typeface="+mn-ea"/>
              </a:rPr>
              <a:t>8255A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的输入锁存器</a:t>
            </a:r>
            <a:endParaRPr lang="zh-CN" altLang="en-US" sz="2000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6665" y="3670300"/>
            <a:ext cx="49307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IBF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——</a:t>
            </a:r>
            <a:r>
              <a:rPr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sym typeface="+mn-ea"/>
              </a:rPr>
              <a:t>输入缓冲器满信号，高电平有效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ym typeface="+mn-ea"/>
              </a:rPr>
              <a:t>8255A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输出的联络信号。当其有效时，表示数据已锁存在输入锁存器</a:t>
            </a:r>
            <a:endParaRPr lang="zh-CN" altLang="en-US" sz="2000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96665" y="4657725"/>
            <a:ext cx="49314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INTR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——</a:t>
            </a:r>
            <a:r>
              <a:rPr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sym typeface="+mn-ea"/>
              </a:rPr>
              <a:t>中断请求信号，高电平有效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ym typeface="+mn-ea"/>
              </a:rPr>
              <a:t>8255A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输出的信号，可用于向</a:t>
            </a:r>
            <a:r>
              <a:rPr lang="en-US" altLang="zh-CN" sz="2000" b="1">
                <a:sym typeface="+mn-ea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提出中断请求，要求</a:t>
            </a:r>
            <a:r>
              <a:rPr lang="en-US" altLang="zh-CN" sz="2000" b="1">
                <a:sym typeface="+mn-ea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读取外设数据</a:t>
            </a:r>
            <a:endParaRPr lang="zh-CN" altLang="en-US" sz="2000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96665" y="5674995"/>
            <a:ext cx="5040630" cy="1003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/>
            <a:r>
              <a:rPr lang="en-US" altLang="zh-CN" sz="2000" b="1">
                <a:solidFill>
                  <a:srgbClr val="00B050"/>
                </a:solidFill>
                <a:cs typeface="Tahoma" panose="020B0604030504040204" pitchFamily="34" charset="0"/>
                <a:sym typeface="+mn-ea"/>
              </a:rPr>
              <a:t>INTE</a:t>
            </a:r>
            <a:r>
              <a:rPr lang="en-US" altLang="zh-CN" sz="20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中断允许</a:t>
            </a:r>
            <a:r>
              <a:rPr lang="en-US" altLang="zh-CN" sz="2000" b="1">
                <a:solidFill>
                  <a:srgbClr val="00B050"/>
                </a:solidFill>
                <a:cs typeface="Tahoma" panose="020B0604030504040204" pitchFamily="34" charset="0"/>
                <a:sym typeface="+mn-ea"/>
              </a:rPr>
              <a:t>触发器，</a:t>
            </a:r>
            <a:r>
              <a:rPr lang="zh-CN" altLang="en-US" sz="1800" b="1">
                <a:solidFill>
                  <a:srgbClr val="FF0000"/>
                </a:solidFill>
                <a:cs typeface="Tahoma" panose="020B0604030504040204" pitchFamily="34" charset="0"/>
                <a:sym typeface="+mn-ea"/>
              </a:rPr>
              <a:t>无对应外部引脚</a:t>
            </a:r>
            <a:endParaRPr lang="en-US" altLang="zh-CN" sz="1800" b="1">
              <a:cs typeface="Tahoma" panose="020B0604030504040204" pitchFamily="34" charset="0"/>
              <a:sym typeface="+mn-e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置位允许中断，复位禁止中断</a:t>
            </a:r>
            <a:endParaRPr lang="zh-CN" altLang="en-US" sz="2000" dirty="0">
              <a:latin typeface="Times New Roman" panose="02020603050405020304" pitchFamily="18" charset="0"/>
              <a:sym typeface="+mn-e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cs typeface="Tahoma" panose="020B0604030504040204" pitchFamily="34" charset="0"/>
                <a:sym typeface="+mn-ea"/>
              </a:rPr>
              <a:t>INTE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A</a:t>
            </a:r>
            <a:r>
              <a:rPr lang="en-US" altLang="zh-CN" sz="2000" b="1">
                <a:cs typeface="Tahoma" panose="020B0604030504040204" pitchFamily="34" charset="0"/>
                <a:sym typeface="+mn-ea"/>
              </a:rPr>
              <a:t>对应PC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4</a:t>
            </a:r>
            <a:r>
              <a:rPr lang="en-US" altLang="zh-CN" sz="2000" b="1">
                <a:cs typeface="Tahoma" panose="020B0604030504040204" pitchFamily="34" charset="0"/>
                <a:sym typeface="+mn-ea"/>
              </a:rPr>
              <a:t>，INTE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B</a:t>
            </a:r>
            <a:r>
              <a:rPr lang="en-US" altLang="zh-CN" sz="2000" b="1">
                <a:cs typeface="Tahoma" panose="020B0604030504040204" pitchFamily="34" charset="0"/>
                <a:sym typeface="+mn-ea"/>
              </a:rPr>
              <a:t>对应PC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2</a:t>
            </a:r>
            <a:endParaRPr lang="en-US" altLang="zh-CN" sz="2000" b="1">
              <a:cs typeface="Tahoma" panose="020B0604030504040204" pitchFamily="34" charset="0"/>
            </a:endParaRPr>
          </a:p>
          <a:p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3种工作方式</a:t>
            </a:r>
            <a:endParaRPr lang="en-US" altLang="zh-CN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78485" y="1908175"/>
            <a:ext cx="6784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）方式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：单向选通输入输出方式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——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输出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96665" y="2378075"/>
            <a:ext cx="496125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OBF*——输出缓冲器满信号，低有效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ym typeface="+mn-ea"/>
              </a:rPr>
              <a:t>8255A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输出给外设的一个控制信号，当其有效时，表示</a:t>
            </a:r>
            <a:r>
              <a:rPr lang="en-US" altLang="zh-CN" sz="2000" b="1">
                <a:sym typeface="+mn-ea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已把数据输出给指定的端口，外设可以取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数据</a:t>
            </a:r>
            <a:endParaRPr lang="zh-CN" altLang="en-US" sz="2000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96665" y="3670300"/>
            <a:ext cx="49307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ACK*——响应信号，低有效</a:t>
            </a:r>
            <a:endParaRPr lang="en-US" altLang="zh-CN" sz="2000" b="1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外设取出数据后，发送给</a:t>
            </a:r>
            <a:r>
              <a:rPr lang="en-US" altLang="zh-CN" sz="2000" b="1">
                <a:sym typeface="+mn-ea"/>
              </a:rPr>
              <a:t>8255A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的响应信号</a:t>
            </a:r>
            <a:endParaRPr lang="zh-CN" altLang="en-US" sz="2000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96665" y="4657725"/>
            <a:ext cx="493141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rgbClr val="00B050"/>
                </a:solidFill>
                <a:sym typeface="+mn-ea"/>
              </a:rPr>
              <a:t>INTR</a:t>
            </a:r>
            <a:r>
              <a:rPr lang="en-US" altLang="zh-CN" sz="2000" b="1">
                <a:solidFill>
                  <a:srgbClr val="00B050"/>
                </a:solidFill>
                <a:latin typeface="Arial" panose="020B0604020202020204" pitchFamily="34" charset="0"/>
                <a:sym typeface="+mn-ea"/>
              </a:rPr>
              <a:t>——</a:t>
            </a:r>
            <a:r>
              <a:rPr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sym typeface="+mn-ea"/>
              </a:rPr>
              <a:t>中断请求信号，高电平有效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sym typeface="+mn-ea"/>
              </a:rPr>
              <a:t>8255A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输出的信号，可用于向</a:t>
            </a:r>
            <a:r>
              <a:rPr lang="en-US" altLang="zh-CN" sz="2000" b="1">
                <a:sym typeface="+mn-ea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提出中断请求，要求</a:t>
            </a:r>
            <a:r>
              <a:rPr lang="en-US" altLang="zh-CN" sz="2000" b="1">
                <a:sym typeface="+mn-ea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提供</a:t>
            </a: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数据</a:t>
            </a:r>
            <a:endParaRPr lang="zh-CN" altLang="en-US" sz="2000" b="1" dirty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96665" y="5674995"/>
            <a:ext cx="5040630" cy="1003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lvl="1"/>
            <a:r>
              <a:rPr lang="en-US" altLang="zh-CN" sz="2000" b="1">
                <a:solidFill>
                  <a:srgbClr val="00B050"/>
                </a:solidFill>
                <a:cs typeface="Tahoma" panose="020B0604030504040204" pitchFamily="34" charset="0"/>
                <a:sym typeface="+mn-ea"/>
              </a:rPr>
              <a:t>INTE</a:t>
            </a:r>
            <a:r>
              <a:rPr lang="en-US" altLang="zh-CN" sz="20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——</a:t>
            </a:r>
            <a:r>
              <a:rPr lang="zh-C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中断允许</a:t>
            </a:r>
            <a:r>
              <a:rPr lang="en-US" altLang="zh-CN" sz="2000" b="1">
                <a:solidFill>
                  <a:srgbClr val="00B050"/>
                </a:solidFill>
                <a:cs typeface="Tahoma" panose="020B0604030504040204" pitchFamily="34" charset="0"/>
                <a:sym typeface="+mn-ea"/>
              </a:rPr>
              <a:t>触发器，</a:t>
            </a:r>
            <a:r>
              <a:rPr lang="zh-CN" altLang="en-US" sz="1800" b="1">
                <a:solidFill>
                  <a:srgbClr val="FF0000"/>
                </a:solidFill>
                <a:cs typeface="Tahoma" panose="020B0604030504040204" pitchFamily="34" charset="0"/>
                <a:sym typeface="+mn-ea"/>
              </a:rPr>
              <a:t>无对应外部引脚</a:t>
            </a:r>
            <a:endParaRPr lang="en-US" altLang="zh-CN" sz="1800" b="1">
              <a:cs typeface="Tahoma" panose="020B0604030504040204" pitchFamily="34" charset="0"/>
              <a:sym typeface="+mn-e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置位允许中断，复位禁止中断</a:t>
            </a:r>
            <a:endParaRPr lang="zh-CN" altLang="en-US" sz="2000" dirty="0">
              <a:latin typeface="Times New Roman" panose="02020603050405020304" pitchFamily="18" charset="0"/>
              <a:sym typeface="+mn-ea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000" b="1">
                <a:cs typeface="Tahoma" panose="020B0604030504040204" pitchFamily="34" charset="0"/>
                <a:sym typeface="+mn-ea"/>
              </a:rPr>
              <a:t>INTE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A</a:t>
            </a:r>
            <a:r>
              <a:rPr lang="en-US" altLang="zh-CN" sz="2000" b="1">
                <a:cs typeface="Tahoma" panose="020B0604030504040204" pitchFamily="34" charset="0"/>
                <a:sym typeface="+mn-ea"/>
              </a:rPr>
              <a:t>对应PC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6</a:t>
            </a:r>
            <a:r>
              <a:rPr lang="en-US" altLang="zh-CN" sz="2000" b="1">
                <a:cs typeface="Tahoma" panose="020B0604030504040204" pitchFamily="34" charset="0"/>
                <a:sym typeface="+mn-ea"/>
              </a:rPr>
              <a:t>，INTE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B</a:t>
            </a:r>
            <a:r>
              <a:rPr lang="en-US" altLang="zh-CN" sz="2000" b="1">
                <a:cs typeface="Tahoma" panose="020B0604030504040204" pitchFamily="34" charset="0"/>
                <a:sym typeface="+mn-ea"/>
              </a:rPr>
              <a:t>对应PC</a:t>
            </a:r>
            <a:r>
              <a:rPr lang="en-US" altLang="zh-CN" sz="2000" b="1" baseline="-25000">
                <a:cs typeface="Tahoma" panose="020B0604030504040204" pitchFamily="34" charset="0"/>
                <a:sym typeface="+mn-ea"/>
              </a:rPr>
              <a:t>2</a:t>
            </a:r>
            <a:endParaRPr lang="en-US" altLang="zh-CN" sz="2000" b="1">
              <a:cs typeface="Tahoma" panose="020B0604030504040204" pitchFamily="34" charset="0"/>
            </a:endParaRPr>
          </a:p>
          <a:p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4485" y="2420620"/>
            <a:ext cx="3594735" cy="4358640"/>
            <a:chOff x="511" y="3812"/>
            <a:chExt cx="5661" cy="6864"/>
          </a:xfrm>
        </p:grpSpPr>
        <p:sp>
          <p:nvSpPr>
            <p:cNvPr id="106" name="Rectangle 3"/>
            <p:cNvSpPr/>
            <p:nvPr>
              <p:custDataLst>
                <p:tags r:id="rId4"/>
              </p:custDataLst>
            </p:nvPr>
          </p:nvSpPr>
          <p:spPr>
            <a:xfrm>
              <a:off x="511" y="5624"/>
              <a:ext cx="793" cy="15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2075" tIns="46038" rIns="92075" bIns="46038" anchor="t" anchorCtr="0"/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输</a:t>
              </a:r>
              <a:endParaRPr lang="en-US" altLang="zh-CN" b="1" dirty="0">
                <a:solidFill>
                  <a:schemeClr val="tx2"/>
                </a:solidFill>
                <a:latin typeface="Arial" panose="020B0604020202020204" pitchFamily="34" charset="0"/>
              </a:endParaRPr>
            </a:p>
            <a:p>
              <a:pPr marL="342900" indent="-342900">
                <a:lnSpc>
                  <a:spcPct val="9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b="1" dirty="0">
                  <a:solidFill>
                    <a:schemeClr val="tx2"/>
                  </a:solidFill>
                  <a:latin typeface="Arial" panose="020B0604020202020204" pitchFamily="34" charset="0"/>
                </a:rPr>
                <a:t>出</a:t>
              </a:r>
              <a:endParaRPr lang="zh-CN" altLang="en-US" b="1" dirty="0">
                <a:solidFill>
                  <a:schemeClr val="tx2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" name="Group 59"/>
            <p:cNvGrpSpPr/>
            <p:nvPr/>
          </p:nvGrpSpPr>
          <p:grpSpPr>
            <a:xfrm>
              <a:off x="1252" y="3812"/>
              <a:ext cx="4920" cy="6865"/>
              <a:chOff x="1056" y="1248"/>
              <a:chExt cx="1968" cy="2746"/>
            </a:xfrm>
          </p:grpSpPr>
          <p:sp>
            <p:nvSpPr>
              <p:cNvPr id="19509" name="Rectangle 60"/>
              <p:cNvSpPr/>
              <p:nvPr>
                <p:custDataLst>
                  <p:tags r:id="rId5"/>
                </p:custDataLst>
              </p:nvPr>
            </p:nvSpPr>
            <p:spPr>
              <a:xfrm>
                <a:off x="1056" y="1248"/>
                <a:ext cx="816" cy="2605"/>
              </a:xfrm>
              <a:prstGeom prst="rect">
                <a:avLst/>
              </a:prstGeom>
              <a:noFill/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510" name="Group 61"/>
              <p:cNvGrpSpPr/>
              <p:nvPr/>
            </p:nvGrpSpPr>
            <p:grpSpPr>
              <a:xfrm>
                <a:off x="1104" y="1300"/>
                <a:ext cx="768" cy="1026"/>
                <a:chOff x="1296" y="2736"/>
                <a:chExt cx="768" cy="1104"/>
              </a:xfrm>
            </p:grpSpPr>
            <p:sp>
              <p:nvSpPr>
                <p:cNvPr id="19511" name="Rectangle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296" y="2736"/>
                  <a:ext cx="432" cy="288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6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INTE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A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12" name="Rectangle 63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776" y="3120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7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13" name="Rectangle 6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776" y="3312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6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14" name="Rectangle 6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1776" y="3648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3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15" name="Line 66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440" y="3024"/>
                  <a:ext cx="0" cy="288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16" name="Line 67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584" y="3168"/>
                  <a:ext cx="192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17" name="Line 68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584" y="3168"/>
                  <a:ext cx="0" cy="144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18" name="Line 69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8" y="3552"/>
                  <a:ext cx="0" cy="192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19" name="Line 70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488" y="3744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20" name="AutoShape 71"/>
                <p:cNvSpPr/>
                <p:nvPr>
                  <p:custDataLst>
                    <p:tags r:id="rId15"/>
                  </p:custDataLst>
                </p:nvPr>
              </p:nvSpPr>
              <p:spPr>
                <a:xfrm rot="5400000">
                  <a:off x="1356" y="3300"/>
                  <a:ext cx="288" cy="216"/>
                </a:xfrm>
                <a:prstGeom prst="flowChartDelay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9521" name="Rectangle 72"/>
              <p:cNvSpPr/>
              <p:nvPr>
                <p:custDataLst>
                  <p:tags r:id="rId16"/>
                </p:custDataLst>
              </p:nvPr>
            </p:nvSpPr>
            <p:spPr>
              <a:xfrm>
                <a:off x="1632" y="1405"/>
                <a:ext cx="192" cy="20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1600" b="1" dirty="0">
                    <a:latin typeface="Tahoma" panose="020B0604030504040204" pitchFamily="34" charset="0"/>
                  </a:rPr>
                  <a:t>A</a:t>
                </a:r>
                <a:r>
                  <a:rPr lang="zh-CN" altLang="en-US" sz="1600" b="1" dirty="0">
                    <a:latin typeface="Tahoma" panose="020B0604030504040204" pitchFamily="34" charset="0"/>
                  </a:rPr>
                  <a:t>口</a:t>
                </a:r>
                <a:endParaRPr lang="zh-CN" altLang="en-US" sz="16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22" name="Line 73"/>
              <p:cNvSpPr/>
              <p:nvPr>
                <p:custDataLst>
                  <p:tags r:id="rId17"/>
                </p:custDataLst>
              </p:nvPr>
            </p:nvSpPr>
            <p:spPr>
              <a:xfrm>
                <a:off x="1920" y="1776"/>
                <a:ext cx="336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lg"/>
                <a:tailEnd type="triangle" w="med" len="med"/>
              </a:ln>
            </p:spPr>
          </p:sp>
          <p:sp>
            <p:nvSpPr>
              <p:cNvPr id="19523" name="Line 74"/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1872" y="1968"/>
                <a:ext cx="288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524" name="Line 75"/>
              <p:cNvSpPr/>
              <p:nvPr>
                <p:custDataLst>
                  <p:tags r:id="rId19"/>
                </p:custDataLst>
              </p:nvPr>
            </p:nvSpPr>
            <p:spPr>
              <a:xfrm>
                <a:off x="1920" y="2304"/>
                <a:ext cx="288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525" name="AutoShape 76"/>
              <p:cNvSpPr/>
              <p:nvPr>
                <p:custDataLst>
                  <p:tags r:id="rId20"/>
                </p:custDataLst>
              </p:nvPr>
            </p:nvSpPr>
            <p:spPr>
              <a:xfrm>
                <a:off x="1872" y="1457"/>
                <a:ext cx="480" cy="209"/>
              </a:xfrm>
              <a:prstGeom prst="rightArrow">
                <a:avLst>
                  <a:gd name="adj1" fmla="val 50000"/>
                  <a:gd name="adj2" fmla="val 57352"/>
                </a:avLst>
              </a:prstGeom>
              <a:solidFill>
                <a:srgbClr val="FFFFCC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26" name="Text Box 7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872" y="1248"/>
                <a:ext cx="110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PA</a:t>
                </a:r>
                <a:r>
                  <a:rPr lang="en-US" altLang="zh-CN" sz="2000" b="1" baseline="-10000" dirty="0">
                    <a:latin typeface="Tahoma" panose="020B0604030504040204" pitchFamily="34" charset="0"/>
                  </a:rPr>
                  <a:t>7</a:t>
                </a:r>
                <a:r>
                  <a:rPr lang="en-US" altLang="zh-CN" sz="2000" b="1" dirty="0">
                    <a:latin typeface="Tahoma" panose="020B0604030504040204" pitchFamily="34" charset="0"/>
                  </a:rPr>
                  <a:t>~PA</a:t>
                </a:r>
                <a:r>
                  <a:rPr lang="en-US" altLang="zh-CN" sz="2000" b="1" baseline="-18000" dirty="0">
                    <a:latin typeface="Tahoma" panose="020B0604030504040204" pitchFamily="34" charset="0"/>
                  </a:rPr>
                  <a:t>0</a:t>
                </a:r>
                <a:endParaRPr lang="en-US" altLang="zh-CN" sz="20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527" name="Group 78"/>
              <p:cNvGrpSpPr/>
              <p:nvPr/>
            </p:nvGrpSpPr>
            <p:grpSpPr>
              <a:xfrm>
                <a:off x="2160" y="1652"/>
                <a:ext cx="576" cy="250"/>
                <a:chOff x="1632" y="2592"/>
                <a:chExt cx="480" cy="230"/>
              </a:xfrm>
            </p:grpSpPr>
            <p:sp>
              <p:nvSpPr>
                <p:cNvPr id="19528" name="Text Box 79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1632" y="2592"/>
                  <a:ext cx="480" cy="23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000" b="1" dirty="0">
                      <a:latin typeface="Tahoma" panose="020B0604030504040204" pitchFamily="34" charset="0"/>
                    </a:rPr>
                    <a:t>OBF</a:t>
                  </a:r>
                  <a:r>
                    <a:rPr lang="en-US" altLang="zh-CN" sz="2000" b="1" baseline="-25000" dirty="0">
                      <a:latin typeface="Tahoma" panose="020B0604030504040204" pitchFamily="34" charset="0"/>
                    </a:rPr>
                    <a:t>A</a:t>
                  </a: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29" name="Line 8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680" y="2640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30" name="Text Box 81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2160" y="2191"/>
                <a:ext cx="672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INTR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A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531" name="Group 82"/>
              <p:cNvGrpSpPr/>
              <p:nvPr/>
            </p:nvGrpSpPr>
            <p:grpSpPr>
              <a:xfrm>
                <a:off x="1104" y="2595"/>
                <a:ext cx="768" cy="943"/>
                <a:chOff x="1296" y="2736"/>
                <a:chExt cx="768" cy="1104"/>
              </a:xfrm>
            </p:grpSpPr>
            <p:sp>
              <p:nvSpPr>
                <p:cNvPr id="19532" name="Rectangle 83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296" y="2736"/>
                  <a:ext cx="432" cy="288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6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INTE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B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33" name="Rectangle 84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776" y="3120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1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34" name="Rectangle 85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776" y="3312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2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35" name="Rectangle 86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1776" y="3648"/>
                  <a:ext cx="288" cy="192"/>
                </a:xfrm>
                <a:prstGeom prst="rect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 algn="ctr">
                    <a:buClrTx/>
                    <a:buFontTx/>
                  </a:pPr>
                  <a:r>
                    <a:rPr lang="en-US" altLang="zh-CN" sz="1800" b="1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PC</a:t>
                  </a:r>
                  <a:r>
                    <a:rPr lang="en-US" altLang="zh-CN" sz="1800" b="1" baseline="-25000" dirty="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0</a:t>
                  </a:r>
                  <a:endParaRPr lang="en-US" altLang="zh-CN" sz="1800" b="1" baseline="-25000" dirty="0">
                    <a:solidFill>
                      <a:srgbClr val="FF0000"/>
                    </a:solidFill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36" name="Line 87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440" y="3024"/>
                  <a:ext cx="0" cy="288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37" name="Line 88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1584" y="3168"/>
                  <a:ext cx="192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38" name="Line 89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584" y="3168"/>
                  <a:ext cx="0" cy="144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39" name="Line 90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488" y="3552"/>
                  <a:ext cx="0" cy="192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40" name="Line 91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488" y="3744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rgbClr val="9900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9541" name="AutoShape 92"/>
                <p:cNvSpPr/>
                <p:nvPr>
                  <p:custDataLst>
                    <p:tags r:id="rId34"/>
                  </p:custDataLst>
                </p:nvPr>
              </p:nvSpPr>
              <p:spPr>
                <a:xfrm rot="5400000">
                  <a:off x="1356" y="3300"/>
                  <a:ext cx="288" cy="216"/>
                </a:xfrm>
                <a:prstGeom prst="flowChartDelay">
                  <a:avLst/>
                </a:prstGeom>
                <a:solidFill>
                  <a:srgbClr val="FFFFCC"/>
                </a:solidFill>
                <a:ln w="12700" cap="sq" cmpd="sng">
                  <a:solidFill>
                    <a:srgbClr val="9900FF"/>
                  </a:solidFill>
                  <a:prstDash val="solid"/>
                  <a:miter/>
                  <a:headEnd type="none" w="sm" len="sm"/>
                  <a:tailEnd type="none" w="sm" len="sm"/>
                </a:ln>
              </p:spPr>
              <p:txBody>
                <a:bodyPr wrap="none" anchor="ctr" anchorCtr="0"/>
                <a:p>
                  <a:pPr>
                    <a:buClrTx/>
                    <a:buFontTx/>
                  </a:pPr>
                  <a:endParaRPr lang="zh-CN" altLang="en-US" dirty="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19542" name="Line 93"/>
              <p:cNvSpPr/>
              <p:nvPr>
                <p:custDataLst>
                  <p:tags r:id="rId35"/>
                </p:custDataLst>
              </p:nvPr>
            </p:nvSpPr>
            <p:spPr>
              <a:xfrm>
                <a:off x="1920" y="2999"/>
                <a:ext cx="384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lg"/>
                <a:tailEnd type="triangle" w="med" len="med"/>
              </a:ln>
            </p:spPr>
          </p:sp>
          <p:sp>
            <p:nvSpPr>
              <p:cNvPr id="19543" name="Line 94"/>
              <p:cNvSpPr/>
              <p:nvPr>
                <p:custDataLst>
                  <p:tags r:id="rId36"/>
                </p:custDataLst>
              </p:nvPr>
            </p:nvSpPr>
            <p:spPr>
              <a:xfrm flipH="1">
                <a:off x="1872" y="3143"/>
                <a:ext cx="384" cy="0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544" name="Line 95"/>
              <p:cNvSpPr/>
              <p:nvPr>
                <p:custDataLst>
                  <p:tags r:id="rId37"/>
                </p:custDataLst>
              </p:nvPr>
            </p:nvSpPr>
            <p:spPr>
              <a:xfrm>
                <a:off x="1920" y="3504"/>
                <a:ext cx="384" cy="4"/>
              </a:xfrm>
              <a:prstGeom prst="line">
                <a:avLst/>
              </a:prstGeom>
              <a:ln w="4762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9545" name="AutoShape 96"/>
              <p:cNvSpPr/>
              <p:nvPr>
                <p:custDataLst>
                  <p:tags r:id="rId38"/>
                </p:custDataLst>
              </p:nvPr>
            </p:nvSpPr>
            <p:spPr>
              <a:xfrm>
                <a:off x="1872" y="2640"/>
                <a:ext cx="480" cy="209"/>
              </a:xfrm>
              <a:prstGeom prst="rightArrow">
                <a:avLst>
                  <a:gd name="adj1" fmla="val 50000"/>
                  <a:gd name="adj2" fmla="val 57352"/>
                </a:avLst>
              </a:prstGeom>
              <a:solidFill>
                <a:srgbClr val="FFFFCC"/>
              </a:solidFill>
              <a:ln w="12700" cap="sq" cmpd="sng">
                <a:solidFill>
                  <a:schemeClr val="tx1"/>
                </a:solidFill>
                <a:prstDash val="solid"/>
                <a:miter/>
                <a:headEnd type="none" w="sm" len="sm"/>
                <a:tailEnd type="none" w="sm" len="sm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46" name="Text Box 97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1920" y="2448"/>
                <a:ext cx="1104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PB</a:t>
                </a:r>
                <a:r>
                  <a:rPr lang="en-US" altLang="zh-CN" sz="2000" b="1" baseline="-10000" dirty="0">
                    <a:latin typeface="Tahoma" panose="020B0604030504040204" pitchFamily="34" charset="0"/>
                  </a:rPr>
                  <a:t>7</a:t>
                </a:r>
                <a:r>
                  <a:rPr lang="en-US" altLang="zh-CN" sz="2000" b="1" dirty="0">
                    <a:latin typeface="Tahoma" panose="020B0604030504040204" pitchFamily="34" charset="0"/>
                  </a:rPr>
                  <a:t>~PB</a:t>
                </a:r>
                <a:r>
                  <a:rPr lang="en-US" altLang="zh-CN" sz="2000" b="1" baseline="-18000" dirty="0">
                    <a:latin typeface="Tahoma" panose="020B0604030504040204" pitchFamily="34" charset="0"/>
                  </a:rPr>
                  <a:t>0</a:t>
                </a:r>
                <a:endParaRPr lang="en-US" altLang="zh-CN" sz="20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547" name="Group 98"/>
              <p:cNvGrpSpPr/>
              <p:nvPr/>
            </p:nvGrpSpPr>
            <p:grpSpPr>
              <a:xfrm>
                <a:off x="2256" y="2828"/>
                <a:ext cx="576" cy="250"/>
                <a:chOff x="1632" y="2591"/>
                <a:chExt cx="480" cy="230"/>
              </a:xfrm>
            </p:grpSpPr>
            <p:sp>
              <p:nvSpPr>
                <p:cNvPr id="19548" name="Text Box 99"/>
                <p:cNvSpPr txBox="1"/>
                <p:nvPr>
                  <p:custDataLst>
                    <p:tags r:id="rId40"/>
                  </p:custDataLst>
                </p:nvPr>
              </p:nvSpPr>
              <p:spPr>
                <a:xfrm>
                  <a:off x="1632" y="2591"/>
                  <a:ext cx="480" cy="23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000" b="1" dirty="0">
                      <a:latin typeface="Tahoma" panose="020B0604030504040204" pitchFamily="34" charset="0"/>
                    </a:rPr>
                    <a:t>OBF</a:t>
                  </a:r>
                  <a:r>
                    <a:rPr lang="en-US" altLang="zh-CN" sz="2000" b="1" baseline="-25000" dirty="0">
                      <a:latin typeface="Tahoma" panose="020B0604030504040204" pitchFamily="34" charset="0"/>
                    </a:rPr>
                    <a:t>B</a:t>
                  </a: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49" name="Line 100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1680" y="2640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50" name="Text Box 101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2256" y="3404"/>
                <a:ext cx="576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INTR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B</a:t>
                </a:r>
                <a:endParaRPr lang="en-US" altLang="zh-CN" sz="18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9551" name="Rectangle 102"/>
              <p:cNvSpPr/>
              <p:nvPr>
                <p:custDataLst>
                  <p:tags r:id="rId43"/>
                </p:custDataLst>
              </p:nvPr>
            </p:nvSpPr>
            <p:spPr>
              <a:xfrm>
                <a:off x="1632" y="2505"/>
                <a:ext cx="192" cy="20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r>
                  <a:rPr lang="en-US" altLang="zh-CN" sz="1600" b="1" dirty="0">
                    <a:latin typeface="Tahoma" panose="020B0604030504040204" pitchFamily="34" charset="0"/>
                  </a:rPr>
                  <a:t>B</a:t>
                </a:r>
                <a:r>
                  <a:rPr lang="zh-CN" altLang="en-US" sz="1600" b="1" dirty="0">
                    <a:latin typeface="Tahoma" panose="020B0604030504040204" pitchFamily="34" charset="0"/>
                  </a:rPr>
                  <a:t>口</a:t>
                </a:r>
                <a:endParaRPr lang="zh-CN" altLang="en-US" sz="1600" b="1" dirty="0">
                  <a:latin typeface="Tahoma" panose="020B0604030504040204" pitchFamily="34" charset="0"/>
                </a:endParaRPr>
              </a:p>
            </p:txBody>
          </p:sp>
          <p:grpSp>
            <p:nvGrpSpPr>
              <p:cNvPr id="19552" name="Group 103"/>
              <p:cNvGrpSpPr/>
              <p:nvPr/>
            </p:nvGrpSpPr>
            <p:grpSpPr>
              <a:xfrm>
                <a:off x="2160" y="1875"/>
                <a:ext cx="576" cy="249"/>
                <a:chOff x="1632" y="2591"/>
                <a:chExt cx="480" cy="170"/>
              </a:xfrm>
            </p:grpSpPr>
            <p:sp>
              <p:nvSpPr>
                <p:cNvPr id="19553" name="Text Box 104"/>
                <p:cNvSpPr txBox="1"/>
                <p:nvPr>
                  <p:custDataLst>
                    <p:tags r:id="rId44"/>
                  </p:custDataLst>
                </p:nvPr>
              </p:nvSpPr>
              <p:spPr>
                <a:xfrm>
                  <a:off x="1632" y="2591"/>
                  <a:ext cx="480" cy="17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000" b="1" dirty="0">
                      <a:latin typeface="Tahoma" panose="020B0604030504040204" pitchFamily="34" charset="0"/>
                    </a:rPr>
                    <a:t>ACK</a:t>
                  </a:r>
                  <a:r>
                    <a:rPr lang="en-US" altLang="zh-CN" sz="2000" b="1" baseline="-25000" dirty="0">
                      <a:latin typeface="Tahoma" panose="020B0604030504040204" pitchFamily="34" charset="0"/>
                    </a:rPr>
                    <a:t>A</a:t>
                  </a: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54" name="Line 105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1680" y="2640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</p:grpSp>
          <p:grpSp>
            <p:nvGrpSpPr>
              <p:cNvPr id="19555" name="Group 106"/>
              <p:cNvGrpSpPr/>
              <p:nvPr/>
            </p:nvGrpSpPr>
            <p:grpSpPr>
              <a:xfrm>
                <a:off x="2256" y="3038"/>
                <a:ext cx="576" cy="250"/>
                <a:chOff x="1632" y="2592"/>
                <a:chExt cx="480" cy="230"/>
              </a:xfrm>
            </p:grpSpPr>
            <p:sp>
              <p:nvSpPr>
                <p:cNvPr id="19556" name="Text Box 107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1632" y="2592"/>
                  <a:ext cx="480" cy="230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anchor="t" anchorCtr="0">
                  <a:spAutoFit/>
                </a:bodyPr>
                <a:p>
                  <a:pPr>
                    <a:spcBef>
                      <a:spcPct val="50000"/>
                    </a:spcBef>
                    <a:buClrTx/>
                    <a:buFontTx/>
                  </a:pPr>
                  <a:r>
                    <a:rPr lang="en-US" altLang="zh-CN" sz="2000" b="1" dirty="0">
                      <a:latin typeface="Tahoma" panose="020B0604030504040204" pitchFamily="34" charset="0"/>
                    </a:rPr>
                    <a:t>ACK</a:t>
                  </a:r>
                  <a:r>
                    <a:rPr lang="en-US" altLang="zh-CN" sz="2000" b="1" baseline="-25000" dirty="0">
                      <a:latin typeface="Tahoma" panose="020B0604030504040204" pitchFamily="34" charset="0"/>
                    </a:rPr>
                    <a:t>B</a:t>
                  </a:r>
                  <a:endParaRPr lang="zh-CN" altLang="en-US" sz="2000" b="1" dirty="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557" name="Line 108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1680" y="2640"/>
                  <a:ext cx="288" cy="0"/>
                </a:xfrm>
                <a:prstGeom prst="line">
                  <a:avLst/>
                </a:prstGeom>
                <a:ln w="12700" cap="sq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</p:grpSp>
          <p:sp>
            <p:nvSpPr>
              <p:cNvPr id="19558" name="Line 10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872" y="3718"/>
                <a:ext cx="624" cy="0"/>
              </a:xfrm>
              <a:prstGeom prst="line">
                <a:avLst/>
              </a:prstGeom>
              <a:ln w="19050" cap="sq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sp>
          <p:sp>
            <p:nvSpPr>
              <p:cNvPr id="19559" name="Rectangle 11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872" y="3763"/>
                <a:ext cx="740" cy="23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anchor="t" anchorCtr="0">
                <a:spAutoFit/>
              </a:bodyPr>
              <a:p>
                <a:pPr>
                  <a:buClrTx/>
                  <a:buFontTx/>
                </a:pPr>
                <a:r>
                  <a:rPr lang="en-US" altLang="zh-CN" sz="1800" b="1" dirty="0">
                    <a:latin typeface="Tahoma" panose="020B0604030504040204" pitchFamily="34" charset="0"/>
                  </a:rPr>
                  <a:t>PC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4</a:t>
                </a:r>
                <a:r>
                  <a:rPr lang="en-US" altLang="zh-CN" sz="1800" b="1" dirty="0">
                    <a:latin typeface="Tahoma" panose="020B0604030504040204" pitchFamily="34" charset="0"/>
                  </a:rPr>
                  <a:t>、PC</a:t>
                </a:r>
                <a:r>
                  <a:rPr lang="en-US" altLang="zh-CN" sz="1800" b="1" baseline="-25000" dirty="0">
                    <a:latin typeface="Tahoma" panose="020B0604030504040204" pitchFamily="34" charset="0"/>
                  </a:rPr>
                  <a:t>5</a:t>
                </a:r>
                <a:endParaRPr lang="zh-CN" altLang="en-US" sz="1800" b="1" baseline="-25000" dirty="0">
                  <a:latin typeface="Tahoma" panose="020B060403050404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/>
          <p:nvPr>
            <p:custDataLst>
              <p:tags r:id="rId1"/>
            </p:custDataLst>
          </p:nvPr>
        </p:nvSpPr>
        <p:spPr>
          <a:xfrm>
            <a:off x="578485" y="1484313"/>
            <a:ext cx="7962900" cy="42354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anchor="t" anchorCtr="0">
            <a:spAutoFit/>
          </a:bodyPr>
          <a:p>
            <a:pPr>
              <a:lnSpc>
                <a:spcPct val="90000"/>
              </a:lnSpc>
              <a:buClr>
                <a:srgbClr val="FF6600"/>
              </a:buClr>
              <a:buFontTx/>
            </a:pP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3. 8255A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的</a:t>
            </a:r>
            <a:r>
              <a:rPr lang="en-US" altLang="zh-CN" b="1" dirty="0">
                <a:solidFill>
                  <a:schemeClr val="tx1"/>
                </a:solidFill>
                <a:latin typeface="Tahoma" panose="020B0604030504040204" pitchFamily="34" charset="0"/>
              </a:rPr>
              <a:t>3种工作方式</a:t>
            </a:r>
            <a:endParaRPr lang="en-US" altLang="zh-CN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0243" name="矩形 59"/>
          <p:cNvSpPr/>
          <p:nvPr>
            <p:custDataLst>
              <p:tags r:id="rId2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578485" y="1908175"/>
            <a:ext cx="67849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）方式</a:t>
            </a:r>
            <a:r>
              <a:rPr lang="en-US" altLang="zh-CN" b="1">
                <a:solidFill>
                  <a:srgbClr val="0000FF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：双向选通输入输出方式</a:t>
            </a:r>
            <a:endParaRPr lang="zh-CN" altLang="en-US" b="1" dirty="0">
              <a:solidFill>
                <a:srgbClr val="0000FF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4545965"/>
            <a:ext cx="51790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ym typeface="+mn-ea"/>
              </a:rPr>
              <a:t>适用于需要双向传送的接口电路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3588385"/>
            <a:ext cx="5084445" cy="902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只有端口 A可以工作在方式 </a:t>
            </a:r>
            <a:r>
              <a:rPr lang="en-US" altLang="zh-CN" b="1"/>
              <a:t>2</a:t>
            </a:r>
            <a:r>
              <a:rPr lang="zh-CN" altLang="en-US" b="1"/>
              <a:t>，利用端口</a:t>
            </a:r>
            <a:r>
              <a:rPr lang="en-US" altLang="zh-CN" b="1"/>
              <a:t>C</a:t>
            </a:r>
            <a:r>
              <a:rPr lang="zh-CN" altLang="en-US" b="1"/>
              <a:t>的</a:t>
            </a:r>
            <a:r>
              <a:rPr lang="zh-CN" altLang="en-US" b="1" dirty="0">
                <a:sym typeface="+mn-ea"/>
              </a:rPr>
              <a:t>5根信号</a:t>
            </a:r>
            <a:r>
              <a:rPr lang="zh-CN" altLang="en-US" b="1" dirty="0">
                <a:sym typeface="+mn-ea"/>
              </a:rPr>
              <a:t>线</a:t>
            </a:r>
            <a:r>
              <a:rPr lang="zh-CN" altLang="en-US" b="1" dirty="0">
                <a:sym typeface="+mn-ea"/>
              </a:rPr>
              <a:t>做联络线</a:t>
            </a:r>
            <a:endParaRPr lang="zh-CN" altLang="en-US" b="1"/>
          </a:p>
        </p:txBody>
      </p:sp>
      <p:sp>
        <p:nvSpPr>
          <p:cNvPr id="5" name="文本框 4"/>
          <p:cNvSpPr txBox="1"/>
          <p:nvPr/>
        </p:nvSpPr>
        <p:spPr>
          <a:xfrm>
            <a:off x="539750" y="5083175"/>
            <a:ext cx="51498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chemeClr val="tx1"/>
                </a:solidFill>
                <a:sym typeface="+mn-ea"/>
              </a:rPr>
              <a:t>输入输出时对数据锁存</a:t>
            </a:r>
            <a:endParaRPr lang="zh-CN" altLang="en-US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9750" y="2348865"/>
            <a:ext cx="504571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方式</a:t>
            </a:r>
            <a:r>
              <a:rPr lang="en-US" altLang="zh-CN" b="1">
                <a:latin typeface="Times New Roman" panose="02020603050405020304" pitchFamily="18" charset="0"/>
                <a:sym typeface="+mn-ea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将方式</a:t>
            </a:r>
            <a:r>
              <a:rPr lang="en-US" altLang="zh-CN" b="1">
                <a:sym typeface="+mn-ea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sym typeface="+mn-ea"/>
              </a:rPr>
              <a:t>的选通输入输出功能组合成一个双向数据端口，可以发送数据和接收数据</a:t>
            </a:r>
            <a:endParaRPr lang="zh-CN" altLang="en-US" b="1" dirty="0">
              <a:latin typeface="Times New Roman" panose="02020603050405020304" pitchFamily="18" charset="0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795645" y="1269365"/>
            <a:ext cx="3276600" cy="5105400"/>
            <a:chOff x="902" y="2379"/>
            <a:chExt cx="5160" cy="8040"/>
          </a:xfrm>
        </p:grpSpPr>
        <p:sp>
          <p:nvSpPr>
            <p:cNvPr id="22532" name="Rectangle 6"/>
            <p:cNvSpPr/>
            <p:nvPr>
              <p:custDataLst>
                <p:tags r:id="rId4"/>
              </p:custDataLst>
            </p:nvPr>
          </p:nvSpPr>
          <p:spPr>
            <a:xfrm>
              <a:off x="902" y="2739"/>
              <a:ext cx="2040" cy="7680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2533" name="Rectangle 8"/>
            <p:cNvSpPr/>
            <p:nvPr>
              <p:custDataLst>
                <p:tags r:id="rId5"/>
              </p:custDataLst>
            </p:nvPr>
          </p:nvSpPr>
          <p:spPr>
            <a:xfrm>
              <a:off x="1022" y="2979"/>
              <a:ext cx="1080" cy="72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16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INTE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1</a:t>
              </a:r>
              <a:endParaRPr lang="en-US" altLang="zh-CN" sz="1800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34" name="Rectangle 9"/>
            <p:cNvSpPr/>
            <p:nvPr>
              <p:custDataLst>
                <p:tags r:id="rId6"/>
              </p:custDataLst>
            </p:nvPr>
          </p:nvSpPr>
          <p:spPr>
            <a:xfrm>
              <a:off x="2222" y="3939"/>
              <a:ext cx="720" cy="48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18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PC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5</a:t>
              </a:r>
              <a:endParaRPr lang="en-US" altLang="zh-CN" sz="1800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35" name="Rectangle 10"/>
            <p:cNvSpPr/>
            <p:nvPr>
              <p:custDataLst>
                <p:tags r:id="rId7"/>
              </p:custDataLst>
            </p:nvPr>
          </p:nvSpPr>
          <p:spPr>
            <a:xfrm>
              <a:off x="2222" y="4419"/>
              <a:ext cx="720" cy="48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18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PC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4</a:t>
              </a:r>
              <a:endParaRPr lang="en-US" altLang="zh-CN" sz="1800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36" name="Rectangle 11"/>
            <p:cNvSpPr/>
            <p:nvPr>
              <p:custDataLst>
                <p:tags r:id="rId8"/>
              </p:custDataLst>
            </p:nvPr>
          </p:nvSpPr>
          <p:spPr>
            <a:xfrm>
              <a:off x="2222" y="5379"/>
              <a:ext cx="720" cy="48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18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PC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3</a:t>
              </a:r>
              <a:endParaRPr lang="en-US" altLang="zh-CN" sz="1800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37" name="Line 12"/>
            <p:cNvSpPr/>
            <p:nvPr>
              <p:custDataLst>
                <p:tags r:id="rId9"/>
              </p:custDataLst>
            </p:nvPr>
          </p:nvSpPr>
          <p:spPr>
            <a:xfrm>
              <a:off x="1382" y="3699"/>
              <a:ext cx="0" cy="624"/>
            </a:xfrm>
            <a:prstGeom prst="line">
              <a:avLst/>
            </a:prstGeom>
            <a:ln w="28575" cap="sq" cmpd="sng">
              <a:solidFill>
                <a:srgbClr val="9130B4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38" name="Line 13"/>
            <p:cNvSpPr/>
            <p:nvPr>
              <p:custDataLst>
                <p:tags r:id="rId10"/>
              </p:custDataLst>
            </p:nvPr>
          </p:nvSpPr>
          <p:spPr>
            <a:xfrm>
              <a:off x="1742" y="4059"/>
              <a:ext cx="480" cy="0"/>
            </a:xfrm>
            <a:prstGeom prst="line">
              <a:avLst/>
            </a:prstGeom>
            <a:ln w="28575" cap="sq" cmpd="sng">
              <a:solidFill>
                <a:srgbClr val="9130B4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39" name="Line 14"/>
            <p:cNvSpPr/>
            <p:nvPr>
              <p:custDataLst>
                <p:tags r:id="rId11"/>
              </p:custDataLst>
            </p:nvPr>
          </p:nvSpPr>
          <p:spPr>
            <a:xfrm>
              <a:off x="1742" y="4059"/>
              <a:ext cx="0" cy="227"/>
            </a:xfrm>
            <a:prstGeom prst="line">
              <a:avLst/>
            </a:prstGeom>
            <a:ln w="28575" cap="sq" cmpd="sng">
              <a:solidFill>
                <a:srgbClr val="9130B4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40" name="Line 15"/>
            <p:cNvSpPr/>
            <p:nvPr>
              <p:custDataLst>
                <p:tags r:id="rId12"/>
              </p:custDataLst>
            </p:nvPr>
          </p:nvSpPr>
          <p:spPr>
            <a:xfrm>
              <a:off x="1502" y="5019"/>
              <a:ext cx="0" cy="480"/>
            </a:xfrm>
            <a:prstGeom prst="line">
              <a:avLst/>
            </a:prstGeom>
            <a:ln w="28575" cap="sq" cmpd="sng">
              <a:solidFill>
                <a:srgbClr val="9130B4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41" name="AutoShape 17"/>
            <p:cNvSpPr/>
            <p:nvPr>
              <p:custDataLst>
                <p:tags r:id="rId13"/>
              </p:custDataLst>
            </p:nvPr>
          </p:nvSpPr>
          <p:spPr>
            <a:xfrm rot="5400000">
              <a:off x="1172" y="4389"/>
              <a:ext cx="720" cy="540"/>
            </a:xfrm>
            <a:prstGeom prst="flowChartDelay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rot="10800000" vert="eaVert"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2542" name="Rectangle 18"/>
            <p:cNvSpPr/>
            <p:nvPr>
              <p:custDataLst>
                <p:tags r:id="rId14"/>
              </p:custDataLst>
            </p:nvPr>
          </p:nvSpPr>
          <p:spPr>
            <a:xfrm>
              <a:off x="2342" y="3099"/>
              <a:ext cx="480" cy="48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000" b="1" dirty="0">
                  <a:latin typeface="Tahoma" panose="020B0604030504040204" pitchFamily="34" charset="0"/>
                </a:rPr>
                <a:t>A</a:t>
              </a:r>
              <a:r>
                <a:rPr lang="zh-CN" altLang="en-US" sz="2000" b="1" dirty="0">
                  <a:latin typeface="Tahoma" panose="020B0604030504040204" pitchFamily="34" charset="0"/>
                </a:rPr>
                <a:t>口</a:t>
              </a: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22543" name="Line 19"/>
            <p:cNvSpPr/>
            <p:nvPr>
              <p:custDataLst>
                <p:tags r:id="rId15"/>
              </p:custDataLst>
            </p:nvPr>
          </p:nvSpPr>
          <p:spPr>
            <a:xfrm>
              <a:off x="3062" y="4059"/>
              <a:ext cx="720" cy="0"/>
            </a:xfrm>
            <a:prstGeom prst="line">
              <a:avLst/>
            </a:prstGeom>
            <a:ln w="47625" cap="sq" cmpd="sng">
              <a:solidFill>
                <a:schemeClr val="tx1"/>
              </a:solidFill>
              <a:prstDash val="solid"/>
              <a:round/>
              <a:headEnd type="none" w="med" len="lg"/>
              <a:tailEnd type="triangle" w="med" len="med"/>
            </a:ln>
          </p:spPr>
        </p:sp>
        <p:sp>
          <p:nvSpPr>
            <p:cNvPr id="22544" name="Line 20"/>
            <p:cNvSpPr/>
            <p:nvPr>
              <p:custDataLst>
                <p:tags r:id="rId16"/>
              </p:custDataLst>
            </p:nvPr>
          </p:nvSpPr>
          <p:spPr>
            <a:xfrm flipH="1">
              <a:off x="2942" y="4659"/>
              <a:ext cx="720" cy="0"/>
            </a:xfrm>
            <a:prstGeom prst="line">
              <a:avLst/>
            </a:prstGeom>
            <a:ln w="47625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45" name="Line 21"/>
            <p:cNvSpPr/>
            <p:nvPr>
              <p:custDataLst>
                <p:tags r:id="rId17"/>
              </p:custDataLst>
            </p:nvPr>
          </p:nvSpPr>
          <p:spPr>
            <a:xfrm>
              <a:off x="3062" y="5619"/>
              <a:ext cx="720" cy="0"/>
            </a:xfrm>
            <a:prstGeom prst="line">
              <a:avLst/>
            </a:prstGeom>
            <a:ln w="47625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46" name="Text Box 23"/>
            <p:cNvSpPr txBox="1"/>
            <p:nvPr>
              <p:custDataLst>
                <p:tags r:id="rId18"/>
              </p:custDataLst>
            </p:nvPr>
          </p:nvSpPr>
          <p:spPr>
            <a:xfrm>
              <a:off x="3302" y="2379"/>
              <a:ext cx="2760" cy="62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b="1" dirty="0">
                  <a:latin typeface="Tahoma" panose="020B0604030504040204" pitchFamily="34" charset="0"/>
                </a:rPr>
                <a:t>PA</a:t>
              </a:r>
              <a:r>
                <a:rPr lang="en-US" altLang="zh-CN" sz="2000" b="1" baseline="-10000" dirty="0">
                  <a:latin typeface="Tahoma" panose="020B0604030504040204" pitchFamily="34" charset="0"/>
                </a:rPr>
                <a:t>7</a:t>
              </a:r>
              <a:r>
                <a:rPr lang="en-US" altLang="zh-CN" sz="2000" b="1" dirty="0">
                  <a:latin typeface="Tahoma" panose="020B0604030504040204" pitchFamily="34" charset="0"/>
                </a:rPr>
                <a:t>~PA</a:t>
              </a:r>
              <a:r>
                <a:rPr lang="en-US" altLang="zh-CN" sz="2000" b="1" baseline="-18000" dirty="0">
                  <a:latin typeface="Tahoma" panose="020B0604030504040204" pitchFamily="34" charset="0"/>
                </a:rPr>
                <a:t>0</a:t>
              </a:r>
              <a:endParaRPr lang="en-US" altLang="zh-CN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22547" name="AutoShape 56"/>
            <p:cNvSpPr/>
            <p:nvPr>
              <p:custDataLst>
                <p:tags r:id="rId19"/>
              </p:custDataLst>
            </p:nvPr>
          </p:nvSpPr>
          <p:spPr>
            <a:xfrm>
              <a:off x="2942" y="2979"/>
              <a:ext cx="1680" cy="600"/>
            </a:xfrm>
            <a:prstGeom prst="leftRightArrow">
              <a:avLst>
                <a:gd name="adj1" fmla="val 50000"/>
                <a:gd name="adj2" fmla="val 56000"/>
              </a:avLst>
            </a:prstGeom>
            <a:solidFill>
              <a:srgbClr val="FFFFCC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2549" name="AutoShape 58"/>
            <p:cNvSpPr/>
            <p:nvPr>
              <p:custDataLst>
                <p:tags r:id="rId20"/>
              </p:custDataLst>
            </p:nvPr>
          </p:nvSpPr>
          <p:spPr>
            <a:xfrm rot="16200000">
              <a:off x="1052" y="6429"/>
              <a:ext cx="720" cy="540"/>
            </a:xfrm>
            <a:prstGeom prst="flowChartDelay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vert="eaVert"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2550" name="Line 59"/>
            <p:cNvSpPr/>
            <p:nvPr>
              <p:custDataLst>
                <p:tags r:id="rId21"/>
              </p:custDataLst>
            </p:nvPr>
          </p:nvSpPr>
          <p:spPr>
            <a:xfrm flipV="1">
              <a:off x="1382" y="5739"/>
              <a:ext cx="0" cy="60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51" name="Line 60"/>
            <p:cNvSpPr/>
            <p:nvPr>
              <p:custDataLst>
                <p:tags r:id="rId22"/>
              </p:custDataLst>
            </p:nvPr>
          </p:nvSpPr>
          <p:spPr>
            <a:xfrm>
              <a:off x="1382" y="5739"/>
              <a:ext cx="340" cy="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52" name="Line 61"/>
            <p:cNvSpPr/>
            <p:nvPr>
              <p:custDataLst>
                <p:tags r:id="rId23"/>
              </p:custDataLst>
            </p:nvPr>
          </p:nvSpPr>
          <p:spPr>
            <a:xfrm>
              <a:off x="1502" y="5499"/>
              <a:ext cx="227" cy="0"/>
            </a:xfrm>
            <a:prstGeom prst="line">
              <a:avLst/>
            </a:prstGeom>
            <a:ln w="28575" cap="sq" cmpd="sng">
              <a:solidFill>
                <a:srgbClr val="9130B4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53" name="Line 62"/>
            <p:cNvSpPr/>
            <p:nvPr>
              <p:custDataLst>
                <p:tags r:id="rId24"/>
              </p:custDataLst>
            </p:nvPr>
          </p:nvSpPr>
          <p:spPr>
            <a:xfrm>
              <a:off x="1982" y="5619"/>
              <a:ext cx="240" cy="0"/>
            </a:xfrm>
            <a:prstGeom prst="line">
              <a:avLst/>
            </a:prstGeom>
            <a:ln w="28575" cap="sq" cmpd="sng">
              <a:solidFill>
                <a:srgbClr val="000099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54" name="Rectangle 63"/>
            <p:cNvSpPr/>
            <p:nvPr>
              <p:custDataLst>
                <p:tags r:id="rId25"/>
              </p:custDataLst>
            </p:nvPr>
          </p:nvSpPr>
          <p:spPr>
            <a:xfrm>
              <a:off x="1022" y="7899"/>
              <a:ext cx="1080" cy="72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16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INTE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2</a:t>
              </a:r>
              <a:endParaRPr lang="en-US" altLang="zh-CN" sz="1800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55" name="Line 64"/>
            <p:cNvSpPr/>
            <p:nvPr>
              <p:custDataLst>
                <p:tags r:id="rId26"/>
              </p:custDataLst>
            </p:nvPr>
          </p:nvSpPr>
          <p:spPr>
            <a:xfrm>
              <a:off x="1262" y="7059"/>
              <a:ext cx="0" cy="84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56" name="Line 65"/>
            <p:cNvSpPr/>
            <p:nvPr>
              <p:custDataLst>
                <p:tags r:id="rId27"/>
              </p:custDataLst>
            </p:nvPr>
          </p:nvSpPr>
          <p:spPr>
            <a:xfrm>
              <a:off x="1502" y="7059"/>
              <a:ext cx="0" cy="48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57" name="Line 66"/>
            <p:cNvSpPr/>
            <p:nvPr>
              <p:custDataLst>
                <p:tags r:id="rId28"/>
              </p:custDataLst>
            </p:nvPr>
          </p:nvSpPr>
          <p:spPr>
            <a:xfrm>
              <a:off x="1502" y="7539"/>
              <a:ext cx="720" cy="0"/>
            </a:xfrm>
            <a:prstGeom prst="line">
              <a:avLst/>
            </a:prstGeom>
            <a:ln w="28575" cap="sq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2558" name="Rectangle 67"/>
            <p:cNvSpPr/>
            <p:nvPr>
              <p:custDataLst>
                <p:tags r:id="rId29"/>
              </p:custDataLst>
            </p:nvPr>
          </p:nvSpPr>
          <p:spPr>
            <a:xfrm>
              <a:off x="2222" y="7299"/>
              <a:ext cx="720" cy="48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18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PC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7</a:t>
              </a:r>
              <a:endParaRPr lang="en-US" altLang="zh-CN" sz="1800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2559" name="Rectangle 68"/>
            <p:cNvSpPr/>
            <p:nvPr>
              <p:custDataLst>
                <p:tags r:id="rId30"/>
              </p:custDataLst>
            </p:nvPr>
          </p:nvSpPr>
          <p:spPr>
            <a:xfrm>
              <a:off x="2222" y="8019"/>
              <a:ext cx="720" cy="480"/>
            </a:xfrm>
            <a:prstGeom prst="rect">
              <a:avLst/>
            </a:prstGeom>
            <a:solidFill>
              <a:srgbClr val="FFFFCC"/>
            </a:solidFill>
            <a:ln w="12700" cap="sq" cmpd="sng">
              <a:solidFill>
                <a:srgbClr val="9900FF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18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PC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Tahoma" panose="020B0604030504040204" pitchFamily="34" charset="0"/>
                </a:rPr>
                <a:t>6</a:t>
              </a:r>
              <a:endParaRPr lang="en-US" altLang="zh-CN" sz="1800" b="1" baseline="-25000" dirty="0">
                <a:solidFill>
                  <a:srgbClr val="FF0000"/>
                </a:solidFill>
                <a:latin typeface="Tahoma" panose="020B0604030504040204" pitchFamily="34" charset="0"/>
              </a:endParaRPr>
            </a:p>
          </p:txBody>
        </p:sp>
        <p:grpSp>
          <p:nvGrpSpPr>
            <p:cNvPr id="22560" name="Group 73"/>
            <p:cNvGrpSpPr/>
            <p:nvPr/>
          </p:nvGrpSpPr>
          <p:grpSpPr>
            <a:xfrm rot="0">
              <a:off x="3662" y="4299"/>
              <a:ext cx="1440" cy="625"/>
              <a:chOff x="1632" y="2592"/>
              <a:chExt cx="480" cy="250"/>
            </a:xfrm>
          </p:grpSpPr>
          <p:sp>
            <p:nvSpPr>
              <p:cNvPr id="22561" name="Text Box 7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632" y="2592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STB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A</a:t>
                </a: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562" name="Line 75"/>
              <p:cNvSpPr/>
              <p:nvPr>
                <p:custDataLst>
                  <p:tags r:id="rId32"/>
                </p:custDataLst>
              </p:nvPr>
            </p:nvSpPr>
            <p:spPr>
              <a:xfrm>
                <a:off x="1680" y="2640"/>
                <a:ext cx="288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sp>
          <p:nvSpPr>
            <p:cNvPr id="22563" name="Text Box 76"/>
            <p:cNvSpPr txBox="1"/>
            <p:nvPr>
              <p:custDataLst>
                <p:tags r:id="rId33"/>
              </p:custDataLst>
            </p:nvPr>
          </p:nvSpPr>
          <p:spPr>
            <a:xfrm>
              <a:off x="3782" y="3699"/>
              <a:ext cx="1320" cy="57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800" b="1" dirty="0">
                  <a:latin typeface="Tahoma" panose="020B0604030504040204" pitchFamily="34" charset="0"/>
                </a:rPr>
                <a:t>IBF</a:t>
              </a:r>
              <a:r>
                <a:rPr lang="en-US" altLang="zh-CN" sz="1800" b="1" baseline="-25000" dirty="0">
                  <a:latin typeface="Tahoma" panose="020B0604030504040204" pitchFamily="34" charset="0"/>
                </a:rPr>
                <a:t>A</a:t>
              </a:r>
              <a:endParaRPr lang="en-US" altLang="zh-CN" sz="1800" b="1" dirty="0">
                <a:latin typeface="Tahoma" panose="020B0604030504040204" pitchFamily="34" charset="0"/>
              </a:endParaRPr>
            </a:p>
          </p:txBody>
        </p:sp>
        <p:sp>
          <p:nvSpPr>
            <p:cNvPr id="22564" name="Text Box 77"/>
            <p:cNvSpPr txBox="1"/>
            <p:nvPr>
              <p:custDataLst>
                <p:tags r:id="rId34"/>
              </p:custDataLst>
            </p:nvPr>
          </p:nvSpPr>
          <p:spPr>
            <a:xfrm>
              <a:off x="3782" y="5379"/>
              <a:ext cx="1680" cy="578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1800" b="1" dirty="0">
                  <a:latin typeface="Tahoma" panose="020B0604030504040204" pitchFamily="34" charset="0"/>
                </a:rPr>
                <a:t>INTR</a:t>
              </a:r>
              <a:r>
                <a:rPr lang="en-US" altLang="zh-CN" sz="1800" b="1" baseline="-25000" dirty="0">
                  <a:latin typeface="Tahoma" panose="020B0604030504040204" pitchFamily="34" charset="0"/>
                </a:rPr>
                <a:t>A</a:t>
              </a:r>
              <a:endParaRPr lang="en-US" altLang="zh-CN" sz="1800" b="1" dirty="0">
                <a:latin typeface="Tahoma" panose="020B0604030504040204" pitchFamily="34" charset="0"/>
              </a:endParaRPr>
            </a:p>
          </p:txBody>
        </p:sp>
        <p:grpSp>
          <p:nvGrpSpPr>
            <p:cNvPr id="22565" name="Group 78"/>
            <p:cNvGrpSpPr/>
            <p:nvPr/>
          </p:nvGrpSpPr>
          <p:grpSpPr>
            <a:xfrm rot="0">
              <a:off x="3662" y="7299"/>
              <a:ext cx="1440" cy="625"/>
              <a:chOff x="1632" y="2592"/>
              <a:chExt cx="480" cy="250"/>
            </a:xfrm>
          </p:grpSpPr>
          <p:sp>
            <p:nvSpPr>
              <p:cNvPr id="22566" name="Text Box 79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1632" y="2592"/>
                <a:ext cx="480" cy="25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OBF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A</a:t>
                </a: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567" name="Line 80"/>
              <p:cNvSpPr/>
              <p:nvPr>
                <p:custDataLst>
                  <p:tags r:id="rId36"/>
                </p:custDataLst>
              </p:nvPr>
            </p:nvSpPr>
            <p:spPr>
              <a:xfrm>
                <a:off x="1680" y="2640"/>
                <a:ext cx="288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grpSp>
          <p:nvGrpSpPr>
            <p:cNvPr id="22568" name="Group 81"/>
            <p:cNvGrpSpPr/>
            <p:nvPr/>
          </p:nvGrpSpPr>
          <p:grpSpPr>
            <a:xfrm rot="0">
              <a:off x="3782" y="8019"/>
              <a:ext cx="1440" cy="625"/>
              <a:chOff x="1632" y="2592"/>
              <a:chExt cx="480" cy="186"/>
            </a:xfrm>
          </p:grpSpPr>
          <p:sp>
            <p:nvSpPr>
              <p:cNvPr id="22569" name="Text Box 82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1632" y="2592"/>
                <a:ext cx="480" cy="18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anchor="t" anchorCtr="0">
                <a:spAutoFit/>
              </a:bodyPr>
              <a:p>
                <a:pPr>
                  <a:spcBef>
                    <a:spcPct val="50000"/>
                  </a:spcBef>
                  <a:buClrTx/>
                  <a:buFontTx/>
                </a:pPr>
                <a:r>
                  <a:rPr lang="en-US" altLang="zh-CN" sz="2000" b="1" dirty="0">
                    <a:latin typeface="Tahoma" panose="020B0604030504040204" pitchFamily="34" charset="0"/>
                  </a:rPr>
                  <a:t>ACK</a:t>
                </a:r>
                <a:r>
                  <a:rPr lang="en-US" altLang="zh-CN" sz="2000" b="1" baseline="-25000" dirty="0">
                    <a:latin typeface="Tahoma" panose="020B0604030504040204" pitchFamily="34" charset="0"/>
                  </a:rPr>
                  <a:t>A</a:t>
                </a:r>
                <a:endParaRPr lang="zh-CN" altLang="en-US" sz="2000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2570" name="Line 83"/>
              <p:cNvSpPr/>
              <p:nvPr>
                <p:custDataLst>
                  <p:tags r:id="rId38"/>
                </p:custDataLst>
              </p:nvPr>
            </p:nvSpPr>
            <p:spPr>
              <a:xfrm>
                <a:off x="1680" y="2617"/>
                <a:ext cx="288" cy="0"/>
              </a:xfrm>
              <a:prstGeom prst="line">
                <a:avLst/>
              </a:prstGeom>
              <a:ln w="12700" cap="sq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  <p:sp>
          <p:nvSpPr>
            <p:cNvPr id="22571" name="Rectangle 93"/>
            <p:cNvSpPr/>
            <p:nvPr>
              <p:custDataLst>
                <p:tags r:id="rId39"/>
              </p:custDataLst>
            </p:nvPr>
          </p:nvSpPr>
          <p:spPr>
            <a:xfrm>
              <a:off x="2342" y="9339"/>
              <a:ext cx="480" cy="48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sz="2000" b="1" dirty="0">
                  <a:latin typeface="Tahoma" panose="020B0604030504040204" pitchFamily="34" charset="0"/>
                </a:rPr>
                <a:t>B</a:t>
              </a:r>
              <a:r>
                <a:rPr lang="zh-CN" altLang="en-US" sz="2000" b="1" dirty="0">
                  <a:latin typeface="Tahoma" panose="020B0604030504040204" pitchFamily="34" charset="0"/>
                </a:rPr>
                <a:t>口</a:t>
              </a:r>
              <a:endParaRPr lang="zh-CN" altLang="en-US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22572" name="AutoShape 94"/>
            <p:cNvSpPr/>
            <p:nvPr>
              <p:custDataLst>
                <p:tags r:id="rId40"/>
              </p:custDataLst>
            </p:nvPr>
          </p:nvSpPr>
          <p:spPr>
            <a:xfrm>
              <a:off x="2942" y="9219"/>
              <a:ext cx="1680" cy="600"/>
            </a:xfrm>
            <a:prstGeom prst="leftRightArrow">
              <a:avLst>
                <a:gd name="adj1" fmla="val 50000"/>
                <a:gd name="adj2" fmla="val 56000"/>
              </a:avLst>
            </a:prstGeom>
            <a:solidFill>
              <a:srgbClr val="FFFFCC"/>
            </a:solidFill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22573" name="Text Box 95"/>
            <p:cNvSpPr txBox="1"/>
            <p:nvPr>
              <p:custDataLst>
                <p:tags r:id="rId41"/>
              </p:custDataLst>
            </p:nvPr>
          </p:nvSpPr>
          <p:spPr>
            <a:xfrm>
              <a:off x="2942" y="8619"/>
              <a:ext cx="2760" cy="625"/>
            </a:xfrm>
            <a:prstGeom prst="rect">
              <a:avLst/>
            </a:prstGeom>
            <a:noFill/>
            <a:ln w="12700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b="1" dirty="0">
                  <a:latin typeface="Tahoma" panose="020B0604030504040204" pitchFamily="34" charset="0"/>
                </a:rPr>
                <a:t>PB</a:t>
              </a:r>
              <a:r>
                <a:rPr lang="en-US" altLang="zh-CN" sz="2000" b="1" baseline="-10000" dirty="0">
                  <a:latin typeface="Tahoma" panose="020B0604030504040204" pitchFamily="34" charset="0"/>
                </a:rPr>
                <a:t>7</a:t>
              </a:r>
              <a:r>
                <a:rPr lang="en-US" altLang="zh-CN" sz="2000" b="1" dirty="0">
                  <a:latin typeface="Tahoma" panose="020B0604030504040204" pitchFamily="34" charset="0"/>
                </a:rPr>
                <a:t>~PB</a:t>
              </a:r>
              <a:r>
                <a:rPr lang="en-US" altLang="zh-CN" sz="2000" b="1" baseline="-18000" dirty="0">
                  <a:latin typeface="Tahoma" panose="020B0604030504040204" pitchFamily="34" charset="0"/>
                </a:rPr>
                <a:t>0</a:t>
              </a:r>
              <a:endParaRPr lang="en-US" altLang="zh-CN" sz="2000" b="1" dirty="0">
                <a:latin typeface="Tahoma" panose="020B0604030504040204" pitchFamily="34" charset="0"/>
              </a:endParaRPr>
            </a:p>
          </p:txBody>
        </p:sp>
        <p:sp>
          <p:nvSpPr>
            <p:cNvPr id="22574" name="Line 96"/>
            <p:cNvSpPr/>
            <p:nvPr>
              <p:custDataLst>
                <p:tags r:id="rId42"/>
              </p:custDataLst>
            </p:nvPr>
          </p:nvSpPr>
          <p:spPr>
            <a:xfrm>
              <a:off x="2942" y="10179"/>
              <a:ext cx="1440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round/>
              <a:headEnd type="triangle" w="med" len="med"/>
              <a:tailEnd type="triangle" w="med" len="med"/>
            </a:ln>
          </p:spPr>
        </p:sp>
        <p:sp>
          <p:nvSpPr>
            <p:cNvPr id="22575" name="Rectangle 97"/>
            <p:cNvSpPr/>
            <p:nvPr>
              <p:custDataLst>
                <p:tags r:id="rId43"/>
              </p:custDataLst>
            </p:nvPr>
          </p:nvSpPr>
          <p:spPr>
            <a:xfrm>
              <a:off x="3062" y="9579"/>
              <a:ext cx="2810" cy="57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t" anchorCtr="0">
              <a:spAutoFit/>
            </a:bodyPr>
            <a:p>
              <a:pPr>
                <a:buClrTx/>
                <a:buFontTx/>
              </a:pPr>
              <a:r>
                <a:rPr lang="en-US" altLang="zh-CN" sz="1800" b="1" dirty="0">
                  <a:latin typeface="Tahoma" panose="020B0604030504040204" pitchFamily="34" charset="0"/>
                </a:rPr>
                <a:t>PC</a:t>
              </a:r>
              <a:r>
                <a:rPr lang="en-US" altLang="zh-CN" sz="1800" b="1" baseline="-25000" dirty="0">
                  <a:latin typeface="Tahoma" panose="020B0604030504040204" pitchFamily="34" charset="0"/>
                </a:rPr>
                <a:t>2</a:t>
              </a:r>
              <a:r>
                <a:rPr lang="en-US" altLang="zh-CN" sz="1800" b="1" dirty="0">
                  <a:latin typeface="Tahoma" panose="020B0604030504040204" pitchFamily="34" charset="0"/>
                </a:rPr>
                <a:t>、PC</a:t>
              </a:r>
              <a:r>
                <a:rPr lang="en-US" altLang="zh-CN" sz="1800" b="1" baseline="-25000" dirty="0">
                  <a:latin typeface="Tahoma" panose="020B0604030504040204" pitchFamily="34" charset="0"/>
                </a:rPr>
                <a:t>1</a:t>
              </a:r>
              <a:r>
                <a:rPr lang="en-US" altLang="zh-CN" sz="1800" b="1" dirty="0">
                  <a:latin typeface="Tahoma" panose="020B0604030504040204" pitchFamily="34" charset="0"/>
                </a:rPr>
                <a:t>、PC</a:t>
              </a:r>
              <a:r>
                <a:rPr lang="en-US" altLang="zh-CN" sz="1800" b="1" baseline="-25000" dirty="0">
                  <a:latin typeface="Tahoma" panose="020B0604030504040204" pitchFamily="34" charset="0"/>
                </a:rPr>
                <a:t>0</a:t>
              </a:r>
              <a:endParaRPr lang="zh-CN" altLang="en-US" sz="1800" b="1" baseline="-25000" dirty="0">
                <a:latin typeface="Tahoma" panose="020B0604030504040204" pitchFamily="34" charset="0"/>
              </a:endParaRPr>
            </a:p>
          </p:txBody>
        </p:sp>
        <p:sp>
          <p:nvSpPr>
            <p:cNvPr id="22576" name="Line 21"/>
            <p:cNvSpPr/>
            <p:nvPr>
              <p:custDataLst>
                <p:tags r:id="rId44"/>
              </p:custDataLst>
            </p:nvPr>
          </p:nvSpPr>
          <p:spPr>
            <a:xfrm>
              <a:off x="2967" y="7554"/>
              <a:ext cx="720" cy="0"/>
            </a:xfrm>
            <a:prstGeom prst="line">
              <a:avLst/>
            </a:prstGeom>
            <a:ln w="47625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2577" name="Line 20"/>
            <p:cNvSpPr/>
            <p:nvPr>
              <p:custDataLst>
                <p:tags r:id="rId45"/>
              </p:custDataLst>
            </p:nvPr>
          </p:nvSpPr>
          <p:spPr>
            <a:xfrm flipH="1">
              <a:off x="2947" y="8287"/>
              <a:ext cx="720" cy="0"/>
            </a:xfrm>
            <a:prstGeom prst="line">
              <a:avLst/>
            </a:prstGeom>
            <a:ln w="47625" cap="sq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9" name="新月形 8"/>
            <p:cNvSpPr/>
            <p:nvPr>
              <p:custDataLst>
                <p:tags r:id="rId46"/>
              </p:custDataLst>
            </p:nvPr>
          </p:nvSpPr>
          <p:spPr>
            <a:xfrm flipH="1">
              <a:off x="1544" y="5338"/>
              <a:ext cx="438" cy="552"/>
            </a:xfrm>
            <a:prstGeom prst="moo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/>
      <p:bldP spid="3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9805" name="表格 189804"/>
          <p:cNvGraphicFramePr/>
          <p:nvPr>
            <p:custDataLst>
              <p:tags r:id="rId1"/>
            </p:custDataLst>
          </p:nvPr>
        </p:nvGraphicFramePr>
        <p:xfrm>
          <a:off x="533400" y="2479675"/>
          <a:ext cx="8093075" cy="3558540"/>
        </p:xfrm>
        <a:graphic>
          <a:graphicData uri="http://schemas.openxmlformats.org/drawingml/2006/table">
            <a:tbl>
              <a:tblPr/>
              <a:tblGrid>
                <a:gridCol w="1012825"/>
                <a:gridCol w="1011555"/>
                <a:gridCol w="1009650"/>
                <a:gridCol w="1012825"/>
                <a:gridCol w="1012825"/>
                <a:gridCol w="1010920"/>
                <a:gridCol w="1009650"/>
                <a:gridCol w="1012825"/>
              </a:tblGrid>
              <a:tr h="396240"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7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6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5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4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3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2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1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buNone/>
                      </a:pPr>
                      <a:r>
                        <a:rPr lang="en-US" altLang="zh-CN" b="1">
                          <a:latin typeface="宋体" panose="02010600030101010101" pitchFamily="2" charset="-122"/>
                        </a:rPr>
                        <a:t>D</a:t>
                      </a:r>
                      <a:r>
                        <a:rPr lang="en-US" altLang="zh-CN" sz="2000" b="1">
                          <a:latin typeface="宋体" panose="02010600030101010101" pitchFamily="2" charset="-122"/>
                        </a:rPr>
                        <a:t>0</a:t>
                      </a:r>
                      <a:endParaRPr lang="zh-CN" altLang="en-US" sz="2000" b="1">
                        <a:latin typeface="宋体" panose="02010600030101010101" pitchFamily="2" charset="-122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420">
                <a:tc gridSpan="8"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方式</a:t>
                      </a:r>
                      <a:r>
                        <a:rPr lang="en-US" altLang="zh-C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输入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cap="flat">
                      <a:noFill/>
                    </a:lnR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I/O</a:t>
                      </a:r>
                      <a:endParaRPr lang="en-US" altLang="zh-CN" sz="2000" b="1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I/O</a:t>
                      </a:r>
                      <a:endParaRPr lang="en-US" altLang="zh-CN" sz="2000" b="1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IBF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INTE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INTR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INTE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IBF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INTR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420">
                <a:tc gridSpan="8"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</a:rPr>
                        <a:t>方式</a:t>
                      </a:r>
                      <a:r>
                        <a:rPr lang="en-US" altLang="zh-CN" sz="2400" b="1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400" b="1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</a:rPr>
                        <a:t>输出</a:t>
                      </a:r>
                      <a:endParaRPr lang="zh-CN" altLang="en-US" sz="2400" b="1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OBF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INTE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I/O</a:t>
                      </a:r>
                      <a:endParaRPr lang="en-US" altLang="zh-CN" sz="2000" b="1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I/O</a:t>
                      </a:r>
                      <a:endParaRPr lang="en-US" altLang="zh-CN" sz="2000" b="1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INTR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INTE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OBF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INTR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6420">
                <a:tc gridSpan="8"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zh-CN" altLang="en-US" sz="2400" b="1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</a:rPr>
                        <a:t>方式</a:t>
                      </a:r>
                      <a:r>
                        <a:rPr lang="en-US" altLang="zh-CN" sz="2400" b="1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400" b="1" dirty="0">
                          <a:solidFill>
                            <a:srgbClr val="003300"/>
                          </a:solidFill>
                          <a:latin typeface="Times New Roman" panose="02020603050405020304" pitchFamily="18" charset="0"/>
                        </a:rPr>
                        <a:t>双向</a:t>
                      </a:r>
                      <a:endParaRPr lang="zh-CN" altLang="en-US" sz="2400" b="1" dirty="0">
                        <a:solidFill>
                          <a:srgbClr val="0033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cap="flat">
                      <a:noFill/>
                    </a:lnL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cap="flat">
                      <a:noFill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OBF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INTE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IBF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INTE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INTR</a:t>
                      </a:r>
                      <a:r>
                        <a:rPr lang="en-US" altLang="zh-CN" sz="2000" b="1" baseline="-2500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000" b="1" baseline="-2500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 b="1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 b="1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buNone/>
                      </a:pPr>
                      <a:r>
                        <a:rPr lang="en-US" altLang="zh-CN" sz="2000" b="1">
                          <a:latin typeface="Times New Roman" panose="02020603050405020304" pitchFamily="18" charset="0"/>
                        </a:rPr>
                        <a:t>×</a:t>
                      </a:r>
                      <a:endParaRPr lang="en-US" altLang="zh-CN" sz="2000" b="1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0022" name="组合 189785"/>
          <p:cNvGrpSpPr/>
          <p:nvPr/>
        </p:nvGrpSpPr>
        <p:grpSpPr>
          <a:xfrm>
            <a:off x="769938" y="1773238"/>
            <a:ext cx="7583487" cy="755650"/>
            <a:chOff x="472" y="912"/>
            <a:chExt cx="4777" cy="476"/>
          </a:xfrm>
        </p:grpSpPr>
        <p:grpSp>
          <p:nvGrpSpPr>
            <p:cNvPr id="40023" name="组合 189458"/>
            <p:cNvGrpSpPr/>
            <p:nvPr/>
          </p:nvGrpSpPr>
          <p:grpSpPr>
            <a:xfrm>
              <a:off x="472" y="912"/>
              <a:ext cx="2711" cy="476"/>
              <a:chOff x="1397" y="1596"/>
              <a:chExt cx="1878" cy="476"/>
            </a:xfrm>
          </p:grpSpPr>
          <p:sp>
            <p:nvSpPr>
              <p:cNvPr id="40024" name="矩形 189451"/>
              <p:cNvSpPr/>
              <p:nvPr>
                <p:custDataLst>
                  <p:tags r:id="rId2"/>
                </p:custDataLst>
              </p:nvPr>
            </p:nvSpPr>
            <p:spPr>
              <a:xfrm>
                <a:off x="2120" y="1596"/>
                <a:ext cx="461" cy="248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en-US" altLang="zh-CN" sz="2400" b="1" dirty="0">
                    <a:solidFill>
                      <a:srgbClr val="00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zh-CN" altLang="en-US" sz="2400" b="1" dirty="0">
                    <a:solidFill>
                      <a:srgbClr val="00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组</a:t>
                </a:r>
                <a:endParaRPr lang="zh-CN" altLang="en-US" sz="2400" b="1" dirty="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25" name="左大括号 189452"/>
              <p:cNvSpPr/>
              <p:nvPr>
                <p:custDataLst>
                  <p:tags r:id="rId3"/>
                </p:custDataLst>
              </p:nvPr>
            </p:nvSpPr>
            <p:spPr>
              <a:xfrm rot="5400000" flipV="1">
                <a:off x="2243" y="1040"/>
                <a:ext cx="186" cy="1878"/>
              </a:xfrm>
              <a:prstGeom prst="leftBrace">
                <a:avLst>
                  <a:gd name="adj1" fmla="val 84093"/>
                  <a:gd name="adj2" fmla="val 50000"/>
                </a:avLst>
              </a:prstGeom>
              <a:noFill/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 b="1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0026" name="组合 189459"/>
            <p:cNvGrpSpPr/>
            <p:nvPr/>
          </p:nvGrpSpPr>
          <p:grpSpPr>
            <a:xfrm>
              <a:off x="3632" y="936"/>
              <a:ext cx="1617" cy="452"/>
              <a:chOff x="3722" y="1608"/>
              <a:chExt cx="1087" cy="452"/>
            </a:xfrm>
          </p:grpSpPr>
          <p:sp>
            <p:nvSpPr>
              <p:cNvPr id="40027" name="矩形 189453"/>
              <p:cNvSpPr/>
              <p:nvPr>
                <p:custDataLst>
                  <p:tags r:id="rId4"/>
                </p:custDataLst>
              </p:nvPr>
            </p:nvSpPr>
            <p:spPr>
              <a:xfrm>
                <a:off x="4063" y="1608"/>
                <a:ext cx="461" cy="247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12700" tIns="12700" rIns="12700" bIns="12700" anchor="t" anchorCtr="0"/>
              <a:p>
                <a:pPr algn="ctr" eaLnBrk="0" hangingPunct="0"/>
                <a:r>
                  <a:rPr lang="en-US" altLang="zh-CN" sz="2400" b="1" dirty="0">
                    <a:solidFill>
                      <a:srgbClr val="00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en-US" sz="2400" b="1" dirty="0">
                    <a:solidFill>
                      <a:srgbClr val="00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组</a:t>
                </a:r>
                <a:endParaRPr lang="zh-CN" altLang="en-US" sz="2400" b="1" dirty="0">
                  <a:solidFill>
                    <a:srgbClr val="00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28" name="左大括号 189454"/>
              <p:cNvSpPr/>
              <p:nvPr>
                <p:custDataLst>
                  <p:tags r:id="rId5"/>
                </p:custDataLst>
              </p:nvPr>
            </p:nvSpPr>
            <p:spPr>
              <a:xfrm rot="5400000" flipV="1">
                <a:off x="4183" y="1434"/>
                <a:ext cx="162" cy="1087"/>
              </a:xfrm>
              <a:prstGeom prst="leftBrace">
                <a:avLst>
                  <a:gd name="adj1" fmla="val 55884"/>
                  <a:gd name="adj2" fmla="val 50000"/>
                </a:avLst>
              </a:prstGeom>
              <a:noFill/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anchor="t" anchorCtr="0"/>
              <a:p>
                <a:endParaRPr lang="zh-CN" altLang="en-US" b="1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40029" name="直接连接符 189782"/>
          <p:cNvSpPr/>
          <p:nvPr>
            <p:custDataLst>
              <p:tags r:id="rId6"/>
            </p:custDataLst>
          </p:nvPr>
        </p:nvSpPr>
        <p:spPr>
          <a:xfrm>
            <a:off x="695325" y="4610418"/>
            <a:ext cx="6969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030" name="直接连接符 189783"/>
          <p:cNvSpPr/>
          <p:nvPr>
            <p:custDataLst>
              <p:tags r:id="rId7"/>
            </p:custDataLst>
          </p:nvPr>
        </p:nvSpPr>
        <p:spPr>
          <a:xfrm>
            <a:off x="695325" y="5669280"/>
            <a:ext cx="696913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031" name="直接连接符 189784"/>
          <p:cNvSpPr/>
          <p:nvPr>
            <p:custDataLst>
              <p:tags r:id="rId8"/>
            </p:custDataLst>
          </p:nvPr>
        </p:nvSpPr>
        <p:spPr>
          <a:xfrm>
            <a:off x="6735763" y="4610418"/>
            <a:ext cx="69691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0021" name="标题 18944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33400" y="1484630"/>
            <a:ext cx="5662295" cy="5048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800" b="1" i="0" u="none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端口</a:t>
            </a:r>
            <a:r>
              <a:rPr lang="en-US" altLang="zh-CN" sz="2400" dirty="0">
                <a:solidFill>
                  <a:srgbClr val="0000FF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</a:rPr>
              <a:t>的状态字</a:t>
            </a:r>
            <a:endParaRPr lang="zh-CN" altLang="en-US" sz="24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10243" name="矩形 59"/>
          <p:cNvSpPr/>
          <p:nvPr>
            <p:custDataLst>
              <p:tags r:id="rId10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.1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8255A结构、控制字及工作方式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标题 179201"/>
          <p:cNvSpPr>
            <a:spLocks noGrp="1"/>
          </p:cNvSpPr>
          <p:nvPr>
            <p:ph type="title"/>
          </p:nvPr>
        </p:nvSpPr>
        <p:spPr>
          <a:xfrm>
            <a:off x="830580" y="508635"/>
            <a:ext cx="8113395" cy="678815"/>
          </a:xfrm>
        </p:spPr>
        <p:txBody>
          <a:bodyPr anchor="ctr" anchorCtr="0"/>
          <a:p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练习</a:t>
            </a:r>
            <a:r>
              <a:rPr lang="zh-CN" altLang="en-US" sz="36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写入方式控制字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746" name="文本占位符 179202"/>
          <p:cNvSpPr>
            <a:spLocks noGrp="1"/>
          </p:cNvSpPr>
          <p:nvPr>
            <p:ph idx="1"/>
          </p:nvPr>
        </p:nvSpPr>
        <p:spPr>
          <a:xfrm>
            <a:off x="417513" y="1493203"/>
            <a:ext cx="8401050" cy="5253037"/>
          </a:xfrm>
        </p:spPr>
        <p:txBody>
          <a:bodyPr anchor="t" anchorCtr="0"/>
          <a:p>
            <a:pPr defTabSz="914400">
              <a:tabLst>
                <a:tab pos="3714750" algn="l"/>
              </a:tabLst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要求：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端口：方式</a:t>
            </a:r>
            <a:r>
              <a:rPr lang="en-US" altLang="zh-CN" sz="2400" b="1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输出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端口上半部：输入，</a:t>
            </a:r>
            <a:r>
              <a:rPr lang="en-US" altLang="zh-CN" sz="2400" b="1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口下半部：输出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端口：方式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输出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lvl="1" defTabSz="914400">
              <a:spcBef>
                <a:spcPct val="0"/>
              </a:spcBef>
              <a:tabLst>
                <a:tab pos="3714750" algn="l"/>
              </a:tabLst>
            </a:pPr>
            <a:r>
              <a:rPr lang="en-US" altLang="zh-CN" sz="2400" b="1" dirty="0">
                <a:latin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B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</a:rPr>
              <a:t>C</a:t>
            </a:r>
            <a:r>
              <a:rPr lang="zh-CN" altLang="en-US" sz="2400" b="1" dirty="0">
                <a:latin typeface="宋体" panose="02010600030101010101" pitchFamily="2" charset="-122"/>
              </a:rPr>
              <a:t>和控制口地址：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FF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8H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FFAH</a:t>
            </a:r>
            <a:r>
              <a:rPr lang="en-US" altLang="zh-CN" sz="2400" b="1" dirty="0">
                <a:latin typeface="宋体" panose="02010600030101010101" pitchFamily="2" charset="-122"/>
              </a:rPr>
              <a:t>F</a:t>
            </a:r>
            <a:r>
              <a:rPr lang="zh-CN" altLang="en-US" sz="2400" b="1" dirty="0"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FFCH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  <a:sym typeface="+mn-ea"/>
              </a:rPr>
              <a:t>0</a:t>
            </a:r>
            <a:r>
              <a:rPr lang="en-US" altLang="zh-CN" sz="2400" b="1" dirty="0">
                <a:latin typeface="宋体" panose="02010600030101010101" pitchFamily="2" charset="-122"/>
              </a:rPr>
              <a:t>FFEH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defTabSz="914400">
              <a:tabLst>
                <a:tab pos="3714750" algn="l"/>
              </a:tabLst>
            </a:pP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36235" y="44450"/>
            <a:ext cx="3695065" cy="185483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11403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6.1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案例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：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8255A读取并显示开关状态</a:t>
            </a:r>
            <a:endParaRPr lang="en-US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7360" y="1484630"/>
            <a:ext cx="8192135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b="1" dirty="0">
                <a:sym typeface="+mn-ea"/>
              </a:rPr>
              <a:t>设某</a:t>
            </a:r>
            <a:r>
              <a:rPr lang="en-US" altLang="zh-CN" b="1" dirty="0">
                <a:sym typeface="+mn-ea"/>
              </a:rPr>
              <a:t>8255A</a:t>
            </a:r>
            <a:r>
              <a:rPr lang="zh-CN" altLang="en-US" b="1" dirty="0">
                <a:sym typeface="+mn-ea"/>
              </a:rPr>
              <a:t>端口地址为</a:t>
            </a:r>
            <a:r>
              <a:rPr lang="en-US" altLang="zh-CN" b="1" dirty="0">
                <a:sym typeface="+mn-ea"/>
              </a:rPr>
              <a:t>40H~43H</a:t>
            </a:r>
            <a:r>
              <a:rPr lang="zh-CN" altLang="en-US" b="1" dirty="0">
                <a:sym typeface="+mn-ea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从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口使用方式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读入开关数据</a:t>
            </a:r>
            <a:r>
              <a:rPr lang="zh-CN" altLang="en-US" b="1" dirty="0">
                <a:sym typeface="+mn-ea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从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B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口使用方式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0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输出给</a:t>
            </a:r>
            <a:r>
              <a:rPr lang="en-US" altLang="zh-CN" b="1" dirty="0">
                <a:solidFill>
                  <a:srgbClr val="0000FF"/>
                </a:solidFill>
                <a:sym typeface="+mn-ea"/>
              </a:rPr>
              <a:t>LED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灯</a:t>
            </a:r>
            <a:r>
              <a:rPr lang="zh-CN" altLang="en-US" b="1" dirty="0">
                <a:sym typeface="+mn-ea"/>
              </a:rPr>
              <a:t>，请写出运行的程序。</a:t>
            </a:r>
            <a:endParaRPr lang="zh-CN" altLang="en-US" b="1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292481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00B050"/>
                </a:solidFill>
                <a:sym typeface="+mn-ea"/>
              </a:rPr>
              <a:t>8255A</a:t>
            </a:r>
            <a:r>
              <a:rPr lang="zh-CN" altLang="en-US" b="1" dirty="0">
                <a:solidFill>
                  <a:srgbClr val="00B050"/>
                </a:solidFill>
                <a:sym typeface="+mn-ea"/>
              </a:rPr>
              <a:t>编程方法</a:t>
            </a:r>
            <a:r>
              <a:rPr lang="en-US" altLang="zh-CN" b="1" dirty="0">
                <a:solidFill>
                  <a:srgbClr val="00B050"/>
                </a:solidFill>
                <a:sym typeface="+mn-ea"/>
              </a:rPr>
              <a:t>:</a:t>
            </a:r>
            <a:r>
              <a:rPr lang="zh-CN" altLang="en-US" b="1" dirty="0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 dirty="0">
              <a:solidFill>
                <a:srgbClr val="00B05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9115" y="3356610"/>
            <a:ext cx="811911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1">
              <a:lnSpc>
                <a:spcPct val="120000"/>
              </a:lnSpc>
            </a:pPr>
            <a:r>
              <a:rPr lang="zh-CN" altLang="en-US" b="1" dirty="0">
                <a:cs typeface="Tahoma" panose="020B0604030504040204" pitchFamily="34" charset="0"/>
                <a:sym typeface="+mn-ea"/>
              </a:rPr>
              <a:t>（</a:t>
            </a:r>
            <a:r>
              <a:rPr lang="en-US" altLang="zh-CN" b="1" dirty="0">
                <a:cs typeface="Tahoma" panose="020B0604030504040204" pitchFamily="34" charset="0"/>
                <a:sym typeface="+mn-ea"/>
              </a:rPr>
              <a:t>1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）</a:t>
            </a:r>
            <a:r>
              <a:rPr lang="zh-CN" altLang="en-US" b="1" dirty="0">
                <a:solidFill>
                  <a:srgbClr val="C00000"/>
                </a:solidFill>
                <a:cs typeface="Tahoma" panose="020B0604030504040204" pitchFamily="34" charset="0"/>
                <a:sym typeface="+mn-ea"/>
              </a:rPr>
              <a:t>初始化编程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：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采用控制口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I/O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地址（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A1A0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＝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11</a:t>
            </a:r>
            <a:r>
              <a:rPr lang="zh-CN" altLang="en-US" b="1">
                <a:cs typeface="Tahoma" panose="020B0604030504040204" pitchFamily="34" charset="0"/>
                <a:sym typeface="+mn-ea"/>
              </a:rPr>
              <a:t>），</a:t>
            </a:r>
            <a:r>
              <a:rPr lang="zh-CN" altLang="en-US" b="1">
                <a:solidFill>
                  <a:srgbClr val="00B0F0"/>
                </a:solidFill>
                <a:cs typeface="Tahoma" panose="020B0604030504040204" pitchFamily="34" charset="0"/>
                <a:sym typeface="+mn-ea"/>
              </a:rPr>
              <a:t>设置</a:t>
            </a:r>
            <a:r>
              <a:rPr lang="en-US" altLang="zh-CN" b="1">
                <a:solidFill>
                  <a:srgbClr val="00B0F0"/>
                </a:solidFill>
                <a:cs typeface="Tahoma" panose="020B0604030504040204" pitchFamily="34" charset="0"/>
                <a:sym typeface="+mn-ea"/>
              </a:rPr>
              <a:t>8255A</a:t>
            </a:r>
            <a:r>
              <a:rPr lang="zh-CN" altLang="en-US" b="1">
                <a:solidFill>
                  <a:srgbClr val="00B0F0"/>
                </a:solidFill>
                <a:cs typeface="Tahoma" panose="020B0604030504040204" pitchFamily="34" charset="0"/>
                <a:sym typeface="+mn-ea"/>
              </a:rPr>
              <a:t>工作</a:t>
            </a:r>
            <a:r>
              <a:rPr lang="zh-CN" altLang="en-US" b="1" dirty="0">
                <a:solidFill>
                  <a:srgbClr val="00B0F0"/>
                </a:solidFill>
                <a:cs typeface="Tahoma" panose="020B0604030504040204" pitchFamily="34" charset="0"/>
                <a:sym typeface="+mn-ea"/>
              </a:rPr>
              <a:t>方式控制字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，用</a:t>
            </a:r>
            <a:r>
              <a:rPr lang="en-US" altLang="zh-CN" b="1" dirty="0">
                <a:cs typeface="Tahoma" panose="020B0604030504040204" pitchFamily="34" charset="0"/>
                <a:sym typeface="+mn-ea"/>
              </a:rPr>
              <a:t>OUT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指令实现。</a:t>
            </a:r>
            <a:endParaRPr lang="zh-CN" altLang="en-US" b="1" dirty="0">
              <a:cs typeface="Tahoma" panose="020B0604030504040204" pitchFamily="3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9115" y="4336415"/>
            <a:ext cx="8133080" cy="13087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0000"/>
              </a:lnSpc>
            </a:pPr>
            <a:r>
              <a:rPr lang="zh-CN" altLang="en-US" b="1" dirty="0">
                <a:cs typeface="Tahoma" panose="020B0604030504040204" pitchFamily="34" charset="0"/>
                <a:sym typeface="+mn-ea"/>
              </a:rPr>
              <a:t>（</a:t>
            </a:r>
            <a:r>
              <a:rPr lang="en-US" altLang="zh-CN" b="1" dirty="0">
                <a:cs typeface="Tahoma" panose="020B0604030504040204" pitchFamily="34" charset="0"/>
                <a:sym typeface="+mn-ea"/>
              </a:rPr>
              <a:t>2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）</a:t>
            </a:r>
            <a:r>
              <a:rPr lang="zh-CN" altLang="en-US" b="1" dirty="0">
                <a:solidFill>
                  <a:srgbClr val="C00000"/>
                </a:solidFill>
                <a:cs typeface="Tahoma" panose="020B0604030504040204" pitchFamily="34" charset="0"/>
                <a:sym typeface="+mn-ea"/>
              </a:rPr>
              <a:t>工作过程中数据输入输出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：通过数据端口</a:t>
            </a:r>
            <a:r>
              <a:rPr lang="zh-CN" altLang="en-US" b="1" dirty="0">
                <a:solidFill>
                  <a:srgbClr val="00B0F0"/>
                </a:solidFill>
                <a:cs typeface="Tahoma" panose="020B0604030504040204" pitchFamily="34" charset="0"/>
                <a:sym typeface="+mn-ea"/>
              </a:rPr>
              <a:t>对外设数据进行读写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，数据读写利用端口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A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、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B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和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C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的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I/O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地址，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A1A0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依次等于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00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、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01</a:t>
            </a:r>
            <a:r>
              <a:rPr lang="zh-CN" altLang="en-US" b="1" dirty="0">
                <a:cs typeface="Tahoma" panose="020B0604030504040204" pitchFamily="34" charset="0"/>
                <a:sym typeface="+mn-ea"/>
              </a:rPr>
              <a:t>、</a:t>
            </a:r>
            <a:r>
              <a:rPr lang="en-US" altLang="zh-CN" b="1">
                <a:cs typeface="Tahoma" panose="020B0604030504040204" pitchFamily="34" charset="0"/>
                <a:sym typeface="+mn-ea"/>
              </a:rPr>
              <a:t>10</a:t>
            </a:r>
            <a:r>
              <a:rPr lang="zh-CN" altLang="en-US" b="1">
                <a:cs typeface="Tahoma" panose="020B0604030504040204" pitchFamily="34" charset="0"/>
                <a:sym typeface="+mn-ea"/>
              </a:rPr>
              <a:t>。</a:t>
            </a:r>
            <a:endParaRPr lang="zh-CN" altLang="en-US" b="1">
              <a:cs typeface="Tahoma" panose="020B060403050404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265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400" y="116205"/>
            <a:ext cx="9010650" cy="6664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84028" y="260033"/>
            <a:ext cx="3128962" cy="607377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" name="TextBox 4"/>
          <p:cNvSpPr txBox="1"/>
          <p:nvPr/>
        </p:nvSpPr>
        <p:spPr>
          <a:xfrm>
            <a:off x="179705" y="2204720"/>
            <a:ext cx="4937125" cy="41541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en-US" altLang="zh-CN" b="1" dirty="0">
                <a:latin typeface="Tahoma" panose="020B0604030504040204" pitchFamily="34" charset="0"/>
              </a:rPr>
              <a:t>40H: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0100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00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00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A</a:t>
            </a:r>
            <a:r>
              <a:rPr lang="zh-CN" altLang="en-US" b="1" dirty="0">
                <a:latin typeface="Tahoma" panose="020B0604030504040204" pitchFamily="34" charset="0"/>
              </a:rPr>
              <a:t>口地址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en-US" altLang="zh-CN" b="1" dirty="0">
                <a:latin typeface="Tahoma" panose="020B0604030504040204" pitchFamily="34" charset="0"/>
              </a:rPr>
              <a:t>41H: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0100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00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01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口地址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en-US" altLang="zh-CN" b="1" dirty="0">
                <a:latin typeface="Tahoma" panose="020B0604030504040204" pitchFamily="34" charset="0"/>
              </a:rPr>
              <a:t>42H: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0100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00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10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 C</a:t>
            </a:r>
            <a:r>
              <a:rPr lang="zh-CN" altLang="en-US" b="1" dirty="0">
                <a:latin typeface="Tahoma" panose="020B0604030504040204" pitchFamily="34" charset="0"/>
              </a:rPr>
              <a:t>口地址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 typeface="Wingdings" panose="05000000000000000000" pitchFamily="2" charset="2"/>
            </a:pP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en-US" altLang="zh-CN" b="1" dirty="0">
                <a:latin typeface="Tahoma" panose="020B0604030504040204" pitchFamily="34" charset="0"/>
              </a:rPr>
              <a:t>43H:</a:t>
            </a:r>
            <a:r>
              <a:rPr lang="zh-CN" altLang="en-US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0100 00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11</a:t>
            </a:r>
            <a:r>
              <a:rPr lang="en-US" altLang="zh-CN" b="1" dirty="0">
                <a:latin typeface="Tahoma" panose="020B0604030504040204" pitchFamily="34" charset="0"/>
              </a:rPr>
              <a:t>B  </a:t>
            </a:r>
            <a:r>
              <a:rPr lang="zh-CN" altLang="en-US" b="1" dirty="0">
                <a:latin typeface="Tahoma" panose="020B0604030504040204" pitchFamily="34" charset="0"/>
              </a:rPr>
              <a:t>控制口地址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先写控制字设置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A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B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口工作方式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 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0B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43H,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en-US" altLang="zh-CN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从</a:t>
            </a:r>
            <a:r>
              <a:rPr lang="en-US" altLang="zh-CN" b="1" dirty="0">
                <a:solidFill>
                  <a:srgbClr val="00B050"/>
                </a:solidFill>
                <a:sym typeface="+mn-ea"/>
              </a:rPr>
              <a:t>A</a:t>
            </a:r>
            <a:r>
              <a:rPr lang="zh-CN" altLang="en-US" b="1" dirty="0">
                <a:solidFill>
                  <a:srgbClr val="00B050"/>
                </a:solidFill>
                <a:sym typeface="+mn-ea"/>
              </a:rPr>
              <a:t>口读开关状态</a:t>
            </a:r>
            <a:endParaRPr lang="en-US" altLang="zh-C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AL,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40H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altLang="zh-C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; 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从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B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口输出控制</a:t>
            </a:r>
            <a:r>
              <a:rPr lang="en-US" altLang="zh-CN" b="1" dirty="0">
                <a:solidFill>
                  <a:srgbClr val="C00000"/>
                </a:solidFill>
                <a:sym typeface="+mn-ea"/>
              </a:rPr>
              <a:t>LED</a:t>
            </a:r>
            <a:r>
              <a:rPr lang="zh-CN" altLang="en-US" b="1" dirty="0">
                <a:solidFill>
                  <a:srgbClr val="C00000"/>
                </a:solidFill>
                <a:sym typeface="+mn-ea"/>
              </a:rPr>
              <a:t>灯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41H,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endParaRPr lang="en-US" altLang="zh-C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89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" y="932815"/>
            <a:ext cx="8853805" cy="57861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108585" y="338455"/>
            <a:ext cx="8854440" cy="56896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2600" b="1" dirty="0">
                <a:latin typeface="Tahoma" panose="020B0604030504040204" pitchFamily="34" charset="0"/>
              </a:rPr>
              <a:t>8255-</a:t>
            </a:r>
            <a:r>
              <a:rPr lang="zh-CN" altLang="en-US" sz="2600" b="1" dirty="0">
                <a:latin typeface="Tahoma" panose="020B0604030504040204" pitchFamily="34" charset="0"/>
              </a:rPr>
              <a:t>例</a:t>
            </a:r>
            <a:r>
              <a:rPr lang="en-US" altLang="zh-CN" sz="2600" b="1" dirty="0">
                <a:latin typeface="Tahoma" panose="020B0604030504040204" pitchFamily="34" charset="0"/>
              </a:rPr>
              <a:t>1:</a:t>
            </a:r>
            <a:r>
              <a:rPr lang="zh-CN" altLang="en-US" sz="2600" b="1" dirty="0">
                <a:latin typeface="Tahoma" panose="020B0604030504040204" pitchFamily="34" charset="0"/>
              </a:rPr>
              <a:t>从开关</a:t>
            </a:r>
            <a:r>
              <a:rPr lang="en-US" altLang="zh-CN" sz="2600" b="1" dirty="0">
                <a:latin typeface="Tahoma" panose="020B0604030504040204" pitchFamily="34" charset="0"/>
              </a:rPr>
              <a:t>(SWITCH)</a:t>
            </a:r>
            <a:r>
              <a:rPr lang="zh-CN" altLang="en-US" sz="2600" b="1" dirty="0">
                <a:latin typeface="Tahoma" panose="020B0604030504040204" pitchFamily="34" charset="0"/>
              </a:rPr>
              <a:t>读入</a:t>
            </a:r>
            <a:r>
              <a:rPr lang="en-US" altLang="zh-CN" sz="2600" b="1" dirty="0">
                <a:latin typeface="Tahoma" panose="020B0604030504040204" pitchFamily="34" charset="0"/>
              </a:rPr>
              <a:t>,7</a:t>
            </a:r>
            <a:r>
              <a:rPr lang="zh-CN" altLang="en-US" sz="2600" b="1" dirty="0">
                <a:latin typeface="Tahoma" panose="020B0604030504040204" pitchFamily="34" charset="0"/>
              </a:rPr>
              <a:t>段数码管</a:t>
            </a:r>
            <a:r>
              <a:rPr lang="en-US" altLang="zh-CN" sz="2600" b="1" dirty="0">
                <a:latin typeface="Tahoma" panose="020B0604030504040204" pitchFamily="34" charset="0"/>
              </a:rPr>
              <a:t>(</a:t>
            </a:r>
            <a:r>
              <a:rPr lang="zh-CN" altLang="en-US" sz="2600" b="1" dirty="0">
                <a:latin typeface="Tahoma" panose="020B0604030504040204" pitchFamily="34" charset="0"/>
              </a:rPr>
              <a:t>共阴极</a:t>
            </a:r>
            <a:r>
              <a:rPr lang="en-US" altLang="zh-CN" sz="2600" b="1" dirty="0">
                <a:latin typeface="Tahoma" panose="020B0604030504040204" pitchFamily="34" charset="0"/>
              </a:rPr>
              <a:t>)</a:t>
            </a:r>
            <a:r>
              <a:rPr lang="zh-CN" altLang="en-US" sz="2600" b="1" dirty="0">
                <a:latin typeface="Tahoma" panose="020B0604030504040204" pitchFamily="34" charset="0"/>
              </a:rPr>
              <a:t>输出</a:t>
            </a:r>
            <a:endParaRPr lang="zh-CN" altLang="en-US" sz="2600" b="1" dirty="0">
              <a:latin typeface="Tahoma" panose="020B0604030504040204" pitchFamily="34" charset="0"/>
            </a:endParaRPr>
          </a:p>
        </p:txBody>
      </p:sp>
      <p:sp>
        <p:nvSpPr>
          <p:cNvPr id="12291" name="TextBox 1"/>
          <p:cNvSpPr txBox="1"/>
          <p:nvPr/>
        </p:nvSpPr>
        <p:spPr>
          <a:xfrm>
            <a:off x="107315" y="3145790"/>
            <a:ext cx="5690870" cy="13601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dbl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noAutofit/>
          </a:bodyPr>
          <a:p>
            <a:pPr>
              <a:buClrTx/>
              <a:buFontTx/>
            </a:pPr>
            <a:r>
              <a:rPr lang="en-US" altLang="zh-CN" sz="2000" b="1" dirty="0">
                <a:latin typeface="Tahoma" panose="020B0604030504040204" pitchFamily="34" charset="0"/>
              </a:rPr>
              <a:t>A</a:t>
            </a:r>
            <a:r>
              <a:rPr lang="zh-CN" altLang="en-US" sz="2000" b="1" dirty="0">
                <a:latin typeface="Tahoma" panose="020B0604030504040204" pitchFamily="34" charset="0"/>
              </a:rPr>
              <a:t>口地址</a:t>
            </a:r>
            <a:r>
              <a:rPr lang="en-US" altLang="zh-CN" sz="2000" b="1" dirty="0">
                <a:latin typeface="Tahoma" panose="020B0604030504040204" pitchFamily="34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1010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</a:t>
            </a:r>
            <a:r>
              <a:rPr lang="en-US" altLang="zh-CN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00</a:t>
            </a:r>
            <a:r>
              <a:rPr lang="en-US" altLang="zh-CN" sz="2000" b="1" dirty="0">
                <a:latin typeface="Tahoma" panose="020B0604030504040204" pitchFamily="34" charset="0"/>
              </a:rPr>
              <a:t>0B-A000H</a:t>
            </a:r>
            <a:endParaRPr lang="en-US" altLang="zh-CN" sz="20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000" b="1" dirty="0">
                <a:latin typeface="Tahoma" panose="020B0604030504040204" pitchFamily="34" charset="0"/>
              </a:rPr>
              <a:t>B</a:t>
            </a:r>
            <a:r>
              <a:rPr lang="zh-CN" altLang="en-US" sz="2000" b="1" dirty="0">
                <a:latin typeface="Tahoma" panose="020B0604030504040204" pitchFamily="34" charset="0"/>
              </a:rPr>
              <a:t>口地址</a:t>
            </a:r>
            <a:r>
              <a:rPr lang="en-US" altLang="zh-CN" sz="2000" b="1" dirty="0">
                <a:latin typeface="Tahoma" panose="020B0604030504040204" pitchFamily="34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1010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</a:t>
            </a:r>
            <a:r>
              <a:rPr lang="en-US" altLang="zh-CN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01</a:t>
            </a:r>
            <a:r>
              <a:rPr lang="en-US" altLang="zh-CN" sz="2000" b="1" dirty="0">
                <a:latin typeface="Tahoma" panose="020B0604030504040204" pitchFamily="34" charset="0"/>
              </a:rPr>
              <a:t>0B-A002H</a:t>
            </a:r>
            <a:endParaRPr lang="en-US" altLang="zh-CN" sz="20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000" b="1" dirty="0">
                <a:latin typeface="Tahoma" panose="020B0604030504040204" pitchFamily="34" charset="0"/>
              </a:rPr>
              <a:t>C</a:t>
            </a:r>
            <a:r>
              <a:rPr lang="zh-CN" altLang="en-US" sz="2000" b="1" dirty="0">
                <a:latin typeface="Tahoma" panose="020B0604030504040204" pitchFamily="34" charset="0"/>
              </a:rPr>
              <a:t>口地址</a:t>
            </a:r>
            <a:r>
              <a:rPr lang="en-US" altLang="zh-CN" sz="2000" b="1" dirty="0">
                <a:latin typeface="Tahoma" panose="020B0604030504040204" pitchFamily="34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1010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</a:t>
            </a:r>
            <a:r>
              <a:rPr lang="en-US" altLang="zh-CN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10</a:t>
            </a:r>
            <a:r>
              <a:rPr lang="en-US" altLang="zh-CN" sz="2000" b="1" dirty="0">
                <a:latin typeface="Tahoma" panose="020B0604030504040204" pitchFamily="34" charset="0"/>
              </a:rPr>
              <a:t>0B-A004H</a:t>
            </a:r>
            <a:endParaRPr lang="en-US" altLang="zh-CN" sz="20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sz="2000" b="1" dirty="0">
                <a:latin typeface="Tahoma" panose="020B0604030504040204" pitchFamily="34" charset="0"/>
              </a:rPr>
              <a:t>控制字地址</a:t>
            </a:r>
            <a:r>
              <a:rPr lang="en-US" altLang="zh-CN" sz="2000" b="1" dirty="0">
                <a:latin typeface="Tahoma" panose="020B0604030504040204" pitchFamily="34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latin typeface="Tahoma" panose="020B0604030504040204" pitchFamily="34" charset="0"/>
              </a:rPr>
              <a:t>1010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0000</a:t>
            </a:r>
            <a:r>
              <a:rPr lang="zh-CN" altLang="en-US" sz="2000" b="1" dirty="0">
                <a:latin typeface="Tahoma" panose="020B0604030504040204" pitchFamily="34" charset="0"/>
              </a:rPr>
              <a:t> </a:t>
            </a:r>
            <a:r>
              <a:rPr lang="en-US" altLang="zh-CN" sz="2000" b="1" dirty="0">
                <a:latin typeface="Tahoma" panose="020B0604030504040204" pitchFamily="34" charset="0"/>
              </a:rPr>
              <a:t>0</a:t>
            </a:r>
            <a:r>
              <a:rPr lang="en-US" altLang="zh-CN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11</a:t>
            </a:r>
            <a:r>
              <a:rPr lang="en-US" altLang="zh-CN" sz="2000" b="1" dirty="0">
                <a:latin typeface="Tahoma" panose="020B0604030504040204" pitchFamily="34" charset="0"/>
              </a:rPr>
              <a:t>0B-A006H</a:t>
            </a:r>
            <a:endParaRPr lang="en-US" altLang="zh-CN" sz="2000" b="1" dirty="0">
              <a:latin typeface="Tahoma" panose="020B0604030504040204" pitchFamily="34" charset="0"/>
            </a:endParaRPr>
          </a:p>
        </p:txBody>
      </p:sp>
      <p:sp>
        <p:nvSpPr>
          <p:cNvPr id="2" name="TextBox 1"/>
          <p:cNvSpPr txBox="1"/>
          <p:nvPr>
            <p:custDataLst>
              <p:tags r:id="rId2"/>
            </p:custDataLst>
          </p:nvPr>
        </p:nvSpPr>
        <p:spPr>
          <a:xfrm>
            <a:off x="109220" y="1772285"/>
            <a:ext cx="3830955" cy="12744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 cap="flat" cmpd="dbl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noAutofit/>
          </a:bodyPr>
          <a:p>
            <a:pPr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思考：</a:t>
            </a:r>
            <a:endParaRPr lang="zh-CN" altLang="en-US" b="1" dirty="0">
              <a:latin typeface="Tahoma" panose="020B0604030504040204" pitchFamily="34" charset="0"/>
            </a:endParaRPr>
          </a:p>
          <a:p>
            <a:pPr marL="342900" indent="-342900">
              <a:buClrTx/>
              <a:buFont typeface="Arial" panose="020B0604020202020204" pitchFamily="34" charset="0"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A</a:t>
            </a:r>
            <a:r>
              <a:rPr lang="zh-CN" altLang="en-US" b="1" dirty="0">
                <a:latin typeface="Tahoma" panose="020B0604030504040204" pitchFamily="34" charset="0"/>
              </a:rPr>
              <a:t>、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、</a:t>
            </a:r>
            <a:r>
              <a:rPr lang="en-US" altLang="zh-CN" b="1" dirty="0">
                <a:latin typeface="Tahoma" panose="020B0604030504040204" pitchFamily="34" charset="0"/>
              </a:rPr>
              <a:t>C</a:t>
            </a:r>
            <a:r>
              <a:rPr lang="zh-CN" altLang="en-US" b="1" dirty="0">
                <a:latin typeface="Tahoma" panose="020B0604030504040204" pitchFamily="34" charset="0"/>
              </a:rPr>
              <a:t>口和控制口地址是多少？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5507990" y="5805170"/>
            <a:ext cx="3354070" cy="473075"/>
          </a:xfrm>
          <a:prstGeom prst="rect">
            <a:avLst/>
          </a:prstGeom>
          <a:solidFill>
            <a:srgbClr val="FFFFCC"/>
          </a:solidFill>
          <a:ln w="28575" cap="flat" cmpd="dbl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no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</a:t>
            </a:r>
            <a:r>
              <a:rPr lang="zh-CN" altLang="en-US" b="1" dirty="0">
                <a:latin typeface="Tahoma" panose="020B0604030504040204" pitchFamily="34" charset="0"/>
              </a:rPr>
              <a:t>、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口工作在方式</a:t>
            </a:r>
            <a:r>
              <a:rPr lang="en-US" altLang="zh-CN" b="1" dirty="0">
                <a:latin typeface="Tahoma" panose="020B0604030504040204" pitchFamily="34" charset="0"/>
              </a:rPr>
              <a:t>0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ldLvl="0" animBg="1"/>
      <p:bldP spid="12291" grpId="1" animBg="1"/>
      <p:bldP spid="2" grpId="0" bldLvl="0" animBg="1"/>
      <p:bldP spid="2" grpId="1" animBg="1"/>
      <p:bldP spid="3" grpId="1" animBg="1"/>
      <p:bldP spid="3" grpId="2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3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7475" y="763905"/>
            <a:ext cx="8547735" cy="60718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1" name="TextBox 1"/>
          <p:cNvSpPr txBox="1"/>
          <p:nvPr/>
        </p:nvSpPr>
        <p:spPr>
          <a:xfrm>
            <a:off x="3059430" y="4941570"/>
            <a:ext cx="5629910" cy="119888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A</a:t>
            </a:r>
            <a:r>
              <a:rPr lang="zh-CN" altLang="en-US" sz="1800" b="1" dirty="0">
                <a:latin typeface="Tahoma" panose="020B0604030504040204" pitchFamily="34" charset="0"/>
              </a:rPr>
              <a:t>口地址</a:t>
            </a:r>
            <a:r>
              <a:rPr lang="en-US" altLang="zh-CN" sz="1800" b="1" dirty="0">
                <a:latin typeface="Tahoma" panose="020B0604030504040204" pitchFamily="34" charset="0"/>
              </a:rPr>
              <a:t>:1010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00</a:t>
            </a:r>
            <a:r>
              <a:rPr lang="en-US" altLang="zh-CN" sz="1800" b="1" dirty="0">
                <a:latin typeface="Tahoma" panose="020B0604030504040204" pitchFamily="34" charset="0"/>
              </a:rPr>
              <a:t>0B-A000H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B</a:t>
            </a:r>
            <a:r>
              <a:rPr lang="zh-CN" altLang="en-US" sz="1800" b="1" dirty="0">
                <a:latin typeface="Tahoma" panose="020B0604030504040204" pitchFamily="34" charset="0"/>
              </a:rPr>
              <a:t>口地址</a:t>
            </a:r>
            <a:r>
              <a:rPr lang="en-US" altLang="zh-CN" sz="1800" b="1" dirty="0">
                <a:latin typeface="Tahoma" panose="020B0604030504040204" pitchFamily="34" charset="0"/>
              </a:rPr>
              <a:t>:1010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01</a:t>
            </a:r>
            <a:r>
              <a:rPr lang="en-US" altLang="zh-CN" sz="1800" b="1" dirty="0">
                <a:latin typeface="Tahoma" panose="020B0604030504040204" pitchFamily="34" charset="0"/>
              </a:rPr>
              <a:t>0B-A002H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C</a:t>
            </a:r>
            <a:r>
              <a:rPr lang="zh-CN" altLang="en-US" sz="1800" b="1" dirty="0">
                <a:latin typeface="Tahoma" panose="020B0604030504040204" pitchFamily="34" charset="0"/>
              </a:rPr>
              <a:t>口地址</a:t>
            </a:r>
            <a:r>
              <a:rPr lang="en-US" altLang="zh-CN" sz="1800" b="1" dirty="0">
                <a:latin typeface="Tahoma" panose="020B0604030504040204" pitchFamily="34" charset="0"/>
              </a:rPr>
              <a:t>:1010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10</a:t>
            </a:r>
            <a:r>
              <a:rPr lang="en-US" altLang="zh-CN" sz="1800" b="1" dirty="0">
                <a:latin typeface="Tahoma" panose="020B0604030504040204" pitchFamily="34" charset="0"/>
              </a:rPr>
              <a:t>0B-A004H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sz="1800" b="1" dirty="0">
                <a:latin typeface="Tahoma" panose="020B0604030504040204" pitchFamily="34" charset="0"/>
              </a:rPr>
              <a:t>控制字地址</a:t>
            </a:r>
            <a:r>
              <a:rPr lang="en-US" altLang="zh-CN" sz="1800" b="1" dirty="0">
                <a:latin typeface="Tahoma" panose="020B0604030504040204" pitchFamily="34" charset="0"/>
              </a:rPr>
              <a:t>:1010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0000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11</a:t>
            </a:r>
            <a:r>
              <a:rPr lang="en-US" altLang="zh-CN" sz="1800" b="1" dirty="0">
                <a:latin typeface="Tahoma" panose="020B0604030504040204" pitchFamily="34" charset="0"/>
              </a:rPr>
              <a:t>0B-A006H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95420" y="4067493"/>
            <a:ext cx="4581525" cy="3683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sz="1800" b="1" dirty="0">
                <a:latin typeface="Tahoma" panose="020B0604030504040204" pitchFamily="34" charset="0"/>
              </a:rPr>
              <a:t>控制字</a:t>
            </a:r>
            <a:r>
              <a:rPr lang="en-US" altLang="zh-CN" sz="1800" b="1" dirty="0">
                <a:latin typeface="Tahoma" panose="020B0604030504040204" pitchFamily="34" charset="0"/>
              </a:rPr>
              <a:t>:1 0000 010</a:t>
            </a:r>
            <a:r>
              <a:rPr lang="zh-CN" altLang="en-US" sz="1800" b="1" dirty="0">
                <a:latin typeface="Tahoma" panose="020B0604030504040204" pitchFamily="34" charset="0"/>
              </a:rPr>
              <a:t> </a:t>
            </a:r>
            <a:r>
              <a:rPr lang="en-US" altLang="zh-CN" sz="1800" b="1" dirty="0">
                <a:latin typeface="Tahoma" panose="020B0604030504040204" pitchFamily="34" charset="0"/>
              </a:rPr>
              <a:t>B - 82H</a:t>
            </a:r>
            <a:endParaRPr lang="en-US" altLang="zh-CN" sz="1800" b="1" dirty="0">
              <a:latin typeface="Tahoma" panose="020B0604030504040204" pitchFamily="34" charset="0"/>
            </a:endParaRPr>
          </a:p>
        </p:txBody>
      </p:sp>
      <p:pic>
        <p:nvPicPr>
          <p:cNvPr id="13317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8919"/>
          <a:stretch>
            <a:fillRect/>
          </a:stretch>
        </p:blipFill>
        <p:spPr>
          <a:xfrm>
            <a:off x="3851910" y="1052195"/>
            <a:ext cx="4749800" cy="29438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08585" y="194945"/>
            <a:ext cx="8854440" cy="568960"/>
          </a:xfrm>
          <a:prstGeom prst="rect">
            <a:avLst/>
          </a:prstGeom>
          <a:solidFill>
            <a:schemeClr val="bg1"/>
          </a:solidFill>
          <a:ln w="3810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2600" b="1" dirty="0">
                <a:latin typeface="Tahoma" panose="020B0604030504040204" pitchFamily="34" charset="0"/>
              </a:rPr>
              <a:t>8255-</a:t>
            </a:r>
            <a:r>
              <a:rPr lang="zh-CN" altLang="en-US" sz="2600" b="1" dirty="0">
                <a:latin typeface="Tahoma" panose="020B0604030504040204" pitchFamily="34" charset="0"/>
              </a:rPr>
              <a:t>例</a:t>
            </a:r>
            <a:r>
              <a:rPr lang="en-US" altLang="zh-CN" sz="2600" b="1" dirty="0">
                <a:latin typeface="Tahoma" panose="020B0604030504040204" pitchFamily="34" charset="0"/>
              </a:rPr>
              <a:t>1:</a:t>
            </a:r>
            <a:r>
              <a:rPr lang="zh-CN" sz="2600" b="1" dirty="0">
                <a:latin typeface="Tahoma" panose="020B0604030504040204" pitchFamily="34" charset="0"/>
              </a:rPr>
              <a:t>参考程序</a:t>
            </a:r>
            <a:endParaRPr lang="zh-CN" sz="26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ldLvl="0" animBg="1"/>
      <p:bldP spid="12291" grpId="1" animBg="1"/>
      <p:bldP spid="2" grpId="0" bldLvl="0" animBg="1"/>
      <p:bldP spid="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337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268730"/>
            <a:ext cx="8056245" cy="54457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338" name="矩形 1"/>
          <p:cNvSpPr/>
          <p:nvPr/>
        </p:nvSpPr>
        <p:spPr>
          <a:xfrm>
            <a:off x="1619250" y="259398"/>
            <a:ext cx="697547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7SEG-COM-ANODE    ——</a:t>
            </a:r>
            <a:r>
              <a:rPr lang="zh-CN" altLang="en-US" b="1" dirty="0">
                <a:latin typeface="Tahoma" panose="020B0604030504040204" pitchFamily="34" charset="0"/>
              </a:rPr>
              <a:t>共阳极数码管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7SEG-COM-CATHODE——</a:t>
            </a:r>
            <a:r>
              <a:rPr lang="zh-CN" altLang="en-US" b="1" dirty="0">
                <a:latin typeface="Tahoma" panose="020B0604030504040204" pitchFamily="34" charset="0"/>
              </a:rPr>
              <a:t>共阴极数码管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36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925" y="1311275"/>
            <a:ext cx="8056880" cy="54311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2" name="矩形 2"/>
          <p:cNvSpPr/>
          <p:nvPr/>
        </p:nvSpPr>
        <p:spPr>
          <a:xfrm>
            <a:off x="1115378" y="331788"/>
            <a:ext cx="6975475" cy="82994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开关</a:t>
            </a:r>
            <a:r>
              <a:rPr lang="en-US" altLang="zh-CN" b="1" dirty="0">
                <a:latin typeface="Tahoma" panose="020B0604030504040204" pitchFamily="34" charset="0"/>
              </a:rPr>
              <a:t>:</a:t>
            </a:r>
            <a:r>
              <a:rPr lang="zh-CN" altLang="en-US" b="1" dirty="0"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SWITCH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按钮</a:t>
            </a:r>
            <a:r>
              <a:rPr lang="en-US" altLang="zh-CN" b="1" dirty="0">
                <a:latin typeface="Tahoma" panose="020B0604030504040204" pitchFamily="34" charset="0"/>
              </a:rPr>
              <a:t>:</a:t>
            </a:r>
            <a:r>
              <a:rPr lang="zh-CN" altLang="en-US" b="1" dirty="0"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BUTTON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146050" y="501650"/>
            <a:ext cx="879030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项目实现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：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8255A实现交通信号灯控制</a:t>
            </a:r>
            <a:endParaRPr lang="en-US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矩形 59"/>
          <p:cNvSpPr/>
          <p:nvPr>
            <p:custDataLst>
              <p:tags r:id="rId1"/>
            </p:custDataLst>
          </p:nvPr>
        </p:nvSpPr>
        <p:spPr>
          <a:xfrm>
            <a:off x="260985" y="501650"/>
            <a:ext cx="83883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 algn="l"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6.</a:t>
            </a:r>
            <a:r>
              <a:rPr 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项目实现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：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8255A实现交通信号灯控制</a:t>
            </a:r>
            <a:endParaRPr lang="en-US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pic>
        <p:nvPicPr>
          <p:cNvPr id="1638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" y="188595"/>
            <a:ext cx="8757920" cy="6521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781175"/>
            <a:ext cx="7785735" cy="49383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395605" y="188595"/>
            <a:ext cx="7768590" cy="151130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r>
              <a:rPr lang="en-US" altLang="zh-CN" b="1" dirty="0">
                <a:latin typeface="Tahoma" panose="020B0604030504040204" pitchFamily="34" charset="0"/>
              </a:rPr>
              <a:t>A</a:t>
            </a:r>
            <a:r>
              <a:rPr lang="zh-CN" altLang="en-US" b="1" dirty="0">
                <a:latin typeface="Tahoma" panose="020B0604030504040204" pitchFamily="34" charset="0"/>
              </a:rPr>
              <a:t>道绿灯放行，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道红灯禁止，延时</a:t>
            </a:r>
            <a:r>
              <a:rPr lang="en-US" altLang="zh-CN" b="1" dirty="0">
                <a:latin typeface="Tahoma" panose="020B0604030504040204" pitchFamily="34" charset="0"/>
              </a:rPr>
              <a:t>7s</a:t>
            </a:r>
            <a:r>
              <a:rPr lang="zh-CN" altLang="en-US" b="1" dirty="0">
                <a:latin typeface="Tahoma" panose="020B0604030504040204" pitchFamily="34" charset="0"/>
              </a:rPr>
              <a:t>；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r>
              <a:rPr lang="en-US" altLang="zh-CN" b="1" dirty="0">
                <a:latin typeface="Tahoma" panose="020B0604030504040204" pitchFamily="34" charset="0"/>
              </a:rPr>
              <a:t>A</a:t>
            </a:r>
            <a:r>
              <a:rPr lang="zh-CN" altLang="en-US" b="1" dirty="0">
                <a:latin typeface="Tahoma" panose="020B0604030504040204" pitchFamily="34" charset="0"/>
              </a:rPr>
              <a:t>道黄灯亮，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道红灯禁止，延时</a:t>
            </a:r>
            <a:r>
              <a:rPr lang="en-US" altLang="zh-CN" b="1" dirty="0">
                <a:latin typeface="Tahoma" panose="020B0604030504040204" pitchFamily="34" charset="0"/>
              </a:rPr>
              <a:t>3s</a:t>
            </a:r>
            <a:r>
              <a:rPr lang="zh-CN" altLang="en-US" b="1" dirty="0">
                <a:latin typeface="Tahoma" panose="020B0604030504040204" pitchFamily="34" charset="0"/>
              </a:rPr>
              <a:t>；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3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道绿灯放行，</a:t>
            </a:r>
            <a:r>
              <a:rPr lang="en-US" altLang="zh-CN" b="1" dirty="0">
                <a:latin typeface="Tahoma" panose="020B0604030504040204" pitchFamily="34" charset="0"/>
              </a:rPr>
              <a:t>A</a:t>
            </a:r>
            <a:r>
              <a:rPr lang="zh-CN" altLang="en-US" b="1" dirty="0">
                <a:latin typeface="Tahoma" panose="020B0604030504040204" pitchFamily="34" charset="0"/>
              </a:rPr>
              <a:t>道红灯禁止，延时</a:t>
            </a:r>
            <a:r>
              <a:rPr lang="en-US" altLang="zh-CN" b="1" dirty="0">
                <a:latin typeface="Tahoma" panose="020B0604030504040204" pitchFamily="34" charset="0"/>
              </a:rPr>
              <a:t>7s</a:t>
            </a:r>
            <a:r>
              <a:rPr lang="zh-CN" altLang="en-US" b="1" dirty="0">
                <a:latin typeface="Tahoma" panose="020B0604030504040204" pitchFamily="34" charset="0"/>
              </a:rPr>
              <a:t>；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4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zh-CN" altLang="en-US" b="1" dirty="0">
                <a:latin typeface="Tahoma" panose="020B0604030504040204" pitchFamily="34" charset="0"/>
              </a:rPr>
              <a:t>道黄灯亮，</a:t>
            </a:r>
            <a:r>
              <a:rPr lang="en-US" altLang="zh-CN" b="1" dirty="0">
                <a:latin typeface="Tahoma" panose="020B0604030504040204" pitchFamily="34" charset="0"/>
              </a:rPr>
              <a:t>A</a:t>
            </a:r>
            <a:r>
              <a:rPr lang="zh-CN" altLang="en-US" b="1" dirty="0">
                <a:latin typeface="Tahoma" panose="020B0604030504040204" pitchFamily="34" charset="0"/>
              </a:rPr>
              <a:t>道红灯禁止，延时</a:t>
            </a:r>
            <a:r>
              <a:rPr lang="en-US" altLang="zh-CN" b="1" dirty="0">
                <a:latin typeface="Tahoma" panose="020B0604030504040204" pitchFamily="34" charset="0"/>
              </a:rPr>
              <a:t>3s</a:t>
            </a:r>
            <a:r>
              <a:rPr lang="zh-CN" altLang="en-US" b="1" dirty="0">
                <a:latin typeface="Tahoma" panose="020B0604030504040204" pitchFamily="34" charset="0"/>
              </a:rPr>
              <a:t>。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4591050" y="55245"/>
            <a:ext cx="4018280" cy="556260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r">
              <a:lnSpc>
                <a:spcPct val="100000"/>
              </a:lnSpc>
              <a:buClrTx/>
              <a:buFontTx/>
            </a:pPr>
            <a:r>
              <a:rPr lang="zh-CN" altLang="en-US" sz="2800" b="1" dirty="0">
                <a:latin typeface="Tahoma" panose="020B0604030504040204" pitchFamily="34" charset="0"/>
              </a:rPr>
              <a:t>案例实现</a:t>
            </a:r>
            <a:r>
              <a:rPr lang="en-US" altLang="zh-CN" sz="2800" b="1" dirty="0">
                <a:latin typeface="Tahoma" panose="020B0604030504040204" pitchFamily="34" charset="0"/>
              </a:rPr>
              <a:t>--</a:t>
            </a:r>
            <a:r>
              <a:rPr lang="zh-CN" altLang="en-US" sz="2800" b="1" dirty="0">
                <a:latin typeface="Tahoma" panose="020B0604030504040204" pitchFamily="34" charset="0"/>
              </a:rPr>
              <a:t> 参考程序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8435" y="186690"/>
            <a:ext cx="4403090" cy="6510655"/>
            <a:chOff x="55" y="520"/>
            <a:chExt cx="6934" cy="10253"/>
          </a:xfrm>
        </p:grpSpPr>
        <p:pic>
          <p:nvPicPr>
            <p:cNvPr id="18434" name="图片 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55" y="520"/>
              <a:ext cx="6935" cy="513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8435" name="图片 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l="1807" t="1650"/>
            <a:stretch>
              <a:fillRect/>
            </a:stretch>
          </p:blipFill>
          <p:spPr>
            <a:xfrm>
              <a:off x="55" y="5659"/>
              <a:ext cx="6008" cy="511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3" name="组合 2"/>
          <p:cNvGrpSpPr/>
          <p:nvPr/>
        </p:nvGrpSpPr>
        <p:grpSpPr>
          <a:xfrm>
            <a:off x="4572000" y="620395"/>
            <a:ext cx="3859530" cy="5659120"/>
            <a:chOff x="7200" y="977"/>
            <a:chExt cx="6078" cy="8912"/>
          </a:xfrm>
        </p:grpSpPr>
        <p:pic>
          <p:nvPicPr>
            <p:cNvPr id="18436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00" y="977"/>
              <a:ext cx="6078" cy="679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8437" name="图片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04" y="7755"/>
              <a:ext cx="5499" cy="2134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TextBox 1"/>
          <p:cNvSpPr txBox="1"/>
          <p:nvPr/>
        </p:nvSpPr>
        <p:spPr>
          <a:xfrm>
            <a:off x="1318260" y="621030"/>
            <a:ext cx="147510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>
              <a:buClrTx/>
              <a:buFontTx/>
            </a:pPr>
            <a:r>
              <a:rPr lang="zh-CN" altLang="en-US" sz="3600" b="1" dirty="0">
                <a:solidFill>
                  <a:srgbClr val="FF0000"/>
                </a:solidFill>
                <a:sym typeface="+mn-ea"/>
              </a:rPr>
              <a:t>作业</a:t>
            </a:r>
            <a:endParaRPr lang="zh-CN" altLang="en-US" sz="36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557020"/>
            <a:ext cx="67583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用</a:t>
            </a:r>
            <a:r>
              <a:rPr lang="en-US" altLang="zh-CN" sz="32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8255A实现交通信号灯控制</a:t>
            </a:r>
            <a:endParaRPr lang="en-US" altLang="zh-CN" sz="32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UNIT_TABLE_BEAUTIFY" val="smartTable{c7db3a0e-47cf-469e-9b74-dc85d5035227}"/>
  <p:tag name="TABLE_ENDDRAG_ORIGIN_RECT" val="332*143"/>
  <p:tag name="TABLE_ENDDRAG_RECT" val="354*190*332*143"/>
</p:tagLst>
</file>

<file path=ppt/tags/tag128.xml><?xml version="1.0" encoding="utf-8"?>
<p:tagLst xmlns:p="http://schemas.openxmlformats.org/presentationml/2006/main">
  <p:tag name="KSO_WM_UNIT_TABLE_BEAUTIFY" val="smartTable{a7c0e027-512e-4140-a763-56c0a1e6f95f}"/>
  <p:tag name="TABLE_ENDDRAG_ORIGIN_RECT" val="289*179"/>
  <p:tag name="TABLE_ENDDRAG_RECT" val="47*161*289*179"/>
</p:tagLst>
</file>

<file path=ppt/tags/tag129.xml><?xml version="1.0" encoding="utf-8"?>
<p:tagLst xmlns:p="http://schemas.openxmlformats.org/presentationml/2006/main">
  <p:tag name="KSO_WM_UNIT_TABLE_BEAUTIFY" val="smartTable{c661f819-afcb-4275-9985-b724e1368243}"/>
  <p:tag name="TABLE_ENDDRAG_ORIGIN_RECT" val="599*147"/>
  <p:tag name="TABLE_ENDDRAG_RECT" val="52*339*599*147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  <p:tag name="KSO_WM_UNIT_TABLE_BEAUTIFY" val="smartTable{1356af26-7cf4-4954-85a0-57a14f855fef}"/>
  <p:tag name="TABLE_ENDDRAG_ORIGIN_RECT" val="637*237"/>
  <p:tag name="TABLE_ENDDRAG_RECT" val="42*237*637*237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UNIT_PLACING_PICTURE_USER_VIEWPORT" val="{&quot;height&quot;:9560,&quot;width&quot;:12700}"/>
</p:tagLst>
</file>

<file path=ppt/tags/tag349.xml><?xml version="1.0" encoding="utf-8"?>
<p:tagLst xmlns:p="http://schemas.openxmlformats.org/presentationml/2006/main">
  <p:tag name="KSO_WM_UNIT_PLACING_PICTURE_USER_VIEWPORT" val="{&quot;height&quot;:5090,&quot;width&quot;:7480}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UNIT_PLACING_PICTURE_USER_VIEWPORT" val="{&quot;height&quot;:4420,&quot;width&quot;:6010}"/>
</p:tagLst>
</file>

<file path=ppt/tags/tag354.xml><?xml version="1.0" encoding="utf-8"?>
<p:tagLst xmlns:p="http://schemas.openxmlformats.org/presentationml/2006/main">
  <p:tag name="KSO_WM_UNIT_PLACING_PICTURE_USER_VIEWPORT" val="{&quot;height&quot;:4280,&quot;width&quot;:5200}"/>
</p:tagLst>
</file>

<file path=ppt/tags/tag355.xml><?xml version="1.0" encoding="utf-8"?>
<p:tagLst xmlns:p="http://schemas.openxmlformats.org/presentationml/2006/main">
  <p:tag name="KSO_WPP_MARK_KEY" val="d0c5bd95-6d55-4901-8bf9-c1ad956c9411"/>
  <p:tag name="COMMONDATA" val="eyJoZGlkIjoiNGNiMWI2MjUxYmM1ZWM5YzFjOGE2MWRjMWE5MWY1N2Q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4119</Words>
  <Application>WPS 演示</Application>
  <PresentationFormat>全屏显示(4:3)</PresentationFormat>
  <Paragraphs>667</Paragraphs>
  <Slides>29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Arial</vt:lpstr>
      <vt:lpstr>宋体</vt:lpstr>
      <vt:lpstr>Wingdings</vt:lpstr>
      <vt:lpstr>Tahoma</vt:lpstr>
      <vt:lpstr>华文新魏</vt:lpstr>
      <vt:lpstr>Times New Roman</vt:lpstr>
      <vt:lpstr>幼圆</vt:lpstr>
      <vt:lpstr>Wingdings</vt:lpstr>
      <vt:lpstr>微软雅黑</vt:lpstr>
      <vt:lpstr>Arial Unicode MS</vt:lpstr>
      <vt:lpstr>Calibri</vt:lpstr>
      <vt:lpstr>黑体</vt:lpstr>
      <vt:lpstr>Blends</vt:lpstr>
      <vt:lpstr>1_Blends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举例：写入方式控制字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练习：写入方式控制字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清华大学计算机系微机组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戴梅萼</dc:creator>
  <cp:lastModifiedBy>曹锦纲</cp:lastModifiedBy>
  <cp:revision>798</cp:revision>
  <dcterms:created xsi:type="dcterms:W3CDTF">2003-08-15T08:41:00Z</dcterms:created>
  <dcterms:modified xsi:type="dcterms:W3CDTF">2025-10-25T11:20:18Z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762EB4A79C7441F7B4D934C320C8A16C_12</vt:lpwstr>
  </property>
  <property fmtid="{D5CDD505-2E9C-101B-9397-08002B2CF9AE}" pid="3" name="KSOProductBuildVer">
    <vt:lpwstr>2052-12.1.0.22529</vt:lpwstr>
  </property>
</Properties>
</file>